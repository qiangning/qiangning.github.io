
<file path=[Content_Types].xml><?xml version="1.0" encoding="utf-8"?>
<Types xmlns="http://schemas.openxmlformats.org/package/2006/content-types">
  <Default Extension="xml" ContentType="application/xml"/>
  <Default Extension="jpeg" ContentType="image/jpeg"/>
  <Default Extension="tiff" ContentType="image/tiff"/>
  <Default Extension="emf" ContentType="image/x-emf"/>
  <Default Extension="xlsx" ContentType="application/vnd.openxmlformats-officedocument.spreadsheetml.sheet"/>
  <Default Extension="rels" ContentType="application/vnd.openxmlformats-package.relationships+xml"/>
  <Default Extension="wdp" ContentType="image/vnd.ms-photo"/>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49.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1.xml" ContentType="application/vnd.openxmlformats-officedocument.themeOverr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2.xml" ContentType="application/vnd.openxmlformats-officedocument.themeOverride+xml"/>
  <Override PartName="/ppt/notesSlides/notesSlide5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3.xml" ContentType="application/vnd.openxmlformats-officedocument.themeOverr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4.xml" ContentType="application/vnd.openxmlformats-officedocument.themeOverride+xml"/>
  <Override PartName="/ppt/notesSlides/notesSlide51.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5.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76.xml" ContentType="application/vnd.openxmlformats-officedocument.presentationml.notesSlid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77.xml" ContentType="application/vnd.openxmlformats-officedocument.presentationml.notesSlid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9" r:id="rId1"/>
  </p:sldMasterIdLst>
  <p:notesMasterIdLst>
    <p:notesMasterId r:id="rId113"/>
  </p:notesMasterIdLst>
  <p:handoutMasterIdLst>
    <p:handoutMasterId r:id="rId114"/>
  </p:handoutMasterIdLst>
  <p:sldIdLst>
    <p:sldId id="392" r:id="rId2"/>
    <p:sldId id="258" r:id="rId3"/>
    <p:sldId id="256" r:id="rId4"/>
    <p:sldId id="261" r:id="rId5"/>
    <p:sldId id="808" r:id="rId6"/>
    <p:sldId id="274" r:id="rId7"/>
    <p:sldId id="713" r:id="rId8"/>
    <p:sldId id="725" r:id="rId9"/>
    <p:sldId id="835" r:id="rId10"/>
    <p:sldId id="838" r:id="rId11"/>
    <p:sldId id="263" r:id="rId12"/>
    <p:sldId id="266" r:id="rId13"/>
    <p:sldId id="268" r:id="rId14"/>
    <p:sldId id="271" r:id="rId15"/>
    <p:sldId id="273" r:id="rId16"/>
    <p:sldId id="790" r:id="rId17"/>
    <p:sldId id="482" r:id="rId18"/>
    <p:sldId id="612" r:id="rId19"/>
    <p:sldId id="828" r:id="rId20"/>
    <p:sldId id="829" r:id="rId21"/>
    <p:sldId id="430" r:id="rId22"/>
    <p:sldId id="844" r:id="rId23"/>
    <p:sldId id="702" r:id="rId24"/>
    <p:sldId id="617" r:id="rId25"/>
    <p:sldId id="784" r:id="rId26"/>
    <p:sldId id="812" r:id="rId27"/>
    <p:sldId id="785" r:id="rId28"/>
    <p:sldId id="818" r:id="rId29"/>
    <p:sldId id="786" r:id="rId30"/>
    <p:sldId id="810" r:id="rId31"/>
    <p:sldId id="819" r:id="rId32"/>
    <p:sldId id="744" r:id="rId33"/>
    <p:sldId id="745" r:id="rId34"/>
    <p:sldId id="840" r:id="rId35"/>
    <p:sldId id="620" r:id="rId36"/>
    <p:sldId id="437" r:id="rId37"/>
    <p:sldId id="438" r:id="rId38"/>
    <p:sldId id="586" r:id="rId39"/>
    <p:sldId id="824" r:id="rId40"/>
    <p:sldId id="813" r:id="rId41"/>
    <p:sldId id="788" r:id="rId42"/>
    <p:sldId id="730" r:id="rId43"/>
    <p:sldId id="751" r:id="rId44"/>
    <p:sldId id="789" r:id="rId45"/>
    <p:sldId id="448" r:id="rId46"/>
    <p:sldId id="584" r:id="rId47"/>
    <p:sldId id="456" r:id="rId48"/>
    <p:sldId id="281" r:id="rId49"/>
    <p:sldId id="282" r:id="rId50"/>
    <p:sldId id="283" r:id="rId51"/>
    <p:sldId id="284" r:id="rId52"/>
    <p:sldId id="489" r:id="rId53"/>
    <p:sldId id="588" r:id="rId54"/>
    <p:sldId id="459" r:id="rId55"/>
    <p:sldId id="822" r:id="rId56"/>
    <p:sldId id="732" r:id="rId57"/>
    <p:sldId id="731" r:id="rId58"/>
    <p:sldId id="461" r:id="rId59"/>
    <p:sldId id="814" r:id="rId60"/>
    <p:sldId id="815" r:id="rId61"/>
    <p:sldId id="816" r:id="rId62"/>
    <p:sldId id="590" r:id="rId63"/>
    <p:sldId id="677" r:id="rId64"/>
    <p:sldId id="817" r:id="rId65"/>
    <p:sldId id="678" r:id="rId66"/>
    <p:sldId id="830" r:id="rId67"/>
    <p:sldId id="545" r:id="rId68"/>
    <p:sldId id="791" r:id="rId69"/>
    <p:sldId id="735" r:id="rId70"/>
    <p:sldId id="594" r:id="rId71"/>
    <p:sldId id="624" r:id="rId72"/>
    <p:sldId id="754" r:id="rId73"/>
    <p:sldId id="792" r:id="rId74"/>
    <p:sldId id="793" r:id="rId75"/>
    <p:sldId id="794" r:id="rId76"/>
    <p:sldId id="795" r:id="rId77"/>
    <p:sldId id="834" r:id="rId78"/>
    <p:sldId id="841" r:id="rId79"/>
    <p:sldId id="842" r:id="rId80"/>
    <p:sldId id="743" r:id="rId81"/>
    <p:sldId id="625" r:id="rId82"/>
    <p:sldId id="843" r:id="rId83"/>
    <p:sldId id="846" r:id="rId84"/>
    <p:sldId id="654" r:id="rId85"/>
    <p:sldId id="869" r:id="rId86"/>
    <p:sldId id="856" r:id="rId87"/>
    <p:sldId id="857" r:id="rId88"/>
    <p:sldId id="749" r:id="rId89"/>
    <p:sldId id="861" r:id="rId90"/>
    <p:sldId id="860" r:id="rId91"/>
    <p:sldId id="568" r:id="rId92"/>
    <p:sldId id="560" r:id="rId93"/>
    <p:sldId id="566" r:id="rId94"/>
    <p:sldId id="865" r:id="rId95"/>
    <p:sldId id="868" r:id="rId96"/>
    <p:sldId id="853" r:id="rId97"/>
    <p:sldId id="855" r:id="rId98"/>
    <p:sldId id="854" r:id="rId99"/>
    <p:sldId id="742" r:id="rId100"/>
    <p:sldId id="833" r:id="rId101"/>
    <p:sldId id="845" r:id="rId102"/>
    <p:sldId id="761" r:id="rId103"/>
    <p:sldId id="653" r:id="rId104"/>
    <p:sldId id="827" r:id="rId105"/>
    <p:sldId id="863" r:id="rId106"/>
    <p:sldId id="556" r:id="rId107"/>
    <p:sldId id="858" r:id="rId108"/>
    <p:sldId id="859" r:id="rId109"/>
    <p:sldId id="862" r:id="rId110"/>
    <p:sldId id="866" r:id="rId111"/>
    <p:sldId id="867" r:id="rId1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Introduction" id="{CAE413F7-FCE9-4DF7-A811-15A837271141}">
          <p14:sldIdLst>
            <p14:sldId id="392"/>
            <p14:sldId id="258"/>
            <p14:sldId id="256"/>
            <p14:sldId id="261"/>
            <p14:sldId id="808"/>
            <p14:sldId id="274"/>
            <p14:sldId id="713"/>
            <p14:sldId id="725"/>
            <p14:sldId id="835"/>
            <p14:sldId id="838"/>
            <p14:sldId id="263"/>
            <p14:sldId id="266"/>
            <p14:sldId id="268"/>
            <p14:sldId id="271"/>
            <p14:sldId id="273"/>
            <p14:sldId id="790"/>
          </p14:sldIdLst>
        </p14:section>
        <p14:section name="intro on time" id="{E1B3E0C8-6AA5-BD4D-B7D7-35CA02927C15}">
          <p14:sldIdLst>
            <p14:sldId id="482"/>
            <p14:sldId id="612"/>
            <p14:sldId id="828"/>
            <p14:sldId id="829"/>
            <p14:sldId id="430"/>
            <p14:sldId id="844"/>
            <p14:sldId id="702"/>
          </p14:sldIdLst>
        </p14:section>
        <p14:section name="structure" id="{8B5F7323-73AB-784A-8EA5-DA40F00F9D10}">
          <p14:sldIdLst>
            <p14:sldId id="617"/>
            <p14:sldId id="784"/>
            <p14:sldId id="812"/>
            <p14:sldId id="785"/>
            <p14:sldId id="818"/>
            <p14:sldId id="786"/>
            <p14:sldId id="810"/>
            <p14:sldId id="819"/>
            <p14:sldId id="744"/>
            <p14:sldId id="745"/>
            <p14:sldId id="840"/>
            <p14:sldId id="620"/>
            <p14:sldId id="437"/>
            <p14:sldId id="438"/>
            <p14:sldId id="586"/>
            <p14:sldId id="824"/>
            <p14:sldId id="813"/>
            <p14:sldId id="788"/>
          </p14:sldIdLst>
        </p14:section>
        <p14:section name="commonsense" id="{0DAEDA8F-25AA-2F49-9721-C063C82FF5F8}">
          <p14:sldIdLst>
            <p14:sldId id="730"/>
            <p14:sldId id="751"/>
            <p14:sldId id="789"/>
            <p14:sldId id="448"/>
            <p14:sldId id="584"/>
            <p14:sldId id="456"/>
            <p14:sldId id="281"/>
            <p14:sldId id="282"/>
            <p14:sldId id="283"/>
            <p14:sldId id="284"/>
            <p14:sldId id="489"/>
            <p14:sldId id="588"/>
            <p14:sldId id="459"/>
            <p14:sldId id="822"/>
            <p14:sldId id="732"/>
          </p14:sldIdLst>
        </p14:section>
        <p14:section name="data" id="{2A524990-8308-4F49-B077-4602C61A301E}">
          <p14:sldIdLst>
            <p14:sldId id="731"/>
            <p14:sldId id="461"/>
            <p14:sldId id="814"/>
            <p14:sldId id="815"/>
            <p14:sldId id="816"/>
            <p14:sldId id="590"/>
            <p14:sldId id="677"/>
            <p14:sldId id="817"/>
            <p14:sldId id="678"/>
            <p14:sldId id="830"/>
            <p14:sldId id="545"/>
            <p14:sldId id="791"/>
          </p14:sldIdLst>
        </p14:section>
        <p14:section name="all" id="{4079DC54-5E09-4643-BD98-334F9CB24160}">
          <p14:sldIdLst>
            <p14:sldId id="735"/>
            <p14:sldId id="594"/>
            <p14:sldId id="624"/>
            <p14:sldId id="754"/>
            <p14:sldId id="792"/>
            <p14:sldId id="793"/>
            <p14:sldId id="794"/>
            <p14:sldId id="795"/>
            <p14:sldId id="834"/>
            <p14:sldId id="841"/>
            <p14:sldId id="842"/>
            <p14:sldId id="743"/>
            <p14:sldId id="625"/>
          </p14:sldIdLst>
        </p14:section>
        <p14:section name="partial" id="{8C365CBE-CAC2-4249-8C19-9BBFC0AF519A}">
          <p14:sldIdLst>
            <p14:sldId id="843"/>
            <p14:sldId id="846"/>
            <p14:sldId id="654"/>
            <p14:sldId id="869"/>
            <p14:sldId id="856"/>
            <p14:sldId id="857"/>
            <p14:sldId id="749"/>
            <p14:sldId id="861"/>
            <p14:sldId id="860"/>
            <p14:sldId id="568"/>
            <p14:sldId id="560"/>
            <p14:sldId id="566"/>
          </p14:sldIdLst>
        </p14:section>
        <p14:section name="Future" id="{4675AE86-9218-0B45-80E0-D02330CB98FE}">
          <p14:sldIdLst>
            <p14:sldId id="865"/>
            <p14:sldId id="868"/>
            <p14:sldId id="853"/>
            <p14:sldId id="855"/>
            <p14:sldId id="854"/>
            <p14:sldId id="742"/>
          </p14:sldIdLst>
        </p14:section>
        <p14:section name="summary" id="{AACFC7D9-4D21-154C-8ABF-F199BE30741F}">
          <p14:sldIdLst>
            <p14:sldId id="833"/>
            <p14:sldId id="845"/>
            <p14:sldId id="761"/>
            <p14:sldId id="653"/>
            <p14:sldId id="827"/>
          </p14:sldIdLst>
        </p14:section>
        <p14:section name="Appendix" id="{2C93C3C5-77E9-AB4B-9DA9-8C47DDDC5B8D}">
          <p14:sldIdLst>
            <p14:sldId id="863"/>
            <p14:sldId id="556"/>
            <p14:sldId id="858"/>
            <p14:sldId id="859"/>
            <p14:sldId id="862"/>
            <p14:sldId id="866"/>
            <p14:sldId id="8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7990"/>
    <a:srgbClr val="6881B4"/>
    <a:srgbClr val="F2CEC2"/>
    <a:srgbClr val="95A28E"/>
    <a:srgbClr val="665E8A"/>
    <a:srgbClr val="544F65"/>
    <a:srgbClr val="E6E5CE"/>
    <a:srgbClr val="C17A90"/>
    <a:srgbClr val="E6E5CF"/>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35" autoAdjust="0"/>
    <p:restoredTop sz="74690" autoAdjust="0"/>
  </p:normalViewPr>
  <p:slideViewPr>
    <p:cSldViewPr>
      <p:cViewPr varScale="1">
        <p:scale>
          <a:sx n="77" d="100"/>
          <a:sy n="77" d="100"/>
        </p:scale>
        <p:origin x="1848" y="184"/>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varScale="1">
      <p:scale>
        <a:sx n="100" d="100"/>
        <a:sy n="100" d="100"/>
      </p:scale>
      <p:origin x="0" y="-7200"/>
    </p:cViewPr>
  </p:sorterViewPr>
  <p:notesViewPr>
    <p:cSldViewPr>
      <p:cViewPr varScale="1">
        <p:scale>
          <a:sx n="84" d="100"/>
          <a:sy n="84" d="100"/>
        </p:scale>
        <p:origin x="3960" y="200"/>
      </p:cViewPr>
      <p:guideLst/>
    </p:cSldViewPr>
  </p:notes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slide" Target="slides/slide107.xml"/><Relationship Id="rId109" Type="http://schemas.openxmlformats.org/officeDocument/2006/relationships/slide" Target="slides/slide10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slide" Target="slides/slide109.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handoutMaster" Target="handoutMasters/handout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4" Type="http://schemas.openxmlformats.org/officeDocument/2006/relationships/chartUserShapes" Target="../drawings/drawing1.xml"/><Relationship Id="rId1" Type="http://schemas.microsoft.com/office/2011/relationships/chartStyle" Target="style1.xml"/><Relationship Id="rId2"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1.xml"/><Relationship Id="rId4" Type="http://schemas.openxmlformats.org/officeDocument/2006/relationships/package" Target="../embeddings/Microsoft_Excel_Worksheet13.xlsx"/><Relationship Id="rId1" Type="http://schemas.microsoft.com/office/2011/relationships/chartStyle" Target="style13.xml"/><Relationship Id="rId2" Type="http://schemas.microsoft.com/office/2011/relationships/chartColorStyle" Target="colors13.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4" Type="http://schemas.openxmlformats.org/officeDocument/2006/relationships/package" Target="../embeddings/Microsoft_Excel_Worksheet14.xlsx"/><Relationship Id="rId1" Type="http://schemas.microsoft.com/office/2011/relationships/chartStyle" Target="style14.xml"/><Relationship Id="rId2" Type="http://schemas.microsoft.com/office/2011/relationships/chartColorStyle" Target="colors14.xm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4" Type="http://schemas.openxmlformats.org/officeDocument/2006/relationships/package" Target="../embeddings/Microsoft_Excel_Worksheet15.xlsx"/><Relationship Id="rId1" Type="http://schemas.microsoft.com/office/2011/relationships/chartStyle" Target="style15.xml"/><Relationship Id="rId2" Type="http://schemas.microsoft.com/office/2011/relationships/chartColorStyle" Target="colors15.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4" Type="http://schemas.openxmlformats.org/officeDocument/2006/relationships/package" Target="../embeddings/Microsoft_Excel_Worksheet16.xlsx"/><Relationship Id="rId1" Type="http://schemas.microsoft.com/office/2011/relationships/chartStyle" Target="style16.xml"/><Relationship Id="rId2"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1.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Worksheet22.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Worksheet23.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Worksheet2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mj-lt"/>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chemeClr val="accent4"/>
            </a:solidFill>
            <a:ln>
              <a:noFill/>
            </a:ln>
            <a:effectLst/>
          </c:spPr>
          <c:invertIfNegative val="0"/>
          <c:cat>
            <c:strRef>
              <c:f>Sheet1!$A$2:$A$3</c:f>
              <c:strCache>
                <c:ptCount val="1"/>
                <c:pt idx="0">
                  <c:v>F1</c:v>
                </c:pt>
              </c:strCache>
            </c:strRef>
          </c:cat>
          <c:val>
            <c:numRef>
              <c:f>Sheet1!$E$2:$E$3</c:f>
              <c:numCache>
                <c:formatCode>General</c:formatCode>
                <c:ptCount val="2"/>
                <c:pt idx="0">
                  <c:v>0.0</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343396224"/>
        <c:axId val="343399056"/>
      </c:barChart>
      <c:catAx>
        <c:axId val="34339622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43399056"/>
        <c:crosses val="autoZero"/>
        <c:auto val="1"/>
        <c:lblAlgn val="ctr"/>
        <c:lblOffset val="100"/>
        <c:noMultiLvlLbl val="0"/>
      </c:catAx>
      <c:valAx>
        <c:axId val="343399056"/>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34339622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rgbClr val="757D78"/>
            </a:solidFill>
            <a:ln>
              <a:noFill/>
            </a:ln>
            <a:effectLst/>
          </c:spPr>
          <c:invertIfNegative val="0"/>
          <c:cat>
            <c:strRef>
              <c:f>Sheet1!$A$2:$A$3</c:f>
              <c:strCache>
                <c:ptCount val="1"/>
                <c:pt idx="0">
                  <c:v>F1</c:v>
                </c:pt>
              </c:strCache>
            </c:strRef>
          </c:cat>
          <c:val>
            <c:numRef>
              <c:f>Sheet1!$E$2:$E$3</c:f>
              <c:numCache>
                <c:formatCode>General</c:formatCode>
                <c:ptCount val="2"/>
                <c:pt idx="0">
                  <c:v>0.0</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353549744"/>
        <c:axId val="353553008"/>
      </c:barChart>
      <c:catAx>
        <c:axId val="35354974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3553008"/>
        <c:crosses val="autoZero"/>
        <c:auto val="1"/>
        <c:lblAlgn val="ctr"/>
        <c:lblOffset val="100"/>
        <c:noMultiLvlLbl val="0"/>
      </c:catAx>
      <c:valAx>
        <c:axId val="353553008"/>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35354974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dirty="0">
                <a:latin typeface="Century Gothic" panose="020B0502020202020204" pitchFamily="34" charset="0"/>
              </a:rPr>
              <a:t>TempEval2013, Task C—Relation Only</a:t>
            </a:r>
          </a:p>
        </c:rich>
      </c:tx>
      <c:overlay val="0"/>
      <c:spPr>
        <a:noFill/>
        <a:ln>
          <a:noFill/>
        </a:ln>
        <a:effectLst/>
      </c:spPr>
      <c:txPr>
        <a:bodyPr rot="0" spcFirstLastPara="1" vertOverflow="ellipsis" vert="horz" wrap="square" anchor="ctr" anchorCtr="1"/>
        <a:lstStyle/>
        <a:p>
          <a:pPr>
            <a:defRPr sz="216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UTTime</c:v>
                </c:pt>
              </c:strCache>
            </c:strRef>
          </c:tx>
          <c:spPr>
            <a:solidFill>
              <a:srgbClr val="F1CEC3"/>
            </a:solidFill>
            <a:ln>
              <a:noFill/>
            </a:ln>
            <a:effectLst/>
          </c:spPr>
          <c:invertIfNegative val="0"/>
          <c:cat>
            <c:strRef>
              <c:f>Sheet1!$A$2:$A$3</c:f>
              <c:strCache>
                <c:ptCount val="1"/>
                <c:pt idx="0">
                  <c:v>F1</c:v>
                </c:pt>
              </c:strCache>
            </c:strRef>
          </c:cat>
          <c:val>
            <c:numRef>
              <c:f>Sheet1!$B$2:$B$3</c:f>
              <c:numCache>
                <c:formatCode>General</c:formatCode>
                <c:ptCount val="2"/>
                <c:pt idx="0">
                  <c:v>56.5</c:v>
                </c:pt>
              </c:numCache>
            </c:numRef>
          </c:val>
          <c:extLst xmlns:c16r2="http://schemas.microsoft.com/office/drawing/2015/06/chart">
            <c:ext xmlns:c16="http://schemas.microsoft.com/office/drawing/2014/chart" uri="{C3380CC4-5D6E-409C-BE32-E72D297353CC}">
              <c16:uniqueId val="{00000000-1CB5-4344-BBAD-97662DB311E4}"/>
            </c:ext>
          </c:extLst>
        </c:ser>
        <c:ser>
          <c:idx val="1"/>
          <c:order val="1"/>
          <c:tx>
            <c:strRef>
              <c:f>Sheet1!$C$1</c:f>
              <c:strCache>
                <c:ptCount val="1"/>
                <c:pt idx="0">
                  <c:v>Perceptron</c:v>
                </c:pt>
              </c:strCache>
            </c:strRef>
          </c:tx>
          <c:spPr>
            <a:solidFill>
              <a:srgbClr val="7792CB"/>
            </a:solidFill>
            <a:ln>
              <a:noFill/>
            </a:ln>
            <a:effectLst/>
          </c:spPr>
          <c:invertIfNegative val="0"/>
          <c:cat>
            <c:strRef>
              <c:f>Sheet1!$A$2:$A$3</c:f>
              <c:strCache>
                <c:ptCount val="1"/>
                <c:pt idx="0">
                  <c:v>F1</c:v>
                </c:pt>
              </c:strCache>
            </c:strRef>
          </c:cat>
          <c:val>
            <c:numRef>
              <c:f>Sheet1!$C$2:$C$3</c:f>
              <c:numCache>
                <c:formatCode>General</c:formatCode>
                <c:ptCount val="2"/>
                <c:pt idx="0">
                  <c:v>56.6</c:v>
                </c:pt>
              </c:numCache>
            </c:numRef>
          </c:val>
          <c:extLst xmlns:c16r2="http://schemas.microsoft.com/office/drawing/2015/06/chart">
            <c:ext xmlns:c16="http://schemas.microsoft.com/office/drawing/2014/chart" uri="{C3380CC4-5D6E-409C-BE32-E72D297353CC}">
              <c16:uniqueId val="{00000001-1CB5-4344-BBAD-97662DB311E4}"/>
            </c:ext>
          </c:extLst>
        </c:ser>
        <c:ser>
          <c:idx val="2"/>
          <c:order val="2"/>
          <c:tx>
            <c:strRef>
              <c:f>Sheet1!$D$1</c:f>
              <c:strCache>
                <c:ptCount val="1"/>
                <c:pt idx="0">
                  <c:v>Perceptron+ILP</c:v>
                </c:pt>
              </c:strCache>
            </c:strRef>
          </c:tx>
          <c:spPr>
            <a:solidFill>
              <a:srgbClr val="C17A90"/>
            </a:solidFill>
            <a:ln>
              <a:noFill/>
            </a:ln>
            <a:effectLst/>
          </c:spPr>
          <c:invertIfNegative val="0"/>
          <c:cat>
            <c:strRef>
              <c:f>Sheet1!$A$2:$A$3</c:f>
              <c:strCache>
                <c:ptCount val="1"/>
                <c:pt idx="0">
                  <c:v>F1</c:v>
                </c:pt>
              </c:strCache>
            </c:strRef>
          </c:cat>
          <c:val>
            <c:numRef>
              <c:f>Sheet1!$D$2:$D$3</c:f>
              <c:numCache>
                <c:formatCode>General</c:formatCode>
                <c:ptCount val="2"/>
                <c:pt idx="0">
                  <c:v>61.6</c:v>
                </c:pt>
              </c:numCache>
            </c:numRef>
          </c:val>
          <c:extLst xmlns:c16r2="http://schemas.microsoft.com/office/drawing/2015/06/chart">
            <c:ext xmlns:c16="http://schemas.microsoft.com/office/drawing/2014/chart" uri="{C3380CC4-5D6E-409C-BE32-E72D297353CC}">
              <c16:uniqueId val="{00000002-1CB5-4344-BBAD-97662DB311E4}"/>
            </c:ext>
          </c:extLst>
        </c:ser>
        <c:ser>
          <c:idx val="3"/>
          <c:order val="3"/>
          <c:tx>
            <c:strRef>
              <c:f>Sheet1!$E$1</c:f>
              <c:strCache>
                <c:ptCount val="1"/>
                <c:pt idx="0">
                  <c:v>StructuredPerceptron+ILP</c:v>
                </c:pt>
              </c:strCache>
            </c:strRef>
          </c:tx>
          <c:spPr>
            <a:solidFill>
              <a:srgbClr val="757D78"/>
            </a:solidFill>
            <a:ln>
              <a:noFill/>
            </a:ln>
            <a:effectLst/>
          </c:spPr>
          <c:invertIfNegative val="0"/>
          <c:cat>
            <c:strRef>
              <c:f>Sheet1!$A$2:$A$3</c:f>
              <c:strCache>
                <c:ptCount val="1"/>
                <c:pt idx="0">
                  <c:v>F1</c:v>
                </c:pt>
              </c:strCache>
            </c:strRef>
          </c:cat>
          <c:val>
            <c:numRef>
              <c:f>Sheet1!$E$2:$E$3</c:f>
              <c:numCache>
                <c:formatCode>General</c:formatCode>
                <c:ptCount val="2"/>
                <c:pt idx="0">
                  <c:v>67.2</c:v>
                </c:pt>
              </c:numCache>
            </c:numRef>
          </c:val>
          <c:extLst xmlns:c16r2="http://schemas.microsoft.com/office/drawing/2015/06/chart">
            <c:ext xmlns:c16="http://schemas.microsoft.com/office/drawing/2014/chart" uri="{C3380CC4-5D6E-409C-BE32-E72D297353CC}">
              <c16:uniqueId val="{00000003-1CB5-4344-BBAD-97662DB311E4}"/>
            </c:ext>
          </c:extLst>
        </c:ser>
        <c:dLbls>
          <c:showLegendKey val="0"/>
          <c:showVal val="0"/>
          <c:showCatName val="0"/>
          <c:showSerName val="0"/>
          <c:showPercent val="0"/>
          <c:showBubbleSize val="0"/>
        </c:dLbls>
        <c:gapWidth val="267"/>
        <c:overlap val="-43"/>
        <c:axId val="355509824"/>
        <c:axId val="355513088"/>
      </c:barChart>
      <c:catAx>
        <c:axId val="35550982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8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5513088"/>
        <c:crosses val="autoZero"/>
        <c:auto val="1"/>
        <c:lblAlgn val="ctr"/>
        <c:lblOffset val="100"/>
        <c:noMultiLvlLbl val="0"/>
      </c:catAx>
      <c:valAx>
        <c:axId val="355513088"/>
        <c:scaling>
          <c:orientation val="minMax"/>
          <c:max val="70.0"/>
          <c:min val="5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dk1">
                    <a:lumMod val="65000"/>
                    <a:lumOff val="35000"/>
                  </a:schemeClr>
                </a:solidFill>
                <a:latin typeface="+mn-lt"/>
                <a:ea typeface="+mn-ea"/>
                <a:cs typeface="+mn-cs"/>
              </a:defRPr>
            </a:pPr>
            <a:endParaRPr lang="en-US"/>
          </a:p>
        </c:txPr>
        <c:crossAx val="35550982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1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sz="2400" b="1" i="0" baseline="0" dirty="0">
                <a:effectLst/>
              </a:rPr>
              <a:t>TempEval2013, Task C</a:t>
            </a:r>
            <a:endParaRPr lang="en-US" sz="2400" dirty="0">
              <a:effectLst/>
            </a:endParaRPr>
          </a:p>
        </c:rich>
      </c:tx>
      <c:overlay val="0"/>
      <c:spPr>
        <a:noFill/>
        <a:ln>
          <a:noFill/>
        </a:ln>
        <a:effectLst/>
      </c:spPr>
      <c:txPr>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CAEVO</c:v>
                </c:pt>
              </c:strCache>
            </c:strRef>
          </c:tx>
          <c:spPr>
            <a:solidFill>
              <a:srgbClr val="F1CEC3"/>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EMNLP'17</c:v>
                </c:pt>
              </c:strCache>
            </c:strRef>
          </c:tx>
          <c:spPr>
            <a:solidFill>
              <a:srgbClr val="7792CB"/>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F82A-6D40-9B32-4726FDC8890B}"/>
            </c:ext>
          </c:extLst>
        </c:ser>
        <c:ser>
          <c:idx val="2"/>
          <c:order val="2"/>
          <c:tx>
            <c:strRef>
              <c:f>Sheet1!$D$1</c:f>
              <c:strCache>
                <c:ptCount val="1"/>
                <c:pt idx="0">
                  <c:v>EMNLP'17+TemProb</c:v>
                </c:pt>
              </c:strCache>
            </c:strRef>
          </c:tx>
          <c:spPr>
            <a:solidFill>
              <a:srgbClr val="CD95A6"/>
            </a:solidFill>
            <a:ln>
              <a:noFill/>
            </a:ln>
            <a:effectLst/>
          </c:spPr>
          <c:invertIfNegative val="0"/>
          <c:cat>
            <c:strRef>
              <c:f>Sheet1!$A$2</c:f>
              <c:strCache>
                <c:ptCount val="1"/>
                <c:pt idx="0">
                  <c:v>F1</c:v>
                </c:pt>
              </c:strCache>
            </c:strRef>
          </c:cat>
          <c:val>
            <c:numRef>
              <c:f>Sheet1!$D$2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2-F82A-6D40-9B32-4726FDC8890B}"/>
            </c:ext>
          </c:extLst>
        </c:ser>
        <c:dLbls>
          <c:showLegendKey val="0"/>
          <c:showVal val="0"/>
          <c:showCatName val="0"/>
          <c:showSerName val="0"/>
          <c:showPercent val="0"/>
          <c:showBubbleSize val="0"/>
        </c:dLbls>
        <c:gapWidth val="267"/>
        <c:overlap val="-43"/>
        <c:axId val="352403760"/>
        <c:axId val="352406512"/>
      </c:barChart>
      <c:catAx>
        <c:axId val="352403760"/>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2406512"/>
        <c:crosses val="autoZero"/>
        <c:auto val="1"/>
        <c:lblAlgn val="ctr"/>
        <c:lblOffset val="100"/>
        <c:noMultiLvlLbl val="0"/>
      </c:catAx>
      <c:valAx>
        <c:axId val="352406512"/>
        <c:scaling>
          <c:orientation val="minMax"/>
          <c:max val="6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352403760"/>
        <c:crosses val="autoZero"/>
        <c:crossBetween val="between"/>
        <c:majorUnit val="10.0"/>
        <c:minorUnit val="1.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After “bomb”</a:t>
            </a:r>
          </a:p>
        </c:rich>
      </c:tx>
      <c:layout>
        <c:manualLayout>
          <c:xMode val="edge"/>
          <c:yMode val="edge"/>
          <c:x val="0.336582567688589"/>
          <c:y val="0.0277777777777778"/>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C27990"/>
            </a:solidFill>
            <a:ln>
              <a:noFill/>
            </a:ln>
            <a:effectLst/>
          </c:spPr>
          <c:invertIfNegative val="0"/>
          <c:cat>
            <c:strRef>
              <c:f>Sheet1!$A$2:$A$8</c:f>
              <c:strCache>
                <c:ptCount val="7"/>
                <c:pt idx="0">
                  <c:v>kill</c:v>
                </c:pt>
                <c:pt idx="1">
                  <c:v>destroy</c:v>
                </c:pt>
                <c:pt idx="2">
                  <c:v>suspect</c:v>
                </c:pt>
                <c:pt idx="3">
                  <c:v>strafe</c:v>
                </c:pt>
                <c:pt idx="4">
                  <c:v>include</c:v>
                </c:pt>
                <c:pt idx="5">
                  <c:v>shell</c:v>
                </c:pt>
                <c:pt idx="6">
                  <c:v>wound</c:v>
                </c:pt>
              </c:strCache>
            </c:strRef>
          </c:cat>
          <c:val>
            <c:numRef>
              <c:f>Sheet1!$B$2:$B$8</c:f>
              <c:numCache>
                <c:formatCode>General</c:formatCode>
                <c:ptCount val="7"/>
                <c:pt idx="0">
                  <c:v>27.05184686635042</c:v>
                </c:pt>
                <c:pt idx="1">
                  <c:v>8.826471039726724</c:v>
                </c:pt>
                <c:pt idx="2">
                  <c:v>6.473748318289405</c:v>
                </c:pt>
                <c:pt idx="3">
                  <c:v>6.473748318289405</c:v>
                </c:pt>
                <c:pt idx="4">
                  <c:v>5.572006814919987</c:v>
                </c:pt>
                <c:pt idx="5">
                  <c:v>4.991593906910217</c:v>
                </c:pt>
                <c:pt idx="6">
                  <c:v>4.700906107583276</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343609664"/>
        <c:axId val="343612416"/>
      </c:barChart>
      <c:catAx>
        <c:axId val="34360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12416"/>
        <c:crosses val="autoZero"/>
        <c:auto val="1"/>
        <c:lblAlgn val="ctr"/>
        <c:lblOffset val="100"/>
        <c:noMultiLvlLbl val="0"/>
      </c:catAx>
      <c:valAx>
        <c:axId val="34361241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09664"/>
        <c:crosses val="autoZero"/>
        <c:crossBetween val="between"/>
        <c:majorUnit val="1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Before “bomb”</a:t>
            </a:r>
          </a:p>
        </c:rich>
      </c:tx>
      <c:layout>
        <c:manualLayout>
          <c:xMode val="edge"/>
          <c:yMode val="edge"/>
          <c:x val="0.294747374630347"/>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bomb</c:v>
                </c:pt>
              </c:strCache>
            </c:strRef>
          </c:tx>
          <c:spPr>
            <a:solidFill>
              <a:srgbClr val="C27990"/>
            </a:solidFill>
            <a:ln>
              <a:noFill/>
            </a:ln>
            <a:effectLst/>
          </c:spPr>
          <c:invertIfNegative val="0"/>
          <c:cat>
            <c:strRef>
              <c:f>Sheet1!$A$2:$A$8</c:f>
              <c:strCache>
                <c:ptCount val="7"/>
                <c:pt idx="0">
                  <c:v>report</c:v>
                </c:pt>
                <c:pt idx="1">
                  <c:v>fire</c:v>
                </c:pt>
                <c:pt idx="2">
                  <c:v>come</c:v>
                </c:pt>
                <c:pt idx="3">
                  <c:v>continue</c:v>
                </c:pt>
                <c:pt idx="4">
                  <c:v>lead</c:v>
                </c:pt>
                <c:pt idx="5">
                  <c:v>describe</c:v>
                </c:pt>
                <c:pt idx="6">
                  <c:v>refuse</c:v>
                </c:pt>
              </c:strCache>
            </c:strRef>
          </c:cat>
          <c:val>
            <c:numRef>
              <c:f>Sheet1!$B$2:$B$8</c:f>
              <c:numCache>
                <c:formatCode>General</c:formatCode>
                <c:ptCount val="7"/>
                <c:pt idx="0">
                  <c:v>6.158019887168884</c:v>
                </c:pt>
                <c:pt idx="1">
                  <c:v>6.158019887168884</c:v>
                </c:pt>
                <c:pt idx="2">
                  <c:v>4.211232157997035</c:v>
                </c:pt>
                <c:pt idx="3">
                  <c:v>3.447865276103125</c:v>
                </c:pt>
                <c:pt idx="4">
                  <c:v>2.311173210602129</c:v>
                </c:pt>
                <c:pt idx="5">
                  <c:v>2.311173210602129</c:v>
                </c:pt>
                <c:pt idx="6">
                  <c:v>1.911245796632637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343625552"/>
        <c:axId val="343628304"/>
      </c:barChart>
      <c:catAx>
        <c:axId val="343625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28304"/>
        <c:crosses val="autoZero"/>
        <c:auto val="1"/>
        <c:lblAlgn val="ctr"/>
        <c:lblOffset val="100"/>
        <c:noMultiLvlLbl val="0"/>
      </c:catAx>
      <c:valAx>
        <c:axId val="343628304"/>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25552"/>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“investigate”</a:t>
            </a:r>
          </a:p>
        </c:rich>
      </c:tx>
      <c:layout>
        <c:manualLayout>
          <c:xMode val="edge"/>
          <c:yMode val="edge"/>
          <c:x val="0.277701576424971"/>
          <c:y val="0.026915618476406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report</c:v>
                </c:pt>
                <c:pt idx="1">
                  <c:v>prosecute</c:v>
                </c:pt>
                <c:pt idx="2">
                  <c:v>violate</c:v>
                </c:pt>
                <c:pt idx="3">
                  <c:v>occur</c:v>
                </c:pt>
                <c:pt idx="4">
                  <c:v>pay</c:v>
                </c:pt>
                <c:pt idx="5">
                  <c:v>tell</c:v>
                </c:pt>
                <c:pt idx="6">
                  <c:v>punish</c:v>
                </c:pt>
              </c:strCache>
            </c:strRef>
          </c:cat>
          <c:val>
            <c:numRef>
              <c:f>Sheet1!$B$2:$B$8</c:f>
              <c:numCache>
                <c:formatCode>General</c:formatCode>
                <c:ptCount val="7"/>
                <c:pt idx="0">
                  <c:v>7.673365287895486</c:v>
                </c:pt>
                <c:pt idx="1">
                  <c:v>7.083408929052118</c:v>
                </c:pt>
                <c:pt idx="2">
                  <c:v>4.892753725239476</c:v>
                </c:pt>
                <c:pt idx="3">
                  <c:v>4.47164021134834</c:v>
                </c:pt>
                <c:pt idx="4">
                  <c:v>3.848776397610543</c:v>
                </c:pt>
                <c:pt idx="5">
                  <c:v>2.997430072325831</c:v>
                </c:pt>
                <c:pt idx="6">
                  <c:v>2.997430072325831</c:v>
                </c:pt>
              </c:numCache>
            </c:numRef>
          </c:val>
          <c:extLst xmlns:c16r2="http://schemas.microsoft.com/office/drawing/2015/06/chart">
            <c:ext xmlns:c16="http://schemas.microsoft.com/office/drawing/2014/chart" uri="{C3380CC4-5D6E-409C-BE32-E72D297353CC}">
              <c16:uniqueId val="{00000000-BA6E-48EE-8EC5-3953232382E0}"/>
            </c:ext>
          </c:extLst>
        </c:ser>
        <c:dLbls>
          <c:showLegendKey val="0"/>
          <c:showVal val="0"/>
          <c:showCatName val="0"/>
          <c:showSerName val="0"/>
          <c:showPercent val="0"/>
          <c:showBubbleSize val="0"/>
        </c:dLbls>
        <c:gapWidth val="15"/>
        <c:overlap val="-19"/>
        <c:axId val="343639600"/>
        <c:axId val="343642352"/>
      </c:barChart>
      <c:catAx>
        <c:axId val="343639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42352"/>
        <c:crosses val="autoZero"/>
        <c:auto val="1"/>
        <c:lblAlgn val="ctr"/>
        <c:lblOffset val="100"/>
        <c:noMultiLvlLbl val="0"/>
      </c:catAx>
      <c:valAx>
        <c:axId val="343642352"/>
        <c:scaling>
          <c:orientation val="minMax"/>
          <c:max val="8.0"/>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39600"/>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Before “investigate”</a:t>
            </a:r>
          </a:p>
        </c:rich>
      </c:tx>
      <c:layout>
        <c:manualLayout>
          <c:xMode val="edge"/>
          <c:yMode val="edge"/>
          <c:x val="0.244126046359472"/>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involve</c:v>
                </c:pt>
                <c:pt idx="1">
                  <c:v>kill</c:v>
                </c:pt>
                <c:pt idx="2">
                  <c:v>suspect</c:v>
                </c:pt>
                <c:pt idx="3">
                  <c:v>know</c:v>
                </c:pt>
                <c:pt idx="4">
                  <c:v>link</c:v>
                </c:pt>
                <c:pt idx="5">
                  <c:v>raise</c:v>
                </c:pt>
                <c:pt idx="6">
                  <c:v>steal</c:v>
                </c:pt>
              </c:strCache>
            </c:strRef>
          </c:cat>
          <c:val>
            <c:numRef>
              <c:f>Sheet1!$B$2:$B$8</c:f>
              <c:numCache>
                <c:formatCode>General</c:formatCode>
                <c:ptCount val="7"/>
                <c:pt idx="0">
                  <c:v>7.52142247499327</c:v>
                </c:pt>
                <c:pt idx="1">
                  <c:v>5.684568819219577</c:v>
                </c:pt>
                <c:pt idx="2">
                  <c:v>5.46167368764078</c:v>
                </c:pt>
                <c:pt idx="3">
                  <c:v>3.027554745375815</c:v>
                </c:pt>
                <c:pt idx="4">
                  <c:v>1.89222858320994</c:v>
                </c:pt>
                <c:pt idx="5">
                  <c:v>1.564795710394166</c:v>
                </c:pt>
                <c:pt idx="6">
                  <c:v>1.387849294835929</c:v>
                </c:pt>
              </c:numCache>
            </c:numRef>
          </c:val>
          <c:extLst xmlns:c16r2="http://schemas.microsoft.com/office/drawing/2015/06/chart">
            <c:ext xmlns:c16="http://schemas.microsoft.com/office/drawing/2014/chart" uri="{C3380CC4-5D6E-409C-BE32-E72D297353CC}">
              <c16:uniqueId val="{00000000-BF8E-4B3C-A255-8AB206E08EB4}"/>
            </c:ext>
          </c:extLst>
        </c:ser>
        <c:dLbls>
          <c:showLegendKey val="0"/>
          <c:showVal val="0"/>
          <c:showCatName val="0"/>
          <c:showSerName val="0"/>
          <c:showPercent val="0"/>
          <c:showBubbleSize val="0"/>
        </c:dLbls>
        <c:gapWidth val="15"/>
        <c:overlap val="-19"/>
        <c:axId val="353630544"/>
        <c:axId val="353633296"/>
      </c:barChart>
      <c:catAx>
        <c:axId val="353630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633296"/>
        <c:crosses val="autoZero"/>
        <c:auto val="1"/>
        <c:lblAlgn val="ctr"/>
        <c:lblOffset val="100"/>
        <c:noMultiLvlLbl val="0"/>
      </c:catAx>
      <c:valAx>
        <c:axId val="35363329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630544"/>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“grant”</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665E8A"/>
            </a:solidFill>
            <a:ln>
              <a:noFill/>
            </a:ln>
            <a:effectLst/>
          </c:spPr>
          <c:invertIfNegative val="0"/>
          <c:cat>
            <c:strRef>
              <c:f>Sheet1!$A$2:$A$8</c:f>
              <c:strCache>
                <c:ptCount val="7"/>
                <c:pt idx="0">
                  <c:v>use</c:v>
                </c:pt>
                <c:pt idx="1">
                  <c:v>pay</c:v>
                </c:pt>
                <c:pt idx="2">
                  <c:v>include</c:v>
                </c:pt>
                <c:pt idx="3">
                  <c:v>leave</c:v>
                </c:pt>
                <c:pt idx="4">
                  <c:v>speak</c:v>
                </c:pt>
                <c:pt idx="5">
                  <c:v>help</c:v>
                </c:pt>
                <c:pt idx="6">
                  <c:v>work</c:v>
                </c:pt>
              </c:strCache>
            </c:strRef>
          </c:cat>
          <c:val>
            <c:numRef>
              <c:f>Sheet1!$B$2:$B$8</c:f>
              <c:numCache>
                <c:formatCode>General</c:formatCode>
                <c:ptCount val="7"/>
                <c:pt idx="0">
                  <c:v>5.143610573030378</c:v>
                </c:pt>
                <c:pt idx="1">
                  <c:v>4.08677143846407</c:v>
                </c:pt>
                <c:pt idx="2">
                  <c:v>3.51751677491213</c:v>
                </c:pt>
                <c:pt idx="3">
                  <c:v>3.345965457471272</c:v>
                </c:pt>
                <c:pt idx="4">
                  <c:v>3.247077233610587</c:v>
                </c:pt>
                <c:pt idx="5">
                  <c:v>2.967605144780944</c:v>
                </c:pt>
                <c:pt idx="6">
                  <c:v>2.879899158088242</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355572704"/>
        <c:axId val="355575456"/>
      </c:barChart>
      <c:catAx>
        <c:axId val="35557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575456"/>
        <c:crosses val="autoZero"/>
        <c:auto val="1"/>
        <c:lblAlgn val="ctr"/>
        <c:lblOffset val="100"/>
        <c:noMultiLvlLbl val="0"/>
      </c:catAx>
      <c:valAx>
        <c:axId val="35557545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572704"/>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dirty="0"/>
              <a:t>Before “grant”</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168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665E8A"/>
            </a:solidFill>
            <a:ln>
              <a:noFill/>
            </a:ln>
            <a:effectLst/>
          </c:spPr>
          <c:invertIfNegative val="0"/>
          <c:cat>
            <c:strRef>
              <c:f>Sheet1!$A$2:$A$8</c:f>
              <c:strCache>
                <c:ptCount val="7"/>
                <c:pt idx="0">
                  <c:v>seek</c:v>
                </c:pt>
                <c:pt idx="1">
                  <c:v>know</c:v>
                </c:pt>
                <c:pt idx="2">
                  <c:v>need</c:v>
                </c:pt>
                <c:pt idx="3">
                  <c:v>zone</c:v>
                </c:pt>
                <c:pt idx="4">
                  <c:v>request</c:v>
                </c:pt>
                <c:pt idx="5">
                  <c:v>involve</c:v>
                </c:pt>
                <c:pt idx="6">
                  <c:v>write</c:v>
                </c:pt>
              </c:strCache>
            </c:strRef>
          </c:cat>
          <c:val>
            <c:numRef>
              <c:f>Sheet1!$B$2:$B$8</c:f>
              <c:numCache>
                <c:formatCode>General</c:formatCode>
                <c:ptCount val="7"/>
                <c:pt idx="0">
                  <c:v>4.795870710296421</c:v>
                </c:pt>
                <c:pt idx="1">
                  <c:v>2.997430072325831</c:v>
                </c:pt>
                <c:pt idx="2">
                  <c:v>2.357862006490233</c:v>
                </c:pt>
                <c:pt idx="3">
                  <c:v>1.989245217265162</c:v>
                </c:pt>
                <c:pt idx="4">
                  <c:v>1.989245217265162</c:v>
                </c:pt>
                <c:pt idx="5">
                  <c:v>1.989245217265162</c:v>
                </c:pt>
                <c:pt idx="6">
                  <c:v>1.911245796632637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343652128"/>
        <c:axId val="342995680"/>
      </c:barChart>
      <c:catAx>
        <c:axId val="343652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2995680"/>
        <c:crosses val="autoZero"/>
        <c:auto val="1"/>
        <c:lblAlgn val="ctr"/>
        <c:lblOffset val="100"/>
        <c:noMultiLvlLbl val="0"/>
      </c:catAx>
      <c:valAx>
        <c:axId val="34299568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652128"/>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After “mourn”</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544F65"/>
            </a:solidFill>
            <a:ln>
              <a:noFill/>
            </a:ln>
            <a:effectLst/>
          </c:spPr>
          <c:invertIfNegative val="0"/>
          <c:cat>
            <c:strRef>
              <c:f>Sheet1!$A$2:$A$8</c:f>
              <c:strCache>
                <c:ptCount val="7"/>
                <c:pt idx="0">
                  <c:v>send</c:v>
                </c:pt>
                <c:pt idx="1">
                  <c:v>offer</c:v>
                </c:pt>
                <c:pt idx="2">
                  <c:v>play</c:v>
                </c:pt>
                <c:pt idx="3">
                  <c:v>remember</c:v>
                </c:pt>
                <c:pt idx="4">
                  <c:v>return</c:v>
                </c:pt>
                <c:pt idx="5">
                  <c:v>sign</c:v>
                </c:pt>
                <c:pt idx="6">
                  <c:v>share</c:v>
                </c:pt>
              </c:strCache>
            </c:strRef>
          </c:cat>
          <c:val>
            <c:numRef>
              <c:f>Sheet1!$B$2:$B$8</c:f>
              <c:numCache>
                <c:formatCode>General</c:formatCode>
                <c:ptCount val="7"/>
                <c:pt idx="0">
                  <c:v>16.08287882258843</c:v>
                </c:pt>
                <c:pt idx="1">
                  <c:v>9.37226952700606</c:v>
                </c:pt>
                <c:pt idx="2">
                  <c:v>7.907054051593438</c:v>
                </c:pt>
                <c:pt idx="3">
                  <c:v>7.673365287895486</c:v>
                </c:pt>
                <c:pt idx="4">
                  <c:v>3.312672544899876</c:v>
                </c:pt>
                <c:pt idx="5">
                  <c:v>3.119757514164995</c:v>
                </c:pt>
                <c:pt idx="6">
                  <c:v>2.739444818768368</c:v>
                </c:pt>
              </c:numCache>
            </c:numRef>
          </c:val>
          <c:extLst xmlns:c16r2="http://schemas.microsoft.com/office/drawing/2015/06/chart">
            <c:ext xmlns:c16="http://schemas.microsoft.com/office/drawing/2014/chart" uri="{C3380CC4-5D6E-409C-BE32-E72D297353CC}">
              <c16:uniqueId val="{00000000-9E49-4D1F-8FD4-3F88F59617CF}"/>
            </c:ext>
          </c:extLst>
        </c:ser>
        <c:dLbls>
          <c:showLegendKey val="0"/>
          <c:showVal val="0"/>
          <c:showCatName val="0"/>
          <c:showSerName val="0"/>
          <c:showPercent val="0"/>
          <c:showBubbleSize val="0"/>
        </c:dLbls>
        <c:gapWidth val="15"/>
        <c:overlap val="-19"/>
        <c:axId val="353699424"/>
        <c:axId val="353702176"/>
      </c:barChart>
      <c:catAx>
        <c:axId val="3536994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02176"/>
        <c:crosses val="autoZero"/>
        <c:auto val="1"/>
        <c:lblAlgn val="ctr"/>
        <c:lblOffset val="100"/>
        <c:noMultiLvlLbl val="0"/>
      </c:catAx>
      <c:valAx>
        <c:axId val="35370217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699424"/>
        <c:crosses val="autoZero"/>
        <c:crossBetween val="between"/>
        <c:majorUnit val="5.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sz="1200"/>
              <a:t>Before “mourn”</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544F65"/>
            </a:solidFill>
            <a:ln>
              <a:noFill/>
            </a:ln>
            <a:effectLst/>
          </c:spPr>
          <c:invertIfNegative val="0"/>
          <c:cat>
            <c:strRef>
              <c:f>Sheet1!$A$2:$A$8</c:f>
              <c:strCache>
                <c:ptCount val="7"/>
                <c:pt idx="0">
                  <c:v>pass</c:v>
                </c:pt>
                <c:pt idx="1">
                  <c:v>serve</c:v>
                </c:pt>
                <c:pt idx="2">
                  <c:v>respect</c:v>
                </c:pt>
                <c:pt idx="3">
                  <c:v>value</c:v>
                </c:pt>
                <c:pt idx="4">
                  <c:v>score</c:v>
                </c:pt>
                <c:pt idx="5">
                  <c:v>trust</c:v>
                </c:pt>
                <c:pt idx="6">
                  <c:v>retire</c:v>
                </c:pt>
              </c:strCache>
            </c:strRef>
          </c:cat>
          <c:val>
            <c:numRef>
              <c:f>Sheet1!$B$2:$B$8</c:f>
              <c:numCache>
                <c:formatCode>General</c:formatCode>
                <c:ptCount val="7"/>
                <c:pt idx="0">
                  <c:v>52.33970594843238</c:v>
                </c:pt>
                <c:pt idx="1">
                  <c:v>15.9228515045117</c:v>
                </c:pt>
                <c:pt idx="2">
                  <c:v>9.561601930543505</c:v>
                </c:pt>
                <c:pt idx="3">
                  <c:v>7.986521265955503</c:v>
                </c:pt>
                <c:pt idx="4">
                  <c:v>7.597014027577537</c:v>
                </c:pt>
                <c:pt idx="5">
                  <c:v>4.0461073832222</c:v>
                </c:pt>
                <c:pt idx="6">
                  <c:v>3.182780796509667</c:v>
                </c:pt>
              </c:numCache>
            </c:numRef>
          </c:val>
          <c:extLst xmlns:c16r2="http://schemas.microsoft.com/office/drawing/2015/06/chart">
            <c:ext xmlns:c16="http://schemas.microsoft.com/office/drawing/2014/chart" uri="{C3380CC4-5D6E-409C-BE32-E72D297353CC}">
              <c16:uniqueId val="{00000000-19E8-4631-B497-C09F863AC72B}"/>
            </c:ext>
          </c:extLst>
        </c:ser>
        <c:dLbls>
          <c:showLegendKey val="0"/>
          <c:showVal val="0"/>
          <c:showCatName val="0"/>
          <c:showSerName val="0"/>
          <c:showPercent val="0"/>
          <c:showBubbleSize val="0"/>
        </c:dLbls>
        <c:gapWidth val="15"/>
        <c:overlap val="-19"/>
        <c:axId val="343006976"/>
        <c:axId val="343009296"/>
      </c:barChart>
      <c:catAx>
        <c:axId val="3430069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009296"/>
        <c:crosses val="autoZero"/>
        <c:auto val="1"/>
        <c:lblAlgn val="ctr"/>
        <c:lblOffset val="100"/>
        <c:noMultiLvlLbl val="0"/>
      </c:catAx>
      <c:valAx>
        <c:axId val="34300929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sz="900"/>
                  <a: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006976"/>
        <c:crosses val="autoZero"/>
        <c:crossBetween val="between"/>
        <c:majorUnit val="2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“bomb”</a:t>
            </a:r>
          </a:p>
        </c:rich>
      </c:tx>
      <c:layout>
        <c:manualLayout>
          <c:xMode val="edge"/>
          <c:yMode val="edge"/>
          <c:x val="0.336582567688589"/>
          <c:y val="0.0277777777777778"/>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C27990"/>
            </a:solidFill>
            <a:ln>
              <a:noFill/>
            </a:ln>
            <a:effectLst/>
          </c:spPr>
          <c:invertIfNegative val="0"/>
          <c:cat>
            <c:strRef>
              <c:f>Sheet1!$A$2:$A$8</c:f>
              <c:strCache>
                <c:ptCount val="7"/>
                <c:pt idx="0">
                  <c:v>kill</c:v>
                </c:pt>
                <c:pt idx="1">
                  <c:v>destroy</c:v>
                </c:pt>
                <c:pt idx="2">
                  <c:v>suspect</c:v>
                </c:pt>
                <c:pt idx="3">
                  <c:v>strafe</c:v>
                </c:pt>
                <c:pt idx="4">
                  <c:v>include</c:v>
                </c:pt>
                <c:pt idx="5">
                  <c:v>shell</c:v>
                </c:pt>
                <c:pt idx="6">
                  <c:v>wound</c:v>
                </c:pt>
              </c:strCache>
            </c:strRef>
          </c:cat>
          <c:val>
            <c:numRef>
              <c:f>Sheet1!$B$2:$B$8</c:f>
              <c:numCache>
                <c:formatCode>General</c:formatCode>
                <c:ptCount val="7"/>
                <c:pt idx="0">
                  <c:v>27.05184686635042</c:v>
                </c:pt>
                <c:pt idx="1">
                  <c:v>8.826471039726724</c:v>
                </c:pt>
                <c:pt idx="2">
                  <c:v>6.473748318289405</c:v>
                </c:pt>
                <c:pt idx="3">
                  <c:v>6.473748318289405</c:v>
                </c:pt>
                <c:pt idx="4">
                  <c:v>5.572006814919987</c:v>
                </c:pt>
                <c:pt idx="5">
                  <c:v>4.991593906910217</c:v>
                </c:pt>
                <c:pt idx="6">
                  <c:v>4.700906107583276</c:v>
                </c:pt>
              </c:numCache>
            </c:numRef>
          </c:val>
          <c:extLst xmlns:c16r2="http://schemas.microsoft.com/office/drawing/2015/06/chart">
            <c:ext xmlns:c16="http://schemas.microsoft.com/office/drawing/2014/chart" uri="{C3380CC4-5D6E-409C-BE32-E72D297353CC}">
              <c16:uniqueId val="{00000000-53D8-7146-8ADB-C84287F4DA6A}"/>
            </c:ext>
          </c:extLst>
        </c:ser>
        <c:dLbls>
          <c:showLegendKey val="0"/>
          <c:showVal val="0"/>
          <c:showCatName val="0"/>
          <c:showSerName val="0"/>
          <c:showPercent val="0"/>
          <c:showBubbleSize val="0"/>
        </c:dLbls>
        <c:gapWidth val="15"/>
        <c:overlap val="-19"/>
        <c:axId val="355631568"/>
        <c:axId val="355634320"/>
      </c:barChart>
      <c:catAx>
        <c:axId val="355631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634320"/>
        <c:crosses val="autoZero"/>
        <c:auto val="1"/>
        <c:lblAlgn val="ctr"/>
        <c:lblOffset val="100"/>
        <c:noMultiLvlLbl val="0"/>
      </c:catAx>
      <c:valAx>
        <c:axId val="355634320"/>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631568"/>
        <c:crosses val="autoZero"/>
        <c:crossBetween val="between"/>
        <c:majorUnit val="10.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“bomb”</a:t>
            </a:r>
          </a:p>
        </c:rich>
      </c:tx>
      <c:layout>
        <c:manualLayout>
          <c:xMode val="edge"/>
          <c:yMode val="edge"/>
          <c:x val="0.294747374630347"/>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bomb</c:v>
                </c:pt>
              </c:strCache>
            </c:strRef>
          </c:tx>
          <c:spPr>
            <a:solidFill>
              <a:srgbClr val="C27990"/>
            </a:solidFill>
            <a:ln>
              <a:noFill/>
            </a:ln>
            <a:effectLst/>
          </c:spPr>
          <c:invertIfNegative val="0"/>
          <c:cat>
            <c:strRef>
              <c:f>Sheet1!$A$2:$A$8</c:f>
              <c:strCache>
                <c:ptCount val="7"/>
                <c:pt idx="0">
                  <c:v>report</c:v>
                </c:pt>
                <c:pt idx="1">
                  <c:v>fire</c:v>
                </c:pt>
                <c:pt idx="2">
                  <c:v>come</c:v>
                </c:pt>
                <c:pt idx="3">
                  <c:v>continue</c:v>
                </c:pt>
                <c:pt idx="4">
                  <c:v>lead</c:v>
                </c:pt>
                <c:pt idx="5">
                  <c:v>describe</c:v>
                </c:pt>
                <c:pt idx="6">
                  <c:v>refuse</c:v>
                </c:pt>
              </c:strCache>
            </c:strRef>
          </c:cat>
          <c:val>
            <c:numRef>
              <c:f>Sheet1!$B$2:$B$8</c:f>
              <c:numCache>
                <c:formatCode>General</c:formatCode>
                <c:ptCount val="7"/>
                <c:pt idx="0">
                  <c:v>6.158019887168884</c:v>
                </c:pt>
                <c:pt idx="1">
                  <c:v>6.158019887168884</c:v>
                </c:pt>
                <c:pt idx="2">
                  <c:v>4.211232157997035</c:v>
                </c:pt>
                <c:pt idx="3">
                  <c:v>3.447865276103125</c:v>
                </c:pt>
                <c:pt idx="4">
                  <c:v>2.311173210602129</c:v>
                </c:pt>
                <c:pt idx="5">
                  <c:v>2.311173210602129</c:v>
                </c:pt>
                <c:pt idx="6">
                  <c:v>1.911245796632637</c:v>
                </c:pt>
              </c:numCache>
            </c:numRef>
          </c:val>
          <c:extLst xmlns:c16r2="http://schemas.microsoft.com/office/drawing/2015/06/chart">
            <c:ext xmlns:c16="http://schemas.microsoft.com/office/drawing/2014/chart" uri="{C3380CC4-5D6E-409C-BE32-E72D297353CC}">
              <c16:uniqueId val="{00000000-6F65-694F-B682-8A82E6314B8C}"/>
            </c:ext>
          </c:extLst>
        </c:ser>
        <c:dLbls>
          <c:showLegendKey val="0"/>
          <c:showVal val="0"/>
          <c:showCatName val="0"/>
          <c:showSerName val="0"/>
          <c:showPercent val="0"/>
          <c:showBubbleSize val="0"/>
        </c:dLbls>
        <c:gapWidth val="15"/>
        <c:overlap val="-19"/>
        <c:axId val="355648896"/>
        <c:axId val="355651648"/>
      </c:barChart>
      <c:catAx>
        <c:axId val="355648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651648"/>
        <c:crosses val="autoZero"/>
        <c:auto val="1"/>
        <c:lblAlgn val="ctr"/>
        <c:lblOffset val="100"/>
        <c:noMultiLvlLbl val="0"/>
      </c:catAx>
      <c:valAx>
        <c:axId val="355651648"/>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564889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“investigate”</a:t>
            </a:r>
          </a:p>
        </c:rich>
      </c:tx>
      <c:layout>
        <c:manualLayout>
          <c:xMode val="edge"/>
          <c:yMode val="edge"/>
          <c:x val="0.277701576424971"/>
          <c:y val="0.0269156184764065"/>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report</c:v>
                </c:pt>
                <c:pt idx="1">
                  <c:v>prosecute</c:v>
                </c:pt>
                <c:pt idx="2">
                  <c:v>violate</c:v>
                </c:pt>
                <c:pt idx="3">
                  <c:v>occur</c:v>
                </c:pt>
                <c:pt idx="4">
                  <c:v>pay</c:v>
                </c:pt>
                <c:pt idx="5">
                  <c:v>tell</c:v>
                </c:pt>
                <c:pt idx="6">
                  <c:v>punish</c:v>
                </c:pt>
              </c:strCache>
            </c:strRef>
          </c:cat>
          <c:val>
            <c:numRef>
              <c:f>Sheet1!$B$2:$B$8</c:f>
              <c:numCache>
                <c:formatCode>General</c:formatCode>
                <c:ptCount val="7"/>
                <c:pt idx="0">
                  <c:v>7.673365287895486</c:v>
                </c:pt>
                <c:pt idx="1">
                  <c:v>7.083408929052118</c:v>
                </c:pt>
                <c:pt idx="2">
                  <c:v>4.892753725239476</c:v>
                </c:pt>
                <c:pt idx="3">
                  <c:v>4.47164021134834</c:v>
                </c:pt>
                <c:pt idx="4">
                  <c:v>3.848776397610543</c:v>
                </c:pt>
                <c:pt idx="5">
                  <c:v>2.997430072325831</c:v>
                </c:pt>
                <c:pt idx="6">
                  <c:v>2.997430072325831</c:v>
                </c:pt>
              </c:numCache>
            </c:numRef>
          </c:val>
          <c:extLst xmlns:c16r2="http://schemas.microsoft.com/office/drawing/2015/06/chart">
            <c:ext xmlns:c16="http://schemas.microsoft.com/office/drawing/2014/chart" uri="{C3380CC4-5D6E-409C-BE32-E72D297353CC}">
              <c16:uniqueId val="{00000000-4F32-6F40-A1F5-5B09EFC4A681}"/>
            </c:ext>
          </c:extLst>
        </c:ser>
        <c:dLbls>
          <c:showLegendKey val="0"/>
          <c:showVal val="0"/>
          <c:showCatName val="0"/>
          <c:showSerName val="0"/>
          <c:showPercent val="0"/>
          <c:showBubbleSize val="0"/>
        </c:dLbls>
        <c:gapWidth val="15"/>
        <c:overlap val="-19"/>
        <c:axId val="353709696"/>
        <c:axId val="353711744"/>
      </c:barChart>
      <c:catAx>
        <c:axId val="353709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11744"/>
        <c:crosses val="autoZero"/>
        <c:auto val="1"/>
        <c:lblAlgn val="ctr"/>
        <c:lblOffset val="100"/>
        <c:noMultiLvlLbl val="0"/>
      </c:catAx>
      <c:valAx>
        <c:axId val="353711744"/>
        <c:scaling>
          <c:orientation val="minMax"/>
          <c:max val="8.0"/>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0969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2" tx1="lt1" bg2="dk1" tx2="lt2" accent1="accent1" accent2="accent2" accent3="accent3" accent4="accent4" accent5="accent5" accent6="accent6" hlink="hlink" folHlink="folHlink"/>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“investigate”</a:t>
            </a:r>
          </a:p>
        </c:rich>
      </c:tx>
      <c:layout>
        <c:manualLayout>
          <c:xMode val="edge"/>
          <c:yMode val="edge"/>
          <c:x val="0.244126046359472"/>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Investigate</c:v>
                </c:pt>
              </c:strCache>
            </c:strRef>
          </c:tx>
          <c:spPr>
            <a:solidFill>
              <a:srgbClr val="95A28E"/>
            </a:solidFill>
            <a:ln>
              <a:noFill/>
            </a:ln>
            <a:effectLst/>
          </c:spPr>
          <c:invertIfNegative val="0"/>
          <c:cat>
            <c:strRef>
              <c:f>Sheet1!$A$2:$A$8</c:f>
              <c:strCache>
                <c:ptCount val="7"/>
                <c:pt idx="0">
                  <c:v>involve</c:v>
                </c:pt>
                <c:pt idx="1">
                  <c:v>kill</c:v>
                </c:pt>
                <c:pt idx="2">
                  <c:v>suspect</c:v>
                </c:pt>
                <c:pt idx="3">
                  <c:v>know</c:v>
                </c:pt>
                <c:pt idx="4">
                  <c:v>link</c:v>
                </c:pt>
                <c:pt idx="5">
                  <c:v>raise</c:v>
                </c:pt>
                <c:pt idx="6">
                  <c:v>steal</c:v>
                </c:pt>
              </c:strCache>
            </c:strRef>
          </c:cat>
          <c:val>
            <c:numRef>
              <c:f>Sheet1!$B$2:$B$8</c:f>
              <c:numCache>
                <c:formatCode>General</c:formatCode>
                <c:ptCount val="7"/>
                <c:pt idx="0">
                  <c:v>7.52142247499327</c:v>
                </c:pt>
                <c:pt idx="1">
                  <c:v>5.684568819219577</c:v>
                </c:pt>
                <c:pt idx="2">
                  <c:v>5.46167368764078</c:v>
                </c:pt>
                <c:pt idx="3">
                  <c:v>3.027554745375815</c:v>
                </c:pt>
                <c:pt idx="4">
                  <c:v>1.89222858320994</c:v>
                </c:pt>
                <c:pt idx="5">
                  <c:v>1.564795710394166</c:v>
                </c:pt>
                <c:pt idx="6">
                  <c:v>1.387849294835929</c:v>
                </c:pt>
              </c:numCache>
            </c:numRef>
          </c:val>
          <c:extLst xmlns:c16r2="http://schemas.microsoft.com/office/drawing/2015/06/chart">
            <c:ext xmlns:c16="http://schemas.microsoft.com/office/drawing/2014/chart" uri="{C3380CC4-5D6E-409C-BE32-E72D297353CC}">
              <c16:uniqueId val="{00000000-C832-FC4A-BAA8-2E48657F1D88}"/>
            </c:ext>
          </c:extLst>
        </c:ser>
        <c:dLbls>
          <c:showLegendKey val="0"/>
          <c:showVal val="0"/>
          <c:showCatName val="0"/>
          <c:showSerName val="0"/>
          <c:showPercent val="0"/>
          <c:showBubbleSize val="0"/>
        </c:dLbls>
        <c:gapWidth val="15"/>
        <c:overlap val="-19"/>
        <c:axId val="353741520"/>
        <c:axId val="353744272"/>
      </c:barChart>
      <c:catAx>
        <c:axId val="353741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44272"/>
        <c:crosses val="autoZero"/>
        <c:auto val="1"/>
        <c:lblAlgn val="ctr"/>
        <c:lblOffset val="100"/>
        <c:noMultiLvlLbl val="0"/>
      </c:catAx>
      <c:valAx>
        <c:axId val="353744272"/>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41520"/>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After “grant”</a:t>
            </a:r>
          </a:p>
        </c:rich>
      </c:tx>
      <c:layout>
        <c:manualLayout>
          <c:xMode val="edge"/>
          <c:yMode val="edge"/>
          <c:x val="0.333289108366128"/>
          <c:y val="0.0258558033384525"/>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After "bomb"</c:v>
                </c:pt>
              </c:strCache>
            </c:strRef>
          </c:tx>
          <c:spPr>
            <a:solidFill>
              <a:srgbClr val="665E8A"/>
            </a:solidFill>
            <a:ln>
              <a:noFill/>
            </a:ln>
            <a:effectLst/>
          </c:spPr>
          <c:invertIfNegative val="0"/>
          <c:cat>
            <c:strRef>
              <c:f>Sheet1!$A$2:$A$8</c:f>
              <c:strCache>
                <c:ptCount val="7"/>
                <c:pt idx="0">
                  <c:v>use</c:v>
                </c:pt>
                <c:pt idx="1">
                  <c:v>pay</c:v>
                </c:pt>
                <c:pt idx="2">
                  <c:v>include</c:v>
                </c:pt>
                <c:pt idx="3">
                  <c:v>leave</c:v>
                </c:pt>
                <c:pt idx="4">
                  <c:v>speak</c:v>
                </c:pt>
                <c:pt idx="5">
                  <c:v>help</c:v>
                </c:pt>
                <c:pt idx="6">
                  <c:v>work</c:v>
                </c:pt>
              </c:strCache>
            </c:strRef>
          </c:cat>
          <c:val>
            <c:numRef>
              <c:f>Sheet1!$B$2:$B$8</c:f>
              <c:numCache>
                <c:formatCode>General</c:formatCode>
                <c:ptCount val="7"/>
                <c:pt idx="0">
                  <c:v>5.143610573030378</c:v>
                </c:pt>
                <c:pt idx="1">
                  <c:v>4.08677143846407</c:v>
                </c:pt>
                <c:pt idx="2">
                  <c:v>3.51751677491213</c:v>
                </c:pt>
                <c:pt idx="3">
                  <c:v>3.345965457471272</c:v>
                </c:pt>
                <c:pt idx="4">
                  <c:v>3.247077233610587</c:v>
                </c:pt>
                <c:pt idx="5">
                  <c:v>2.967605144780944</c:v>
                </c:pt>
                <c:pt idx="6">
                  <c:v>2.879899158088242</c:v>
                </c:pt>
              </c:numCache>
            </c:numRef>
          </c:val>
          <c:extLst xmlns:c16r2="http://schemas.microsoft.com/office/drawing/2015/06/chart">
            <c:ext xmlns:c16="http://schemas.microsoft.com/office/drawing/2014/chart" uri="{C3380CC4-5D6E-409C-BE32-E72D297353CC}">
              <c16:uniqueId val="{00000000-8F92-DE48-B680-0BDF824AA171}"/>
            </c:ext>
          </c:extLst>
        </c:ser>
        <c:dLbls>
          <c:showLegendKey val="0"/>
          <c:showVal val="0"/>
          <c:showCatName val="0"/>
          <c:showSerName val="0"/>
          <c:showPercent val="0"/>
          <c:showBubbleSize val="0"/>
        </c:dLbls>
        <c:gapWidth val="15"/>
        <c:overlap val="-19"/>
        <c:axId val="343207936"/>
        <c:axId val="343210256"/>
      </c:barChart>
      <c:catAx>
        <c:axId val="34320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210256"/>
        <c:crosses val="autoZero"/>
        <c:auto val="1"/>
        <c:lblAlgn val="ctr"/>
        <c:lblOffset val="100"/>
        <c:noMultiLvlLbl val="0"/>
      </c:catAx>
      <c:valAx>
        <c:axId val="34321025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43207936"/>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r>
              <a:rPr lang="en-US"/>
              <a:t>Before “grant”</a:t>
            </a:r>
          </a:p>
        </c:rich>
      </c:tx>
      <c:layout>
        <c:manualLayout>
          <c:xMode val="edge"/>
          <c:yMode val="edge"/>
          <c:x val="0.307973241293372"/>
          <c:y val="0.0272520590146557"/>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bg2"/>
              </a:solidFill>
              <a:latin typeface="Century Gothic" panose="020B0502020202020204" pitchFamily="34"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Before "mourn"</c:v>
                </c:pt>
              </c:strCache>
            </c:strRef>
          </c:tx>
          <c:spPr>
            <a:solidFill>
              <a:srgbClr val="665E8A"/>
            </a:solidFill>
            <a:ln>
              <a:noFill/>
            </a:ln>
            <a:effectLst/>
          </c:spPr>
          <c:invertIfNegative val="0"/>
          <c:cat>
            <c:strRef>
              <c:f>Sheet1!$A$2:$A$8</c:f>
              <c:strCache>
                <c:ptCount val="7"/>
                <c:pt idx="0">
                  <c:v>seek</c:v>
                </c:pt>
                <c:pt idx="1">
                  <c:v>know</c:v>
                </c:pt>
                <c:pt idx="2">
                  <c:v>need</c:v>
                </c:pt>
                <c:pt idx="3">
                  <c:v>zone</c:v>
                </c:pt>
                <c:pt idx="4">
                  <c:v>request</c:v>
                </c:pt>
                <c:pt idx="5">
                  <c:v>involve</c:v>
                </c:pt>
                <c:pt idx="6">
                  <c:v>write</c:v>
                </c:pt>
              </c:strCache>
            </c:strRef>
          </c:cat>
          <c:val>
            <c:numRef>
              <c:f>Sheet1!$B$2:$B$8</c:f>
              <c:numCache>
                <c:formatCode>General</c:formatCode>
                <c:ptCount val="7"/>
                <c:pt idx="0">
                  <c:v>4.795870710296421</c:v>
                </c:pt>
                <c:pt idx="1">
                  <c:v>2.997430072325831</c:v>
                </c:pt>
                <c:pt idx="2">
                  <c:v>2.357862006490233</c:v>
                </c:pt>
                <c:pt idx="3">
                  <c:v>1.989245217265162</c:v>
                </c:pt>
                <c:pt idx="4">
                  <c:v>1.989245217265162</c:v>
                </c:pt>
                <c:pt idx="5">
                  <c:v>1.989245217265162</c:v>
                </c:pt>
                <c:pt idx="6">
                  <c:v>1.911245796632637</c:v>
                </c:pt>
              </c:numCache>
            </c:numRef>
          </c:val>
          <c:extLst xmlns:c16r2="http://schemas.microsoft.com/office/drawing/2015/06/chart">
            <c:ext xmlns:c16="http://schemas.microsoft.com/office/drawing/2014/chart" uri="{C3380CC4-5D6E-409C-BE32-E72D297353CC}">
              <c16:uniqueId val="{00000000-47FC-A644-A2C3-A2C749E02654}"/>
            </c:ext>
          </c:extLst>
        </c:ser>
        <c:dLbls>
          <c:showLegendKey val="0"/>
          <c:showVal val="0"/>
          <c:showCatName val="0"/>
          <c:showSerName val="0"/>
          <c:showPercent val="0"/>
          <c:showBubbleSize val="0"/>
        </c:dLbls>
        <c:gapWidth val="15"/>
        <c:overlap val="-19"/>
        <c:axId val="353766464"/>
        <c:axId val="353769216"/>
      </c:barChart>
      <c:catAx>
        <c:axId val="3537664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69216"/>
        <c:crosses val="autoZero"/>
        <c:auto val="1"/>
        <c:lblAlgn val="ctr"/>
        <c:lblOffset val="100"/>
        <c:noMultiLvlLbl val="0"/>
      </c:catAx>
      <c:valAx>
        <c:axId val="353769216"/>
        <c:scaling>
          <c:orientation val="minMax"/>
        </c:scaling>
        <c:delete val="0"/>
        <c:axPos val="l"/>
        <c:majorGridlines>
          <c:spPr>
            <a:ln w="9525" cap="flat" cmpd="sng" algn="ctr">
              <a:solidFill>
                <a:schemeClr val="tx1">
                  <a:lumMod val="7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r>
                  <a:rPr lang="en-US"/>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bg2"/>
                </a:solidFill>
                <a:latin typeface="Century Gothic" panose="020B0502020202020204" pitchFamily="34" charset="0"/>
                <a:ea typeface="+mn-ea"/>
                <a:cs typeface="Times New Roman" panose="02020603050405020304" pitchFamily="18" charset="0"/>
              </a:defRPr>
            </a:pPr>
            <a:endParaRPr lang="en-US"/>
          </a:p>
        </c:txPr>
        <c:crossAx val="353766464"/>
        <c:crosses val="autoZero"/>
        <c:crossBetween val="between"/>
        <c:majorUnit val="2.0"/>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bg2"/>
          </a:solidFill>
          <a:latin typeface="Century Gothic" panose="020B0502020202020204" pitchFamily="34" charset="0"/>
          <a:cs typeface="Times New Roman" panose="02020603050405020304" pitchFamily="18" charset="0"/>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rgbClr val="F1CEC3"/>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EMNLP'17</c:v>
                </c:pt>
              </c:strCache>
            </c:strRef>
          </c:tx>
          <c:spPr>
            <a:solidFill>
              <a:srgbClr val="7792CB"/>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F82A-6D40-9B32-4726FDC8890B}"/>
            </c:ext>
          </c:extLst>
        </c:ser>
        <c:ser>
          <c:idx val="2"/>
          <c:order val="2"/>
          <c:tx>
            <c:strRef>
              <c:f>Sheet1!$D$1</c:f>
              <c:strCache>
                <c:ptCount val="1"/>
                <c:pt idx="0">
                  <c:v>EMNLP'17+TemProb</c:v>
                </c:pt>
              </c:strCache>
            </c:strRef>
          </c:tx>
          <c:spPr>
            <a:solidFill>
              <a:srgbClr val="CD95A6"/>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F82A-6D40-9B32-4726FDC8890B}"/>
            </c:ext>
          </c:extLst>
        </c:ser>
        <c:dLbls>
          <c:showLegendKey val="0"/>
          <c:showVal val="0"/>
          <c:showCatName val="0"/>
          <c:showSerName val="0"/>
          <c:showPercent val="0"/>
          <c:showBubbleSize val="0"/>
        </c:dLbls>
        <c:gapWidth val="267"/>
        <c:overlap val="-43"/>
        <c:axId val="343184384"/>
        <c:axId val="343186160"/>
      </c:barChart>
      <c:catAx>
        <c:axId val="34318438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43186160"/>
        <c:crosses val="autoZero"/>
        <c:auto val="1"/>
        <c:lblAlgn val="ctr"/>
        <c:lblOffset val="100"/>
        <c:noMultiLvlLbl val="0"/>
      </c:catAx>
      <c:valAx>
        <c:axId val="343186160"/>
        <c:scaling>
          <c:orientation val="minMax"/>
          <c:max val="6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343184384"/>
        <c:crosses val="autoZero"/>
        <c:crossBetween val="between"/>
        <c:majorUnit val="10.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r>
              <a:rPr lang="en-US" dirty="0" err="1">
                <a:latin typeface="Century Gothic" panose="020B0502020202020204" pitchFamily="34" charset="0"/>
              </a:rPr>
              <a:t>TemPro</a:t>
            </a:r>
            <a:r>
              <a:rPr lang="en-US" baseline="0" dirty="0" err="1">
                <a:latin typeface="Century Gothic" panose="020B0502020202020204" pitchFamily="34" charset="0"/>
              </a:rPr>
              <a:t>b</a:t>
            </a:r>
            <a:r>
              <a:rPr lang="en-US" baseline="0" dirty="0">
                <a:latin typeface="Century Gothic" panose="020B0502020202020204" pitchFamily="34" charset="0"/>
              </a:rPr>
              <a:t> improves </a:t>
            </a:r>
            <a:r>
              <a:rPr lang="en-US" baseline="0" dirty="0" err="1">
                <a:latin typeface="Century Gothic" panose="020B0502020202020204" pitchFamily="34" charset="0"/>
              </a:rPr>
              <a:t>TempRel</a:t>
            </a:r>
            <a:r>
              <a:rPr lang="en-US" baseline="0" dirty="0">
                <a:latin typeface="Century Gothic" panose="020B0502020202020204" pitchFamily="34" charset="0"/>
              </a:rPr>
              <a:t> extraction</a:t>
            </a:r>
            <a:endParaRPr lang="en-US" dirty="0">
              <a:latin typeface="Century Gothic" panose="020B0502020202020204" pitchFamily="34" charset="0"/>
            </a:endParaRPr>
          </a:p>
        </c:rich>
      </c:tx>
      <c:overlay val="0"/>
      <c:spPr>
        <a:noFill/>
        <a:ln>
          <a:noFill/>
        </a:ln>
        <a:effectLst/>
      </c:spPr>
      <c:txPr>
        <a:bodyPr rot="0" spcFirstLastPara="1" vertOverflow="ellipsis" vert="horz" wrap="square" anchor="ctr" anchorCtr="1"/>
        <a:lstStyle/>
        <a:p>
          <a:pPr>
            <a:defRPr sz="2400" b="1" i="0" u="none" strike="noStrike" kern="1200" cap="none" spc="0" normalizeH="0" baseline="0">
              <a:solidFill>
                <a:schemeClr val="dk1">
                  <a:lumMod val="50000"/>
                  <a:lumOff val="50000"/>
                </a:schemeClr>
              </a:solidFill>
              <a:latin typeface="Century Gothic" panose="020B0502020202020204" pitchFamily="34" charset="0"/>
              <a:ea typeface="+mj-ea"/>
              <a:cs typeface="+mj-cs"/>
            </a:defRPr>
          </a:pPr>
          <a:endParaRPr lang="en-US"/>
        </a:p>
      </c:txPr>
    </c:title>
    <c:autoTitleDeleted val="0"/>
    <c:plotArea>
      <c:layout/>
      <c:barChart>
        <c:barDir val="col"/>
        <c:grouping val="clustered"/>
        <c:varyColors val="0"/>
        <c:ser>
          <c:idx val="0"/>
          <c:order val="0"/>
          <c:tx>
            <c:strRef>
              <c:f>Sheet1!$B$1</c:f>
              <c:strCache>
                <c:ptCount val="1"/>
                <c:pt idx="0">
                  <c:v>CAEVO</c:v>
                </c:pt>
              </c:strCache>
            </c:strRef>
          </c:tx>
          <c:spPr>
            <a:solidFill>
              <a:srgbClr val="F1CEC3"/>
            </a:solidFill>
            <a:ln>
              <a:noFill/>
            </a:ln>
            <a:effectLst/>
          </c:spPr>
          <c:invertIfNegative val="0"/>
          <c:cat>
            <c:strRef>
              <c:f>Sheet1!$A$2:$A$4</c:f>
              <c:strCache>
                <c:ptCount val="3"/>
                <c:pt idx="0">
                  <c:v>Prec</c:v>
                </c:pt>
                <c:pt idx="1">
                  <c:v>Rec</c:v>
                </c:pt>
                <c:pt idx="2">
                  <c:v>F1</c:v>
                </c:pt>
              </c:strCache>
            </c:strRef>
          </c:cat>
          <c:val>
            <c:numRef>
              <c:f>Sheet1!$B$2:$B$4</c:f>
              <c:numCache>
                <c:formatCode>General</c:formatCode>
                <c:ptCount val="3"/>
                <c:pt idx="0">
                  <c:v>52.3</c:v>
                </c:pt>
                <c:pt idx="1">
                  <c:v>43.7</c:v>
                </c:pt>
                <c:pt idx="2">
                  <c:v>50.0</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EMNLP'17</c:v>
                </c:pt>
              </c:strCache>
            </c:strRef>
          </c:tx>
          <c:spPr>
            <a:solidFill>
              <a:srgbClr val="7792CB"/>
            </a:solidFill>
            <a:ln>
              <a:noFill/>
            </a:ln>
            <a:effectLst/>
          </c:spPr>
          <c:invertIfNegative val="0"/>
          <c:cat>
            <c:strRef>
              <c:f>Sheet1!$A$2:$A$4</c:f>
              <c:strCache>
                <c:ptCount val="3"/>
                <c:pt idx="0">
                  <c:v>Prec</c:v>
                </c:pt>
                <c:pt idx="1">
                  <c:v>Rec</c:v>
                </c:pt>
                <c:pt idx="2">
                  <c:v>F1</c:v>
                </c:pt>
              </c:strCache>
            </c:strRef>
          </c:cat>
          <c:val>
            <c:numRef>
              <c:f>Sheet1!$C$2:$C$4</c:f>
              <c:numCache>
                <c:formatCode>General</c:formatCode>
                <c:ptCount val="3"/>
                <c:pt idx="0">
                  <c:v>47.4</c:v>
                </c:pt>
                <c:pt idx="1">
                  <c:v>56.3</c:v>
                </c:pt>
                <c:pt idx="2">
                  <c:v>51.5</c:v>
                </c:pt>
              </c:numCache>
            </c:numRef>
          </c:val>
          <c:extLst xmlns:c16r2="http://schemas.microsoft.com/office/drawing/2015/06/chart">
            <c:ext xmlns:c16="http://schemas.microsoft.com/office/drawing/2014/chart" uri="{C3380CC4-5D6E-409C-BE32-E72D297353CC}">
              <c16:uniqueId val="{00000001-F82A-6D40-9B32-4726FDC8890B}"/>
            </c:ext>
          </c:extLst>
        </c:ser>
        <c:ser>
          <c:idx val="2"/>
          <c:order val="2"/>
          <c:tx>
            <c:strRef>
              <c:f>Sheet1!$D$1</c:f>
              <c:strCache>
                <c:ptCount val="1"/>
                <c:pt idx="0">
                  <c:v>EMNLP'17+TemProb</c:v>
                </c:pt>
              </c:strCache>
            </c:strRef>
          </c:tx>
          <c:spPr>
            <a:solidFill>
              <a:srgbClr val="CD95A6"/>
            </a:solidFill>
            <a:ln>
              <a:noFill/>
            </a:ln>
            <a:effectLst/>
          </c:spPr>
          <c:invertIfNegative val="0"/>
          <c:cat>
            <c:strRef>
              <c:f>Sheet1!$A$2:$A$4</c:f>
              <c:strCache>
                <c:ptCount val="3"/>
                <c:pt idx="0">
                  <c:v>Prec</c:v>
                </c:pt>
                <c:pt idx="1">
                  <c:v>Rec</c:v>
                </c:pt>
                <c:pt idx="2">
                  <c:v>F1</c:v>
                </c:pt>
              </c:strCache>
            </c:strRef>
          </c:cat>
          <c:val>
            <c:numRef>
              <c:f>Sheet1!$D$2:$D$4</c:f>
              <c:numCache>
                <c:formatCode>General</c:formatCode>
                <c:ptCount val="3"/>
                <c:pt idx="0">
                  <c:v>50.0</c:v>
                </c:pt>
                <c:pt idx="1">
                  <c:v>62.4</c:v>
                </c:pt>
                <c:pt idx="2">
                  <c:v>55.5</c:v>
                </c:pt>
              </c:numCache>
            </c:numRef>
          </c:val>
          <c:extLst xmlns:c16r2="http://schemas.microsoft.com/office/drawing/2015/06/chart">
            <c:ext xmlns:c16="http://schemas.microsoft.com/office/drawing/2014/chart" uri="{C3380CC4-5D6E-409C-BE32-E72D297353CC}">
              <c16:uniqueId val="{00000002-F82A-6D40-9B32-4726FDC8890B}"/>
            </c:ext>
          </c:extLst>
        </c:ser>
        <c:dLbls>
          <c:showLegendKey val="0"/>
          <c:showVal val="0"/>
          <c:showCatName val="0"/>
          <c:showSerName val="0"/>
          <c:showPercent val="0"/>
          <c:showBubbleSize val="0"/>
        </c:dLbls>
        <c:gapWidth val="267"/>
        <c:overlap val="-43"/>
        <c:axId val="343122336"/>
        <c:axId val="343124112"/>
      </c:barChart>
      <c:catAx>
        <c:axId val="343122336"/>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43124112"/>
        <c:crosses val="autoZero"/>
        <c:auto val="1"/>
        <c:lblAlgn val="ctr"/>
        <c:lblOffset val="100"/>
        <c:noMultiLvlLbl val="0"/>
      </c:catAx>
      <c:valAx>
        <c:axId val="343124112"/>
        <c:scaling>
          <c:orientation val="minMax"/>
          <c:max val="70.0"/>
          <c:min val="2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343122336"/>
        <c:crosses val="autoZero"/>
        <c:crossBetween val="between"/>
        <c:majorUnit val="10.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Old</c:v>
                </c:pt>
              </c:strCache>
            </c:strRef>
          </c:tx>
          <c:spPr>
            <a:solidFill>
              <a:srgbClr val="F1CEC3"/>
            </a:solidFill>
            <a:ln>
              <a:noFill/>
            </a:ln>
            <a:effectLst/>
          </c:spPr>
          <c:invertIfNegative val="0"/>
          <c:cat>
            <c:strRef>
              <c:f>Sheet1!$A$2:$A$3</c:f>
              <c:strCache>
                <c:ptCount val="2"/>
                <c:pt idx="0">
                  <c:v>Training F1</c:v>
                </c:pt>
                <c:pt idx="1">
                  <c:v>Testing F1</c:v>
                </c:pt>
              </c:strCache>
            </c:strRef>
          </c:cat>
          <c:val>
            <c:numRef>
              <c:f>Sheet1!$B$2:$B$3</c:f>
              <c:numCache>
                <c:formatCode>General</c:formatCode>
                <c:ptCount val="2"/>
                <c:pt idx="0">
                  <c:v>53.0</c:v>
                </c:pt>
                <c:pt idx="1">
                  <c:v>48.0</c:v>
                </c:pt>
              </c:numCache>
            </c:numRef>
          </c:val>
          <c:extLst xmlns:c16r2="http://schemas.microsoft.com/office/drawing/2015/06/chart">
            <c:ext xmlns:c16="http://schemas.microsoft.com/office/drawing/2014/chart" uri="{C3380CC4-5D6E-409C-BE32-E72D297353CC}">
              <c16:uniqueId val="{00000000-F82A-6D40-9B32-4726FDC8890B}"/>
            </c:ext>
          </c:extLst>
        </c:ser>
        <c:ser>
          <c:idx val="1"/>
          <c:order val="1"/>
          <c:tx>
            <c:strRef>
              <c:f>Sheet1!$C$1</c:f>
              <c:strCache>
                <c:ptCount val="1"/>
                <c:pt idx="0">
                  <c:v>New</c:v>
                </c:pt>
              </c:strCache>
            </c:strRef>
          </c:tx>
          <c:spPr>
            <a:solidFill>
              <a:srgbClr val="7792CB"/>
            </a:solidFill>
            <a:ln>
              <a:noFill/>
            </a:ln>
            <a:effectLst/>
          </c:spPr>
          <c:invertIfNegative val="0"/>
          <c:cat>
            <c:strRef>
              <c:f>Sheet1!$A$2:$A$3</c:f>
              <c:strCache>
                <c:ptCount val="2"/>
                <c:pt idx="0">
                  <c:v>Training F1</c:v>
                </c:pt>
                <c:pt idx="1">
                  <c:v>Testing F1</c:v>
                </c:pt>
              </c:strCache>
            </c:strRef>
          </c:cat>
          <c:val>
            <c:numRef>
              <c:f>Sheet1!$C$2:$C$3</c:f>
              <c:numCache>
                <c:formatCode>General</c:formatCode>
                <c:ptCount val="2"/>
                <c:pt idx="0">
                  <c:v>77.0</c:v>
                </c:pt>
                <c:pt idx="1">
                  <c:v>69.0</c:v>
                </c:pt>
              </c:numCache>
            </c:numRef>
          </c:val>
          <c:extLst xmlns:c16r2="http://schemas.microsoft.com/office/drawing/2015/06/chart">
            <c:ext xmlns:c16="http://schemas.microsoft.com/office/drawing/2014/chart" uri="{C3380CC4-5D6E-409C-BE32-E72D297353CC}">
              <c16:uniqueId val="{00000001-F82A-6D40-9B32-4726FDC8890B}"/>
            </c:ext>
          </c:extLst>
        </c:ser>
        <c:dLbls>
          <c:showLegendKey val="0"/>
          <c:showVal val="0"/>
          <c:showCatName val="0"/>
          <c:showSerName val="0"/>
          <c:showPercent val="0"/>
          <c:showBubbleSize val="0"/>
        </c:dLbls>
        <c:gapWidth val="267"/>
        <c:overlap val="-43"/>
        <c:axId val="352551824"/>
        <c:axId val="352554576"/>
      </c:barChart>
      <c:catAx>
        <c:axId val="35255182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0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2554576"/>
        <c:crosses val="autoZero"/>
        <c:auto val="1"/>
        <c:lblAlgn val="ctr"/>
        <c:lblOffset val="100"/>
        <c:noMultiLvlLbl val="0"/>
      </c:catAx>
      <c:valAx>
        <c:axId val="352554576"/>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crossAx val="352551824"/>
        <c:crosses val="autoZero"/>
        <c:crossBetween val="between"/>
        <c:majorUnit val="10.0"/>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000"/>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0.0</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355725040"/>
        <c:axId val="355727792"/>
      </c:barChart>
      <c:catAx>
        <c:axId val="355725040"/>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5727792"/>
        <c:crosses val="autoZero"/>
        <c:auto val="1"/>
        <c:lblAlgn val="ctr"/>
        <c:lblOffset val="100"/>
        <c:noMultiLvlLbl val="0"/>
      </c:catAx>
      <c:valAx>
        <c:axId val="355727792"/>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355725040"/>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355967552"/>
        <c:axId val="355970304"/>
      </c:barChart>
      <c:catAx>
        <c:axId val="35596755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5970304"/>
        <c:crosses val="autoZero"/>
        <c:auto val="1"/>
        <c:lblAlgn val="ctr"/>
        <c:lblOffset val="100"/>
        <c:noMultiLvlLbl val="0"/>
      </c:catAx>
      <c:valAx>
        <c:axId val="355970304"/>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35596755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353976304"/>
        <c:axId val="353979056"/>
      </c:barChart>
      <c:catAx>
        <c:axId val="353976304"/>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3979056"/>
        <c:crosses val="autoZero"/>
        <c:auto val="1"/>
        <c:lblAlgn val="ctr"/>
        <c:lblOffset val="100"/>
        <c:noMultiLvlLbl val="0"/>
      </c:catAx>
      <c:valAx>
        <c:axId val="353979056"/>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353976304"/>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CAEVO</c:v>
                </c:pt>
              </c:strCache>
            </c:strRef>
          </c:tx>
          <c:spPr>
            <a:solidFill>
              <a:schemeClr val="accent1"/>
            </a:solidFill>
            <a:ln>
              <a:noFill/>
            </a:ln>
            <a:effectLst/>
          </c:spPr>
          <c:invertIfNegative val="0"/>
          <c:cat>
            <c:strRef>
              <c:f>Sheet1!$A$2</c:f>
              <c:strCache>
                <c:ptCount val="1"/>
                <c:pt idx="0">
                  <c:v>F1</c:v>
                </c:pt>
              </c:strCache>
            </c:strRef>
          </c:cat>
          <c:val>
            <c:numRef>
              <c:f>Sheet1!$B$2</c:f>
              <c:numCache>
                <c:formatCode>General</c:formatCode>
                <c:ptCount val="1"/>
                <c:pt idx="0">
                  <c:v>50.0</c:v>
                </c:pt>
              </c:numCache>
            </c:numRef>
          </c:val>
          <c:extLst xmlns:c16r2="http://schemas.microsoft.com/office/drawing/2015/06/chart">
            <c:ext xmlns:c16="http://schemas.microsoft.com/office/drawing/2014/chart" uri="{C3380CC4-5D6E-409C-BE32-E72D297353CC}">
              <c16:uniqueId val="{00000000-CC3B-6646-80D4-BE3961523A95}"/>
            </c:ext>
          </c:extLst>
        </c:ser>
        <c:ser>
          <c:idx val="1"/>
          <c:order val="1"/>
          <c:tx>
            <c:strRef>
              <c:f>Sheet1!$C$1</c:f>
              <c:strCache>
                <c:ptCount val="1"/>
                <c:pt idx="0">
                  <c:v>EMNLP'17</c:v>
                </c:pt>
              </c:strCache>
            </c:strRef>
          </c:tx>
          <c:spPr>
            <a:solidFill>
              <a:schemeClr val="accent2"/>
            </a:solidFill>
            <a:ln>
              <a:noFill/>
            </a:ln>
            <a:effectLst/>
          </c:spPr>
          <c:invertIfNegative val="0"/>
          <c:cat>
            <c:strRef>
              <c:f>Sheet1!$A$2</c:f>
              <c:strCache>
                <c:ptCount val="1"/>
                <c:pt idx="0">
                  <c:v>F1</c:v>
                </c:pt>
              </c:strCache>
            </c:strRef>
          </c:cat>
          <c:val>
            <c:numRef>
              <c:f>Sheet1!$C$2</c:f>
              <c:numCache>
                <c:formatCode>General</c:formatCode>
                <c:ptCount val="1"/>
                <c:pt idx="0">
                  <c:v>51.5</c:v>
                </c:pt>
              </c:numCache>
            </c:numRef>
          </c:val>
          <c:extLst xmlns:c16r2="http://schemas.microsoft.com/office/drawing/2015/06/chart">
            <c:ext xmlns:c16="http://schemas.microsoft.com/office/drawing/2014/chart" uri="{C3380CC4-5D6E-409C-BE32-E72D297353CC}">
              <c16:uniqueId val="{00000001-CC3B-6646-80D4-BE3961523A95}"/>
            </c:ext>
          </c:extLst>
        </c:ser>
        <c:ser>
          <c:idx val="2"/>
          <c:order val="2"/>
          <c:tx>
            <c:strRef>
              <c:f>Sheet1!$D$1</c:f>
              <c:strCache>
                <c:ptCount val="1"/>
                <c:pt idx="0">
                  <c:v>TemProb</c:v>
                </c:pt>
              </c:strCache>
            </c:strRef>
          </c:tx>
          <c:spPr>
            <a:solidFill>
              <a:schemeClr val="accent3"/>
            </a:solidFill>
            <a:ln>
              <a:noFill/>
            </a:ln>
            <a:effectLst/>
          </c:spPr>
          <c:invertIfNegative val="0"/>
          <c:cat>
            <c:strRef>
              <c:f>Sheet1!$A$2</c:f>
              <c:strCache>
                <c:ptCount val="1"/>
                <c:pt idx="0">
                  <c:v>F1</c:v>
                </c:pt>
              </c:strCache>
            </c:strRef>
          </c:cat>
          <c:val>
            <c:numRef>
              <c:f>Sheet1!$D$2</c:f>
              <c:numCache>
                <c:formatCode>General</c:formatCode>
                <c:ptCount val="1"/>
                <c:pt idx="0">
                  <c:v>55.5</c:v>
                </c:pt>
              </c:numCache>
            </c:numRef>
          </c:val>
          <c:extLst xmlns:c16r2="http://schemas.microsoft.com/office/drawing/2015/06/chart">
            <c:ext xmlns:c16="http://schemas.microsoft.com/office/drawing/2014/chart" uri="{C3380CC4-5D6E-409C-BE32-E72D297353CC}">
              <c16:uniqueId val="{00000002-CC3B-6646-80D4-BE3961523A95}"/>
            </c:ext>
          </c:extLst>
        </c:ser>
        <c:ser>
          <c:idx val="3"/>
          <c:order val="3"/>
          <c:tx>
            <c:strRef>
              <c:f>Sheet1!$E$1</c:f>
              <c:strCache>
                <c:ptCount val="1"/>
                <c:pt idx="0">
                  <c:v>CogCompTime</c:v>
                </c:pt>
              </c:strCache>
            </c:strRef>
          </c:tx>
          <c:spPr>
            <a:solidFill>
              <a:schemeClr val="accent4"/>
            </a:solidFill>
            <a:ln>
              <a:noFill/>
            </a:ln>
            <a:effectLst/>
          </c:spPr>
          <c:invertIfNegative val="0"/>
          <c:cat>
            <c:strRef>
              <c:f>Sheet1!$A$2</c:f>
              <c:strCache>
                <c:ptCount val="1"/>
                <c:pt idx="0">
                  <c:v>F1</c:v>
                </c:pt>
              </c:strCache>
            </c:strRef>
          </c:cat>
          <c:val>
            <c:numRef>
              <c:f>Sheet1!$E$2</c:f>
              <c:numCache>
                <c:formatCode>General</c:formatCode>
                <c:ptCount val="1"/>
                <c:pt idx="0">
                  <c:v>66.6</c:v>
                </c:pt>
              </c:numCache>
            </c:numRef>
          </c:val>
          <c:extLst xmlns:c16r2="http://schemas.microsoft.com/office/drawing/2015/06/chart">
            <c:ext xmlns:c16="http://schemas.microsoft.com/office/drawing/2014/chart" uri="{C3380CC4-5D6E-409C-BE32-E72D297353CC}">
              <c16:uniqueId val="{00000003-CC3B-6646-80D4-BE3961523A95}"/>
            </c:ext>
          </c:extLst>
        </c:ser>
        <c:ser>
          <c:idx val="4"/>
          <c:order val="4"/>
          <c:tx>
            <c:strRef>
              <c:f>Sheet1!$F$1</c:f>
              <c:strCache>
                <c:ptCount val="1"/>
                <c:pt idx="0">
                  <c:v>LSTM</c:v>
                </c:pt>
              </c:strCache>
            </c:strRef>
          </c:tx>
          <c:spPr>
            <a:solidFill>
              <a:schemeClr val="accent5"/>
            </a:solidFill>
            <a:ln>
              <a:noFill/>
            </a:ln>
            <a:effectLst/>
          </c:spPr>
          <c:invertIfNegative val="0"/>
          <c:cat>
            <c:strRef>
              <c:f>Sheet1!$A$2</c:f>
              <c:strCache>
                <c:ptCount val="1"/>
                <c:pt idx="0">
                  <c:v>F1</c:v>
                </c:pt>
              </c:strCache>
            </c:strRef>
          </c:cat>
          <c:val>
            <c:numRef>
              <c:f>Sheet1!$F$2</c:f>
              <c:numCache>
                <c:formatCode>General</c:formatCode>
                <c:ptCount val="1"/>
                <c:pt idx="0">
                  <c:v>69.0</c:v>
                </c:pt>
              </c:numCache>
            </c:numRef>
          </c:val>
          <c:extLst xmlns:c16r2="http://schemas.microsoft.com/office/drawing/2015/06/chart">
            <c:ext xmlns:c16="http://schemas.microsoft.com/office/drawing/2014/chart" uri="{C3380CC4-5D6E-409C-BE32-E72D297353CC}">
              <c16:uniqueId val="{00000004-CC3B-6646-80D4-BE3961523A95}"/>
            </c:ext>
          </c:extLst>
        </c:ser>
        <c:ser>
          <c:idx val="5"/>
          <c:order val="5"/>
          <c:tx>
            <c:strRef>
              <c:f>Sheet1!$G$1</c:f>
              <c:strCache>
                <c:ptCount val="1"/>
                <c:pt idx="0">
                  <c:v>LSTM (BERT)</c:v>
                </c:pt>
              </c:strCache>
            </c:strRef>
          </c:tx>
          <c:spPr>
            <a:solidFill>
              <a:schemeClr val="accent6"/>
            </a:solidFill>
            <a:ln>
              <a:noFill/>
            </a:ln>
            <a:effectLst/>
          </c:spPr>
          <c:invertIfNegative val="0"/>
          <c:cat>
            <c:strRef>
              <c:f>Sheet1!$A$2</c:f>
              <c:strCache>
                <c:ptCount val="1"/>
                <c:pt idx="0">
                  <c:v>F1</c:v>
                </c:pt>
              </c:strCache>
            </c:strRef>
          </c:cat>
          <c:val>
            <c:numRef>
              <c:f>Sheet1!$G$2</c:f>
              <c:numCache>
                <c:formatCode>General</c:formatCode>
                <c:ptCount val="1"/>
                <c:pt idx="0">
                  <c:v>73.8</c:v>
                </c:pt>
              </c:numCache>
            </c:numRef>
          </c:val>
          <c:extLst xmlns:c16r2="http://schemas.microsoft.com/office/drawing/2015/06/chart">
            <c:ext xmlns:c16="http://schemas.microsoft.com/office/drawing/2014/chart" uri="{C3380CC4-5D6E-409C-BE32-E72D297353CC}">
              <c16:uniqueId val="{00000005-CC3B-6646-80D4-BE3961523A95}"/>
            </c:ext>
          </c:extLst>
        </c:ser>
        <c:ser>
          <c:idx val="6"/>
          <c:order val="6"/>
          <c:tx>
            <c:strRef>
              <c:f>Sheet1!$H$1</c:f>
              <c:strCache>
                <c:ptCount val="1"/>
                <c:pt idx="0">
                  <c:v>LSTM+Siamese</c:v>
                </c:pt>
              </c:strCache>
            </c:strRef>
          </c:tx>
          <c:spPr>
            <a:solidFill>
              <a:schemeClr val="accent1">
                <a:lumMod val="60000"/>
              </a:schemeClr>
            </a:solidFill>
            <a:ln>
              <a:noFill/>
            </a:ln>
            <a:effectLst/>
          </c:spPr>
          <c:invertIfNegative val="0"/>
          <c:cat>
            <c:strRef>
              <c:f>Sheet1!$A$2</c:f>
              <c:strCache>
                <c:ptCount val="1"/>
                <c:pt idx="0">
                  <c:v>F1</c:v>
                </c:pt>
              </c:strCache>
            </c:strRef>
          </c:cat>
          <c:val>
            <c:numRef>
              <c:f>Sheet1!$H$2</c:f>
              <c:numCache>
                <c:formatCode>General</c:formatCode>
                <c:ptCount val="1"/>
                <c:pt idx="0">
                  <c:v>76.5</c:v>
                </c:pt>
              </c:numCache>
            </c:numRef>
          </c:val>
          <c:extLst xmlns:c16r2="http://schemas.microsoft.com/office/drawing/2015/06/chart">
            <c:ext xmlns:c16="http://schemas.microsoft.com/office/drawing/2014/chart" uri="{C3380CC4-5D6E-409C-BE32-E72D297353CC}">
              <c16:uniqueId val="{00000006-CC3B-6646-80D4-BE3961523A95}"/>
            </c:ext>
          </c:extLst>
        </c:ser>
        <c:dLbls>
          <c:showLegendKey val="0"/>
          <c:showVal val="0"/>
          <c:showCatName val="0"/>
          <c:showSerName val="0"/>
          <c:showPercent val="0"/>
          <c:showBubbleSize val="0"/>
        </c:dLbls>
        <c:gapWidth val="267"/>
        <c:overlap val="-43"/>
        <c:axId val="356113712"/>
        <c:axId val="356116464"/>
      </c:barChart>
      <c:catAx>
        <c:axId val="35611371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6116464"/>
        <c:crosses val="autoZero"/>
        <c:auto val="1"/>
        <c:lblAlgn val="ctr"/>
        <c:lblOffset val="100"/>
        <c:noMultiLvlLbl val="0"/>
      </c:catAx>
      <c:valAx>
        <c:axId val="356116464"/>
        <c:scaling>
          <c:orientation val="minMax"/>
          <c:max val="80.0"/>
          <c:min val="40.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35611371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CogCompTime</c:v>
                </c:pt>
              </c:strCache>
            </c:strRef>
          </c:tx>
          <c:spPr>
            <a:solidFill>
              <a:schemeClr val="accent1"/>
            </a:solidFill>
            <a:ln>
              <a:noFill/>
            </a:ln>
            <a:effectLst/>
          </c:spPr>
          <c:invertIfNegative val="0"/>
          <c:cat>
            <c:strRef>
              <c:f>Sheet1!$A$2:$A$4</c:f>
              <c:strCache>
                <c:ptCount val="3"/>
                <c:pt idx="0">
                  <c:v>Acc</c:v>
                </c:pt>
                <c:pt idx="1">
                  <c:v>F1</c:v>
                </c:pt>
                <c:pt idx="2">
                  <c:v>Awareness</c:v>
                </c:pt>
              </c:strCache>
            </c:strRef>
          </c:cat>
          <c:val>
            <c:numRef>
              <c:f>Sheet1!$B$2:$B$4</c:f>
              <c:numCache>
                <c:formatCode>General</c:formatCode>
                <c:ptCount val="3"/>
                <c:pt idx="0">
                  <c:v>61.6</c:v>
                </c:pt>
                <c:pt idx="1">
                  <c:v>66.6</c:v>
                </c:pt>
                <c:pt idx="2">
                  <c:v>60.8</c:v>
                </c:pt>
              </c:numCache>
            </c:numRef>
          </c:val>
          <c:extLst xmlns:c16r2="http://schemas.microsoft.com/office/drawing/2015/06/chart">
            <c:ext xmlns:c16="http://schemas.microsoft.com/office/drawing/2014/chart" uri="{C3380CC4-5D6E-409C-BE32-E72D297353CC}">
              <c16:uniqueId val="{00000000-70CC-624F-A34A-34A5FA403EC1}"/>
            </c:ext>
          </c:extLst>
        </c:ser>
        <c:ser>
          <c:idx val="1"/>
          <c:order val="1"/>
          <c:tx>
            <c:strRef>
              <c:f>Sheet1!$C$1</c:f>
              <c:strCache>
                <c:ptCount val="1"/>
                <c:pt idx="0">
                  <c:v>LSTM (W2V)</c:v>
                </c:pt>
              </c:strCache>
            </c:strRef>
          </c:tx>
          <c:spPr>
            <a:solidFill>
              <a:schemeClr val="accent2"/>
            </a:solidFill>
            <a:ln>
              <a:noFill/>
            </a:ln>
            <a:effectLst/>
          </c:spPr>
          <c:invertIfNegative val="0"/>
          <c:cat>
            <c:strRef>
              <c:f>Sheet1!$A$2:$A$4</c:f>
              <c:strCache>
                <c:ptCount val="3"/>
                <c:pt idx="0">
                  <c:v>Acc</c:v>
                </c:pt>
                <c:pt idx="1">
                  <c:v>F1</c:v>
                </c:pt>
                <c:pt idx="2">
                  <c:v>Awareness</c:v>
                </c:pt>
              </c:strCache>
            </c:strRef>
          </c:cat>
          <c:val>
            <c:numRef>
              <c:f>Sheet1!$C$2:$C$4</c:f>
              <c:numCache>
                <c:formatCode>General</c:formatCode>
                <c:ptCount val="3"/>
                <c:pt idx="0">
                  <c:v>64.5</c:v>
                </c:pt>
                <c:pt idx="1">
                  <c:v>69.0</c:v>
                </c:pt>
                <c:pt idx="2">
                  <c:v>61.1</c:v>
                </c:pt>
              </c:numCache>
            </c:numRef>
          </c:val>
          <c:extLst xmlns:c16r2="http://schemas.microsoft.com/office/drawing/2015/06/chart">
            <c:ext xmlns:c16="http://schemas.microsoft.com/office/drawing/2014/chart" uri="{C3380CC4-5D6E-409C-BE32-E72D297353CC}">
              <c16:uniqueId val="{00000001-70CC-624F-A34A-34A5FA403EC1}"/>
            </c:ext>
          </c:extLst>
        </c:ser>
        <c:ser>
          <c:idx val="2"/>
          <c:order val="2"/>
          <c:tx>
            <c:strRef>
              <c:f>Sheet1!$D$1</c:f>
              <c:strCache>
                <c:ptCount val="1"/>
                <c:pt idx="0">
                  <c:v>LSTM (ELMo/BERT)</c:v>
                </c:pt>
              </c:strCache>
            </c:strRef>
          </c:tx>
          <c:spPr>
            <a:solidFill>
              <a:schemeClr val="accent3"/>
            </a:solidFill>
            <a:ln>
              <a:noFill/>
            </a:ln>
            <a:effectLst/>
          </c:spPr>
          <c:invertIfNegative val="0"/>
          <c:cat>
            <c:strRef>
              <c:f>Sheet1!$A$2:$A$4</c:f>
              <c:strCache>
                <c:ptCount val="3"/>
                <c:pt idx="0">
                  <c:v>Acc</c:v>
                </c:pt>
                <c:pt idx="1">
                  <c:v>F1</c:v>
                </c:pt>
                <c:pt idx="2">
                  <c:v>Awareness</c:v>
                </c:pt>
              </c:strCache>
            </c:strRef>
          </c:cat>
          <c:val>
            <c:numRef>
              <c:f>Sheet1!$D$2:$D$4</c:f>
              <c:numCache>
                <c:formatCode>General</c:formatCode>
                <c:ptCount val="3"/>
                <c:pt idx="0">
                  <c:v>68.1</c:v>
                </c:pt>
                <c:pt idx="1">
                  <c:v>73.8</c:v>
                </c:pt>
                <c:pt idx="2">
                  <c:v>62.3</c:v>
                </c:pt>
              </c:numCache>
            </c:numRef>
          </c:val>
          <c:extLst xmlns:c16r2="http://schemas.microsoft.com/office/drawing/2015/06/chart">
            <c:ext xmlns:c16="http://schemas.microsoft.com/office/drawing/2014/chart" uri="{C3380CC4-5D6E-409C-BE32-E72D297353CC}">
              <c16:uniqueId val="{00000002-70CC-624F-A34A-34A5FA403EC1}"/>
            </c:ext>
          </c:extLst>
        </c:ser>
        <c:ser>
          <c:idx val="3"/>
          <c:order val="3"/>
          <c:tx>
            <c:strRef>
              <c:f>Sheet1!$E$1</c:f>
              <c:strCache>
                <c:ptCount val="1"/>
                <c:pt idx="0">
                  <c:v>LSTM+Siamese</c:v>
                </c:pt>
              </c:strCache>
            </c:strRef>
          </c:tx>
          <c:spPr>
            <a:solidFill>
              <a:schemeClr val="accent4"/>
            </a:solidFill>
            <a:ln>
              <a:noFill/>
            </a:ln>
            <a:effectLst/>
          </c:spPr>
          <c:invertIfNegative val="0"/>
          <c:cat>
            <c:strRef>
              <c:f>Sheet1!$A$2:$A$4</c:f>
              <c:strCache>
                <c:ptCount val="3"/>
                <c:pt idx="0">
                  <c:v>Acc</c:v>
                </c:pt>
                <c:pt idx="1">
                  <c:v>F1</c:v>
                </c:pt>
                <c:pt idx="2">
                  <c:v>Awareness</c:v>
                </c:pt>
              </c:strCache>
            </c:strRef>
          </c:cat>
          <c:val>
            <c:numRef>
              <c:f>Sheet1!$E$2:$E$4</c:f>
              <c:numCache>
                <c:formatCode>General</c:formatCode>
                <c:ptCount val="3"/>
                <c:pt idx="0">
                  <c:v>71.5</c:v>
                </c:pt>
                <c:pt idx="1">
                  <c:v>76.5</c:v>
                </c:pt>
                <c:pt idx="2">
                  <c:v>66.2</c:v>
                </c:pt>
              </c:numCache>
            </c:numRef>
          </c:val>
          <c:extLst xmlns:c16r2="http://schemas.microsoft.com/office/drawing/2015/06/chart">
            <c:ext xmlns:c16="http://schemas.microsoft.com/office/drawing/2014/chart" uri="{C3380CC4-5D6E-409C-BE32-E72D297353CC}">
              <c16:uniqueId val="{00000003-70CC-624F-A34A-34A5FA403EC1}"/>
            </c:ext>
          </c:extLst>
        </c:ser>
        <c:dLbls>
          <c:showLegendKey val="0"/>
          <c:showVal val="0"/>
          <c:showCatName val="0"/>
          <c:showSerName val="0"/>
          <c:showPercent val="0"/>
          <c:showBubbleSize val="0"/>
        </c:dLbls>
        <c:gapWidth val="267"/>
        <c:overlap val="-43"/>
        <c:axId val="352624832"/>
        <c:axId val="352628096"/>
      </c:barChart>
      <c:catAx>
        <c:axId val="35262483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400" b="0" i="0" u="none" strike="noStrike" kern="1200" cap="none" spc="0" normalizeH="0" baseline="0">
                <a:solidFill>
                  <a:schemeClr val="dk1">
                    <a:lumMod val="65000"/>
                    <a:lumOff val="35000"/>
                  </a:schemeClr>
                </a:solidFill>
                <a:latin typeface="Century Gothic" panose="020B0502020202020204" pitchFamily="34" charset="0"/>
                <a:ea typeface="+mn-ea"/>
                <a:cs typeface="+mn-cs"/>
              </a:defRPr>
            </a:pPr>
            <a:endParaRPr lang="en-US"/>
          </a:p>
        </c:txPr>
        <c:crossAx val="352628096"/>
        <c:crosses val="autoZero"/>
        <c:auto val="1"/>
        <c:lblAlgn val="ctr"/>
        <c:lblOffset val="100"/>
        <c:noMultiLvlLbl val="0"/>
      </c:catAx>
      <c:valAx>
        <c:axId val="352628096"/>
        <c:scaling>
          <c:orientation val="minMax"/>
          <c:min val="55.0"/>
        </c:scaling>
        <c:delete val="0"/>
        <c:axPos val="l"/>
        <c:majorGridlines>
          <c:spPr>
            <a:ln w="9525" cap="flat" cmpd="sng" algn="ctr">
              <a:solidFill>
                <a:schemeClr val="dk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dk1">
                    <a:lumMod val="65000"/>
                    <a:lumOff val="35000"/>
                  </a:schemeClr>
                </a:solidFill>
                <a:latin typeface="+mn-lt"/>
                <a:ea typeface="+mn-ea"/>
                <a:cs typeface="+mn-cs"/>
              </a:defRPr>
            </a:pPr>
            <a:endParaRPr lang="en-US"/>
          </a:p>
        </c:txPr>
        <c:crossAx val="352624832"/>
        <c:crosses val="autoZero"/>
        <c:crossBetween val="between"/>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2400" b="0" i="0" u="none" strike="noStrike" kern="1200" baseline="0">
              <a:solidFill>
                <a:schemeClr val="dk1">
                  <a:lumMod val="65000"/>
                  <a:lumOff val="35000"/>
                </a:schemeClr>
              </a:solidFill>
              <a:latin typeface="Century Gothic" panose="020B0502020202020204" pitchFamily="34" charset="0"/>
              <a:ea typeface="+mn-ea"/>
              <a:cs typeface="+mn-cs"/>
            </a:defRPr>
          </a:pPr>
          <a:endParaRPr lang="en-US"/>
        </a:p>
      </c:txPr>
    </c:legend>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sz="24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4.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0.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3.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4.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5.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6.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rawings/drawing1.xml><?xml version="1.0" encoding="utf-8"?>
<c:userShapes xmlns:c="http://schemas.openxmlformats.org/drawingml/2006/chart">
  <cdr:relSizeAnchor xmlns:cdr="http://schemas.openxmlformats.org/drawingml/2006/chartDrawing">
    <cdr:from>
      <cdr:x>0.48715</cdr:x>
      <cdr:y>0.91667</cdr:y>
    </cdr:from>
    <cdr:to>
      <cdr:x>0.94227</cdr:x>
      <cdr:y>0.98039</cdr:y>
    </cdr:to>
    <cdr:sp macro="" textlink="">
      <cdr:nvSpPr>
        <cdr:cNvPr id="2" name="Rectangle 1">
          <a:extLst xmlns:a="http://schemas.openxmlformats.org/drawingml/2006/main">
            <a:ext uri="{FF2B5EF4-FFF2-40B4-BE49-F238E27FC236}">
              <a16:creationId xmlns="" xmlns:a16="http://schemas.microsoft.com/office/drawing/2014/main" id="{F0555ACD-677D-3A40-98F7-2E699A47D7DE}"/>
            </a:ext>
          </a:extLst>
        </cdr:cNvPr>
        <cdr:cNvSpPr/>
      </cdr:nvSpPr>
      <cdr:spPr>
        <a:xfrm xmlns:a="http://schemas.openxmlformats.org/drawingml/2006/main">
          <a:off x="3387968" y="4384446"/>
          <a:ext cx="3165232" cy="304774"/>
        </a:xfrm>
        <a:prstGeom xmlns:a="http://schemas.openxmlformats.org/drawingml/2006/main" prst="rect">
          <a:avLst/>
        </a:prstGeom>
        <a:solidFill xmlns:a="http://schemas.openxmlformats.org/drawingml/2006/main">
          <a:schemeClr val="tx1"/>
        </a:solidFill>
        <a:ln xmlns:a="http://schemas.openxmlformats.org/drawingml/2006/main" w="3810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rtlCol="0" anchor="ctr"/>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122F32DC-4741-2842-9503-8FA304F096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891DD9F5-1011-F740-B157-FFB747B81C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C03380-269B-6F43-843B-D5D4B2B98FEE}" type="datetimeFigureOut">
              <a:rPr lang="en-US" smtClean="0"/>
              <a:t>4/30/19</a:t>
            </a:fld>
            <a:endParaRPr lang="en-US"/>
          </a:p>
        </p:txBody>
      </p:sp>
      <p:sp>
        <p:nvSpPr>
          <p:cNvPr id="4" name="Footer Placeholder 3">
            <a:extLst>
              <a:ext uri="{FF2B5EF4-FFF2-40B4-BE49-F238E27FC236}">
                <a16:creationId xmlns="" xmlns:a16="http://schemas.microsoft.com/office/drawing/2014/main" id="{CA6C1C79-6DAC-934C-A422-6120DBD3EB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FACFA3D4-7BFB-D942-B57F-7E1207CD90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A46EA-72AE-4042-BF83-EE5894A2CFCD}" type="slidenum">
              <a:rPr lang="en-US" smtClean="0"/>
              <a:t>‹#›</a:t>
            </a:fld>
            <a:endParaRPr lang="en-US"/>
          </a:p>
        </p:txBody>
      </p:sp>
    </p:spTree>
    <p:extLst>
      <p:ext uri="{BB962C8B-B14F-4D97-AF65-F5344CB8AC3E}">
        <p14:creationId xmlns:p14="http://schemas.microsoft.com/office/powerpoint/2010/main" val="748270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lt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lt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lt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F7D9C7A-1E92-449D-A064-B8AFA531E953}" type="slidenum">
              <a:rPr lang="en-US" altLang="en-US"/>
              <a:pPr>
                <a:defRPr/>
              </a:pPr>
              <a:t>‹#›</a:t>
            </a:fld>
            <a:endParaRPr lang="en-US" altLang="en-US"/>
          </a:p>
        </p:txBody>
      </p:sp>
    </p:spTree>
    <p:extLst>
      <p:ext uri="{BB962C8B-B14F-4D97-AF65-F5344CB8AC3E}">
        <p14:creationId xmlns:p14="http://schemas.microsoft.com/office/powerpoint/2010/main" val="14298270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 Id="rId3" Type="http://schemas.openxmlformats.org/officeDocument/2006/relationships/hyperlink" Target="https://courses.rice.edu/courses/!SWKSCAT.cat?p_action=CATALIST&amp;p_acyr_code=2018&amp;p_subj=COMP" TargetMode="Externa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DB753E5-623F-4C67-8206-272E28AD2ED8}" type="slidenum">
              <a:rPr lang="en-US" altLang="en-US"/>
              <a:pPr/>
              <a:t>0</a:t>
            </a:fld>
            <a:endParaRPr lang="en-US" altLang="en-US"/>
          </a:p>
        </p:txBody>
      </p:sp>
      <p:sp>
        <p:nvSpPr>
          <p:cNvPr id="4099" name="Rectangle 2"/>
          <p:cNvSpPr>
            <a:spLocks noGrp="1" noRot="1" noChangeAspect="1" noChangeArrowheads="1" noTextEdit="1"/>
          </p:cNvSpPr>
          <p:nvPr>
            <p:ph type="sldImg"/>
          </p:nvPr>
        </p:nvSpPr>
        <p:spPr>
          <a:xfrm>
            <a:off x="1144588" y="687388"/>
            <a:ext cx="4570412" cy="3427412"/>
          </a:xfrm>
          <a:ln/>
        </p:spPr>
      </p:sp>
      <p:sp>
        <p:nvSpPr>
          <p:cNvPr id="4100" name="Rectangle 3"/>
          <p:cNvSpPr>
            <a:spLocks noGrp="1" noChangeArrowheads="1"/>
          </p:cNvSpPr>
          <p:nvPr>
            <p:ph type="body" idx="1"/>
          </p:nvPr>
        </p:nvSpPr>
        <p:spPr>
          <a:xfrm>
            <a:off x="914400" y="4343400"/>
            <a:ext cx="5029200" cy="4113213"/>
          </a:xfrm>
          <a:noFill/>
        </p:spPr>
        <p:txBody>
          <a:bodyPr/>
          <a:lstStyle/>
          <a:p>
            <a:pPr eaLnBrk="1" hangingPunct="1"/>
            <a:r>
              <a:rPr lang="en-US" altLang="en-US" dirty="0"/>
              <a:t>Hello everyone. Many thanks for </a:t>
            </a:r>
            <a:r>
              <a:rPr lang="en-US" altLang="en-US" dirty="0" smtClean="0"/>
              <a:t>joining me today. </a:t>
            </a:r>
            <a:r>
              <a:rPr lang="en-US" altLang="en-US" dirty="0"/>
              <a:t>I’m Qiang Ning from the ECE department at the University of Illinois. Today I’ll talk about event understanding in natural </a:t>
            </a:r>
            <a:r>
              <a:rPr lang="en-US" altLang="en-US" dirty="0" smtClean="0"/>
              <a:t>language</a:t>
            </a:r>
            <a:r>
              <a:rPr lang="en-US" altLang="en-US" baseline="0" dirty="0" smtClean="0"/>
              <a:t> </a:t>
            </a:r>
            <a:r>
              <a:rPr lang="en-US" altLang="en-US" dirty="0" smtClean="0"/>
              <a:t>from </a:t>
            </a:r>
            <a:r>
              <a:rPr lang="en-US" altLang="en-US" dirty="0"/>
              <a:t>three aspects: machine learning, common sense knowledge acquisition, and data annotation. I will also </a:t>
            </a:r>
            <a:r>
              <a:rPr lang="en-US" altLang="en-US" dirty="0" smtClean="0"/>
              <a:t>discuss</a:t>
            </a:r>
            <a:r>
              <a:rPr lang="en-US" altLang="en-US" baseline="0" dirty="0" smtClean="0"/>
              <a:t> my</a:t>
            </a:r>
            <a:r>
              <a:rPr lang="en-US" altLang="en-US" dirty="0" smtClean="0"/>
              <a:t> vision about </a:t>
            </a:r>
            <a:r>
              <a:rPr lang="en-US" altLang="en-US" dirty="0"/>
              <a:t>the important </a:t>
            </a:r>
            <a:r>
              <a:rPr lang="en-US" altLang="en-US" dirty="0" smtClean="0"/>
              <a:t>topics in </a:t>
            </a:r>
            <a:r>
              <a:rPr lang="en-US" altLang="en-US" dirty="0"/>
              <a:t>this field in the next decade and talk about my research plan to carry it out.</a:t>
            </a:r>
          </a:p>
          <a:p>
            <a:pPr eaLnBrk="1" hangingPunct="1"/>
            <a:r>
              <a:rPr lang="en-US" altLang="en-US" dirty="0"/>
              <a:t>(30 sec)</a:t>
            </a:r>
          </a:p>
        </p:txBody>
      </p:sp>
    </p:spTree>
    <p:extLst>
      <p:ext uri="{BB962C8B-B14F-4D97-AF65-F5344CB8AC3E}">
        <p14:creationId xmlns:p14="http://schemas.microsoft.com/office/powerpoint/2010/main" val="9510215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Speaking of natural language, last year I read a brief history of humankind by Prof. </a:t>
            </a:r>
            <a:r>
              <a:rPr lang="en-US" dirty="0" smtClean="0"/>
              <a:t>Harari.</a:t>
            </a:r>
            <a:r>
              <a:rPr lang="en-US" baseline="0" dirty="0" smtClean="0"/>
              <a:t> O</a:t>
            </a:r>
            <a:r>
              <a:rPr lang="en-US" dirty="0" smtClean="0"/>
              <a:t>ne </a:t>
            </a:r>
            <a:r>
              <a:rPr lang="en-US" dirty="0"/>
              <a:t>of his arguments about language </a:t>
            </a:r>
            <a:r>
              <a:rPr lang="en-US" dirty="0" smtClean="0"/>
              <a:t>is very </a:t>
            </a:r>
            <a:r>
              <a:rPr lang="en-US" dirty="0"/>
              <a:t>interesting.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mn-cs"/>
              </a:rPr>
              <a:t>We know, about 2 and a half million years ago, multiple species of humans appeared on earth. A question that many historians wanted to answer was: since 70k </a:t>
            </a:r>
            <a:r>
              <a:rPr lang="en-US" sz="1200" b="0" i="0" kern="1200" dirty="0" err="1">
                <a:solidFill>
                  <a:schemeClr val="tx1"/>
                </a:solidFill>
                <a:effectLst/>
                <a:latin typeface="Arial" panose="020B0604020202020204" pitchFamily="34" charset="0"/>
                <a:ea typeface="+mn-ea"/>
                <a:cs typeface="+mn-cs"/>
              </a:rPr>
              <a:t>yrs</a:t>
            </a:r>
            <a:r>
              <a:rPr lang="en-US" sz="1200" b="0" i="0" kern="1200" dirty="0">
                <a:solidFill>
                  <a:schemeClr val="tx1"/>
                </a:solidFill>
                <a:effectLst/>
                <a:latin typeface="Arial" panose="020B0604020202020204" pitchFamily="34" charset="0"/>
                <a:ea typeface="+mn-ea"/>
                <a:cs typeface="+mn-cs"/>
              </a:rPr>
              <a:t> ago, why did Homo</a:t>
            </a:r>
            <a:r>
              <a:rPr lang="en-US" sz="1200" b="0" i="0" kern="1200" baseline="0" dirty="0">
                <a:solidFill>
                  <a:schemeClr val="tx1"/>
                </a:solidFill>
                <a:effectLst/>
                <a:latin typeface="Arial" panose="020B0604020202020204" pitchFamily="34" charset="0"/>
                <a:ea typeface="+mn-ea"/>
                <a:cs typeface="+mn-cs"/>
              </a:rPr>
              <a:t> sapiens </a:t>
            </a:r>
            <a:r>
              <a:rPr lang="en-US" sz="1200" b="0" i="0" kern="1200" dirty="0">
                <a:solidFill>
                  <a:schemeClr val="tx1"/>
                </a:solidFill>
                <a:effectLst/>
                <a:latin typeface="Arial" panose="020B0604020202020204" pitchFamily="34" charset="0"/>
                <a:ea typeface="+mn-ea"/>
                <a:cs typeface="+mn-cs"/>
              </a:rPr>
              <a:t>suddenly flood the earth and create glorious civilizations, while other species of humans disappeared? Prof. Harari attributes it </a:t>
            </a:r>
            <a:r>
              <a:rPr lang="en-US" sz="1200" b="0" i="0" kern="1200" dirty="0" smtClean="0">
                <a:solidFill>
                  <a:schemeClr val="tx1"/>
                </a:solidFill>
                <a:effectLst/>
                <a:latin typeface="Arial" panose="020B0604020202020204" pitchFamily="34" charset="0"/>
                <a:ea typeface="+mn-ea"/>
                <a:cs typeface="+mn-cs"/>
              </a:rPr>
              <a:t>to natural language! Because of </a:t>
            </a:r>
            <a:r>
              <a:rPr lang="en-US" sz="1200" b="0" i="0" kern="1200" dirty="0">
                <a:solidFill>
                  <a:schemeClr val="tx1"/>
                </a:solidFill>
                <a:effectLst/>
                <a:latin typeface="Arial" panose="020B0604020202020204" pitchFamily="34" charset="0"/>
                <a:ea typeface="+mn-ea"/>
                <a:cs typeface="+mn-cs"/>
              </a:rPr>
              <a:t>the appearance of </a:t>
            </a:r>
            <a:r>
              <a:rPr lang="en-US" sz="1200" b="0" i="0" kern="1200" dirty="0" smtClean="0">
                <a:solidFill>
                  <a:schemeClr val="tx1"/>
                </a:solidFill>
                <a:effectLst/>
                <a:latin typeface="Arial" panose="020B0604020202020204" pitchFamily="34" charset="0"/>
                <a:ea typeface="+mn-ea"/>
                <a:cs typeface="+mn-cs"/>
              </a:rPr>
              <a:t>language </a:t>
            </a:r>
            <a:r>
              <a:rPr lang="en-US" sz="1200" b="0" i="0" kern="1200" dirty="0">
                <a:solidFill>
                  <a:schemeClr val="tx1"/>
                </a:solidFill>
                <a:effectLst/>
                <a:latin typeface="Arial" panose="020B0604020202020204" pitchFamily="34" charset="0"/>
                <a:ea typeface="+mn-ea"/>
                <a:cs typeface="+mn-cs"/>
              </a:rPr>
              <a:t>during cognitive </a:t>
            </a:r>
            <a:r>
              <a:rPr lang="en-US" sz="1200" b="0" i="0" kern="1200" dirty="0" smtClean="0">
                <a:solidFill>
                  <a:schemeClr val="tx1"/>
                </a:solidFill>
                <a:effectLst/>
                <a:latin typeface="Arial" panose="020B0604020202020204" pitchFamily="34" charset="0"/>
                <a:ea typeface="+mn-ea"/>
                <a:cs typeface="+mn-cs"/>
              </a:rPr>
              <a:t>revolution, </a:t>
            </a:r>
            <a:r>
              <a:rPr lang="en-US" sz="1200" b="0" i="0" kern="1200" dirty="0">
                <a:solidFill>
                  <a:schemeClr val="tx1"/>
                </a:solidFill>
                <a:effectLst/>
                <a:latin typeface="Arial" panose="020B0604020202020204" pitchFamily="34" charset="0"/>
                <a:ea typeface="+mn-ea"/>
                <a:cs typeface="+mn-cs"/>
              </a:rPr>
              <a:t>Homo sapiens were able to form complex social structures and collaborate on tasks that used to be difficult</a:t>
            </a:r>
            <a:r>
              <a:rPr lang="en-US" sz="1200" b="0" i="0" kern="1200" baseline="0" dirty="0">
                <a:solidFill>
                  <a:schemeClr val="tx1"/>
                </a:solidFill>
                <a:effectLst/>
                <a:latin typeface="Arial" panose="020B0604020202020204" pitchFamily="34" charset="0"/>
                <a:ea typeface="+mn-ea"/>
                <a:cs typeface="+mn-cs"/>
              </a:rPr>
              <a:t> for individuals</a:t>
            </a:r>
            <a:r>
              <a:rPr lang="en-US" sz="1200" b="0" i="0" kern="1200" dirty="0">
                <a:solidFill>
                  <a:schemeClr val="tx1"/>
                </a:solidFill>
                <a:effectLst/>
                <a:latin typeface="Arial" panose="020B0604020202020204" pitchFamily="34" charset="0"/>
                <a:ea typeface="+mn-ea"/>
                <a:cs typeface="+mn-cs"/>
              </a:rPr>
              <a:t>. </a:t>
            </a:r>
            <a:r>
              <a:rPr lang="en-US" dirty="0"/>
              <a:t>It’s fair enough to say that natural language played a</a:t>
            </a:r>
            <a:r>
              <a:rPr lang="en-US" baseline="0" dirty="0"/>
              <a:t> crucial role in </a:t>
            </a:r>
            <a:r>
              <a:rPr lang="en-US" dirty="0"/>
              <a:t>making us different. Now in</a:t>
            </a:r>
            <a:r>
              <a:rPr lang="zh-CN" altLang="en-US" baseline="0" dirty="0"/>
              <a:t> </a:t>
            </a:r>
            <a:r>
              <a:rPr lang="en-US" altLang="zh-CN" baseline="0" dirty="0"/>
              <a:t>the modern history</a:t>
            </a:r>
            <a:r>
              <a:rPr lang="en-US" dirty="0"/>
              <a:t>, </a:t>
            </a:r>
            <a:r>
              <a:rPr lang="en-US" dirty="0" smtClean="0"/>
              <a:t>language </a:t>
            </a:r>
            <a:r>
              <a:rPr lang="en-US" dirty="0"/>
              <a:t>continues its important role in our life, in the form of various text data.</a:t>
            </a:r>
            <a:endParaRPr lang="en-US" sz="1200" b="0" i="0" kern="1200" dirty="0">
              <a:solidFill>
                <a:schemeClr val="tx1"/>
              </a:solidFill>
              <a:effectLst/>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panose="020B0604020202020204" pitchFamily="34" charset="0"/>
                <a:ea typeface="+mn-ea"/>
                <a:cs typeface="+mn-cs"/>
              </a:rPr>
              <a:t>(1 min)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a:t>
            </a:fld>
            <a:endParaRPr lang="en-US" altLang="en-US"/>
          </a:p>
        </p:txBody>
      </p:sp>
    </p:spTree>
    <p:extLst>
      <p:ext uri="{BB962C8B-B14F-4D97-AF65-F5344CB8AC3E}">
        <p14:creationId xmlns:p14="http://schemas.microsoft.com/office/powerpoint/2010/main" val="42752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chemeClr val="bg2"/>
                </a:solidFill>
              </a:rPr>
              <a:t>In the beginning, was the news. It </a:t>
            </a:r>
            <a:r>
              <a:rPr lang="en-US" dirty="0" smtClean="0">
                <a:solidFill>
                  <a:schemeClr val="bg2"/>
                </a:solidFill>
              </a:rPr>
              <a:t>made it easier to know the world. </a:t>
            </a:r>
            <a:r>
              <a:rPr lang="en-US" dirty="0">
                <a:solidFill>
                  <a:schemeClr val="bg2"/>
                </a:solidFill>
              </a:rPr>
              <a:t>And the news multiplied, multiplied, and multiplied. We had stepped into an age of information explosion before we realized it.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solidFill>
                  <a:schemeClr val="bg2"/>
                </a:solidFill>
              </a:rPr>
              <a:t>(15 secs)</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a:t>
            </a:fld>
            <a:endParaRPr lang="en-US" altLang="en-US"/>
          </a:p>
        </p:txBody>
      </p:sp>
    </p:spTree>
    <p:extLst>
      <p:ext uri="{BB962C8B-B14F-4D97-AF65-F5344CB8AC3E}">
        <p14:creationId xmlns:p14="http://schemas.microsoft.com/office/powerpoint/2010/main" val="520944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single </a:t>
            </a:r>
            <a:r>
              <a:rPr lang="en-US" dirty="0" smtClean="0"/>
              <a:t>day,</a:t>
            </a:r>
            <a:r>
              <a:rPr lang="en-US" baseline="0" dirty="0" smtClean="0"/>
              <a:t> </a:t>
            </a:r>
            <a:r>
              <a:rPr lang="en-US" dirty="0" smtClean="0"/>
              <a:t>1200 </a:t>
            </a:r>
            <a:r>
              <a:rPr lang="en-US" dirty="0"/>
              <a:t>news stories </a:t>
            </a:r>
            <a:r>
              <a:rPr lang="en-US" dirty="0" smtClean="0"/>
              <a:t>are published on Washington Post, </a:t>
            </a:r>
            <a:r>
              <a:rPr lang="en-US" dirty="0"/>
              <a:t>2M blogs on </a:t>
            </a:r>
            <a:r>
              <a:rPr lang="en-US" dirty="0" err="1"/>
              <a:t>wordpress</a:t>
            </a:r>
            <a:r>
              <a:rPr lang="en-US" dirty="0"/>
              <a:t>, and 500M tweets on twitter. But we only have 24 hours a day and a single pair of eyes,</a:t>
            </a:r>
            <a:r>
              <a:rPr lang="en-US" baseline="0" dirty="0"/>
              <a:t> and cannot read so big data.</a:t>
            </a:r>
          </a:p>
          <a:p>
            <a:r>
              <a:rPr lang="en-US" baseline="0" dirty="0"/>
              <a:t>(20 sec)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a:t>
            </a:fld>
            <a:endParaRPr lang="en-US" altLang="en-US"/>
          </a:p>
        </p:txBody>
      </p:sp>
    </p:spTree>
    <p:extLst>
      <p:ext uri="{BB962C8B-B14F-4D97-AF65-F5344CB8AC3E}">
        <p14:creationId xmlns:p14="http://schemas.microsoft.com/office/powerpoint/2010/main" val="746895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heard a lot about big data, but a less popular fact is that actually over 80% of it is natural language text. It’s undeniable that big text opens up big opportunities for NLP research.</a:t>
            </a:r>
          </a:p>
          <a:p>
            <a:r>
              <a:rPr lang="en-US" dirty="0"/>
              <a:t>(15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a:t>
            </a:fld>
            <a:endParaRPr lang="en-US" altLang="en-US"/>
          </a:p>
        </p:txBody>
      </p:sp>
    </p:spTree>
    <p:extLst>
      <p:ext uri="{BB962C8B-B14F-4D97-AF65-F5344CB8AC3E}">
        <p14:creationId xmlns:p14="http://schemas.microsoft.com/office/powerpoint/2010/main" val="1629199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Imagine...</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These are not outrageous imaginations</a:t>
            </a:r>
            <a:r>
              <a:rPr lang="en-US" baseline="0" dirty="0"/>
              <a:t> in fictions. Instead, hedge funds are already using NLP to get trade signals. The US government also spent 36 billion dollars to digitize medical records and there have been various NLP competitions on analyzing these data. But of course, these promising explorations doesn’t mean the problem is solved.</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(1 min)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40660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is, although natural language is natural for humans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a:t>
            </a:fld>
            <a:endParaRPr lang="en-US" altLang="en-US"/>
          </a:p>
        </p:txBody>
      </p:sp>
    </p:spTree>
    <p:extLst>
      <p:ext uri="{BB962C8B-B14F-4D97-AF65-F5344CB8AC3E}">
        <p14:creationId xmlns:p14="http://schemas.microsoft.com/office/powerpoint/2010/main" val="3796807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natural for computers; instead, it’s highly ambiguous.</a:t>
            </a:r>
          </a:p>
          <a:p>
            <a:r>
              <a:rPr lang="en-US" dirty="0"/>
              <a:t>(15 sec; overall 3.5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a:t>
            </a:fld>
            <a:endParaRPr lang="en-US" altLang="en-US"/>
          </a:p>
        </p:txBody>
      </p:sp>
    </p:spTree>
    <p:extLst>
      <p:ext uri="{BB962C8B-B14F-4D97-AF65-F5344CB8AC3E}">
        <p14:creationId xmlns:p14="http://schemas.microsoft.com/office/powerpoint/2010/main" val="1563577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look at this paragraph from PRI in 1998. (read the paragraph) I guess most of you have got the gist of it. Does any one find this ambiguous? How about these two appearances of “home”? Are they the same? Apparently the first home is an abstract meaning and the second concrete Again, will they monitor until 2019? Obviously not because that’s twenty years ago. Further, who are they? We know it’s the firefighters, but for computers, nearby homes is closer to it. Finally, earth cascaded vs shifting ground. They are totally different words, but have the same meaning.</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a:t>
            </a:fld>
            <a:endParaRPr lang="en-US" altLang="en-US"/>
          </a:p>
        </p:txBody>
      </p:sp>
    </p:spTree>
    <p:extLst>
      <p:ext uri="{BB962C8B-B14F-4D97-AF65-F5344CB8AC3E}">
        <p14:creationId xmlns:p14="http://schemas.microsoft.com/office/powerpoint/2010/main" val="2655906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questions are straightforward for humans and we don’t even realize the ambiguity before someone asks about it. But these questions are tricky for computers. That's why we are doing NLP research to help computers understand this ambiguity that are usually easy for humans.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a:t>
            </a:fld>
            <a:endParaRPr lang="en-US" altLang="en-US"/>
          </a:p>
        </p:txBody>
      </p:sp>
    </p:spTree>
    <p:extLst>
      <p:ext uri="{BB962C8B-B14F-4D97-AF65-F5344CB8AC3E}">
        <p14:creationId xmlns:p14="http://schemas.microsoft.com/office/powerpoint/2010/main" val="3037102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of resolving this ambiguity is </a:t>
            </a:r>
            <a:r>
              <a:rPr lang="en-US" baseline="0" dirty="0"/>
              <a:t>machine learning. We then tackle various problems at the token level, such as tokenization, lemmatization, and part-of-speech tagging. And at the sentence level, we have syntactic parsing which is to convert sentences into trees representing the relationship between tokens; semantic role labeling is to label the subjects, predicates, and objects in a sentence. A higher level is situation, where we often need a coherent understanding of several sentences or documents, and some common sense knowledge. Example tasks are events, Q&amp;A, and situation reasoning.</a:t>
            </a:r>
          </a:p>
          <a:p>
            <a:endParaRPr lang="en-US" baseline="0" dirty="0"/>
          </a:p>
          <a:p>
            <a:r>
              <a:rPr lang="en-US" baseline="0" dirty="0"/>
              <a:t>(1min)</a:t>
            </a:r>
          </a:p>
          <a:p>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My vision is, based on the development achieved at the token and sentence level, it's time to work at a higher level, "situations", where we study events, try to answer questions, and perform reasoning based on the situations.</a:t>
            </a:r>
          </a:p>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10</a:t>
            </a:fld>
            <a:endParaRPr lang="en-US" altLang="en-US"/>
          </a:p>
        </p:txBody>
      </p:sp>
    </p:spTree>
    <p:extLst>
      <p:ext uri="{BB962C8B-B14F-4D97-AF65-F5344CB8AC3E}">
        <p14:creationId xmlns:p14="http://schemas.microsoft.com/office/powerpoint/2010/main" val="133399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more detailed explanation of what I mean by each layer.</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11</a:t>
            </a:fld>
            <a:endParaRPr lang="en-US" altLang="en-US"/>
          </a:p>
        </p:txBody>
      </p:sp>
    </p:spTree>
    <p:extLst>
      <p:ext uri="{BB962C8B-B14F-4D97-AF65-F5344CB8AC3E}">
        <p14:creationId xmlns:p14="http://schemas.microsoft.com/office/powerpoint/2010/main" val="711663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sentence, a typical token level processing is to label the part-of-speech tags for each token. Here “George Lowe” is a noun phrase, “died” is the past tense of “die”, and “after” is a preposition, so on so forth. Current NLP is quite reliable in token level tasks, often in the high 90s.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12</a:t>
            </a:fld>
            <a:endParaRPr lang="en-US" altLang="en-US"/>
          </a:p>
        </p:txBody>
      </p:sp>
    </p:spTree>
    <p:extLst>
      <p:ext uri="{BB962C8B-B14F-4D97-AF65-F5344CB8AC3E}">
        <p14:creationId xmlns:p14="http://schemas.microsoft.com/office/powerpoint/2010/main" val="3825331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it comes to the sentence level. Here I’m showing a syntactic parsing tree, where “died” is the root, “Wednesday” is a temporal modifier, “long-term” is modifying “illness”, so on so forth. We are also quite robust in tasks at this level, with performance often in the high 80s or 90s.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13</a:t>
            </a:fld>
            <a:endParaRPr lang="en-US" altLang="en-US"/>
          </a:p>
        </p:txBody>
      </p:sp>
    </p:spTree>
    <p:extLst>
      <p:ext uri="{BB962C8B-B14F-4D97-AF65-F5344CB8AC3E}">
        <p14:creationId xmlns:p14="http://schemas.microsoft.com/office/powerpoint/2010/main" val="1630039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want to understand this sentence at the situation level, things become more complex. We need to know that “George Lowe” is not only a name, but also a person. We need to figure out when is this “Wednesday” in this situation. We also need to use our common sense to know that “long-term illness” is often more than 5 or 10 years, and that a person is not involved in further activities after death. There are many ongoing research in NLP working at the situation level, and we can imagine that the accuracies are usually not robust.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14</a:t>
            </a:fld>
            <a:endParaRPr lang="en-US" altLang="en-US"/>
          </a:p>
        </p:txBody>
      </p:sp>
    </p:spTree>
    <p:extLst>
      <p:ext uri="{BB962C8B-B14F-4D97-AF65-F5344CB8AC3E}">
        <p14:creationId xmlns:p14="http://schemas.microsoft.com/office/powerpoint/2010/main" val="2317185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in NLP? I think we are very reliable at the token level roughly since 2000, very reliable at the sentence level roughly since 2010, and right now, it’s time to study events at the situation level; that is, what is going on, what is the cause and impact, and how things unfold along time.</a:t>
            </a:r>
          </a:p>
          <a:p>
            <a:r>
              <a:rPr lang="en-US" dirty="0"/>
              <a:t>(slides 9-here, 2.25 mins; overall ~ 7 min)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6239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Now let's try to understand two events: people were angry and police used tear gas. If people were angry happened first, the understanding would be people ended in violent conflicts with the police, and the police used tear gas to restore order.</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16</a:t>
            </a:fld>
            <a:endParaRPr lang="en-US" altLang="en-US"/>
          </a:p>
        </p:txBody>
      </p:sp>
    </p:spTree>
    <p:extLst>
      <p:ext uri="{BB962C8B-B14F-4D97-AF65-F5344CB8AC3E}">
        <p14:creationId xmlns:p14="http://schemas.microsoft.com/office/powerpoint/2010/main" val="7254817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a:t>If we simply reverse the order of these events, we get a new story, which says that police used tear gas and then people were angry at the police. We can see that time is crucial if we want to understand what’s going on in a situation</a:t>
            </a:r>
            <a:r>
              <a:rPr lang="en-US" baseline="0" dirty="0" smtClean="0"/>
              <a:t>.</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17</a:t>
            </a:fld>
            <a:endParaRPr lang="en-US" altLang="en-US"/>
          </a:p>
        </p:txBody>
      </p:sp>
    </p:spTree>
    <p:extLst>
      <p:ext uri="{BB962C8B-B14F-4D97-AF65-F5344CB8AC3E}">
        <p14:creationId xmlns:p14="http://schemas.microsoft.com/office/powerpoint/2010/main" val="1026045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But </a:t>
            </a:r>
            <a:r>
              <a:rPr lang="en-US" baseline="0" dirty="0"/>
              <a:t>in natural language, we never have timestamps like here telling us which one is earlier and which one is later. That leads to “temporal relations”</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18</a:t>
            </a:fld>
            <a:endParaRPr lang="en-US" altLang="en-US"/>
          </a:p>
        </p:txBody>
      </p:sp>
    </p:spTree>
    <p:extLst>
      <p:ext uri="{BB962C8B-B14F-4D97-AF65-F5344CB8AC3E}">
        <p14:creationId xmlns:p14="http://schemas.microsoft.com/office/powerpoint/2010/main" val="1395584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the so called temporal relations. Here in this example, we have two events: met and leaving, and a time point Thursday. We have met before leaving, and leaving </a:t>
            </a:r>
            <a:r>
              <a:rPr lang="en-US" baseline="0" dirty="0"/>
              <a:t>included in Thursday. My system will first extract those events, and then label the </a:t>
            </a:r>
            <a:r>
              <a:rPr lang="en-US" baseline="0" dirty="0" err="1"/>
              <a:t>temprels</a:t>
            </a:r>
            <a:r>
              <a:rPr lang="en-US" baseline="0" dirty="0"/>
              <a:t> among them, but my talk today will mainly focus on </a:t>
            </a:r>
            <a:r>
              <a:rPr lang="en-US" baseline="0" dirty="0" err="1"/>
              <a:t>temprel</a:t>
            </a:r>
            <a:r>
              <a:rPr lang="en-US" baseline="0" dirty="0"/>
              <a:t> extraction, assuming those events are already extracted.</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19</a:t>
            </a:fld>
            <a:endParaRPr lang="en-US" altLang="en-US"/>
          </a:p>
        </p:txBody>
      </p:sp>
    </p:spTree>
    <p:extLst>
      <p:ext uri="{BB962C8B-B14F-4D97-AF65-F5344CB8AC3E}">
        <p14:creationId xmlns:p14="http://schemas.microsoft.com/office/powerpoint/2010/main" val="3267500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have multiple events, they form a situation</a:t>
            </a:r>
            <a:r>
              <a:rPr lang="en-US" baseline="0" dirty="0"/>
              <a:t>.(read snippet) I</a:t>
            </a:r>
            <a:r>
              <a:rPr lang="en-US" dirty="0"/>
              <a:t>f we draw all the </a:t>
            </a:r>
            <a:r>
              <a:rPr lang="en-US" dirty="0" err="1"/>
              <a:t>temprels</a:t>
            </a:r>
            <a:r>
              <a:rPr lang="en-US" dirty="0"/>
              <a:t> in this situation, it would form a graph, which we call a</a:t>
            </a:r>
            <a:r>
              <a:rPr lang="en-US" baseline="0" dirty="0"/>
              <a:t> </a:t>
            </a:r>
            <a:r>
              <a:rPr lang="en-US" dirty="0"/>
              <a:t>temporal graph. In other words, we want to label those edges in a consistent way. This task is difficult and the literature F1's with or without gold events are both very low, which also reflects the difficulty of understanding a situation.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20</a:t>
            </a:fld>
            <a:endParaRPr lang="en-US" altLang="en-US"/>
          </a:p>
        </p:txBody>
      </p:sp>
    </p:spTree>
    <p:extLst>
      <p:ext uri="{BB962C8B-B14F-4D97-AF65-F5344CB8AC3E}">
        <p14:creationId xmlns:p14="http://schemas.microsoft.com/office/powerpoint/2010/main" val="2579482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the challenges are three-fold.</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21</a:t>
            </a:fld>
            <a:endParaRPr lang="en-US" altLang="en-US"/>
          </a:p>
        </p:txBody>
      </p:sp>
    </p:spTree>
    <p:extLst>
      <p:ext uri="{BB962C8B-B14F-4D97-AF65-F5344CB8AC3E}">
        <p14:creationId xmlns:p14="http://schemas.microsoft.com/office/powerpoint/2010/main" val="3754960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understanding, I have organized my relevant</a:t>
            </a:r>
            <a:r>
              <a:rPr lang="en-US" baseline="0" dirty="0"/>
              <a:t> </a:t>
            </a:r>
            <a:r>
              <a:rPr lang="en-US" dirty="0"/>
              <a:t>publications in such a structured way. I hope it makes it easier. I will discuss one from each category and how to put all pieces together.</a:t>
            </a:r>
          </a:p>
          <a:p>
            <a:r>
              <a:rPr lang="en-US" dirty="0"/>
              <a:t>(</a:t>
            </a:r>
            <a:r>
              <a:rPr lang="en-US" dirty="0" err="1"/>
              <a:t>phd</a:t>
            </a:r>
            <a:r>
              <a:rPr lang="en-US" dirty="0"/>
              <a:t> intro: 4.5 mins; overall 11.5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22</a:t>
            </a:fld>
            <a:endParaRPr lang="en-US" altLang="en-US"/>
          </a:p>
        </p:txBody>
      </p:sp>
    </p:spTree>
    <p:extLst>
      <p:ext uri="{BB962C8B-B14F-4D97-AF65-F5344CB8AC3E}">
        <p14:creationId xmlns:p14="http://schemas.microsoft.com/office/powerpoint/2010/main" val="482955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is on structured learning, which is our EMNLP'17 paper.</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23</a:t>
            </a:fld>
            <a:endParaRPr lang="en-US" altLang="en-US"/>
          </a:p>
        </p:txBody>
      </p:sp>
    </p:spTree>
    <p:extLst>
      <p:ext uri="{BB962C8B-B14F-4D97-AF65-F5344CB8AC3E}">
        <p14:creationId xmlns:p14="http://schemas.microsoft.com/office/powerpoint/2010/main" val="3798243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temporal graphs are structured, or in other words, temporal relations are not independent. In the previous graph, assume that we are looking at ripping, cascaded, and ordered. Then because ripping is inside cascaded and cascaded is before ordered, the relation between ripping and ordered must be before. Existing methods are all local learning plus global inference. That is</a:t>
            </a:r>
          </a:p>
          <a:p>
            <a:r>
              <a:rPr lang="en-US" dirty="0"/>
              <a:t>(40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24</a:t>
            </a:fld>
            <a:endParaRPr lang="en-US" altLang="en-US"/>
          </a:p>
        </p:txBody>
      </p:sp>
    </p:spTree>
    <p:extLst>
      <p:ext uri="{BB962C8B-B14F-4D97-AF65-F5344CB8AC3E}">
        <p14:creationId xmlns:p14="http://schemas.microsoft.com/office/powerpoint/2010/main" val="1109503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resulting model from local learning is: given a pair of events, produce the confidence or </a:t>
            </a:r>
            <a:r>
              <a:rPr lang="en-US" dirty="0" err="1"/>
              <a:t>softmax</a:t>
            </a:r>
            <a:r>
              <a:rPr lang="en-US" dirty="0"/>
              <a:t> score for each label. Based on these confidence scores, we need to solve the final temporal graph.</a:t>
            </a:r>
          </a:p>
          <a:p>
            <a:r>
              <a:rPr lang="en-US" dirty="0"/>
              <a:t>(15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25</a:t>
            </a:fld>
            <a:endParaRPr lang="en-US" altLang="en-US"/>
          </a:p>
        </p:txBody>
      </p:sp>
    </p:spTree>
    <p:extLst>
      <p:ext uri="{BB962C8B-B14F-4D97-AF65-F5344CB8AC3E}">
        <p14:creationId xmlns:p14="http://schemas.microsoft.com/office/powerpoint/2010/main" val="3943701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toy example of how we solve for the final graph. The naive way is to select the best score for each edge. And we get a loop! However, time cannot be a loop. How should we avoid this situation?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26</a:t>
            </a:fld>
            <a:endParaRPr lang="en-US" altLang="en-US"/>
          </a:p>
        </p:txBody>
      </p:sp>
    </p:spTree>
    <p:extLst>
      <p:ext uri="{BB962C8B-B14F-4D97-AF65-F5344CB8AC3E}">
        <p14:creationId xmlns:p14="http://schemas.microsoft.com/office/powerpoint/2010/main" val="1066386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we should not only...but also...</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27</a:t>
            </a:fld>
            <a:endParaRPr lang="en-US" altLang="en-US"/>
          </a:p>
        </p:txBody>
      </p:sp>
    </p:spTree>
    <p:extLst>
      <p:ext uri="{BB962C8B-B14F-4D97-AF65-F5344CB8AC3E}">
        <p14:creationId xmlns:p14="http://schemas.microsoft.com/office/powerpoint/2010/main" val="22838799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do that, we actually have three options, as shown here. </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28</a:t>
            </a:fld>
            <a:endParaRPr lang="en-US" altLang="en-US"/>
          </a:p>
        </p:txBody>
      </p:sp>
    </p:spTree>
    <p:extLst>
      <p:ext uri="{BB962C8B-B14F-4D97-AF65-F5344CB8AC3E}">
        <p14:creationId xmlns:p14="http://schemas.microsoft.com/office/powerpoint/2010/main" val="1086952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sum up all the scores, and select the best one.</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29</a:t>
            </a:fld>
            <a:endParaRPr lang="en-US" altLang="en-US"/>
          </a:p>
        </p:txBody>
      </p:sp>
    </p:spTree>
    <p:extLst>
      <p:ext uri="{BB962C8B-B14F-4D97-AF65-F5344CB8AC3E}">
        <p14:creationId xmlns:p14="http://schemas.microsoft.com/office/powerpoint/2010/main" val="3519201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problem is how to formulate this procedure. Actually this type of problems have been studied quite early in our group. The answer is global inference via ILP.</a:t>
            </a:r>
          </a:p>
          <a:p>
            <a:r>
              <a:rPr lang="en-US" dirty="0"/>
              <a:t>(intro to ILP 1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30</a:t>
            </a:fld>
            <a:endParaRPr lang="en-US" altLang="en-US"/>
          </a:p>
        </p:txBody>
      </p:sp>
    </p:spTree>
    <p:extLst>
      <p:ext uri="{BB962C8B-B14F-4D97-AF65-F5344CB8AC3E}">
        <p14:creationId xmlns:p14="http://schemas.microsoft.com/office/powerpoint/2010/main" val="5509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ILP stands for...We have two types of variables. Boolean variable I, indicating the relation between event </a:t>
            </a:r>
            <a:r>
              <a:rPr lang="en-US" dirty="0" err="1"/>
              <a:t>i</a:t>
            </a:r>
            <a:r>
              <a:rPr lang="en-US" dirty="0"/>
              <a:t> and event j. And real variable f, representing the confidence scores for each relation. We sum them up, enforce the no-loop constraint, and that's our mathematical formulation for this problem.</a:t>
            </a:r>
          </a:p>
          <a:p>
            <a:r>
              <a:rPr lang="en-US" dirty="0"/>
              <a:t>(30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31</a:t>
            </a:fld>
            <a:endParaRPr lang="en-US" altLang="en-US"/>
          </a:p>
        </p:txBody>
      </p:sp>
    </p:spTree>
    <p:extLst>
      <p:ext uri="{BB962C8B-B14F-4D97-AF65-F5344CB8AC3E}">
        <p14:creationId xmlns:p14="http://schemas.microsoft.com/office/powerpoint/2010/main" val="2262500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this tempeval13 competition, </a:t>
            </a:r>
            <a:r>
              <a:rPr lang="en-US" noProof="0" dirty="0" err="1"/>
              <a:t>UTTime</a:t>
            </a:r>
            <a:r>
              <a:rPr lang="en-US" noProof="0" dirty="0"/>
              <a:t> was the best system. We implemented a perceptron based system and achieved comparable F1 to it. With the global inference and ILP formulation that we just introduced, we could achieve a significant improvement.</a:t>
            </a:r>
          </a:p>
          <a:p>
            <a:r>
              <a:rPr lang="en-US" noProof="0" dirty="0"/>
              <a:t>(30 sec; overall ~15 mins)</a:t>
            </a:r>
            <a:endParaRPr lang="en-US" dirty="0"/>
          </a:p>
          <a:p>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32</a:t>
            </a:fld>
            <a:endParaRPr lang="en-US" altLang="en-US"/>
          </a:p>
        </p:txBody>
      </p:sp>
    </p:spTree>
    <p:extLst>
      <p:ext uri="{BB962C8B-B14F-4D97-AF65-F5344CB8AC3E}">
        <p14:creationId xmlns:p14="http://schemas.microsoft.com/office/powerpoint/2010/main" val="24719171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temporal graphs are structured, or in other words, temporal relations are not independent. In the previous graph, assume that we are looking at ripping, cascaded, and ordered. Then because ripping is inside cascaded and cascaded is before ordered, the relation between ripping and ordered must be before. Existing methods are all local learning plus global inference. That is</a:t>
            </a:r>
          </a:p>
          <a:p>
            <a:r>
              <a:rPr lang="en-US" dirty="0"/>
              <a:t>(40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33</a:t>
            </a:fld>
            <a:endParaRPr lang="en-US" altLang="en-US"/>
          </a:p>
        </p:txBody>
      </p:sp>
    </p:spTree>
    <p:extLst>
      <p:ext uri="{BB962C8B-B14F-4D97-AF65-F5344CB8AC3E}">
        <p14:creationId xmlns:p14="http://schemas.microsoft.com/office/powerpoint/2010/main" val="2328483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learning means during learning, we don't care about the structure; we decompose the graph into individual edges, and feed them to the learning algorithm, one by one. The algorithm can be neural nets, but it's still local learning.</a:t>
            </a:r>
          </a:p>
          <a:p>
            <a:r>
              <a:rPr lang="en-US" dirty="0"/>
              <a:t>(20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34</a:t>
            </a:fld>
            <a:endParaRPr lang="en-US" altLang="en-US"/>
          </a:p>
        </p:txBody>
      </p:sp>
    </p:spTree>
    <p:extLst>
      <p:ext uri="{BB962C8B-B14F-4D97-AF65-F5344CB8AC3E}">
        <p14:creationId xmlns:p14="http://schemas.microsoft.com/office/powerpoint/2010/main" val="11119139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our argument is: local learning is not sufficient. In the previous example, imagine a learning algorithm is looking at this pair: ripping and ordered. Even for humans, when we only look at the local context, we don't know the relation between ripping and ordered. But annotation says the label is "before", so the algorithm will simply update the local model to fit it, which leads to overfitting. If we bring in a third event, "cascaded", and since we know (</a:t>
            </a:r>
            <a:r>
              <a:rPr lang="en-US" dirty="0" err="1"/>
              <a:t>ripping,cascaded</a:t>
            </a:r>
            <a:r>
              <a:rPr lang="en-US" dirty="0"/>
              <a:t>)=included and (</a:t>
            </a:r>
            <a:r>
              <a:rPr lang="en-US" dirty="0" err="1"/>
              <a:t>cascaded,ordered</a:t>
            </a:r>
            <a:r>
              <a:rPr lang="en-US" dirty="0"/>
              <a:t>)=before, we immediately know (</a:t>
            </a:r>
            <a:r>
              <a:rPr lang="en-US" dirty="0" err="1"/>
              <a:t>ripping,ordered</a:t>
            </a:r>
            <a:r>
              <a:rPr lang="en-US" dirty="0"/>
              <a:t>)=before, and we don't rely on the local model itself to overfit this decision. That's why global information is specifically needed in this task. Again, the question is, how should we formulate it?</a:t>
            </a:r>
          </a:p>
          <a:p>
            <a:r>
              <a:rPr lang="en-US" dirty="0"/>
              <a:t>(1min)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35</a:t>
            </a:fld>
            <a:endParaRPr lang="en-US" altLang="en-US"/>
          </a:p>
        </p:txBody>
      </p:sp>
    </p:spTree>
    <p:extLst>
      <p:ext uri="{BB962C8B-B14F-4D97-AF65-F5344CB8AC3E}">
        <p14:creationId xmlns:p14="http://schemas.microsoft.com/office/powerpoint/2010/main" val="3684851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a standard structured learning problem. If you're not familiar with it, let's use perceptron as an example to do a side-by-side comparison.</a:t>
            </a:r>
            <a:r>
              <a:rPr lang="en-US" b="0" baseline="0" dirty="0"/>
              <a:t> Left is the standard perceptron and right is structured perceptron. In local learning, an instance is a single pair of events, while in global learning, an instance is the entire situation, usually a paragraph, a document, or even multiple documents. Local learning is unaware of decisions in other pairs; global learning is using a global inference in-between so it's aware of the entire situation.</a:t>
            </a:r>
          </a:p>
          <a:p>
            <a:r>
              <a:rPr lang="en-US" b="0" baseline="0" dirty="0"/>
              <a:t>(40 secs)</a:t>
            </a:r>
            <a:endParaRPr lang="en-US" b="0"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36</a:t>
            </a:fld>
            <a:endParaRPr lang="en-US" altLang="en-US"/>
          </a:p>
        </p:txBody>
      </p:sp>
    </p:spTree>
    <p:extLst>
      <p:ext uri="{BB962C8B-B14F-4D97-AF65-F5344CB8AC3E}">
        <p14:creationId xmlns:p14="http://schemas.microsoft.com/office/powerpoint/2010/main" val="345788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also supported our intuition above. When we used structured perceptron, we achieved even more improvements on top of local </a:t>
            </a:r>
            <a:r>
              <a:rPr lang="en-US" dirty="0" err="1"/>
              <a:t>learning+global</a:t>
            </a:r>
            <a:r>
              <a:rPr lang="en-US" dirty="0"/>
              <a:t> inference.</a:t>
            </a:r>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37</a:t>
            </a:fld>
            <a:endParaRPr lang="en-US" altLang="en-US"/>
          </a:p>
        </p:txBody>
      </p:sp>
    </p:spTree>
    <p:extLst>
      <p:ext uri="{BB962C8B-B14F-4D97-AF65-F5344CB8AC3E}">
        <p14:creationId xmlns:p14="http://schemas.microsoft.com/office/powerpoint/2010/main" val="14821207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to mention that in this setup, we know which event pairs have relations and we only need to classify it, as shown on the top right. </a:t>
            </a:r>
            <a:endParaRPr lang="en-US" noProof="0"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38</a:t>
            </a:fld>
            <a:endParaRPr lang="en-US" altLang="en-US"/>
          </a:p>
        </p:txBody>
      </p:sp>
    </p:spTree>
    <p:extLst>
      <p:ext uri="{BB962C8B-B14F-4D97-AF65-F5344CB8AC3E}">
        <p14:creationId xmlns:p14="http://schemas.microsoft.com/office/powerpoint/2010/main" val="39064374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more realistic and more difficult setup is: What if we don‘t know this? That means, we need</a:t>
            </a:r>
            <a:r>
              <a:rPr lang="en-US" baseline="0" dirty="0"/>
              <a:t> to extract pairs that we think are related, and then classify them. </a:t>
            </a:r>
            <a:r>
              <a:rPr lang="en-US" dirty="0"/>
              <a:t>In that setup, the best system was CAEVO. It’s conceptually local </a:t>
            </a:r>
            <a:r>
              <a:rPr lang="en-US" dirty="0" err="1"/>
              <a:t>learning+global</a:t>
            </a:r>
            <a:r>
              <a:rPr lang="en-US" dirty="0"/>
              <a:t> inference. When we use structured learning, we also</a:t>
            </a:r>
            <a:r>
              <a:rPr lang="zh-CN" altLang="en-US" dirty="0"/>
              <a:t> </a:t>
            </a:r>
            <a:r>
              <a:rPr lang="en-US" dirty="0"/>
              <a:t>get improvement on top of CAEVO,</a:t>
            </a:r>
            <a:r>
              <a:rPr lang="zh-CN" altLang="en-US" dirty="0"/>
              <a:t> </a:t>
            </a:r>
            <a:r>
              <a:rPr lang="en-US" altLang="zh-CN" dirty="0"/>
              <a:t>although the benefit is diluted due to this more difficult setting</a:t>
            </a:r>
            <a:r>
              <a:rPr lang="en-US" dirty="0"/>
              <a:t>. But don’t worry, we will achieve more, in a few minutes.</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39</a:t>
            </a:fld>
            <a:endParaRPr lang="en-US" altLang="en-US"/>
          </a:p>
        </p:txBody>
      </p:sp>
    </p:spTree>
    <p:extLst>
      <p:ext uri="{BB962C8B-B14F-4D97-AF65-F5344CB8AC3E}">
        <p14:creationId xmlns:p14="http://schemas.microsoft.com/office/powerpoint/2010/main" val="15056971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Now we have seen the benefit of structured learning for understanding time in a global situation, and that concludes our first part.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(conclude part I 1 min; part I total 6 min; overall ~18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40</a:t>
            </a:fld>
            <a:endParaRPr lang="en-US" altLang="en-US"/>
          </a:p>
        </p:txBody>
      </p:sp>
    </p:spTree>
    <p:extLst>
      <p:ext uri="{BB962C8B-B14F-4D97-AF65-F5344CB8AC3E}">
        <p14:creationId xmlns:p14="http://schemas.microsoft.com/office/powerpoint/2010/main" val="3949090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is common sense knowledge acquisition. This is our NAACL'18 paper.</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41</a:t>
            </a:fld>
            <a:endParaRPr lang="en-US" altLang="en-US"/>
          </a:p>
        </p:txBody>
      </p:sp>
    </p:spTree>
    <p:extLst>
      <p:ext uri="{BB962C8B-B14F-4D97-AF65-F5344CB8AC3E}">
        <p14:creationId xmlns:p14="http://schemas.microsoft.com/office/powerpoint/2010/main" val="2092223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based on such an intuition. In this example, I deleted the words describing the events themselves. (read it). I believe most people don't understand what's going on, let alone figuring out the temporal relation between these two events.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42</a:t>
            </a:fld>
            <a:endParaRPr lang="en-US" altLang="en-US"/>
          </a:p>
        </p:txBody>
      </p:sp>
    </p:spTree>
    <p:extLst>
      <p:ext uri="{BB962C8B-B14F-4D97-AF65-F5344CB8AC3E}">
        <p14:creationId xmlns:p14="http://schemas.microsoft.com/office/powerpoint/2010/main" val="9005849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I told you, event1 is died, and event2 is exploded, most people would immediately say the explosion happened first.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43</a:t>
            </a:fld>
            <a:endParaRPr lang="en-US" altLang="en-US"/>
          </a:p>
        </p:txBody>
      </p:sp>
    </p:spTree>
    <p:extLst>
      <p:ext uri="{BB962C8B-B14F-4D97-AF65-F5344CB8AC3E}">
        <p14:creationId xmlns:p14="http://schemas.microsoft.com/office/powerpoint/2010/main" val="34572060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means, </a:t>
            </a:r>
            <a:r>
              <a:rPr lang="en-US" baseline="0" dirty="0"/>
              <a:t>when the event content is missing, the problem is very difficult even for humans.</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44</a:t>
            </a:fld>
            <a:endParaRPr lang="en-US" altLang="en-US"/>
          </a:p>
        </p:txBody>
      </p:sp>
    </p:spTree>
    <p:extLst>
      <p:ext uri="{BB962C8B-B14F-4D97-AF65-F5344CB8AC3E}">
        <p14:creationId xmlns:p14="http://schemas.microsoft.com/office/powerpoint/2010/main" val="11703862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when the event content is present, it's very easy because we can use common sense to support the decision. Motivated by such observations in practice, we would like to obtain this common sense knowledge first.</a:t>
            </a:r>
          </a:p>
          <a:p>
            <a:r>
              <a:rPr lang="en-US" dirty="0"/>
              <a:t>(intro to part II: 1min)</a:t>
            </a:r>
          </a:p>
        </p:txBody>
      </p:sp>
      <p:sp>
        <p:nvSpPr>
          <p:cNvPr id="4" name="Slide Number Placeholder 3"/>
          <p:cNvSpPr>
            <a:spLocks noGrp="1"/>
          </p:cNvSpPr>
          <p:nvPr>
            <p:ph type="sldNum" sz="quarter" idx="10"/>
          </p:nvPr>
        </p:nvSpPr>
        <p:spPr/>
        <p:txBody>
          <a:bodyPr/>
          <a:lstStyle/>
          <a:p>
            <a:fld id="{B454C183-30E9-E641-89DC-C5768775E5DD}" type="slidenum">
              <a:rPr lang="en-US" smtClean="0"/>
              <a:t>45</a:t>
            </a:fld>
            <a:endParaRPr lang="en-US"/>
          </a:p>
        </p:txBody>
      </p:sp>
    </p:spTree>
    <p:extLst>
      <p:ext uri="{BB962C8B-B14F-4D97-AF65-F5344CB8AC3E}">
        <p14:creationId xmlns:p14="http://schemas.microsoft.com/office/powerpoint/2010/main" val="11498861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NAACL'18, we proposed </a:t>
            </a:r>
            <a:r>
              <a:rPr lang="en-US" dirty="0" err="1"/>
              <a:t>TemProb</a:t>
            </a:r>
            <a:r>
              <a:rPr lang="en-US" dirty="0"/>
              <a:t>, short for ... The intuition is that humans get common sense through lots of life experience. We want to mimic this, so we collected over 1 million articles from new </a:t>
            </a:r>
            <a:r>
              <a:rPr lang="en-US" dirty="0" err="1"/>
              <a:t>york</a:t>
            </a:r>
            <a:r>
              <a:rPr lang="en-US" dirty="0"/>
              <a:t> times. We ran our system on top of it to imitate human's reading experience. To accelerate it, we used 100 AWS instances in parallel and finished it within one day. We find that simply by counting, we could get many interesting statistics. For example, we find ask before help, attend after schedule, accept after propose, and die after explode.</a:t>
            </a:r>
          </a:p>
          <a:p>
            <a:r>
              <a:rPr lang="en-US" dirty="0"/>
              <a:t>(1min)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46</a:t>
            </a:fld>
            <a:endParaRPr lang="en-US" altLang="en-US"/>
          </a:p>
        </p:txBody>
      </p:sp>
    </p:spTree>
    <p:extLst>
      <p:ext uri="{BB962C8B-B14F-4D97-AF65-F5344CB8AC3E}">
        <p14:creationId xmlns:p14="http://schemas.microsoft.com/office/powerpoint/2010/main" val="20945916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plotted the distribution of events that usually precede or follow specific events, of course, in terms of time. Although we only have the verbs here, we can still get some intuitive answers.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70935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before bomb, there is fire; after bomb, there are kill, destroy, and people get wound.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83017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88009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 like the most. I have a long list of such examples, and of course, there can be errors in it. But the good thing is, we mined these automatically and no more human annotations were used, so it's pretty nice. Imagine that if we could incorporate the common sense knowledge in </a:t>
            </a:r>
            <a:r>
              <a:rPr lang="en-US" dirty="0" err="1"/>
              <a:t>TemProb</a:t>
            </a:r>
            <a:r>
              <a:rPr lang="en-US" dirty="0"/>
              <a:t> into the temporal relation extraction task, then we can further improve the performance. The only question is how to apply </a:t>
            </a:r>
            <a:r>
              <a:rPr lang="en-US" dirty="0" err="1"/>
              <a:t>TemProb</a:t>
            </a:r>
            <a:r>
              <a:rPr lang="en-US" dirty="0"/>
              <a:t> in our task.</a:t>
            </a:r>
          </a:p>
          <a:p>
            <a:r>
              <a:rPr lang="en-US" dirty="0"/>
              <a:t>(1 min 20 sec)</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7D9C7A-1E92-449D-A064-B8AFA531E953}"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4082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51</a:t>
            </a:fld>
            <a:endParaRPr lang="en-US" altLang="en-US"/>
          </a:p>
        </p:txBody>
      </p:sp>
    </p:spTree>
    <p:extLst>
      <p:ext uri="{BB962C8B-B14F-4D97-AF65-F5344CB8AC3E}">
        <p14:creationId xmlns:p14="http://schemas.microsoft.com/office/powerpoint/2010/main" val="8692952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I tried to use </a:t>
            </a:r>
            <a:r>
              <a:rPr lang="en-US" dirty="0" err="1"/>
              <a:t>TemProb</a:t>
            </a:r>
            <a:r>
              <a:rPr lang="en-US" dirty="0"/>
              <a:t> in both learning and inference. During learning, we can add the prior obtained in </a:t>
            </a:r>
            <a:r>
              <a:rPr lang="en-US" dirty="0" err="1"/>
              <a:t>TemProb</a:t>
            </a:r>
            <a:r>
              <a:rPr lang="en-US" dirty="0"/>
              <a:t> as an addition feature, so that we should simply retrain the system.</a:t>
            </a:r>
          </a:p>
          <a:p>
            <a:r>
              <a:rPr lang="en-US" dirty="0"/>
              <a:t>During inference, we can further add the prior as regularization terms, to drive the prediction to favor our common sense. Here the grey</a:t>
            </a:r>
            <a:r>
              <a:rPr lang="en-US" baseline="0" dirty="0"/>
              <a:t> part was the ILP formulation we used earlier, and the red part is the newly added common sense regularizations.</a:t>
            </a:r>
          </a:p>
          <a:p>
            <a:r>
              <a:rPr lang="en-US" baseline="0" dirty="0"/>
              <a:t>These are pretty convenient modifications to our old system. My research philosophy is, if one is doing it right, the solution should not be complicated in most cases.</a:t>
            </a:r>
          </a:p>
          <a:p>
            <a:r>
              <a:rPr lang="en-US" baseline="0" dirty="0"/>
              <a:t>(40 sec)</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52</a:t>
            </a:fld>
            <a:endParaRPr lang="en-US" altLang="en-US"/>
          </a:p>
        </p:txBody>
      </p:sp>
    </p:spTree>
    <p:extLst>
      <p:ext uri="{BB962C8B-B14F-4D97-AF65-F5344CB8AC3E}">
        <p14:creationId xmlns:p14="http://schemas.microsoft.com/office/powerpoint/2010/main" val="6378285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do support our claim. When we add </a:t>
            </a:r>
            <a:r>
              <a:rPr lang="en-US" dirty="0" err="1"/>
              <a:t>TemProb</a:t>
            </a:r>
            <a:r>
              <a:rPr lang="en-US" dirty="0"/>
              <a:t> on top of our EMNLP’17 system, we get additional 3-4 points gain in precision, recall, and F1.</a:t>
            </a:r>
          </a:p>
          <a:p>
            <a:r>
              <a:rPr lang="en-US" dirty="0"/>
              <a:t>(15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53</a:t>
            </a:fld>
            <a:endParaRPr lang="en-US" altLang="en-US"/>
          </a:p>
        </p:txBody>
      </p:sp>
    </p:spTree>
    <p:extLst>
      <p:ext uri="{BB962C8B-B14F-4D97-AF65-F5344CB8AC3E}">
        <p14:creationId xmlns:p14="http://schemas.microsoft.com/office/powerpoint/2010/main" val="24602085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also supported that common sense is an important component for the task. When we add </a:t>
            </a:r>
            <a:r>
              <a:rPr lang="en-US" dirty="0" err="1"/>
              <a:t>TemProb</a:t>
            </a:r>
            <a:r>
              <a:rPr lang="en-US" dirty="0"/>
              <a:t> on top of our EMNLP’17 system, we get additional 3-4 points gain in precision, recall, and F1.</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54</a:t>
            </a:fld>
            <a:endParaRPr lang="en-US" altLang="en-US"/>
          </a:p>
        </p:txBody>
      </p:sp>
    </p:spTree>
    <p:extLst>
      <p:ext uri="{BB962C8B-B14F-4D97-AF65-F5344CB8AC3E}">
        <p14:creationId xmlns:p14="http://schemas.microsoft.com/office/powerpoint/2010/main" val="11579065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concludes the second part: common sense knowledge acquisition.</a:t>
            </a:r>
          </a:p>
          <a:p>
            <a:r>
              <a:rPr lang="en-US" dirty="0"/>
              <a:t>(part 2: 4.25 min; overall 22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55</a:t>
            </a:fld>
            <a:endParaRPr lang="en-US" altLang="en-US"/>
          </a:p>
        </p:txBody>
      </p:sp>
    </p:spTree>
    <p:extLst>
      <p:ext uri="{BB962C8B-B14F-4D97-AF65-F5344CB8AC3E}">
        <p14:creationId xmlns:p14="http://schemas.microsoft.com/office/powerpoint/2010/main" val="17943509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that we are not satisfied with our performance. Even if we have addressed it from structured learning and common sense, it’s still very low. As I showed earlier, with gold events, we have managed to come to high 50s. What I didn’t show is that without gold events, we are still in the 30s range, which means downstream systems cannot get reliable signals at all. I think this problem is due to the small size and low quality of existing datasets. Previous datasets are not scalable because they require the annotators to be NLP experts on this task. Honestly, those datasets were only annotated by the authors of those papers. In addition, we find that they all have very low inter-annotator agreements, or IAA, which conceptually measures the chance of agreement if different human annotators work on the task without discussion. I listed a few previous datasets and you can see the IAAs were not more than 60%, which also partly explains why it had been so difficult to further improve our system. To summarize, the annotation task was difficult even for the researchers who designed the annotation guidelines. Something must be wrong.</a:t>
            </a:r>
          </a:p>
          <a:p>
            <a:r>
              <a:rPr lang="en-US" dirty="0"/>
              <a:t>(1.5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57</a:t>
            </a:fld>
            <a:endParaRPr lang="en-US" altLang="en-US"/>
          </a:p>
        </p:txBody>
      </p:sp>
    </p:spTree>
    <p:extLst>
      <p:ext uri="{BB962C8B-B14F-4D97-AF65-F5344CB8AC3E}">
        <p14:creationId xmlns:p14="http://schemas.microsoft.com/office/powerpoint/2010/main" val="24390764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introduce our annotation scheme, let's use this example to see those previous ones.</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58</a:t>
            </a:fld>
            <a:endParaRPr lang="en-US" altLang="en-US"/>
          </a:p>
        </p:txBody>
      </p:sp>
    </p:spTree>
    <p:extLst>
      <p:ext uri="{BB962C8B-B14F-4D97-AF65-F5344CB8AC3E}">
        <p14:creationId xmlns:p14="http://schemas.microsoft.com/office/powerpoint/2010/main" val="19126014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59</a:t>
            </a:fld>
            <a:endParaRPr lang="en-US" altLang="en-US"/>
          </a:p>
        </p:txBody>
      </p:sp>
    </p:spTree>
    <p:extLst>
      <p:ext uri="{BB962C8B-B14F-4D97-AF65-F5344CB8AC3E}">
        <p14:creationId xmlns:p14="http://schemas.microsoft.com/office/powerpoint/2010/main" val="18437515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60</a:t>
            </a:fld>
            <a:endParaRPr lang="en-US" altLang="en-US"/>
          </a:p>
        </p:txBody>
      </p:sp>
    </p:spTree>
    <p:extLst>
      <p:ext uri="{BB962C8B-B14F-4D97-AF65-F5344CB8AC3E}">
        <p14:creationId xmlns:p14="http://schemas.microsoft.com/office/powerpoint/2010/main" val="41678560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particular example, we used intention axis. We also define other axes, such as opinion and hypothesis.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61</a:t>
            </a:fld>
            <a:endParaRPr lang="en-US" altLang="en-US"/>
          </a:p>
        </p:txBody>
      </p:sp>
    </p:spTree>
    <p:extLst>
      <p:ext uri="{BB962C8B-B14F-4D97-AF65-F5344CB8AC3E}">
        <p14:creationId xmlns:p14="http://schemas.microsoft.com/office/powerpoint/2010/main" val="31195480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 this particular example, we used intention axis. We also define other axes, such as opinion and hypothesis.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62</a:t>
            </a:fld>
            <a:endParaRPr lang="en-US" altLang="en-US"/>
          </a:p>
        </p:txBody>
      </p:sp>
    </p:spTree>
    <p:extLst>
      <p:ext uri="{BB962C8B-B14F-4D97-AF65-F5344CB8AC3E}">
        <p14:creationId xmlns:p14="http://schemas.microsoft.com/office/powerpoint/2010/main" val="19796255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what we achieved is: we annotated 20 thousand temporal relations within one week, with the help of </a:t>
            </a:r>
            <a:r>
              <a:rPr lang="en-US" dirty="0" err="1"/>
              <a:t>crowdsourcers</a:t>
            </a:r>
            <a:r>
              <a:rPr lang="en-US" dirty="0"/>
              <a:t>. At the same time, we improved the IAA from literature’s 60% to more than 80%. The reason that we were able to do this was we started to re-think the task and annotation scheme. And as we show later, if the task is defined well, then it’s easy even for laymen </a:t>
            </a:r>
            <a:r>
              <a:rPr lang="en-US" dirty="0" err="1"/>
              <a:t>crowdsourcers</a:t>
            </a:r>
            <a:r>
              <a:rPr lang="en-US" dirty="0"/>
              <a:t>. After all, that’s the way it should be.</a:t>
            </a:r>
          </a:p>
          <a:p>
            <a:r>
              <a:rPr lang="en-US" dirty="0"/>
              <a:t>(30 sec)</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63</a:t>
            </a:fld>
            <a:endParaRPr lang="en-US" altLang="en-US"/>
          </a:p>
        </p:txBody>
      </p:sp>
    </p:spTree>
    <p:extLst>
      <p:ext uri="{BB962C8B-B14F-4D97-AF65-F5344CB8AC3E}">
        <p14:creationId xmlns:p14="http://schemas.microsoft.com/office/powerpoint/2010/main" val="15483989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 better quality, we can achieve even higher improvements. </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65</a:t>
            </a:fld>
            <a:endParaRPr lang="en-US" altLang="en-US"/>
          </a:p>
        </p:txBody>
      </p:sp>
    </p:spTree>
    <p:extLst>
      <p:ext uri="{BB962C8B-B14F-4D97-AF65-F5344CB8AC3E}">
        <p14:creationId xmlns:p14="http://schemas.microsoft.com/office/powerpoint/2010/main" val="19706810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understanding is that these axes are various forms</a:t>
            </a:r>
            <a:r>
              <a:rPr lang="en-US" baseline="0" dirty="0" smtClean="0"/>
              <a:t> of imaginations.</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66</a:t>
            </a:fld>
            <a:endParaRPr lang="en-US" altLang="en-US"/>
          </a:p>
        </p:txBody>
      </p:sp>
    </p:spTree>
    <p:extLst>
      <p:ext uri="{BB962C8B-B14F-4D97-AF65-F5344CB8AC3E}">
        <p14:creationId xmlns:p14="http://schemas.microsoft.com/office/powerpoint/2010/main" val="104134990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scheme 5 mins; part III 7 mins; over all 29 mins)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67</a:t>
            </a:fld>
            <a:endParaRPr lang="en-US" altLang="en-US"/>
          </a:p>
        </p:txBody>
      </p:sp>
    </p:spTree>
    <p:extLst>
      <p:ext uri="{BB962C8B-B14F-4D97-AF65-F5344CB8AC3E}">
        <p14:creationId xmlns:p14="http://schemas.microsoft.com/office/powerpoint/2010/main" val="12583654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confirmed the improvement brought by structured learning, common sense acquisition, and multi-axis annotation. A natural question is how about putting all pieces together? I’m going to mainly discuss our neural approach in submission.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68</a:t>
            </a:fld>
            <a:endParaRPr lang="en-US" altLang="en-US"/>
          </a:p>
        </p:txBody>
      </p:sp>
    </p:spTree>
    <p:extLst>
      <p:ext uri="{BB962C8B-B14F-4D97-AF65-F5344CB8AC3E}">
        <p14:creationId xmlns:p14="http://schemas.microsoft.com/office/powerpoint/2010/main" val="22120221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before the neural approach, we have an EMNLP’18 paper, </a:t>
            </a:r>
            <a:r>
              <a:rPr lang="en-US" dirty="0" err="1"/>
              <a:t>CogCompTime</a:t>
            </a:r>
            <a:r>
              <a:rPr lang="en-US" dirty="0"/>
              <a:t>, that is also putting all together, but not neural-net based. We can see </a:t>
            </a:r>
            <a:r>
              <a:rPr lang="en-US" dirty="0" err="1"/>
              <a:t>CogCompTime</a:t>
            </a:r>
            <a:r>
              <a:rPr lang="en-US" dirty="0"/>
              <a:t> achieved 11% gain on top of our previous system using </a:t>
            </a:r>
            <a:r>
              <a:rPr lang="en-US" dirty="0" err="1"/>
              <a:t>TemProb</a:t>
            </a:r>
            <a:r>
              <a:rPr lang="en-US" dirty="0"/>
              <a:t>. Note that this is not a fair comparison since the test set is re-labeled now. However, this still shows that we can get more reliable temporal signals with all these efforts. Now, based on </a:t>
            </a:r>
            <a:r>
              <a:rPr lang="en-US" dirty="0" err="1"/>
              <a:t>CogCompTime</a:t>
            </a:r>
            <a:r>
              <a:rPr lang="en-US" dirty="0"/>
              <a:t>, how can we use neural nets to make it even better?</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69</a:t>
            </a:fld>
            <a:endParaRPr lang="en-US" altLang="en-US"/>
          </a:p>
        </p:txBody>
      </p:sp>
    </p:spTree>
    <p:extLst>
      <p:ext uri="{BB962C8B-B14F-4D97-AF65-F5344CB8AC3E}">
        <p14:creationId xmlns:p14="http://schemas.microsoft.com/office/powerpoint/2010/main" val="34962631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proposal is to use long short-term memory network (LSTM) to represent structured learning, a feedforward neural net to get supervision from our new dataset, and a Siamese network to represent common sense. Let me quickly go through the high-level ideas behind it.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70</a:t>
            </a:fld>
            <a:endParaRPr lang="en-US" altLang="en-US"/>
          </a:p>
        </p:txBody>
      </p:sp>
    </p:spTree>
    <p:extLst>
      <p:ext uri="{BB962C8B-B14F-4D97-AF65-F5344CB8AC3E}">
        <p14:creationId xmlns:p14="http://schemas.microsoft.com/office/powerpoint/2010/main" val="34158110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LSTM takes a sequence of word embeddings as input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71</a:t>
            </a:fld>
            <a:endParaRPr lang="en-US" altLang="en-US"/>
          </a:p>
        </p:txBody>
      </p:sp>
    </p:spTree>
    <p:extLst>
      <p:ext uri="{BB962C8B-B14F-4D97-AF65-F5344CB8AC3E}">
        <p14:creationId xmlns:p14="http://schemas.microsoft.com/office/powerpoint/2010/main" val="21655365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generates hidden vectors to represent those events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72</a:t>
            </a:fld>
            <a:endParaRPr lang="en-US" altLang="en-US"/>
          </a:p>
        </p:txBody>
      </p:sp>
    </p:spTree>
    <p:extLst>
      <p:ext uri="{BB962C8B-B14F-4D97-AF65-F5344CB8AC3E}">
        <p14:creationId xmlns:p14="http://schemas.microsoft.com/office/powerpoint/2010/main" val="19611010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representations are stacked as input to the feedforward neural net, which generates the final temporal relation label</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73</a:t>
            </a:fld>
            <a:endParaRPr lang="en-US" altLang="en-US"/>
          </a:p>
        </p:txBody>
      </p:sp>
    </p:spTree>
    <p:extLst>
      <p:ext uri="{BB962C8B-B14F-4D97-AF65-F5344CB8AC3E}">
        <p14:creationId xmlns:p14="http://schemas.microsoft.com/office/powerpoint/2010/main" val="30303337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a separate Siamese network fits the statistics in </a:t>
            </a:r>
            <a:r>
              <a:rPr lang="en-US" dirty="0" err="1"/>
              <a:t>TemProb</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74</a:t>
            </a:fld>
            <a:endParaRPr lang="en-US" altLang="en-US"/>
          </a:p>
        </p:txBody>
      </p:sp>
    </p:spTree>
    <p:extLst>
      <p:ext uri="{BB962C8B-B14F-4D97-AF65-F5344CB8AC3E}">
        <p14:creationId xmlns:p14="http://schemas.microsoft.com/office/powerpoint/2010/main" val="714056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provides additional embeddings that can be used in the feedforward neural net.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75</a:t>
            </a:fld>
            <a:endParaRPr lang="en-US" altLang="en-US"/>
          </a:p>
        </p:txBody>
      </p:sp>
    </p:spTree>
    <p:extLst>
      <p:ext uri="{BB962C8B-B14F-4D97-AF65-F5344CB8AC3E}">
        <p14:creationId xmlns:p14="http://schemas.microsoft.com/office/powerpoint/2010/main" val="11334381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final summary for our progress on this task. CAEVO is the previous SOTA, structured learning 2%, common sense 4%, new dataset 11%, LSTM with standard word embeddings 3%, LSTM with BERT embeddings 4% (BERT is the most recent word embedding), and Siamese another 3%. </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76</a:t>
            </a:fld>
            <a:endParaRPr lang="en-US" altLang="en-US"/>
          </a:p>
        </p:txBody>
      </p:sp>
    </p:spTree>
    <p:extLst>
      <p:ext uri="{BB962C8B-B14F-4D97-AF65-F5344CB8AC3E}">
        <p14:creationId xmlns:p14="http://schemas.microsoft.com/office/powerpoint/2010/main" val="20521313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if we gain a deep understanding of the challenges of a task, we can move in the correct direction and improvement just comes naturally. I think the process of finding the correct direction is very fun.</a:t>
            </a:r>
          </a:p>
          <a:p>
            <a:r>
              <a:rPr lang="en-US" dirty="0"/>
              <a:t>(neural 2.5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77</a:t>
            </a:fld>
            <a:endParaRPr lang="en-US" altLang="en-US"/>
          </a:p>
        </p:txBody>
      </p:sp>
    </p:spTree>
    <p:extLst>
      <p:ext uri="{BB962C8B-B14F-4D97-AF65-F5344CB8AC3E}">
        <p14:creationId xmlns:p14="http://schemas.microsoft.com/office/powerpoint/2010/main" val="33796916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can see, if we gain a deep understanding of the challenges of a task, we can move in the correct direction and improvement just comes naturally. I think the process of finding the correct direction is very fun.</a:t>
            </a:r>
          </a:p>
          <a:p>
            <a:r>
              <a:rPr lang="en-US" dirty="0"/>
              <a:t>(neural 2.5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78</a:t>
            </a:fld>
            <a:endParaRPr lang="en-US" altLang="en-US"/>
          </a:p>
        </p:txBody>
      </p:sp>
    </p:spTree>
    <p:extLst>
      <p:ext uri="{BB962C8B-B14F-4D97-AF65-F5344CB8AC3E}">
        <p14:creationId xmlns:p14="http://schemas.microsoft.com/office/powerpoint/2010/main" val="16761860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80</a:t>
            </a:fld>
            <a:endParaRPr lang="en-US" altLang="en-US"/>
          </a:p>
        </p:txBody>
      </p:sp>
    </p:spTree>
    <p:extLst>
      <p:ext uri="{BB962C8B-B14F-4D97-AF65-F5344CB8AC3E}">
        <p14:creationId xmlns:p14="http://schemas.microsoft.com/office/powerpoint/2010/main" val="182902139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quick recap: we have discussed </a:t>
            </a:r>
            <a:r>
              <a:rPr lang="mr-IN" dirty="0" smtClean="0"/>
              <a:t>…</a:t>
            </a:r>
            <a:r>
              <a:rPr lang="en-US" baseline="0" dirty="0" smtClean="0"/>
              <a:t> In structured learning, we discussed that the structure information should be taken into consideration during the inference phase and during the learning phase. A natural question is: can we push it deeper, to an even earlier stage, that is, the data annotation stage? As you will see in the next few slides, this problem is a natural extension of what I talked about today, but is also a very general machine learning topic.</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81</a:t>
            </a:fld>
            <a:endParaRPr lang="en-US" altLang="en-US"/>
          </a:p>
        </p:txBody>
      </p:sp>
    </p:spTree>
    <p:extLst>
      <p:ext uri="{BB962C8B-B14F-4D97-AF65-F5344CB8AC3E}">
        <p14:creationId xmlns:p14="http://schemas.microsoft.com/office/powerpoint/2010/main" val="251283536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82</a:t>
            </a:fld>
            <a:endParaRPr lang="en-US" altLang="en-US"/>
          </a:p>
        </p:txBody>
      </p:sp>
    </p:spTree>
    <p:extLst>
      <p:ext uri="{BB962C8B-B14F-4D97-AF65-F5344CB8AC3E}">
        <p14:creationId xmlns:p14="http://schemas.microsoft.com/office/powerpoint/2010/main" val="42322825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83</a:t>
            </a:fld>
            <a:endParaRPr lang="en-US" altLang="en-US"/>
          </a:p>
        </p:txBody>
      </p:sp>
    </p:spTree>
    <p:extLst>
      <p:ext uri="{BB962C8B-B14F-4D97-AF65-F5344CB8AC3E}">
        <p14:creationId xmlns:p14="http://schemas.microsoft.com/office/powerpoint/2010/main" val="76408506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84</a:t>
            </a:fld>
            <a:endParaRPr lang="en-US" altLang="en-US"/>
          </a:p>
        </p:txBody>
      </p:sp>
    </p:spTree>
    <p:extLst>
      <p:ext uri="{BB962C8B-B14F-4D97-AF65-F5344CB8AC3E}">
        <p14:creationId xmlns:p14="http://schemas.microsoft.com/office/powerpoint/2010/main" val="10921721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a:solidFill>
                  <a:srgbClr val="000000"/>
                </a:solidFill>
              </a:rPr>
              <a:pPr>
                <a:defRPr/>
              </a:pPr>
              <a:t>85</a:t>
            </a:fld>
            <a:endParaRPr lang="en-US" altLang="en-US">
              <a:solidFill>
                <a:srgbClr val="000000"/>
              </a:solidFill>
            </a:endParaRPr>
          </a:p>
        </p:txBody>
      </p:sp>
    </p:spTree>
    <p:extLst>
      <p:ext uri="{BB962C8B-B14F-4D97-AF65-F5344CB8AC3E}">
        <p14:creationId xmlns:p14="http://schemas.microsoft.com/office/powerpoint/2010/main" val="10486656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a:solidFill>
                  <a:srgbClr val="000000"/>
                </a:solidFill>
              </a:rPr>
              <a:pPr>
                <a:defRPr/>
              </a:pPr>
              <a:t>86</a:t>
            </a:fld>
            <a:endParaRPr lang="en-US" altLang="en-US">
              <a:solidFill>
                <a:srgbClr val="000000"/>
              </a:solidFill>
            </a:endParaRPr>
          </a:p>
        </p:txBody>
      </p:sp>
    </p:spTree>
    <p:extLst>
      <p:ext uri="{BB962C8B-B14F-4D97-AF65-F5344CB8AC3E}">
        <p14:creationId xmlns:p14="http://schemas.microsoft.com/office/powerpoint/2010/main" val="10101675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structure. It’s a vector of random variables. L is the label set that each variable can choose from. Usually the structure Y lies in a constrained space of </a:t>
            </a:r>
            <a:r>
              <a:rPr lang="en-US" dirty="0" err="1"/>
              <a:t>L^d</a:t>
            </a:r>
            <a:r>
              <a:rPr lang="en-US" dirty="0"/>
              <a:t> since not all assignments are valid; just like in a temporal graph, there cannot be loops. The complete annotation for a structure means all variables are labeled and thus a unique point in C is determined. Partial annotation means only some of the variables are labeled. Then a subset of C is determined and that contains the true structure. Let </a:t>
            </a:r>
            <a:r>
              <a:rPr lang="en-US" dirty="0" err="1"/>
              <a:t>f_k</a:t>
            </a:r>
            <a:r>
              <a:rPr lang="en-US" dirty="0"/>
              <a:t> be the size of the subset if k variables are labeled. We know f_0 means no variables are labeled yet, so f_0 is the cardinality of C. Then </a:t>
            </a:r>
            <a:r>
              <a:rPr lang="en-US" dirty="0" err="1"/>
              <a:t>f_k</a:t>
            </a:r>
            <a:r>
              <a:rPr lang="en-US" dirty="0"/>
              <a:t> decreases as more variables are labeled, and at the end, </a:t>
            </a:r>
            <a:r>
              <a:rPr lang="en-US" dirty="0" err="1"/>
              <a:t>f_d</a:t>
            </a:r>
            <a:r>
              <a:rPr lang="en-US" dirty="0"/>
              <a:t> means all variables are labeled and only one point is left. We define quantity </a:t>
            </a:r>
            <a:r>
              <a:rPr lang="en-US" dirty="0" err="1"/>
              <a:t>I_k</a:t>
            </a:r>
            <a:r>
              <a:rPr lang="en-US" dirty="0"/>
              <a:t> as the difference between the original feasible set and the feasible set at step k, and it measures how much of C has been disqualified by k labels. In other words, that is the benefit of k labels. And furthermore, </a:t>
            </a:r>
            <a:r>
              <a:rPr lang="en-US" dirty="0" err="1"/>
              <a:t>Delta_k</a:t>
            </a:r>
            <a:r>
              <a:rPr lang="en-US" dirty="0"/>
              <a:t> is the benefit of the k-</a:t>
            </a:r>
            <a:r>
              <a:rPr lang="en-US" dirty="0" err="1"/>
              <a:t>th</a:t>
            </a:r>
            <a:r>
              <a:rPr lang="en-US" dirty="0"/>
              <a:t> label</a:t>
            </a:r>
          </a:p>
          <a:p>
            <a:r>
              <a:rPr lang="en-US" dirty="0"/>
              <a:t>(1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87</a:t>
            </a:fld>
            <a:endParaRPr lang="en-US" altLang="en-US"/>
          </a:p>
        </p:txBody>
      </p:sp>
    </p:spTree>
    <p:extLst>
      <p:ext uri="{BB962C8B-B14F-4D97-AF65-F5344CB8AC3E}">
        <p14:creationId xmlns:p14="http://schemas.microsoft.com/office/powerpoint/2010/main" val="296816097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structure. It’s a vector of random variables. L is the label set that each variable can choose from. Usually the structure Y lies in a constrained space of </a:t>
            </a:r>
            <a:r>
              <a:rPr lang="en-US" dirty="0" err="1"/>
              <a:t>L^d</a:t>
            </a:r>
            <a:r>
              <a:rPr lang="en-US" dirty="0"/>
              <a:t> since not all assignments are valid; just like in a temporal graph, there cannot be loops. The complete annotation for a structure means all variables are labeled and thus a unique point in C is determined. Partial annotation means only some of the variables are labeled. Then a subset of C is determined and that contains the true structure. Let </a:t>
            </a:r>
            <a:r>
              <a:rPr lang="en-US" dirty="0" err="1"/>
              <a:t>f_k</a:t>
            </a:r>
            <a:r>
              <a:rPr lang="en-US" dirty="0"/>
              <a:t> be the size of the subset if k variables are labeled. We know f_0 means no variables are labeled yet, so f_0 is the cardinality of C. Then </a:t>
            </a:r>
            <a:r>
              <a:rPr lang="en-US" dirty="0" err="1"/>
              <a:t>f_k</a:t>
            </a:r>
            <a:r>
              <a:rPr lang="en-US" dirty="0"/>
              <a:t> decreases as more variables are labeled, and at the end, </a:t>
            </a:r>
            <a:r>
              <a:rPr lang="en-US" dirty="0" err="1"/>
              <a:t>f_d</a:t>
            </a:r>
            <a:r>
              <a:rPr lang="en-US" dirty="0"/>
              <a:t> means all variables are labeled and only one point is left. We define quantity </a:t>
            </a:r>
            <a:r>
              <a:rPr lang="en-US" dirty="0" err="1"/>
              <a:t>I_k</a:t>
            </a:r>
            <a:r>
              <a:rPr lang="en-US" dirty="0"/>
              <a:t> as the difference between the original feasible set and the feasible set at step k, and it measures how much of C has been disqualified by k labels. In other words, that is the benefit of k labels. And furthermore, </a:t>
            </a:r>
            <a:r>
              <a:rPr lang="en-US" dirty="0" err="1"/>
              <a:t>Delta_k</a:t>
            </a:r>
            <a:r>
              <a:rPr lang="en-US" dirty="0"/>
              <a:t> is the benefit of the k-</a:t>
            </a:r>
            <a:r>
              <a:rPr lang="en-US" dirty="0" err="1"/>
              <a:t>th</a:t>
            </a:r>
            <a:r>
              <a:rPr lang="en-US" dirty="0"/>
              <a:t> label</a:t>
            </a:r>
          </a:p>
          <a:p>
            <a:r>
              <a:rPr lang="en-US" dirty="0"/>
              <a:t>(1 min)</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88</a:t>
            </a:fld>
            <a:endParaRPr lang="en-US" altLang="en-US"/>
          </a:p>
        </p:txBody>
      </p:sp>
    </p:spTree>
    <p:extLst>
      <p:ext uri="{BB962C8B-B14F-4D97-AF65-F5344CB8AC3E}">
        <p14:creationId xmlns:p14="http://schemas.microsoft.com/office/powerpoint/2010/main" val="120032915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this figure, we know from </a:t>
            </a:r>
            <a:r>
              <a:rPr lang="en-US" dirty="0" err="1"/>
              <a:t>seq</a:t>
            </a:r>
            <a:r>
              <a:rPr lang="en-US" dirty="0"/>
              <a:t> tagging, to bipartite, to chain, </a:t>
            </a:r>
            <a:r>
              <a:rPr lang="en-US" dirty="0" err="1"/>
              <a:t>I_k</a:t>
            </a:r>
            <a:r>
              <a:rPr lang="en-US" dirty="0"/>
              <a:t> is more concave. We selected three tasks: shallow parsing, semantic role classification, and our temporal relation extraction. They represent the </a:t>
            </a:r>
            <a:r>
              <a:rPr lang="en-US" dirty="0" err="1"/>
              <a:t>seq</a:t>
            </a:r>
            <a:r>
              <a:rPr lang="en-US" dirty="0"/>
              <a:t> tagging structure, the bipartite structure, and the chain structure. We can see the benefit of partial is indeed larger as </a:t>
            </a:r>
            <a:r>
              <a:rPr lang="en-US" dirty="0" err="1"/>
              <a:t>I_k</a:t>
            </a:r>
            <a:r>
              <a:rPr lang="en-US" dirty="0"/>
              <a:t> is more concave. Now we have seen the power of using </a:t>
            </a:r>
            <a:r>
              <a:rPr lang="en-US" dirty="0" err="1"/>
              <a:t>I_k</a:t>
            </a:r>
            <a:r>
              <a:rPr lang="en-US" dirty="0"/>
              <a:t> to analyze the benefit of partial data. Can we say more about </a:t>
            </a:r>
            <a:r>
              <a:rPr lang="en-US" dirty="0" err="1"/>
              <a:t>I_k</a:t>
            </a:r>
            <a:r>
              <a:rPr lang="en-US" dirty="0"/>
              <a:t>?</a:t>
            </a:r>
          </a:p>
          <a:p>
            <a:r>
              <a:rPr lang="en-US" dirty="0"/>
              <a:t>(30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90</a:t>
            </a:fld>
            <a:endParaRPr lang="en-US" altLang="en-US"/>
          </a:p>
        </p:txBody>
      </p:sp>
    </p:spTree>
    <p:extLst>
      <p:ext uri="{BB962C8B-B14F-4D97-AF65-F5344CB8AC3E}">
        <p14:creationId xmlns:p14="http://schemas.microsoft.com/office/powerpoint/2010/main" val="405647913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define k-partial annotation as a vector of random variables </a:t>
            </a:r>
            <a:r>
              <a:rPr lang="en-US" dirty="0" err="1"/>
              <a:t>A_k</a:t>
            </a:r>
            <a:r>
              <a:rPr lang="en-US" dirty="0"/>
              <a:t>. You don’t need to read the formulations below. The translation is: </a:t>
            </a:r>
            <a:r>
              <a:rPr lang="en-US" dirty="0" err="1"/>
              <a:t>A_k</a:t>
            </a:r>
            <a:r>
              <a:rPr lang="en-US" dirty="0"/>
              <a:t> means k variables are labeled in Y. Then actually we can prove, that </a:t>
            </a:r>
            <a:r>
              <a:rPr lang="en-US" dirty="0" err="1"/>
              <a:t>I_k</a:t>
            </a:r>
            <a:r>
              <a:rPr lang="en-US" dirty="0"/>
              <a:t> is the mutual information between structure Y and the k-partial annotation </a:t>
            </a:r>
            <a:r>
              <a:rPr lang="en-US" dirty="0" err="1"/>
              <a:t>A_k</a:t>
            </a:r>
            <a:r>
              <a:rPr lang="en-US" dirty="0"/>
              <a:t>, when they follow certain uniform distributions. This is a very interesting finding.</a:t>
            </a:r>
          </a:p>
          <a:p>
            <a:r>
              <a:rPr lang="en-US" dirty="0"/>
              <a:t>(30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91</a:t>
            </a:fld>
            <a:endParaRPr lang="en-US" altLang="en-US"/>
          </a:p>
        </p:txBody>
      </p:sp>
    </p:spTree>
    <p:extLst>
      <p:ext uri="{BB962C8B-B14F-4D97-AF65-F5344CB8AC3E}">
        <p14:creationId xmlns:p14="http://schemas.microsoft.com/office/powerpoint/2010/main" val="389837542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(partial 5 min)</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92</a:t>
            </a:fld>
            <a:endParaRPr lang="en-US" altLang="en-US"/>
          </a:p>
        </p:txBody>
      </p:sp>
    </p:spTree>
    <p:extLst>
      <p:ext uri="{BB962C8B-B14F-4D97-AF65-F5344CB8AC3E}">
        <p14:creationId xmlns:p14="http://schemas.microsoft.com/office/powerpoint/2010/main" val="4788020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quick recap: we have discussed </a:t>
            </a:r>
            <a:r>
              <a:rPr lang="mr-IN" dirty="0" smtClean="0"/>
              <a:t>…</a:t>
            </a:r>
            <a:r>
              <a:rPr lang="en-US" baseline="0" dirty="0" smtClean="0"/>
              <a:t> In structured learning, we discussed that the structure information should be taken into consideration during the inference phase and during the learning phase. A natural question is: can we push it deeper, to an even earlier stage, that is, the data annotation stage?</a:t>
            </a: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94</a:t>
            </a:fld>
            <a:endParaRPr lang="en-US" altLang="en-US"/>
          </a:p>
        </p:txBody>
      </p:sp>
    </p:spTree>
    <p:extLst>
      <p:ext uri="{BB962C8B-B14F-4D97-AF65-F5344CB8AC3E}">
        <p14:creationId xmlns:p14="http://schemas.microsoft.com/office/powerpoint/2010/main" val="26161229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I have already started doing joint extraction of events and relations in multi-task learning. I will make my multi-axis temporal parser more robust, which I think will be important for trustworthiness. And also, temporal common sense.</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95</a:t>
            </a:fld>
            <a:endParaRPr lang="en-US" altLang="en-US"/>
          </a:p>
        </p:txBody>
      </p:sp>
    </p:spTree>
    <p:extLst>
      <p:ext uri="{BB962C8B-B14F-4D97-AF65-F5344CB8AC3E}">
        <p14:creationId xmlns:p14="http://schemas.microsoft.com/office/powerpoint/2010/main" val="80750536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sense studied in this talk is about ordering, but there are actually more aspects about temporal common sense. For example, duration, stationary vs transient, absolute time point, and frequency. We are the first to systematically study all types of temporal common sense, we collected 10 thousand Q&amp;A pairs on it, and have already achieved roughly 70% accuracy on it. This paper is currently in submission</a:t>
            </a:r>
            <a:r>
              <a:rPr lang="en-US" dirty="0" smtClean="0"/>
              <a:t>. But of</a:t>
            </a:r>
            <a:r>
              <a:rPr lang="en-US" baseline="0" dirty="0" smtClean="0"/>
              <a:t> course this is an initial step and there’re many interesting research we can do here. “I cooked for an hour vs I have been cooking for years.”</a:t>
            </a:r>
            <a:endParaRPr lang="en-US" dirty="0"/>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96</a:t>
            </a:fld>
            <a:endParaRPr lang="en-US" altLang="en-US"/>
          </a:p>
        </p:txBody>
      </p:sp>
    </p:spTree>
    <p:extLst>
      <p:ext uri="{BB962C8B-B14F-4D97-AF65-F5344CB8AC3E}">
        <p14:creationId xmlns:p14="http://schemas.microsoft.com/office/powerpoint/2010/main" val="160898546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event level, I would also like to investigate summarization, what happens next, and event hierarchies. We have one paper in ISIT this year, and another paper in submission, but these is still a long way to go</a:t>
            </a:r>
            <a:r>
              <a:rPr lang="en-US" dirty="0" smtClean="0"/>
              <a:t>.</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97</a:t>
            </a:fld>
            <a:endParaRPr lang="en-US" altLang="en-US"/>
          </a:p>
        </p:txBody>
      </p:sp>
    </p:spTree>
    <p:extLst>
      <p:ext uri="{BB962C8B-B14F-4D97-AF65-F5344CB8AC3E}">
        <p14:creationId xmlns:p14="http://schemas.microsoft.com/office/powerpoint/2010/main" val="133711806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short term, we want to build a more robust temporal parser and try to make that a standard parser when people want to study events...mid term...long term...Those are on the NLP side. </a:t>
            </a:r>
          </a:p>
          <a:p>
            <a:r>
              <a:rPr lang="en-US" dirty="0"/>
              <a:t>(practice at Julia’s group: 40 mins up to now)</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98</a:t>
            </a:fld>
            <a:endParaRPr lang="en-US" altLang="en-US"/>
          </a:p>
        </p:txBody>
      </p:sp>
    </p:spTree>
    <p:extLst>
      <p:ext uri="{BB962C8B-B14F-4D97-AF65-F5344CB8AC3E}">
        <p14:creationId xmlns:p14="http://schemas.microsoft.com/office/powerpoint/2010/main" val="298872594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That’s all I’m talking today. It’s been a long talk and I hope you don’t get sleepy. To summarize it, in the age of big text, we have big opportunities for NLP. Regarding where we are, I think we are standing at the situation-level, and that’s the next important thing to do in the field. To that end, temporal relation extraction is a crucial component, and we have addressed it from structured learning, common sense knowledge acquisition, new task definition which leads to an improved dataset, and how to combine them using neural nets. Finally, besides future work on time and event, I think incidental supervision</a:t>
            </a:r>
          </a:p>
          <a:p>
            <a:r>
              <a:rPr lang="en-US" dirty="0"/>
              <a:t>(1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99</a:t>
            </a:fld>
            <a:endParaRPr lang="en-US" altLang="en-US"/>
          </a:p>
        </p:txBody>
      </p:sp>
    </p:spTree>
    <p:extLst>
      <p:ext uri="{BB962C8B-B14F-4D97-AF65-F5344CB8AC3E}">
        <p14:creationId xmlns:p14="http://schemas.microsoft.com/office/powerpoint/2010/main" val="32495895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thanks to my advisor and collaborators.</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101</a:t>
            </a:fld>
            <a:endParaRPr lang="en-US" altLang="en-US"/>
          </a:p>
        </p:txBody>
      </p:sp>
    </p:spTree>
    <p:extLst>
      <p:ext uri="{BB962C8B-B14F-4D97-AF65-F5344CB8AC3E}">
        <p14:creationId xmlns:p14="http://schemas.microsoft.com/office/powerpoint/2010/main" val="84673290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sng" strike="noStrike" kern="1200" dirty="0">
                <a:solidFill>
                  <a:schemeClr val="tx1"/>
                </a:solidFill>
                <a:effectLst/>
                <a:latin typeface="Arial" panose="020B0604020202020204" pitchFamily="34" charset="0"/>
                <a:ea typeface="+mn-ea"/>
                <a:cs typeface="+mn-cs"/>
                <a:hlinkClick r:id="rId3"/>
              </a:rPr>
              <a:t>https://courses.rice.edu/courses/!SWKSCAT.cat?p_action=CATALIST&amp;p_acyr_code=2018&amp;p_subj=COMP</a:t>
            </a:r>
            <a:endParaRPr lang="en-US" b="0" dirty="0">
              <a:effectLst/>
            </a:endParaRPr>
          </a:p>
          <a:p>
            <a:r>
              <a:rPr lang="en-US" dirty="0"/>
              <a:t/>
            </a:r>
            <a:br>
              <a:rPr lang="en-US" dirty="0"/>
            </a:br>
            <a:endParaRPr lang="en-US" dirty="0"/>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103</a:t>
            </a:fld>
            <a:endParaRPr lang="en-US" altLang="en-US"/>
          </a:p>
        </p:txBody>
      </p:sp>
    </p:spTree>
    <p:extLst>
      <p:ext uri="{BB962C8B-B14F-4D97-AF65-F5344CB8AC3E}">
        <p14:creationId xmlns:p14="http://schemas.microsoft.com/office/powerpoint/2010/main" val="119140918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 hope that you have enjoyed the progress we have made so far, just as much as I do. We have tackled the problem of temporal relation extraction for events in a situation based on structured learning, common sense acquisition, and data collection. We have published 7 papers on this, and of course, we need to move forward.</a:t>
            </a:r>
          </a:p>
        </p:txBody>
      </p:sp>
      <p:sp>
        <p:nvSpPr>
          <p:cNvPr id="4" name="Slide Number Placeholder 3"/>
          <p:cNvSpPr>
            <a:spLocks noGrp="1"/>
          </p:cNvSpPr>
          <p:nvPr>
            <p:ph type="sldNum" sz="quarter" idx="10"/>
          </p:nvPr>
        </p:nvSpPr>
        <p:spPr/>
        <p:txBody>
          <a:bodyPr/>
          <a:lstStyle/>
          <a:p>
            <a:pPr>
              <a:defRPr/>
            </a:pPr>
            <a:fld id="{4F7D9C7A-1E92-449D-A064-B8AFA531E953}" type="slidenum">
              <a:rPr lang="en-US" altLang="en-US" smtClean="0"/>
              <a:pPr>
                <a:defRPr/>
              </a:pPr>
              <a:t>104</a:t>
            </a:fld>
            <a:endParaRPr lang="en-US" altLang="en-US"/>
          </a:p>
        </p:txBody>
      </p:sp>
    </p:spTree>
    <p:extLst>
      <p:ext uri="{BB962C8B-B14F-4D97-AF65-F5344CB8AC3E}">
        <p14:creationId xmlns:p14="http://schemas.microsoft.com/office/powerpoint/2010/main" val="33785526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apply the same analysis to 3 general cases: chain structure in ranking problems, bipartite graph in assignment problems, and sequence tagging problems. These three types of problems are very general in machine learning and NLP, and we can either derive or simulate the </a:t>
            </a:r>
            <a:r>
              <a:rPr lang="en-US" dirty="0" err="1"/>
              <a:t>I_k</a:t>
            </a:r>
            <a:r>
              <a:rPr lang="en-US" dirty="0"/>
              <a:t> for all of them.</a:t>
            </a:r>
          </a:p>
          <a:p>
            <a:r>
              <a:rPr lang="en-US" dirty="0"/>
              <a:t>(20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105</a:t>
            </a:fld>
            <a:endParaRPr lang="en-US" altLang="en-US"/>
          </a:p>
        </p:txBody>
      </p:sp>
    </p:spTree>
    <p:extLst>
      <p:ext uri="{BB962C8B-B14F-4D97-AF65-F5344CB8AC3E}">
        <p14:creationId xmlns:p14="http://schemas.microsoft.com/office/powerpoint/2010/main" val="32072551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apply the same analysis to 3 general cases: chain structure in ranking problems, bipartite graph in assignment problems, and sequence tagging problems. These three types of problems are very general in machine learning and NLP, and we can either derive or simulate the </a:t>
            </a:r>
            <a:r>
              <a:rPr lang="en-US" dirty="0" err="1"/>
              <a:t>I_k</a:t>
            </a:r>
            <a:r>
              <a:rPr lang="en-US" dirty="0"/>
              <a:t> for all of them.</a:t>
            </a:r>
          </a:p>
          <a:p>
            <a:r>
              <a:rPr lang="en-US" dirty="0"/>
              <a:t>(20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106</a:t>
            </a:fld>
            <a:endParaRPr lang="en-US" altLang="en-US"/>
          </a:p>
        </p:txBody>
      </p:sp>
    </p:spTree>
    <p:extLst>
      <p:ext uri="{BB962C8B-B14F-4D97-AF65-F5344CB8AC3E}">
        <p14:creationId xmlns:p14="http://schemas.microsoft.com/office/powerpoint/2010/main" val="59126710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apply the same analysis to 3 general cases: chain structure in ranking problems, bipartite graph in assignment problems, and sequence tagging problems. These three types of problems are very general in machine learning and NLP, and we can either derive or simulate the </a:t>
            </a:r>
            <a:r>
              <a:rPr lang="en-US" dirty="0" err="1"/>
              <a:t>I_k</a:t>
            </a:r>
            <a:r>
              <a:rPr lang="en-US" dirty="0"/>
              <a:t> for all of them.</a:t>
            </a:r>
          </a:p>
          <a:p>
            <a:r>
              <a:rPr lang="en-US" dirty="0"/>
              <a:t>(20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107</a:t>
            </a:fld>
            <a:endParaRPr lang="en-US" altLang="en-US"/>
          </a:p>
        </p:txBody>
      </p:sp>
    </p:spTree>
    <p:extLst>
      <p:ext uri="{BB962C8B-B14F-4D97-AF65-F5344CB8AC3E}">
        <p14:creationId xmlns:p14="http://schemas.microsoft.com/office/powerpoint/2010/main" val="115067389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proved that for these three cases, </a:t>
            </a:r>
            <a:r>
              <a:rPr lang="en-US" dirty="0" err="1"/>
              <a:t>I_k</a:t>
            </a:r>
            <a:r>
              <a:rPr lang="en-US" dirty="0"/>
              <a:t> is concave, or </a:t>
            </a:r>
            <a:r>
              <a:rPr lang="en-US" dirty="0" err="1"/>
              <a:t>Delta_k</a:t>
            </a:r>
            <a:r>
              <a:rPr lang="en-US" dirty="0"/>
              <a:t> is decreasing as k grows. Then we have diminishing return of new labels within the same structure. Because of that, it’s better to annotate a structure partially than completely. At last, the more concave </a:t>
            </a:r>
            <a:r>
              <a:rPr lang="en-US" dirty="0" err="1"/>
              <a:t>I_k</a:t>
            </a:r>
            <a:r>
              <a:rPr lang="en-US" dirty="0"/>
              <a:t>, the strong a structure, and the more benefit partial can bring.</a:t>
            </a:r>
          </a:p>
          <a:p>
            <a:r>
              <a:rPr lang="en-US" dirty="0"/>
              <a:t>(30 sec)</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108</a:t>
            </a:fld>
            <a:endParaRPr lang="en-US" altLang="en-US"/>
          </a:p>
        </p:txBody>
      </p:sp>
    </p:spTree>
    <p:extLst>
      <p:ext uri="{BB962C8B-B14F-4D97-AF65-F5344CB8AC3E}">
        <p14:creationId xmlns:p14="http://schemas.microsoft.com/office/powerpoint/2010/main" val="25342770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thread is machine learning. We know the standard learning paradigm, including deep learning, is, given a task, collect data, and learn from the data. Nowadays, we are still in the stage where for each new task, we need a new dataset. And that is simply not scalable. We cannot solve all the tasks in this way.</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109</a:t>
            </a:fld>
            <a:endParaRPr lang="en-US" altLang="en-US"/>
          </a:p>
        </p:txBody>
      </p:sp>
    </p:spTree>
    <p:extLst>
      <p:ext uri="{BB962C8B-B14F-4D97-AF65-F5344CB8AC3E}">
        <p14:creationId xmlns:p14="http://schemas.microsoft.com/office/powerpoint/2010/main" val="51422044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Incidental supervision is the general idea of learning from indirect signals, which may be noisy, partial, or only correlated. And my vision is that, many situation-level tasks are highly abstract and require gigantic data for training. At that time, incidental supervision will be crucial. To demonstrate the idea of incidental supervision, next I’m going to talk about a recent paper of mine </a:t>
            </a:r>
            <a:r>
              <a:rPr lang="en-US"/>
              <a:t>discussing how to get supervision </a:t>
            </a:r>
            <a:r>
              <a:rPr lang="en-US" dirty="0"/>
              <a:t>from partial data.</a:t>
            </a:r>
          </a:p>
          <a:p>
            <a:r>
              <a:rPr lang="en-US" dirty="0"/>
              <a:t>(future work at each level 2.25 min; future work in total 3.75 min)</a:t>
            </a:r>
          </a:p>
        </p:txBody>
      </p:sp>
      <p:sp>
        <p:nvSpPr>
          <p:cNvPr id="4" name="Slide Number Placeholder 3"/>
          <p:cNvSpPr>
            <a:spLocks noGrp="1"/>
          </p:cNvSpPr>
          <p:nvPr>
            <p:ph type="sldNum" sz="quarter" idx="5"/>
          </p:nvPr>
        </p:nvSpPr>
        <p:spPr/>
        <p:txBody>
          <a:bodyPr/>
          <a:lstStyle/>
          <a:p>
            <a:pPr>
              <a:defRPr/>
            </a:pPr>
            <a:fld id="{4F7D9C7A-1E92-449D-A064-B8AFA531E953}" type="slidenum">
              <a:rPr lang="en-US" altLang="en-US" smtClean="0"/>
              <a:pPr>
                <a:defRPr/>
              </a:pPr>
              <a:t>110</a:t>
            </a:fld>
            <a:endParaRPr lang="en-US" altLang="en-US"/>
          </a:p>
        </p:txBody>
      </p:sp>
    </p:spTree>
    <p:extLst>
      <p:ext uri="{BB962C8B-B14F-4D97-AF65-F5344CB8AC3E}">
        <p14:creationId xmlns:p14="http://schemas.microsoft.com/office/powerpoint/2010/main" val="17647094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jpeg"/><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Upenn-1-Aust">
    <p:spTree>
      <p:nvGrpSpPr>
        <p:cNvPr id="1" name=""/>
        <p:cNvGrpSpPr/>
        <p:nvPr/>
      </p:nvGrpSpPr>
      <p:grpSpPr>
        <a:xfrm>
          <a:off x="0" y="0"/>
          <a:ext cx="0" cy="0"/>
          <a:chOff x="0" y="0"/>
          <a:chExt cx="0" cy="0"/>
        </a:xfrm>
      </p:grpSpPr>
      <p:sp>
        <p:nvSpPr>
          <p:cNvPr id="2" name="Title 1"/>
          <p:cNvSpPr>
            <a:spLocks noGrp="1"/>
          </p:cNvSpPr>
          <p:nvPr>
            <p:ph type="ctrTitle"/>
          </p:nvPr>
        </p:nvSpPr>
        <p:spPr>
          <a:xfrm>
            <a:off x="0" y="1122363"/>
            <a:ext cx="9144000" cy="2387600"/>
          </a:xfrm>
        </p:spPr>
        <p:txBody>
          <a:bodyPr anchor="b"/>
          <a:lstStyle>
            <a:lvl1pPr algn="ctr">
              <a:defRPr sz="6000">
                <a:latin typeface="Century Gothic" panose="020B0502020202020204" pitchFamily="34" charset="0"/>
              </a:defRPr>
            </a:lvl1pPr>
          </a:lstStyle>
          <a:p>
            <a:r>
              <a:rPr lang="en-US" dirty="0"/>
              <a:t>Click to edit Master title style</a:t>
            </a:r>
          </a:p>
        </p:txBody>
      </p:sp>
      <p:sp>
        <p:nvSpPr>
          <p:cNvPr id="3" name="Subtitle 2"/>
          <p:cNvSpPr>
            <a:spLocks noGrp="1"/>
          </p:cNvSpPr>
          <p:nvPr>
            <p:ph type="subTitle" idx="1"/>
          </p:nvPr>
        </p:nvSpPr>
        <p:spPr>
          <a:xfrm>
            <a:off x="0" y="3602038"/>
            <a:ext cx="9144000" cy="1655762"/>
          </a:xfrm>
        </p:spPr>
        <p:txBody>
          <a:bodyPr/>
          <a:lstStyle>
            <a:lvl1pPr marL="0" indent="0" algn="ctr">
              <a:buNone/>
              <a:defRPr sz="2400">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Line 2">
            <a:extLst>
              <a:ext uri="{FF2B5EF4-FFF2-40B4-BE49-F238E27FC236}">
                <a16:creationId xmlns="" xmlns:a16="http://schemas.microsoft.com/office/drawing/2014/main" id="{2A1A4DA9-C618-C347-A8F8-7F7552A5C3FC}"/>
              </a:ext>
            </a:extLst>
          </p:cNvPr>
          <p:cNvSpPr>
            <a:spLocks noChangeShapeType="1"/>
          </p:cNvSpPr>
          <p:nvPr userDrawn="1"/>
        </p:nvSpPr>
        <p:spPr bwMode="auto">
          <a:xfrm>
            <a:off x="8526571" y="6475072"/>
            <a:ext cx="617427"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11">
            <a:extLst>
              <a:ext uri="{FF2B5EF4-FFF2-40B4-BE49-F238E27FC236}">
                <a16:creationId xmlns="" xmlns:a16="http://schemas.microsoft.com/office/drawing/2014/main" id="{49AF8940-A5DD-EB43-9FC7-C00AAEF0D0B9}"/>
              </a:ext>
            </a:extLst>
          </p:cNvPr>
          <p:cNvSpPr>
            <a:spLocks noChangeShapeType="1"/>
          </p:cNvSpPr>
          <p:nvPr userDrawn="1"/>
        </p:nvSpPr>
        <p:spPr bwMode="auto">
          <a:xfrm>
            <a:off x="5550256" y="6475072"/>
            <a:ext cx="1383944"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rtl="0"/>
            <a:endParaRPr lang="en-US" dirty="0"/>
          </a:p>
        </p:txBody>
      </p:sp>
      <p:sp>
        <p:nvSpPr>
          <p:cNvPr id="9" name="Line 12">
            <a:extLst>
              <a:ext uri="{FF2B5EF4-FFF2-40B4-BE49-F238E27FC236}">
                <a16:creationId xmlns="" xmlns:a16="http://schemas.microsoft.com/office/drawing/2014/main" id="{EC827BF2-3CB8-9844-87F5-63E4166EB182}"/>
              </a:ext>
            </a:extLst>
          </p:cNvPr>
          <p:cNvSpPr>
            <a:spLocks noChangeShapeType="1"/>
          </p:cNvSpPr>
          <p:nvPr userDrawn="1"/>
        </p:nvSpPr>
        <p:spPr bwMode="auto">
          <a:xfrm>
            <a:off x="2362200" y="6475072"/>
            <a:ext cx="1371600"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 name="Line 13">
            <a:extLst>
              <a:ext uri="{FF2B5EF4-FFF2-40B4-BE49-F238E27FC236}">
                <a16:creationId xmlns="" xmlns:a16="http://schemas.microsoft.com/office/drawing/2014/main" id="{E4A6E229-32C0-CA49-995F-F3B996D1934A}"/>
              </a:ext>
            </a:extLst>
          </p:cNvPr>
          <p:cNvSpPr>
            <a:spLocks noChangeShapeType="1"/>
          </p:cNvSpPr>
          <p:nvPr userDrawn="1"/>
        </p:nvSpPr>
        <p:spPr bwMode="auto">
          <a:xfrm>
            <a:off x="0" y="6475072"/>
            <a:ext cx="457200" cy="0"/>
          </a:xfrm>
          <a:prstGeom prst="line">
            <a:avLst/>
          </a:prstGeom>
          <a:noFill/>
          <a:ln w="12700">
            <a:solidFill>
              <a:srgbClr val="A8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 name="Rectangle 10"/>
          <p:cNvSpPr/>
          <p:nvPr userDrawn="1"/>
        </p:nvSpPr>
        <p:spPr>
          <a:xfrm>
            <a:off x="8459643" y="6577752"/>
            <a:ext cx="457200" cy="204048"/>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p:cNvGrpSpPr/>
          <p:nvPr userDrawn="1"/>
        </p:nvGrpSpPr>
        <p:grpSpPr>
          <a:xfrm>
            <a:off x="617430" y="6136384"/>
            <a:ext cx="7909141" cy="583757"/>
            <a:chOff x="674086" y="6136384"/>
            <a:chExt cx="7909141" cy="583757"/>
          </a:xfrm>
        </p:grpSpPr>
        <p:pic>
          <p:nvPicPr>
            <p:cNvPr id="4" name="Picture 3">
              <a:extLst>
                <a:ext uri="{FF2B5EF4-FFF2-40B4-BE49-F238E27FC236}">
                  <a16:creationId xmlns="" xmlns:a16="http://schemas.microsoft.com/office/drawing/2014/main" id="{C7831C99-0458-DE4E-A174-1CE53B05FBC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74086" y="6221786"/>
              <a:ext cx="1675702" cy="457200"/>
            </a:xfrm>
            <a:prstGeom prst="rect">
              <a:avLst/>
            </a:prstGeom>
          </p:spPr>
        </p:pic>
        <p:pic>
          <p:nvPicPr>
            <p:cNvPr id="12" name="Picture 11">
              <a:extLst>
                <a:ext uri="{FF2B5EF4-FFF2-40B4-BE49-F238E27FC236}">
                  <a16:creationId xmlns="" xmlns:a16="http://schemas.microsoft.com/office/drawing/2014/main" id="{FE4CFCCF-0316-4943-B915-87B3874D7E9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905677" y="6136384"/>
              <a:ext cx="1701235" cy="583757"/>
            </a:xfrm>
            <a:prstGeom prst="rect">
              <a:avLst/>
            </a:prstGeom>
          </p:spPr>
        </p:pic>
        <p:pic>
          <p:nvPicPr>
            <p:cNvPr id="6" name="Picture 5" descr="A picture containing clipart&#13;&#10;&#13;&#10;Description automatically generated">
              <a:extLst>
                <a:ext uri="{FF2B5EF4-FFF2-40B4-BE49-F238E27FC236}">
                  <a16:creationId xmlns="" xmlns:a16="http://schemas.microsoft.com/office/drawing/2014/main" id="{34E2DC30-6B04-054F-856D-59E11092907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162800" y="6248400"/>
              <a:ext cx="1420427" cy="457200"/>
            </a:xfrm>
            <a:prstGeom prst="rect">
              <a:avLst/>
            </a:prstGeom>
          </p:spPr>
        </p:pic>
      </p:grpSp>
    </p:spTree>
    <p:extLst>
      <p:ext uri="{BB962C8B-B14F-4D97-AF65-F5344CB8AC3E}">
        <p14:creationId xmlns:p14="http://schemas.microsoft.com/office/powerpoint/2010/main" val="3128124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bg2"/>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00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dirty="0"/>
              <a:t>Edit Master text styles</a:t>
            </a:r>
          </a:p>
        </p:txBody>
      </p:sp>
    </p:spTree>
    <p:extLst>
      <p:ext uri="{BB962C8B-B14F-4D97-AF65-F5344CB8AC3E}">
        <p14:creationId xmlns:p14="http://schemas.microsoft.com/office/powerpoint/2010/main" val="1777838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381000" y="1219200"/>
            <a:ext cx="41910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4400" y="1219200"/>
            <a:ext cx="41910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811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4524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133600"/>
            <a:ext cx="3868737" cy="40560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4524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133600"/>
            <a:ext cx="3887788" cy="4056063"/>
          </a:xfrm>
        </p:spPr>
        <p:txBody>
          <a:bodyPr/>
          <a:lstStyle/>
          <a:p>
            <a:pPr lvl="0"/>
            <a:r>
              <a:rPr lang="en-US"/>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478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636793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4695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796326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212636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148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457200"/>
            <a:ext cx="2133600" cy="5943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457200"/>
            <a:ext cx="6248400"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1934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41045A-FD6C-7B4E-8808-15B6E80C79A3}"/>
              </a:ext>
            </a:extLst>
          </p:cNvPr>
          <p:cNvSpPr>
            <a:spLocks noGrp="1"/>
          </p:cNvSpPr>
          <p:nvPr>
            <p:ph type="title"/>
          </p:nvPr>
        </p:nvSpPr>
        <p:spPr>
          <a:xfrm>
            <a:off x="0" y="3162300"/>
            <a:ext cx="9144000" cy="533400"/>
          </a:xfrm>
        </p:spPr>
        <p:txBody>
          <a:bodyPr/>
          <a:lstStyle>
            <a:lvl1pPr algn="ctr">
              <a:defRPr lang="en-US" cap="none" baseline="0" dirty="0" smtClean="0">
                <a:latin typeface="Century Gothic" panose="020B0502020202020204" pitchFamily="34" charset="0"/>
              </a:defRPr>
            </a:lvl1pPr>
          </a:lstStyle>
          <a:p>
            <a:r>
              <a:rPr lang="en-US" dirty="0"/>
              <a:t>Click to edit Master title style</a:t>
            </a:r>
          </a:p>
        </p:txBody>
      </p:sp>
    </p:spTree>
    <p:extLst>
      <p:ext uri="{BB962C8B-B14F-4D97-AF65-F5344CB8AC3E}">
        <p14:creationId xmlns:p14="http://schemas.microsoft.com/office/powerpoint/2010/main" val="3950907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41045A-FD6C-7B4E-8808-15B6E80C79A3}"/>
              </a:ext>
            </a:extLst>
          </p:cNvPr>
          <p:cNvSpPr>
            <a:spLocks noGrp="1"/>
          </p:cNvSpPr>
          <p:nvPr>
            <p:ph type="title"/>
          </p:nvPr>
        </p:nvSpPr>
        <p:spPr>
          <a:xfrm>
            <a:off x="0" y="3162300"/>
            <a:ext cx="9144000" cy="533400"/>
          </a:xfrm>
        </p:spPr>
        <p:txBody>
          <a:bodyPr/>
          <a:lstStyle>
            <a:lvl1pPr algn="ctr">
              <a:defRPr lang="en-US" cap="none" baseline="0" dirty="0" smtClean="0">
                <a:latin typeface="Century Gothic" panose="020B0502020202020204" pitchFamily="34" charset="0"/>
              </a:defRPr>
            </a:lvl1pPr>
          </a:lstStyle>
          <a:p>
            <a:r>
              <a:rPr lang="en-US" dirty="0"/>
              <a:t>Click to edit Master title style</a:t>
            </a:r>
          </a:p>
        </p:txBody>
      </p:sp>
    </p:spTree>
    <p:extLst>
      <p:ext uri="{BB962C8B-B14F-4D97-AF65-F5344CB8AC3E}">
        <p14:creationId xmlns:p14="http://schemas.microsoft.com/office/powerpoint/2010/main" val="420148660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body" idx="1"/>
          </p:nvPr>
        </p:nvSpPr>
        <p:spPr bwMode="auto">
          <a:xfrm>
            <a:off x="381000" y="1219200"/>
            <a:ext cx="8534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title"/>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ltLang="zh-CN" dirty="0"/>
              <a:t> Click to Edit Master Title Style</a:t>
            </a:r>
          </a:p>
        </p:txBody>
      </p:sp>
      <p:sp>
        <p:nvSpPr>
          <p:cNvPr id="1030" name="Rectangle 6"/>
          <p:cNvSpPr>
            <a:spLocks noChangeArrowheads="1"/>
          </p:cNvSpPr>
          <p:nvPr userDrawn="1"/>
        </p:nvSpPr>
        <p:spPr bwMode="auto">
          <a:xfrm>
            <a:off x="8494030" y="6491233"/>
            <a:ext cx="45204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50308F2-B355-B943-A2CF-451A9FDD88CE}" type="slidenum">
              <a:rPr lang="zh-CN" altLang="en-US" sz="1800" smtClean="0">
                <a:solidFill>
                  <a:srgbClr val="A7001B"/>
                </a:solidFill>
                <a:latin typeface="Times New Roman" panose="02020603050405020304" pitchFamily="18" charset="0"/>
                <a:ea typeface="宋体" panose="02010600030101010101" pitchFamily="2" charset="-122"/>
              </a:rPr>
              <a:t>‹#›</a:t>
            </a:fld>
            <a:endParaRPr lang="en-US" altLang="zh-CN" sz="1800" dirty="0">
              <a:solidFill>
                <a:srgbClr val="A7001B"/>
              </a:solidFill>
              <a:latin typeface="Times New Roman" panose="02020603050405020304" pitchFamily="18" charset="0"/>
              <a:ea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74" r:id="rId13"/>
  </p:sldLayoutIdLst>
  <p:hf sldNum="0" hdr="0" ftr="0" dt="0"/>
  <p:txStyles>
    <p:title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p:titleStyle>
    <p:bodyStyle>
      <a:lvl1pPr marL="342900" indent="-342900" algn="l" rtl="0" eaLnBrk="0" fontAlgn="base" hangingPunct="0">
        <a:spcBef>
          <a:spcPct val="20000"/>
        </a:spcBef>
        <a:spcAft>
          <a:spcPct val="0"/>
        </a:spcAft>
        <a:buClr>
          <a:srgbClr val="545164"/>
        </a:buClr>
        <a:buSzPct val="65000"/>
        <a:buFont typeface="Wingdings" pitchFamily="2" charset="2"/>
        <a:buChar char="q"/>
        <a:defRPr sz="2800" kern="1200">
          <a:solidFill>
            <a:schemeClr val="bg2">
              <a:lumMod val="85000"/>
              <a:lumOff val="15000"/>
            </a:schemeClr>
          </a:solidFill>
          <a:latin typeface="Century Gothic" panose="020B0502020202020204" pitchFamily="34" charset="0"/>
          <a:ea typeface="+mn-ea"/>
          <a:cs typeface="Calibri" panose="020F0502020204030204" pitchFamily="34" charset="0"/>
        </a:defRPr>
      </a:lvl1pPr>
      <a:lvl2pPr marL="800100" indent="-342900" algn="l" rtl="0" eaLnBrk="0" fontAlgn="base" hangingPunct="0">
        <a:spcBef>
          <a:spcPct val="20000"/>
        </a:spcBef>
        <a:spcAft>
          <a:spcPct val="0"/>
        </a:spcAft>
        <a:buClr>
          <a:srgbClr val="545164"/>
        </a:buClr>
        <a:buSzPct val="65000"/>
        <a:buFont typeface="Wingdings" pitchFamily="2" charset="2"/>
        <a:buChar char="q"/>
        <a:defRPr sz="2400" kern="1200">
          <a:solidFill>
            <a:schemeClr val="bg2">
              <a:lumMod val="75000"/>
              <a:lumOff val="25000"/>
            </a:schemeClr>
          </a:solidFill>
          <a:latin typeface="Century Gothic" panose="020B0502020202020204" pitchFamily="34" charset="0"/>
          <a:ea typeface="+mn-ea"/>
          <a:cs typeface="Calibri" panose="020F0502020204030204" pitchFamily="34" charset="0"/>
        </a:defRPr>
      </a:lvl2pPr>
      <a:lvl3pPr marL="1143000" indent="-285750" algn="l" rtl="0" eaLnBrk="0" fontAlgn="base" hangingPunct="0">
        <a:spcBef>
          <a:spcPct val="20000"/>
        </a:spcBef>
        <a:spcAft>
          <a:spcPct val="0"/>
        </a:spcAft>
        <a:buClr>
          <a:srgbClr val="545164"/>
        </a:buClr>
        <a:buSzPct val="65000"/>
        <a:buFont typeface="Wingdings" pitchFamily="2" charset="2"/>
        <a:buChar char="q"/>
        <a:defRPr sz="2000" kern="1200">
          <a:solidFill>
            <a:schemeClr val="bg2">
              <a:lumMod val="75000"/>
              <a:lumOff val="25000"/>
            </a:schemeClr>
          </a:solidFill>
          <a:latin typeface="Century Gothic" panose="020B0502020202020204" pitchFamily="34" charset="0"/>
          <a:ea typeface="+mn-ea"/>
          <a:cs typeface="Calibri" panose="020F0502020204030204" pitchFamily="34" charset="0"/>
        </a:defRPr>
      </a:lvl3pPr>
      <a:lvl4pPr marL="1485900" indent="-285750" algn="l" rtl="0" eaLnBrk="0" fontAlgn="base" hangingPunct="0">
        <a:spcBef>
          <a:spcPct val="20000"/>
        </a:spcBef>
        <a:spcAft>
          <a:spcPct val="0"/>
        </a:spcAft>
        <a:buClr>
          <a:srgbClr val="545164"/>
        </a:buClr>
        <a:buSzPct val="65000"/>
        <a:buFont typeface="Wingdings" pitchFamily="2" charset="2"/>
        <a:buChar char="q"/>
        <a:defRPr sz="1800" kern="1200">
          <a:solidFill>
            <a:schemeClr val="bg2">
              <a:lumMod val="75000"/>
              <a:lumOff val="25000"/>
            </a:schemeClr>
          </a:solidFill>
          <a:latin typeface="Century Gothic" panose="020B0502020202020204" pitchFamily="34" charset="0"/>
          <a:ea typeface="+mn-ea"/>
          <a:cs typeface="Calibri" panose="020F0502020204030204" pitchFamily="34" charset="0"/>
        </a:defRPr>
      </a:lvl4pPr>
      <a:lvl5pPr marL="1828800" indent="-285750" algn="l" rtl="0" eaLnBrk="0" fontAlgn="base" hangingPunct="0">
        <a:spcBef>
          <a:spcPct val="20000"/>
        </a:spcBef>
        <a:spcAft>
          <a:spcPct val="0"/>
        </a:spcAft>
        <a:buClr>
          <a:srgbClr val="545164"/>
        </a:buClr>
        <a:buSzPct val="65000"/>
        <a:buFont typeface="Wingdings" pitchFamily="2" charset="2"/>
        <a:buChar char="q"/>
        <a:defRPr sz="1600" kern="1200">
          <a:solidFill>
            <a:schemeClr val="bg2">
              <a:lumMod val="75000"/>
              <a:lumOff val="25000"/>
            </a:schemeClr>
          </a:solidFill>
          <a:latin typeface="Century Gothic" panose="020B050202020202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image" Target="../media/image10.png"/><Relationship Id="rId12" Type="http://schemas.openxmlformats.org/officeDocument/2006/relationships/image" Target="../media/image11.tiff"/><Relationship Id="rId13" Type="http://schemas.openxmlformats.org/officeDocument/2006/relationships/image" Target="../media/image12.tiff"/><Relationship Id="rId14" Type="http://schemas.openxmlformats.org/officeDocument/2006/relationships/image" Target="../media/image13.png"/><Relationship Id="rId15" Type="http://schemas.openxmlformats.org/officeDocument/2006/relationships/image" Target="../media/image14.tiff"/><Relationship Id="rId16" Type="http://schemas.openxmlformats.org/officeDocument/2006/relationships/image" Target="../media/image15.tiff"/><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 Id="rId4" Type="http://schemas.microsoft.com/office/2007/relationships/hdphoto" Target="../media/hdphoto1.wdp"/><Relationship Id="rId5" Type="http://schemas.openxmlformats.org/officeDocument/2006/relationships/image" Target="../media/image5.png"/><Relationship Id="rId6" Type="http://schemas.microsoft.com/office/2007/relationships/hdphoto" Target="../media/hdphoto2.wdp"/><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6.jpeg"/><Relationship Id="rId4" Type="http://schemas.openxmlformats.org/officeDocument/2006/relationships/image" Target="../media/image17.png"/><Relationship Id="rId5" Type="http://schemas.openxmlformats.org/officeDocument/2006/relationships/image" Target="../media/image18.jpe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31.tiff"/><Relationship Id="rId4" Type="http://schemas.openxmlformats.org/officeDocument/2006/relationships/image" Target="../media/image32.tiff"/><Relationship Id="rId5" Type="http://schemas.openxmlformats.org/officeDocument/2006/relationships/image" Target="../media/image33.tiff"/><Relationship Id="rId6" Type="http://schemas.openxmlformats.org/officeDocument/2006/relationships/image" Target="../media/image34.tif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31.tiff"/><Relationship Id="rId4" Type="http://schemas.openxmlformats.org/officeDocument/2006/relationships/image" Target="../media/image32.tiff"/><Relationship Id="rId5" Type="http://schemas.openxmlformats.org/officeDocument/2006/relationships/image" Target="../media/image33.tiff"/><Relationship Id="rId6" Type="http://schemas.openxmlformats.org/officeDocument/2006/relationships/image" Target="../media/image34.tiff"/><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5.tiff"/><Relationship Id="rId4" Type="http://schemas.openxmlformats.org/officeDocument/2006/relationships/image" Target="../media/image36.tiff"/><Relationship Id="rId5" Type="http://schemas.openxmlformats.org/officeDocument/2006/relationships/image" Target="../media/image37.tiff"/><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8.jpeg"/><Relationship Id="rId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4" Type="http://schemas.openxmlformats.org/officeDocument/2006/relationships/image" Target="../media/image360.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0.png"/><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chart" Target="../charts/char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4" Type="http://schemas.openxmlformats.org/officeDocument/2006/relationships/image" Target="../media/image400.png"/><Relationship Id="rId5" Type="http://schemas.openxmlformats.org/officeDocument/2006/relationships/image" Target="../media/image410.png"/><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chart" Target="../charts/char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chart" Target="../charts/char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chart" Target="../charts/chart4.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chart" Target="../charts/chart7.xml"/><Relationship Id="rId6" Type="http://schemas.openxmlformats.org/officeDocument/2006/relationships/chart" Target="../charts/chart8.xml"/><Relationship Id="rId7" Type="http://schemas.openxmlformats.org/officeDocument/2006/relationships/chart" Target="../charts/chart9.xml"/><Relationship Id="rId8" Type="http://schemas.openxmlformats.org/officeDocument/2006/relationships/chart" Target="../charts/chart10.xml"/><Relationship Id="rId9" Type="http://schemas.openxmlformats.org/officeDocument/2006/relationships/chart" Target="../charts/chart11.xml"/><Relationship Id="rId10" Type="http://schemas.openxmlformats.org/officeDocument/2006/relationships/chart" Target="../charts/chart12.xml"/><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chart" Target="../charts/chart13.xml"/><Relationship Id="rId4" Type="http://schemas.openxmlformats.org/officeDocument/2006/relationships/chart" Target="../charts/chart14.xml"/><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3" Type="http://schemas.openxmlformats.org/officeDocument/2006/relationships/chart" Target="../charts/chart15.xml"/><Relationship Id="rId4" Type="http://schemas.openxmlformats.org/officeDocument/2006/relationships/chart" Target="../charts/chart16.xml"/><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chart" Target="../charts/chart17.xml"/><Relationship Id="rId4" Type="http://schemas.openxmlformats.org/officeDocument/2006/relationships/chart" Target="../charts/chart18.xml"/><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4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chart" Target="../charts/char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chart" Target="../charts/chart20.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chart" Target="../charts/chart2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5.tiff"/></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44.png"/><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chart" Target="../charts/chart2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chart" Target="../charts/chart2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chart" Target="../charts/char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chart" Target="../charts/chart2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231.png"/></Relationships>
</file>

<file path=ppt/slides/_rels/slide82.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 Id="rId7" Type="http://schemas.openxmlformats.org/officeDocument/2006/relationships/image" Target="NULL"/></Relationships>
</file>

<file path=ppt/slides/_rels/slide87.xml.rels><?xml version="1.0" encoding="UTF-8" standalone="yes"?>
<Relationships xmlns="http://schemas.openxmlformats.org/package/2006/relationships"><Relationship Id="rId3" Type="http://schemas.openxmlformats.org/officeDocument/2006/relationships/image" Target="../media/image49.emf"/><Relationship Id="rId7" Type="http://schemas.openxmlformats.org/officeDocument/2006/relationships/image" Target="NULL"/><Relationship Id="rId1"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3" Type="http://schemas.openxmlformats.org/officeDocument/2006/relationships/image" Target="../media/image451.png"/><Relationship Id="rId4" Type="http://schemas.openxmlformats.org/officeDocument/2006/relationships/image" Target="../media/image440.png"/><Relationship Id="rId5" Type="http://schemas.openxmlformats.org/officeDocument/2006/relationships/image" Target="../media/image480.png"/><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3" Type="http://schemas.openxmlformats.org/officeDocument/2006/relationships/image" Target="../media/image440.png"/><Relationship Id="rId4" Type="http://schemas.openxmlformats.org/officeDocument/2006/relationships/image" Target="../media/image450.png"/><Relationship Id="rId5" Type="http://schemas.openxmlformats.org/officeDocument/2006/relationships/image" Target="../media/image49.png"/><Relationship Id="rId6" Type="http://schemas.openxmlformats.org/officeDocument/2006/relationships/image" Target="../media/image50.png"/><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png"/><Relationship Id="rId1" Type="http://schemas.openxmlformats.org/officeDocument/2006/relationships/slideLayout" Target="../slideLayouts/slideLayout6.xml"/><Relationship Id="rId2" Type="http://schemas.openxmlformats.org/officeDocument/2006/relationships/image" Target="../media/image50.emf"/></Relationships>
</file>

<file path=ppt/slides/_rels/slide91.xml.rels><?xml version="1.0" encoding="UTF-8" standalone="yes"?>
<Relationships xmlns="http://schemas.openxmlformats.org/package/2006/relationships"><Relationship Id="rId3" Type="http://schemas.openxmlformats.org/officeDocument/2006/relationships/image" Target="../media/image49.emf"/><Relationship Id="rId4" Type="http://schemas.openxmlformats.org/officeDocument/2006/relationships/image" Target="../media/image51.emf"/><Relationship Id="rId5" Type="http://schemas.openxmlformats.org/officeDocument/2006/relationships/image" Target="../media/image52.emf"/><Relationship Id="rId6" Type="http://schemas.openxmlformats.org/officeDocument/2006/relationships/image" Target="../media/image541.png"/><Relationship Id="rId7" Type="http://schemas.openxmlformats.org/officeDocument/2006/relationships/image" Target="../media/image53.png"/><Relationship Id="rId8" Type="http://schemas.openxmlformats.org/officeDocument/2006/relationships/image" Target="../media/image62.png"/><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3" Type="http://schemas.openxmlformats.org/officeDocument/2006/relationships/image" Target="../media/image551.png"/><Relationship Id="rId4" Type="http://schemas.openxmlformats.org/officeDocument/2006/relationships/image" Target="../media/image61.png"/><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5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6.xml.rels><?xml version="1.0" encoding="UTF-8" standalone="yes"?>
<Relationships xmlns="http://schemas.openxmlformats.org/package/2006/relationships"><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7.png"/><Relationship Id="rId1"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8.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1"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9.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1"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1" Type="http://schemas.openxmlformats.org/officeDocument/2006/relationships/image" Target="../media/image69.jpeg"/><Relationship Id="rId12" Type="http://schemas.openxmlformats.org/officeDocument/2006/relationships/image" Target="../media/image70.tiff"/><Relationship Id="rId13" Type="http://schemas.openxmlformats.org/officeDocument/2006/relationships/image" Target="../media/image71.tiff"/><Relationship Id="rId14" Type="http://schemas.openxmlformats.org/officeDocument/2006/relationships/image" Target="../media/image72.tiff"/><Relationship Id="rId15" Type="http://schemas.openxmlformats.org/officeDocument/2006/relationships/image" Target="../media/image73.tiff"/><Relationship Id="rId16" Type="http://schemas.openxmlformats.org/officeDocument/2006/relationships/image" Target="../media/image74.tiff"/><Relationship Id="rId17" Type="http://schemas.openxmlformats.org/officeDocument/2006/relationships/image" Target="../media/image75.tiff"/><Relationship Id="rId1" Type="http://schemas.openxmlformats.org/officeDocument/2006/relationships/slideLayout" Target="../slideLayouts/slideLayout6.xml"/><Relationship Id="rId2" Type="http://schemas.openxmlformats.org/officeDocument/2006/relationships/notesSlide" Target="../notesSlides/notesSlide96.xml"/><Relationship Id="rId3" Type="http://schemas.openxmlformats.org/officeDocument/2006/relationships/image" Target="../media/image61.tiff"/><Relationship Id="rId4" Type="http://schemas.openxmlformats.org/officeDocument/2006/relationships/image" Target="../media/image62.tiff"/><Relationship Id="rId5" Type="http://schemas.openxmlformats.org/officeDocument/2006/relationships/image" Target="../media/image63.png"/><Relationship Id="rId6" Type="http://schemas.openxmlformats.org/officeDocument/2006/relationships/image" Target="../media/image64.tiff"/><Relationship Id="rId7" Type="http://schemas.openxmlformats.org/officeDocument/2006/relationships/image" Target="../media/image65.tiff"/><Relationship Id="rId8" Type="http://schemas.openxmlformats.org/officeDocument/2006/relationships/image" Target="../media/image66.tiff"/><Relationship Id="rId9" Type="http://schemas.openxmlformats.org/officeDocument/2006/relationships/image" Target="../media/image67.jpeg"/><Relationship Id="rId10" Type="http://schemas.openxmlformats.org/officeDocument/2006/relationships/image" Target="../media/image68.tif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05.xml.rels><?xml version="1.0" encoding="UTF-8" standalone="yes"?>
<Relationships xmlns="http://schemas.openxmlformats.org/package/2006/relationships"><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106.xml.rels><?xml version="1.0" encoding="UTF-8" standalone="yes"?>
<Relationships xmlns="http://schemas.openxmlformats.org/package/2006/relationships"><Relationship Id="rId3" Type="http://schemas.openxmlformats.org/officeDocument/2006/relationships/image" Target="../media/image500.png"/><Relationship Id="rId4" Type="http://schemas.openxmlformats.org/officeDocument/2006/relationships/image" Target="../media/image510.png"/><Relationship Id="rId5" Type="http://schemas.openxmlformats.org/officeDocument/2006/relationships/image" Target="../media/image520.png"/><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7.xml.rels><?xml version="1.0" encoding="UTF-8" standalone="yes"?>
<Relationships xmlns="http://schemas.openxmlformats.org/package/2006/relationships"><Relationship Id="rId3" Type="http://schemas.openxmlformats.org/officeDocument/2006/relationships/image" Target="../media/image530.png"/><Relationship Id="rId4" Type="http://schemas.openxmlformats.org/officeDocument/2006/relationships/image" Target="../media/image510.png"/><Relationship Id="rId5" Type="http://schemas.openxmlformats.org/officeDocument/2006/relationships/image" Target="../media/image520.png"/><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8.xml.rels><?xml version="1.0" encoding="UTF-8" standalone="yes"?>
<Relationships xmlns="http://schemas.openxmlformats.org/package/2006/relationships"><Relationship Id="rId3" Type="http://schemas.openxmlformats.org/officeDocument/2006/relationships/image" Target="../media/image540.png"/><Relationship Id="rId4" Type="http://schemas.openxmlformats.org/officeDocument/2006/relationships/image" Target="../media/image510.png"/><Relationship Id="rId5" Type="http://schemas.openxmlformats.org/officeDocument/2006/relationships/image" Target="../media/image520.png"/><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9.xml.rels><?xml version="1.0" encoding="UTF-8" standalone="yes"?>
<Relationships xmlns="http://schemas.openxmlformats.org/package/2006/relationships"><Relationship Id="rId3" Type="http://schemas.openxmlformats.org/officeDocument/2006/relationships/image" Target="../media/image560.png"/><Relationship Id="rId4" Type="http://schemas.openxmlformats.org/officeDocument/2006/relationships/image" Target="../media/image71.png"/><Relationship Id="rId5" Type="http://schemas.openxmlformats.org/officeDocument/2006/relationships/image" Target="../media/image77.png"/><Relationship Id="rId6" Type="http://schemas.openxmlformats.org/officeDocument/2006/relationships/image" Target="../media/image580.png"/><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10.xml.rels><?xml version="1.0" encoding="UTF-8" standalone="yes"?>
<Relationships xmlns="http://schemas.openxmlformats.org/package/2006/relationships"><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1"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11.xml.rels><?xml version="1.0" encoding="UTF-8" standalone="yes"?>
<Relationships xmlns="http://schemas.openxmlformats.org/package/2006/relationships"><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1" Type="http://schemas.openxmlformats.org/officeDocument/2006/relationships/slideLayout" Target="../slideLayouts/slideLayout6.xml"/><Relationship Id="rId2"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5"/>
          <p:cNvSpPr>
            <a:spLocks noGrp="1" noChangeArrowheads="1"/>
          </p:cNvSpPr>
          <p:nvPr>
            <p:ph type="ctrTitle"/>
          </p:nvPr>
        </p:nvSpPr>
        <p:spPr/>
        <p:txBody>
          <a:bodyPr anchor="ctr"/>
          <a:lstStyle/>
          <a:p>
            <a:pPr eaLnBrk="1" hangingPunct="1"/>
            <a:r>
              <a:rPr lang="en-US" sz="4000" dirty="0"/>
              <a:t>Understanding Events In Natural Language:</a:t>
            </a:r>
            <a:br>
              <a:rPr lang="en-US" sz="4000" dirty="0"/>
            </a:br>
            <a:r>
              <a:rPr lang="en-US" sz="2800" dirty="0"/>
              <a:t>-- Learning, Common Sense, Data Annotation, and What’s Next</a:t>
            </a:r>
            <a:endParaRPr lang="en-US" altLang="en-US" sz="4000" dirty="0"/>
          </a:p>
        </p:txBody>
      </p:sp>
      <p:sp>
        <p:nvSpPr>
          <p:cNvPr id="3074" name="Rectangle 4"/>
          <p:cNvSpPr>
            <a:spLocks noGrp="1" noChangeArrowheads="1"/>
          </p:cNvSpPr>
          <p:nvPr>
            <p:ph type="subTitle" idx="1"/>
          </p:nvPr>
        </p:nvSpPr>
        <p:spPr>
          <a:xfrm>
            <a:off x="0" y="4114800"/>
            <a:ext cx="9144000" cy="1447800"/>
          </a:xfrm>
        </p:spPr>
        <p:txBody>
          <a:bodyPr/>
          <a:lstStyle/>
          <a:p>
            <a:r>
              <a:rPr lang="en-US" dirty="0"/>
              <a:t>Qiang Ning</a:t>
            </a:r>
          </a:p>
          <a:p>
            <a:r>
              <a:rPr lang="en-US" dirty="0"/>
              <a:t>Electrical and Computer Engineering</a:t>
            </a:r>
          </a:p>
          <a:p>
            <a:r>
              <a:rPr lang="en-US" dirty="0"/>
              <a:t>University of Illinois at Urbana-Champaign</a:t>
            </a:r>
          </a:p>
        </p:txBody>
      </p:sp>
    </p:spTree>
    <p:extLst>
      <p:ext uri="{BB962C8B-B14F-4D97-AF65-F5344CB8AC3E}">
        <p14:creationId xmlns:p14="http://schemas.microsoft.com/office/powerpoint/2010/main" val="31685694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email">
            <a:extLst>
              <a:ext uri="{BEBA8EAE-BF5A-486C-A8C5-ECC9F3942E4B}">
                <a14:imgProps xmlns:a14="http://schemas.microsoft.com/office/drawing/2010/main">
                  <a14:imgLayer r:embed="rId4">
                    <a14:imgEffect>
                      <a14:backgroundRemoval t="0" b="100000" l="2020" r="100000">
                        <a14:foregroundMark x1="47475" y1="48905" x2="47475" y2="48905"/>
                        <a14:foregroundMark x1="25253" y1="54745" x2="25253" y2="54745"/>
                      </a14:backgroundRemoval>
                    </a14:imgEffect>
                  </a14:imgLayer>
                </a14:imgProps>
              </a:ext>
              <a:ext uri="{28A0092B-C50C-407E-A947-70E740481C1C}">
                <a14:useLocalDpi xmlns:a14="http://schemas.microsoft.com/office/drawing/2010/main"/>
              </a:ext>
            </a:extLst>
          </a:blip>
          <a:srcRect/>
          <a:stretch/>
        </p:blipFill>
        <p:spPr>
          <a:xfrm>
            <a:off x="581492" y="3293079"/>
            <a:ext cx="454998" cy="626590"/>
          </a:xfrm>
          <a:prstGeom prst="rect">
            <a:avLst/>
          </a:prstGeom>
        </p:spPr>
      </p:pic>
      <p:pic>
        <p:nvPicPr>
          <p:cNvPr id="4" name="Picture 3"/>
          <p:cNvPicPr>
            <a:picLocks noChangeAspect="1"/>
          </p:cNvPicPr>
          <p:nvPr/>
        </p:nvPicPr>
        <p:blipFill rotWithShape="1">
          <a:blip r:embed="rId5" cstate="email">
            <a:extLst>
              <a:ext uri="{BEBA8EAE-BF5A-486C-A8C5-ECC9F3942E4B}">
                <a14:imgProps xmlns:a14="http://schemas.microsoft.com/office/drawing/2010/main">
                  <a14:imgLayer r:embed="rId6">
                    <a14:imgEffect>
                      <a14:backgroundRemoval t="0" b="100000" l="0" r="100000">
                        <a14:foregroundMark x1="34409" y1="40361" x2="34409" y2="40361"/>
                      </a14:backgroundRemoval>
                    </a14:imgEffect>
                  </a14:imgLayer>
                </a14:imgProps>
              </a:ext>
              <a:ext uri="{28A0092B-C50C-407E-A947-70E740481C1C}">
                <a14:useLocalDpi xmlns:a14="http://schemas.microsoft.com/office/drawing/2010/main"/>
              </a:ext>
            </a:extLst>
          </a:blip>
          <a:srcRect/>
          <a:stretch/>
        </p:blipFill>
        <p:spPr>
          <a:xfrm>
            <a:off x="944881" y="3262270"/>
            <a:ext cx="426719" cy="762000"/>
          </a:xfrm>
          <a:prstGeom prst="rect">
            <a:avLst/>
          </a:prstGeom>
        </p:spPr>
      </p:pic>
      <p:pic>
        <p:nvPicPr>
          <p:cNvPr id="5" name="Picture 4"/>
          <p:cNvPicPr>
            <a:picLocks noChangeAspect="1"/>
          </p:cNvPicPr>
          <p:nvPr/>
        </p:nvPicPr>
        <p:blipFill rotWithShape="1">
          <a:blip r:embed="rId7" cstate="email">
            <a:extLst>
              <a:ext uri="{BEBA8EAE-BF5A-486C-A8C5-ECC9F3942E4B}">
                <a14:imgProps xmlns:a14="http://schemas.microsoft.com/office/drawing/2010/main">
                  <a14:imgLayer r:embed="rId6">
                    <a14:imgEffect>
                      <a14:backgroundRemoval t="0" b="100000" l="0" r="100000">
                        <a14:foregroundMark x1="50862" y1="43000" x2="50862" y2="43000"/>
                      </a14:backgroundRemoval>
                    </a14:imgEffect>
                  </a14:imgLayer>
                </a14:imgProps>
              </a:ext>
              <a:ext uri="{28A0092B-C50C-407E-A947-70E740481C1C}">
                <a14:useLocalDpi xmlns:a14="http://schemas.microsoft.com/office/drawing/2010/main"/>
              </a:ext>
            </a:extLst>
          </a:blip>
          <a:srcRect/>
          <a:stretch/>
        </p:blipFill>
        <p:spPr>
          <a:xfrm>
            <a:off x="1219200" y="3111369"/>
            <a:ext cx="530929" cy="921505"/>
          </a:xfrm>
          <a:prstGeom prst="rect">
            <a:avLst/>
          </a:prstGeom>
        </p:spPr>
      </p:pic>
      <p:pic>
        <p:nvPicPr>
          <p:cNvPr id="6" name="Picture 5"/>
          <p:cNvPicPr>
            <a:picLocks noChangeAspect="1"/>
          </p:cNvPicPr>
          <p:nvPr/>
        </p:nvPicPr>
        <p:blipFill rotWithShape="1">
          <a:blip r:embed="rId8" cstate="email">
            <a:extLst>
              <a:ext uri="{BEBA8EAE-BF5A-486C-A8C5-ECC9F3942E4B}">
                <a14:imgProps xmlns:a14="http://schemas.microsoft.com/office/drawing/2010/main">
                  <a14:imgLayer r:embed="rId6">
                    <a14:imgEffect>
                      <a14:backgroundRemoval t="394" b="100000" l="0" r="100000">
                        <a14:foregroundMark x1="49618" y1="47244" x2="49618" y2="47244"/>
                      </a14:backgroundRemoval>
                    </a14:imgEffect>
                  </a14:imgLayer>
                </a14:imgProps>
              </a:ext>
              <a:ext uri="{28A0092B-C50C-407E-A947-70E740481C1C}">
                <a14:useLocalDpi xmlns:a14="http://schemas.microsoft.com/office/drawing/2010/main"/>
              </a:ext>
            </a:extLst>
          </a:blip>
          <a:srcRect/>
          <a:stretch/>
        </p:blipFill>
        <p:spPr>
          <a:xfrm>
            <a:off x="1585983" y="2907498"/>
            <a:ext cx="603108" cy="1165123"/>
          </a:xfrm>
          <a:prstGeom prst="rect">
            <a:avLst/>
          </a:prstGeom>
        </p:spPr>
      </p:pic>
      <p:pic>
        <p:nvPicPr>
          <p:cNvPr id="8" name="Picture 7"/>
          <p:cNvPicPr>
            <a:picLocks noChangeAspect="1"/>
          </p:cNvPicPr>
          <p:nvPr/>
        </p:nvPicPr>
        <p:blipFill rotWithShape="1">
          <a:blip r:embed="rId9" cstate="email">
            <a:extLst>
              <a:ext uri="{BEBA8EAE-BF5A-486C-A8C5-ECC9F3942E4B}">
                <a14:imgProps xmlns:a14="http://schemas.microsoft.com/office/drawing/2010/main">
                  <a14:imgLayer r:embed="rId6">
                    <a14:imgEffect>
                      <a14:backgroundRemoval t="0" b="100000" l="0" r="100000">
                        <a14:foregroundMark x1="48515" y1="35772" x2="48515" y2="35772"/>
                      </a14:backgroundRemoval>
                    </a14:imgEffect>
                  </a14:imgLayer>
                </a14:imgProps>
              </a:ext>
              <a:ext uri="{28A0092B-C50C-407E-A947-70E740481C1C}">
                <a14:useLocalDpi xmlns:a14="http://schemas.microsoft.com/office/drawing/2010/main"/>
              </a:ext>
            </a:extLst>
          </a:blip>
          <a:srcRect/>
          <a:stretch/>
        </p:blipFill>
        <p:spPr>
          <a:xfrm>
            <a:off x="3421776" y="2925982"/>
            <a:ext cx="463137" cy="1128156"/>
          </a:xfrm>
          <a:prstGeom prst="rect">
            <a:avLst/>
          </a:prstGeom>
        </p:spPr>
      </p:pic>
      <p:pic>
        <p:nvPicPr>
          <p:cNvPr id="9" name="Picture 8"/>
          <p:cNvPicPr>
            <a:picLocks noChangeAspect="1"/>
          </p:cNvPicPr>
          <p:nvPr/>
        </p:nvPicPr>
        <p:blipFill rotWithShape="1">
          <a:blip r:embed="rId10" cstate="email">
            <a:extLst>
              <a:ext uri="{BEBA8EAE-BF5A-486C-A8C5-ECC9F3942E4B}">
                <a14:imgProps xmlns:a14="http://schemas.microsoft.com/office/drawing/2010/main">
                  <a14:imgLayer r:embed="rId6">
                    <a14:imgEffect>
                      <a14:backgroundRemoval t="816" b="100000" l="0" r="97196">
                        <a14:foregroundMark x1="35514" y1="32245" x2="35514" y2="32245"/>
                        <a14:foregroundMark x1="85981" y1="17959" x2="85981" y2="17959"/>
                        <a14:foregroundMark x1="89720" y1="21224" x2="89720" y2="21224"/>
                        <a14:foregroundMark x1="74766" y1="20408" x2="74766" y2="20408"/>
                      </a14:backgroundRemoval>
                    </a14:imgEffect>
                  </a14:imgLayer>
                </a14:imgProps>
              </a:ext>
              <a:ext uri="{28A0092B-C50C-407E-A947-70E740481C1C}">
                <a14:useLocalDpi xmlns:a14="http://schemas.microsoft.com/office/drawing/2010/main"/>
              </a:ext>
            </a:extLst>
          </a:blip>
          <a:srcRect r="-3766"/>
          <a:stretch/>
        </p:blipFill>
        <p:spPr>
          <a:xfrm>
            <a:off x="7946253" y="2808453"/>
            <a:ext cx="510639" cy="1125552"/>
          </a:xfrm>
          <a:prstGeom prst="rect">
            <a:avLst/>
          </a:prstGeom>
        </p:spPr>
      </p:pic>
      <p:cxnSp>
        <p:nvCxnSpPr>
          <p:cNvPr id="10" name="Straight Arrow Connector 9">
            <a:extLst>
              <a:ext uri="{FF2B5EF4-FFF2-40B4-BE49-F238E27FC236}">
                <a16:creationId xmlns="" xmlns:a16="http://schemas.microsoft.com/office/drawing/2014/main" id="{5A579F8B-2B44-8249-A691-21665A2A7161}"/>
              </a:ext>
            </a:extLst>
          </p:cNvPr>
          <p:cNvCxnSpPr>
            <a:cxnSpLocks/>
          </p:cNvCxnSpPr>
          <p:nvPr/>
        </p:nvCxnSpPr>
        <p:spPr>
          <a:xfrm>
            <a:off x="152400" y="4100323"/>
            <a:ext cx="8991600" cy="0"/>
          </a:xfrm>
          <a:prstGeom prst="straightConnector1">
            <a:avLst/>
          </a:prstGeom>
          <a:ln w="76200">
            <a:solidFill>
              <a:srgbClr val="635D85"/>
            </a:solidFill>
            <a:tailEnd type="triangle"/>
          </a:ln>
        </p:spPr>
        <p:style>
          <a:lnRef idx="1">
            <a:schemeClr val="accent2"/>
          </a:lnRef>
          <a:fillRef idx="0">
            <a:schemeClr val="accent2"/>
          </a:fillRef>
          <a:effectRef idx="0">
            <a:schemeClr val="accent2"/>
          </a:effectRef>
          <a:fontRef idx="minor">
            <a:schemeClr val="tx1"/>
          </a:fontRef>
        </p:style>
      </p:cxnSp>
      <p:sp>
        <p:nvSpPr>
          <p:cNvPr id="12" name="Oval 11">
            <a:extLst>
              <a:ext uri="{FF2B5EF4-FFF2-40B4-BE49-F238E27FC236}">
                <a16:creationId xmlns="" xmlns:a16="http://schemas.microsoft.com/office/drawing/2014/main" id="{644E204D-55E0-5F43-AFFD-7CE62AFAC18F}"/>
              </a:ext>
            </a:extLst>
          </p:cNvPr>
          <p:cNvSpPr/>
          <p:nvPr/>
        </p:nvSpPr>
        <p:spPr>
          <a:xfrm>
            <a:off x="1215278"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13" name="TextBox 12">
            <a:extLst>
              <a:ext uri="{FF2B5EF4-FFF2-40B4-BE49-F238E27FC236}">
                <a16:creationId xmlns="" xmlns:a16="http://schemas.microsoft.com/office/drawing/2014/main" id="{66DDB09F-2A8F-A64F-990D-48FB4C45879B}"/>
              </a:ext>
            </a:extLst>
          </p:cNvPr>
          <p:cNvSpPr txBox="1"/>
          <p:nvPr/>
        </p:nvSpPr>
        <p:spPr>
          <a:xfrm>
            <a:off x="709407"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2.5M ago</a:t>
            </a:r>
            <a:endParaRPr lang="en-US" sz="1600" b="1" dirty="0">
              <a:solidFill>
                <a:srgbClr val="000000"/>
              </a:solidFill>
              <a:latin typeface="Century Gothic" charset="0"/>
              <a:ea typeface="Century Gothic" charset="0"/>
              <a:cs typeface="Century Gothic" charset="0"/>
            </a:endParaRPr>
          </a:p>
        </p:txBody>
      </p:sp>
      <p:sp>
        <p:nvSpPr>
          <p:cNvPr id="14" name="TextBox 13">
            <a:extLst>
              <a:ext uri="{FF2B5EF4-FFF2-40B4-BE49-F238E27FC236}">
                <a16:creationId xmlns="" xmlns:a16="http://schemas.microsoft.com/office/drawing/2014/main" id="{61E1DDB9-2070-954C-99FC-35529870FDD6}"/>
              </a:ext>
            </a:extLst>
          </p:cNvPr>
          <p:cNvSpPr txBox="1"/>
          <p:nvPr/>
        </p:nvSpPr>
        <p:spPr>
          <a:xfrm>
            <a:off x="0" y="4484721"/>
            <a:ext cx="2530435" cy="584775"/>
          </a:xfrm>
          <a:prstGeom prst="rect">
            <a:avLst/>
          </a:prstGeom>
          <a:noFill/>
        </p:spPr>
        <p:txBody>
          <a:bodyPr wrap="square" rtlCol="0">
            <a:spAutoFit/>
          </a:bodyPr>
          <a:lstStyle/>
          <a:p>
            <a:pPr algn="ctr" eaLnBrk="0" fontAlgn="base" hangingPunct="0">
              <a:spcBef>
                <a:spcPct val="0"/>
              </a:spcBef>
              <a:spcAft>
                <a:spcPct val="0"/>
              </a:spcAft>
            </a:pPr>
            <a:r>
              <a:rPr lang="en-US" sz="1600" dirty="0">
                <a:solidFill>
                  <a:srgbClr val="000000"/>
                </a:solidFill>
                <a:latin typeface="Century Gothic" panose="020B0502020202020204" pitchFamily="34" charset="0"/>
              </a:rPr>
              <a:t>Multiple species of humans appeared</a:t>
            </a:r>
          </a:p>
        </p:txBody>
      </p:sp>
      <p:grpSp>
        <p:nvGrpSpPr>
          <p:cNvPr id="21" name="Group 20"/>
          <p:cNvGrpSpPr/>
          <p:nvPr/>
        </p:nvGrpSpPr>
        <p:grpSpPr>
          <a:xfrm>
            <a:off x="4926946" y="2892367"/>
            <a:ext cx="635533" cy="1161771"/>
            <a:chOff x="3696719" y="997528"/>
            <a:chExt cx="635533" cy="1161771"/>
          </a:xfrm>
        </p:grpSpPr>
        <p:pic>
          <p:nvPicPr>
            <p:cNvPr id="7" name="Picture 6"/>
            <p:cNvPicPr>
              <a:picLocks noChangeAspect="1"/>
            </p:cNvPicPr>
            <p:nvPr/>
          </p:nvPicPr>
          <p:blipFill rotWithShape="1">
            <a:blip r:embed="rId11" cstate="email">
              <a:extLst>
                <a:ext uri="{BEBA8EAE-BF5A-486C-A8C5-ECC9F3942E4B}">
                  <a14:imgProps xmlns:a14="http://schemas.microsoft.com/office/drawing/2010/main">
                    <a14:imgLayer r:embed="rId6">
                      <a14:imgEffect>
                        <a14:backgroundRemoval t="0" b="100000" l="0" r="100000">
                          <a14:foregroundMark x1="48515" y1="34387" x2="48515" y2="34387"/>
                        </a14:backgroundRemoval>
                      </a14:imgEffect>
                    </a14:imgLayer>
                  </a14:imgProps>
                </a:ext>
                <a:ext uri="{28A0092B-C50C-407E-A947-70E740481C1C}">
                  <a14:useLocalDpi xmlns:a14="http://schemas.microsoft.com/office/drawing/2010/main"/>
                </a:ext>
              </a:extLst>
            </a:blip>
            <a:srcRect/>
            <a:stretch/>
          </p:blipFill>
          <p:spPr>
            <a:xfrm>
              <a:off x="3696719" y="997528"/>
              <a:ext cx="463137" cy="1161771"/>
            </a:xfrm>
            <a:prstGeom prst="rect">
              <a:avLst/>
            </a:prstGeom>
          </p:spPr>
        </p:pic>
        <p:pic>
          <p:nvPicPr>
            <p:cNvPr id="20" name="Picture 19"/>
            <p:cNvPicPr>
              <a:picLocks noChangeAspect="1"/>
            </p:cNvPicPr>
            <p:nvPr/>
          </p:nvPicPr>
          <p:blipFill rotWithShape="1">
            <a:blip r:embed="rId1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rot="989125">
              <a:off x="3987458" y="1253614"/>
              <a:ext cx="344794" cy="281667"/>
            </a:xfrm>
            <a:prstGeom prst="rect">
              <a:avLst/>
            </a:prstGeom>
          </p:spPr>
        </p:pic>
      </p:grpSp>
      <p:sp>
        <p:nvSpPr>
          <p:cNvPr id="22" name="Oval 21">
            <a:extLst>
              <a:ext uri="{FF2B5EF4-FFF2-40B4-BE49-F238E27FC236}">
                <a16:creationId xmlns="" xmlns:a16="http://schemas.microsoft.com/office/drawing/2014/main" id="{644E204D-55E0-5F43-AFFD-7CE62AFAC18F}"/>
              </a:ext>
            </a:extLst>
          </p:cNvPr>
          <p:cNvSpPr/>
          <p:nvPr/>
        </p:nvSpPr>
        <p:spPr>
          <a:xfrm>
            <a:off x="6604512"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3" name="TextBox 22">
            <a:extLst>
              <a:ext uri="{FF2B5EF4-FFF2-40B4-BE49-F238E27FC236}">
                <a16:creationId xmlns="" xmlns:a16="http://schemas.microsoft.com/office/drawing/2014/main" id="{66DDB09F-2A8F-A64F-990D-48FB4C45879B}"/>
              </a:ext>
            </a:extLst>
          </p:cNvPr>
          <p:cNvSpPr txBox="1"/>
          <p:nvPr/>
        </p:nvSpPr>
        <p:spPr>
          <a:xfrm>
            <a:off x="4602992"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12K ago</a:t>
            </a:r>
            <a:endParaRPr lang="en-US" sz="1600" b="1" dirty="0">
              <a:solidFill>
                <a:srgbClr val="000000"/>
              </a:solidFill>
              <a:latin typeface="Century Gothic" charset="0"/>
              <a:ea typeface="Century Gothic" charset="0"/>
              <a:cs typeface="Century Gothic" charset="0"/>
            </a:endParaRPr>
          </a:p>
        </p:txBody>
      </p:sp>
      <p:sp>
        <p:nvSpPr>
          <p:cNvPr id="24" name="TextBox 23">
            <a:extLst>
              <a:ext uri="{FF2B5EF4-FFF2-40B4-BE49-F238E27FC236}">
                <a16:creationId xmlns="" xmlns:a16="http://schemas.microsoft.com/office/drawing/2014/main" id="{61E1DDB9-2070-954C-99FC-35529870FDD6}"/>
              </a:ext>
            </a:extLst>
          </p:cNvPr>
          <p:cNvSpPr txBox="1"/>
          <p:nvPr/>
        </p:nvSpPr>
        <p:spPr>
          <a:xfrm>
            <a:off x="4404758"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Agricultural revolution</a:t>
            </a:r>
          </a:p>
        </p:txBody>
      </p:sp>
      <p:sp>
        <p:nvSpPr>
          <p:cNvPr id="25" name="Oval 24">
            <a:extLst>
              <a:ext uri="{FF2B5EF4-FFF2-40B4-BE49-F238E27FC236}">
                <a16:creationId xmlns="" xmlns:a16="http://schemas.microsoft.com/office/drawing/2014/main" id="{644E204D-55E0-5F43-AFFD-7CE62AFAC18F}"/>
              </a:ext>
            </a:extLst>
          </p:cNvPr>
          <p:cNvSpPr/>
          <p:nvPr/>
        </p:nvSpPr>
        <p:spPr>
          <a:xfrm>
            <a:off x="8110133"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6" name="Oval 25">
            <a:extLst>
              <a:ext uri="{FF2B5EF4-FFF2-40B4-BE49-F238E27FC236}">
                <a16:creationId xmlns="" xmlns:a16="http://schemas.microsoft.com/office/drawing/2014/main" id="{644E204D-55E0-5F43-AFFD-7CE62AFAC18F}"/>
              </a:ext>
            </a:extLst>
          </p:cNvPr>
          <p:cNvSpPr/>
          <p:nvPr/>
        </p:nvSpPr>
        <p:spPr>
          <a:xfrm>
            <a:off x="3593268"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27" name="TextBox 26">
            <a:extLst>
              <a:ext uri="{FF2B5EF4-FFF2-40B4-BE49-F238E27FC236}">
                <a16:creationId xmlns="" xmlns:a16="http://schemas.microsoft.com/office/drawing/2014/main" id="{66DDB09F-2A8F-A64F-990D-48FB4C45879B}"/>
              </a:ext>
            </a:extLst>
          </p:cNvPr>
          <p:cNvSpPr txBox="1"/>
          <p:nvPr/>
        </p:nvSpPr>
        <p:spPr>
          <a:xfrm>
            <a:off x="7571075"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Now</a:t>
            </a:r>
            <a:endParaRPr lang="en-US" sz="1600" b="1" dirty="0">
              <a:solidFill>
                <a:srgbClr val="000000"/>
              </a:solidFill>
              <a:latin typeface="Century Gothic" charset="0"/>
              <a:ea typeface="Century Gothic" charset="0"/>
              <a:cs typeface="Century Gothic" charset="0"/>
            </a:endParaRPr>
          </a:p>
        </p:txBody>
      </p:sp>
      <p:sp>
        <p:nvSpPr>
          <p:cNvPr id="28" name="TextBox 27">
            <a:extLst>
              <a:ext uri="{FF2B5EF4-FFF2-40B4-BE49-F238E27FC236}">
                <a16:creationId xmlns="" xmlns:a16="http://schemas.microsoft.com/office/drawing/2014/main" id="{61E1DDB9-2070-954C-99FC-35529870FDD6}"/>
              </a:ext>
            </a:extLst>
          </p:cNvPr>
          <p:cNvSpPr txBox="1"/>
          <p:nvPr/>
        </p:nvSpPr>
        <p:spPr>
          <a:xfrm>
            <a:off x="7571075"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Computer</a:t>
            </a:r>
          </a:p>
          <a:p>
            <a:pPr algn="ctr" eaLnBrk="0" fontAlgn="base" hangingPunct="0">
              <a:spcBef>
                <a:spcPct val="0"/>
              </a:spcBef>
              <a:spcAft>
                <a:spcPct val="0"/>
              </a:spcAft>
            </a:pPr>
            <a:r>
              <a:rPr lang="en-US" dirty="0">
                <a:solidFill>
                  <a:srgbClr val="000000"/>
                </a:solidFill>
                <a:latin typeface="Century Gothic" panose="020B0502020202020204" pitchFamily="34" charset="0"/>
              </a:rPr>
              <a:t>revolution</a:t>
            </a:r>
          </a:p>
        </p:txBody>
      </p:sp>
      <p:sp>
        <p:nvSpPr>
          <p:cNvPr id="29" name="Oval 28">
            <a:extLst>
              <a:ext uri="{FF2B5EF4-FFF2-40B4-BE49-F238E27FC236}">
                <a16:creationId xmlns="" xmlns:a16="http://schemas.microsoft.com/office/drawing/2014/main" id="{644E204D-55E0-5F43-AFFD-7CE62AFAC18F}"/>
              </a:ext>
            </a:extLst>
          </p:cNvPr>
          <p:cNvSpPr/>
          <p:nvPr/>
        </p:nvSpPr>
        <p:spPr>
          <a:xfrm>
            <a:off x="5098890" y="3993497"/>
            <a:ext cx="182880" cy="182880"/>
          </a:xfrm>
          <a:prstGeom prst="ellipse">
            <a:avLst/>
          </a:prstGeom>
          <a:solidFill>
            <a:srgbClr val="635D85"/>
          </a:solidFill>
          <a:ln>
            <a:solidFill>
              <a:srgbClr val="635D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050" dirty="0">
              <a:solidFill>
                <a:srgbClr val="000000"/>
              </a:solidFill>
            </a:endParaRPr>
          </a:p>
        </p:txBody>
      </p:sp>
      <p:sp>
        <p:nvSpPr>
          <p:cNvPr id="31" name="TextBox 30">
            <a:extLst>
              <a:ext uri="{FF2B5EF4-FFF2-40B4-BE49-F238E27FC236}">
                <a16:creationId xmlns="" xmlns:a16="http://schemas.microsoft.com/office/drawing/2014/main" id="{66DDB09F-2A8F-A64F-990D-48FB4C45879B}"/>
              </a:ext>
            </a:extLst>
          </p:cNvPr>
          <p:cNvSpPr txBox="1"/>
          <p:nvPr/>
        </p:nvSpPr>
        <p:spPr>
          <a:xfrm>
            <a:off x="6047190"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500 ago</a:t>
            </a:r>
            <a:endParaRPr lang="en-US" sz="1600" b="1" dirty="0">
              <a:solidFill>
                <a:srgbClr val="000000"/>
              </a:solidFill>
              <a:latin typeface="Century Gothic" charset="0"/>
              <a:ea typeface="Century Gothic" charset="0"/>
              <a:cs typeface="Century Gothic" charset="0"/>
            </a:endParaRPr>
          </a:p>
        </p:txBody>
      </p:sp>
      <p:sp>
        <p:nvSpPr>
          <p:cNvPr id="32" name="TextBox 31">
            <a:extLst>
              <a:ext uri="{FF2B5EF4-FFF2-40B4-BE49-F238E27FC236}">
                <a16:creationId xmlns="" xmlns:a16="http://schemas.microsoft.com/office/drawing/2014/main" id="{61E1DDB9-2070-954C-99FC-35529870FDD6}"/>
              </a:ext>
            </a:extLst>
          </p:cNvPr>
          <p:cNvSpPr txBox="1"/>
          <p:nvPr/>
        </p:nvSpPr>
        <p:spPr>
          <a:xfrm>
            <a:off x="5848956"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Scientific revolution</a:t>
            </a:r>
          </a:p>
        </p:txBody>
      </p:sp>
      <p:cxnSp>
        <p:nvCxnSpPr>
          <p:cNvPr id="44" name="Elbow Connector 43"/>
          <p:cNvCxnSpPr>
            <a:cxnSpLocks/>
          </p:cNvCxnSpPr>
          <p:nvPr/>
        </p:nvCxnSpPr>
        <p:spPr>
          <a:xfrm>
            <a:off x="4140794" y="4121588"/>
            <a:ext cx="1557188" cy="1432386"/>
          </a:xfrm>
          <a:prstGeom prst="bentConnector3">
            <a:avLst>
              <a:gd name="adj1" fmla="val 17377"/>
            </a:avLst>
          </a:prstGeom>
          <a:ln w="38100">
            <a:solidFill>
              <a:srgbClr val="635D85"/>
            </a:solidFill>
            <a:prstDash val="sysDot"/>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 xmlns:a16="http://schemas.microsoft.com/office/drawing/2014/main" id="{61E1DDB9-2070-954C-99FC-35529870FDD6}"/>
              </a:ext>
            </a:extLst>
          </p:cNvPr>
          <p:cNvSpPr txBox="1"/>
          <p:nvPr/>
        </p:nvSpPr>
        <p:spPr>
          <a:xfrm>
            <a:off x="3887226" y="5732453"/>
            <a:ext cx="3028736"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Other species of humans </a:t>
            </a:r>
          </a:p>
          <a:p>
            <a:pPr algn="ctr" eaLnBrk="0" fontAlgn="base" hangingPunct="0">
              <a:spcBef>
                <a:spcPct val="0"/>
              </a:spcBef>
              <a:spcAft>
                <a:spcPct val="0"/>
              </a:spcAft>
            </a:pPr>
            <a:r>
              <a:rPr lang="en-US" dirty="0">
                <a:solidFill>
                  <a:srgbClr val="000000"/>
                </a:solidFill>
                <a:latin typeface="Century Gothic" panose="020B0502020202020204" pitchFamily="34" charset="0"/>
              </a:rPr>
              <a:t>disappeared</a:t>
            </a:r>
          </a:p>
        </p:txBody>
      </p:sp>
      <p:sp>
        <p:nvSpPr>
          <p:cNvPr id="52" name="TextBox 51">
            <a:extLst>
              <a:ext uri="{FF2B5EF4-FFF2-40B4-BE49-F238E27FC236}">
                <a16:creationId xmlns="" xmlns:a16="http://schemas.microsoft.com/office/drawing/2014/main" id="{508543FF-0647-0F41-8188-8C143161A17D}"/>
              </a:ext>
            </a:extLst>
          </p:cNvPr>
          <p:cNvSpPr txBox="1"/>
          <p:nvPr/>
        </p:nvSpPr>
        <p:spPr>
          <a:xfrm>
            <a:off x="250725" y="367549"/>
            <a:ext cx="8683526" cy="523220"/>
          </a:xfrm>
          <a:prstGeom prst="rect">
            <a:avLst/>
          </a:prstGeom>
          <a:noFill/>
        </p:spPr>
        <p:txBody>
          <a:bodyPr wrap="square" rtlCol="0">
            <a:spAutoFit/>
          </a:bodyPr>
          <a:lstStyle/>
          <a:p>
            <a:pPr algn="ctr" eaLnBrk="0" fontAlgn="base" hangingPunct="0">
              <a:spcBef>
                <a:spcPct val="0"/>
              </a:spcBef>
              <a:spcAft>
                <a:spcPct val="0"/>
              </a:spcAft>
            </a:pPr>
            <a:r>
              <a:rPr lang="en-US" sz="2800" dirty="0">
                <a:solidFill>
                  <a:srgbClr val="000000"/>
                </a:solidFill>
                <a:latin typeface="Century Gothic" charset="0"/>
                <a:ea typeface="Century Gothic" charset="0"/>
                <a:cs typeface="Century Gothic" charset="0"/>
              </a:rPr>
              <a:t>Why did Homo sapiens suddenly flood the earth?</a:t>
            </a:r>
          </a:p>
        </p:txBody>
      </p:sp>
      <p:sp>
        <p:nvSpPr>
          <p:cNvPr id="53" name="TextBox 52">
            <a:extLst>
              <a:ext uri="{FF2B5EF4-FFF2-40B4-BE49-F238E27FC236}">
                <a16:creationId xmlns="" xmlns:a16="http://schemas.microsoft.com/office/drawing/2014/main" id="{66DDB09F-2A8F-A64F-990D-48FB4C45879B}"/>
              </a:ext>
            </a:extLst>
          </p:cNvPr>
          <p:cNvSpPr txBox="1"/>
          <p:nvPr/>
        </p:nvSpPr>
        <p:spPr>
          <a:xfrm>
            <a:off x="3055076" y="4159166"/>
            <a:ext cx="1269191" cy="338554"/>
          </a:xfrm>
          <a:prstGeom prst="rect">
            <a:avLst/>
          </a:prstGeom>
          <a:noFill/>
        </p:spPr>
        <p:txBody>
          <a:bodyPr wrap="square" rtlCol="0">
            <a:spAutoFit/>
          </a:bodyPr>
          <a:lstStyle/>
          <a:p>
            <a:pPr algn="ctr" eaLnBrk="0" fontAlgn="base" hangingPunct="0">
              <a:spcBef>
                <a:spcPct val="0"/>
              </a:spcBef>
              <a:spcAft>
                <a:spcPct val="0"/>
              </a:spcAft>
            </a:pPr>
            <a:r>
              <a:rPr lang="en-US" altLang="zh-CN" sz="1600" b="1" dirty="0">
                <a:solidFill>
                  <a:srgbClr val="000000"/>
                </a:solidFill>
                <a:latin typeface="Century Gothic" charset="0"/>
                <a:ea typeface="Century Gothic" charset="0"/>
                <a:cs typeface="Century Gothic" charset="0"/>
              </a:rPr>
              <a:t>70K ago</a:t>
            </a:r>
            <a:endParaRPr lang="en-US" sz="1600" b="1" dirty="0">
              <a:solidFill>
                <a:srgbClr val="000000"/>
              </a:solidFill>
              <a:latin typeface="Century Gothic" charset="0"/>
              <a:ea typeface="Century Gothic" charset="0"/>
              <a:cs typeface="Century Gothic" charset="0"/>
            </a:endParaRPr>
          </a:p>
        </p:txBody>
      </p:sp>
      <p:sp>
        <p:nvSpPr>
          <p:cNvPr id="54" name="TextBox 53">
            <a:extLst>
              <a:ext uri="{FF2B5EF4-FFF2-40B4-BE49-F238E27FC236}">
                <a16:creationId xmlns="" xmlns:a16="http://schemas.microsoft.com/office/drawing/2014/main" id="{61E1DDB9-2070-954C-99FC-35529870FDD6}"/>
              </a:ext>
            </a:extLst>
          </p:cNvPr>
          <p:cNvSpPr txBox="1"/>
          <p:nvPr/>
        </p:nvSpPr>
        <p:spPr>
          <a:xfrm>
            <a:off x="2856842" y="4484721"/>
            <a:ext cx="1571143" cy="646331"/>
          </a:xfrm>
          <a:prstGeom prst="rect">
            <a:avLst/>
          </a:prstGeom>
          <a:noFill/>
        </p:spPr>
        <p:txBody>
          <a:bodyPr wrap="square" rtlCol="0">
            <a:spAutoFit/>
          </a:bodyPr>
          <a:lstStyle/>
          <a:p>
            <a:pPr algn="ctr" eaLnBrk="0" fontAlgn="base" hangingPunct="0">
              <a:spcBef>
                <a:spcPct val="0"/>
              </a:spcBef>
              <a:spcAft>
                <a:spcPct val="0"/>
              </a:spcAft>
            </a:pPr>
            <a:r>
              <a:rPr lang="en-US" dirty="0">
                <a:solidFill>
                  <a:srgbClr val="000000"/>
                </a:solidFill>
                <a:latin typeface="Century Gothic" panose="020B0502020202020204" pitchFamily="34" charset="0"/>
              </a:rPr>
              <a:t>Cognitive</a:t>
            </a:r>
          </a:p>
          <a:p>
            <a:pPr algn="ctr" eaLnBrk="0" fontAlgn="base" hangingPunct="0">
              <a:spcBef>
                <a:spcPct val="0"/>
              </a:spcBef>
              <a:spcAft>
                <a:spcPct val="0"/>
              </a:spcAft>
            </a:pPr>
            <a:r>
              <a:rPr lang="en-US" dirty="0">
                <a:solidFill>
                  <a:srgbClr val="000000"/>
                </a:solidFill>
                <a:latin typeface="Century Gothic" panose="020B0502020202020204" pitchFamily="34" charset="0"/>
              </a:rPr>
              <a:t>revolution</a:t>
            </a:r>
          </a:p>
        </p:txBody>
      </p:sp>
      <p:pic>
        <p:nvPicPr>
          <p:cNvPr id="55" name="Picture 54"/>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3725032" y="2853112"/>
            <a:ext cx="390024" cy="390024"/>
          </a:xfrm>
          <a:prstGeom prst="rect">
            <a:avLst/>
          </a:prstGeom>
        </p:spPr>
      </p:pic>
      <p:sp>
        <p:nvSpPr>
          <p:cNvPr id="56" name="TextBox 55">
            <a:extLst>
              <a:ext uri="{FF2B5EF4-FFF2-40B4-BE49-F238E27FC236}">
                <a16:creationId xmlns="" xmlns:a16="http://schemas.microsoft.com/office/drawing/2014/main" id="{104AC1A0-2034-7F47-B329-CD504622B2C5}"/>
              </a:ext>
            </a:extLst>
          </p:cNvPr>
          <p:cNvSpPr txBox="1"/>
          <p:nvPr/>
        </p:nvSpPr>
        <p:spPr>
          <a:xfrm>
            <a:off x="2133600" y="1339435"/>
            <a:ext cx="5029200" cy="523220"/>
          </a:xfrm>
          <a:prstGeom prst="rect">
            <a:avLst/>
          </a:prstGeom>
          <a:noFill/>
        </p:spPr>
        <p:txBody>
          <a:bodyPr wrap="square" rtlCol="0">
            <a:spAutoFit/>
          </a:bodyPr>
          <a:lstStyle/>
          <a:p>
            <a:pPr algn="ctr" eaLnBrk="0" fontAlgn="base" hangingPunct="0">
              <a:spcBef>
                <a:spcPct val="0"/>
              </a:spcBef>
              <a:spcAft>
                <a:spcPct val="0"/>
              </a:spcAft>
            </a:pPr>
            <a:r>
              <a:rPr lang="en-US" sz="2800" dirty="0">
                <a:solidFill>
                  <a:srgbClr val="000000"/>
                </a:solidFill>
                <a:latin typeface="Century Gothic" charset="0"/>
                <a:ea typeface="Century Gothic" charset="0"/>
                <a:cs typeface="Century Gothic" charset="0"/>
              </a:rPr>
              <a:t>Natural language!</a:t>
            </a:r>
          </a:p>
        </p:txBody>
      </p:sp>
      <p:grpSp>
        <p:nvGrpSpPr>
          <p:cNvPr id="36" name="Group 35">
            <a:extLst>
              <a:ext uri="{FF2B5EF4-FFF2-40B4-BE49-F238E27FC236}">
                <a16:creationId xmlns="" xmlns:a16="http://schemas.microsoft.com/office/drawing/2014/main" id="{9342745D-F475-944D-A2DB-6068EF0F3B18}"/>
              </a:ext>
            </a:extLst>
          </p:cNvPr>
          <p:cNvGrpSpPr/>
          <p:nvPr/>
        </p:nvGrpSpPr>
        <p:grpSpPr>
          <a:xfrm>
            <a:off x="6424543" y="2808453"/>
            <a:ext cx="787634" cy="1125552"/>
            <a:chOff x="6324600" y="2133600"/>
            <a:chExt cx="787634" cy="1125552"/>
          </a:xfrm>
        </p:grpSpPr>
        <p:pic>
          <p:nvPicPr>
            <p:cNvPr id="37" name="Picture 36">
              <a:extLst>
                <a:ext uri="{FF2B5EF4-FFF2-40B4-BE49-F238E27FC236}">
                  <a16:creationId xmlns="" xmlns:a16="http://schemas.microsoft.com/office/drawing/2014/main" id="{2295C0F6-1684-F743-981C-6BC503C08390}"/>
                </a:ext>
              </a:extLst>
            </p:cNvPr>
            <p:cNvPicPr>
              <a:picLocks noChangeAspect="1"/>
            </p:cNvPicPr>
            <p:nvPr/>
          </p:nvPicPr>
          <p:blipFill rotWithShape="1">
            <a:blip r:embed="rId14" cstate="email">
              <a:extLst>
                <a:ext uri="{BEBA8EAE-BF5A-486C-A8C5-ECC9F3942E4B}">
                  <a14:imgProps xmlns:a14="http://schemas.microsoft.com/office/drawing/2010/main">
                    <a14:imgLayer r:embed="rId6">
                      <a14:imgEffect>
                        <a14:backgroundRemoval t="816" b="100000" l="0" r="97196">
                          <a14:foregroundMark x1="35514" y1="32245" x2="35514" y2="32245"/>
                          <a14:foregroundMark x1="85981" y1="17959" x2="85981" y2="17959"/>
                          <a14:foregroundMark x1="74766" y1="20408" x2="74766" y2="20408"/>
                          <a14:foregroundMark x1="83178" y1="26531" x2="83178" y2="26531"/>
                          <a14:foregroundMark x1="84112" y1="26531" x2="84112" y2="26531"/>
                          <a14:foregroundMark x1="83178" y1="25306" x2="83178" y2="25306"/>
                          <a14:backgroundMark x1="84112" y1="20816" x2="84112" y2="20816"/>
                          <a14:backgroundMark x1="84112" y1="17551" x2="84112" y2="17551"/>
                          <a14:backgroundMark x1="87850" y1="17551" x2="87850" y2="17551"/>
                          <a14:backgroundMark x1="86916" y1="22857" x2="86916" y2="22857"/>
                          <a14:backgroundMark x1="85047" y1="22857" x2="89720" y2="24898"/>
                          <a14:backgroundMark x1="85047" y1="23265" x2="85047" y2="23265"/>
                        </a14:backgroundRemoval>
                      </a14:imgEffect>
                    </a14:imgLayer>
                  </a14:imgProps>
                </a:ext>
                <a:ext uri="{28A0092B-C50C-407E-A947-70E740481C1C}">
                  <a14:useLocalDpi xmlns:a14="http://schemas.microsoft.com/office/drawing/2010/main"/>
                </a:ext>
              </a:extLst>
            </a:blip>
            <a:srcRect r="-3766"/>
            <a:stretch/>
          </p:blipFill>
          <p:spPr>
            <a:xfrm>
              <a:off x="6324600" y="2133600"/>
              <a:ext cx="510639" cy="1125552"/>
            </a:xfrm>
            <a:prstGeom prst="rect">
              <a:avLst/>
            </a:prstGeom>
          </p:spPr>
        </p:pic>
        <p:pic>
          <p:nvPicPr>
            <p:cNvPr id="38" name="Picture 37">
              <a:extLst>
                <a:ext uri="{FF2B5EF4-FFF2-40B4-BE49-F238E27FC236}">
                  <a16:creationId xmlns="" xmlns:a16="http://schemas.microsoft.com/office/drawing/2014/main" id="{0031334A-A926-3044-8DF5-49BE65730798}"/>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6666727" y="2270234"/>
              <a:ext cx="445507" cy="386106"/>
            </a:xfrm>
            <a:prstGeom prst="rect">
              <a:avLst/>
            </a:prstGeom>
          </p:spPr>
        </p:pic>
      </p:grpSp>
      <p:pic>
        <p:nvPicPr>
          <p:cNvPr id="39" name="Picture 38">
            <a:extLst>
              <a:ext uri="{FF2B5EF4-FFF2-40B4-BE49-F238E27FC236}">
                <a16:creationId xmlns="" xmlns:a16="http://schemas.microsoft.com/office/drawing/2014/main" id="{83A306A2-1EA1-F94C-AAB0-C3C994C98DAB}"/>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500347" y="895335"/>
            <a:ext cx="1742506" cy="1939990"/>
          </a:xfrm>
          <a:prstGeom prst="rect">
            <a:avLst/>
          </a:prstGeom>
          <a:effectLst>
            <a:softEdge rad="0"/>
          </a:effectLst>
        </p:spPr>
      </p:pic>
    </p:spTree>
    <p:extLst>
      <p:ext uri="{BB962C8B-B14F-4D97-AF65-F5344CB8AC3E}">
        <p14:creationId xmlns:p14="http://schemas.microsoft.com/office/powerpoint/2010/main" val="1334180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53"/>
                                        </p:tgtEl>
                                        <p:attrNameLst>
                                          <p:attrName>style.visibility</p:attrName>
                                        </p:attrNameLst>
                                      </p:cBhvr>
                                      <p:to>
                                        <p:strVal val="visible"/>
                                      </p:to>
                                    </p:set>
                                    <p:animEffect transition="in" filter="wipe(left)">
                                      <p:cBhvr>
                                        <p:cTn id="40" dur="500"/>
                                        <p:tgtEl>
                                          <p:spTgt spid="53"/>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500"/>
                                        <p:tgtEl>
                                          <p:spTgt spid="52"/>
                                        </p:tgtEl>
                                      </p:cBhvr>
                                    </p:animEffect>
                                  </p:childTnLst>
                                </p:cTn>
                              </p:par>
                            </p:childTnLst>
                          </p:cTn>
                        </p:par>
                        <p:par>
                          <p:cTn id="47" fill="hold">
                            <p:stCondLst>
                              <p:cond delay="500"/>
                            </p:stCondLst>
                            <p:childTnLst>
                              <p:par>
                                <p:cTn id="48" presetID="22" presetClass="entr" presetSubtype="8" fill="hold" grpId="0"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500"/>
                                        <p:tgtEl>
                                          <p:spTgt spid="2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left)">
                                      <p:cBhvr>
                                        <p:cTn id="53" dur="500"/>
                                        <p:tgtEl>
                                          <p:spTgt spid="2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par>
                                <p:cTn id="57" presetID="22" presetClass="entr" presetSubtype="8" fill="hold"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wipe(left)">
                                      <p:cBhvr>
                                        <p:cTn id="59" dur="500"/>
                                        <p:tgtEl>
                                          <p:spTgt spid="21"/>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500"/>
                                        <p:tgtEl>
                                          <p:spTgt spid="22"/>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wipe(left)">
                                      <p:cBhvr>
                                        <p:cTn id="66" dur="500"/>
                                        <p:tgtEl>
                                          <p:spTgt spid="31"/>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500"/>
                                        <p:tgtEl>
                                          <p:spTgt spid="32"/>
                                        </p:tgtEl>
                                      </p:cBhvr>
                                    </p:animEffect>
                                  </p:childTnLst>
                                </p:cTn>
                              </p:par>
                              <p:par>
                                <p:cTn id="70" presetID="22" presetClass="entr" presetSubtype="8"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wipe(left)">
                                      <p:cBhvr>
                                        <p:cTn id="72" dur="500"/>
                                        <p:tgtEl>
                                          <p:spTgt spid="36"/>
                                        </p:tgtEl>
                                      </p:cBhvr>
                                    </p:animEffect>
                                  </p:childTnLst>
                                </p:cTn>
                              </p:par>
                            </p:childTnLst>
                          </p:cTn>
                        </p:par>
                        <p:par>
                          <p:cTn id="73" fill="hold">
                            <p:stCondLst>
                              <p:cond delay="1500"/>
                            </p:stCondLst>
                            <p:childTnLst>
                              <p:par>
                                <p:cTn id="74" presetID="22" presetClass="entr" presetSubtype="8"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ipe(left)">
                                      <p:cBhvr>
                                        <p:cTn id="76" dur="500"/>
                                        <p:tgtEl>
                                          <p:spTgt spid="25"/>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wipe(left)">
                                      <p:cBhvr>
                                        <p:cTn id="82" dur="500"/>
                                        <p:tgtEl>
                                          <p:spTgt spid="27"/>
                                        </p:tgtEl>
                                      </p:cBhvr>
                                    </p:animEffect>
                                  </p:childTnLst>
                                </p:cTn>
                              </p:par>
                              <p:par>
                                <p:cTn id="83" presetID="22" presetClass="entr" presetSubtype="8" fill="hold" nodeType="withEffect">
                                  <p:stCondLst>
                                    <p:cond delay="0"/>
                                  </p:stCondLst>
                                  <p:childTnLst>
                                    <p:set>
                                      <p:cBhvr>
                                        <p:cTn id="84" dur="1" fill="hold">
                                          <p:stCondLst>
                                            <p:cond delay="0"/>
                                          </p:stCondLst>
                                        </p:cTn>
                                        <p:tgtEl>
                                          <p:spTgt spid="9"/>
                                        </p:tgtEl>
                                        <p:attrNameLst>
                                          <p:attrName>style.visibility</p:attrName>
                                        </p:attrNameLst>
                                      </p:cBhvr>
                                      <p:to>
                                        <p:strVal val="visible"/>
                                      </p:to>
                                    </p:set>
                                    <p:animEffect transition="in" filter="wipe(left)">
                                      <p:cBhvr>
                                        <p:cTn id="85" dur="500"/>
                                        <p:tgtEl>
                                          <p:spTgt spid="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44"/>
                                        </p:tgtEl>
                                        <p:attrNameLst>
                                          <p:attrName>style.visibility</p:attrName>
                                        </p:attrNameLst>
                                      </p:cBhvr>
                                      <p:to>
                                        <p:strVal val="visible"/>
                                      </p:to>
                                    </p:set>
                                    <p:animEffect transition="in" filter="wipe(left)">
                                      <p:cBhvr>
                                        <p:cTn id="90" dur="500"/>
                                        <p:tgtEl>
                                          <p:spTgt spid="44"/>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50"/>
                                        </p:tgtEl>
                                        <p:attrNameLst>
                                          <p:attrName>style.visibility</p:attrName>
                                        </p:attrNameLst>
                                      </p:cBhvr>
                                      <p:to>
                                        <p:strVal val="visible"/>
                                      </p:to>
                                    </p:set>
                                    <p:animEffect transition="in" filter="wipe(left)">
                                      <p:cBhvr>
                                        <p:cTn id="93" dur="500"/>
                                        <p:tgtEl>
                                          <p:spTgt spid="50"/>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54"/>
                                        </p:tgtEl>
                                        <p:attrNameLst>
                                          <p:attrName>style.visibility</p:attrName>
                                        </p:attrNameLst>
                                      </p:cBhvr>
                                      <p:to>
                                        <p:strVal val="visible"/>
                                      </p:to>
                                    </p:set>
                                    <p:anim calcmode="lin" valueType="num">
                                      <p:cBhvr>
                                        <p:cTn id="98" dur="500" fill="hold"/>
                                        <p:tgtEl>
                                          <p:spTgt spid="54"/>
                                        </p:tgtEl>
                                        <p:attrNameLst>
                                          <p:attrName>ppt_w</p:attrName>
                                        </p:attrNameLst>
                                      </p:cBhvr>
                                      <p:tavLst>
                                        <p:tav tm="0">
                                          <p:val>
                                            <p:fltVal val="0"/>
                                          </p:val>
                                        </p:tav>
                                        <p:tav tm="100000">
                                          <p:val>
                                            <p:strVal val="#ppt_w"/>
                                          </p:val>
                                        </p:tav>
                                      </p:tavLst>
                                    </p:anim>
                                    <p:anim calcmode="lin" valueType="num">
                                      <p:cBhvr>
                                        <p:cTn id="99" dur="500" fill="hold"/>
                                        <p:tgtEl>
                                          <p:spTgt spid="54"/>
                                        </p:tgtEl>
                                        <p:attrNameLst>
                                          <p:attrName>ppt_h</p:attrName>
                                        </p:attrNameLst>
                                      </p:cBhvr>
                                      <p:tavLst>
                                        <p:tav tm="0">
                                          <p:val>
                                            <p:fltVal val="0"/>
                                          </p:val>
                                        </p:tav>
                                        <p:tav tm="100000">
                                          <p:val>
                                            <p:strVal val="#ppt_h"/>
                                          </p:val>
                                        </p:tav>
                                      </p:tavLst>
                                    </p:anim>
                                    <p:animEffect transition="in" filter="fade">
                                      <p:cBhvr>
                                        <p:cTn id="100" dur="500"/>
                                        <p:tgtEl>
                                          <p:spTgt spid="54"/>
                                        </p:tgtEl>
                                      </p:cBhvr>
                                    </p:animEffect>
                                  </p:childTnLst>
                                </p:cTn>
                              </p:par>
                              <p:par>
                                <p:cTn id="101" presetID="53" presetClass="entr" presetSubtype="16" fill="hold" nodeType="withEffect">
                                  <p:stCondLst>
                                    <p:cond delay="0"/>
                                  </p:stCondLst>
                                  <p:childTnLst>
                                    <p:set>
                                      <p:cBhvr>
                                        <p:cTn id="102" dur="1" fill="hold">
                                          <p:stCondLst>
                                            <p:cond delay="0"/>
                                          </p:stCondLst>
                                        </p:cTn>
                                        <p:tgtEl>
                                          <p:spTgt spid="55"/>
                                        </p:tgtEl>
                                        <p:attrNameLst>
                                          <p:attrName>style.visibility</p:attrName>
                                        </p:attrNameLst>
                                      </p:cBhvr>
                                      <p:to>
                                        <p:strVal val="visible"/>
                                      </p:to>
                                    </p:set>
                                    <p:anim calcmode="lin" valueType="num">
                                      <p:cBhvr>
                                        <p:cTn id="103" dur="500" fill="hold"/>
                                        <p:tgtEl>
                                          <p:spTgt spid="55"/>
                                        </p:tgtEl>
                                        <p:attrNameLst>
                                          <p:attrName>ppt_w</p:attrName>
                                        </p:attrNameLst>
                                      </p:cBhvr>
                                      <p:tavLst>
                                        <p:tav tm="0">
                                          <p:val>
                                            <p:fltVal val="0"/>
                                          </p:val>
                                        </p:tav>
                                        <p:tav tm="100000">
                                          <p:val>
                                            <p:strVal val="#ppt_w"/>
                                          </p:val>
                                        </p:tav>
                                      </p:tavLst>
                                    </p:anim>
                                    <p:anim calcmode="lin" valueType="num">
                                      <p:cBhvr>
                                        <p:cTn id="104" dur="500" fill="hold"/>
                                        <p:tgtEl>
                                          <p:spTgt spid="55"/>
                                        </p:tgtEl>
                                        <p:attrNameLst>
                                          <p:attrName>ppt_h</p:attrName>
                                        </p:attrNameLst>
                                      </p:cBhvr>
                                      <p:tavLst>
                                        <p:tav tm="0">
                                          <p:val>
                                            <p:fltVal val="0"/>
                                          </p:val>
                                        </p:tav>
                                        <p:tav tm="100000">
                                          <p:val>
                                            <p:strVal val="#ppt_h"/>
                                          </p:val>
                                        </p:tav>
                                      </p:tavLst>
                                    </p:anim>
                                    <p:animEffect transition="in" filter="fade">
                                      <p:cBhvr>
                                        <p:cTn id="105" dur="500"/>
                                        <p:tgtEl>
                                          <p:spTgt spid="55"/>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56"/>
                                        </p:tgtEl>
                                        <p:attrNameLst>
                                          <p:attrName>style.visibility</p:attrName>
                                        </p:attrNameLst>
                                      </p:cBhvr>
                                      <p:to>
                                        <p:strVal val="visible"/>
                                      </p:to>
                                    </p:set>
                                    <p:anim calcmode="lin" valueType="num">
                                      <p:cBhvr>
                                        <p:cTn id="108" dur="500" fill="hold"/>
                                        <p:tgtEl>
                                          <p:spTgt spid="56"/>
                                        </p:tgtEl>
                                        <p:attrNameLst>
                                          <p:attrName>ppt_w</p:attrName>
                                        </p:attrNameLst>
                                      </p:cBhvr>
                                      <p:tavLst>
                                        <p:tav tm="0">
                                          <p:val>
                                            <p:fltVal val="0"/>
                                          </p:val>
                                        </p:tav>
                                        <p:tav tm="100000">
                                          <p:val>
                                            <p:strVal val="#ppt_w"/>
                                          </p:val>
                                        </p:tav>
                                      </p:tavLst>
                                    </p:anim>
                                    <p:anim calcmode="lin" valueType="num">
                                      <p:cBhvr>
                                        <p:cTn id="109" dur="500" fill="hold"/>
                                        <p:tgtEl>
                                          <p:spTgt spid="56"/>
                                        </p:tgtEl>
                                        <p:attrNameLst>
                                          <p:attrName>ppt_h</p:attrName>
                                        </p:attrNameLst>
                                      </p:cBhvr>
                                      <p:tavLst>
                                        <p:tav tm="0">
                                          <p:val>
                                            <p:fltVal val="0"/>
                                          </p:val>
                                        </p:tav>
                                        <p:tav tm="100000">
                                          <p:val>
                                            <p:strVal val="#ppt_h"/>
                                          </p:val>
                                        </p:tav>
                                      </p:tavLst>
                                    </p:anim>
                                    <p:animEffect transition="in" filter="fade">
                                      <p:cBhvr>
                                        <p:cTn id="11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P spid="22" grpId="0" animBg="1"/>
      <p:bldP spid="23" grpId="0"/>
      <p:bldP spid="24" grpId="0"/>
      <p:bldP spid="25" grpId="0" animBg="1"/>
      <p:bldP spid="26" grpId="0" animBg="1"/>
      <p:bldP spid="27" grpId="0"/>
      <p:bldP spid="28" grpId="0"/>
      <p:bldP spid="29" grpId="0" animBg="1"/>
      <p:bldP spid="31" grpId="0"/>
      <p:bldP spid="32" grpId="0"/>
      <p:bldP spid="50" grpId="0"/>
      <p:bldP spid="52" grpId="0"/>
      <p:bldP spid="53" grpId="0"/>
      <p:bldP spid="54" grpId="0"/>
      <p:bldP spid="5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1.bp.blogspot.com/-Risdqwt1DCY/V2fnBUQygJI/AAAAAAACQAo/e8SklXJWnSUokr4zcZ0ww4Z_EAF-uwoYQCLcB/s640/headlines-of-the-past-22.jpg">
            <a:extLst>
              <a:ext uri="{FF2B5EF4-FFF2-40B4-BE49-F238E27FC236}">
                <a16:creationId xmlns="" xmlns:a16="http://schemas.microsoft.com/office/drawing/2014/main" id="{55418607-B8EB-4EEC-9C68-EB20E6C548E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2719" y="-467591"/>
            <a:ext cx="9949620" cy="158209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the atomic bombing of hiroshima and nagasaki on newspaper">
            <a:extLst>
              <a:ext uri="{FF2B5EF4-FFF2-40B4-BE49-F238E27FC236}">
                <a16:creationId xmlns="" xmlns:a16="http://schemas.microsoft.com/office/drawing/2014/main" id="{B4976089-866A-49A6-8229-A52D6FEACEDE}"/>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rot="1056756">
            <a:off x="218268" y="2647949"/>
            <a:ext cx="9081882" cy="5165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 xmlns:a16="http://schemas.microsoft.com/office/drawing/2014/main" id="{E991394E-5120-4466-A11F-F2641019F36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295650" y="16132"/>
            <a:ext cx="5848350" cy="1000985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50333" y="0"/>
            <a:ext cx="9494333" cy="7934945"/>
          </a:xfrm>
          <a:prstGeom prst="rect">
            <a:avLst/>
          </a:prstGeom>
        </p:spPr>
      </p:pic>
      <p:pic>
        <p:nvPicPr>
          <p:cNvPr id="5" name="Pictur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50334" y="0"/>
            <a:ext cx="9498889" cy="7721600"/>
          </a:xfrm>
          <a:prstGeom prst="rect">
            <a:avLst/>
          </a:prstGeom>
        </p:spPr>
      </p:pic>
      <p:pic>
        <p:nvPicPr>
          <p:cNvPr id="7" name="Picture 6"/>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54889" y="16132"/>
            <a:ext cx="9498889" cy="6324454"/>
          </a:xfrm>
          <a:prstGeom prst="rect">
            <a:avLst/>
          </a:prstGeom>
        </p:spPr>
      </p:pic>
      <p:pic>
        <p:nvPicPr>
          <p:cNvPr id="8" name="Picture 7"/>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50335" y="16132"/>
            <a:ext cx="9676834" cy="6841868"/>
          </a:xfrm>
          <a:prstGeom prst="rect">
            <a:avLst/>
          </a:prstGeom>
        </p:spPr>
      </p:pic>
      <p:pic>
        <p:nvPicPr>
          <p:cNvPr id="9" name="Picture 8"/>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359445" y="0"/>
            <a:ext cx="9497931" cy="7721600"/>
          </a:xfrm>
          <a:prstGeom prst="rect">
            <a:avLst/>
          </a:prstGeom>
        </p:spPr>
      </p:pic>
      <p:pic>
        <p:nvPicPr>
          <p:cNvPr id="10" name="Picture 9"/>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30264" y="63417"/>
            <a:ext cx="9825936" cy="7278306"/>
          </a:xfrm>
          <a:prstGeom prst="rect">
            <a:avLst/>
          </a:prstGeom>
        </p:spPr>
      </p:pic>
      <p:pic>
        <p:nvPicPr>
          <p:cNvPr id="12" name="Picture 11"/>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48751" y="63417"/>
            <a:ext cx="9189537" cy="9203920"/>
          </a:xfrm>
          <a:prstGeom prst="rect">
            <a:avLst/>
          </a:prstGeom>
        </p:spPr>
      </p:pic>
      <p:grpSp>
        <p:nvGrpSpPr>
          <p:cNvPr id="3" name="Group 2"/>
          <p:cNvGrpSpPr/>
          <p:nvPr/>
        </p:nvGrpSpPr>
        <p:grpSpPr>
          <a:xfrm>
            <a:off x="-50402" y="131394"/>
            <a:ext cx="9184436" cy="7017416"/>
            <a:chOff x="-1" y="-8142"/>
            <a:chExt cx="9184436" cy="7017416"/>
          </a:xfrm>
        </p:grpSpPr>
        <p:pic>
          <p:nvPicPr>
            <p:cNvPr id="2" name="Picture 1"/>
            <p:cNvPicPr>
              <a:picLocks noChangeAspect="1"/>
            </p:cNvPicPr>
            <p:nvPr/>
          </p:nvPicPr>
          <p:blipFill rotWithShape="1">
            <a:blip r:embed="rId13" cstate="email">
              <a:extLst>
                <a:ext uri="{28A0092B-C50C-407E-A947-70E740481C1C}">
                  <a14:useLocalDpi xmlns:a14="http://schemas.microsoft.com/office/drawing/2010/main"/>
                </a:ext>
              </a:extLst>
            </a:blip>
            <a:srcRect/>
            <a:stretch/>
          </p:blipFill>
          <p:spPr>
            <a:xfrm>
              <a:off x="-1" y="-8142"/>
              <a:ext cx="9184435" cy="2243342"/>
            </a:xfrm>
            <a:prstGeom prst="rect">
              <a:avLst/>
            </a:prstGeom>
          </p:spPr>
        </p:pic>
        <p:pic>
          <p:nvPicPr>
            <p:cNvPr id="6" name="Picture 5"/>
            <p:cNvPicPr>
              <a:picLocks noChangeAspect="1"/>
            </p:cNvPicPr>
            <p:nvPr/>
          </p:nvPicPr>
          <p:blipFill rotWithShape="1">
            <a:blip r:embed="rId14" cstate="email">
              <a:extLst>
                <a:ext uri="{28A0092B-C50C-407E-A947-70E740481C1C}">
                  <a14:useLocalDpi xmlns:a14="http://schemas.microsoft.com/office/drawing/2010/main"/>
                </a:ext>
              </a:extLst>
            </a:blip>
            <a:srcRect/>
            <a:stretch/>
          </p:blipFill>
          <p:spPr>
            <a:xfrm>
              <a:off x="0" y="2235200"/>
              <a:ext cx="9184435" cy="4774074"/>
            </a:xfrm>
            <a:prstGeom prst="rect">
              <a:avLst/>
            </a:prstGeom>
          </p:spPr>
        </p:pic>
      </p:grpSp>
      <p:pic>
        <p:nvPicPr>
          <p:cNvPr id="13" name="Picture 12"/>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170036" y="70176"/>
            <a:ext cx="9608922" cy="7581248"/>
          </a:xfrm>
          <a:prstGeom prst="rect">
            <a:avLst/>
          </a:prstGeom>
        </p:spPr>
      </p:pic>
      <p:pic>
        <p:nvPicPr>
          <p:cNvPr id="14" name="Picture 13"/>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3111" y="60628"/>
            <a:ext cx="9144000" cy="6793255"/>
          </a:xfrm>
          <a:prstGeom prst="rect">
            <a:avLst/>
          </a:prstGeom>
        </p:spPr>
      </p:pic>
      <p:pic>
        <p:nvPicPr>
          <p:cNvPr id="15" name="Picture 14"/>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2473345" y="104802"/>
            <a:ext cx="6726468" cy="6995875"/>
          </a:xfrm>
          <a:prstGeom prst="rect">
            <a:avLst/>
          </a:prstGeom>
        </p:spPr>
      </p:pic>
    </p:spTree>
    <p:extLst>
      <p:ext uri="{BB962C8B-B14F-4D97-AF65-F5344CB8AC3E}">
        <p14:creationId xmlns:p14="http://schemas.microsoft.com/office/powerpoint/2010/main" val="110125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1026"/>
                                        </p:tgtEl>
                                      </p:cBhvr>
                                      <p:by x="60000" y="60000"/>
                                    </p:animScale>
                                  </p:childTnLst>
                                </p:cTn>
                              </p:par>
                              <p:par>
                                <p:cTn id="7" presetID="42" presetClass="path" presetSubtype="0" accel="50000" decel="50000" fill="hold" nodeType="withEffect">
                                  <p:stCondLst>
                                    <p:cond delay="0"/>
                                  </p:stCondLst>
                                  <p:childTnLst>
                                    <p:animMotion origin="layout" path="M -2.77778E-6 4.81481E-6 L 0.0066 -0.42408 " pathEditMode="relative" rAng="0" ptsTypes="AA">
                                      <p:cBhvr>
                                        <p:cTn id="8" dur="2000" fill="hold"/>
                                        <p:tgtEl>
                                          <p:spTgt spid="1026"/>
                                        </p:tgtEl>
                                        <p:attrNameLst>
                                          <p:attrName>ppt_x</p:attrName>
                                          <p:attrName>ppt_y</p:attrName>
                                        </p:attrNameLst>
                                      </p:cBhvr>
                                      <p:rCtr x="330" y="-21204"/>
                                    </p:animMotion>
                                  </p:childTnLst>
                                </p:cTn>
                              </p:par>
                            </p:childTnLst>
                          </p:cTn>
                        </p:par>
                        <p:par>
                          <p:cTn id="9" fill="hold">
                            <p:stCondLst>
                              <p:cond delay="2000"/>
                            </p:stCondLst>
                            <p:childTnLst>
                              <p:par>
                                <p:cTn id="10" presetID="10" presetClass="entr" presetSubtype="0" fill="hold" nodeType="after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fade">
                                      <p:cBhvr>
                                        <p:cTn id="12" dur="2000"/>
                                        <p:tgtEl>
                                          <p:spTgt spid="1030"/>
                                        </p:tgtEl>
                                      </p:cBhvr>
                                    </p:animEffect>
                                  </p:childTnLst>
                                </p:cTn>
                              </p:par>
                              <p:par>
                                <p:cTn id="13" presetID="8" presetClass="emph" presetSubtype="0" fill="hold" nodeType="withEffect">
                                  <p:stCondLst>
                                    <p:cond delay="0"/>
                                  </p:stCondLst>
                                  <p:childTnLst>
                                    <p:animRot by="-600000">
                                      <p:cBhvr>
                                        <p:cTn id="14" dur="2000" fill="hold"/>
                                        <p:tgtEl>
                                          <p:spTgt spid="1030"/>
                                        </p:tgtEl>
                                        <p:attrNameLst>
                                          <p:attrName>r</p:attrName>
                                        </p:attrNameLst>
                                      </p:cBhvr>
                                    </p:animRot>
                                  </p:childTnLst>
                                </p:cTn>
                              </p:par>
                              <p:par>
                                <p:cTn id="15" presetID="10" presetClass="entr" presetSubtype="0" fill="hold" nodeType="withEffect">
                                  <p:stCondLst>
                                    <p:cond delay="200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2000"/>
                                        <p:tgtEl>
                                          <p:spTgt spid="1028"/>
                                        </p:tgtEl>
                                      </p:cBhvr>
                                    </p:animEffect>
                                  </p:childTnLst>
                                </p:cTn>
                              </p:par>
                              <p:par>
                                <p:cTn id="18" presetID="35" presetClass="path" presetSubtype="0" accel="50000" decel="50000" fill="hold" nodeType="withEffect">
                                  <p:stCondLst>
                                    <p:cond delay="2000"/>
                                  </p:stCondLst>
                                  <p:childTnLst>
                                    <p:animMotion origin="layout" path="M 1.66667E-6 4.07407E-6 L -0.25 4.07407E-6 " pathEditMode="relative" rAng="0" ptsTypes="AA">
                                      <p:cBhvr>
                                        <p:cTn id="19" dur="2000" fill="hold"/>
                                        <p:tgtEl>
                                          <p:spTgt spid="1028"/>
                                        </p:tgtEl>
                                        <p:attrNameLst>
                                          <p:attrName>ppt_x</p:attrName>
                                          <p:attrName>ppt_y</p:attrName>
                                        </p:attrNameLst>
                                      </p:cBhvr>
                                      <p:rCtr x="-12500" y="0"/>
                                    </p:animMotion>
                                  </p:childTnLst>
                                </p:cTn>
                              </p:par>
                            </p:childTnLst>
                          </p:cTn>
                        </p:par>
                        <p:par>
                          <p:cTn id="20" fill="hold">
                            <p:stCondLst>
                              <p:cond delay="6000"/>
                            </p:stCondLst>
                            <p:childTnLst>
                              <p:par>
                                <p:cTn id="21" presetID="10"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par>
                          <p:cTn id="24" fill="hold">
                            <p:stCondLst>
                              <p:cond delay="6500"/>
                            </p:stCondLst>
                            <p:childTnLst>
                              <p:par>
                                <p:cTn id="25" presetID="10"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par>
                          <p:cTn id="28" fill="hold">
                            <p:stCondLst>
                              <p:cond delay="7000"/>
                            </p:stCondLst>
                            <p:childTnLst>
                              <p:par>
                                <p:cTn id="29" presetID="10"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par>
                          <p:cTn id="32" fill="hold">
                            <p:stCondLst>
                              <p:cond delay="7500"/>
                            </p:stCondLst>
                            <p:childTnLst>
                              <p:par>
                                <p:cTn id="33" presetID="10" presetClass="entr" presetSubtype="0"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par>
                          <p:cTn id="36" fill="hold">
                            <p:stCondLst>
                              <p:cond delay="8000"/>
                            </p:stCondLst>
                            <p:childTnLst>
                              <p:par>
                                <p:cTn id="37" presetID="10" presetClass="entr" presetSubtype="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childTnLst>
                          </p:cTn>
                        </p:par>
                        <p:par>
                          <p:cTn id="40" fill="hold">
                            <p:stCondLst>
                              <p:cond delay="8500"/>
                            </p:stCondLst>
                            <p:childTnLst>
                              <p:par>
                                <p:cTn id="41" presetID="10"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par>
                          <p:cTn id="44" fill="hold">
                            <p:stCondLst>
                              <p:cond delay="9000"/>
                            </p:stCondLst>
                            <p:childTnLst>
                              <p:par>
                                <p:cTn id="45" presetID="10" presetClass="entr" presetSubtype="0"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par>
                          <p:cTn id="48" fill="hold">
                            <p:stCondLst>
                              <p:cond delay="9500"/>
                            </p:stCondLst>
                            <p:childTnLst>
                              <p:par>
                                <p:cTn id="49" presetID="10" presetClass="entr" presetSubtype="0"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childTnLst>
                                </p:cTn>
                              </p:par>
                            </p:childTnLst>
                          </p:cTn>
                        </p:par>
                        <p:par>
                          <p:cTn id="52" fill="hold">
                            <p:stCondLst>
                              <p:cond delay="10000"/>
                            </p:stCondLst>
                            <p:childTnLst>
                              <p:par>
                                <p:cTn id="53" presetID="10" presetClass="entr" presetSubtype="0" fill="hold" nodeType="after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par>
                          <p:cTn id="56" fill="hold">
                            <p:stCondLst>
                              <p:cond delay="10500"/>
                            </p:stCondLst>
                            <p:childTnLst>
                              <p:par>
                                <p:cTn id="57" presetID="10" presetClass="entr" presetSubtype="0"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childTnLst>
                          </p:cTn>
                        </p:par>
                        <p:par>
                          <p:cTn id="60" fill="hold">
                            <p:stCondLst>
                              <p:cond delay="11000"/>
                            </p:stCondLst>
                            <p:childTnLst>
                              <p:par>
                                <p:cTn id="61" presetID="10" presetClass="entr" presetSubtype="0" fill="hold"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 xmlns:a16="http://schemas.microsoft.com/office/drawing/2014/main" id="{2F09468E-0D7E-8D48-A283-328CB7BBC679}"/>
              </a:ext>
            </a:extLst>
          </p:cNvPr>
          <p:cNvGrpSpPr/>
          <p:nvPr/>
        </p:nvGrpSpPr>
        <p:grpSpPr>
          <a:xfrm>
            <a:off x="2674616" y="4897099"/>
            <a:ext cx="3022488" cy="600869"/>
            <a:chOff x="5341616" y="1757294"/>
            <a:chExt cx="3022488" cy="600869"/>
          </a:xfrm>
        </p:grpSpPr>
        <p:sp>
          <p:nvSpPr>
            <p:cNvPr id="23" name="Rectangle 22"/>
            <p:cNvSpPr/>
            <p:nvPr/>
          </p:nvSpPr>
          <p:spPr>
            <a:xfrm>
              <a:off x="5943600" y="1834943"/>
              <a:ext cx="2420504"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500M</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tweets</a:t>
              </a:r>
              <a:r>
                <a:rPr lang="zh-CN" altLang="en-US" sz="2800" dirty="0">
                  <a:solidFill>
                    <a:schemeClr val="bg2"/>
                  </a:solidFill>
                  <a:latin typeface="Century Gothic" charset="0"/>
                  <a:ea typeface="Century Gothic" charset="0"/>
                  <a:cs typeface="Century Gothic" charset="0"/>
                </a:rPr>
                <a:t> </a:t>
              </a:r>
              <a:endParaRPr lang="en-US" sz="2800" dirty="0">
                <a:solidFill>
                  <a:schemeClr val="bg2"/>
                </a:solidFill>
                <a:latin typeface="Century Gothic" charset="0"/>
                <a:ea typeface="Century Gothic" charset="0"/>
                <a:cs typeface="Century Gothic" charset="0"/>
              </a:endParaRP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41616" y="1757294"/>
              <a:ext cx="555408" cy="555408"/>
            </a:xfrm>
            <a:prstGeom prst="rect">
              <a:avLst/>
            </a:prstGeom>
          </p:spPr>
        </p:pic>
      </p:grpSp>
      <p:sp>
        <p:nvSpPr>
          <p:cNvPr id="2" name="TextBox 1">
            <a:extLst>
              <a:ext uri="{FF2B5EF4-FFF2-40B4-BE49-F238E27FC236}">
                <a16:creationId xmlns="" xmlns:a16="http://schemas.microsoft.com/office/drawing/2014/main" id="{438FD18B-5B7F-8B40-8061-39DC34F5B5C8}"/>
              </a:ext>
            </a:extLst>
          </p:cNvPr>
          <p:cNvSpPr txBox="1"/>
          <p:nvPr/>
        </p:nvSpPr>
        <p:spPr>
          <a:xfrm>
            <a:off x="2789779" y="762000"/>
            <a:ext cx="3363421"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Every single day</a:t>
            </a:r>
          </a:p>
        </p:txBody>
      </p:sp>
      <p:grpSp>
        <p:nvGrpSpPr>
          <p:cNvPr id="14" name="Group 13">
            <a:extLst>
              <a:ext uri="{FF2B5EF4-FFF2-40B4-BE49-F238E27FC236}">
                <a16:creationId xmlns="" xmlns:a16="http://schemas.microsoft.com/office/drawing/2014/main" id="{5ADD8F19-7A24-D045-AE41-EF54CEC49F99}"/>
              </a:ext>
            </a:extLst>
          </p:cNvPr>
          <p:cNvGrpSpPr/>
          <p:nvPr/>
        </p:nvGrpSpPr>
        <p:grpSpPr>
          <a:xfrm>
            <a:off x="2514600" y="3810000"/>
            <a:ext cx="3928008" cy="707886"/>
            <a:chOff x="5239904" y="2641007"/>
            <a:chExt cx="3398454" cy="707886"/>
          </a:xfrm>
        </p:grpSpPr>
        <p:pic>
          <p:nvPicPr>
            <p:cNvPr id="4" name="Picture 3">
              <a:extLst>
                <a:ext uri="{FF2B5EF4-FFF2-40B4-BE49-F238E27FC236}">
                  <a16:creationId xmlns="" xmlns:a16="http://schemas.microsoft.com/office/drawing/2014/main" id="{08AC6C16-8480-8347-BEC5-05E3F46DD47B}"/>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239904" y="2641007"/>
              <a:ext cx="740074" cy="707886"/>
            </a:xfrm>
            <a:prstGeom prst="rect">
              <a:avLst/>
            </a:prstGeom>
          </p:spPr>
        </p:pic>
        <p:sp>
          <p:nvSpPr>
            <p:cNvPr id="17" name="Rectangle 16">
              <a:extLst>
                <a:ext uri="{FF2B5EF4-FFF2-40B4-BE49-F238E27FC236}">
                  <a16:creationId xmlns="" xmlns:a16="http://schemas.microsoft.com/office/drawing/2014/main" id="{1AEC122D-63B4-604B-BE9F-F995DB47BC0B}"/>
                </a:ext>
              </a:extLst>
            </p:cNvPr>
            <p:cNvSpPr/>
            <p:nvPr/>
          </p:nvSpPr>
          <p:spPr>
            <a:xfrm>
              <a:off x="5943600" y="2794895"/>
              <a:ext cx="2694758"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2M </a:t>
              </a:r>
              <a:r>
                <a:rPr lang="en-US" altLang="zh-CN" sz="2800" dirty="0">
                  <a:solidFill>
                    <a:schemeClr val="bg2"/>
                  </a:solidFill>
                  <a:latin typeface="Century Gothic" charset="0"/>
                  <a:ea typeface="Century Gothic" charset="0"/>
                  <a:cs typeface="Century Gothic" charset="0"/>
                </a:rPr>
                <a:t>blog posts</a:t>
              </a:r>
              <a:endParaRPr lang="en-US" sz="2800" dirty="0">
                <a:solidFill>
                  <a:schemeClr val="bg2"/>
                </a:solidFill>
                <a:latin typeface="Century Gothic" charset="0"/>
                <a:ea typeface="Century Gothic" charset="0"/>
                <a:cs typeface="Century Gothic" charset="0"/>
              </a:endParaRPr>
            </a:p>
          </p:txBody>
        </p:sp>
      </p:grpSp>
      <p:grpSp>
        <p:nvGrpSpPr>
          <p:cNvPr id="10" name="Group 9">
            <a:extLst>
              <a:ext uri="{FF2B5EF4-FFF2-40B4-BE49-F238E27FC236}">
                <a16:creationId xmlns="" xmlns:a16="http://schemas.microsoft.com/office/drawing/2014/main" id="{A60BA430-754C-284D-9CD0-40CDF941B913}"/>
              </a:ext>
            </a:extLst>
          </p:cNvPr>
          <p:cNvGrpSpPr/>
          <p:nvPr/>
        </p:nvGrpSpPr>
        <p:grpSpPr>
          <a:xfrm>
            <a:off x="2613171" y="1821729"/>
            <a:ext cx="4231699" cy="671577"/>
            <a:chOff x="5280171" y="3708584"/>
            <a:chExt cx="4231699" cy="671577"/>
          </a:xfrm>
        </p:grpSpPr>
        <p:sp>
          <p:nvSpPr>
            <p:cNvPr id="21" name="Rectangle 20"/>
            <p:cNvSpPr/>
            <p:nvPr/>
          </p:nvSpPr>
          <p:spPr>
            <a:xfrm>
              <a:off x="5994947" y="3844317"/>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1200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news stories</a:t>
              </a:r>
              <a:endParaRPr lang="en-US" sz="2800" dirty="0">
                <a:solidFill>
                  <a:schemeClr val="bg2"/>
                </a:solidFill>
                <a:latin typeface="Century Gothic" charset="0"/>
                <a:ea typeface="Century Gothic" charset="0"/>
                <a:cs typeface="Century Gothic" charset="0"/>
              </a:endParaRPr>
            </a:p>
          </p:txBody>
        </p:sp>
        <p:pic>
          <p:nvPicPr>
            <p:cNvPr id="9" name="Picture 8">
              <a:extLst>
                <a:ext uri="{FF2B5EF4-FFF2-40B4-BE49-F238E27FC236}">
                  <a16:creationId xmlns="" xmlns:a16="http://schemas.microsoft.com/office/drawing/2014/main" id="{72769A42-CCD8-7B43-B1E3-92BF09E9C64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280171" y="3708584"/>
              <a:ext cx="693945" cy="671577"/>
            </a:xfrm>
            <a:prstGeom prst="rect">
              <a:avLst/>
            </a:prstGeom>
          </p:spPr>
        </p:pic>
      </p:grpSp>
      <p:grpSp>
        <p:nvGrpSpPr>
          <p:cNvPr id="7" name="Group 6">
            <a:extLst>
              <a:ext uri="{FF2B5EF4-FFF2-40B4-BE49-F238E27FC236}">
                <a16:creationId xmlns="" xmlns:a16="http://schemas.microsoft.com/office/drawing/2014/main" id="{98BF6A51-3286-FF48-9FF7-FAA269C94C48}"/>
              </a:ext>
            </a:extLst>
          </p:cNvPr>
          <p:cNvGrpSpPr/>
          <p:nvPr/>
        </p:nvGrpSpPr>
        <p:grpSpPr>
          <a:xfrm>
            <a:off x="2340816" y="2891668"/>
            <a:ext cx="4491515" cy="572045"/>
            <a:chOff x="2340816" y="2891668"/>
            <a:chExt cx="4491515" cy="572045"/>
          </a:xfrm>
        </p:grpSpPr>
        <p:pic>
          <p:nvPicPr>
            <p:cNvPr id="6" name="Picture 5">
              <a:extLst>
                <a:ext uri="{FF2B5EF4-FFF2-40B4-BE49-F238E27FC236}">
                  <a16:creationId xmlns="" xmlns:a16="http://schemas.microsoft.com/office/drawing/2014/main" id="{F140A6A9-F798-8A40-B5F0-42533855BDD8}"/>
                </a:ext>
              </a:extLst>
            </p:cNvPr>
            <p:cNvPicPr>
              <a:picLocks noChangeAspect="1"/>
            </p:cNvPicPr>
            <p:nvPr/>
          </p:nvPicPr>
          <p:blipFill>
            <a:blip r:embed="rId6" cstate="email">
              <a:biLevel thresh="75000"/>
              <a:extLst>
                <a:ext uri="{28A0092B-C50C-407E-A947-70E740481C1C}">
                  <a14:useLocalDpi xmlns:a14="http://schemas.microsoft.com/office/drawing/2010/main"/>
                </a:ext>
              </a:extLst>
            </a:blip>
            <a:stretch>
              <a:fillRect/>
            </a:stretch>
          </p:blipFill>
          <p:spPr>
            <a:xfrm>
              <a:off x="2340816" y="2897866"/>
              <a:ext cx="1077804" cy="565847"/>
            </a:xfrm>
            <a:prstGeom prst="rect">
              <a:avLst/>
            </a:prstGeom>
          </p:spPr>
        </p:pic>
        <p:sp>
          <p:nvSpPr>
            <p:cNvPr id="16" name="Rectangle 15">
              <a:extLst>
                <a:ext uri="{FF2B5EF4-FFF2-40B4-BE49-F238E27FC236}">
                  <a16:creationId xmlns="" xmlns:a16="http://schemas.microsoft.com/office/drawing/2014/main" id="{641FD881-B68F-EE46-A587-F754D7E84E1B}"/>
                </a:ext>
              </a:extLst>
            </p:cNvPr>
            <p:cNvSpPr/>
            <p:nvPr/>
          </p:nvSpPr>
          <p:spPr>
            <a:xfrm>
              <a:off x="3315408" y="2891668"/>
              <a:ext cx="3516923" cy="523220"/>
            </a:xfrm>
            <a:prstGeom prst="rect">
              <a:avLst/>
            </a:prstGeom>
          </p:spPr>
          <p:txBody>
            <a:bodyPr wrap="square">
              <a:spAutoFit/>
            </a:bodyPr>
            <a:lstStyle/>
            <a:p>
              <a:r>
                <a:rPr lang="en-US" altLang="zh-CN" sz="2800" b="1" dirty="0" smtClean="0">
                  <a:solidFill>
                    <a:schemeClr val="bg2"/>
                  </a:solidFill>
                  <a:latin typeface="Century Gothic" charset="0"/>
                  <a:ea typeface="Century Gothic" charset="0"/>
                  <a:cs typeface="Century Gothic" charset="0"/>
                </a:rPr>
                <a:t>4000</a:t>
              </a:r>
              <a:r>
                <a:rPr lang="zh-CN" altLang="en-US" sz="2800" dirty="0" smtClean="0">
                  <a:solidFill>
                    <a:schemeClr val="bg2"/>
                  </a:solidFill>
                  <a:latin typeface="Century Gothic" charset="0"/>
                  <a:ea typeface="Century Gothic" charset="0"/>
                  <a:cs typeface="Century Gothic" charset="0"/>
                </a:rPr>
                <a:t> </a:t>
              </a:r>
              <a:r>
                <a:rPr lang="en-US" altLang="zh-CN" sz="2800" dirty="0" smtClean="0">
                  <a:solidFill>
                    <a:schemeClr val="bg2"/>
                  </a:solidFill>
                  <a:latin typeface="Century Gothic" charset="0"/>
                  <a:ea typeface="Century Gothic" charset="0"/>
                  <a:cs typeface="Century Gothic" charset="0"/>
                </a:rPr>
                <a:t>papers</a:t>
              </a:r>
              <a:endParaRPr lang="en-US" sz="2800" dirty="0">
                <a:solidFill>
                  <a:schemeClr val="bg2"/>
                </a:solidFill>
                <a:latin typeface="Century Gothic" charset="0"/>
                <a:ea typeface="Century Gothic" charset="0"/>
                <a:cs typeface="Century Gothic" charset="0"/>
              </a:endParaRPr>
            </a:p>
          </p:txBody>
        </p:sp>
      </p:grpSp>
    </p:spTree>
    <p:extLst>
      <p:ext uri="{BB962C8B-B14F-4D97-AF65-F5344CB8AC3E}">
        <p14:creationId xmlns:p14="http://schemas.microsoft.com/office/powerpoint/2010/main" val="91840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 xmlns:a16="http://schemas.microsoft.com/office/drawing/2014/main" id="{CA0BFD39-AE71-D547-8E23-0D7740D83C60}"/>
              </a:ext>
            </a:extLst>
          </p:cNvPr>
          <p:cNvSpPr txBox="1"/>
          <p:nvPr/>
        </p:nvSpPr>
        <p:spPr>
          <a:xfrm>
            <a:off x="0" y="5779924"/>
            <a:ext cx="9144000" cy="523220"/>
          </a:xfrm>
          <a:prstGeom prst="rect">
            <a:avLst/>
          </a:prstGeom>
          <a:no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Big text, big opportunities</a:t>
            </a:r>
          </a:p>
        </p:txBody>
      </p:sp>
      <p:sp>
        <p:nvSpPr>
          <p:cNvPr id="16" name="Oval 15">
            <a:extLst>
              <a:ext uri="{FF2B5EF4-FFF2-40B4-BE49-F238E27FC236}">
                <a16:creationId xmlns="" xmlns:a16="http://schemas.microsoft.com/office/drawing/2014/main" id="{BB70CB1E-9193-434A-A851-E74830B5EEC9}"/>
              </a:ext>
            </a:extLst>
          </p:cNvPr>
          <p:cNvSpPr/>
          <p:nvPr/>
        </p:nvSpPr>
        <p:spPr>
          <a:xfrm>
            <a:off x="5230102" y="1347560"/>
            <a:ext cx="3114661" cy="3114661"/>
          </a:xfrm>
          <a:prstGeom prst="ellipse">
            <a:avLst/>
          </a:prstGeom>
          <a:solidFill>
            <a:srgbClr val="7691CD">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 xmlns:a16="http://schemas.microsoft.com/office/drawing/2014/main" id="{5A08079B-9B35-214B-874E-CC9D218C4D1C}"/>
              </a:ext>
            </a:extLst>
          </p:cNvPr>
          <p:cNvGrpSpPr/>
          <p:nvPr/>
        </p:nvGrpSpPr>
        <p:grpSpPr>
          <a:xfrm>
            <a:off x="5230102" y="1347560"/>
            <a:ext cx="3114661" cy="3114661"/>
            <a:chOff x="5273040" y="1524000"/>
            <a:chExt cx="3657600" cy="3657600"/>
          </a:xfrm>
        </p:grpSpPr>
        <p:sp>
          <p:nvSpPr>
            <p:cNvPr id="19" name="Arc 18">
              <a:extLst>
                <a:ext uri="{FF2B5EF4-FFF2-40B4-BE49-F238E27FC236}">
                  <a16:creationId xmlns="" xmlns:a16="http://schemas.microsoft.com/office/drawing/2014/main" id="{569DDDB2-9A8A-D64D-A589-7600334D277B}"/>
                </a:ext>
              </a:extLst>
            </p:cNvPr>
            <p:cNvSpPr/>
            <p:nvPr/>
          </p:nvSpPr>
          <p:spPr>
            <a:xfrm>
              <a:off x="5273040" y="1524000"/>
              <a:ext cx="3657600" cy="3657600"/>
            </a:xfrm>
            <a:prstGeom prst="arc">
              <a:avLst>
                <a:gd name="adj1" fmla="val 16200000"/>
                <a:gd name="adj2" fmla="val 11773345"/>
              </a:avLst>
            </a:prstGeom>
            <a:solidFill>
              <a:srgbClr val="D9ADBA"/>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 xmlns:a16="http://schemas.microsoft.com/office/drawing/2014/main" id="{30B4507B-8546-EF44-B87F-9A47BAF06DE4}"/>
                </a:ext>
              </a:extLst>
            </p:cNvPr>
            <p:cNvSpPr/>
            <p:nvPr/>
          </p:nvSpPr>
          <p:spPr>
            <a:xfrm>
              <a:off x="5273040" y="1524000"/>
              <a:ext cx="3657600" cy="36576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Arc 21">
            <a:extLst>
              <a:ext uri="{FF2B5EF4-FFF2-40B4-BE49-F238E27FC236}">
                <a16:creationId xmlns="" xmlns:a16="http://schemas.microsoft.com/office/drawing/2014/main" id="{0043A662-5D1A-5D4E-9408-DE1597058612}"/>
              </a:ext>
            </a:extLst>
          </p:cNvPr>
          <p:cNvSpPr/>
          <p:nvPr/>
        </p:nvSpPr>
        <p:spPr>
          <a:xfrm>
            <a:off x="5230102" y="1347560"/>
            <a:ext cx="3114661" cy="3114661"/>
          </a:xfrm>
          <a:prstGeom prst="arc">
            <a:avLst>
              <a:gd name="adj1" fmla="val 11795820"/>
              <a:gd name="adj2" fmla="val 16199135"/>
            </a:avLst>
          </a:prstGeom>
          <a:solidFill>
            <a:srgbClr val="B4C3E4"/>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 xmlns:a16="http://schemas.microsoft.com/office/drawing/2014/main" id="{C43479C6-6E6A-764F-84CB-4C7226DAE116}"/>
              </a:ext>
            </a:extLst>
          </p:cNvPr>
          <p:cNvSpPr txBox="1"/>
          <p:nvPr/>
        </p:nvSpPr>
        <p:spPr>
          <a:xfrm>
            <a:off x="5141824" y="1837236"/>
            <a:ext cx="2211026" cy="338554"/>
          </a:xfrm>
          <a:prstGeom prst="rect">
            <a:avLst/>
          </a:prstGeom>
          <a:noFill/>
        </p:spPr>
        <p:txBody>
          <a:bodyPr wrap="square" rtlCol="0">
            <a:spAutoFit/>
          </a:bodyPr>
          <a:lstStyle/>
          <a:p>
            <a:pPr algn="ctr"/>
            <a:r>
              <a:rPr lang="en-US" sz="1600" dirty="0">
                <a:solidFill>
                  <a:schemeClr val="bg2"/>
                </a:solidFill>
                <a:latin typeface="Century Gothic" charset="0"/>
                <a:ea typeface="Century Gothic" charset="0"/>
                <a:cs typeface="Century Gothic" charset="0"/>
              </a:rPr>
              <a:t>Big Data</a:t>
            </a:r>
          </a:p>
        </p:txBody>
      </p:sp>
      <p:sp>
        <p:nvSpPr>
          <p:cNvPr id="27" name="Rectangle 26">
            <a:extLst>
              <a:ext uri="{FF2B5EF4-FFF2-40B4-BE49-F238E27FC236}">
                <a16:creationId xmlns="" xmlns:a16="http://schemas.microsoft.com/office/drawing/2014/main" id="{0EAC6D86-7CEE-534D-ACE0-FA22D0B8FA49}"/>
              </a:ext>
            </a:extLst>
          </p:cNvPr>
          <p:cNvSpPr/>
          <p:nvPr/>
        </p:nvSpPr>
        <p:spPr>
          <a:xfrm>
            <a:off x="6296933" y="3540659"/>
            <a:ext cx="1576534" cy="523220"/>
          </a:xfrm>
          <a:prstGeom prst="rect">
            <a:avLst/>
          </a:prstGeom>
        </p:spPr>
        <p:txBody>
          <a:bodyPr wrap="square">
            <a:spAutoFit/>
          </a:bodyPr>
          <a:lstStyle/>
          <a:p>
            <a:pPr algn="ctr"/>
            <a:r>
              <a:rPr lang="en-US" sz="2800" dirty="0">
                <a:solidFill>
                  <a:schemeClr val="bg2"/>
                </a:solidFill>
                <a:latin typeface="Century Gothic" charset="0"/>
                <a:ea typeface="Century Gothic" charset="0"/>
                <a:cs typeface="Century Gothic" charset="0"/>
              </a:rPr>
              <a:t>Big Text</a:t>
            </a:r>
          </a:p>
        </p:txBody>
      </p:sp>
      <p:sp>
        <p:nvSpPr>
          <p:cNvPr id="5" name="TextBox 4">
            <a:extLst>
              <a:ext uri="{FF2B5EF4-FFF2-40B4-BE49-F238E27FC236}">
                <a16:creationId xmlns="" xmlns:a16="http://schemas.microsoft.com/office/drawing/2014/main" id="{36BC1D3D-28EC-4142-8D9B-AEE3589A8CA3}"/>
              </a:ext>
            </a:extLst>
          </p:cNvPr>
          <p:cNvSpPr txBox="1"/>
          <p:nvPr/>
        </p:nvSpPr>
        <p:spPr>
          <a:xfrm>
            <a:off x="4226859" y="5007946"/>
            <a:ext cx="4903908" cy="584775"/>
          </a:xfrm>
          <a:prstGeom prst="rect">
            <a:avLst/>
          </a:prstGeom>
          <a:noFill/>
        </p:spPr>
        <p:txBody>
          <a:bodyPr wrap="none" rtlCol="0">
            <a:spAutoFit/>
          </a:bodyPr>
          <a:lstStyle/>
          <a:p>
            <a:pPr algn="r"/>
            <a:r>
              <a:rPr lang="en-US" dirty="0">
                <a:solidFill>
                  <a:schemeClr val="bg2"/>
                </a:solidFill>
                <a:latin typeface="Century Gothic" panose="020B0502020202020204" pitchFamily="34" charset="0"/>
              </a:rPr>
              <a:t>&gt;80% of the world’s data unstructured text</a:t>
            </a:r>
          </a:p>
          <a:p>
            <a:pPr algn="r"/>
            <a:r>
              <a:rPr lang="en-US" sz="1400" i="1" dirty="0">
                <a:solidFill>
                  <a:schemeClr val="bg2"/>
                </a:solidFill>
                <a:latin typeface="Century Gothic" panose="020B0502020202020204" pitchFamily="34" charset="0"/>
              </a:rPr>
              <a:t>[by breakthrough analysis]</a:t>
            </a:r>
          </a:p>
        </p:txBody>
      </p:sp>
      <p:grpSp>
        <p:nvGrpSpPr>
          <p:cNvPr id="26" name="Group 25">
            <a:extLst>
              <a:ext uri="{FF2B5EF4-FFF2-40B4-BE49-F238E27FC236}">
                <a16:creationId xmlns="" xmlns:a16="http://schemas.microsoft.com/office/drawing/2014/main" id="{1F774C2C-5707-A94F-8FCF-4F8DDC7C7DF0}"/>
              </a:ext>
            </a:extLst>
          </p:cNvPr>
          <p:cNvGrpSpPr/>
          <p:nvPr/>
        </p:nvGrpSpPr>
        <p:grpSpPr>
          <a:xfrm>
            <a:off x="559508" y="4897099"/>
            <a:ext cx="3022488" cy="600869"/>
            <a:chOff x="5341616" y="1757294"/>
            <a:chExt cx="3022488" cy="600869"/>
          </a:xfrm>
        </p:grpSpPr>
        <p:sp>
          <p:nvSpPr>
            <p:cNvPr id="28" name="Rectangle 27">
              <a:extLst>
                <a:ext uri="{FF2B5EF4-FFF2-40B4-BE49-F238E27FC236}">
                  <a16:creationId xmlns="" xmlns:a16="http://schemas.microsoft.com/office/drawing/2014/main" id="{4A8E2983-1774-4F47-A955-817A5855AF95}"/>
                </a:ext>
              </a:extLst>
            </p:cNvPr>
            <p:cNvSpPr/>
            <p:nvPr/>
          </p:nvSpPr>
          <p:spPr>
            <a:xfrm>
              <a:off x="5943600" y="1834943"/>
              <a:ext cx="2420504"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500M</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tweets</a:t>
              </a:r>
              <a:r>
                <a:rPr lang="zh-CN" altLang="en-US" sz="2800" dirty="0">
                  <a:solidFill>
                    <a:schemeClr val="bg2"/>
                  </a:solidFill>
                  <a:latin typeface="Century Gothic" charset="0"/>
                  <a:ea typeface="Century Gothic" charset="0"/>
                  <a:cs typeface="Century Gothic" charset="0"/>
                </a:rPr>
                <a:t> </a:t>
              </a:r>
              <a:endParaRPr lang="en-US" sz="2800" dirty="0">
                <a:solidFill>
                  <a:schemeClr val="bg2"/>
                </a:solidFill>
                <a:latin typeface="Century Gothic" charset="0"/>
                <a:ea typeface="Century Gothic" charset="0"/>
                <a:cs typeface="Century Gothic" charset="0"/>
              </a:endParaRPr>
            </a:p>
          </p:txBody>
        </p:sp>
        <p:pic>
          <p:nvPicPr>
            <p:cNvPr id="29" name="Picture 28">
              <a:extLst>
                <a:ext uri="{FF2B5EF4-FFF2-40B4-BE49-F238E27FC236}">
                  <a16:creationId xmlns="" xmlns:a16="http://schemas.microsoft.com/office/drawing/2014/main" id="{F82B0692-7B64-B846-BB9D-3C6A4E86FFA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41616" y="1757294"/>
              <a:ext cx="555408" cy="555408"/>
            </a:xfrm>
            <a:prstGeom prst="rect">
              <a:avLst/>
            </a:prstGeom>
          </p:spPr>
        </p:pic>
      </p:grpSp>
      <p:sp>
        <p:nvSpPr>
          <p:cNvPr id="30" name="TextBox 29">
            <a:extLst>
              <a:ext uri="{FF2B5EF4-FFF2-40B4-BE49-F238E27FC236}">
                <a16:creationId xmlns="" xmlns:a16="http://schemas.microsoft.com/office/drawing/2014/main" id="{4D9EE2A0-9FC2-594D-8165-5ABFBE241BF7}"/>
              </a:ext>
            </a:extLst>
          </p:cNvPr>
          <p:cNvSpPr txBox="1"/>
          <p:nvPr/>
        </p:nvSpPr>
        <p:spPr>
          <a:xfrm>
            <a:off x="674671" y="762000"/>
            <a:ext cx="3363421" cy="584775"/>
          </a:xfrm>
          <a:prstGeom prst="rect">
            <a:avLst/>
          </a:prstGeom>
          <a:noFill/>
        </p:spPr>
        <p:txBody>
          <a:bodyPr wrap="none" rtlCol="0">
            <a:spAutoFit/>
          </a:bodyPr>
          <a:lstStyle/>
          <a:p>
            <a:r>
              <a:rPr lang="en-US" sz="3200" dirty="0">
                <a:solidFill>
                  <a:schemeClr val="bg2"/>
                </a:solidFill>
                <a:latin typeface="Century Gothic" panose="020B0502020202020204" pitchFamily="34" charset="0"/>
              </a:rPr>
              <a:t>Every single day</a:t>
            </a:r>
          </a:p>
        </p:txBody>
      </p:sp>
      <p:grpSp>
        <p:nvGrpSpPr>
          <p:cNvPr id="31" name="Group 30">
            <a:extLst>
              <a:ext uri="{FF2B5EF4-FFF2-40B4-BE49-F238E27FC236}">
                <a16:creationId xmlns="" xmlns:a16="http://schemas.microsoft.com/office/drawing/2014/main" id="{28A72A20-D650-5A43-98A8-8264E143DC6E}"/>
              </a:ext>
            </a:extLst>
          </p:cNvPr>
          <p:cNvGrpSpPr/>
          <p:nvPr/>
        </p:nvGrpSpPr>
        <p:grpSpPr>
          <a:xfrm>
            <a:off x="399492" y="3810000"/>
            <a:ext cx="3928008" cy="707886"/>
            <a:chOff x="5239904" y="2641007"/>
            <a:chExt cx="3398454" cy="707886"/>
          </a:xfrm>
        </p:grpSpPr>
        <p:pic>
          <p:nvPicPr>
            <p:cNvPr id="32" name="Picture 31">
              <a:extLst>
                <a:ext uri="{FF2B5EF4-FFF2-40B4-BE49-F238E27FC236}">
                  <a16:creationId xmlns="" xmlns:a16="http://schemas.microsoft.com/office/drawing/2014/main" id="{7A43C2B2-12BC-9F44-9191-6DA1DFFF9CB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5239904" y="2641007"/>
              <a:ext cx="740074" cy="707886"/>
            </a:xfrm>
            <a:prstGeom prst="rect">
              <a:avLst/>
            </a:prstGeom>
          </p:spPr>
        </p:pic>
        <p:sp>
          <p:nvSpPr>
            <p:cNvPr id="33" name="Rectangle 32">
              <a:extLst>
                <a:ext uri="{FF2B5EF4-FFF2-40B4-BE49-F238E27FC236}">
                  <a16:creationId xmlns="" xmlns:a16="http://schemas.microsoft.com/office/drawing/2014/main" id="{7E6DED6D-D80A-FB4B-9437-838AAE1B8352}"/>
                </a:ext>
              </a:extLst>
            </p:cNvPr>
            <p:cNvSpPr/>
            <p:nvPr/>
          </p:nvSpPr>
          <p:spPr>
            <a:xfrm>
              <a:off x="5943600" y="2794895"/>
              <a:ext cx="2694758"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2M </a:t>
              </a:r>
              <a:r>
                <a:rPr lang="en-US" altLang="zh-CN" sz="2800" dirty="0">
                  <a:solidFill>
                    <a:schemeClr val="bg2"/>
                  </a:solidFill>
                  <a:latin typeface="Century Gothic" charset="0"/>
                  <a:ea typeface="Century Gothic" charset="0"/>
                  <a:cs typeface="Century Gothic" charset="0"/>
                </a:rPr>
                <a:t>blog posts</a:t>
              </a:r>
              <a:endParaRPr lang="en-US" sz="2800" dirty="0">
                <a:solidFill>
                  <a:schemeClr val="bg2"/>
                </a:solidFill>
                <a:latin typeface="Century Gothic" charset="0"/>
                <a:ea typeface="Century Gothic" charset="0"/>
                <a:cs typeface="Century Gothic" charset="0"/>
              </a:endParaRPr>
            </a:p>
          </p:txBody>
        </p:sp>
      </p:grpSp>
      <p:grpSp>
        <p:nvGrpSpPr>
          <p:cNvPr id="34" name="Group 33">
            <a:extLst>
              <a:ext uri="{FF2B5EF4-FFF2-40B4-BE49-F238E27FC236}">
                <a16:creationId xmlns="" xmlns:a16="http://schemas.microsoft.com/office/drawing/2014/main" id="{9A689547-9C07-AD43-8BF4-264B298FEA0B}"/>
              </a:ext>
            </a:extLst>
          </p:cNvPr>
          <p:cNvGrpSpPr/>
          <p:nvPr/>
        </p:nvGrpSpPr>
        <p:grpSpPr>
          <a:xfrm>
            <a:off x="498063" y="1821729"/>
            <a:ext cx="4231699" cy="671577"/>
            <a:chOff x="5280171" y="3708584"/>
            <a:chExt cx="4231699" cy="671577"/>
          </a:xfrm>
        </p:grpSpPr>
        <p:sp>
          <p:nvSpPr>
            <p:cNvPr id="35" name="Rectangle 34">
              <a:extLst>
                <a:ext uri="{FF2B5EF4-FFF2-40B4-BE49-F238E27FC236}">
                  <a16:creationId xmlns="" xmlns:a16="http://schemas.microsoft.com/office/drawing/2014/main" id="{439FA16B-F3B9-A346-8A9D-7BA0D553EF12}"/>
                </a:ext>
              </a:extLst>
            </p:cNvPr>
            <p:cNvSpPr/>
            <p:nvPr/>
          </p:nvSpPr>
          <p:spPr>
            <a:xfrm>
              <a:off x="5994947" y="3844317"/>
              <a:ext cx="3516923" cy="523220"/>
            </a:xfrm>
            <a:prstGeom prst="rect">
              <a:avLst/>
            </a:prstGeom>
          </p:spPr>
          <p:txBody>
            <a:bodyPr wrap="square">
              <a:spAutoFit/>
            </a:bodyPr>
            <a:lstStyle/>
            <a:p>
              <a:r>
                <a:rPr lang="en-US" altLang="zh-CN" sz="2800" b="1" dirty="0">
                  <a:solidFill>
                    <a:schemeClr val="bg2"/>
                  </a:solidFill>
                  <a:latin typeface="Century Gothic" charset="0"/>
                  <a:ea typeface="Century Gothic" charset="0"/>
                  <a:cs typeface="Century Gothic" charset="0"/>
                </a:rPr>
                <a:t>1200</a:t>
              </a:r>
              <a:r>
                <a:rPr lang="zh-CN" altLang="en-US" sz="2800" dirty="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news stories</a:t>
              </a:r>
              <a:endParaRPr lang="en-US" sz="2800" dirty="0">
                <a:solidFill>
                  <a:schemeClr val="bg2"/>
                </a:solidFill>
                <a:latin typeface="Century Gothic" charset="0"/>
                <a:ea typeface="Century Gothic" charset="0"/>
                <a:cs typeface="Century Gothic" charset="0"/>
              </a:endParaRPr>
            </a:p>
          </p:txBody>
        </p:sp>
        <p:pic>
          <p:nvPicPr>
            <p:cNvPr id="36" name="Picture 35">
              <a:extLst>
                <a:ext uri="{FF2B5EF4-FFF2-40B4-BE49-F238E27FC236}">
                  <a16:creationId xmlns="" xmlns:a16="http://schemas.microsoft.com/office/drawing/2014/main" id="{F560C4E4-C191-9A47-AB23-CE9F52FFE3F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5280171" y="3708584"/>
              <a:ext cx="693945" cy="671577"/>
            </a:xfrm>
            <a:prstGeom prst="rect">
              <a:avLst/>
            </a:prstGeom>
          </p:spPr>
        </p:pic>
      </p:grpSp>
      <p:grpSp>
        <p:nvGrpSpPr>
          <p:cNvPr id="37" name="Group 36">
            <a:extLst>
              <a:ext uri="{FF2B5EF4-FFF2-40B4-BE49-F238E27FC236}">
                <a16:creationId xmlns="" xmlns:a16="http://schemas.microsoft.com/office/drawing/2014/main" id="{01AE9257-886F-C04B-85B4-4DC8622229A3}"/>
              </a:ext>
            </a:extLst>
          </p:cNvPr>
          <p:cNvGrpSpPr/>
          <p:nvPr/>
        </p:nvGrpSpPr>
        <p:grpSpPr>
          <a:xfrm>
            <a:off x="225708" y="2891668"/>
            <a:ext cx="4491515" cy="572045"/>
            <a:chOff x="2340816" y="2891668"/>
            <a:chExt cx="4491515" cy="572045"/>
          </a:xfrm>
        </p:grpSpPr>
        <p:pic>
          <p:nvPicPr>
            <p:cNvPr id="38" name="Picture 37">
              <a:extLst>
                <a:ext uri="{FF2B5EF4-FFF2-40B4-BE49-F238E27FC236}">
                  <a16:creationId xmlns="" xmlns:a16="http://schemas.microsoft.com/office/drawing/2014/main" id="{BC375E3D-728E-9548-8948-75FD3C5D310D}"/>
                </a:ext>
              </a:extLst>
            </p:cNvPr>
            <p:cNvPicPr>
              <a:picLocks noChangeAspect="1"/>
            </p:cNvPicPr>
            <p:nvPr/>
          </p:nvPicPr>
          <p:blipFill>
            <a:blip r:embed="rId6" cstate="email">
              <a:biLevel thresh="75000"/>
              <a:extLst>
                <a:ext uri="{28A0092B-C50C-407E-A947-70E740481C1C}">
                  <a14:useLocalDpi xmlns:a14="http://schemas.microsoft.com/office/drawing/2010/main"/>
                </a:ext>
              </a:extLst>
            </a:blip>
            <a:stretch>
              <a:fillRect/>
            </a:stretch>
          </p:blipFill>
          <p:spPr>
            <a:xfrm>
              <a:off x="2340816" y="2897866"/>
              <a:ext cx="1077804" cy="565847"/>
            </a:xfrm>
            <a:prstGeom prst="rect">
              <a:avLst/>
            </a:prstGeom>
          </p:spPr>
        </p:pic>
        <p:sp>
          <p:nvSpPr>
            <p:cNvPr id="39" name="Rectangle 38">
              <a:extLst>
                <a:ext uri="{FF2B5EF4-FFF2-40B4-BE49-F238E27FC236}">
                  <a16:creationId xmlns="" xmlns:a16="http://schemas.microsoft.com/office/drawing/2014/main" id="{D02475B1-F36D-F54C-B2DA-9467EDDB5C0D}"/>
                </a:ext>
              </a:extLst>
            </p:cNvPr>
            <p:cNvSpPr/>
            <p:nvPr/>
          </p:nvSpPr>
          <p:spPr>
            <a:xfrm>
              <a:off x="3315408" y="2891668"/>
              <a:ext cx="3516923" cy="523220"/>
            </a:xfrm>
            <a:prstGeom prst="rect">
              <a:avLst/>
            </a:prstGeom>
          </p:spPr>
          <p:txBody>
            <a:bodyPr wrap="square">
              <a:spAutoFit/>
            </a:bodyPr>
            <a:lstStyle/>
            <a:p>
              <a:r>
                <a:rPr lang="en-US" altLang="zh-CN" sz="2800" b="1" dirty="0" smtClean="0">
                  <a:solidFill>
                    <a:schemeClr val="bg2"/>
                  </a:solidFill>
                  <a:latin typeface="Century Gothic" charset="0"/>
                  <a:ea typeface="Century Gothic" charset="0"/>
                  <a:cs typeface="Century Gothic" charset="0"/>
                </a:rPr>
                <a:t>4000</a:t>
              </a:r>
              <a:r>
                <a:rPr lang="zh-CN" altLang="en-US" sz="2800" dirty="0" smtClean="0">
                  <a:solidFill>
                    <a:schemeClr val="bg2"/>
                  </a:solidFill>
                  <a:latin typeface="Century Gothic" charset="0"/>
                  <a:ea typeface="Century Gothic" charset="0"/>
                  <a:cs typeface="Century Gothic" charset="0"/>
                </a:rPr>
                <a:t> </a:t>
              </a:r>
              <a:r>
                <a:rPr lang="en-US" altLang="zh-CN" sz="2800" dirty="0">
                  <a:solidFill>
                    <a:schemeClr val="bg2"/>
                  </a:solidFill>
                  <a:latin typeface="Century Gothic" charset="0"/>
                  <a:ea typeface="Century Gothic" charset="0"/>
                  <a:cs typeface="Century Gothic" charset="0"/>
                </a:rPr>
                <a:t>papers</a:t>
              </a:r>
              <a:endParaRPr lang="en-US" sz="2800" dirty="0">
                <a:solidFill>
                  <a:schemeClr val="bg2"/>
                </a:solidFill>
                <a:latin typeface="Century Gothic" charset="0"/>
                <a:ea typeface="Century Gothic" charset="0"/>
                <a:cs typeface="Century Gothic" charset="0"/>
              </a:endParaRPr>
            </a:p>
          </p:txBody>
        </p:sp>
      </p:grpSp>
    </p:spTree>
    <p:extLst>
      <p:ext uri="{BB962C8B-B14F-4D97-AF65-F5344CB8AC3E}">
        <p14:creationId xmlns:p14="http://schemas.microsoft.com/office/powerpoint/2010/main" val="2636880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1000"/>
                                        <p:tgtEl>
                                          <p:spTgt spid="18"/>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childTnLst>
                          </p:cTn>
                        </p:par>
                        <p:par>
                          <p:cTn id="16" fill="hold">
                            <p:stCondLst>
                              <p:cond delay="2000"/>
                            </p:stCondLst>
                            <p:childTnLst>
                              <p:par>
                                <p:cTn id="17" presetID="1" presetClass="exit"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par>
                          <p:cTn id="21" fill="hold">
                            <p:stCondLst>
                              <p:cond delay="2000"/>
                            </p:stCondLst>
                            <p:childTnLst>
                              <p:par>
                                <p:cTn id="22" presetID="42" presetClass="path" presetSubtype="0" accel="50000" decel="50000" fill="hold" nodeType="afterEffect">
                                  <p:stCondLst>
                                    <p:cond delay="0"/>
                                  </p:stCondLst>
                                  <p:childTnLst>
                                    <p:animMotion origin="layout" path="M -1.11111E-6 -1.11111E-6 L 0.06719 0.07176 " pathEditMode="relative" rAng="0" ptsTypes="AA">
                                      <p:cBhvr>
                                        <p:cTn id="23" dur="1000" fill="hold"/>
                                        <p:tgtEl>
                                          <p:spTgt spid="18"/>
                                        </p:tgtEl>
                                        <p:attrNameLst>
                                          <p:attrName>ppt_x</p:attrName>
                                          <p:attrName>ppt_y</p:attrName>
                                        </p:attrNameLst>
                                      </p:cBhvr>
                                      <p:rCtr x="3351" y="3588"/>
                                    </p:animMotion>
                                  </p:childTnLst>
                                </p:cTn>
                              </p:par>
                              <p:par>
                                <p:cTn id="24" presetID="42" presetClass="path" presetSubtype="0" accel="50000" decel="50000" fill="hold" grpId="1" nodeType="withEffect">
                                  <p:stCondLst>
                                    <p:cond delay="0"/>
                                  </p:stCondLst>
                                  <p:childTnLst>
                                    <p:animMotion origin="layout" path="M 3.61111E-6 1.85185E-6 L 0.06701 0.06967 " pathEditMode="relative" rAng="0" ptsTypes="AA">
                                      <p:cBhvr>
                                        <p:cTn id="25" dur="1000" fill="hold"/>
                                        <p:tgtEl>
                                          <p:spTgt spid="27"/>
                                        </p:tgtEl>
                                        <p:attrNameLst>
                                          <p:attrName>ppt_x</p:attrName>
                                          <p:attrName>ppt_y</p:attrName>
                                        </p:attrNameLst>
                                      </p:cBhvr>
                                      <p:rCtr x="3351" y="3472"/>
                                    </p:animMotion>
                                  </p:childTnLst>
                                </p:cTn>
                              </p:par>
                            </p:childTnLst>
                          </p:cTn>
                        </p:par>
                        <p:par>
                          <p:cTn id="26" fill="hold">
                            <p:stCondLst>
                              <p:cond delay="3000"/>
                            </p:stCondLst>
                            <p:childTnLst>
                              <p:par>
                                <p:cTn id="27" presetID="22" presetClass="entr" presetSubtype="8"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1000"/>
                                        <p:tgtEl>
                                          <p:spTgt spid="24"/>
                                        </p:tgtEl>
                                      </p:cBhvr>
                                    </p:animEffect>
                                    <p:anim calcmode="lin" valueType="num">
                                      <p:cBhvr>
                                        <p:cTn id="35" dur="1000" fill="hold"/>
                                        <p:tgtEl>
                                          <p:spTgt spid="24"/>
                                        </p:tgtEl>
                                        <p:attrNameLst>
                                          <p:attrName>ppt_x</p:attrName>
                                        </p:attrNameLst>
                                      </p:cBhvr>
                                      <p:tavLst>
                                        <p:tav tm="0">
                                          <p:val>
                                            <p:strVal val="#ppt_x"/>
                                          </p:val>
                                        </p:tav>
                                        <p:tav tm="100000">
                                          <p:val>
                                            <p:strVal val="#ppt_x"/>
                                          </p:val>
                                        </p:tav>
                                      </p:tavLst>
                                    </p:anim>
                                    <p:anim calcmode="lin" valueType="num">
                                      <p:cBhvr>
                                        <p:cTn id="3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16" grpId="0" animBg="1"/>
      <p:bldP spid="22" grpId="0" animBg="1"/>
      <p:bldP spid="25" grpId="0"/>
      <p:bldP spid="27" grpId="0"/>
      <p:bldP spid="27" grpId="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30831" y="1669712"/>
            <a:ext cx="491352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assess the health of a company</a:t>
            </a:r>
          </a:p>
        </p:txBody>
      </p:sp>
      <p:sp>
        <p:nvSpPr>
          <p:cNvPr id="12" name="TextBox 11"/>
          <p:cNvSpPr txBox="1"/>
          <p:nvPr/>
        </p:nvSpPr>
        <p:spPr>
          <a:xfrm>
            <a:off x="3230831" y="1670272"/>
            <a:ext cx="522931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study causality in medical records</a:t>
            </a:r>
          </a:p>
        </p:txBody>
      </p:sp>
      <p:pic>
        <p:nvPicPr>
          <p:cNvPr id="4" name="Picture 3">
            <a:extLst>
              <a:ext uri="{FF2B5EF4-FFF2-40B4-BE49-F238E27FC236}">
                <a16:creationId xmlns="" xmlns:a16="http://schemas.microsoft.com/office/drawing/2014/main" id="{898E66DF-BFC0-7A48-8164-CD9BBDFD20B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80609" y="3198911"/>
            <a:ext cx="4535465" cy="2993408"/>
          </a:xfrm>
          <a:prstGeom prst="roundRect">
            <a:avLst/>
          </a:prstGeom>
          <a:ln>
            <a:solidFill>
              <a:schemeClr val="bg2"/>
            </a:solidFill>
          </a:ln>
        </p:spPr>
      </p:pic>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618648" y="3224517"/>
            <a:ext cx="5929017" cy="2964509"/>
          </a:xfrm>
          <a:prstGeom prst="roundRect">
            <a:avLst>
              <a:gd name="adj" fmla="val 8594"/>
            </a:avLst>
          </a:prstGeom>
          <a:solidFill>
            <a:srgbClr val="FFFFFF">
              <a:shade val="85000"/>
            </a:srgbClr>
          </a:solidFill>
          <a:ln>
            <a:solidFill>
              <a:schemeClr val="bg2"/>
            </a:solidFill>
          </a:ln>
          <a:effectLst/>
        </p:spPr>
      </p:pic>
      <p:pic>
        <p:nvPicPr>
          <p:cNvPr id="19" name="Picture 18"/>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154760" y="3224229"/>
            <a:ext cx="4587164" cy="3058656"/>
          </a:xfrm>
          <a:prstGeom prst="roundRect">
            <a:avLst>
              <a:gd name="adj" fmla="val 8594"/>
            </a:avLst>
          </a:prstGeom>
          <a:solidFill>
            <a:srgbClr val="FFFFFF">
              <a:shade val="85000"/>
            </a:srgbClr>
          </a:solidFill>
          <a:ln>
            <a:solidFill>
              <a:schemeClr val="bg2"/>
            </a:solidFill>
          </a:ln>
          <a:effectLst/>
        </p:spPr>
      </p:pic>
      <p:sp>
        <p:nvSpPr>
          <p:cNvPr id="6" name="TextBox 5">
            <a:extLst>
              <a:ext uri="{FF2B5EF4-FFF2-40B4-BE49-F238E27FC236}">
                <a16:creationId xmlns="" xmlns:a16="http://schemas.microsoft.com/office/drawing/2014/main" id="{D3AD5257-747E-5142-B9F2-FB58AE31DC5B}"/>
              </a:ext>
            </a:extLst>
          </p:cNvPr>
          <p:cNvSpPr txBox="1"/>
          <p:nvPr/>
        </p:nvSpPr>
        <p:spPr>
          <a:xfrm>
            <a:off x="685800" y="1665806"/>
            <a:ext cx="2819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If we manage to</a:t>
            </a:r>
          </a:p>
        </p:txBody>
      </p:sp>
      <p:sp>
        <p:nvSpPr>
          <p:cNvPr id="7" name="TextBox 6">
            <a:extLst>
              <a:ext uri="{FF2B5EF4-FFF2-40B4-BE49-F238E27FC236}">
                <a16:creationId xmlns="" xmlns:a16="http://schemas.microsoft.com/office/drawing/2014/main" id="{C6556243-2113-8F42-91F5-00CD30D8E354}"/>
              </a:ext>
            </a:extLst>
          </p:cNvPr>
          <p:cNvSpPr txBox="1"/>
          <p:nvPr/>
        </p:nvSpPr>
        <p:spPr>
          <a:xfrm>
            <a:off x="5862" y="290263"/>
            <a:ext cx="9144000" cy="523220"/>
          </a:xfrm>
          <a:prstGeom prst="rect">
            <a:avLst/>
          </a:prstGeom>
          <a:noFill/>
        </p:spPr>
        <p:txBody>
          <a:bodyPr wrap="square" rtlCol="0">
            <a:spAutoFit/>
          </a:bodyPr>
          <a:lstStyle/>
          <a:p>
            <a:pPr algn="ctr"/>
            <a:r>
              <a:rPr lang="en-US" sz="2800" dirty="0">
                <a:solidFill>
                  <a:schemeClr val="bg2"/>
                </a:solidFill>
                <a:latin typeface="Century Gothic" charset="0"/>
                <a:ea typeface="Century Gothic" charset="0"/>
                <a:cs typeface="Century Gothic" charset="0"/>
              </a:rPr>
              <a:t>Big text, big opportunities</a:t>
            </a:r>
          </a:p>
        </p:txBody>
      </p:sp>
      <p:sp>
        <p:nvSpPr>
          <p:cNvPr id="8" name="TextBox 7">
            <a:extLst>
              <a:ext uri="{FF2B5EF4-FFF2-40B4-BE49-F238E27FC236}">
                <a16:creationId xmlns="" xmlns:a16="http://schemas.microsoft.com/office/drawing/2014/main" id="{4ABA6C32-5FC0-0C41-979B-31D10D6E7B4D}"/>
              </a:ext>
            </a:extLst>
          </p:cNvPr>
          <p:cNvSpPr txBox="1"/>
          <p:nvPr/>
        </p:nvSpPr>
        <p:spPr>
          <a:xfrm>
            <a:off x="685800" y="2433935"/>
            <a:ext cx="2819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mn-cs"/>
              </a:rPr>
              <a:t>perhaps we can</a:t>
            </a:r>
          </a:p>
        </p:txBody>
      </p:sp>
      <p:sp>
        <p:nvSpPr>
          <p:cNvPr id="3" name="TextBox 2"/>
          <p:cNvSpPr txBox="1"/>
          <p:nvPr/>
        </p:nvSpPr>
        <p:spPr>
          <a:xfrm>
            <a:off x="3230831" y="1672610"/>
            <a:ext cx="564128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read and compare multiple sources</a:t>
            </a:r>
          </a:p>
        </p:txBody>
      </p:sp>
      <p:sp>
        <p:nvSpPr>
          <p:cNvPr id="9" name="TextBox 8"/>
          <p:cNvSpPr txBox="1"/>
          <p:nvPr/>
        </p:nvSpPr>
        <p:spPr>
          <a:xfrm>
            <a:off x="3206195" y="2440739"/>
            <a:ext cx="367280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fight against fake news</a:t>
            </a:r>
          </a:p>
        </p:txBody>
      </p:sp>
      <p:sp>
        <p:nvSpPr>
          <p:cNvPr id="11" name="TextBox 10"/>
          <p:cNvSpPr txBox="1"/>
          <p:nvPr/>
        </p:nvSpPr>
        <p:spPr>
          <a:xfrm>
            <a:off x="3211695" y="2447543"/>
            <a:ext cx="48542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better predict the market trend</a:t>
            </a:r>
          </a:p>
        </p:txBody>
      </p:sp>
      <p:sp>
        <p:nvSpPr>
          <p:cNvPr id="13" name="TextBox 12"/>
          <p:cNvSpPr txBox="1"/>
          <p:nvPr/>
        </p:nvSpPr>
        <p:spPr>
          <a:xfrm>
            <a:off x="3206195" y="2437446"/>
            <a:ext cx="409759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provide better diagnostics</a:t>
            </a:r>
          </a:p>
        </p:txBody>
      </p:sp>
      <p:sp>
        <p:nvSpPr>
          <p:cNvPr id="14" name="Rectangle 13"/>
          <p:cNvSpPr/>
          <p:nvPr/>
        </p:nvSpPr>
        <p:spPr>
          <a:xfrm>
            <a:off x="2569021" y="6274971"/>
            <a:ext cx="4420219" cy="25391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err="1">
                <a:solidFill>
                  <a:srgbClr val="333333"/>
                </a:solidFill>
                <a:latin typeface="Century Gothic" charset="0"/>
                <a:ea typeface="Century Gothic" charset="0"/>
                <a:cs typeface="Century Gothic" charset="0"/>
              </a:rPr>
              <a:t>Legalzoom</a:t>
            </a:r>
            <a:r>
              <a:rPr lang="en-US" sz="1050" dirty="0">
                <a:solidFill>
                  <a:srgbClr val="333333"/>
                </a:solidFill>
                <a:latin typeface="Century Gothic" charset="0"/>
                <a:ea typeface="Century Gothic" charset="0"/>
                <a:cs typeface="Century Gothic" charset="0"/>
              </a:rPr>
              <a:t>: Fake news, what laws are designed to protect</a:t>
            </a:r>
            <a:endParaRPr kumimoji="0" lang="en-US" sz="1050" b="0" i="0" u="none" strike="noStrike" kern="1200" cap="none" spc="0" normalizeH="0" baseline="0" noProof="0" dirty="0">
              <a:ln>
                <a:noFill/>
              </a:ln>
              <a:solidFill>
                <a:srgbClr val="333333"/>
              </a:solidFill>
              <a:effectLst/>
              <a:uLnTx/>
              <a:uFillTx/>
              <a:latin typeface="Century Gothic" charset="0"/>
              <a:ea typeface="Century Gothic" charset="0"/>
              <a:cs typeface="Century Gothic" charset="0"/>
            </a:endParaRPr>
          </a:p>
        </p:txBody>
      </p:sp>
      <p:sp>
        <p:nvSpPr>
          <p:cNvPr id="18" name="Rectangle 17"/>
          <p:cNvSpPr/>
          <p:nvPr/>
        </p:nvSpPr>
        <p:spPr>
          <a:xfrm>
            <a:off x="3792230" y="6280886"/>
            <a:ext cx="1571264" cy="2616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lumMod val="85000"/>
                    <a:lumOff val="15000"/>
                  </a:srgbClr>
                </a:solidFill>
                <a:effectLst/>
                <a:uLnTx/>
                <a:uFillTx/>
                <a:latin typeface="Century Gothic" charset="0"/>
                <a:ea typeface="Century Gothic" charset="0"/>
                <a:cs typeface="Century Gothic" charset="0"/>
              </a:rPr>
              <a:t>www.milesweb.com</a:t>
            </a:r>
            <a:endPar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endParaRPr>
          </a:p>
        </p:txBody>
      </p:sp>
      <p:sp>
        <p:nvSpPr>
          <p:cNvPr id="20" name="Rectangle 19"/>
          <p:cNvSpPr/>
          <p:nvPr/>
        </p:nvSpPr>
        <p:spPr>
          <a:xfrm>
            <a:off x="1618648" y="6427113"/>
            <a:ext cx="6802021" cy="43088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lumMod val="85000"/>
                    <a:lumOff val="15000"/>
                  </a:srgbClr>
                </a:solidFill>
                <a:effectLst/>
                <a:uLnTx/>
                <a:uFillTx/>
                <a:latin typeface="Century Gothic" charset="0"/>
                <a:ea typeface="Century Gothic" charset="0"/>
                <a:cs typeface="Century Gothic" charset="0"/>
              </a:rPr>
              <a:t>Engineersjournal</a:t>
            </a:r>
            <a:r>
              <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rPr>
              <a:t>: </a:t>
            </a:r>
            <a:r>
              <a:rPr kumimoji="0" lang="en-US" sz="1100" b="0" i="0" u="none" strike="noStrike" kern="1200" cap="none" spc="0" normalizeH="0" baseline="0" noProof="0" dirty="0" err="1">
                <a:ln>
                  <a:noFill/>
                </a:ln>
                <a:solidFill>
                  <a:srgbClr val="000000">
                    <a:lumMod val="85000"/>
                    <a:lumOff val="15000"/>
                  </a:srgbClr>
                </a:solidFill>
                <a:effectLst/>
                <a:uLnTx/>
                <a:uFillTx/>
                <a:latin typeface="Century Gothic" charset="0"/>
                <a:ea typeface="Century Gothic" charset="0"/>
                <a:cs typeface="Century Gothic" charset="0"/>
              </a:rPr>
              <a:t>BioInnovate</a:t>
            </a:r>
            <a:r>
              <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rPr>
              <a:t> Ireland Fellowship: innovating tomorrow’s medical devices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lumMod val="85000"/>
                  <a:lumOff val="15000"/>
                </a:srgbClr>
              </a:solidFill>
              <a:effectLst/>
              <a:uLnTx/>
              <a:uFillTx/>
              <a:latin typeface="Century Gothic" charset="0"/>
              <a:ea typeface="Century Gothic" charset="0"/>
              <a:cs typeface="Century Gothic" charset="0"/>
            </a:endParaRPr>
          </a:p>
        </p:txBody>
      </p:sp>
    </p:spTree>
    <p:extLst>
      <p:ext uri="{BB962C8B-B14F-4D97-AF65-F5344CB8AC3E}">
        <p14:creationId xmlns:p14="http://schemas.microsoft.com/office/powerpoint/2010/main" val="347585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47" presetClass="exit" presetSubtype="0" fill="hold" grpId="1" nodeType="clickEffect">
                                  <p:stCondLst>
                                    <p:cond delay="0"/>
                                  </p:stCondLst>
                                  <p:childTnLst>
                                    <p:animEffect transition="out" filter="fade">
                                      <p:cBhvr>
                                        <p:cTn id="25" dur="1000"/>
                                        <p:tgtEl>
                                          <p:spTgt spid="10"/>
                                        </p:tgtEl>
                                      </p:cBhvr>
                                    </p:animEffect>
                                    <p:anim calcmode="lin" valueType="num">
                                      <p:cBhvr>
                                        <p:cTn id="26" dur="1000"/>
                                        <p:tgtEl>
                                          <p:spTgt spid="10"/>
                                        </p:tgtEl>
                                        <p:attrNameLst>
                                          <p:attrName>ppt_x</p:attrName>
                                        </p:attrNameLst>
                                      </p:cBhvr>
                                      <p:tavLst>
                                        <p:tav tm="0">
                                          <p:val>
                                            <p:strVal val="ppt_x"/>
                                          </p:val>
                                        </p:tav>
                                        <p:tav tm="100000">
                                          <p:val>
                                            <p:strVal val="ppt_x"/>
                                          </p:val>
                                        </p:tav>
                                      </p:tavLst>
                                    </p:anim>
                                    <p:anim calcmode="lin" valueType="num">
                                      <p:cBhvr>
                                        <p:cTn id="27" dur="1000"/>
                                        <p:tgtEl>
                                          <p:spTgt spid="10"/>
                                        </p:tgtEl>
                                        <p:attrNameLst>
                                          <p:attrName>ppt_y</p:attrName>
                                        </p:attrNameLst>
                                      </p:cBhvr>
                                      <p:tavLst>
                                        <p:tav tm="0">
                                          <p:val>
                                            <p:strVal val="ppt_y"/>
                                          </p:val>
                                        </p:tav>
                                        <p:tav tm="100000">
                                          <p:val>
                                            <p:strVal val="ppt_y-.1"/>
                                          </p:val>
                                        </p:tav>
                                      </p:tavLst>
                                    </p:anim>
                                    <p:set>
                                      <p:cBhvr>
                                        <p:cTn id="28" dur="1" fill="hold">
                                          <p:stCondLst>
                                            <p:cond delay="999"/>
                                          </p:stCondLst>
                                        </p:cTn>
                                        <p:tgtEl>
                                          <p:spTgt spid="10"/>
                                        </p:tgtEl>
                                        <p:attrNameLst>
                                          <p:attrName>style.visibility</p:attrName>
                                        </p:attrNameLst>
                                      </p:cBhvr>
                                      <p:to>
                                        <p:strVal val="hidden"/>
                                      </p:to>
                                    </p:set>
                                  </p:childTnLst>
                                </p:cTn>
                              </p:par>
                              <p:par>
                                <p:cTn id="29" presetID="47" presetClass="exit" presetSubtype="0" fill="hold" grpId="1" nodeType="withEffect">
                                  <p:stCondLst>
                                    <p:cond delay="0"/>
                                  </p:stCondLst>
                                  <p:childTnLst>
                                    <p:animEffect transition="out" filter="fade">
                                      <p:cBhvr>
                                        <p:cTn id="30" dur="1000"/>
                                        <p:tgtEl>
                                          <p:spTgt spid="11"/>
                                        </p:tgtEl>
                                      </p:cBhvr>
                                    </p:animEffect>
                                    <p:anim calcmode="lin" valueType="num">
                                      <p:cBhvr>
                                        <p:cTn id="31" dur="1000"/>
                                        <p:tgtEl>
                                          <p:spTgt spid="11"/>
                                        </p:tgtEl>
                                        <p:attrNameLst>
                                          <p:attrName>ppt_x</p:attrName>
                                        </p:attrNameLst>
                                      </p:cBhvr>
                                      <p:tavLst>
                                        <p:tav tm="0">
                                          <p:val>
                                            <p:strVal val="ppt_x"/>
                                          </p:val>
                                        </p:tav>
                                        <p:tav tm="100000">
                                          <p:val>
                                            <p:strVal val="ppt_x"/>
                                          </p:val>
                                        </p:tav>
                                      </p:tavLst>
                                    </p:anim>
                                    <p:anim calcmode="lin" valueType="num">
                                      <p:cBhvr>
                                        <p:cTn id="32" dur="1000"/>
                                        <p:tgtEl>
                                          <p:spTgt spid="11"/>
                                        </p:tgtEl>
                                        <p:attrNameLst>
                                          <p:attrName>ppt_y</p:attrName>
                                        </p:attrNameLst>
                                      </p:cBhvr>
                                      <p:tavLst>
                                        <p:tav tm="0">
                                          <p:val>
                                            <p:strVal val="ppt_y"/>
                                          </p:val>
                                        </p:tav>
                                        <p:tav tm="100000">
                                          <p:val>
                                            <p:strVal val="ppt_y-.1"/>
                                          </p:val>
                                        </p:tav>
                                      </p:tavLst>
                                    </p:anim>
                                    <p:set>
                                      <p:cBhvr>
                                        <p:cTn id="33" dur="1" fill="hold">
                                          <p:stCondLst>
                                            <p:cond delay="999"/>
                                          </p:stCondLst>
                                        </p:cTn>
                                        <p:tgtEl>
                                          <p:spTgt spid="11"/>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17"/>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42" presetClass="entr" presetSubtype="0" fill="hold" grpId="1"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0"/>
                                        <p:tgtEl>
                                          <p:spTgt spid="3"/>
                                        </p:tgtEl>
                                      </p:cBhvr>
                                    </p:animEffect>
                                    <p:anim calcmode="lin" valueType="num">
                                      <p:cBhvr>
                                        <p:cTn id="41" dur="1000" fill="hold"/>
                                        <p:tgtEl>
                                          <p:spTgt spid="3"/>
                                        </p:tgtEl>
                                        <p:attrNameLst>
                                          <p:attrName>ppt_x</p:attrName>
                                        </p:attrNameLst>
                                      </p:cBhvr>
                                      <p:tavLst>
                                        <p:tav tm="0">
                                          <p:val>
                                            <p:strVal val="#ppt_x"/>
                                          </p:val>
                                        </p:tav>
                                        <p:tav tm="100000">
                                          <p:val>
                                            <p:strVal val="#ppt_x"/>
                                          </p:val>
                                        </p:tav>
                                      </p:tavLst>
                                    </p:anim>
                                    <p:anim calcmode="lin" valueType="num">
                                      <p:cBhvr>
                                        <p:cTn id="42" dur="1000" fill="hold"/>
                                        <p:tgtEl>
                                          <p:spTgt spid="3"/>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2" presetClass="entr" presetSubtype="0" fill="hold" grpId="1"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anim calcmode="lin" valueType="num">
                                      <p:cBhvr>
                                        <p:cTn id="47" dur="1000" fill="hold"/>
                                        <p:tgtEl>
                                          <p:spTgt spid="9"/>
                                        </p:tgtEl>
                                        <p:attrNameLst>
                                          <p:attrName>ppt_x</p:attrName>
                                        </p:attrNameLst>
                                      </p:cBhvr>
                                      <p:tavLst>
                                        <p:tav tm="0">
                                          <p:val>
                                            <p:strVal val="#ppt_x"/>
                                          </p:val>
                                        </p:tav>
                                        <p:tav tm="100000">
                                          <p:val>
                                            <p:strVal val="#ppt_x"/>
                                          </p:val>
                                        </p:tav>
                                      </p:tavLst>
                                    </p:anim>
                                    <p:anim calcmode="lin" valueType="num">
                                      <p:cBhvr>
                                        <p:cTn id="48" dur="1000" fill="hold"/>
                                        <p:tgtEl>
                                          <p:spTgt spid="9"/>
                                        </p:tgtEl>
                                        <p:attrNameLst>
                                          <p:attrName>ppt_y</p:attrName>
                                        </p:attrNameLst>
                                      </p:cBhvr>
                                      <p:tavLst>
                                        <p:tav tm="0">
                                          <p:val>
                                            <p:strVal val="#ppt_y+.1"/>
                                          </p:val>
                                        </p:tav>
                                        <p:tav tm="100000">
                                          <p:val>
                                            <p:strVal val="#ppt_y"/>
                                          </p:val>
                                        </p:tav>
                                      </p:tavLst>
                                    </p:anim>
                                  </p:childTnLst>
                                </p:cTn>
                              </p:par>
                              <p:par>
                                <p:cTn id="49" presetID="10" presetClass="entr" presetSubtype="0" fill="hold"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500"/>
                                        <p:tgtEl>
                                          <p:spTgt spid="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47" presetClass="exit" presetSubtype="0" fill="hold" grpId="0" nodeType="clickEffect">
                                  <p:stCondLst>
                                    <p:cond delay="0"/>
                                  </p:stCondLst>
                                  <p:childTnLst>
                                    <p:animEffect transition="out" filter="fade">
                                      <p:cBhvr>
                                        <p:cTn id="58" dur="1000"/>
                                        <p:tgtEl>
                                          <p:spTgt spid="3"/>
                                        </p:tgtEl>
                                      </p:cBhvr>
                                    </p:animEffect>
                                    <p:anim calcmode="lin" valueType="num">
                                      <p:cBhvr>
                                        <p:cTn id="59" dur="1000"/>
                                        <p:tgtEl>
                                          <p:spTgt spid="3"/>
                                        </p:tgtEl>
                                        <p:attrNameLst>
                                          <p:attrName>ppt_x</p:attrName>
                                        </p:attrNameLst>
                                      </p:cBhvr>
                                      <p:tavLst>
                                        <p:tav tm="0">
                                          <p:val>
                                            <p:strVal val="ppt_x"/>
                                          </p:val>
                                        </p:tav>
                                        <p:tav tm="100000">
                                          <p:val>
                                            <p:strVal val="ppt_x"/>
                                          </p:val>
                                        </p:tav>
                                      </p:tavLst>
                                    </p:anim>
                                    <p:anim calcmode="lin" valueType="num">
                                      <p:cBhvr>
                                        <p:cTn id="60" dur="1000"/>
                                        <p:tgtEl>
                                          <p:spTgt spid="3"/>
                                        </p:tgtEl>
                                        <p:attrNameLst>
                                          <p:attrName>ppt_y</p:attrName>
                                        </p:attrNameLst>
                                      </p:cBhvr>
                                      <p:tavLst>
                                        <p:tav tm="0">
                                          <p:val>
                                            <p:strVal val="ppt_y"/>
                                          </p:val>
                                        </p:tav>
                                        <p:tav tm="100000">
                                          <p:val>
                                            <p:strVal val="ppt_y-.1"/>
                                          </p:val>
                                        </p:tav>
                                      </p:tavLst>
                                    </p:anim>
                                    <p:set>
                                      <p:cBhvr>
                                        <p:cTn id="61" dur="1" fill="hold">
                                          <p:stCondLst>
                                            <p:cond delay="999"/>
                                          </p:stCondLst>
                                        </p:cTn>
                                        <p:tgtEl>
                                          <p:spTgt spid="3"/>
                                        </p:tgtEl>
                                        <p:attrNameLst>
                                          <p:attrName>style.visibility</p:attrName>
                                        </p:attrNameLst>
                                      </p:cBhvr>
                                      <p:to>
                                        <p:strVal val="hidden"/>
                                      </p:to>
                                    </p:set>
                                  </p:childTnLst>
                                </p:cTn>
                              </p:par>
                              <p:par>
                                <p:cTn id="62" presetID="47" presetClass="exit" presetSubtype="0" fill="hold" grpId="0" nodeType="withEffect">
                                  <p:stCondLst>
                                    <p:cond delay="0"/>
                                  </p:stCondLst>
                                  <p:childTnLst>
                                    <p:animEffect transition="out" filter="fade">
                                      <p:cBhvr>
                                        <p:cTn id="63" dur="1000"/>
                                        <p:tgtEl>
                                          <p:spTgt spid="9"/>
                                        </p:tgtEl>
                                      </p:cBhvr>
                                    </p:animEffect>
                                    <p:anim calcmode="lin" valueType="num">
                                      <p:cBhvr>
                                        <p:cTn id="64" dur="1000"/>
                                        <p:tgtEl>
                                          <p:spTgt spid="9"/>
                                        </p:tgtEl>
                                        <p:attrNameLst>
                                          <p:attrName>ppt_x</p:attrName>
                                        </p:attrNameLst>
                                      </p:cBhvr>
                                      <p:tavLst>
                                        <p:tav tm="0">
                                          <p:val>
                                            <p:strVal val="ppt_x"/>
                                          </p:val>
                                        </p:tav>
                                        <p:tav tm="100000">
                                          <p:val>
                                            <p:strVal val="ppt_x"/>
                                          </p:val>
                                        </p:tav>
                                      </p:tavLst>
                                    </p:anim>
                                    <p:anim calcmode="lin" valueType="num">
                                      <p:cBhvr>
                                        <p:cTn id="65" dur="1000"/>
                                        <p:tgtEl>
                                          <p:spTgt spid="9"/>
                                        </p:tgtEl>
                                        <p:attrNameLst>
                                          <p:attrName>ppt_y</p:attrName>
                                        </p:attrNameLst>
                                      </p:cBhvr>
                                      <p:tavLst>
                                        <p:tav tm="0">
                                          <p:val>
                                            <p:strVal val="ppt_y"/>
                                          </p:val>
                                        </p:tav>
                                        <p:tav tm="100000">
                                          <p:val>
                                            <p:strVal val="ppt_y-.1"/>
                                          </p:val>
                                        </p:tav>
                                      </p:tavLst>
                                    </p:anim>
                                    <p:set>
                                      <p:cBhvr>
                                        <p:cTn id="66" dur="1" fill="hold">
                                          <p:stCondLst>
                                            <p:cond delay="999"/>
                                          </p:stCondLst>
                                        </p:cTn>
                                        <p:tgtEl>
                                          <p:spTgt spid="9"/>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1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4"/>
                                        </p:tgtEl>
                                        <p:attrNameLst>
                                          <p:attrName>style.visibility</p:attrName>
                                        </p:attrNameLst>
                                      </p:cBhvr>
                                      <p:to>
                                        <p:strVal val="hidden"/>
                                      </p:to>
                                    </p:set>
                                  </p:childTnLst>
                                </p:cTn>
                              </p:par>
                              <p:par>
                                <p:cTn id="71" presetID="42" presetClass="entr" presetSubtype="0" fill="hold" grpId="0" nodeType="withEffect">
                                  <p:stCondLst>
                                    <p:cond delay="0"/>
                                  </p:stCondLst>
                                  <p:childTnLst>
                                    <p:set>
                                      <p:cBhvr>
                                        <p:cTn id="72" dur="1" fill="hold">
                                          <p:stCondLst>
                                            <p:cond delay="0"/>
                                          </p:stCondLst>
                                        </p:cTn>
                                        <p:tgtEl>
                                          <p:spTgt spid="12"/>
                                        </p:tgtEl>
                                        <p:attrNameLst>
                                          <p:attrName>style.visibility</p:attrName>
                                        </p:attrNameLst>
                                      </p:cBhvr>
                                      <p:to>
                                        <p:strVal val="visible"/>
                                      </p:to>
                                    </p:set>
                                    <p:animEffect transition="in" filter="fade">
                                      <p:cBhvr>
                                        <p:cTn id="73" dur="1000"/>
                                        <p:tgtEl>
                                          <p:spTgt spid="12"/>
                                        </p:tgtEl>
                                      </p:cBhvr>
                                    </p:animEffect>
                                    <p:anim calcmode="lin" valueType="num">
                                      <p:cBhvr>
                                        <p:cTn id="74" dur="1000" fill="hold"/>
                                        <p:tgtEl>
                                          <p:spTgt spid="12"/>
                                        </p:tgtEl>
                                        <p:attrNameLst>
                                          <p:attrName>ppt_x</p:attrName>
                                        </p:attrNameLst>
                                      </p:cBhvr>
                                      <p:tavLst>
                                        <p:tav tm="0">
                                          <p:val>
                                            <p:strVal val="#ppt_x"/>
                                          </p:val>
                                        </p:tav>
                                        <p:tav tm="100000">
                                          <p:val>
                                            <p:strVal val="#ppt_x"/>
                                          </p:val>
                                        </p:tav>
                                      </p:tavLst>
                                    </p:anim>
                                    <p:anim calcmode="lin" valueType="num">
                                      <p:cBhvr>
                                        <p:cTn id="75" dur="1000" fill="hold"/>
                                        <p:tgtEl>
                                          <p:spTgt spid="12"/>
                                        </p:tgtEl>
                                        <p:attrNameLst>
                                          <p:attrName>ppt_y</p:attrName>
                                        </p:attrNameLst>
                                      </p:cBhvr>
                                      <p:tavLst>
                                        <p:tav tm="0">
                                          <p:val>
                                            <p:strVal val="#ppt_y+.1"/>
                                          </p:val>
                                        </p:tav>
                                        <p:tav tm="100000">
                                          <p:val>
                                            <p:strVal val="#ppt_y"/>
                                          </p:val>
                                        </p:tav>
                                      </p:tavLst>
                                    </p:anim>
                                  </p:childTnLst>
                                </p:cTn>
                              </p:par>
                            </p:childTnLst>
                          </p:cTn>
                        </p:par>
                        <p:par>
                          <p:cTn id="76" fill="hold">
                            <p:stCondLst>
                              <p:cond delay="1000"/>
                            </p:stCondLst>
                            <p:childTnLst>
                              <p:par>
                                <p:cTn id="77" presetID="42" presetClass="entr" presetSubtype="0" fill="hold" grpId="0" nodeType="after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1000"/>
                                        <p:tgtEl>
                                          <p:spTgt spid="13"/>
                                        </p:tgtEl>
                                      </p:cBhvr>
                                    </p:animEffect>
                                    <p:anim calcmode="lin" valueType="num">
                                      <p:cBhvr>
                                        <p:cTn id="80" dur="1000" fill="hold"/>
                                        <p:tgtEl>
                                          <p:spTgt spid="13"/>
                                        </p:tgtEl>
                                        <p:attrNameLst>
                                          <p:attrName>ppt_x</p:attrName>
                                        </p:attrNameLst>
                                      </p:cBhvr>
                                      <p:tavLst>
                                        <p:tav tm="0">
                                          <p:val>
                                            <p:strVal val="#ppt_x"/>
                                          </p:val>
                                        </p:tav>
                                        <p:tav tm="100000">
                                          <p:val>
                                            <p:strVal val="#ppt_x"/>
                                          </p:val>
                                        </p:tav>
                                      </p:tavLst>
                                    </p:anim>
                                    <p:anim calcmode="lin" valueType="num">
                                      <p:cBhvr>
                                        <p:cTn id="81" dur="1000" fill="hold"/>
                                        <p:tgtEl>
                                          <p:spTgt spid="13"/>
                                        </p:tgtEl>
                                        <p:attrNameLst>
                                          <p:attrName>ppt_y</p:attrName>
                                        </p:attrNameLst>
                                      </p:cBhvr>
                                      <p:tavLst>
                                        <p:tav tm="0">
                                          <p:val>
                                            <p:strVal val="#ppt_y+.1"/>
                                          </p:val>
                                        </p:tav>
                                        <p:tav tm="100000">
                                          <p:val>
                                            <p:strVal val="#ppt_y"/>
                                          </p:val>
                                        </p:tav>
                                      </p:tavLst>
                                    </p:anim>
                                  </p:childTnLst>
                                </p:cTn>
                              </p:par>
                              <p:par>
                                <p:cTn id="82" presetID="10" presetClass="entr" presetSubtype="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10" presetClass="entr" presetSubtype="0" fill="hold"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2" grpId="0"/>
      <p:bldP spid="3" grpId="0"/>
      <p:bldP spid="3" grpId="1"/>
      <p:bldP spid="9" grpId="0"/>
      <p:bldP spid="9" grpId="1"/>
      <p:bldP spid="11" grpId="0"/>
      <p:bldP spid="11" grpId="1"/>
      <p:bldP spid="13" grpId="0"/>
      <p:bldP spid="14" grpId="0"/>
      <p:bldP spid="14" grpId="1"/>
      <p:bldP spid="18" grpId="0"/>
      <p:bldP spid="18" grpId="1"/>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030AE1-6751-9545-9AE7-4CD6E11CE8A4}"/>
              </a:ext>
            </a:extLst>
          </p:cNvPr>
          <p:cNvSpPr>
            <a:spLocks noGrp="1"/>
          </p:cNvSpPr>
          <p:nvPr>
            <p:ph type="title"/>
          </p:nvPr>
        </p:nvSpPr>
        <p:spPr>
          <a:xfrm>
            <a:off x="0" y="3162300"/>
            <a:ext cx="9144000" cy="533400"/>
          </a:xfrm>
        </p:spPr>
        <p:txBody>
          <a:bodyPr/>
          <a:lstStyle/>
          <a:p>
            <a:r>
              <a:rPr lang="en-US" dirty="0"/>
              <a:t>Natural language is natural for </a:t>
            </a:r>
            <a:r>
              <a:rPr lang="en-US" dirty="0">
                <a:solidFill>
                  <a:srgbClr val="C17A90"/>
                </a:solidFill>
              </a:rPr>
              <a:t>humans</a:t>
            </a:r>
          </a:p>
        </p:txBody>
      </p:sp>
    </p:spTree>
    <p:extLst>
      <p:ext uri="{BB962C8B-B14F-4D97-AF65-F5344CB8AC3E}">
        <p14:creationId xmlns:p14="http://schemas.microsoft.com/office/powerpoint/2010/main" val="1116501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030AE1-6751-9545-9AE7-4CD6E11CE8A4}"/>
              </a:ext>
            </a:extLst>
          </p:cNvPr>
          <p:cNvSpPr>
            <a:spLocks noGrp="1"/>
          </p:cNvSpPr>
          <p:nvPr>
            <p:ph type="title"/>
          </p:nvPr>
        </p:nvSpPr>
        <p:spPr>
          <a:xfrm>
            <a:off x="-152400" y="316230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Tree>
    <p:extLst>
      <p:ext uri="{BB962C8B-B14F-4D97-AF65-F5344CB8AC3E}">
        <p14:creationId xmlns:p14="http://schemas.microsoft.com/office/powerpoint/2010/main" val="19515769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534400" cy="4038600"/>
          </a:xfrm>
        </p:spPr>
        <p:txBody>
          <a:bodyPr/>
          <a:lstStyle/>
          <a:p>
            <a:pPr marL="0" indent="0">
              <a:lnSpc>
                <a:spcPct val="200000"/>
              </a:lnSpc>
              <a:buNone/>
            </a:pPr>
            <a:r>
              <a:rPr lang="en-US" sz="2000" b="1" i="1" dirty="0"/>
              <a:t>Public Radio International (1998/02/13 Friday)</a:t>
            </a:r>
          </a:p>
          <a:p>
            <a:pPr marL="0" indent="0">
              <a:lnSpc>
                <a:spcPct val="200000"/>
              </a:lnSpc>
              <a:buNone/>
            </a:pPr>
            <a:r>
              <a:rPr lang="en-US" sz="2000" dirty="0"/>
              <a:t>In Los Angeles that lesson was brought home Friday when tons of earth cascaded down a hillside, ripping two houses from their foundations. No one was hurt, but firefighters ordered the evacuation of nearby homes and said they'll monitor the shifting ground until March 23</a:t>
            </a:r>
            <a:r>
              <a:rPr lang="en-US" sz="2000" baseline="30000" dirty="0"/>
              <a:t>rd</a:t>
            </a:r>
            <a:r>
              <a:rPr lang="en-US" sz="2000" dirty="0"/>
              <a:t>.</a:t>
            </a:r>
          </a:p>
        </p:txBody>
      </p:sp>
      <p:sp>
        <p:nvSpPr>
          <p:cNvPr id="52" name="Title 1">
            <a:extLst>
              <a:ext uri="{FF2B5EF4-FFF2-40B4-BE49-F238E27FC236}">
                <a16:creationId xmlns="" xmlns:a16="http://schemas.microsoft.com/office/drawing/2014/main" id="{A1C9E7F4-E30C-B24C-BA27-35E162585019}"/>
              </a:ext>
            </a:extLst>
          </p:cNvPr>
          <p:cNvSpPr>
            <a:spLocks noGrp="1"/>
          </p:cNvSpPr>
          <p:nvPr>
            <p:ph type="title"/>
          </p:nvPr>
        </p:nvSpPr>
        <p:spPr>
          <a:xfrm>
            <a:off x="0" y="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
        <p:nvSpPr>
          <p:cNvPr id="8" name="Rounded Rectangle 7">
            <a:extLst>
              <a:ext uri="{FF2B5EF4-FFF2-40B4-BE49-F238E27FC236}">
                <a16:creationId xmlns="" xmlns:a16="http://schemas.microsoft.com/office/drawing/2014/main" id="{16633DCF-1E6C-C04F-8508-8BE3308C84B2}"/>
              </a:ext>
            </a:extLst>
          </p:cNvPr>
          <p:cNvSpPr/>
          <p:nvPr/>
        </p:nvSpPr>
        <p:spPr>
          <a:xfrm>
            <a:off x="5181602" y="2057399"/>
            <a:ext cx="838200" cy="462987"/>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 xmlns:a16="http://schemas.microsoft.com/office/drawing/2014/main" id="{08A866E6-EFFE-9B47-970C-4CD32D858CF7}"/>
              </a:ext>
            </a:extLst>
          </p:cNvPr>
          <p:cNvSpPr/>
          <p:nvPr/>
        </p:nvSpPr>
        <p:spPr>
          <a:xfrm>
            <a:off x="3200400" y="3859192"/>
            <a:ext cx="914400" cy="487102"/>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 xmlns:a16="http://schemas.microsoft.com/office/drawing/2014/main" id="{AE940E84-698E-1D4C-B449-11802F596241}"/>
              </a:ext>
            </a:extLst>
          </p:cNvPr>
          <p:cNvSpPr/>
          <p:nvPr/>
        </p:nvSpPr>
        <p:spPr>
          <a:xfrm>
            <a:off x="1981200" y="4437926"/>
            <a:ext cx="1371600" cy="517967"/>
          </a:xfrm>
          <a:prstGeom prst="roundRect">
            <a:avLst/>
          </a:prstGeom>
          <a:noFill/>
          <a:ln w="38100">
            <a:solidFill>
              <a:srgbClr val="6881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 xmlns:a16="http://schemas.microsoft.com/office/drawing/2014/main" id="{7A55E6D1-981D-A04E-B54C-2AAED620E991}"/>
              </a:ext>
            </a:extLst>
          </p:cNvPr>
          <p:cNvSpPr/>
          <p:nvPr/>
        </p:nvSpPr>
        <p:spPr>
          <a:xfrm>
            <a:off x="5225970" y="3893916"/>
            <a:ext cx="565232" cy="441541"/>
          </a:xfrm>
          <a:prstGeom prst="roundRect">
            <a:avLst/>
          </a:prstGeom>
          <a:noFill/>
          <a:ln w="38100">
            <a:solidFill>
              <a:srgbClr val="757D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 xmlns:a16="http://schemas.microsoft.com/office/drawing/2014/main" id="{C9FECEC8-CBD0-0A41-A110-02CC31A99200}"/>
              </a:ext>
            </a:extLst>
          </p:cNvPr>
          <p:cNvSpPr/>
          <p:nvPr/>
        </p:nvSpPr>
        <p:spPr>
          <a:xfrm>
            <a:off x="457200" y="2655425"/>
            <a:ext cx="2054505"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 xmlns:a16="http://schemas.microsoft.com/office/drawing/2014/main" id="{4955F000-BB71-5743-AACB-67C9DCE7DC05}"/>
              </a:ext>
            </a:extLst>
          </p:cNvPr>
          <p:cNvSpPr/>
          <p:nvPr/>
        </p:nvSpPr>
        <p:spPr>
          <a:xfrm>
            <a:off x="7494609" y="3859192"/>
            <a:ext cx="887392"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 xmlns:a16="http://schemas.microsoft.com/office/drawing/2014/main" id="{6B539AC9-7C4F-C048-9CA0-DBE0E364B644}"/>
              </a:ext>
            </a:extLst>
          </p:cNvPr>
          <p:cNvSpPr/>
          <p:nvPr/>
        </p:nvSpPr>
        <p:spPr>
          <a:xfrm>
            <a:off x="422477" y="4437927"/>
            <a:ext cx="949124"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 xmlns:a16="http://schemas.microsoft.com/office/drawing/2014/main" id="{C6225061-A074-EB48-98B9-344CC39F254A}"/>
              </a:ext>
            </a:extLst>
          </p:cNvPr>
          <p:cNvSpPr txBox="1"/>
          <p:nvPr/>
        </p:nvSpPr>
        <p:spPr>
          <a:xfrm>
            <a:off x="3425390" y="4439627"/>
            <a:ext cx="5197257"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Plural form of “home” as in “brought home”?</a:t>
            </a:r>
          </a:p>
        </p:txBody>
      </p:sp>
      <p:sp>
        <p:nvSpPr>
          <p:cNvPr id="62" name="TextBox 61">
            <a:extLst>
              <a:ext uri="{FF2B5EF4-FFF2-40B4-BE49-F238E27FC236}">
                <a16:creationId xmlns="" xmlns:a16="http://schemas.microsoft.com/office/drawing/2014/main" id="{91C9A096-EC8A-C543-9843-B6D9172D4F8C}"/>
              </a:ext>
            </a:extLst>
          </p:cNvPr>
          <p:cNvSpPr txBox="1"/>
          <p:nvPr/>
        </p:nvSpPr>
        <p:spPr>
          <a:xfrm>
            <a:off x="2174111" y="4992638"/>
            <a:ext cx="3988592" cy="369332"/>
          </a:xfrm>
          <a:prstGeom prst="rect">
            <a:avLst/>
          </a:prstGeom>
          <a:noFill/>
        </p:spPr>
        <p:txBody>
          <a:bodyPr wrap="none" rtlCol="0">
            <a:spAutoFit/>
          </a:bodyPr>
          <a:lstStyle/>
          <a:p>
            <a:r>
              <a:rPr lang="en-US" dirty="0">
                <a:solidFill>
                  <a:srgbClr val="6881B4"/>
                </a:solidFill>
                <a:latin typeface="Century Gothic" panose="020B0502020202020204" pitchFamily="34" charset="0"/>
              </a:rPr>
              <a:t>Will they monitor until </a:t>
            </a:r>
            <a:r>
              <a:rPr lang="en-US" b="1" dirty="0">
                <a:solidFill>
                  <a:srgbClr val="6881B4"/>
                </a:solidFill>
                <a:latin typeface="Century Gothic" panose="020B0502020202020204" pitchFamily="34" charset="0"/>
              </a:rPr>
              <a:t>2019/03/23</a:t>
            </a:r>
            <a:r>
              <a:rPr lang="en-US" dirty="0">
                <a:solidFill>
                  <a:srgbClr val="6881B4"/>
                </a:solidFill>
                <a:latin typeface="Century Gothic" panose="020B0502020202020204" pitchFamily="34" charset="0"/>
              </a:rPr>
              <a:t>?</a:t>
            </a:r>
          </a:p>
        </p:txBody>
      </p:sp>
      <p:sp>
        <p:nvSpPr>
          <p:cNvPr id="63" name="TextBox 62">
            <a:extLst>
              <a:ext uri="{FF2B5EF4-FFF2-40B4-BE49-F238E27FC236}">
                <a16:creationId xmlns="" xmlns:a16="http://schemas.microsoft.com/office/drawing/2014/main" id="{B8755574-3FE7-494C-ACB1-CBF22D65C53E}"/>
              </a:ext>
            </a:extLst>
          </p:cNvPr>
          <p:cNvSpPr txBox="1"/>
          <p:nvPr/>
        </p:nvSpPr>
        <p:spPr>
          <a:xfrm>
            <a:off x="5600702" y="3573342"/>
            <a:ext cx="3674404" cy="369332"/>
          </a:xfrm>
          <a:prstGeom prst="rect">
            <a:avLst/>
          </a:prstGeom>
          <a:noFill/>
        </p:spPr>
        <p:txBody>
          <a:bodyPr wrap="none" rtlCol="0">
            <a:spAutoFit/>
          </a:bodyPr>
          <a:lstStyle/>
          <a:p>
            <a:r>
              <a:rPr lang="en-US" dirty="0">
                <a:solidFill>
                  <a:srgbClr val="757D78"/>
                </a:solidFill>
                <a:latin typeface="Century Gothic" panose="020B0502020202020204" pitchFamily="34" charset="0"/>
              </a:rPr>
              <a:t>Who are they? Nearby homes?</a:t>
            </a:r>
          </a:p>
        </p:txBody>
      </p:sp>
      <p:sp>
        <p:nvSpPr>
          <p:cNvPr id="64" name="TextBox 63">
            <a:extLst>
              <a:ext uri="{FF2B5EF4-FFF2-40B4-BE49-F238E27FC236}">
                <a16:creationId xmlns="" xmlns:a16="http://schemas.microsoft.com/office/drawing/2014/main" id="{7F3C7217-4982-1B4B-867B-01A75115F88A}"/>
              </a:ext>
            </a:extLst>
          </p:cNvPr>
          <p:cNvSpPr txBox="1"/>
          <p:nvPr/>
        </p:nvSpPr>
        <p:spPr>
          <a:xfrm>
            <a:off x="385823" y="5113737"/>
            <a:ext cx="824265"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Same</a:t>
            </a:r>
          </a:p>
        </p:txBody>
      </p:sp>
    </p:spTree>
    <p:extLst>
      <p:ext uri="{BB962C8B-B14F-4D97-AF65-F5344CB8AC3E}">
        <p14:creationId xmlns:p14="http://schemas.microsoft.com/office/powerpoint/2010/main" val="3633727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dissolve">
                                      <p:cBhvr>
                                        <p:cTn id="20" dur="500"/>
                                        <p:tgtEl>
                                          <p:spTgt spid="5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dissolv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1" nodeType="clickEffect">
                                  <p:stCondLst>
                                    <p:cond delay="0"/>
                                  </p:stCondLst>
                                  <p:childTnLst>
                                    <p:animEffect transition="out" filter="dissolve">
                                      <p:cBhvr>
                                        <p:cTn id="27" dur="500"/>
                                        <p:tgtEl>
                                          <p:spTgt spid="8"/>
                                        </p:tgtEl>
                                      </p:cBhvr>
                                    </p:animEffect>
                                    <p:set>
                                      <p:cBhvr>
                                        <p:cTn id="28" dur="1" fill="hold">
                                          <p:stCondLst>
                                            <p:cond delay="499"/>
                                          </p:stCondLst>
                                        </p:cTn>
                                        <p:tgtEl>
                                          <p:spTgt spid="8"/>
                                        </p:tgtEl>
                                        <p:attrNameLst>
                                          <p:attrName>style.visibility</p:attrName>
                                        </p:attrNameLst>
                                      </p:cBhvr>
                                      <p:to>
                                        <p:strVal val="hidden"/>
                                      </p:to>
                                    </p:set>
                                  </p:childTnLst>
                                </p:cTn>
                              </p:par>
                              <p:par>
                                <p:cTn id="29" presetID="9" presetClass="exit" presetSubtype="0" fill="hold" grpId="1" nodeType="withEffect">
                                  <p:stCondLst>
                                    <p:cond delay="0"/>
                                  </p:stCondLst>
                                  <p:childTnLst>
                                    <p:animEffect transition="out" filter="dissolve">
                                      <p:cBhvr>
                                        <p:cTn id="30" dur="500"/>
                                        <p:tgtEl>
                                          <p:spTgt spid="54"/>
                                        </p:tgtEl>
                                      </p:cBhvr>
                                    </p:animEffect>
                                    <p:set>
                                      <p:cBhvr>
                                        <p:cTn id="31" dur="1" fill="hold">
                                          <p:stCondLst>
                                            <p:cond delay="499"/>
                                          </p:stCondLst>
                                        </p:cTn>
                                        <p:tgtEl>
                                          <p:spTgt spid="54"/>
                                        </p:tgtEl>
                                        <p:attrNameLst>
                                          <p:attrName>style.visibility</p:attrName>
                                        </p:attrNameLst>
                                      </p:cBhvr>
                                      <p:to>
                                        <p:strVal val="hidden"/>
                                      </p:to>
                                    </p:set>
                                  </p:childTnLst>
                                </p:cTn>
                              </p:par>
                              <p:par>
                                <p:cTn id="32" presetID="9" presetClass="exit" presetSubtype="0" fill="hold" grpId="1" nodeType="withEffect">
                                  <p:stCondLst>
                                    <p:cond delay="0"/>
                                  </p:stCondLst>
                                  <p:childTnLst>
                                    <p:animEffect transition="out" filter="dissolv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dissolve">
                                      <p:cBhvr>
                                        <p:cTn id="38" dur="500"/>
                                        <p:tgtEl>
                                          <p:spTgt spid="5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dissolve">
                                      <p:cBhvr>
                                        <p:cTn id="41" dur="500"/>
                                        <p:tgtEl>
                                          <p:spTgt spid="59"/>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dissolve">
                                      <p:cBhvr>
                                        <p:cTn id="44" dur="500"/>
                                        <p:tgtEl>
                                          <p:spTgt spid="60"/>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dissolve">
                                      <p:cBhvr>
                                        <p:cTn id="47" dur="500"/>
                                        <p:tgtEl>
                                          <p:spTgt spid="6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grpId="1" nodeType="clickEffect">
                                  <p:stCondLst>
                                    <p:cond delay="0"/>
                                  </p:stCondLst>
                                  <p:childTnLst>
                                    <p:animEffect transition="out" filter="dissolve">
                                      <p:cBhvr>
                                        <p:cTn id="51" dur="500"/>
                                        <p:tgtEl>
                                          <p:spTgt spid="58"/>
                                        </p:tgtEl>
                                      </p:cBhvr>
                                    </p:animEffect>
                                    <p:set>
                                      <p:cBhvr>
                                        <p:cTn id="52" dur="1" fill="hold">
                                          <p:stCondLst>
                                            <p:cond delay="499"/>
                                          </p:stCondLst>
                                        </p:cTn>
                                        <p:tgtEl>
                                          <p:spTgt spid="58"/>
                                        </p:tgtEl>
                                        <p:attrNameLst>
                                          <p:attrName>style.visibility</p:attrName>
                                        </p:attrNameLst>
                                      </p:cBhvr>
                                      <p:to>
                                        <p:strVal val="hidden"/>
                                      </p:to>
                                    </p:set>
                                  </p:childTnLst>
                                </p:cTn>
                              </p:par>
                              <p:par>
                                <p:cTn id="53" presetID="9" presetClass="exit" presetSubtype="0" fill="hold" grpId="1" nodeType="withEffect">
                                  <p:stCondLst>
                                    <p:cond delay="0"/>
                                  </p:stCondLst>
                                  <p:childTnLst>
                                    <p:animEffect transition="out" filter="dissolve">
                                      <p:cBhvr>
                                        <p:cTn id="54" dur="500"/>
                                        <p:tgtEl>
                                          <p:spTgt spid="59"/>
                                        </p:tgtEl>
                                      </p:cBhvr>
                                    </p:animEffect>
                                    <p:set>
                                      <p:cBhvr>
                                        <p:cTn id="55" dur="1" fill="hold">
                                          <p:stCondLst>
                                            <p:cond delay="499"/>
                                          </p:stCondLst>
                                        </p:cTn>
                                        <p:tgtEl>
                                          <p:spTgt spid="59"/>
                                        </p:tgtEl>
                                        <p:attrNameLst>
                                          <p:attrName>style.visibility</p:attrName>
                                        </p:attrNameLst>
                                      </p:cBhvr>
                                      <p:to>
                                        <p:strVal val="hidden"/>
                                      </p:to>
                                    </p:set>
                                  </p:childTnLst>
                                </p:cTn>
                              </p:par>
                              <p:par>
                                <p:cTn id="56" presetID="9" presetClass="exit" presetSubtype="0" fill="hold" grpId="1" nodeType="withEffect">
                                  <p:stCondLst>
                                    <p:cond delay="0"/>
                                  </p:stCondLst>
                                  <p:childTnLst>
                                    <p:animEffect transition="out" filter="dissolve">
                                      <p:cBhvr>
                                        <p:cTn id="57" dur="500"/>
                                        <p:tgtEl>
                                          <p:spTgt spid="60"/>
                                        </p:tgtEl>
                                      </p:cBhvr>
                                    </p:animEffect>
                                    <p:set>
                                      <p:cBhvr>
                                        <p:cTn id="58" dur="1" fill="hold">
                                          <p:stCondLst>
                                            <p:cond delay="499"/>
                                          </p:stCondLst>
                                        </p:cTn>
                                        <p:tgtEl>
                                          <p:spTgt spid="60"/>
                                        </p:tgtEl>
                                        <p:attrNameLst>
                                          <p:attrName>style.visibility</p:attrName>
                                        </p:attrNameLst>
                                      </p:cBhvr>
                                      <p:to>
                                        <p:strVal val="hidden"/>
                                      </p:to>
                                    </p:set>
                                  </p:childTnLst>
                                </p:cTn>
                              </p:par>
                              <p:par>
                                <p:cTn id="59" presetID="9" presetClass="exit" presetSubtype="0" fill="hold" grpId="1" nodeType="withEffect">
                                  <p:stCondLst>
                                    <p:cond delay="0"/>
                                  </p:stCondLst>
                                  <p:childTnLst>
                                    <p:animEffect transition="out" filter="dissolve">
                                      <p:cBhvr>
                                        <p:cTn id="60" dur="500"/>
                                        <p:tgtEl>
                                          <p:spTgt spid="64"/>
                                        </p:tgtEl>
                                      </p:cBhvr>
                                    </p:animEffect>
                                    <p:set>
                                      <p:cBhvr>
                                        <p:cTn id="61" dur="1" fill="hold">
                                          <p:stCondLst>
                                            <p:cond delay="499"/>
                                          </p:stCondLst>
                                        </p:cTn>
                                        <p:tgtEl>
                                          <p:spTgt spid="64"/>
                                        </p:tgtEl>
                                        <p:attrNameLst>
                                          <p:attrName>style.visibility</p:attrName>
                                        </p:attrNameLst>
                                      </p:cBhvr>
                                      <p:to>
                                        <p:strVal val="hidden"/>
                                      </p:to>
                                    </p:se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56"/>
                                        </p:tgtEl>
                                        <p:attrNameLst>
                                          <p:attrName>style.visibility</p:attrName>
                                        </p:attrNameLst>
                                      </p:cBhvr>
                                      <p:to>
                                        <p:strVal val="visible"/>
                                      </p:to>
                                    </p:set>
                                    <p:animEffect transition="in" filter="dissolve">
                                      <p:cBhvr>
                                        <p:cTn id="65" dur="500"/>
                                        <p:tgtEl>
                                          <p:spTgt spid="56"/>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62"/>
                                        </p:tgtEl>
                                        <p:attrNameLst>
                                          <p:attrName>style.visibility</p:attrName>
                                        </p:attrNameLst>
                                      </p:cBhvr>
                                      <p:to>
                                        <p:strVal val="visible"/>
                                      </p:to>
                                    </p:set>
                                    <p:animEffect transition="in" filter="dissolve">
                                      <p:cBhvr>
                                        <p:cTn id="68" dur="500"/>
                                        <p:tgtEl>
                                          <p:spTgt spid="6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xit" presetSubtype="0" fill="hold" grpId="1" nodeType="clickEffect">
                                  <p:stCondLst>
                                    <p:cond delay="0"/>
                                  </p:stCondLst>
                                  <p:childTnLst>
                                    <p:animEffect transition="out" filter="dissolve">
                                      <p:cBhvr>
                                        <p:cTn id="72" dur="500"/>
                                        <p:tgtEl>
                                          <p:spTgt spid="56"/>
                                        </p:tgtEl>
                                      </p:cBhvr>
                                    </p:animEffect>
                                    <p:set>
                                      <p:cBhvr>
                                        <p:cTn id="73" dur="1" fill="hold">
                                          <p:stCondLst>
                                            <p:cond delay="499"/>
                                          </p:stCondLst>
                                        </p:cTn>
                                        <p:tgtEl>
                                          <p:spTgt spid="56"/>
                                        </p:tgtEl>
                                        <p:attrNameLst>
                                          <p:attrName>style.visibility</p:attrName>
                                        </p:attrNameLst>
                                      </p:cBhvr>
                                      <p:to>
                                        <p:strVal val="hidden"/>
                                      </p:to>
                                    </p:set>
                                  </p:childTnLst>
                                </p:cTn>
                              </p:par>
                              <p:par>
                                <p:cTn id="74" presetID="9" presetClass="exit" presetSubtype="0" fill="hold" grpId="1" nodeType="withEffect">
                                  <p:stCondLst>
                                    <p:cond delay="0"/>
                                  </p:stCondLst>
                                  <p:childTnLst>
                                    <p:animEffect transition="out" filter="dissolve">
                                      <p:cBhvr>
                                        <p:cTn id="75" dur="500"/>
                                        <p:tgtEl>
                                          <p:spTgt spid="62"/>
                                        </p:tgtEl>
                                      </p:cBhvr>
                                    </p:animEffect>
                                    <p:set>
                                      <p:cBhvr>
                                        <p:cTn id="76" dur="1" fill="hold">
                                          <p:stCondLst>
                                            <p:cond delay="499"/>
                                          </p:stCondLst>
                                        </p:cTn>
                                        <p:tgtEl>
                                          <p:spTgt spid="62"/>
                                        </p:tgtEl>
                                        <p:attrNameLst>
                                          <p:attrName>style.visibility</p:attrName>
                                        </p:attrNameLst>
                                      </p:cBhvr>
                                      <p:to>
                                        <p:strVal val="hidden"/>
                                      </p:to>
                                    </p:set>
                                  </p:childTnLst>
                                </p:cTn>
                              </p:par>
                            </p:childTnLst>
                          </p:cTn>
                        </p:par>
                        <p:par>
                          <p:cTn id="77" fill="hold">
                            <p:stCondLst>
                              <p:cond delay="500"/>
                            </p:stCondLst>
                            <p:childTnLst>
                              <p:par>
                                <p:cTn id="78" presetID="9" presetClass="entr" presetSubtype="0" fill="hold" grpId="0" nodeType="after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dissolve">
                                      <p:cBhvr>
                                        <p:cTn id="80" dur="500"/>
                                        <p:tgtEl>
                                          <p:spTgt spid="5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dissolve">
                                      <p:cBhvr>
                                        <p:cTn id="8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8" grpId="1" animBg="1"/>
      <p:bldP spid="54" grpId="0" animBg="1"/>
      <p:bldP spid="54" grpId="1" animBg="1"/>
      <p:bldP spid="56" grpId="0" animBg="1"/>
      <p:bldP spid="56" grpId="1" animBg="1"/>
      <p:bldP spid="57" grpId="0" animBg="1"/>
      <p:bldP spid="58" grpId="0" animBg="1"/>
      <p:bldP spid="58" grpId="1" animBg="1"/>
      <p:bldP spid="59" grpId="0" animBg="1"/>
      <p:bldP spid="59" grpId="1" animBg="1"/>
      <p:bldP spid="60" grpId="0" animBg="1"/>
      <p:bldP spid="60" grpId="1" animBg="1"/>
      <p:bldP spid="10" grpId="0"/>
      <p:bldP spid="10" grpId="1"/>
      <p:bldP spid="62" grpId="0"/>
      <p:bldP spid="62" grpId="1"/>
      <p:bldP spid="63" grpId="0"/>
      <p:bldP spid="64" grpId="0"/>
      <p:bldP spid="6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9200"/>
            <a:ext cx="8534400" cy="4038600"/>
          </a:xfrm>
        </p:spPr>
        <p:txBody>
          <a:bodyPr/>
          <a:lstStyle/>
          <a:p>
            <a:pPr marL="0" indent="0">
              <a:lnSpc>
                <a:spcPct val="200000"/>
              </a:lnSpc>
              <a:buNone/>
            </a:pPr>
            <a:r>
              <a:rPr lang="en-US" sz="2000" b="1" i="1" dirty="0"/>
              <a:t>Public Radio International (1998/02/13 Friday)</a:t>
            </a:r>
          </a:p>
          <a:p>
            <a:pPr marL="0" indent="0">
              <a:lnSpc>
                <a:spcPct val="200000"/>
              </a:lnSpc>
              <a:buNone/>
            </a:pPr>
            <a:r>
              <a:rPr lang="en-US" sz="2000" dirty="0"/>
              <a:t>In Los Angeles that lesson was brought home Friday when tons of earth cascaded down a hillside, ripping two houses from their foundations. No one was hurt, but firefighters ordered the evacuation of nearby homes and said they'll monitor the shifting ground until March 23</a:t>
            </a:r>
            <a:r>
              <a:rPr lang="en-US" sz="2000" baseline="30000" dirty="0"/>
              <a:t>rd</a:t>
            </a:r>
            <a:r>
              <a:rPr lang="en-US" sz="2000" dirty="0"/>
              <a:t>.</a:t>
            </a:r>
          </a:p>
        </p:txBody>
      </p:sp>
      <p:sp>
        <p:nvSpPr>
          <p:cNvPr id="52" name="Title 1">
            <a:extLst>
              <a:ext uri="{FF2B5EF4-FFF2-40B4-BE49-F238E27FC236}">
                <a16:creationId xmlns="" xmlns:a16="http://schemas.microsoft.com/office/drawing/2014/main" id="{A1C9E7F4-E30C-B24C-BA27-35E162585019}"/>
              </a:ext>
            </a:extLst>
          </p:cNvPr>
          <p:cNvSpPr>
            <a:spLocks noGrp="1"/>
          </p:cNvSpPr>
          <p:nvPr>
            <p:ph type="title"/>
          </p:nvPr>
        </p:nvSpPr>
        <p:spPr>
          <a:xfrm>
            <a:off x="0" y="0"/>
            <a:ext cx="9448800" cy="533400"/>
          </a:xfrm>
        </p:spPr>
        <p:txBody>
          <a:bodyPr/>
          <a:lstStyle/>
          <a:p>
            <a:r>
              <a:rPr lang="en-US" dirty="0"/>
              <a:t>Natural language is </a:t>
            </a:r>
            <a:r>
              <a:rPr lang="en-US" dirty="0">
                <a:solidFill>
                  <a:srgbClr val="C17A90"/>
                </a:solidFill>
              </a:rPr>
              <a:t>not</a:t>
            </a:r>
            <a:r>
              <a:rPr lang="en-US" dirty="0"/>
              <a:t> natural for </a:t>
            </a:r>
            <a:r>
              <a:rPr lang="en-US" dirty="0">
                <a:solidFill>
                  <a:srgbClr val="C17A90"/>
                </a:solidFill>
              </a:rPr>
              <a:t>computers</a:t>
            </a:r>
          </a:p>
        </p:txBody>
      </p:sp>
      <p:sp>
        <p:nvSpPr>
          <p:cNvPr id="8" name="Rounded Rectangle 7">
            <a:extLst>
              <a:ext uri="{FF2B5EF4-FFF2-40B4-BE49-F238E27FC236}">
                <a16:creationId xmlns="" xmlns:a16="http://schemas.microsoft.com/office/drawing/2014/main" id="{16633DCF-1E6C-C04F-8508-8BE3308C84B2}"/>
              </a:ext>
            </a:extLst>
          </p:cNvPr>
          <p:cNvSpPr/>
          <p:nvPr/>
        </p:nvSpPr>
        <p:spPr>
          <a:xfrm>
            <a:off x="5181602" y="2057399"/>
            <a:ext cx="838200" cy="462987"/>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 xmlns:a16="http://schemas.microsoft.com/office/drawing/2014/main" id="{08A866E6-EFFE-9B47-970C-4CD32D858CF7}"/>
              </a:ext>
            </a:extLst>
          </p:cNvPr>
          <p:cNvSpPr/>
          <p:nvPr/>
        </p:nvSpPr>
        <p:spPr>
          <a:xfrm>
            <a:off x="3200400" y="3859192"/>
            <a:ext cx="914400" cy="487102"/>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 xmlns:a16="http://schemas.microsoft.com/office/drawing/2014/main" id="{AE940E84-698E-1D4C-B449-11802F596241}"/>
              </a:ext>
            </a:extLst>
          </p:cNvPr>
          <p:cNvSpPr/>
          <p:nvPr/>
        </p:nvSpPr>
        <p:spPr>
          <a:xfrm>
            <a:off x="1981200" y="4437926"/>
            <a:ext cx="1371600" cy="517967"/>
          </a:xfrm>
          <a:prstGeom prst="roundRect">
            <a:avLst/>
          </a:prstGeom>
          <a:noFill/>
          <a:ln w="38100">
            <a:solidFill>
              <a:srgbClr val="6881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ounded Rectangle 56">
            <a:extLst>
              <a:ext uri="{FF2B5EF4-FFF2-40B4-BE49-F238E27FC236}">
                <a16:creationId xmlns="" xmlns:a16="http://schemas.microsoft.com/office/drawing/2014/main" id="{7A55E6D1-981D-A04E-B54C-2AAED620E991}"/>
              </a:ext>
            </a:extLst>
          </p:cNvPr>
          <p:cNvSpPr/>
          <p:nvPr/>
        </p:nvSpPr>
        <p:spPr>
          <a:xfrm>
            <a:off x="5225970" y="3893916"/>
            <a:ext cx="565232" cy="441541"/>
          </a:xfrm>
          <a:prstGeom prst="roundRect">
            <a:avLst/>
          </a:prstGeom>
          <a:noFill/>
          <a:ln w="38100">
            <a:solidFill>
              <a:srgbClr val="757D7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ounded Rectangle 57">
            <a:extLst>
              <a:ext uri="{FF2B5EF4-FFF2-40B4-BE49-F238E27FC236}">
                <a16:creationId xmlns="" xmlns:a16="http://schemas.microsoft.com/office/drawing/2014/main" id="{C9FECEC8-CBD0-0A41-A110-02CC31A99200}"/>
              </a:ext>
            </a:extLst>
          </p:cNvPr>
          <p:cNvSpPr/>
          <p:nvPr/>
        </p:nvSpPr>
        <p:spPr>
          <a:xfrm>
            <a:off x="457200" y="2655425"/>
            <a:ext cx="2054505"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 xmlns:a16="http://schemas.microsoft.com/office/drawing/2014/main" id="{4955F000-BB71-5743-AACB-67C9DCE7DC05}"/>
              </a:ext>
            </a:extLst>
          </p:cNvPr>
          <p:cNvSpPr/>
          <p:nvPr/>
        </p:nvSpPr>
        <p:spPr>
          <a:xfrm>
            <a:off x="7494609" y="3859192"/>
            <a:ext cx="887392"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 xmlns:a16="http://schemas.microsoft.com/office/drawing/2014/main" id="{6B539AC9-7C4F-C048-9CA0-DBE0E364B644}"/>
              </a:ext>
            </a:extLst>
          </p:cNvPr>
          <p:cNvSpPr/>
          <p:nvPr/>
        </p:nvSpPr>
        <p:spPr>
          <a:xfrm>
            <a:off x="422477" y="4437927"/>
            <a:ext cx="949124" cy="533400"/>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 xmlns:a16="http://schemas.microsoft.com/office/drawing/2014/main" id="{C6225061-A074-EB48-98B9-344CC39F254A}"/>
              </a:ext>
            </a:extLst>
          </p:cNvPr>
          <p:cNvSpPr txBox="1"/>
          <p:nvPr/>
        </p:nvSpPr>
        <p:spPr>
          <a:xfrm>
            <a:off x="3425390" y="4439627"/>
            <a:ext cx="5197257"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Plural form of “home” as in “brought home”?</a:t>
            </a:r>
          </a:p>
        </p:txBody>
      </p:sp>
      <p:sp>
        <p:nvSpPr>
          <p:cNvPr id="62" name="TextBox 61">
            <a:extLst>
              <a:ext uri="{FF2B5EF4-FFF2-40B4-BE49-F238E27FC236}">
                <a16:creationId xmlns="" xmlns:a16="http://schemas.microsoft.com/office/drawing/2014/main" id="{91C9A096-EC8A-C543-9843-B6D9172D4F8C}"/>
              </a:ext>
            </a:extLst>
          </p:cNvPr>
          <p:cNvSpPr txBox="1"/>
          <p:nvPr/>
        </p:nvSpPr>
        <p:spPr>
          <a:xfrm>
            <a:off x="2174111" y="4992638"/>
            <a:ext cx="3988592" cy="369332"/>
          </a:xfrm>
          <a:prstGeom prst="rect">
            <a:avLst/>
          </a:prstGeom>
          <a:noFill/>
        </p:spPr>
        <p:txBody>
          <a:bodyPr wrap="none" rtlCol="0">
            <a:spAutoFit/>
          </a:bodyPr>
          <a:lstStyle/>
          <a:p>
            <a:r>
              <a:rPr lang="en-US" dirty="0">
                <a:solidFill>
                  <a:srgbClr val="6881B4"/>
                </a:solidFill>
                <a:latin typeface="Century Gothic" panose="020B0502020202020204" pitchFamily="34" charset="0"/>
              </a:rPr>
              <a:t>Will they monitor until </a:t>
            </a:r>
            <a:r>
              <a:rPr lang="en-US" b="1" dirty="0">
                <a:solidFill>
                  <a:srgbClr val="6881B4"/>
                </a:solidFill>
                <a:latin typeface="Century Gothic" panose="020B0502020202020204" pitchFamily="34" charset="0"/>
              </a:rPr>
              <a:t>2019/03/23</a:t>
            </a:r>
            <a:r>
              <a:rPr lang="en-US" dirty="0">
                <a:solidFill>
                  <a:srgbClr val="6881B4"/>
                </a:solidFill>
                <a:latin typeface="Century Gothic" panose="020B0502020202020204" pitchFamily="34" charset="0"/>
              </a:rPr>
              <a:t>?</a:t>
            </a:r>
          </a:p>
        </p:txBody>
      </p:sp>
      <p:sp>
        <p:nvSpPr>
          <p:cNvPr id="63" name="TextBox 62">
            <a:extLst>
              <a:ext uri="{FF2B5EF4-FFF2-40B4-BE49-F238E27FC236}">
                <a16:creationId xmlns="" xmlns:a16="http://schemas.microsoft.com/office/drawing/2014/main" id="{B8755574-3FE7-494C-ACB1-CBF22D65C53E}"/>
              </a:ext>
            </a:extLst>
          </p:cNvPr>
          <p:cNvSpPr txBox="1"/>
          <p:nvPr/>
        </p:nvSpPr>
        <p:spPr>
          <a:xfrm>
            <a:off x="5600702" y="3573342"/>
            <a:ext cx="3674404" cy="369332"/>
          </a:xfrm>
          <a:prstGeom prst="rect">
            <a:avLst/>
          </a:prstGeom>
          <a:noFill/>
        </p:spPr>
        <p:txBody>
          <a:bodyPr wrap="none" rtlCol="0">
            <a:spAutoFit/>
          </a:bodyPr>
          <a:lstStyle/>
          <a:p>
            <a:r>
              <a:rPr lang="en-US" dirty="0">
                <a:solidFill>
                  <a:srgbClr val="757D78"/>
                </a:solidFill>
                <a:latin typeface="Century Gothic" panose="020B0502020202020204" pitchFamily="34" charset="0"/>
              </a:rPr>
              <a:t>Who are they? Nearby homes?</a:t>
            </a:r>
          </a:p>
        </p:txBody>
      </p:sp>
      <p:sp>
        <p:nvSpPr>
          <p:cNvPr id="64" name="TextBox 63">
            <a:extLst>
              <a:ext uri="{FF2B5EF4-FFF2-40B4-BE49-F238E27FC236}">
                <a16:creationId xmlns="" xmlns:a16="http://schemas.microsoft.com/office/drawing/2014/main" id="{7F3C7217-4982-1B4B-867B-01A75115F88A}"/>
              </a:ext>
            </a:extLst>
          </p:cNvPr>
          <p:cNvSpPr txBox="1"/>
          <p:nvPr/>
        </p:nvSpPr>
        <p:spPr>
          <a:xfrm>
            <a:off x="385823" y="5113737"/>
            <a:ext cx="824265"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Same</a:t>
            </a:r>
          </a:p>
        </p:txBody>
      </p:sp>
      <p:sp>
        <p:nvSpPr>
          <p:cNvPr id="65" name="Title 2">
            <a:extLst>
              <a:ext uri="{FF2B5EF4-FFF2-40B4-BE49-F238E27FC236}">
                <a16:creationId xmlns="" xmlns:a16="http://schemas.microsoft.com/office/drawing/2014/main" id="{8DD5DBB4-2664-2F4A-B76D-E12BD42B5C14}"/>
              </a:ext>
            </a:extLst>
          </p:cNvPr>
          <p:cNvSpPr txBox="1">
            <a:spLocks/>
          </p:cNvSpPr>
          <p:nvPr/>
        </p:nvSpPr>
        <p:spPr bwMode="auto">
          <a:xfrm>
            <a:off x="152400" y="5979287"/>
            <a:ext cx="8763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NLP is to help computers </a:t>
            </a:r>
            <a:r>
              <a:rPr lang="en-US" dirty="0" smtClean="0">
                <a:solidFill>
                  <a:srgbClr val="000000">
                    <a:lumMod val="95000"/>
                    <a:lumOff val="5000"/>
                  </a:srgbClr>
                </a:solidFill>
              </a:rPr>
              <a:t>resolve the </a:t>
            </a:r>
            <a:r>
              <a:rPr lang="en-US" b="1" dirty="0">
                <a:solidFill>
                  <a:srgbClr val="000000">
                    <a:lumMod val="95000"/>
                    <a:lumOff val="5000"/>
                  </a:srgbClr>
                </a:solidFill>
              </a:rPr>
              <a:t>ambiguity</a:t>
            </a:r>
            <a:r>
              <a:rPr lang="en-US" dirty="0">
                <a:solidFill>
                  <a:srgbClr val="000000">
                    <a:lumMod val="95000"/>
                    <a:lumOff val="5000"/>
                  </a:srgbClr>
                </a:solidFill>
              </a:rPr>
              <a:t> that are seemingly easy for humans</a:t>
            </a:r>
            <a:endParaRPr dirty="0">
              <a:solidFill>
                <a:srgbClr val="000000">
                  <a:lumMod val="95000"/>
                  <a:lumOff val="5000"/>
                </a:srgbClr>
              </a:solidFill>
            </a:endParaRPr>
          </a:p>
        </p:txBody>
      </p:sp>
    </p:spTree>
    <p:extLst>
      <p:ext uri="{BB962C8B-B14F-4D97-AF65-F5344CB8AC3E}">
        <p14:creationId xmlns:p14="http://schemas.microsoft.com/office/powerpoint/2010/main" val="211310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0"/>
                                        <p:tgtEl>
                                          <p:spTgt spid="65"/>
                                        </p:tgtEl>
                                      </p:cBhvr>
                                    </p:animEffect>
                                    <p:anim calcmode="lin" valueType="num">
                                      <p:cBhvr>
                                        <p:cTn id="8" dur="1000" fill="hold"/>
                                        <p:tgtEl>
                                          <p:spTgt spid="65"/>
                                        </p:tgtEl>
                                        <p:attrNameLst>
                                          <p:attrName>ppt_x</p:attrName>
                                        </p:attrNameLst>
                                      </p:cBhvr>
                                      <p:tavLst>
                                        <p:tav tm="0">
                                          <p:val>
                                            <p:strVal val="#ppt_x"/>
                                          </p:val>
                                        </p:tav>
                                        <p:tav tm="100000">
                                          <p:val>
                                            <p:strVal val="#ppt_x"/>
                                          </p:val>
                                        </p:tav>
                                      </p:tavLst>
                                    </p:anim>
                                    <p:anim calcmode="lin" valueType="num">
                                      <p:cBhvr>
                                        <p:cTn id="9"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eform 49">
            <a:extLst>
              <a:ext uri="{FF2B5EF4-FFF2-40B4-BE49-F238E27FC236}">
                <a16:creationId xmlns="" xmlns:a16="http://schemas.microsoft.com/office/drawing/2014/main" id="{F7DC9E12-84B9-D542-BB2D-F925103A20E8}"/>
              </a:ext>
            </a:extLst>
          </p:cNvPr>
          <p:cNvSpPr/>
          <p:nvPr/>
        </p:nvSpPr>
        <p:spPr>
          <a:xfrm>
            <a:off x="3423253" y="1229210"/>
            <a:ext cx="897436" cy="825062"/>
          </a:xfrm>
          <a:custGeom>
            <a:avLst/>
            <a:gdLst>
              <a:gd name="connsiteX0" fmla="*/ 614319 w 1228638"/>
              <a:gd name="connsiteY0" fmla="*/ 0 h 1129554"/>
              <a:gd name="connsiteX1" fmla="*/ 1228638 w 1228638"/>
              <a:gd name="connsiteY1" fmla="*/ 1129554 h 1129554"/>
              <a:gd name="connsiteX2" fmla="*/ 0 w 1228638"/>
              <a:gd name="connsiteY2" fmla="*/ 1129554 h 1129554"/>
              <a:gd name="connsiteX3" fmla="*/ 614319 w 1228638"/>
              <a:gd name="connsiteY3" fmla="*/ 0 h 1129554"/>
            </a:gdLst>
            <a:ahLst/>
            <a:cxnLst>
              <a:cxn ang="0">
                <a:pos x="connsiteX0" y="connsiteY0"/>
              </a:cxn>
              <a:cxn ang="0">
                <a:pos x="connsiteX1" y="connsiteY1"/>
              </a:cxn>
              <a:cxn ang="0">
                <a:pos x="connsiteX2" y="connsiteY2"/>
              </a:cxn>
              <a:cxn ang="0">
                <a:pos x="connsiteX3" y="connsiteY3"/>
              </a:cxn>
            </a:cxnLst>
            <a:rect l="l" t="t" r="r" b="b"/>
            <a:pathLst>
              <a:path w="1228638" h="1129554">
                <a:moveTo>
                  <a:pt x="614319" y="0"/>
                </a:moveTo>
                <a:lnTo>
                  <a:pt x="1228638" y="1129554"/>
                </a:lnTo>
                <a:lnTo>
                  <a:pt x="0" y="1129554"/>
                </a:lnTo>
                <a:lnTo>
                  <a:pt x="614319" y="0"/>
                </a:lnTo>
                <a:close/>
              </a:path>
            </a:pathLst>
          </a:custGeom>
          <a:solidFill>
            <a:srgbClr val="66608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1" name="Freeform 50">
            <a:extLst>
              <a:ext uri="{FF2B5EF4-FFF2-40B4-BE49-F238E27FC236}">
                <a16:creationId xmlns="" xmlns:a16="http://schemas.microsoft.com/office/drawing/2014/main" id="{978E545B-EB76-8148-A35B-150C48ADB264}"/>
              </a:ext>
            </a:extLst>
          </p:cNvPr>
          <p:cNvSpPr/>
          <p:nvPr/>
        </p:nvSpPr>
        <p:spPr>
          <a:xfrm>
            <a:off x="2926459" y="2142670"/>
            <a:ext cx="1891025" cy="825062"/>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 xmlns:a16="http://schemas.microsoft.com/office/drawing/2014/main" id="{6CB448AD-9002-E140-A24C-AFF375496F61}"/>
              </a:ext>
            </a:extLst>
          </p:cNvPr>
          <p:cNvSpPr/>
          <p:nvPr/>
        </p:nvSpPr>
        <p:spPr>
          <a:xfrm>
            <a:off x="2429664" y="3056131"/>
            <a:ext cx="2884614" cy="825062"/>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 xmlns:a16="http://schemas.microsoft.com/office/drawing/2014/main" id="{1A54A3CF-BC91-5C43-8730-A8564FAEDE43}"/>
              </a:ext>
            </a:extLst>
          </p:cNvPr>
          <p:cNvSpPr/>
          <p:nvPr/>
        </p:nvSpPr>
        <p:spPr>
          <a:xfrm>
            <a:off x="1932870" y="3969591"/>
            <a:ext cx="3878202" cy="825062"/>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4" name="Freeform 53">
            <a:extLst>
              <a:ext uri="{FF2B5EF4-FFF2-40B4-BE49-F238E27FC236}">
                <a16:creationId xmlns="" xmlns:a16="http://schemas.microsoft.com/office/drawing/2014/main" id="{2B6AC4F5-A568-3B49-B6A4-D98D933D56BE}"/>
              </a:ext>
            </a:extLst>
          </p:cNvPr>
          <p:cNvSpPr/>
          <p:nvPr/>
        </p:nvSpPr>
        <p:spPr>
          <a:xfrm>
            <a:off x="1436076" y="4883052"/>
            <a:ext cx="4871791" cy="825062"/>
          </a:xfrm>
          <a:custGeom>
            <a:avLst/>
            <a:gdLst>
              <a:gd name="connsiteX0" fmla="*/ 614319 w 6669741"/>
              <a:gd name="connsiteY0" fmla="*/ 0 h 1129554"/>
              <a:gd name="connsiteX1" fmla="*/ 6055422 w 6669741"/>
              <a:gd name="connsiteY1" fmla="*/ 0 h 1129554"/>
              <a:gd name="connsiteX2" fmla="*/ 6669741 w 6669741"/>
              <a:gd name="connsiteY2" fmla="*/ 1129554 h 1129554"/>
              <a:gd name="connsiteX3" fmla="*/ 0 w 6669741"/>
              <a:gd name="connsiteY3" fmla="*/ 1129554 h 1129554"/>
              <a:gd name="connsiteX4" fmla="*/ 614319 w 6669741"/>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9741" h="1129554">
                <a:moveTo>
                  <a:pt x="614319" y="0"/>
                </a:moveTo>
                <a:lnTo>
                  <a:pt x="6055422" y="0"/>
                </a:lnTo>
                <a:lnTo>
                  <a:pt x="6669741" y="1129554"/>
                </a:lnTo>
                <a:lnTo>
                  <a:pt x="0" y="1129554"/>
                </a:lnTo>
                <a:lnTo>
                  <a:pt x="614319" y="0"/>
                </a:lnTo>
                <a:close/>
              </a:path>
            </a:pathLst>
          </a:custGeom>
          <a:solidFill>
            <a:srgbClr val="E6E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7" name="TextBox 56">
            <a:extLst>
              <a:ext uri="{FF2B5EF4-FFF2-40B4-BE49-F238E27FC236}">
                <a16:creationId xmlns="" xmlns:a16="http://schemas.microsoft.com/office/drawing/2014/main" id="{21578E08-3306-D141-9336-BE27C3B572BE}"/>
              </a:ext>
            </a:extLst>
          </p:cNvPr>
          <p:cNvSpPr txBox="1"/>
          <p:nvPr/>
        </p:nvSpPr>
        <p:spPr>
          <a:xfrm>
            <a:off x="2983776" y="5134052"/>
            <a:ext cx="1874231"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Methodology</a:t>
            </a:r>
          </a:p>
        </p:txBody>
      </p:sp>
      <p:sp>
        <p:nvSpPr>
          <p:cNvPr id="58" name="TextBox 57">
            <a:extLst>
              <a:ext uri="{FF2B5EF4-FFF2-40B4-BE49-F238E27FC236}">
                <a16:creationId xmlns="" xmlns:a16="http://schemas.microsoft.com/office/drawing/2014/main" id="{96968A2D-772B-4144-9FC4-7A79BDD1E1A3}"/>
              </a:ext>
            </a:extLst>
          </p:cNvPr>
          <p:cNvSpPr txBox="1"/>
          <p:nvPr/>
        </p:nvSpPr>
        <p:spPr>
          <a:xfrm>
            <a:off x="3384142" y="4203486"/>
            <a:ext cx="914033"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Token</a:t>
            </a:r>
          </a:p>
        </p:txBody>
      </p:sp>
      <p:sp>
        <p:nvSpPr>
          <p:cNvPr id="59" name="TextBox 58">
            <a:extLst>
              <a:ext uri="{FF2B5EF4-FFF2-40B4-BE49-F238E27FC236}">
                <a16:creationId xmlns="" xmlns:a16="http://schemas.microsoft.com/office/drawing/2014/main" id="{F88526CA-D4E4-FB49-89F2-2806E3495275}"/>
              </a:ext>
            </a:extLst>
          </p:cNvPr>
          <p:cNvSpPr txBox="1"/>
          <p:nvPr/>
        </p:nvSpPr>
        <p:spPr>
          <a:xfrm>
            <a:off x="3198995" y="3281075"/>
            <a:ext cx="1380506"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Sentence</a:t>
            </a:r>
          </a:p>
        </p:txBody>
      </p:sp>
      <p:sp>
        <p:nvSpPr>
          <p:cNvPr id="60" name="TextBox 59">
            <a:extLst>
              <a:ext uri="{FF2B5EF4-FFF2-40B4-BE49-F238E27FC236}">
                <a16:creationId xmlns="" xmlns:a16="http://schemas.microsoft.com/office/drawing/2014/main" id="{2B959E80-D18F-244D-9D76-4CE865449B00}"/>
              </a:ext>
            </a:extLst>
          </p:cNvPr>
          <p:cNvSpPr txBox="1"/>
          <p:nvPr/>
        </p:nvSpPr>
        <p:spPr>
          <a:xfrm>
            <a:off x="3251894" y="2388673"/>
            <a:ext cx="1244251" cy="400110"/>
          </a:xfrm>
          <a:prstGeom prst="rect">
            <a:avLst/>
          </a:prstGeom>
          <a:noFill/>
        </p:spPr>
        <p:txBody>
          <a:bodyPr wrap="non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Situation</a:t>
            </a:r>
          </a:p>
        </p:txBody>
      </p:sp>
      <p:sp>
        <p:nvSpPr>
          <p:cNvPr id="61" name="TextBox 60">
            <a:extLst>
              <a:ext uri="{FF2B5EF4-FFF2-40B4-BE49-F238E27FC236}">
                <a16:creationId xmlns="" xmlns:a16="http://schemas.microsoft.com/office/drawing/2014/main" id="{7AA7B7CC-C790-A545-89A7-FA40D780D755}"/>
              </a:ext>
            </a:extLst>
          </p:cNvPr>
          <p:cNvSpPr txBox="1"/>
          <p:nvPr/>
        </p:nvSpPr>
        <p:spPr>
          <a:xfrm>
            <a:off x="6449455" y="1433336"/>
            <a:ext cx="415498"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000000"/>
                </a:solidFill>
                <a:latin typeface="Century Gothic" charset="0"/>
                <a:ea typeface="Century Gothic" charset="0"/>
                <a:cs typeface="Century Gothic" charset="0"/>
              </a:rPr>
              <a:t>…</a:t>
            </a:r>
          </a:p>
        </p:txBody>
      </p:sp>
      <p:sp>
        <p:nvSpPr>
          <p:cNvPr id="64" name="TextBox 63">
            <a:extLst>
              <a:ext uri="{FF2B5EF4-FFF2-40B4-BE49-F238E27FC236}">
                <a16:creationId xmlns="" xmlns:a16="http://schemas.microsoft.com/office/drawing/2014/main" id="{08E7DAE2-E902-D740-B555-1E19FAEAD5E8}"/>
              </a:ext>
            </a:extLst>
          </p:cNvPr>
          <p:cNvSpPr txBox="1"/>
          <p:nvPr/>
        </p:nvSpPr>
        <p:spPr>
          <a:xfrm>
            <a:off x="3699336" y="1525669"/>
            <a:ext cx="440765" cy="276999"/>
          </a:xfrm>
          <a:prstGeom prst="rect">
            <a:avLst/>
          </a:prstGeom>
          <a:noFill/>
        </p:spPr>
        <p:txBody>
          <a:bodyPr wrap="square" rtlCol="0">
            <a:spAutoFit/>
          </a:bodyPr>
          <a:lstStyle/>
          <a:p>
            <a:pPr eaLnBrk="0" fontAlgn="base" hangingPunct="0">
              <a:spcBef>
                <a:spcPct val="0"/>
              </a:spcBef>
              <a:spcAft>
                <a:spcPct val="0"/>
              </a:spcAft>
            </a:pPr>
            <a:r>
              <a:rPr lang="en-US" sz="1200" dirty="0">
                <a:solidFill>
                  <a:srgbClr val="000000"/>
                </a:solidFill>
                <a:latin typeface="Century Gothic" charset="0"/>
                <a:ea typeface="Century Gothic" charset="0"/>
                <a:cs typeface="Century Gothic" charset="0"/>
              </a:rPr>
              <a:t>…</a:t>
            </a:r>
          </a:p>
        </p:txBody>
      </p:sp>
      <p:sp>
        <p:nvSpPr>
          <p:cNvPr id="30" name="Title 2">
            <a:extLst>
              <a:ext uri="{FF2B5EF4-FFF2-40B4-BE49-F238E27FC236}">
                <a16:creationId xmlns="" xmlns:a16="http://schemas.microsoft.com/office/drawing/2014/main"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endParaRPr dirty="0">
              <a:solidFill>
                <a:srgbClr val="000000">
                  <a:lumMod val="95000"/>
                  <a:lumOff val="5000"/>
                </a:srgbClr>
              </a:solidFill>
            </a:endParaRPr>
          </a:p>
        </p:txBody>
      </p:sp>
      <p:cxnSp>
        <p:nvCxnSpPr>
          <p:cNvPr id="4" name="Straight Connector 3">
            <a:extLst>
              <a:ext uri="{FF2B5EF4-FFF2-40B4-BE49-F238E27FC236}">
                <a16:creationId xmlns="" xmlns:a16="http://schemas.microsoft.com/office/drawing/2014/main" id="{A316032E-3D1B-3945-AEC6-8B477BEEEF3B}"/>
              </a:ext>
            </a:extLst>
          </p:cNvPr>
          <p:cNvCxnSpPr>
            <a:cxnSpLocks/>
          </p:cNvCxnSpPr>
          <p:nvPr/>
        </p:nvCxnSpPr>
        <p:spPr>
          <a:xfrm>
            <a:off x="4093563" y="1675997"/>
            <a:ext cx="2290289"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 xmlns:a16="http://schemas.microsoft.com/office/drawing/2014/main" id="{C62C1B77-516B-7441-9CC6-302A4DE9AD7A}"/>
              </a:ext>
            </a:extLst>
          </p:cNvPr>
          <p:cNvSpPr/>
          <p:nvPr/>
        </p:nvSpPr>
        <p:spPr>
          <a:xfrm>
            <a:off x="6384852" y="1493117"/>
            <a:ext cx="45719" cy="365760"/>
          </a:xfrm>
          <a:prstGeom prst="rect">
            <a:avLst/>
          </a:prstGeom>
          <a:solidFill>
            <a:srgbClr val="666089">
              <a:alpha val="80392"/>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grpSp>
        <p:nvGrpSpPr>
          <p:cNvPr id="8" name="Group 7"/>
          <p:cNvGrpSpPr/>
          <p:nvPr/>
        </p:nvGrpSpPr>
        <p:grpSpPr>
          <a:xfrm>
            <a:off x="4652595" y="2353667"/>
            <a:ext cx="4422827" cy="584775"/>
            <a:chOff x="4652595" y="2412230"/>
            <a:chExt cx="4422827" cy="584775"/>
          </a:xfrm>
        </p:grpSpPr>
        <p:sp>
          <p:nvSpPr>
            <p:cNvPr id="63" name="TextBox 62">
              <a:extLst>
                <a:ext uri="{FF2B5EF4-FFF2-40B4-BE49-F238E27FC236}">
                  <a16:creationId xmlns="" xmlns:a16="http://schemas.microsoft.com/office/drawing/2014/main" id="{5F4D6A67-4F31-644F-91DE-F9A8D8255F94}"/>
                </a:ext>
              </a:extLst>
            </p:cNvPr>
            <p:cNvSpPr txBox="1"/>
            <p:nvPr/>
          </p:nvSpPr>
          <p:spPr>
            <a:xfrm>
              <a:off x="6426595" y="2412230"/>
              <a:ext cx="2648827" cy="584775"/>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Events, Q&amp;A, reasoning, </a:t>
              </a:r>
              <a:r>
                <a:rPr lang="mr-IN" sz="1600" dirty="0">
                  <a:solidFill>
                    <a:srgbClr val="000000"/>
                  </a:solidFill>
                  <a:latin typeface="Century Gothic" charset="0"/>
                  <a:ea typeface="Century Gothic" charset="0"/>
                  <a:cs typeface="Century Gothic" charset="0"/>
                </a:rPr>
                <a:t>…</a:t>
              </a:r>
              <a:endParaRPr lang="en-US" sz="1600" dirty="0">
                <a:solidFill>
                  <a:srgbClr val="000000"/>
                </a:solidFill>
                <a:latin typeface="Century Gothic" charset="0"/>
                <a:ea typeface="Century Gothic" charset="0"/>
                <a:cs typeface="Century Gothic" charset="0"/>
              </a:endParaRPr>
            </a:p>
          </p:txBody>
        </p:sp>
        <p:sp>
          <p:nvSpPr>
            <p:cNvPr id="69" name="Rectangle 68">
              <a:extLst>
                <a:ext uri="{FF2B5EF4-FFF2-40B4-BE49-F238E27FC236}">
                  <a16:creationId xmlns="" xmlns:a16="http://schemas.microsoft.com/office/drawing/2014/main" id="{465F5AF8-2701-6848-9257-11144BCBE7EB}"/>
                </a:ext>
              </a:extLst>
            </p:cNvPr>
            <p:cNvSpPr/>
            <p:nvPr/>
          </p:nvSpPr>
          <p:spPr>
            <a:xfrm>
              <a:off x="6384852" y="2495807"/>
              <a:ext cx="45719" cy="457200"/>
            </a:xfrm>
            <a:prstGeom prst="rect">
              <a:avLst/>
            </a:prstGeom>
            <a:solidFill>
              <a:srgbClr val="8FA4D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3" name="Straight Connector 32">
              <a:extLst>
                <a:ext uri="{FF2B5EF4-FFF2-40B4-BE49-F238E27FC236}">
                  <a16:creationId xmlns="" xmlns:a16="http://schemas.microsoft.com/office/drawing/2014/main" id="{1F790ABA-E141-D54C-A3B1-4383305D7629}"/>
                </a:ext>
              </a:extLst>
            </p:cNvPr>
            <p:cNvCxnSpPr>
              <a:cxnSpLocks/>
            </p:cNvCxnSpPr>
            <p:nvPr/>
          </p:nvCxnSpPr>
          <p:spPr>
            <a:xfrm>
              <a:off x="4652595" y="2672459"/>
              <a:ext cx="1731257"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5105400" y="3165215"/>
            <a:ext cx="4040701" cy="830997"/>
            <a:chOff x="5105400" y="3165215"/>
            <a:chExt cx="4040701" cy="830997"/>
          </a:xfrm>
        </p:grpSpPr>
        <p:sp>
          <p:nvSpPr>
            <p:cNvPr id="62" name="TextBox 61">
              <a:extLst>
                <a:ext uri="{FF2B5EF4-FFF2-40B4-BE49-F238E27FC236}">
                  <a16:creationId xmlns="" xmlns:a16="http://schemas.microsoft.com/office/drawing/2014/main" id="{FFD3B948-62D0-D44B-9EC7-771836A4E4C4}"/>
                </a:ext>
              </a:extLst>
            </p:cNvPr>
            <p:cNvSpPr txBox="1"/>
            <p:nvPr/>
          </p:nvSpPr>
          <p:spPr>
            <a:xfrm>
              <a:off x="6426595" y="3165215"/>
              <a:ext cx="2719506" cy="830997"/>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Syntactic parsing, semantic role labeling, language modeling, …</a:t>
              </a:r>
            </a:p>
          </p:txBody>
        </p:sp>
        <p:sp>
          <p:nvSpPr>
            <p:cNvPr id="70" name="Rectangle 69">
              <a:extLst>
                <a:ext uri="{FF2B5EF4-FFF2-40B4-BE49-F238E27FC236}">
                  <a16:creationId xmlns="" xmlns:a16="http://schemas.microsoft.com/office/drawing/2014/main" id="{CA42FABA-CF1B-4C4C-95F6-29CDDBAF18F8}"/>
                </a:ext>
              </a:extLst>
            </p:cNvPr>
            <p:cNvSpPr/>
            <p:nvPr/>
          </p:nvSpPr>
          <p:spPr>
            <a:xfrm>
              <a:off x="6384852" y="3279120"/>
              <a:ext cx="45719" cy="640080"/>
            </a:xfrm>
            <a:prstGeom prst="rect">
              <a:avLst/>
            </a:prstGeom>
            <a:solidFill>
              <a:srgbClr val="CD95A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4" name="Straight Connector 33">
              <a:extLst>
                <a:ext uri="{FF2B5EF4-FFF2-40B4-BE49-F238E27FC236}">
                  <a16:creationId xmlns="" xmlns:a16="http://schemas.microsoft.com/office/drawing/2014/main" id="{777132F1-1BB7-4848-89AF-03E4F2D0A017}"/>
                </a:ext>
              </a:extLst>
            </p:cNvPr>
            <p:cNvCxnSpPr>
              <a:cxnSpLocks/>
            </p:cNvCxnSpPr>
            <p:nvPr/>
          </p:nvCxnSpPr>
          <p:spPr>
            <a:xfrm>
              <a:off x="5105400" y="3481351"/>
              <a:ext cx="12784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5562600" y="4092792"/>
            <a:ext cx="3608445" cy="830997"/>
            <a:chOff x="5562600" y="4092792"/>
            <a:chExt cx="3608445" cy="830997"/>
          </a:xfrm>
        </p:grpSpPr>
        <p:sp>
          <p:nvSpPr>
            <p:cNvPr id="56" name="TextBox 55">
              <a:extLst>
                <a:ext uri="{FF2B5EF4-FFF2-40B4-BE49-F238E27FC236}">
                  <a16:creationId xmlns="" xmlns:a16="http://schemas.microsoft.com/office/drawing/2014/main" id="{EDC14C06-9282-CA48-B2A7-9C4C4A92D4BC}"/>
                </a:ext>
              </a:extLst>
            </p:cNvPr>
            <p:cNvSpPr txBox="1"/>
            <p:nvPr/>
          </p:nvSpPr>
          <p:spPr>
            <a:xfrm>
              <a:off x="6469339" y="4092792"/>
              <a:ext cx="2701706" cy="830997"/>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Tokenization, lemmatization, POS tagging, chunking, …</a:t>
              </a:r>
            </a:p>
          </p:txBody>
        </p:sp>
        <p:sp>
          <p:nvSpPr>
            <p:cNvPr id="71" name="Rectangle 70">
              <a:extLst>
                <a:ext uri="{FF2B5EF4-FFF2-40B4-BE49-F238E27FC236}">
                  <a16:creationId xmlns="" xmlns:a16="http://schemas.microsoft.com/office/drawing/2014/main" id="{AB047353-15FD-5D42-9EA1-2ADAA9E8C476}"/>
                </a:ext>
              </a:extLst>
            </p:cNvPr>
            <p:cNvSpPr/>
            <p:nvPr/>
          </p:nvSpPr>
          <p:spPr>
            <a:xfrm>
              <a:off x="6383852" y="4179313"/>
              <a:ext cx="45719" cy="640080"/>
            </a:xfrm>
            <a:prstGeom prst="rect">
              <a:avLst/>
            </a:prstGeom>
            <a:solidFill>
              <a:srgbClr val="F1CEC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5" name="Straight Connector 34">
              <a:extLst>
                <a:ext uri="{FF2B5EF4-FFF2-40B4-BE49-F238E27FC236}">
                  <a16:creationId xmlns="" xmlns:a16="http://schemas.microsoft.com/office/drawing/2014/main" id="{56AD4553-47FA-C742-AB31-8E4526073504}"/>
                </a:ext>
              </a:extLst>
            </p:cNvPr>
            <p:cNvCxnSpPr>
              <a:cxnSpLocks/>
            </p:cNvCxnSpPr>
            <p:nvPr/>
          </p:nvCxnSpPr>
          <p:spPr>
            <a:xfrm>
              <a:off x="5562600" y="4360581"/>
              <a:ext cx="8212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 name="Group 2"/>
          <p:cNvGrpSpPr/>
          <p:nvPr/>
        </p:nvGrpSpPr>
        <p:grpSpPr>
          <a:xfrm>
            <a:off x="6096000" y="5020370"/>
            <a:ext cx="2392679" cy="584775"/>
            <a:chOff x="6096000" y="5020370"/>
            <a:chExt cx="2392679" cy="584775"/>
          </a:xfrm>
        </p:grpSpPr>
        <p:sp>
          <p:nvSpPr>
            <p:cNvPr id="55" name="TextBox 54">
              <a:extLst>
                <a:ext uri="{FF2B5EF4-FFF2-40B4-BE49-F238E27FC236}">
                  <a16:creationId xmlns="" xmlns:a16="http://schemas.microsoft.com/office/drawing/2014/main" id="{3D0DEEB9-74B1-0C47-9C02-E52DAA56675B}"/>
                </a:ext>
              </a:extLst>
            </p:cNvPr>
            <p:cNvSpPr txBox="1"/>
            <p:nvPr/>
          </p:nvSpPr>
          <p:spPr>
            <a:xfrm>
              <a:off x="6449454" y="5020370"/>
              <a:ext cx="2039225" cy="584775"/>
            </a:xfrm>
            <a:prstGeom prst="rect">
              <a:avLst/>
            </a:prstGeom>
            <a:noFill/>
          </p:spPr>
          <p:txBody>
            <a:bodyPr wrap="square" rtlCol="0">
              <a:spAutoFit/>
            </a:bodyPr>
            <a:lstStyle/>
            <a:p>
              <a:r>
                <a:rPr lang="en-US" sz="1600" dirty="0">
                  <a:solidFill>
                    <a:srgbClr val="000000"/>
                  </a:solidFill>
                  <a:latin typeface="Century Gothic" charset="0"/>
                  <a:ea typeface="Century Gothic" charset="0"/>
                  <a:cs typeface="Century Gothic" charset="0"/>
                </a:rPr>
                <a:t>machine learning, Linguistics, </a:t>
              </a:r>
              <a:r>
                <a:rPr lang="en-US" sz="1600" dirty="0" smtClean="0">
                  <a:solidFill>
                    <a:srgbClr val="000000"/>
                  </a:solidFill>
                  <a:latin typeface="Century Gothic" charset="0"/>
                  <a:ea typeface="Century Gothic" charset="0"/>
                  <a:cs typeface="Century Gothic" charset="0"/>
                </a:rPr>
                <a:t>…</a:t>
              </a:r>
              <a:endParaRPr lang="en-US" sz="1600" dirty="0">
                <a:solidFill>
                  <a:srgbClr val="000000"/>
                </a:solidFill>
                <a:latin typeface="Century Gothic" charset="0"/>
                <a:ea typeface="Century Gothic" charset="0"/>
                <a:cs typeface="Century Gothic" charset="0"/>
              </a:endParaRPr>
            </a:p>
          </p:txBody>
        </p:sp>
        <p:sp>
          <p:nvSpPr>
            <p:cNvPr id="72" name="Rectangle 71">
              <a:extLst>
                <a:ext uri="{FF2B5EF4-FFF2-40B4-BE49-F238E27FC236}">
                  <a16:creationId xmlns="" xmlns:a16="http://schemas.microsoft.com/office/drawing/2014/main" id="{C3561EAD-ED1D-EE4E-ADF0-15BA112B9F86}"/>
                </a:ext>
              </a:extLst>
            </p:cNvPr>
            <p:cNvSpPr/>
            <p:nvPr/>
          </p:nvSpPr>
          <p:spPr>
            <a:xfrm>
              <a:off x="6383851" y="5099100"/>
              <a:ext cx="45719" cy="435062"/>
            </a:xfrm>
            <a:prstGeom prst="rect">
              <a:avLst/>
            </a:prstGeom>
            <a:solidFill>
              <a:srgbClr val="DDDFE0">
                <a:alpha val="80392"/>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endParaRPr>
            </a:p>
          </p:txBody>
        </p:sp>
        <p:cxnSp>
          <p:nvCxnSpPr>
            <p:cNvPr id="36" name="Straight Connector 35">
              <a:extLst>
                <a:ext uri="{FF2B5EF4-FFF2-40B4-BE49-F238E27FC236}">
                  <a16:creationId xmlns="" xmlns:a16="http://schemas.microsoft.com/office/drawing/2014/main" id="{F3393D08-7F8C-D642-8CE8-3A7F9FB73400}"/>
                </a:ext>
              </a:extLst>
            </p:cNvPr>
            <p:cNvCxnSpPr>
              <a:cxnSpLocks/>
            </p:cNvCxnSpPr>
            <p:nvPr/>
          </p:nvCxnSpPr>
          <p:spPr>
            <a:xfrm>
              <a:off x="6096000" y="5321874"/>
              <a:ext cx="287852" cy="0"/>
            </a:xfrm>
            <a:prstGeom prst="line">
              <a:avLst/>
            </a:prstGeom>
            <a:ln w="19050">
              <a:solidFill>
                <a:schemeClr val="tx1">
                  <a:lumMod val="50000"/>
                </a:scheme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8820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fade">
                                      <p:cBhvr>
                                        <p:cTn id="22" dur="500"/>
                                        <p:tgtEl>
                                          <p:spTgt spid="58"/>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fade">
                                      <p:cBhvr>
                                        <p:cTn id="31" dur="500"/>
                                        <p:tgtEl>
                                          <p:spTgt spid="5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fade">
                                      <p:cBhvr>
                                        <p:cTn id="46" dur="500"/>
                                        <p:tgtEl>
                                          <p:spTgt spid="60"/>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left)">
                                      <p:cBhvr>
                                        <p:cTn id="50" dur="500"/>
                                        <p:tgtEl>
                                          <p:spTgt spid="8"/>
                                        </p:tgtEl>
                                      </p:cBhvr>
                                    </p:animEffect>
                                  </p:childTnLst>
                                </p:cTn>
                              </p:par>
                            </p:childTnLst>
                          </p:cTn>
                        </p:par>
                        <p:par>
                          <p:cTn id="51" fill="hold">
                            <p:stCondLst>
                              <p:cond delay="1000"/>
                            </p:stCondLst>
                            <p:childTnLst>
                              <p:par>
                                <p:cTn id="52" presetID="10"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500"/>
                                        <p:tgtEl>
                                          <p:spTgt spid="5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fade">
                                      <p:cBhvr>
                                        <p:cTn id="57" dur="500"/>
                                        <p:tgtEl>
                                          <p:spTgt spid="6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500"/>
                                        <p:tgtEl>
                                          <p:spTgt spid="64"/>
                                        </p:tgtEl>
                                      </p:cBhvr>
                                    </p:animEffect>
                                  </p:childTnLst>
                                </p:cTn>
                              </p:par>
                              <p:par>
                                <p:cTn id="61" presetID="10" presetClass="entr" presetSubtype="0" fill="hold" nodeType="with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500"/>
                                        <p:tgtEl>
                                          <p:spTgt spid="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fade">
                                      <p:cBhvr>
                                        <p:cTn id="6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7" grpId="0"/>
      <p:bldP spid="58" grpId="0"/>
      <p:bldP spid="59" grpId="0"/>
      <p:bldP spid="60" grpId="0"/>
      <p:bldP spid="61" grpId="0"/>
      <p:bldP spid="64"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 xmlns:a16="http://schemas.microsoft.com/office/drawing/2014/main"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 xmlns:a16="http://schemas.microsoft.com/office/drawing/2014/main"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 xmlns:a16="http://schemas.microsoft.com/office/drawing/2014/main"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 xmlns:a16="http://schemas.microsoft.com/office/drawing/2014/main"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30" name="Title 2">
            <a:extLst>
              <a:ext uri="{FF2B5EF4-FFF2-40B4-BE49-F238E27FC236}">
                <a16:creationId xmlns="" xmlns:a16="http://schemas.microsoft.com/office/drawing/2014/main"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 xmlns:a16="http://schemas.microsoft.com/office/drawing/2014/main" id="{3D0DEEB9-74B1-0C47-9C02-E52DAA56675B}"/>
              </a:ext>
            </a:extLst>
          </p:cNvPr>
          <p:cNvSpPr txBox="1"/>
          <p:nvPr/>
        </p:nvSpPr>
        <p:spPr>
          <a:xfrm>
            <a:off x="1117277" y="6210906"/>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47" name="TextBox 46">
            <a:extLst>
              <a:ext uri="{FF2B5EF4-FFF2-40B4-BE49-F238E27FC236}">
                <a16:creationId xmlns="" xmlns:a16="http://schemas.microsoft.com/office/drawing/2014/main"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 xmlns:a16="http://schemas.microsoft.com/office/drawing/2014/main"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33479305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 xmlns:a16="http://schemas.microsoft.com/office/drawing/2014/main"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 xmlns:a16="http://schemas.microsoft.com/office/drawing/2014/main"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 xmlns:a16="http://schemas.microsoft.com/office/drawing/2014/main"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 xmlns:a16="http://schemas.microsoft.com/office/drawing/2014/main"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 xmlns:a16="http://schemas.microsoft.com/office/drawing/2014/main" id="{96968A2D-772B-4144-9FC4-7A79BDD1E1A3}"/>
              </a:ext>
            </a:extLst>
          </p:cNvPr>
          <p:cNvSpPr txBox="1"/>
          <p:nvPr/>
        </p:nvSpPr>
        <p:spPr>
          <a:xfrm>
            <a:off x="141141" y="5185897"/>
            <a:ext cx="768159" cy="584775"/>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a:p>
            <a:r>
              <a:rPr lang="en-US" sz="1600" dirty="0">
                <a:solidFill>
                  <a:srgbClr val="000000"/>
                </a:solidFill>
                <a:latin typeface="Century Gothic" charset="0"/>
                <a:ea typeface="Century Gothic" charset="0"/>
                <a:cs typeface="Century Gothic" charset="0"/>
              </a:rPr>
              <a:t>(POS)</a:t>
            </a:r>
          </a:p>
        </p:txBody>
      </p:sp>
      <p:sp>
        <p:nvSpPr>
          <p:cNvPr id="30" name="Title 2">
            <a:extLst>
              <a:ext uri="{FF2B5EF4-FFF2-40B4-BE49-F238E27FC236}">
                <a16:creationId xmlns="" xmlns:a16="http://schemas.microsoft.com/office/drawing/2014/main"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 xmlns:a16="http://schemas.microsoft.com/office/drawing/2014/main"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 xmlns:a16="http://schemas.microsoft.com/office/drawing/2014/main" id="{96968A2D-772B-4144-9FC4-7A79BDD1E1A3}"/>
              </a:ext>
            </a:extLst>
          </p:cNvPr>
          <p:cNvSpPr txBox="1"/>
          <p:nvPr/>
        </p:nvSpPr>
        <p:spPr>
          <a:xfrm>
            <a:off x="8228585"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 xmlns:a16="http://schemas.microsoft.com/office/drawing/2014/main"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 xmlns:a16="http://schemas.microsoft.com/office/drawing/2014/main"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
        <p:nvSpPr>
          <p:cNvPr id="23" name="TextBox 22">
            <a:extLst>
              <a:ext uri="{FF2B5EF4-FFF2-40B4-BE49-F238E27FC236}">
                <a16:creationId xmlns="" xmlns:a16="http://schemas.microsoft.com/office/drawing/2014/main" id="{3D0DEEB9-74B1-0C47-9C02-E52DAA56675B}"/>
              </a:ext>
            </a:extLst>
          </p:cNvPr>
          <p:cNvSpPr txBox="1"/>
          <p:nvPr/>
        </p:nvSpPr>
        <p:spPr>
          <a:xfrm>
            <a:off x="1117277" y="5124341"/>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Tree>
    <p:extLst>
      <p:ext uri="{BB962C8B-B14F-4D97-AF65-F5344CB8AC3E}">
        <p14:creationId xmlns:p14="http://schemas.microsoft.com/office/powerpoint/2010/main" val="7889615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up)">
                                      <p:cBhvr>
                                        <p:cTn id="15" dur="500"/>
                                        <p:tgtEl>
                                          <p:spTgt spid="39"/>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up)">
                                      <p:cBhvr>
                                        <p:cTn id="18" dur="500"/>
                                        <p:tgtEl>
                                          <p:spTgt spid="40"/>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500"/>
                                        <p:tgtEl>
                                          <p:spTgt spid="41"/>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wipe(up)">
                                      <p:cBhvr>
                                        <p:cTn id="24" dur="500"/>
                                        <p:tgtEl>
                                          <p:spTgt spid="4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up)">
                                      <p:cBhvr>
                                        <p:cTn id="27" dur="500"/>
                                        <p:tgtEl>
                                          <p:spTgt spid="43"/>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ipe(up)">
                                      <p:cBhvr>
                                        <p:cTn id="33" dur="500"/>
                                        <p:tgtEl>
                                          <p:spTgt spid="44"/>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wipe(up)">
                                      <p:cBhvr>
                                        <p:cTn id="36" dur="500"/>
                                        <p:tgtEl>
                                          <p:spTgt spid="4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 grpId="0" animBg="1"/>
      <p:bldP spid="39" grpId="0" animBg="1"/>
      <p:bldP spid="40" grpId="0" animBg="1"/>
      <p:bldP spid="41" grpId="0" animBg="1"/>
      <p:bldP spid="42" grpId="0" animBg="1"/>
      <p:bldP spid="43" grpId="0" animBg="1"/>
      <p:bldP spid="7" grpId="0"/>
      <p:bldP spid="44" grpId="0" animBg="1"/>
      <p:bldP spid="45" grpId="0" animBg="1"/>
      <p:bldP spid="46"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 xmlns:a16="http://schemas.microsoft.com/office/drawing/2014/main"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 xmlns:a16="http://schemas.microsoft.com/office/drawing/2014/main"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 xmlns:a16="http://schemas.microsoft.com/office/drawing/2014/main"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 xmlns:a16="http://schemas.microsoft.com/office/drawing/2014/main"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 xmlns:a16="http://schemas.microsoft.com/office/drawing/2014/main" id="{96968A2D-772B-4144-9FC4-7A79BDD1E1A3}"/>
              </a:ext>
            </a:extLst>
          </p:cNvPr>
          <p:cNvSpPr txBox="1"/>
          <p:nvPr/>
        </p:nvSpPr>
        <p:spPr>
          <a:xfrm>
            <a:off x="141141" y="5185897"/>
            <a:ext cx="768159" cy="584775"/>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a:p>
            <a:r>
              <a:rPr lang="en-US" sz="1600" dirty="0">
                <a:solidFill>
                  <a:srgbClr val="000000"/>
                </a:solidFill>
                <a:latin typeface="Century Gothic" charset="0"/>
                <a:ea typeface="Century Gothic" charset="0"/>
                <a:cs typeface="Century Gothic" charset="0"/>
              </a:rPr>
              <a:t>(POS)</a:t>
            </a:r>
          </a:p>
        </p:txBody>
      </p:sp>
      <p:sp>
        <p:nvSpPr>
          <p:cNvPr id="30" name="Title 2">
            <a:extLst>
              <a:ext uri="{FF2B5EF4-FFF2-40B4-BE49-F238E27FC236}">
                <a16:creationId xmlns="" xmlns:a16="http://schemas.microsoft.com/office/drawing/2014/main"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 xmlns:a16="http://schemas.microsoft.com/office/drawing/2014/main"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 xmlns:a16="http://schemas.microsoft.com/office/drawing/2014/main" id="{96968A2D-772B-4144-9FC4-7A79BDD1E1A3}"/>
              </a:ext>
            </a:extLst>
          </p:cNvPr>
          <p:cNvSpPr txBox="1"/>
          <p:nvPr/>
        </p:nvSpPr>
        <p:spPr>
          <a:xfrm>
            <a:off x="8228585"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 xmlns:a16="http://schemas.microsoft.com/office/drawing/2014/main"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 xmlns:a16="http://schemas.microsoft.com/office/drawing/2014/main" id="{96968A2D-772B-4144-9FC4-7A79BDD1E1A3}"/>
              </a:ext>
            </a:extLst>
          </p:cNvPr>
          <p:cNvSpPr txBox="1"/>
          <p:nvPr/>
        </p:nvSpPr>
        <p:spPr>
          <a:xfrm>
            <a:off x="7750890"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Accuracy</a:t>
            </a:r>
            <a:endParaRPr lang="en-US" sz="1600" dirty="0">
              <a:solidFill>
                <a:srgbClr val="000000"/>
              </a:solidFill>
              <a:latin typeface="Century Gothic" charset="0"/>
              <a:ea typeface="Century Gothic" charset="0"/>
              <a:cs typeface="Century Gothic" charset="0"/>
            </a:endParaRPr>
          </a:p>
        </p:txBody>
      </p:sp>
      <p:sp>
        <p:nvSpPr>
          <p:cNvPr id="23" name="TextBox 22">
            <a:extLst>
              <a:ext uri="{FF2B5EF4-FFF2-40B4-BE49-F238E27FC236}">
                <a16:creationId xmlns="" xmlns:a16="http://schemas.microsoft.com/office/drawing/2014/main" id="{3D0DEEB9-74B1-0C47-9C02-E52DAA56675B}"/>
              </a:ext>
            </a:extLst>
          </p:cNvPr>
          <p:cNvSpPr txBox="1"/>
          <p:nvPr/>
        </p:nvSpPr>
        <p:spPr>
          <a:xfrm>
            <a:off x="2358552" y="3440223"/>
            <a:ext cx="4398396"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22" name="TextBox 21">
            <a:extLst>
              <a:ext uri="{FF2B5EF4-FFF2-40B4-BE49-F238E27FC236}">
                <a16:creationId xmlns="" xmlns:a16="http://schemas.microsoft.com/office/drawing/2014/main" id="{F88526CA-D4E4-FB49-89F2-2806E3495275}"/>
              </a:ext>
            </a:extLst>
          </p:cNvPr>
          <p:cNvSpPr txBox="1"/>
          <p:nvPr/>
        </p:nvSpPr>
        <p:spPr>
          <a:xfrm>
            <a:off x="159946" y="3638348"/>
            <a:ext cx="1649811" cy="584775"/>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Sentence</a:t>
            </a:r>
          </a:p>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(dependency)</a:t>
            </a:r>
          </a:p>
        </p:txBody>
      </p:sp>
      <p:sp>
        <p:nvSpPr>
          <p:cNvPr id="25" name="TextBox 24">
            <a:extLst>
              <a:ext uri="{FF2B5EF4-FFF2-40B4-BE49-F238E27FC236}">
                <a16:creationId xmlns="" xmlns:a16="http://schemas.microsoft.com/office/drawing/2014/main" id="{3D0DEEB9-74B1-0C47-9C02-E52DAA56675B}"/>
              </a:ext>
            </a:extLst>
          </p:cNvPr>
          <p:cNvSpPr txBox="1"/>
          <p:nvPr/>
        </p:nvSpPr>
        <p:spPr>
          <a:xfrm>
            <a:off x="2273155" y="3441383"/>
            <a:ext cx="4569190"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grpSp>
        <p:nvGrpSpPr>
          <p:cNvPr id="26" name="Group 25"/>
          <p:cNvGrpSpPr/>
          <p:nvPr/>
        </p:nvGrpSpPr>
        <p:grpSpPr>
          <a:xfrm>
            <a:off x="3640671" y="3297792"/>
            <a:ext cx="635431" cy="228600"/>
            <a:chOff x="4633993" y="2250441"/>
            <a:chExt cx="635431" cy="228600"/>
          </a:xfrm>
        </p:grpSpPr>
        <p:sp>
          <p:nvSpPr>
            <p:cNvPr id="27" name="Rounded Rectangle 2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SBJ</a:t>
              </a:r>
            </a:p>
          </p:txBody>
        </p:sp>
      </p:grpSp>
      <p:grpSp>
        <p:nvGrpSpPr>
          <p:cNvPr id="29" name="Group 28"/>
          <p:cNvGrpSpPr/>
          <p:nvPr/>
        </p:nvGrpSpPr>
        <p:grpSpPr>
          <a:xfrm>
            <a:off x="2707071" y="3297792"/>
            <a:ext cx="789337" cy="228600"/>
            <a:chOff x="4633993" y="2242203"/>
            <a:chExt cx="789337" cy="228600"/>
          </a:xfrm>
        </p:grpSpPr>
        <p:sp>
          <p:nvSpPr>
            <p:cNvPr id="31" name="Rounded Rectangle 30"/>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NAME</a:t>
              </a:r>
            </a:p>
          </p:txBody>
        </p:sp>
      </p:grpSp>
      <p:grpSp>
        <p:nvGrpSpPr>
          <p:cNvPr id="33" name="Group 32"/>
          <p:cNvGrpSpPr/>
          <p:nvPr/>
        </p:nvGrpSpPr>
        <p:grpSpPr>
          <a:xfrm>
            <a:off x="5486711" y="3297792"/>
            <a:ext cx="635431" cy="228600"/>
            <a:chOff x="4633993" y="2250441"/>
            <a:chExt cx="635431" cy="228600"/>
          </a:xfrm>
        </p:grpSpPr>
        <p:sp>
          <p:nvSpPr>
            <p:cNvPr id="34" name="Rounded Rectangle 33"/>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C00000"/>
                  </a:solidFill>
                </a:rPr>
                <a:t>TMP</a:t>
              </a:r>
            </a:p>
          </p:txBody>
        </p:sp>
      </p:grpSp>
      <p:grpSp>
        <p:nvGrpSpPr>
          <p:cNvPr id="36" name="Group 35"/>
          <p:cNvGrpSpPr/>
          <p:nvPr/>
        </p:nvGrpSpPr>
        <p:grpSpPr>
          <a:xfrm>
            <a:off x="2948549" y="4169419"/>
            <a:ext cx="635431" cy="228600"/>
            <a:chOff x="4633993" y="2250441"/>
            <a:chExt cx="635431" cy="228600"/>
          </a:xfrm>
        </p:grpSpPr>
        <p:sp>
          <p:nvSpPr>
            <p:cNvPr id="37" name="Rounded Rectangle 3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TMP</a:t>
              </a:r>
            </a:p>
          </p:txBody>
        </p:sp>
      </p:grpSp>
      <p:grpSp>
        <p:nvGrpSpPr>
          <p:cNvPr id="50" name="Group 49"/>
          <p:cNvGrpSpPr/>
          <p:nvPr/>
        </p:nvGrpSpPr>
        <p:grpSpPr>
          <a:xfrm>
            <a:off x="4283851" y="3297792"/>
            <a:ext cx="789337" cy="228600"/>
            <a:chOff x="4633993" y="2242203"/>
            <a:chExt cx="789337" cy="228600"/>
          </a:xfrm>
        </p:grpSpPr>
        <p:sp>
          <p:nvSpPr>
            <p:cNvPr id="54" name="Rounded Rectangle 53"/>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ROOT</a:t>
              </a:r>
            </a:p>
          </p:txBody>
        </p:sp>
      </p:grpSp>
      <p:grpSp>
        <p:nvGrpSpPr>
          <p:cNvPr id="57" name="Group 56"/>
          <p:cNvGrpSpPr/>
          <p:nvPr/>
        </p:nvGrpSpPr>
        <p:grpSpPr>
          <a:xfrm>
            <a:off x="3425087" y="4169419"/>
            <a:ext cx="899546" cy="228600"/>
            <a:chOff x="4601041" y="2242203"/>
            <a:chExt cx="899546" cy="228600"/>
          </a:xfrm>
        </p:grpSpPr>
        <p:sp>
          <p:nvSpPr>
            <p:cNvPr id="59" name="Rounded Rectangle 58"/>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1" name="Group 60"/>
          <p:cNvGrpSpPr/>
          <p:nvPr/>
        </p:nvGrpSpPr>
        <p:grpSpPr>
          <a:xfrm>
            <a:off x="4258571" y="4169419"/>
            <a:ext cx="899546" cy="228600"/>
            <a:chOff x="4601041" y="2242203"/>
            <a:chExt cx="899546" cy="228600"/>
          </a:xfrm>
        </p:grpSpPr>
        <p:sp>
          <p:nvSpPr>
            <p:cNvPr id="62" name="Rounded Rectangle 61"/>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ounded Rectangle 62"/>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4" name="Group 63"/>
          <p:cNvGrpSpPr/>
          <p:nvPr/>
        </p:nvGrpSpPr>
        <p:grpSpPr>
          <a:xfrm>
            <a:off x="5164960" y="4169419"/>
            <a:ext cx="899546" cy="228600"/>
            <a:chOff x="4601041" y="2242203"/>
            <a:chExt cx="899546" cy="228600"/>
          </a:xfrm>
        </p:grpSpPr>
        <p:sp>
          <p:nvSpPr>
            <p:cNvPr id="65" name="Rounded Rectangle 64"/>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PMOD</a:t>
              </a:r>
            </a:p>
          </p:txBody>
        </p:sp>
      </p:grpSp>
      <p:cxnSp>
        <p:nvCxnSpPr>
          <p:cNvPr id="67" name="Curved Connector 66"/>
          <p:cNvCxnSpPr/>
          <p:nvPr/>
        </p:nvCxnSpPr>
        <p:spPr>
          <a:xfrm rot="16200000" flipH="1" flipV="1">
            <a:off x="3525945" y="2889085"/>
            <a:ext cx="8238" cy="856647"/>
          </a:xfrm>
          <a:prstGeom prst="curvedConnector3">
            <a:avLst>
              <a:gd name="adj1" fmla="val -27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urved Connector 67"/>
          <p:cNvCxnSpPr/>
          <p:nvPr/>
        </p:nvCxnSpPr>
        <p:spPr>
          <a:xfrm rot="16200000" flipV="1">
            <a:off x="4314335" y="2957342"/>
            <a:ext cx="8238" cy="720133"/>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p:cNvCxnSpPr/>
          <p:nvPr/>
        </p:nvCxnSpPr>
        <p:spPr>
          <a:xfrm rot="5400000" flipH="1" flipV="1">
            <a:off x="5237354" y="2754456"/>
            <a:ext cx="8238" cy="1125907"/>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p:cNvCxnSpPr>
            <a:stCxn id="56" idx="0"/>
          </p:cNvCxnSpPr>
          <p:nvPr/>
        </p:nvCxnSpPr>
        <p:spPr>
          <a:xfrm rot="16200000" flipH="1" flipV="1">
            <a:off x="3456060" y="3131734"/>
            <a:ext cx="1032666" cy="1412254"/>
          </a:xfrm>
          <a:prstGeom prst="curvedConnector4">
            <a:avLst>
              <a:gd name="adj1" fmla="val -27586"/>
              <a:gd name="adj2" fmla="val 166573"/>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Curved Connector 70"/>
          <p:cNvCxnSpPr/>
          <p:nvPr/>
        </p:nvCxnSpPr>
        <p:spPr>
          <a:xfrm rot="16200000" flipH="1">
            <a:off x="4418689" y="3201770"/>
            <a:ext cx="43825" cy="2348672"/>
          </a:xfrm>
          <a:prstGeom prst="curvedConnector3">
            <a:avLst>
              <a:gd name="adj1" fmla="val 62162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urved Connector 71"/>
          <p:cNvCxnSpPr/>
          <p:nvPr/>
        </p:nvCxnSpPr>
        <p:spPr>
          <a:xfrm rot="5400000">
            <a:off x="5161743" y="3944825"/>
            <a:ext cx="12700" cy="906389"/>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Curved Connector 72"/>
          <p:cNvCxnSpPr/>
          <p:nvPr/>
        </p:nvCxnSpPr>
        <p:spPr>
          <a:xfrm rot="5400000">
            <a:off x="4745001" y="3528083"/>
            <a:ext cx="12700" cy="1739873"/>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 xmlns:a16="http://schemas.microsoft.com/office/drawing/2014/main" id="{96968A2D-772B-4144-9FC4-7A79BDD1E1A3}"/>
              </a:ext>
            </a:extLst>
          </p:cNvPr>
          <p:cNvSpPr txBox="1"/>
          <p:nvPr/>
        </p:nvSpPr>
        <p:spPr>
          <a:xfrm>
            <a:off x="8228811" y="3638348"/>
            <a:ext cx="696024" cy="338554"/>
          </a:xfrm>
          <a:prstGeom prst="rect">
            <a:avLst/>
          </a:prstGeom>
          <a:noFill/>
        </p:spPr>
        <p:txBody>
          <a:bodyPr wrap="none" rtlCol="0">
            <a:spAutoFit/>
          </a:bodyPr>
          <a:lstStyle/>
          <a:p>
            <a:pPr eaLnBrk="0" fontAlgn="base" hangingPunct="0">
              <a:spcBef>
                <a:spcPct val="0"/>
              </a:spcBef>
              <a:spcAft>
                <a:spcPct val="0"/>
              </a:spcAft>
            </a:pPr>
            <a:r>
              <a:rPr lang="en-US" sz="1600">
                <a:solidFill>
                  <a:srgbClr val="000000"/>
                </a:solidFill>
                <a:latin typeface="Century Gothic" charset="0"/>
                <a:ea typeface="Century Gothic" charset="0"/>
                <a:cs typeface="Century Gothic" charset="0"/>
              </a:rPr>
              <a:t>~90%</a:t>
            </a:r>
            <a:endParaRPr lang="en-US" sz="1600" dirty="0">
              <a:solidFill>
                <a:srgbClr val="00000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3319526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par>
                                <p:cTn id="15" presetID="10"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500"/>
                                        <p:tgtEl>
                                          <p:spTgt spid="33"/>
                                        </p:tgtEl>
                                      </p:cBhvr>
                                    </p:animEffect>
                                  </p:childTnLst>
                                </p:cTn>
                              </p:par>
                              <p:par>
                                <p:cTn id="21" presetID="10"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par>
                                <p:cTn id="24" presetID="10"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fade">
                                      <p:cBhvr>
                                        <p:cTn id="26" dur="500"/>
                                        <p:tgtEl>
                                          <p:spTgt spid="57"/>
                                        </p:tgtEl>
                                      </p:cBhvr>
                                    </p:animEffect>
                                  </p:childTnLst>
                                </p:cTn>
                              </p:par>
                              <p:par>
                                <p:cTn id="27" presetID="10"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fade">
                                      <p:cBhvr>
                                        <p:cTn id="29" dur="500"/>
                                        <p:tgtEl>
                                          <p:spTgt spid="61"/>
                                        </p:tgtEl>
                                      </p:cBhvr>
                                    </p:animEffect>
                                  </p:childTnLst>
                                </p:cTn>
                              </p:par>
                              <p:par>
                                <p:cTn id="30" presetID="10" presetClass="entr" presetSubtype="0" fill="hold" nodeType="with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500"/>
                                        <p:tgtEl>
                                          <p:spTgt spid="6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left)">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72"/>
                                        </p:tgtEl>
                                        <p:attrNameLst>
                                          <p:attrName>style.visibility</p:attrName>
                                        </p:attrNameLst>
                                      </p:cBhvr>
                                      <p:to>
                                        <p:strVal val="visible"/>
                                      </p:to>
                                    </p:set>
                                    <p:animEffect transition="in" filter="wipe(right)">
                                      <p:cBhvr>
                                        <p:cTn id="42" dur="500"/>
                                        <p:tgtEl>
                                          <p:spTgt spid="7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fade">
                                      <p:cBhvr>
                                        <p:cTn id="47" dur="500"/>
                                        <p:tgtEl>
                                          <p:spTgt spid="70"/>
                                        </p:tgtEl>
                                      </p:cBhvr>
                                    </p:animEffect>
                                  </p:childTnLst>
                                </p:cTn>
                              </p:par>
                              <p:par>
                                <p:cTn id="48" presetID="10" presetClass="entr" presetSubtype="0" fill="hold"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500"/>
                                        <p:tgtEl>
                                          <p:spTgt spid="67"/>
                                        </p:tgtEl>
                                      </p:cBhvr>
                                    </p:animEffect>
                                  </p:childTnLst>
                                </p:cTn>
                              </p:par>
                              <p:par>
                                <p:cTn id="51" presetID="10" presetClass="entr" presetSubtype="0" fill="hold" nodeType="withEffect">
                                  <p:stCondLst>
                                    <p:cond delay="0"/>
                                  </p:stCondLst>
                                  <p:childTnLst>
                                    <p:set>
                                      <p:cBhvr>
                                        <p:cTn id="52" dur="1" fill="hold">
                                          <p:stCondLst>
                                            <p:cond delay="0"/>
                                          </p:stCondLst>
                                        </p:cTn>
                                        <p:tgtEl>
                                          <p:spTgt spid="68"/>
                                        </p:tgtEl>
                                        <p:attrNameLst>
                                          <p:attrName>style.visibility</p:attrName>
                                        </p:attrNameLst>
                                      </p:cBhvr>
                                      <p:to>
                                        <p:strVal val="visible"/>
                                      </p:to>
                                    </p:set>
                                    <p:animEffect transition="in" filter="fade">
                                      <p:cBhvr>
                                        <p:cTn id="53" dur="500"/>
                                        <p:tgtEl>
                                          <p:spTgt spid="68"/>
                                        </p:tgtEl>
                                      </p:cBhvr>
                                    </p:animEffect>
                                  </p:childTnLst>
                                </p:cTn>
                              </p:par>
                              <p:par>
                                <p:cTn id="54" presetID="10" presetClass="entr" presetSubtype="0" fill="hold" nodeType="withEffect">
                                  <p:stCondLst>
                                    <p:cond delay="0"/>
                                  </p:stCondLst>
                                  <p:childTnLst>
                                    <p:set>
                                      <p:cBhvr>
                                        <p:cTn id="55" dur="1" fill="hold">
                                          <p:stCondLst>
                                            <p:cond delay="0"/>
                                          </p:stCondLst>
                                        </p:cTn>
                                        <p:tgtEl>
                                          <p:spTgt spid="71"/>
                                        </p:tgtEl>
                                        <p:attrNameLst>
                                          <p:attrName>style.visibility</p:attrName>
                                        </p:attrNameLst>
                                      </p:cBhvr>
                                      <p:to>
                                        <p:strVal val="visible"/>
                                      </p:to>
                                    </p:set>
                                    <p:animEffect transition="in" filter="fade">
                                      <p:cBhvr>
                                        <p:cTn id="56" dur="500"/>
                                        <p:tgtEl>
                                          <p:spTgt spid="71"/>
                                        </p:tgtEl>
                                      </p:cBhvr>
                                    </p:animEffect>
                                  </p:childTnLst>
                                </p:cTn>
                              </p:par>
                              <p:par>
                                <p:cTn id="57" presetID="10" presetClass="entr" presetSubtype="0" fill="hold" nodeType="with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fade">
                                      <p:cBhvr>
                                        <p:cTn id="59" dur="500"/>
                                        <p:tgtEl>
                                          <p:spTgt spid="7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fade">
                                      <p:cBhvr>
                                        <p:cTn id="64" dur="500"/>
                                        <p:tgtEl>
                                          <p:spTgt spid="74"/>
                                        </p:tgtEl>
                                      </p:cBhvr>
                                    </p:animEffect>
                                  </p:childTnLst>
                                </p:cTn>
                              </p:par>
                              <p:par>
                                <p:cTn id="65" presetID="1"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7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a:extLst>
              <a:ext uri="{FF2B5EF4-FFF2-40B4-BE49-F238E27FC236}">
                <a16:creationId xmlns="" xmlns:a16="http://schemas.microsoft.com/office/drawing/2014/main" id="{978E545B-EB76-8148-A35B-150C48ADB264}"/>
              </a:ext>
            </a:extLst>
          </p:cNvPr>
          <p:cNvSpPr/>
          <p:nvPr/>
        </p:nvSpPr>
        <p:spPr>
          <a:xfrm>
            <a:off x="2660523" y="1529542"/>
            <a:ext cx="3794456" cy="1409445"/>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2" name="Freeform 51">
            <a:extLst>
              <a:ext uri="{FF2B5EF4-FFF2-40B4-BE49-F238E27FC236}">
                <a16:creationId xmlns="" xmlns:a16="http://schemas.microsoft.com/office/drawing/2014/main" id="{6CB448AD-9002-E140-A24C-AFF375496F61}"/>
              </a:ext>
            </a:extLst>
          </p:cNvPr>
          <p:cNvSpPr/>
          <p:nvPr/>
        </p:nvSpPr>
        <p:spPr>
          <a:xfrm>
            <a:off x="1663674" y="3089998"/>
            <a:ext cx="5788153" cy="1409445"/>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3" name="Freeform 52">
            <a:extLst>
              <a:ext uri="{FF2B5EF4-FFF2-40B4-BE49-F238E27FC236}">
                <a16:creationId xmlns="" xmlns:a16="http://schemas.microsoft.com/office/drawing/2014/main" id="{1A54A3CF-BC91-5C43-8730-A8564FAEDE43}"/>
              </a:ext>
            </a:extLst>
          </p:cNvPr>
          <p:cNvSpPr/>
          <p:nvPr/>
        </p:nvSpPr>
        <p:spPr>
          <a:xfrm>
            <a:off x="666827" y="4650452"/>
            <a:ext cx="7781847" cy="1409445"/>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55" name="TextBox 54">
            <a:extLst>
              <a:ext uri="{FF2B5EF4-FFF2-40B4-BE49-F238E27FC236}">
                <a16:creationId xmlns="" xmlns:a16="http://schemas.microsoft.com/office/drawing/2014/main" id="{3D0DEEB9-74B1-0C47-9C02-E52DAA56675B}"/>
              </a:ext>
            </a:extLst>
          </p:cNvPr>
          <p:cNvSpPr txBox="1"/>
          <p:nvPr/>
        </p:nvSpPr>
        <p:spPr>
          <a:xfrm>
            <a:off x="1117277" y="6210906"/>
            <a:ext cx="714557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8" name="TextBox 57">
            <a:extLst>
              <a:ext uri="{FF2B5EF4-FFF2-40B4-BE49-F238E27FC236}">
                <a16:creationId xmlns="" xmlns:a16="http://schemas.microsoft.com/office/drawing/2014/main" id="{96968A2D-772B-4144-9FC4-7A79BDD1E1A3}"/>
              </a:ext>
            </a:extLst>
          </p:cNvPr>
          <p:cNvSpPr txBox="1"/>
          <p:nvPr/>
        </p:nvSpPr>
        <p:spPr>
          <a:xfrm>
            <a:off x="141141" y="5185897"/>
            <a:ext cx="768159"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Token</a:t>
            </a:r>
          </a:p>
        </p:txBody>
      </p:sp>
      <p:sp>
        <p:nvSpPr>
          <p:cNvPr id="30" name="Title 2">
            <a:extLst>
              <a:ext uri="{FF2B5EF4-FFF2-40B4-BE49-F238E27FC236}">
                <a16:creationId xmlns="" xmlns:a16="http://schemas.microsoft.com/office/drawing/2014/main" id="{76929319-9B86-4842-96F1-0CFDF5989586}"/>
              </a:ext>
            </a:extLst>
          </p:cNvPr>
          <p:cNvSpPr txBox="1">
            <a:spLocks/>
          </p:cNvSpPr>
          <p:nvPr/>
        </p:nvSpPr>
        <p:spPr bwMode="auto">
          <a:xfrm>
            <a:off x="676274" y="228600"/>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ctr" rtl="0" eaLnBrk="0" fontAlgn="base" hangingPunct="0">
              <a:spcBef>
                <a:spcPct val="0"/>
              </a:spcBef>
              <a:spcAft>
                <a:spcPct val="0"/>
              </a:spcAft>
              <a:defRPr lang="en-US" sz="2800" b="0" kern="1200" cap="none" baseline="0" dirty="0" smtClean="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rgbClr val="000000">
                    <a:lumMod val="95000"/>
                    <a:lumOff val="5000"/>
                  </a:srgbClr>
                </a:solidFill>
              </a:rPr>
              <a:t>A brief overview of NLP</a:t>
            </a:r>
          </a:p>
        </p:txBody>
      </p:sp>
      <p:sp>
        <p:nvSpPr>
          <p:cNvPr id="38" name="TextBox 37">
            <a:extLst>
              <a:ext uri="{FF2B5EF4-FFF2-40B4-BE49-F238E27FC236}">
                <a16:creationId xmlns="" xmlns:a16="http://schemas.microsoft.com/office/drawing/2014/main" id="{3D0DEEB9-74B1-0C47-9C02-E52DAA56675B}"/>
              </a:ext>
            </a:extLst>
          </p:cNvPr>
          <p:cNvSpPr txBox="1"/>
          <p:nvPr/>
        </p:nvSpPr>
        <p:spPr>
          <a:xfrm>
            <a:off x="1117277" y="5124341"/>
            <a:ext cx="8346764" cy="400110"/>
          </a:xfrm>
          <a:prstGeom prst="rect">
            <a:avLst/>
          </a:prstGeom>
          <a:noFill/>
        </p:spPr>
        <p:txBody>
          <a:bodyPr wrap="square" rtlCol="0">
            <a:spAutoFit/>
          </a:bodyPr>
          <a:lstStyle/>
          <a:p>
            <a:pP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5" name="Rounded Rectangle 4"/>
          <p:cNvSpPr/>
          <p:nvPr/>
        </p:nvSpPr>
        <p:spPr>
          <a:xfrm>
            <a:off x="1192601" y="5159676"/>
            <a:ext cx="98533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39" name="Rounded Rectangle 38"/>
          <p:cNvSpPr/>
          <p:nvPr/>
        </p:nvSpPr>
        <p:spPr>
          <a:xfrm>
            <a:off x="2209519"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a:p>
            <a:pPr algn="ctr"/>
            <a:r>
              <a:rPr lang="en-US" dirty="0">
                <a:solidFill>
                  <a:srgbClr val="C00000"/>
                </a:solidFill>
              </a:rPr>
              <a:t>NNP</a:t>
            </a:r>
          </a:p>
        </p:txBody>
      </p:sp>
      <p:sp>
        <p:nvSpPr>
          <p:cNvPr id="40" name="Rounded Rectangle 39"/>
          <p:cNvSpPr/>
          <p:nvPr/>
        </p:nvSpPr>
        <p:spPr>
          <a:xfrm>
            <a:off x="2924414" y="5159676"/>
            <a:ext cx="650059"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VBD</a:t>
            </a:r>
          </a:p>
        </p:txBody>
      </p:sp>
      <p:sp>
        <p:nvSpPr>
          <p:cNvPr id="41" name="Rounded Rectangle 40"/>
          <p:cNvSpPr/>
          <p:nvPr/>
        </p:nvSpPr>
        <p:spPr>
          <a:xfrm>
            <a:off x="3612083" y="5159676"/>
            <a:ext cx="1500830"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NNP</a:t>
            </a:r>
          </a:p>
        </p:txBody>
      </p:sp>
      <p:sp>
        <p:nvSpPr>
          <p:cNvPr id="42" name="Rounded Rectangle 41"/>
          <p:cNvSpPr/>
          <p:nvPr/>
        </p:nvSpPr>
        <p:spPr>
          <a:xfrm>
            <a:off x="5166158" y="5159676"/>
            <a:ext cx="610017"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IN</a:t>
            </a:r>
          </a:p>
        </p:txBody>
      </p:sp>
      <p:sp>
        <p:nvSpPr>
          <p:cNvPr id="43" name="Rounded Rectangle 42"/>
          <p:cNvSpPr/>
          <p:nvPr/>
        </p:nvSpPr>
        <p:spPr>
          <a:xfrm>
            <a:off x="5829419" y="5159676"/>
            <a:ext cx="154733" cy="69210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7" name="Rectangle 6"/>
          <p:cNvSpPr/>
          <p:nvPr/>
        </p:nvSpPr>
        <p:spPr>
          <a:xfrm>
            <a:off x="5572765" y="5505726"/>
            <a:ext cx="681643" cy="646331"/>
          </a:xfrm>
          <a:prstGeom prst="rect">
            <a:avLst/>
          </a:prstGeom>
        </p:spPr>
        <p:txBody>
          <a:bodyPr wrap="square">
            <a:spAutoFit/>
          </a:bodyPr>
          <a:lstStyle/>
          <a:p>
            <a:pPr algn="ctr"/>
            <a:endParaRPr lang="en-US" dirty="0">
              <a:solidFill>
                <a:srgbClr val="C00000"/>
              </a:solidFill>
            </a:endParaRPr>
          </a:p>
          <a:p>
            <a:pPr algn="ctr"/>
            <a:r>
              <a:rPr lang="en-US" dirty="0">
                <a:solidFill>
                  <a:srgbClr val="C00000"/>
                </a:solidFill>
              </a:rPr>
              <a:t>DT</a:t>
            </a:r>
          </a:p>
        </p:txBody>
      </p:sp>
      <p:sp>
        <p:nvSpPr>
          <p:cNvPr id="44" name="Rounded Rectangle 43"/>
          <p:cNvSpPr/>
          <p:nvPr/>
        </p:nvSpPr>
        <p:spPr>
          <a:xfrm>
            <a:off x="6050997" y="5159676"/>
            <a:ext cx="1209774"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JJ</a:t>
            </a:r>
          </a:p>
        </p:txBody>
      </p:sp>
      <p:sp>
        <p:nvSpPr>
          <p:cNvPr id="45" name="Rounded Rectangle 44"/>
          <p:cNvSpPr/>
          <p:nvPr/>
        </p:nvSpPr>
        <p:spPr>
          <a:xfrm>
            <a:off x="7305844" y="5159676"/>
            <a:ext cx="683311" cy="71119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a:p>
            <a:pPr algn="ctr"/>
            <a:r>
              <a:rPr lang="en-US" dirty="0">
                <a:solidFill>
                  <a:srgbClr val="C00000"/>
                </a:solidFill>
              </a:rPr>
              <a:t>NN</a:t>
            </a:r>
          </a:p>
        </p:txBody>
      </p:sp>
      <p:sp>
        <p:nvSpPr>
          <p:cNvPr id="46" name="TextBox 45">
            <a:extLst>
              <a:ext uri="{FF2B5EF4-FFF2-40B4-BE49-F238E27FC236}">
                <a16:creationId xmlns="" xmlns:a16="http://schemas.microsoft.com/office/drawing/2014/main" id="{96968A2D-772B-4144-9FC4-7A79BDD1E1A3}"/>
              </a:ext>
            </a:extLst>
          </p:cNvPr>
          <p:cNvSpPr txBox="1"/>
          <p:nvPr/>
        </p:nvSpPr>
        <p:spPr>
          <a:xfrm>
            <a:off x="8264340" y="5261402"/>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&gt;95%</a:t>
            </a:r>
          </a:p>
        </p:txBody>
      </p:sp>
      <p:sp>
        <p:nvSpPr>
          <p:cNvPr id="47" name="TextBox 46">
            <a:extLst>
              <a:ext uri="{FF2B5EF4-FFF2-40B4-BE49-F238E27FC236}">
                <a16:creationId xmlns="" xmlns:a16="http://schemas.microsoft.com/office/drawing/2014/main" id="{96968A2D-772B-4144-9FC4-7A79BDD1E1A3}"/>
              </a:ext>
            </a:extLst>
          </p:cNvPr>
          <p:cNvSpPr txBox="1"/>
          <p:nvPr/>
        </p:nvSpPr>
        <p:spPr>
          <a:xfrm>
            <a:off x="159946" y="1188070"/>
            <a:ext cx="700833"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Level</a:t>
            </a:r>
          </a:p>
        </p:txBody>
      </p:sp>
      <p:sp>
        <p:nvSpPr>
          <p:cNvPr id="48" name="TextBox 47">
            <a:extLst>
              <a:ext uri="{FF2B5EF4-FFF2-40B4-BE49-F238E27FC236}">
                <a16:creationId xmlns="" xmlns:a16="http://schemas.microsoft.com/office/drawing/2014/main" id="{96968A2D-772B-4144-9FC4-7A79BDD1E1A3}"/>
              </a:ext>
            </a:extLst>
          </p:cNvPr>
          <p:cNvSpPr txBox="1"/>
          <p:nvPr/>
        </p:nvSpPr>
        <p:spPr>
          <a:xfrm>
            <a:off x="7786645" y="1188070"/>
            <a:ext cx="117371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Accuracy</a:t>
            </a:r>
          </a:p>
        </p:txBody>
      </p:sp>
      <p:sp>
        <p:nvSpPr>
          <p:cNvPr id="23" name="TextBox 22">
            <a:extLst>
              <a:ext uri="{FF2B5EF4-FFF2-40B4-BE49-F238E27FC236}">
                <a16:creationId xmlns="" xmlns:a16="http://schemas.microsoft.com/office/drawing/2014/main" id="{3D0DEEB9-74B1-0C47-9C02-E52DAA56675B}"/>
              </a:ext>
            </a:extLst>
          </p:cNvPr>
          <p:cNvSpPr txBox="1"/>
          <p:nvPr/>
        </p:nvSpPr>
        <p:spPr>
          <a:xfrm>
            <a:off x="2358552" y="3440223"/>
            <a:ext cx="4398396"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George Lowe died</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Wednesday after a long-term</a:t>
            </a:r>
            <a:r>
              <a:rPr lang="zh-CN" altLang="en-US" sz="2000" dirty="0">
                <a:solidFill>
                  <a:srgbClr val="000000"/>
                </a:solidFill>
                <a:latin typeface="Century Gothic" charset="0"/>
                <a:ea typeface="Century Gothic" charset="0"/>
                <a:cs typeface="Century Gothic" charset="0"/>
              </a:rPr>
              <a:t> </a:t>
            </a:r>
            <a:r>
              <a:rPr lang="en-US" sz="2000" dirty="0">
                <a:solidFill>
                  <a:srgbClr val="000000"/>
                </a:solidFill>
                <a:latin typeface="Century Gothic" charset="0"/>
                <a:ea typeface="Century Gothic" charset="0"/>
                <a:cs typeface="Century Gothic" charset="0"/>
              </a:rPr>
              <a:t>illness</a:t>
            </a:r>
          </a:p>
        </p:txBody>
      </p:sp>
      <p:sp>
        <p:nvSpPr>
          <p:cNvPr id="22" name="TextBox 21">
            <a:extLst>
              <a:ext uri="{FF2B5EF4-FFF2-40B4-BE49-F238E27FC236}">
                <a16:creationId xmlns="" xmlns:a16="http://schemas.microsoft.com/office/drawing/2014/main" id="{F88526CA-D4E4-FB49-89F2-2806E3495275}"/>
              </a:ext>
            </a:extLst>
          </p:cNvPr>
          <p:cNvSpPr txBox="1"/>
          <p:nvPr/>
        </p:nvSpPr>
        <p:spPr>
          <a:xfrm>
            <a:off x="159946" y="3638348"/>
            <a:ext cx="1138453"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Sentence</a:t>
            </a:r>
          </a:p>
        </p:txBody>
      </p:sp>
      <p:grpSp>
        <p:nvGrpSpPr>
          <p:cNvPr id="26" name="Group 25"/>
          <p:cNvGrpSpPr/>
          <p:nvPr/>
        </p:nvGrpSpPr>
        <p:grpSpPr>
          <a:xfrm>
            <a:off x="3640671" y="3297792"/>
            <a:ext cx="635431" cy="228600"/>
            <a:chOff x="4633993" y="2250441"/>
            <a:chExt cx="635431" cy="228600"/>
          </a:xfrm>
        </p:grpSpPr>
        <p:sp>
          <p:nvSpPr>
            <p:cNvPr id="27" name="Rounded Rectangle 2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SBJ</a:t>
              </a:r>
            </a:p>
          </p:txBody>
        </p:sp>
      </p:grpSp>
      <p:grpSp>
        <p:nvGrpSpPr>
          <p:cNvPr id="29" name="Group 28"/>
          <p:cNvGrpSpPr/>
          <p:nvPr/>
        </p:nvGrpSpPr>
        <p:grpSpPr>
          <a:xfrm>
            <a:off x="2707071" y="3297792"/>
            <a:ext cx="789337" cy="228600"/>
            <a:chOff x="4633993" y="2242203"/>
            <a:chExt cx="789337" cy="228600"/>
          </a:xfrm>
        </p:grpSpPr>
        <p:sp>
          <p:nvSpPr>
            <p:cNvPr id="31" name="Rounded Rectangle 30"/>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NAME</a:t>
              </a:r>
            </a:p>
          </p:txBody>
        </p:sp>
      </p:grpSp>
      <p:grpSp>
        <p:nvGrpSpPr>
          <p:cNvPr id="33" name="Group 32"/>
          <p:cNvGrpSpPr/>
          <p:nvPr/>
        </p:nvGrpSpPr>
        <p:grpSpPr>
          <a:xfrm>
            <a:off x="5486711" y="3297792"/>
            <a:ext cx="635431" cy="228600"/>
            <a:chOff x="4633993" y="2250441"/>
            <a:chExt cx="635431" cy="228600"/>
          </a:xfrm>
        </p:grpSpPr>
        <p:sp>
          <p:nvSpPr>
            <p:cNvPr id="34" name="Rounded Rectangle 33"/>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ed Rectangle 34"/>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C00000"/>
                  </a:solidFill>
                </a:rPr>
                <a:t>TMP</a:t>
              </a:r>
            </a:p>
          </p:txBody>
        </p:sp>
      </p:grpSp>
      <p:grpSp>
        <p:nvGrpSpPr>
          <p:cNvPr id="36" name="Group 35"/>
          <p:cNvGrpSpPr/>
          <p:nvPr/>
        </p:nvGrpSpPr>
        <p:grpSpPr>
          <a:xfrm>
            <a:off x="2948549" y="4169419"/>
            <a:ext cx="635431" cy="228600"/>
            <a:chOff x="4633993" y="2250441"/>
            <a:chExt cx="635431" cy="228600"/>
          </a:xfrm>
        </p:grpSpPr>
        <p:sp>
          <p:nvSpPr>
            <p:cNvPr id="37" name="Rounded Rectangle 36"/>
            <p:cNvSpPr/>
            <p:nvPr/>
          </p:nvSpPr>
          <p:spPr>
            <a:xfrm>
              <a:off x="4726983" y="2250441"/>
              <a:ext cx="457200"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ounded Rectangle 48"/>
            <p:cNvSpPr/>
            <p:nvPr/>
          </p:nvSpPr>
          <p:spPr>
            <a:xfrm>
              <a:off x="4633993" y="2265939"/>
              <a:ext cx="635431" cy="169277"/>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TMP</a:t>
              </a:r>
            </a:p>
          </p:txBody>
        </p:sp>
      </p:grpSp>
      <p:grpSp>
        <p:nvGrpSpPr>
          <p:cNvPr id="50" name="Group 49"/>
          <p:cNvGrpSpPr/>
          <p:nvPr/>
        </p:nvGrpSpPr>
        <p:grpSpPr>
          <a:xfrm>
            <a:off x="4283851" y="3297792"/>
            <a:ext cx="789337" cy="228600"/>
            <a:chOff x="4633993" y="2242203"/>
            <a:chExt cx="789337" cy="228600"/>
          </a:xfrm>
        </p:grpSpPr>
        <p:sp>
          <p:nvSpPr>
            <p:cNvPr id="54" name="Rounded Rectangle 53"/>
            <p:cNvSpPr/>
            <p:nvPr/>
          </p:nvSpPr>
          <p:spPr>
            <a:xfrm>
              <a:off x="4735220" y="2242203"/>
              <a:ext cx="586053"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p:cNvSpPr/>
            <p:nvPr/>
          </p:nvSpPr>
          <p:spPr>
            <a:xfrm>
              <a:off x="4633993" y="2265939"/>
              <a:ext cx="789337" cy="135681"/>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ROOT</a:t>
              </a:r>
            </a:p>
          </p:txBody>
        </p:sp>
      </p:grpSp>
      <p:grpSp>
        <p:nvGrpSpPr>
          <p:cNvPr id="57" name="Group 56"/>
          <p:cNvGrpSpPr/>
          <p:nvPr/>
        </p:nvGrpSpPr>
        <p:grpSpPr>
          <a:xfrm>
            <a:off x="3425087" y="4169419"/>
            <a:ext cx="899546" cy="228600"/>
            <a:chOff x="4601041" y="2242203"/>
            <a:chExt cx="899546" cy="228600"/>
          </a:xfrm>
        </p:grpSpPr>
        <p:sp>
          <p:nvSpPr>
            <p:cNvPr id="59" name="Rounded Rectangle 58"/>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1" name="Group 60"/>
          <p:cNvGrpSpPr/>
          <p:nvPr/>
        </p:nvGrpSpPr>
        <p:grpSpPr>
          <a:xfrm>
            <a:off x="4258571" y="4169419"/>
            <a:ext cx="899546" cy="228600"/>
            <a:chOff x="4601041" y="2242203"/>
            <a:chExt cx="899546" cy="228600"/>
          </a:xfrm>
        </p:grpSpPr>
        <p:sp>
          <p:nvSpPr>
            <p:cNvPr id="62" name="Rounded Rectangle 61"/>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ounded Rectangle 62"/>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NMOD</a:t>
              </a:r>
            </a:p>
          </p:txBody>
        </p:sp>
      </p:grpSp>
      <p:grpSp>
        <p:nvGrpSpPr>
          <p:cNvPr id="64" name="Group 63"/>
          <p:cNvGrpSpPr/>
          <p:nvPr/>
        </p:nvGrpSpPr>
        <p:grpSpPr>
          <a:xfrm>
            <a:off x="5164960" y="4169419"/>
            <a:ext cx="899546" cy="228600"/>
            <a:chOff x="4601041" y="2242203"/>
            <a:chExt cx="899546" cy="228600"/>
          </a:xfrm>
        </p:grpSpPr>
        <p:sp>
          <p:nvSpPr>
            <p:cNvPr id="65" name="Rounded Rectangle 64"/>
            <p:cNvSpPr/>
            <p:nvPr/>
          </p:nvSpPr>
          <p:spPr>
            <a:xfrm>
              <a:off x="4735220" y="2242203"/>
              <a:ext cx="631595" cy="228600"/>
            </a:xfrm>
            <a:prstGeom prst="roundRect">
              <a:avLst/>
            </a:prstGeom>
            <a:solidFill>
              <a:srgbClr val="D9ADB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ounded Rectangle 65"/>
            <p:cNvSpPr/>
            <p:nvPr/>
          </p:nvSpPr>
          <p:spPr>
            <a:xfrm>
              <a:off x="4601041" y="2274177"/>
              <a:ext cx="899546" cy="136044"/>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PMOD</a:t>
              </a:r>
            </a:p>
          </p:txBody>
        </p:sp>
      </p:grpSp>
      <p:cxnSp>
        <p:nvCxnSpPr>
          <p:cNvPr id="67" name="Curved Connector 66"/>
          <p:cNvCxnSpPr/>
          <p:nvPr/>
        </p:nvCxnSpPr>
        <p:spPr>
          <a:xfrm rot="16200000" flipH="1" flipV="1">
            <a:off x="3525945" y="2889085"/>
            <a:ext cx="8238" cy="856647"/>
          </a:xfrm>
          <a:prstGeom prst="curvedConnector3">
            <a:avLst>
              <a:gd name="adj1" fmla="val -27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urved Connector 67"/>
          <p:cNvCxnSpPr/>
          <p:nvPr/>
        </p:nvCxnSpPr>
        <p:spPr>
          <a:xfrm rot="16200000" flipV="1">
            <a:off x="4314335" y="2957342"/>
            <a:ext cx="8238" cy="720133"/>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urved Connector 68"/>
          <p:cNvCxnSpPr/>
          <p:nvPr/>
        </p:nvCxnSpPr>
        <p:spPr>
          <a:xfrm rot="5400000" flipH="1" flipV="1">
            <a:off x="5237354" y="2754456"/>
            <a:ext cx="8238" cy="1125907"/>
          </a:xfrm>
          <a:prstGeom prst="curvedConnector3">
            <a:avLst>
              <a:gd name="adj1" fmla="val 2874945"/>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urved Connector 69"/>
          <p:cNvCxnSpPr>
            <a:stCxn id="56" idx="0"/>
          </p:cNvCxnSpPr>
          <p:nvPr/>
        </p:nvCxnSpPr>
        <p:spPr>
          <a:xfrm rot="16200000" flipH="1" flipV="1">
            <a:off x="3456060" y="3131734"/>
            <a:ext cx="1032666" cy="1412254"/>
          </a:xfrm>
          <a:prstGeom prst="curvedConnector4">
            <a:avLst>
              <a:gd name="adj1" fmla="val -27586"/>
              <a:gd name="adj2" fmla="val 166573"/>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Curved Connector 70"/>
          <p:cNvCxnSpPr/>
          <p:nvPr/>
        </p:nvCxnSpPr>
        <p:spPr>
          <a:xfrm rot="16200000" flipH="1">
            <a:off x="4418689" y="3201770"/>
            <a:ext cx="43825" cy="2348672"/>
          </a:xfrm>
          <a:prstGeom prst="curvedConnector3">
            <a:avLst>
              <a:gd name="adj1" fmla="val 62162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urved Connector 71"/>
          <p:cNvCxnSpPr/>
          <p:nvPr/>
        </p:nvCxnSpPr>
        <p:spPr>
          <a:xfrm rot="5400000">
            <a:off x="5161743" y="3944825"/>
            <a:ext cx="12700" cy="906389"/>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Curved Connector 72"/>
          <p:cNvCxnSpPr/>
          <p:nvPr/>
        </p:nvCxnSpPr>
        <p:spPr>
          <a:xfrm rot="5400000">
            <a:off x="4745001" y="3528083"/>
            <a:ext cx="12700" cy="1739873"/>
          </a:xfrm>
          <a:prstGeom prst="curvedConnector3">
            <a:avLst>
              <a:gd name="adj1" fmla="val 1800000"/>
            </a:avLst>
          </a:prstGeom>
          <a:ln w="28575">
            <a:solidFill>
              <a:srgbClr val="C0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 xmlns:a16="http://schemas.microsoft.com/office/drawing/2014/main" id="{96968A2D-772B-4144-9FC4-7A79BDD1E1A3}"/>
              </a:ext>
            </a:extLst>
          </p:cNvPr>
          <p:cNvSpPr txBox="1"/>
          <p:nvPr/>
        </p:nvSpPr>
        <p:spPr>
          <a:xfrm>
            <a:off x="8264340" y="3638348"/>
            <a:ext cx="696024"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~90%</a:t>
            </a:r>
          </a:p>
        </p:txBody>
      </p:sp>
      <p:sp>
        <p:nvSpPr>
          <p:cNvPr id="75" name="TextBox 74">
            <a:extLst>
              <a:ext uri="{FF2B5EF4-FFF2-40B4-BE49-F238E27FC236}">
                <a16:creationId xmlns="" xmlns:a16="http://schemas.microsoft.com/office/drawing/2014/main" id="{3D0DEEB9-74B1-0C47-9C02-E52DAA56675B}"/>
              </a:ext>
            </a:extLst>
          </p:cNvPr>
          <p:cNvSpPr txBox="1"/>
          <p:nvPr/>
        </p:nvSpPr>
        <p:spPr>
          <a:xfrm>
            <a:off x="3120713" y="2080884"/>
            <a:ext cx="3016970" cy="707886"/>
          </a:xfrm>
          <a:prstGeom prst="rect">
            <a:avLst/>
          </a:prstGeom>
          <a:noFill/>
        </p:spPr>
        <p:txBody>
          <a:bodyPr wrap="square" rtlCol="0">
            <a:spAutoFit/>
          </a:bodyPr>
          <a:lstStyle/>
          <a:p>
            <a:pPr algn="ctr" eaLnBrk="0" fontAlgn="base" hangingPunct="0">
              <a:spcBef>
                <a:spcPct val="0"/>
              </a:spcBef>
              <a:spcAft>
                <a:spcPct val="0"/>
              </a:spcAft>
            </a:pPr>
            <a:r>
              <a:rPr lang="en-US" sz="2000" dirty="0">
                <a:solidFill>
                  <a:srgbClr val="000000"/>
                </a:solidFill>
                <a:latin typeface="Century Gothic" charset="0"/>
                <a:ea typeface="Century Gothic" charset="0"/>
                <a:cs typeface="Century Gothic" charset="0"/>
              </a:rPr>
              <a:t>Lowe: long-term illness --&gt; died on 03-20-2013</a:t>
            </a:r>
          </a:p>
        </p:txBody>
      </p:sp>
      <p:sp>
        <p:nvSpPr>
          <p:cNvPr id="77" name="TextBox 76">
            <a:extLst>
              <a:ext uri="{FF2B5EF4-FFF2-40B4-BE49-F238E27FC236}">
                <a16:creationId xmlns="" xmlns:a16="http://schemas.microsoft.com/office/drawing/2014/main" id="{2B959E80-D18F-244D-9D76-4CE865449B00}"/>
              </a:ext>
            </a:extLst>
          </p:cNvPr>
          <p:cNvSpPr txBox="1"/>
          <p:nvPr/>
        </p:nvSpPr>
        <p:spPr>
          <a:xfrm>
            <a:off x="159946" y="2030897"/>
            <a:ext cx="1032655"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Situation</a:t>
            </a:r>
          </a:p>
        </p:txBody>
      </p:sp>
      <p:sp>
        <p:nvSpPr>
          <p:cNvPr id="78" name="Rounded Rectangle 77"/>
          <p:cNvSpPr/>
          <p:nvPr/>
        </p:nvSpPr>
        <p:spPr>
          <a:xfrm>
            <a:off x="5930734" y="2830079"/>
            <a:ext cx="3174732" cy="3307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5916827" y="2817317"/>
            <a:ext cx="3221402"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no activities after death</a:t>
            </a:r>
            <a:endParaRPr lang="en-US" dirty="0"/>
          </a:p>
        </p:txBody>
      </p:sp>
      <p:grpSp>
        <p:nvGrpSpPr>
          <p:cNvPr id="79" name="Group 78"/>
          <p:cNvGrpSpPr/>
          <p:nvPr/>
        </p:nvGrpSpPr>
        <p:grpSpPr>
          <a:xfrm>
            <a:off x="3943053" y="1564425"/>
            <a:ext cx="2405686" cy="616675"/>
            <a:chOff x="4049293" y="1414219"/>
            <a:chExt cx="2405686" cy="616675"/>
          </a:xfrm>
        </p:grpSpPr>
        <p:sp>
          <p:nvSpPr>
            <p:cNvPr id="80" name="Right Brace 79"/>
            <p:cNvSpPr/>
            <p:nvPr/>
          </p:nvSpPr>
          <p:spPr>
            <a:xfrm rot="16200000">
              <a:off x="5041678" y="939768"/>
              <a:ext cx="240309" cy="1941944"/>
            </a:xfrm>
            <a:prstGeom prst="rightBrace">
              <a:avLst>
                <a:gd name="adj1" fmla="val 31295"/>
                <a:gd name="adj2" fmla="val 50000"/>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1" name="Rounded Rectangle 80"/>
            <p:cNvSpPr/>
            <p:nvPr/>
          </p:nvSpPr>
          <p:spPr>
            <a:xfrm>
              <a:off x="4172343" y="1475816"/>
              <a:ext cx="1938360" cy="278234"/>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4049293" y="1414219"/>
              <a:ext cx="2405686"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 often &gt;10 years </a:t>
              </a:r>
              <a:endParaRPr lang="en-US" dirty="0"/>
            </a:p>
          </p:txBody>
        </p:sp>
      </p:grpSp>
      <p:sp>
        <p:nvSpPr>
          <p:cNvPr id="2" name="Right Brace 1"/>
          <p:cNvSpPr/>
          <p:nvPr/>
        </p:nvSpPr>
        <p:spPr>
          <a:xfrm rot="5400000">
            <a:off x="4688333" y="1646279"/>
            <a:ext cx="240309" cy="2335633"/>
          </a:xfrm>
          <a:prstGeom prst="rightBrace">
            <a:avLst>
              <a:gd name="adj1" fmla="val 31295"/>
              <a:gd name="adj2" fmla="val 12327"/>
            </a:avLst>
          </a:prstGeom>
          <a:ln w="38100">
            <a:solidFill>
              <a:srgbClr val="0070C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TextBox 82">
            <a:extLst>
              <a:ext uri="{FF2B5EF4-FFF2-40B4-BE49-F238E27FC236}">
                <a16:creationId xmlns="" xmlns:a16="http://schemas.microsoft.com/office/drawing/2014/main" id="{96968A2D-772B-4144-9FC4-7A79BDD1E1A3}"/>
              </a:ext>
            </a:extLst>
          </p:cNvPr>
          <p:cNvSpPr txBox="1"/>
          <p:nvPr/>
        </p:nvSpPr>
        <p:spPr>
          <a:xfrm>
            <a:off x="7844983" y="2034159"/>
            <a:ext cx="1207382"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Not robust</a:t>
            </a:r>
          </a:p>
        </p:txBody>
      </p:sp>
      <p:grpSp>
        <p:nvGrpSpPr>
          <p:cNvPr id="85" name="Group 84">
            <a:extLst>
              <a:ext uri="{FF2B5EF4-FFF2-40B4-BE49-F238E27FC236}">
                <a16:creationId xmlns="" xmlns:a16="http://schemas.microsoft.com/office/drawing/2014/main" id="{67B446AE-8101-E345-8C46-B2BBABEDEFB0}"/>
              </a:ext>
            </a:extLst>
          </p:cNvPr>
          <p:cNvGrpSpPr/>
          <p:nvPr/>
        </p:nvGrpSpPr>
        <p:grpSpPr>
          <a:xfrm>
            <a:off x="2752953" y="1740736"/>
            <a:ext cx="1078981" cy="400110"/>
            <a:chOff x="4120647" y="1414219"/>
            <a:chExt cx="1078981" cy="400110"/>
          </a:xfrm>
        </p:grpSpPr>
        <p:sp>
          <p:nvSpPr>
            <p:cNvPr id="87" name="Rounded Rectangle 86">
              <a:extLst>
                <a:ext uri="{FF2B5EF4-FFF2-40B4-BE49-F238E27FC236}">
                  <a16:creationId xmlns="" xmlns:a16="http://schemas.microsoft.com/office/drawing/2014/main" id="{AF875A60-C5F0-564B-84D0-F4ED12BCF84E}"/>
                </a:ext>
              </a:extLst>
            </p:cNvPr>
            <p:cNvSpPr/>
            <p:nvPr/>
          </p:nvSpPr>
          <p:spPr>
            <a:xfrm>
              <a:off x="4172343" y="1475815"/>
              <a:ext cx="883249" cy="3044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 xmlns:a16="http://schemas.microsoft.com/office/drawing/2014/main" id="{E816D95B-1E5C-784A-B19A-0B949FB152E9}"/>
                </a:ext>
              </a:extLst>
            </p:cNvPr>
            <p:cNvSpPr/>
            <p:nvPr/>
          </p:nvSpPr>
          <p:spPr>
            <a:xfrm>
              <a:off x="4120647" y="1414219"/>
              <a:ext cx="1078981" cy="400110"/>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Person</a:t>
              </a:r>
              <a:endParaRPr lang="en-US" dirty="0"/>
            </a:p>
          </p:txBody>
        </p:sp>
      </p:grpSp>
      <p:grpSp>
        <p:nvGrpSpPr>
          <p:cNvPr id="89" name="Group 88">
            <a:extLst>
              <a:ext uri="{FF2B5EF4-FFF2-40B4-BE49-F238E27FC236}">
                <a16:creationId xmlns="" xmlns:a16="http://schemas.microsoft.com/office/drawing/2014/main" id="{B81320A0-B808-024A-86D8-A09B9B9A65BF}"/>
              </a:ext>
            </a:extLst>
          </p:cNvPr>
          <p:cNvGrpSpPr/>
          <p:nvPr/>
        </p:nvGrpSpPr>
        <p:grpSpPr>
          <a:xfrm>
            <a:off x="5954747" y="2350271"/>
            <a:ext cx="1890235" cy="707886"/>
            <a:chOff x="4120647" y="1414219"/>
            <a:chExt cx="1078981" cy="707886"/>
          </a:xfrm>
        </p:grpSpPr>
        <p:sp>
          <p:nvSpPr>
            <p:cNvPr id="90" name="Rounded Rectangle 89">
              <a:extLst>
                <a:ext uri="{FF2B5EF4-FFF2-40B4-BE49-F238E27FC236}">
                  <a16:creationId xmlns="" xmlns:a16="http://schemas.microsoft.com/office/drawing/2014/main" id="{E76454BE-6E80-2944-A6AF-A84193CC5705}"/>
                </a:ext>
              </a:extLst>
            </p:cNvPr>
            <p:cNvSpPr/>
            <p:nvPr/>
          </p:nvSpPr>
          <p:spPr>
            <a:xfrm>
              <a:off x="4172343" y="1475815"/>
              <a:ext cx="883249" cy="304427"/>
            </a:xfrm>
            <a:prstGeom prst="roundRect">
              <a:avLst/>
            </a:prstGeom>
            <a:solidFill>
              <a:srgbClr val="B4C3E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 xmlns:a16="http://schemas.microsoft.com/office/drawing/2014/main" id="{EFF1F376-B936-6D47-AF8D-DCF03DAA85B6}"/>
                </a:ext>
              </a:extLst>
            </p:cNvPr>
            <p:cNvSpPr/>
            <p:nvPr/>
          </p:nvSpPr>
          <p:spPr>
            <a:xfrm>
              <a:off x="4120647" y="1414219"/>
              <a:ext cx="1078981" cy="707886"/>
            </a:xfrm>
            <a:prstGeom prst="rect">
              <a:avLst/>
            </a:prstGeom>
          </p:spPr>
          <p:txBody>
            <a:bodyPr wrap="square">
              <a:spAutoFit/>
            </a:bodyPr>
            <a:lstStyle/>
            <a:p>
              <a:r>
                <a:rPr lang="en-US" sz="2000" dirty="0">
                  <a:solidFill>
                    <a:srgbClr val="000000"/>
                  </a:solidFill>
                  <a:latin typeface="Century Gothic" charset="0"/>
                  <a:ea typeface="Century Gothic" charset="0"/>
                  <a:cs typeface="Century Gothic" charset="0"/>
                </a:rPr>
                <a:t>Wednesday</a:t>
              </a:r>
              <a:endParaRPr lang="en-US" sz="1200" dirty="0"/>
            </a:p>
          </p:txBody>
        </p:sp>
      </p:grpSp>
      <p:sp>
        <p:nvSpPr>
          <p:cNvPr id="84" name="TextBox 83">
            <a:extLst>
              <a:ext uri="{FF2B5EF4-FFF2-40B4-BE49-F238E27FC236}">
                <a16:creationId xmlns="" xmlns:a16="http://schemas.microsoft.com/office/drawing/2014/main" id="{4D37E9D0-9282-6646-A180-8D6C816E8EB4}"/>
              </a:ext>
            </a:extLst>
          </p:cNvPr>
          <p:cNvSpPr txBox="1"/>
          <p:nvPr/>
        </p:nvSpPr>
        <p:spPr>
          <a:xfrm>
            <a:off x="159946" y="3927716"/>
            <a:ext cx="1649811"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(dependency)</a:t>
            </a:r>
          </a:p>
        </p:txBody>
      </p:sp>
      <p:sp>
        <p:nvSpPr>
          <p:cNvPr id="86" name="TextBox 85">
            <a:extLst>
              <a:ext uri="{FF2B5EF4-FFF2-40B4-BE49-F238E27FC236}">
                <a16:creationId xmlns="" xmlns:a16="http://schemas.microsoft.com/office/drawing/2014/main" id="{5D6B4F21-01D2-6D45-8B73-B56A928ECB19}"/>
              </a:ext>
            </a:extLst>
          </p:cNvPr>
          <p:cNvSpPr txBox="1"/>
          <p:nvPr/>
        </p:nvSpPr>
        <p:spPr>
          <a:xfrm>
            <a:off x="141141" y="5452115"/>
            <a:ext cx="737702" cy="338554"/>
          </a:xfrm>
          <a:prstGeom prst="rect">
            <a:avLst/>
          </a:prstGeom>
          <a:noFill/>
        </p:spPr>
        <p:txBody>
          <a:bodyPr wrap="none" rtlCol="0">
            <a:spAutoFit/>
          </a:bodyPr>
          <a:lstStyle/>
          <a:p>
            <a:r>
              <a:rPr lang="en-US" sz="1600" dirty="0">
                <a:solidFill>
                  <a:srgbClr val="000000"/>
                </a:solidFill>
                <a:latin typeface="Century Gothic" charset="0"/>
                <a:ea typeface="Century Gothic" charset="0"/>
                <a:cs typeface="Century Gothic" charset="0"/>
              </a:rPr>
              <a:t>(POS)</a:t>
            </a:r>
          </a:p>
        </p:txBody>
      </p:sp>
    </p:spTree>
    <p:extLst>
      <p:ext uri="{BB962C8B-B14F-4D97-AF65-F5344CB8AC3E}">
        <p14:creationId xmlns:p14="http://schemas.microsoft.com/office/powerpoint/2010/main" val="254920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down)">
                                      <p:cBhvr>
                                        <p:cTn id="12" dur="500"/>
                                        <p:tgtEl>
                                          <p:spTgt spid="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wipe(down)">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down)">
                                      <p:cBhvr>
                                        <p:cTn id="22" dur="5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76"/>
                                        </p:tgtEl>
                                        <p:attrNameLst>
                                          <p:attrName>style.visibility</p:attrName>
                                        </p:attrNameLst>
                                      </p:cBhvr>
                                      <p:to>
                                        <p:strVal val="visible"/>
                                      </p:to>
                                    </p:set>
                                    <p:animEffect transition="in" filter="wipe(left)">
                                      <p:cBhvr>
                                        <p:cTn id="31" dur="500"/>
                                        <p:tgtEl>
                                          <p:spTgt spid="7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78"/>
                                        </p:tgtEl>
                                        <p:attrNameLst>
                                          <p:attrName>style.visibility</p:attrName>
                                        </p:attrNameLst>
                                      </p:cBhvr>
                                      <p:to>
                                        <p:strVal val="visible"/>
                                      </p:to>
                                    </p:set>
                                    <p:animEffect transition="in" filter="wipe(left)">
                                      <p:cBhvr>
                                        <p:cTn id="34" dur="500"/>
                                        <p:tgtEl>
                                          <p:spTgt spid="7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3"/>
                                        </p:tgtEl>
                                        <p:attrNameLst>
                                          <p:attrName>style.visibility</p:attrName>
                                        </p:attrNameLst>
                                      </p:cBhvr>
                                      <p:to>
                                        <p:strVal val="visible"/>
                                      </p:to>
                                    </p:set>
                                    <p:animEffect transition="in" filter="fade">
                                      <p:cBhvr>
                                        <p:cTn id="3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animBg="1"/>
      <p:bldP spid="76" grpId="0"/>
      <p:bldP spid="2" grpId="0" animBg="1"/>
      <p:bldP spid="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8C9AF2-5F5D-1A46-9E57-BE3CEC358E4A}"/>
              </a:ext>
            </a:extLst>
          </p:cNvPr>
          <p:cNvSpPr>
            <a:spLocks noGrp="1"/>
          </p:cNvSpPr>
          <p:nvPr>
            <p:ph type="title"/>
          </p:nvPr>
        </p:nvSpPr>
        <p:spPr/>
        <p:txBody>
          <a:bodyPr/>
          <a:lstStyle/>
          <a:p>
            <a:pPr algn="ctr"/>
            <a:r>
              <a:rPr lang="en-US" dirty="0">
                <a:solidFill>
                  <a:srgbClr val="000000">
                    <a:lumMod val="95000"/>
                    <a:lumOff val="5000"/>
                  </a:srgbClr>
                </a:solidFill>
              </a:rPr>
              <a:t>Where are we in NLP?</a:t>
            </a:r>
            <a:endParaRPr lang="en-US" dirty="0"/>
          </a:p>
        </p:txBody>
      </p:sp>
      <p:sp>
        <p:nvSpPr>
          <p:cNvPr id="3" name="Content Placeholder 2">
            <a:extLst>
              <a:ext uri="{FF2B5EF4-FFF2-40B4-BE49-F238E27FC236}">
                <a16:creationId xmlns="" xmlns:a16="http://schemas.microsoft.com/office/drawing/2014/main" id="{5FE34008-2C2B-F843-93BB-4F25DC2DFFFF}"/>
              </a:ext>
            </a:extLst>
          </p:cNvPr>
          <p:cNvSpPr>
            <a:spLocks noGrp="1"/>
          </p:cNvSpPr>
          <p:nvPr>
            <p:ph idx="1"/>
          </p:nvPr>
        </p:nvSpPr>
        <p:spPr>
          <a:xfrm>
            <a:off x="3928899" y="1037398"/>
            <a:ext cx="5291301" cy="2127753"/>
          </a:xfrm>
        </p:spPr>
        <p:txBody>
          <a:bodyPr/>
          <a:lstStyle/>
          <a:p>
            <a:pPr marL="0" indent="0">
              <a:buNone/>
            </a:pPr>
            <a:r>
              <a:rPr lang="en-US" b="1" dirty="0">
                <a:solidFill>
                  <a:schemeClr val="bg2">
                    <a:lumMod val="85000"/>
                    <a:lumOff val="15000"/>
                  </a:schemeClr>
                </a:solidFill>
              </a:rPr>
              <a:t>It’s time to study situation and event</a:t>
            </a:r>
          </a:p>
          <a:p>
            <a:pPr lvl="1"/>
            <a:r>
              <a:rPr lang="en-US" dirty="0">
                <a:solidFill>
                  <a:schemeClr val="bg2">
                    <a:lumMod val="85000"/>
                    <a:lumOff val="15000"/>
                  </a:schemeClr>
                </a:solidFill>
              </a:rPr>
              <a:t>what is going on</a:t>
            </a:r>
          </a:p>
          <a:p>
            <a:pPr lvl="1"/>
            <a:r>
              <a:rPr lang="en-US" dirty="0">
                <a:solidFill>
                  <a:schemeClr val="bg2">
                    <a:lumMod val="85000"/>
                    <a:lumOff val="15000"/>
                  </a:schemeClr>
                </a:solidFill>
              </a:rPr>
              <a:t>what is the cause and effect</a:t>
            </a:r>
          </a:p>
          <a:p>
            <a:pPr lvl="1"/>
            <a:r>
              <a:rPr lang="en-US" dirty="0">
                <a:solidFill>
                  <a:schemeClr val="bg2">
                    <a:lumMod val="85000"/>
                    <a:lumOff val="15000"/>
                  </a:schemeClr>
                </a:solidFill>
              </a:rPr>
              <a:t>how things unfold along time</a:t>
            </a:r>
          </a:p>
          <a:p>
            <a:endParaRPr lang="en-US" dirty="0"/>
          </a:p>
        </p:txBody>
      </p:sp>
      <p:sp>
        <p:nvSpPr>
          <p:cNvPr id="4" name="Freeform 3">
            <a:extLst>
              <a:ext uri="{FF2B5EF4-FFF2-40B4-BE49-F238E27FC236}">
                <a16:creationId xmlns="" xmlns:a16="http://schemas.microsoft.com/office/drawing/2014/main" id="{F7DC9E12-84B9-D542-BB2D-F925103A20E8}"/>
              </a:ext>
            </a:extLst>
          </p:cNvPr>
          <p:cNvSpPr/>
          <p:nvPr/>
        </p:nvSpPr>
        <p:spPr>
          <a:xfrm>
            <a:off x="3053977" y="2061158"/>
            <a:ext cx="897436" cy="825062"/>
          </a:xfrm>
          <a:custGeom>
            <a:avLst/>
            <a:gdLst>
              <a:gd name="connsiteX0" fmla="*/ 614319 w 1228638"/>
              <a:gd name="connsiteY0" fmla="*/ 0 h 1129554"/>
              <a:gd name="connsiteX1" fmla="*/ 1228638 w 1228638"/>
              <a:gd name="connsiteY1" fmla="*/ 1129554 h 1129554"/>
              <a:gd name="connsiteX2" fmla="*/ 0 w 1228638"/>
              <a:gd name="connsiteY2" fmla="*/ 1129554 h 1129554"/>
              <a:gd name="connsiteX3" fmla="*/ 614319 w 1228638"/>
              <a:gd name="connsiteY3" fmla="*/ 0 h 1129554"/>
            </a:gdLst>
            <a:ahLst/>
            <a:cxnLst>
              <a:cxn ang="0">
                <a:pos x="connsiteX0" y="connsiteY0"/>
              </a:cxn>
              <a:cxn ang="0">
                <a:pos x="connsiteX1" y="connsiteY1"/>
              </a:cxn>
              <a:cxn ang="0">
                <a:pos x="connsiteX2" y="connsiteY2"/>
              </a:cxn>
              <a:cxn ang="0">
                <a:pos x="connsiteX3" y="connsiteY3"/>
              </a:cxn>
            </a:cxnLst>
            <a:rect l="l" t="t" r="r" b="b"/>
            <a:pathLst>
              <a:path w="1228638" h="1129554">
                <a:moveTo>
                  <a:pt x="614319" y="0"/>
                </a:moveTo>
                <a:lnTo>
                  <a:pt x="1228638" y="1129554"/>
                </a:lnTo>
                <a:lnTo>
                  <a:pt x="0" y="1129554"/>
                </a:lnTo>
                <a:lnTo>
                  <a:pt x="614319" y="0"/>
                </a:lnTo>
                <a:close/>
              </a:path>
            </a:pathLst>
          </a:custGeom>
          <a:solidFill>
            <a:srgbClr val="666089">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5" name="Freeform 4">
            <a:extLst>
              <a:ext uri="{FF2B5EF4-FFF2-40B4-BE49-F238E27FC236}">
                <a16:creationId xmlns="" xmlns:a16="http://schemas.microsoft.com/office/drawing/2014/main" id="{978E545B-EB76-8148-A35B-150C48ADB264}"/>
              </a:ext>
            </a:extLst>
          </p:cNvPr>
          <p:cNvSpPr/>
          <p:nvPr/>
        </p:nvSpPr>
        <p:spPr>
          <a:xfrm>
            <a:off x="2557183" y="2974618"/>
            <a:ext cx="1891025" cy="825062"/>
          </a:xfrm>
          <a:custGeom>
            <a:avLst/>
            <a:gdLst>
              <a:gd name="connsiteX0" fmla="*/ 614319 w 2588914"/>
              <a:gd name="connsiteY0" fmla="*/ 0 h 1129554"/>
              <a:gd name="connsiteX1" fmla="*/ 1974595 w 2588914"/>
              <a:gd name="connsiteY1" fmla="*/ 0 h 1129554"/>
              <a:gd name="connsiteX2" fmla="*/ 2588914 w 2588914"/>
              <a:gd name="connsiteY2" fmla="*/ 1129554 h 1129554"/>
              <a:gd name="connsiteX3" fmla="*/ 0 w 2588914"/>
              <a:gd name="connsiteY3" fmla="*/ 1129554 h 1129554"/>
              <a:gd name="connsiteX4" fmla="*/ 614319 w 2588914"/>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8914" h="1129554">
                <a:moveTo>
                  <a:pt x="614319" y="0"/>
                </a:moveTo>
                <a:lnTo>
                  <a:pt x="1974595" y="0"/>
                </a:lnTo>
                <a:lnTo>
                  <a:pt x="2588914" y="1129554"/>
                </a:lnTo>
                <a:lnTo>
                  <a:pt x="0" y="1129554"/>
                </a:lnTo>
                <a:lnTo>
                  <a:pt x="614319" y="0"/>
                </a:lnTo>
                <a:close/>
              </a:path>
            </a:pathLst>
          </a:custGeom>
          <a:solidFill>
            <a:srgbClr val="7792CB">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6" name="Freeform 5">
            <a:extLst>
              <a:ext uri="{FF2B5EF4-FFF2-40B4-BE49-F238E27FC236}">
                <a16:creationId xmlns="" xmlns:a16="http://schemas.microsoft.com/office/drawing/2014/main" id="{6CB448AD-9002-E140-A24C-AFF375496F61}"/>
              </a:ext>
            </a:extLst>
          </p:cNvPr>
          <p:cNvSpPr/>
          <p:nvPr/>
        </p:nvSpPr>
        <p:spPr>
          <a:xfrm>
            <a:off x="2060388" y="3888079"/>
            <a:ext cx="2884614" cy="825062"/>
          </a:xfrm>
          <a:custGeom>
            <a:avLst/>
            <a:gdLst>
              <a:gd name="connsiteX0" fmla="*/ 614319 w 3949190"/>
              <a:gd name="connsiteY0" fmla="*/ 0 h 1129554"/>
              <a:gd name="connsiteX1" fmla="*/ 3334871 w 3949190"/>
              <a:gd name="connsiteY1" fmla="*/ 0 h 1129554"/>
              <a:gd name="connsiteX2" fmla="*/ 3949190 w 3949190"/>
              <a:gd name="connsiteY2" fmla="*/ 1129554 h 1129554"/>
              <a:gd name="connsiteX3" fmla="*/ 0 w 3949190"/>
              <a:gd name="connsiteY3" fmla="*/ 1129554 h 1129554"/>
              <a:gd name="connsiteX4" fmla="*/ 614319 w 3949190"/>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190" h="1129554">
                <a:moveTo>
                  <a:pt x="614319" y="0"/>
                </a:moveTo>
                <a:lnTo>
                  <a:pt x="3334871" y="0"/>
                </a:lnTo>
                <a:lnTo>
                  <a:pt x="3949190" y="1129554"/>
                </a:lnTo>
                <a:lnTo>
                  <a:pt x="0" y="1129554"/>
                </a:lnTo>
                <a:lnTo>
                  <a:pt x="614319" y="0"/>
                </a:lnTo>
                <a:close/>
              </a:path>
            </a:pathLst>
          </a:custGeom>
          <a:solidFill>
            <a:srgbClr val="C17A9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7" name="Freeform 6">
            <a:extLst>
              <a:ext uri="{FF2B5EF4-FFF2-40B4-BE49-F238E27FC236}">
                <a16:creationId xmlns="" xmlns:a16="http://schemas.microsoft.com/office/drawing/2014/main" id="{1A54A3CF-BC91-5C43-8730-A8564FAEDE43}"/>
              </a:ext>
            </a:extLst>
          </p:cNvPr>
          <p:cNvSpPr/>
          <p:nvPr/>
        </p:nvSpPr>
        <p:spPr>
          <a:xfrm>
            <a:off x="1563594" y="4801539"/>
            <a:ext cx="3878202" cy="825062"/>
          </a:xfrm>
          <a:custGeom>
            <a:avLst/>
            <a:gdLst>
              <a:gd name="connsiteX0" fmla="*/ 614319 w 5309465"/>
              <a:gd name="connsiteY0" fmla="*/ 0 h 1129554"/>
              <a:gd name="connsiteX1" fmla="*/ 4695147 w 5309465"/>
              <a:gd name="connsiteY1" fmla="*/ 0 h 1129554"/>
              <a:gd name="connsiteX2" fmla="*/ 5309465 w 5309465"/>
              <a:gd name="connsiteY2" fmla="*/ 1129554 h 1129554"/>
              <a:gd name="connsiteX3" fmla="*/ 0 w 5309465"/>
              <a:gd name="connsiteY3" fmla="*/ 1129554 h 1129554"/>
              <a:gd name="connsiteX4" fmla="*/ 614319 w 5309465"/>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9465" h="1129554">
                <a:moveTo>
                  <a:pt x="614319" y="0"/>
                </a:moveTo>
                <a:lnTo>
                  <a:pt x="4695147" y="0"/>
                </a:lnTo>
                <a:lnTo>
                  <a:pt x="5309465" y="1129554"/>
                </a:lnTo>
                <a:lnTo>
                  <a:pt x="0" y="1129554"/>
                </a:lnTo>
                <a:lnTo>
                  <a:pt x="614319" y="0"/>
                </a:lnTo>
                <a:close/>
              </a:path>
            </a:pathLst>
          </a:cu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8" name="Freeform 7">
            <a:extLst>
              <a:ext uri="{FF2B5EF4-FFF2-40B4-BE49-F238E27FC236}">
                <a16:creationId xmlns="" xmlns:a16="http://schemas.microsoft.com/office/drawing/2014/main" id="{2B6AC4F5-A568-3B49-B6A4-D98D933D56BE}"/>
              </a:ext>
            </a:extLst>
          </p:cNvPr>
          <p:cNvSpPr/>
          <p:nvPr/>
        </p:nvSpPr>
        <p:spPr>
          <a:xfrm>
            <a:off x="1066800" y="5715000"/>
            <a:ext cx="4871791" cy="825062"/>
          </a:xfrm>
          <a:custGeom>
            <a:avLst/>
            <a:gdLst>
              <a:gd name="connsiteX0" fmla="*/ 614319 w 6669741"/>
              <a:gd name="connsiteY0" fmla="*/ 0 h 1129554"/>
              <a:gd name="connsiteX1" fmla="*/ 6055422 w 6669741"/>
              <a:gd name="connsiteY1" fmla="*/ 0 h 1129554"/>
              <a:gd name="connsiteX2" fmla="*/ 6669741 w 6669741"/>
              <a:gd name="connsiteY2" fmla="*/ 1129554 h 1129554"/>
              <a:gd name="connsiteX3" fmla="*/ 0 w 6669741"/>
              <a:gd name="connsiteY3" fmla="*/ 1129554 h 1129554"/>
              <a:gd name="connsiteX4" fmla="*/ 614319 w 6669741"/>
              <a:gd name="connsiteY4" fmla="*/ 0 h 112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9741" h="1129554">
                <a:moveTo>
                  <a:pt x="614319" y="0"/>
                </a:moveTo>
                <a:lnTo>
                  <a:pt x="6055422" y="0"/>
                </a:lnTo>
                <a:lnTo>
                  <a:pt x="6669741" y="1129554"/>
                </a:lnTo>
                <a:lnTo>
                  <a:pt x="0" y="1129554"/>
                </a:lnTo>
                <a:lnTo>
                  <a:pt x="614319" y="0"/>
                </a:lnTo>
                <a:close/>
              </a:path>
            </a:pathLst>
          </a:custGeom>
          <a:solidFill>
            <a:srgbClr val="E6E5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entury Gothic" charset="0"/>
              <a:ea typeface="Century Gothic" charset="0"/>
              <a:cs typeface="Century Gothic" charset="0"/>
            </a:endParaRPr>
          </a:p>
        </p:txBody>
      </p:sp>
      <p:sp>
        <p:nvSpPr>
          <p:cNvPr id="9" name="TextBox 8">
            <a:extLst>
              <a:ext uri="{FF2B5EF4-FFF2-40B4-BE49-F238E27FC236}">
                <a16:creationId xmlns="" xmlns:a16="http://schemas.microsoft.com/office/drawing/2014/main" id="{21578E08-3306-D141-9336-BE27C3B572BE}"/>
              </a:ext>
            </a:extLst>
          </p:cNvPr>
          <p:cNvSpPr txBox="1"/>
          <p:nvPr/>
        </p:nvSpPr>
        <p:spPr>
          <a:xfrm>
            <a:off x="2630946" y="5966000"/>
            <a:ext cx="1874231"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Methodology</a:t>
            </a:r>
          </a:p>
        </p:txBody>
      </p:sp>
      <p:sp>
        <p:nvSpPr>
          <p:cNvPr id="10" name="TextBox 9">
            <a:extLst>
              <a:ext uri="{FF2B5EF4-FFF2-40B4-BE49-F238E27FC236}">
                <a16:creationId xmlns="" xmlns:a16="http://schemas.microsoft.com/office/drawing/2014/main" id="{96968A2D-772B-4144-9FC4-7A79BDD1E1A3}"/>
              </a:ext>
            </a:extLst>
          </p:cNvPr>
          <p:cNvSpPr txBox="1"/>
          <p:nvPr/>
        </p:nvSpPr>
        <p:spPr>
          <a:xfrm>
            <a:off x="3014866" y="5035434"/>
            <a:ext cx="914033"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Token</a:t>
            </a:r>
          </a:p>
        </p:txBody>
      </p:sp>
      <p:sp>
        <p:nvSpPr>
          <p:cNvPr id="11" name="TextBox 10">
            <a:extLst>
              <a:ext uri="{FF2B5EF4-FFF2-40B4-BE49-F238E27FC236}">
                <a16:creationId xmlns="" xmlns:a16="http://schemas.microsoft.com/office/drawing/2014/main" id="{F88526CA-D4E4-FB49-89F2-2806E3495275}"/>
              </a:ext>
            </a:extLst>
          </p:cNvPr>
          <p:cNvSpPr txBox="1"/>
          <p:nvPr/>
        </p:nvSpPr>
        <p:spPr>
          <a:xfrm>
            <a:off x="2829719" y="4113023"/>
            <a:ext cx="1380506"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Sentence</a:t>
            </a:r>
          </a:p>
        </p:txBody>
      </p:sp>
      <p:sp>
        <p:nvSpPr>
          <p:cNvPr id="12" name="TextBox 11">
            <a:extLst>
              <a:ext uri="{FF2B5EF4-FFF2-40B4-BE49-F238E27FC236}">
                <a16:creationId xmlns="" xmlns:a16="http://schemas.microsoft.com/office/drawing/2014/main" id="{2B959E80-D18F-244D-9D76-4CE865449B00}"/>
              </a:ext>
            </a:extLst>
          </p:cNvPr>
          <p:cNvSpPr txBox="1"/>
          <p:nvPr/>
        </p:nvSpPr>
        <p:spPr>
          <a:xfrm>
            <a:off x="2882618" y="3279184"/>
            <a:ext cx="1244251" cy="400110"/>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Situation</a:t>
            </a:r>
          </a:p>
        </p:txBody>
      </p:sp>
      <p:sp>
        <p:nvSpPr>
          <p:cNvPr id="14" name="TextBox 13">
            <a:extLst>
              <a:ext uri="{FF2B5EF4-FFF2-40B4-BE49-F238E27FC236}">
                <a16:creationId xmlns="" xmlns:a16="http://schemas.microsoft.com/office/drawing/2014/main" id="{08E7DAE2-E902-D740-B555-1E19FAEAD5E8}"/>
              </a:ext>
            </a:extLst>
          </p:cNvPr>
          <p:cNvSpPr txBox="1"/>
          <p:nvPr/>
        </p:nvSpPr>
        <p:spPr>
          <a:xfrm>
            <a:off x="3330060" y="2357617"/>
            <a:ext cx="440765" cy="27699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entury Gothic" charset="0"/>
                <a:ea typeface="Century Gothic" charset="0"/>
                <a:cs typeface="Century Gothic" charset="0"/>
              </a:rPr>
              <a:t>…</a:t>
            </a:r>
          </a:p>
        </p:txBody>
      </p:sp>
      <p:sp>
        <p:nvSpPr>
          <p:cNvPr id="38" name="Rectangle 37"/>
          <p:cNvSpPr/>
          <p:nvPr/>
        </p:nvSpPr>
        <p:spPr>
          <a:xfrm>
            <a:off x="7203338" y="4629146"/>
            <a:ext cx="102463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Calibri" panose="020F0502020204030204" pitchFamily="34" charset="0"/>
              </a:rPr>
              <a:t>Robust</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40" name="Right Brace 39"/>
          <p:cNvSpPr/>
          <p:nvPr/>
        </p:nvSpPr>
        <p:spPr>
          <a:xfrm>
            <a:off x="6663634" y="3943401"/>
            <a:ext cx="229434" cy="1683199"/>
          </a:xfrm>
          <a:prstGeom prst="righ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7" name="Down Arrow 16">
            <a:extLst>
              <a:ext uri="{FF2B5EF4-FFF2-40B4-BE49-F238E27FC236}">
                <a16:creationId xmlns="" xmlns:a16="http://schemas.microsoft.com/office/drawing/2014/main" id="{DDE9B552-1758-344E-9337-CA491979E956}"/>
              </a:ext>
            </a:extLst>
          </p:cNvPr>
          <p:cNvSpPr/>
          <p:nvPr/>
        </p:nvSpPr>
        <p:spPr>
          <a:xfrm rot="10800000">
            <a:off x="916023" y="2357617"/>
            <a:ext cx="229432" cy="4194923"/>
          </a:xfrm>
          <a:prstGeom prst="downArrow">
            <a:avLst>
              <a:gd name="adj1" fmla="val 50000"/>
              <a:gd name="adj2" fmla="val 70102"/>
            </a:avLst>
          </a:prstGeom>
          <a:solidFill>
            <a:schemeClr val="bg2">
              <a:lumMod val="65000"/>
              <a:lumOff val="35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1600">
              <a:solidFill>
                <a:srgbClr val="FFFFFF"/>
              </a:solidFill>
              <a:latin typeface="Century Gothic" charset="0"/>
              <a:ea typeface="Century Gothic" charset="0"/>
              <a:cs typeface="Century Gothic" charset="0"/>
            </a:endParaRPr>
          </a:p>
        </p:txBody>
      </p:sp>
      <p:sp>
        <p:nvSpPr>
          <p:cNvPr id="18" name="TextBox 17">
            <a:extLst>
              <a:ext uri="{FF2B5EF4-FFF2-40B4-BE49-F238E27FC236}">
                <a16:creationId xmlns="" xmlns:a16="http://schemas.microsoft.com/office/drawing/2014/main" id="{60DBB43A-B76B-0C43-916A-D709C49AD867}"/>
              </a:ext>
            </a:extLst>
          </p:cNvPr>
          <p:cNvSpPr txBox="1"/>
          <p:nvPr/>
        </p:nvSpPr>
        <p:spPr>
          <a:xfrm>
            <a:off x="-26083" y="6035199"/>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~1990’s</a:t>
            </a:r>
          </a:p>
        </p:txBody>
      </p:sp>
      <p:sp>
        <p:nvSpPr>
          <p:cNvPr id="19" name="TextBox 18">
            <a:extLst>
              <a:ext uri="{FF2B5EF4-FFF2-40B4-BE49-F238E27FC236}">
                <a16:creationId xmlns="" xmlns:a16="http://schemas.microsoft.com/office/drawing/2014/main" id="{7824D9F7-202E-F64A-9EF0-F86EA068650D}"/>
              </a:ext>
            </a:extLst>
          </p:cNvPr>
          <p:cNvSpPr txBox="1"/>
          <p:nvPr/>
        </p:nvSpPr>
        <p:spPr>
          <a:xfrm>
            <a:off x="-26083" y="5073907"/>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~2000’s</a:t>
            </a:r>
          </a:p>
        </p:txBody>
      </p:sp>
      <p:sp>
        <p:nvSpPr>
          <p:cNvPr id="20" name="TextBox 19">
            <a:extLst>
              <a:ext uri="{FF2B5EF4-FFF2-40B4-BE49-F238E27FC236}">
                <a16:creationId xmlns="" xmlns:a16="http://schemas.microsoft.com/office/drawing/2014/main" id="{3A8633E4-1687-264E-9B16-3718E9C7ABB1}"/>
              </a:ext>
            </a:extLst>
          </p:cNvPr>
          <p:cNvSpPr txBox="1"/>
          <p:nvPr/>
        </p:nvSpPr>
        <p:spPr>
          <a:xfrm>
            <a:off x="-26083" y="4124337"/>
            <a:ext cx="917239" cy="338554"/>
          </a:xfrm>
          <a:prstGeom prst="rect">
            <a:avLst/>
          </a:prstGeom>
          <a:noFill/>
        </p:spPr>
        <p:txBody>
          <a:bodyPr wrap="non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~2010’s</a:t>
            </a:r>
          </a:p>
        </p:txBody>
      </p:sp>
      <p:sp>
        <p:nvSpPr>
          <p:cNvPr id="21" name="TextBox 20">
            <a:extLst>
              <a:ext uri="{FF2B5EF4-FFF2-40B4-BE49-F238E27FC236}">
                <a16:creationId xmlns="" xmlns:a16="http://schemas.microsoft.com/office/drawing/2014/main" id="{A50A0C54-1B53-0A4A-8152-06EA84A59EF8}"/>
              </a:ext>
            </a:extLst>
          </p:cNvPr>
          <p:cNvSpPr txBox="1"/>
          <p:nvPr/>
        </p:nvSpPr>
        <p:spPr>
          <a:xfrm>
            <a:off x="59664" y="3174767"/>
            <a:ext cx="736914" cy="338554"/>
          </a:xfrm>
          <a:prstGeom prst="rect">
            <a:avLst/>
          </a:prstGeom>
          <a:noFill/>
        </p:spPr>
        <p:txBody>
          <a:bodyPr wrap="square" rtlCol="0">
            <a:spAutoFit/>
          </a:bodyPr>
          <a:lstStyle/>
          <a:p>
            <a:pPr eaLnBrk="0" fontAlgn="base" hangingPunct="0">
              <a:spcBef>
                <a:spcPct val="0"/>
              </a:spcBef>
              <a:spcAft>
                <a:spcPct val="0"/>
              </a:spcAft>
            </a:pPr>
            <a:r>
              <a:rPr lang="en-US" sz="1600" dirty="0">
                <a:solidFill>
                  <a:srgbClr val="000000"/>
                </a:solidFill>
                <a:latin typeface="Century Gothic" charset="0"/>
                <a:ea typeface="Century Gothic" charset="0"/>
                <a:cs typeface="Century Gothic" charset="0"/>
              </a:rPr>
              <a:t>Now</a:t>
            </a:r>
          </a:p>
        </p:txBody>
      </p:sp>
      <p:sp>
        <p:nvSpPr>
          <p:cNvPr id="22" name="Rectangle 21">
            <a:extLst>
              <a:ext uri="{FF2B5EF4-FFF2-40B4-BE49-F238E27FC236}">
                <a16:creationId xmlns="" xmlns:a16="http://schemas.microsoft.com/office/drawing/2014/main" id="{02E79A62-F4FD-004E-BD3A-65A987B6695D}"/>
              </a:ext>
            </a:extLst>
          </p:cNvPr>
          <p:cNvSpPr/>
          <p:nvPr/>
        </p:nvSpPr>
        <p:spPr>
          <a:xfrm>
            <a:off x="6324600" y="5973643"/>
            <a:ext cx="237276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entury Gothic" panose="020B0502020202020204" pitchFamily="34" charset="0"/>
                <a:ea typeface="+mn-ea"/>
                <a:cs typeface="Calibri" panose="020F0502020204030204" pitchFamily="34" charset="0"/>
              </a:rPr>
              <a:t>Machine learning</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3533987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250"/>
                                        <p:tgtEl>
                                          <p:spTgt spid="40"/>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500"/>
                                        <p:tgtEl>
                                          <p:spTgt spid="3">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8" grpId="0"/>
      <p:bldP spid="40" grpId="0" animBg="1"/>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 xmlns:a16="http://schemas.microsoft.com/office/drawing/2014/main" id="{AC3F64C7-D547-7746-8C3C-26DBDC066795}"/>
              </a:ext>
            </a:extLst>
          </p:cNvPr>
          <p:cNvCxnSpPr>
            <a:cxnSpLocks/>
          </p:cNvCxnSpPr>
          <p:nvPr/>
        </p:nvCxnSpPr>
        <p:spPr>
          <a:xfrm flipV="1">
            <a:off x="685800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0AB4AD11-0FDB-5249-84F9-25A3E58D69FF}"/>
              </a:ext>
            </a:extLst>
          </p:cNvPr>
          <p:cNvCxnSpPr>
            <a:cxnSpLocks/>
          </p:cNvCxnSpPr>
          <p:nvPr/>
        </p:nvCxnSpPr>
        <p:spPr>
          <a:xfrm flipV="1">
            <a:off x="2286000" y="4055517"/>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 xmlns:a16="http://schemas.microsoft.com/office/drawing/2014/main" id="{2490A4AA-906D-4691-8965-B46C5599291D}"/>
              </a:ext>
            </a:extLst>
          </p:cNvPr>
          <p:cNvGrpSpPr/>
          <p:nvPr/>
        </p:nvGrpSpPr>
        <p:grpSpPr>
          <a:xfrm>
            <a:off x="5257800" y="1549908"/>
            <a:ext cx="3062010" cy="2505609"/>
            <a:chOff x="5275728" y="1024238"/>
            <a:chExt cx="3062010" cy="2505609"/>
          </a:xfrm>
        </p:grpSpPr>
        <p:sp>
          <p:nvSpPr>
            <p:cNvPr id="6" name="Rectangle: Rounded Corners 5">
              <a:extLst>
                <a:ext uri="{FF2B5EF4-FFF2-40B4-BE49-F238E27FC236}">
                  <a16:creationId xmlns="" xmlns:a16="http://schemas.microsoft.com/office/drawing/2014/main"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 xmlns:a16="http://schemas.microsoft.com/office/drawing/2014/main"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 xmlns:a16="http://schemas.microsoft.com/office/drawing/2014/main" id="{E129D606-D205-4B1D-9975-395A797DFC52}"/>
              </a:ext>
            </a:extLst>
          </p:cNvPr>
          <p:cNvGrpSpPr/>
          <p:nvPr/>
        </p:nvGrpSpPr>
        <p:grpSpPr>
          <a:xfrm>
            <a:off x="806262" y="1545402"/>
            <a:ext cx="3062009" cy="2510115"/>
            <a:chOff x="806262" y="1019732"/>
            <a:chExt cx="3062009" cy="2510115"/>
          </a:xfrm>
        </p:grpSpPr>
        <p:sp>
          <p:nvSpPr>
            <p:cNvPr id="5" name="Rectangle: Rounded Corners 4">
              <a:extLst>
                <a:ext uri="{FF2B5EF4-FFF2-40B4-BE49-F238E27FC236}">
                  <a16:creationId xmlns="" xmlns:a16="http://schemas.microsoft.com/office/drawing/2014/main"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 xmlns:a16="http://schemas.microsoft.com/office/drawing/2014/main"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 xmlns:a16="http://schemas.microsoft.com/office/drawing/2014/main"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 xmlns:a16="http://schemas.microsoft.com/office/drawing/2014/main"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 xmlns:a16="http://schemas.microsoft.com/office/drawing/2014/main" id="{19293B56-54CB-6E4C-ABD1-04FBEDAD10FE}"/>
              </a:ext>
            </a:extLst>
          </p:cNvPr>
          <p:cNvSpPr/>
          <p:nvPr/>
        </p:nvSpPr>
        <p:spPr>
          <a:xfrm>
            <a:off x="2214562" y="5053836"/>
            <a:ext cx="142875" cy="142875"/>
          </a:xfrm>
          <a:prstGeom prst="ellipse">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 xmlns:a16="http://schemas.microsoft.com/office/drawing/2014/main" id="{3C5396A2-2D8D-874D-A95A-FB13918A79A0}"/>
              </a:ext>
            </a:extLst>
          </p:cNvPr>
          <p:cNvSpPr/>
          <p:nvPr/>
        </p:nvSpPr>
        <p:spPr>
          <a:xfrm>
            <a:off x="2125265" y="4964538"/>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 xmlns:a16="http://schemas.microsoft.com/office/drawing/2014/main" id="{8CA1F03C-8225-4847-BA7C-1FCAD02B3BE5}"/>
              </a:ext>
            </a:extLst>
          </p:cNvPr>
          <p:cNvSpPr/>
          <p:nvPr/>
        </p:nvSpPr>
        <p:spPr>
          <a:xfrm>
            <a:off x="679489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 xmlns:a16="http://schemas.microsoft.com/office/drawing/2014/main" id="{4056CE39-5983-144E-9BC3-653E97736853}"/>
              </a:ext>
            </a:extLst>
          </p:cNvPr>
          <p:cNvSpPr/>
          <p:nvPr/>
        </p:nvSpPr>
        <p:spPr>
          <a:xfrm>
            <a:off x="670560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extBox 1"/>
          <p:cNvSpPr txBox="1"/>
          <p:nvPr/>
        </p:nvSpPr>
        <p:spPr>
          <a:xfrm>
            <a:off x="845258" y="5594864"/>
            <a:ext cx="7594585" cy="1200329"/>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People </a:t>
            </a:r>
            <a:r>
              <a:rPr lang="en-US" sz="2400" b="1" i="1" dirty="0">
                <a:solidFill>
                  <a:schemeClr val="bg2"/>
                </a:solidFill>
                <a:latin typeface="Century Gothic" charset="0"/>
                <a:ea typeface="Century Gothic" charset="0"/>
                <a:cs typeface="Century Gothic" charset="0"/>
              </a:rPr>
              <a:t>were</a:t>
            </a:r>
            <a:r>
              <a:rPr lang="en-US" sz="2400" i="1" dirty="0">
                <a:solidFill>
                  <a:schemeClr val="bg2"/>
                </a:solidFill>
                <a:latin typeface="Century Gothic" charset="0"/>
                <a:ea typeface="Century Gothic" charset="0"/>
                <a:cs typeface="Century Gothic" charset="0"/>
              </a:rPr>
              <a:t> </a:t>
            </a:r>
            <a:r>
              <a:rPr lang="en-US" sz="2400" b="1" i="1" dirty="0">
                <a:solidFill>
                  <a:schemeClr val="bg2"/>
                </a:solidFill>
                <a:latin typeface="Century Gothic" charset="0"/>
                <a:ea typeface="Century Gothic" charset="0"/>
                <a:cs typeface="Century Gothic" charset="0"/>
              </a:rPr>
              <a:t>angry </a:t>
            </a:r>
            <a:r>
              <a:rPr lang="en-US" sz="2400" i="1" dirty="0">
                <a:solidFill>
                  <a:schemeClr val="bg2"/>
                </a:solidFill>
                <a:latin typeface="Century Gothic" charset="0"/>
                <a:ea typeface="Century Gothic" charset="0"/>
                <a:cs typeface="Century Gothic" charset="0"/>
              </a:rPr>
              <a:t>at something (and ended in violent conflicts with the police)</a:t>
            </a:r>
            <a:r>
              <a:rPr lang="mr-IN" sz="2400" i="1" dirty="0">
                <a:solidFill>
                  <a:schemeClr val="bg2"/>
                </a:solidFill>
                <a:latin typeface="Century Gothic" charset="0"/>
                <a:ea typeface="Century Gothic" charset="0"/>
                <a:cs typeface="Century Gothic" charset="0"/>
              </a:rPr>
              <a:t>…</a:t>
            </a:r>
            <a:r>
              <a:rPr lang="en-US" sz="2400" i="1" dirty="0">
                <a:solidFill>
                  <a:schemeClr val="bg2"/>
                </a:solidFill>
                <a:latin typeface="Century Gothic" charset="0"/>
                <a:ea typeface="Century Gothic" charset="0"/>
                <a:cs typeface="Century Gothic" charset="0"/>
              </a:rPr>
              <a:t>The police finally </a:t>
            </a:r>
            <a:r>
              <a:rPr lang="en-US" sz="2400" b="1" i="1" dirty="0">
                <a:solidFill>
                  <a:schemeClr val="bg2"/>
                </a:solidFill>
                <a:latin typeface="Century Gothic" charset="0"/>
                <a:ea typeface="Century Gothic" charset="0"/>
                <a:cs typeface="Century Gothic" charset="0"/>
              </a:rPr>
              <a:t>used tear gas </a:t>
            </a:r>
            <a:r>
              <a:rPr lang="en-US" sz="2400" i="1" dirty="0">
                <a:solidFill>
                  <a:schemeClr val="bg2"/>
                </a:solidFill>
                <a:latin typeface="Century Gothic" charset="0"/>
                <a:ea typeface="Century Gothic" charset="0"/>
                <a:cs typeface="Century Gothic" charset="0"/>
              </a:rPr>
              <a:t>(to restore order).</a:t>
            </a:r>
          </a:p>
        </p:txBody>
      </p:sp>
      <p:sp>
        <p:nvSpPr>
          <p:cNvPr id="10" name="Title 9">
            <a:extLst>
              <a:ext uri="{FF2B5EF4-FFF2-40B4-BE49-F238E27FC236}">
                <a16:creationId xmlns="" xmlns:a16="http://schemas.microsoft.com/office/drawing/2014/main" id="{0D8FE9A6-33D8-7746-BC05-C7B48D924890}"/>
              </a:ext>
            </a:extLst>
          </p:cNvPr>
          <p:cNvSpPr>
            <a:spLocks noGrp="1"/>
          </p:cNvSpPr>
          <p:nvPr>
            <p:ph type="title"/>
          </p:nvPr>
        </p:nvSpPr>
        <p:spPr/>
        <p:txBody>
          <a:bodyPr/>
          <a:lstStyle/>
          <a:p>
            <a:r>
              <a:rPr lang="en-US" dirty="0"/>
              <a:t>Let’s take a look at two events</a:t>
            </a:r>
          </a:p>
        </p:txBody>
      </p:sp>
    </p:spTree>
    <p:extLst>
      <p:ext uri="{BB962C8B-B14F-4D97-AF65-F5344CB8AC3E}">
        <p14:creationId xmlns:p14="http://schemas.microsoft.com/office/powerpoint/2010/main" val="219876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50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 calcmode="lin" valueType="num">
                                      <p:cBhvr>
                                        <p:cTn id="24" dur="500" fill="hold"/>
                                        <p:tgtEl>
                                          <p:spTgt spid="22"/>
                                        </p:tgtEl>
                                        <p:attrNameLst>
                                          <p:attrName>ppt_w</p:attrName>
                                        </p:attrNameLst>
                                      </p:cBhvr>
                                      <p:tavLst>
                                        <p:tav tm="0">
                                          <p:val>
                                            <p:fltVal val="0"/>
                                          </p:val>
                                        </p:tav>
                                        <p:tav tm="100000">
                                          <p:val>
                                            <p:strVal val="#ppt_w"/>
                                          </p:val>
                                        </p:tav>
                                      </p:tavLst>
                                    </p:anim>
                                    <p:anim calcmode="lin" valueType="num">
                                      <p:cBhvr>
                                        <p:cTn id="25" dur="500" fill="hold"/>
                                        <p:tgtEl>
                                          <p:spTgt spid="22"/>
                                        </p:tgtEl>
                                        <p:attrNameLst>
                                          <p:attrName>ppt_h</p:attrName>
                                        </p:attrNameLst>
                                      </p:cBhvr>
                                      <p:tavLst>
                                        <p:tav tm="0">
                                          <p:val>
                                            <p:fltVal val="0"/>
                                          </p:val>
                                        </p:tav>
                                        <p:tav tm="100000">
                                          <p:val>
                                            <p:strVal val="#ppt_h"/>
                                          </p:val>
                                        </p:tav>
                                      </p:tavLst>
                                    </p:anim>
                                    <p:animEffect transition="in" filter="fade">
                                      <p:cBhvr>
                                        <p:cTn id="26" dur="500"/>
                                        <p:tgtEl>
                                          <p:spTgt spid="22"/>
                                        </p:tgtEl>
                                      </p:cBhvr>
                                    </p:animEffect>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down)">
                                      <p:cBhvr>
                                        <p:cTn id="30" dur="500"/>
                                        <p:tgtEl>
                                          <p:spTgt spid="18"/>
                                        </p:tgtEl>
                                      </p:cBhvr>
                                    </p:animEffect>
                                  </p:childTnLst>
                                </p:cTn>
                              </p:par>
                            </p:childTnLst>
                          </p:cTn>
                        </p:par>
                        <p:par>
                          <p:cTn id="31" fill="hold">
                            <p:stCondLst>
                              <p:cond delay="1500"/>
                            </p:stCondLst>
                            <p:childTnLst>
                              <p:par>
                                <p:cTn id="32" presetID="53" presetClass="entr" presetSubtype="16"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p:cTn id="34" dur="500" fill="hold"/>
                                        <p:tgtEl>
                                          <p:spTgt spid="23"/>
                                        </p:tgtEl>
                                        <p:attrNameLst>
                                          <p:attrName>ppt_w</p:attrName>
                                        </p:attrNameLst>
                                      </p:cBhvr>
                                      <p:tavLst>
                                        <p:tav tm="0">
                                          <p:val>
                                            <p:fltVal val="0"/>
                                          </p:val>
                                        </p:tav>
                                        <p:tav tm="100000">
                                          <p:val>
                                            <p:strVal val="#ppt_w"/>
                                          </p:val>
                                        </p:tav>
                                      </p:tavLst>
                                    </p:anim>
                                    <p:anim calcmode="lin" valueType="num">
                                      <p:cBhvr>
                                        <p:cTn id="35" dur="500" fill="hold"/>
                                        <p:tgtEl>
                                          <p:spTgt spid="23"/>
                                        </p:tgtEl>
                                        <p:attrNameLst>
                                          <p:attrName>ppt_h</p:attrName>
                                        </p:attrNameLst>
                                      </p:cBhvr>
                                      <p:tavLst>
                                        <p:tav tm="0">
                                          <p:val>
                                            <p:fltVal val="0"/>
                                          </p:val>
                                        </p:tav>
                                        <p:tav tm="100000">
                                          <p:val>
                                            <p:strVal val="#ppt_h"/>
                                          </p:val>
                                        </p:tav>
                                      </p:tavLst>
                                    </p:anim>
                                    <p:animEffect transition="in" filter="fade">
                                      <p:cBhvr>
                                        <p:cTn id="36" dur="500"/>
                                        <p:tgtEl>
                                          <p:spTgt spid="23"/>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 calcmode="lin" valueType="num">
                                      <p:cBhvr>
                                        <p:cTn id="39" dur="500" fill="hold"/>
                                        <p:tgtEl>
                                          <p:spTgt spid="24"/>
                                        </p:tgtEl>
                                        <p:attrNameLst>
                                          <p:attrName>ppt_w</p:attrName>
                                        </p:attrNameLst>
                                      </p:cBhvr>
                                      <p:tavLst>
                                        <p:tav tm="0">
                                          <p:val>
                                            <p:fltVal val="0"/>
                                          </p:val>
                                        </p:tav>
                                        <p:tav tm="100000">
                                          <p:val>
                                            <p:strVal val="#ppt_w"/>
                                          </p:val>
                                        </p:tav>
                                      </p:tavLst>
                                    </p:anim>
                                    <p:anim calcmode="lin" valueType="num">
                                      <p:cBhvr>
                                        <p:cTn id="40" dur="500" fill="hold"/>
                                        <p:tgtEl>
                                          <p:spTgt spid="24"/>
                                        </p:tgtEl>
                                        <p:attrNameLst>
                                          <p:attrName>ppt_h</p:attrName>
                                        </p:attrNameLst>
                                      </p:cBhvr>
                                      <p:tavLst>
                                        <p:tav tm="0">
                                          <p:val>
                                            <p:fltVal val="0"/>
                                          </p:val>
                                        </p:tav>
                                        <p:tav tm="100000">
                                          <p:val>
                                            <p:strVal val="#ppt_h"/>
                                          </p:val>
                                        </p:tav>
                                      </p:tavLst>
                                    </p:anim>
                                    <p:animEffect transition="in" filter="fade">
                                      <p:cBhvr>
                                        <p:cTn id="41" dur="500"/>
                                        <p:tgtEl>
                                          <p:spTgt spid="24"/>
                                        </p:tgtEl>
                                      </p:cBhvr>
                                    </p:animEffect>
                                  </p:childTnLst>
                                </p:cTn>
                              </p:par>
                            </p:childTnLst>
                          </p:cTn>
                        </p:par>
                        <p:par>
                          <p:cTn id="42" fill="hold">
                            <p:stCondLst>
                              <p:cond delay="2000"/>
                            </p:stCondLst>
                            <p:childTnLst>
                              <p:par>
                                <p:cTn id="43" presetID="22" presetClass="entr" presetSubtype="4" fill="hold"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down)">
                                      <p:cBhvr>
                                        <p:cTn id="45" dur="500"/>
                                        <p:tgtEl>
                                          <p:spTgt spid="25"/>
                                        </p:tgtEl>
                                      </p:cBhvr>
                                    </p:animEffect>
                                  </p:childTnLst>
                                </p:cTn>
                              </p:par>
                            </p:childTnLst>
                          </p:cTn>
                        </p:par>
                        <p:par>
                          <p:cTn id="46" fill="hold">
                            <p:stCondLst>
                              <p:cond delay="2500"/>
                            </p:stCondLst>
                            <p:childTnLst>
                              <p:par>
                                <p:cTn id="47" presetID="42" presetClass="entr" presetSubtype="0" fill="hold" grpId="0" nodeType="after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fade">
                                      <p:cBhvr>
                                        <p:cTn id="49" dur="1000"/>
                                        <p:tgtEl>
                                          <p:spTgt spid="2"/>
                                        </p:tgtEl>
                                      </p:cBhvr>
                                    </p:animEffect>
                                    <p:anim calcmode="lin" valueType="num">
                                      <p:cBhvr>
                                        <p:cTn id="50" dur="1000" fill="hold"/>
                                        <p:tgtEl>
                                          <p:spTgt spid="2"/>
                                        </p:tgtEl>
                                        <p:attrNameLst>
                                          <p:attrName>ppt_x</p:attrName>
                                        </p:attrNameLst>
                                      </p:cBhvr>
                                      <p:tavLst>
                                        <p:tav tm="0">
                                          <p:val>
                                            <p:strVal val="#ppt_x"/>
                                          </p:val>
                                        </p:tav>
                                        <p:tav tm="100000">
                                          <p:val>
                                            <p:strVal val="#ppt_x"/>
                                          </p:val>
                                        </p:tav>
                                      </p:tavLst>
                                    </p:anim>
                                    <p:anim calcmode="lin" valueType="num">
                                      <p:cBhvr>
                                        <p:cTn id="5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 xmlns:a16="http://schemas.microsoft.com/office/drawing/2014/main" id="{AC3F64C7-D547-7746-8C3C-26DBDC066795}"/>
              </a:ext>
            </a:extLst>
          </p:cNvPr>
          <p:cNvCxnSpPr>
            <a:cxnSpLocks/>
          </p:cNvCxnSpPr>
          <p:nvPr/>
        </p:nvCxnSpPr>
        <p:spPr>
          <a:xfrm flipV="1">
            <a:off x="242439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0AB4AD11-0FDB-5249-84F9-25A3E58D69FF}"/>
              </a:ext>
            </a:extLst>
          </p:cNvPr>
          <p:cNvCxnSpPr>
            <a:cxnSpLocks/>
          </p:cNvCxnSpPr>
          <p:nvPr/>
        </p:nvCxnSpPr>
        <p:spPr>
          <a:xfrm flipV="1">
            <a:off x="6875929" y="4080805"/>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F87E2FDA-6010-4113-824F-6B8906CE82E2}"/>
              </a:ext>
            </a:extLst>
          </p:cNvPr>
          <p:cNvSpPr>
            <a:spLocks noGrp="1"/>
          </p:cNvSpPr>
          <p:nvPr>
            <p:ph type="title"/>
          </p:nvPr>
        </p:nvSpPr>
        <p:spPr/>
        <p:txBody>
          <a:bodyPr/>
          <a:lstStyle/>
          <a:p>
            <a:r>
              <a:rPr lang="en-US" dirty="0"/>
              <a:t>Reversing them</a:t>
            </a:r>
            <a:endParaRPr lang="en-US" dirty="0">
              <a:solidFill>
                <a:schemeClr val="bg2"/>
              </a:solidFill>
            </a:endParaRPr>
          </a:p>
        </p:txBody>
      </p:sp>
      <p:grpSp>
        <p:nvGrpSpPr>
          <p:cNvPr id="15" name="Group 14">
            <a:extLst>
              <a:ext uri="{FF2B5EF4-FFF2-40B4-BE49-F238E27FC236}">
                <a16:creationId xmlns="" xmlns:a16="http://schemas.microsoft.com/office/drawing/2014/main" id="{2490A4AA-906D-4691-8965-B46C5599291D}"/>
              </a:ext>
            </a:extLst>
          </p:cNvPr>
          <p:cNvGrpSpPr/>
          <p:nvPr/>
        </p:nvGrpSpPr>
        <p:grpSpPr>
          <a:xfrm>
            <a:off x="824190" y="1549908"/>
            <a:ext cx="3062010" cy="2505609"/>
            <a:chOff x="5275728" y="1024238"/>
            <a:chExt cx="3062010" cy="2505609"/>
          </a:xfrm>
        </p:grpSpPr>
        <p:sp>
          <p:nvSpPr>
            <p:cNvPr id="6" name="Rectangle: Rounded Corners 5">
              <a:extLst>
                <a:ext uri="{FF2B5EF4-FFF2-40B4-BE49-F238E27FC236}">
                  <a16:creationId xmlns="" xmlns:a16="http://schemas.microsoft.com/office/drawing/2014/main"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 xmlns:a16="http://schemas.microsoft.com/office/drawing/2014/main"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 xmlns:a16="http://schemas.microsoft.com/office/drawing/2014/main" id="{E129D606-D205-4B1D-9975-395A797DFC52}"/>
              </a:ext>
            </a:extLst>
          </p:cNvPr>
          <p:cNvGrpSpPr/>
          <p:nvPr/>
        </p:nvGrpSpPr>
        <p:grpSpPr>
          <a:xfrm>
            <a:off x="5396191" y="1570690"/>
            <a:ext cx="3062009" cy="2510115"/>
            <a:chOff x="806262" y="1019732"/>
            <a:chExt cx="3062009" cy="2510115"/>
          </a:xfrm>
        </p:grpSpPr>
        <p:sp>
          <p:nvSpPr>
            <p:cNvPr id="5" name="Rectangle: Rounded Corners 4">
              <a:extLst>
                <a:ext uri="{FF2B5EF4-FFF2-40B4-BE49-F238E27FC236}">
                  <a16:creationId xmlns="" xmlns:a16="http://schemas.microsoft.com/office/drawing/2014/main"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 xmlns:a16="http://schemas.microsoft.com/office/drawing/2014/main"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 xmlns:a16="http://schemas.microsoft.com/office/drawing/2014/main"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 xmlns:a16="http://schemas.microsoft.com/office/drawing/2014/main"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 xmlns:a16="http://schemas.microsoft.com/office/drawing/2014/main" id="{19293B56-54CB-6E4C-ABD1-04FBEDAD10FE}"/>
              </a:ext>
            </a:extLst>
          </p:cNvPr>
          <p:cNvSpPr/>
          <p:nvPr/>
        </p:nvSpPr>
        <p:spPr>
          <a:xfrm>
            <a:off x="6804491" y="5079124"/>
            <a:ext cx="142875" cy="142875"/>
          </a:xfrm>
          <a:prstGeom prst="ellipse">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 xmlns:a16="http://schemas.microsoft.com/office/drawing/2014/main" id="{3C5396A2-2D8D-874D-A95A-FB13918A79A0}"/>
              </a:ext>
            </a:extLst>
          </p:cNvPr>
          <p:cNvSpPr/>
          <p:nvPr/>
        </p:nvSpPr>
        <p:spPr>
          <a:xfrm>
            <a:off x="6715194" y="4989826"/>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 xmlns:a16="http://schemas.microsoft.com/office/drawing/2014/main" id="{8CA1F03C-8225-4847-BA7C-1FCAD02B3BE5}"/>
              </a:ext>
            </a:extLst>
          </p:cNvPr>
          <p:cNvSpPr/>
          <p:nvPr/>
        </p:nvSpPr>
        <p:spPr>
          <a:xfrm>
            <a:off x="236128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 xmlns:a16="http://schemas.microsoft.com/office/drawing/2014/main" id="{4056CE39-5983-144E-9BC3-653E97736853}"/>
              </a:ext>
            </a:extLst>
          </p:cNvPr>
          <p:cNvSpPr/>
          <p:nvPr/>
        </p:nvSpPr>
        <p:spPr>
          <a:xfrm>
            <a:off x="227199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p:cNvSpPr txBox="1"/>
          <p:nvPr/>
        </p:nvSpPr>
        <p:spPr>
          <a:xfrm>
            <a:off x="439305" y="5773855"/>
            <a:ext cx="8391526" cy="461665"/>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Police </a:t>
            </a:r>
            <a:r>
              <a:rPr lang="en-US" sz="2400" b="1" i="1" dirty="0">
                <a:solidFill>
                  <a:schemeClr val="bg2"/>
                </a:solidFill>
                <a:latin typeface="Century Gothic" charset="0"/>
                <a:ea typeface="Century Gothic" charset="0"/>
                <a:cs typeface="Century Gothic" charset="0"/>
              </a:rPr>
              <a:t>used tear gas</a:t>
            </a:r>
            <a:r>
              <a:rPr lang="mr-IN" sz="2400" i="1" dirty="0">
                <a:solidFill>
                  <a:schemeClr val="bg2"/>
                </a:solidFill>
                <a:latin typeface="Century Gothic" charset="0"/>
                <a:ea typeface="Century Gothic" charset="0"/>
                <a:cs typeface="Century Gothic" charset="0"/>
              </a:rPr>
              <a:t>…</a:t>
            </a:r>
            <a:r>
              <a:rPr lang="en-US" sz="2400" i="1" dirty="0">
                <a:solidFill>
                  <a:schemeClr val="bg2"/>
                </a:solidFill>
                <a:latin typeface="Century Gothic" charset="0"/>
                <a:ea typeface="Century Gothic" charset="0"/>
                <a:cs typeface="Century Gothic" charset="0"/>
              </a:rPr>
              <a:t>People </a:t>
            </a:r>
            <a:r>
              <a:rPr lang="en-US" sz="2400" b="1" i="1" dirty="0">
                <a:solidFill>
                  <a:schemeClr val="bg2"/>
                </a:solidFill>
                <a:latin typeface="Century Gothic" charset="0"/>
                <a:ea typeface="Century Gothic" charset="0"/>
                <a:cs typeface="Century Gothic" charset="0"/>
              </a:rPr>
              <a:t>were</a:t>
            </a:r>
            <a:r>
              <a:rPr lang="en-US" sz="2400" i="1" dirty="0">
                <a:solidFill>
                  <a:schemeClr val="bg2"/>
                </a:solidFill>
                <a:latin typeface="Century Gothic" charset="0"/>
                <a:ea typeface="Century Gothic" charset="0"/>
                <a:cs typeface="Century Gothic" charset="0"/>
              </a:rPr>
              <a:t> </a:t>
            </a:r>
            <a:r>
              <a:rPr lang="en-US" sz="2400" b="1" i="1" dirty="0">
                <a:solidFill>
                  <a:schemeClr val="bg2"/>
                </a:solidFill>
                <a:latin typeface="Century Gothic" charset="0"/>
                <a:ea typeface="Century Gothic" charset="0"/>
                <a:cs typeface="Century Gothic" charset="0"/>
              </a:rPr>
              <a:t>angry</a:t>
            </a:r>
            <a:r>
              <a:rPr lang="en-US" sz="2400" i="1" dirty="0">
                <a:solidFill>
                  <a:schemeClr val="bg2"/>
                </a:solidFill>
                <a:latin typeface="Century Gothic" charset="0"/>
                <a:ea typeface="Century Gothic" charset="0"/>
                <a:cs typeface="Century Gothic" charset="0"/>
              </a:rPr>
              <a:t> at the police.</a:t>
            </a:r>
          </a:p>
        </p:txBody>
      </p:sp>
    </p:spTree>
    <p:extLst>
      <p:ext uri="{BB962C8B-B14F-4D97-AF65-F5344CB8AC3E}">
        <p14:creationId xmlns:p14="http://schemas.microsoft.com/office/powerpoint/2010/main" val="1258585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Straight Connector 24">
            <a:extLst>
              <a:ext uri="{FF2B5EF4-FFF2-40B4-BE49-F238E27FC236}">
                <a16:creationId xmlns="" xmlns:a16="http://schemas.microsoft.com/office/drawing/2014/main" id="{AC3F64C7-D547-7746-8C3C-26DBDC066795}"/>
              </a:ext>
            </a:extLst>
          </p:cNvPr>
          <p:cNvCxnSpPr>
            <a:cxnSpLocks/>
          </p:cNvCxnSpPr>
          <p:nvPr/>
        </p:nvCxnSpPr>
        <p:spPr>
          <a:xfrm flipV="1">
            <a:off x="2424390" y="4055517"/>
            <a:ext cx="0" cy="1073219"/>
          </a:xfrm>
          <a:prstGeom prst="line">
            <a:avLst/>
          </a:prstGeom>
          <a:ln w="19050">
            <a:solidFill>
              <a:srgbClr val="7792C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0AB4AD11-0FDB-5249-84F9-25A3E58D69FF}"/>
              </a:ext>
            </a:extLst>
          </p:cNvPr>
          <p:cNvCxnSpPr>
            <a:cxnSpLocks/>
          </p:cNvCxnSpPr>
          <p:nvPr/>
        </p:nvCxnSpPr>
        <p:spPr>
          <a:xfrm flipV="1">
            <a:off x="6875929" y="4080805"/>
            <a:ext cx="0" cy="1073219"/>
          </a:xfrm>
          <a:prstGeom prst="line">
            <a:avLst/>
          </a:prstGeom>
          <a:ln w="19050">
            <a:solidFill>
              <a:srgbClr val="F1CEC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F87E2FDA-6010-4113-824F-6B8906CE82E2}"/>
              </a:ext>
            </a:extLst>
          </p:cNvPr>
          <p:cNvSpPr>
            <a:spLocks noGrp="1"/>
          </p:cNvSpPr>
          <p:nvPr>
            <p:ph type="title"/>
          </p:nvPr>
        </p:nvSpPr>
        <p:spPr/>
        <p:txBody>
          <a:bodyPr/>
          <a:lstStyle/>
          <a:p>
            <a:r>
              <a:rPr lang="en-US" dirty="0"/>
              <a:t>Reversing them</a:t>
            </a:r>
            <a:endParaRPr lang="en-US" dirty="0">
              <a:solidFill>
                <a:schemeClr val="bg2"/>
              </a:solidFill>
            </a:endParaRPr>
          </a:p>
        </p:txBody>
      </p:sp>
      <p:grpSp>
        <p:nvGrpSpPr>
          <p:cNvPr id="15" name="Group 14">
            <a:extLst>
              <a:ext uri="{FF2B5EF4-FFF2-40B4-BE49-F238E27FC236}">
                <a16:creationId xmlns="" xmlns:a16="http://schemas.microsoft.com/office/drawing/2014/main" id="{2490A4AA-906D-4691-8965-B46C5599291D}"/>
              </a:ext>
            </a:extLst>
          </p:cNvPr>
          <p:cNvGrpSpPr/>
          <p:nvPr/>
        </p:nvGrpSpPr>
        <p:grpSpPr>
          <a:xfrm>
            <a:off x="824190" y="1549908"/>
            <a:ext cx="3062010" cy="2505609"/>
            <a:chOff x="5275728" y="1024238"/>
            <a:chExt cx="3062010" cy="2505609"/>
          </a:xfrm>
        </p:grpSpPr>
        <p:sp>
          <p:nvSpPr>
            <p:cNvPr id="6" name="Rectangle: Rounded Corners 5">
              <a:extLst>
                <a:ext uri="{FF2B5EF4-FFF2-40B4-BE49-F238E27FC236}">
                  <a16:creationId xmlns="" xmlns:a16="http://schemas.microsoft.com/office/drawing/2014/main" id="{995E8A5A-0790-4245-98FE-C03CC313DCF1}"/>
                </a:ext>
              </a:extLst>
            </p:cNvPr>
            <p:cNvSpPr/>
            <p:nvPr/>
          </p:nvSpPr>
          <p:spPr>
            <a:xfrm>
              <a:off x="5275728" y="2539247"/>
              <a:ext cx="3062010" cy="990600"/>
            </a:xfrm>
            <a:prstGeom prst="roundRect">
              <a:avLst/>
            </a:prstGeom>
            <a:solidFill>
              <a:srgbClr val="7792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Police used tear gas</a:t>
              </a:r>
            </a:p>
          </p:txBody>
        </p:sp>
        <p:pic>
          <p:nvPicPr>
            <p:cNvPr id="2050" name="Picture 2" descr="Image result for police tear gas">
              <a:extLst>
                <a:ext uri="{FF2B5EF4-FFF2-40B4-BE49-F238E27FC236}">
                  <a16:creationId xmlns="" xmlns:a16="http://schemas.microsoft.com/office/drawing/2014/main" id="{C1288562-6DD3-4876-8B01-E51542E277D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37959" y="1024238"/>
              <a:ext cx="2337547" cy="14253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 xmlns:a16="http://schemas.microsoft.com/office/drawing/2014/main" id="{E129D606-D205-4B1D-9975-395A797DFC52}"/>
              </a:ext>
            </a:extLst>
          </p:cNvPr>
          <p:cNvGrpSpPr/>
          <p:nvPr/>
        </p:nvGrpSpPr>
        <p:grpSpPr>
          <a:xfrm>
            <a:off x="5396191" y="1570690"/>
            <a:ext cx="3062009" cy="2510115"/>
            <a:chOff x="806262" y="1019732"/>
            <a:chExt cx="3062009" cy="2510115"/>
          </a:xfrm>
        </p:grpSpPr>
        <p:sp>
          <p:nvSpPr>
            <p:cNvPr id="5" name="Rectangle: Rounded Corners 4">
              <a:extLst>
                <a:ext uri="{FF2B5EF4-FFF2-40B4-BE49-F238E27FC236}">
                  <a16:creationId xmlns="" xmlns:a16="http://schemas.microsoft.com/office/drawing/2014/main" id="{70CFC6B0-C1C5-4697-8152-600DD0770FAD}"/>
                </a:ext>
              </a:extLst>
            </p:cNvPr>
            <p:cNvSpPr/>
            <p:nvPr/>
          </p:nvSpPr>
          <p:spPr>
            <a:xfrm>
              <a:off x="806262" y="2539247"/>
              <a:ext cx="3062009" cy="990600"/>
            </a:xfrm>
            <a:prstGeom prst="roundRect">
              <a:avLst/>
            </a:prstGeom>
            <a:solidFill>
              <a:srgbClr val="F1CE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i="1" u="sng" dirty="0">
                  <a:solidFill>
                    <a:schemeClr val="bg2"/>
                  </a:solidFill>
                  <a:latin typeface="Century Gothic" panose="020B0502020202020204" pitchFamily="34" charset="0"/>
                </a:rPr>
                <a:t>People were angry</a:t>
              </a:r>
            </a:p>
          </p:txBody>
        </p:sp>
        <p:pic>
          <p:nvPicPr>
            <p:cNvPr id="12" name="Picture 11">
              <a:extLst>
                <a:ext uri="{FF2B5EF4-FFF2-40B4-BE49-F238E27FC236}">
                  <a16:creationId xmlns="" xmlns:a16="http://schemas.microsoft.com/office/drawing/2014/main" id="{0B66BF47-565A-4441-B6A3-52EAF27E44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45258" y="1019732"/>
              <a:ext cx="2984015" cy="1429840"/>
            </a:xfrm>
            <a:prstGeom prst="rect">
              <a:avLst/>
            </a:prstGeom>
          </p:spPr>
        </p:pic>
      </p:grpSp>
      <p:grpSp>
        <p:nvGrpSpPr>
          <p:cNvPr id="11" name="Group 10">
            <a:extLst>
              <a:ext uri="{FF2B5EF4-FFF2-40B4-BE49-F238E27FC236}">
                <a16:creationId xmlns="" xmlns:a16="http://schemas.microsoft.com/office/drawing/2014/main" id="{ADDFD349-305A-AA48-BED5-EA21B3CB16DD}"/>
              </a:ext>
            </a:extLst>
          </p:cNvPr>
          <p:cNvGrpSpPr/>
          <p:nvPr/>
        </p:nvGrpSpPr>
        <p:grpSpPr>
          <a:xfrm>
            <a:off x="676274" y="5128736"/>
            <a:ext cx="8136856" cy="738664"/>
            <a:chOff x="676274" y="4603066"/>
            <a:chExt cx="8136856" cy="738664"/>
          </a:xfrm>
        </p:grpSpPr>
        <p:cxnSp>
          <p:nvCxnSpPr>
            <p:cNvPr id="8" name="Straight Arrow Connector 7">
              <a:extLst>
                <a:ext uri="{FF2B5EF4-FFF2-40B4-BE49-F238E27FC236}">
                  <a16:creationId xmlns="" xmlns:a16="http://schemas.microsoft.com/office/drawing/2014/main" id="{F99AC8FA-F7B9-429C-BC27-EFBA5068EEE7}"/>
                </a:ext>
              </a:extLst>
            </p:cNvPr>
            <p:cNvCxnSpPr>
              <a:cxnSpLocks/>
            </p:cNvCxnSpPr>
            <p:nvPr/>
          </p:nvCxnSpPr>
          <p:spPr>
            <a:xfrm>
              <a:off x="676274" y="4603066"/>
              <a:ext cx="8066555"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C832F63B-7793-0947-B9AA-925E43C0D74A}"/>
                </a:ext>
              </a:extLst>
            </p:cNvPr>
            <p:cNvSpPr txBox="1"/>
            <p:nvPr/>
          </p:nvSpPr>
          <p:spPr>
            <a:xfrm>
              <a:off x="7947187" y="4603066"/>
              <a:ext cx="865943" cy="738664"/>
            </a:xfrm>
            <a:prstGeom prst="rect">
              <a:avLst/>
            </a:prstGeom>
            <a:noFill/>
            <a:ln>
              <a:noFill/>
            </a:ln>
          </p:spPr>
          <p:txBody>
            <a:bodyPr wrap="none" rtlCol="0">
              <a:spAutoFit/>
            </a:bodyPr>
            <a:lstStyle/>
            <a:p>
              <a:pPr lvl="0">
                <a:spcBef>
                  <a:spcPct val="20000"/>
                </a:spcBef>
                <a:buClr>
                  <a:srgbClr val="000080"/>
                </a:buClr>
              </a:pPr>
              <a:r>
                <a:rPr lang="en-US" sz="2400"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sz="2400"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a:p>
              <a:endParaRPr lang="en-US" dirty="0">
                <a:solidFill>
                  <a:srgbClr val="FF0000"/>
                </a:solidFill>
              </a:endParaRPr>
            </a:p>
          </p:txBody>
        </p:sp>
      </p:grpSp>
      <p:sp>
        <p:nvSpPr>
          <p:cNvPr id="21" name="Oval 20">
            <a:extLst>
              <a:ext uri="{FF2B5EF4-FFF2-40B4-BE49-F238E27FC236}">
                <a16:creationId xmlns="" xmlns:a16="http://schemas.microsoft.com/office/drawing/2014/main" id="{19293B56-54CB-6E4C-ABD1-04FBEDAD10FE}"/>
              </a:ext>
            </a:extLst>
          </p:cNvPr>
          <p:cNvSpPr/>
          <p:nvPr/>
        </p:nvSpPr>
        <p:spPr>
          <a:xfrm>
            <a:off x="6804491" y="5079124"/>
            <a:ext cx="142875" cy="142875"/>
          </a:xfrm>
          <a:prstGeom prst="ellipse">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ircle: Hollow 29">
            <a:extLst>
              <a:ext uri="{FF2B5EF4-FFF2-40B4-BE49-F238E27FC236}">
                <a16:creationId xmlns="" xmlns:a16="http://schemas.microsoft.com/office/drawing/2014/main" id="{3C5396A2-2D8D-874D-A95A-FB13918A79A0}"/>
              </a:ext>
            </a:extLst>
          </p:cNvPr>
          <p:cNvSpPr/>
          <p:nvPr/>
        </p:nvSpPr>
        <p:spPr>
          <a:xfrm>
            <a:off x="6715194" y="4989826"/>
            <a:ext cx="321470" cy="321470"/>
          </a:xfrm>
          <a:prstGeom prst="donut">
            <a:avLst>
              <a:gd name="adj" fmla="val 5281"/>
            </a:avLst>
          </a:prstGeom>
          <a:solidFill>
            <a:srgbClr val="F1CEC3"/>
          </a:solidFill>
          <a:ln>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Oval 22">
            <a:extLst>
              <a:ext uri="{FF2B5EF4-FFF2-40B4-BE49-F238E27FC236}">
                <a16:creationId xmlns="" xmlns:a16="http://schemas.microsoft.com/office/drawing/2014/main" id="{8CA1F03C-8225-4847-BA7C-1FCAD02B3BE5}"/>
              </a:ext>
            </a:extLst>
          </p:cNvPr>
          <p:cNvSpPr/>
          <p:nvPr/>
        </p:nvSpPr>
        <p:spPr>
          <a:xfrm>
            <a:off x="2361287" y="5053836"/>
            <a:ext cx="142875" cy="142875"/>
          </a:xfrm>
          <a:prstGeom prst="ellipse">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ircle: Hollow 29">
            <a:extLst>
              <a:ext uri="{FF2B5EF4-FFF2-40B4-BE49-F238E27FC236}">
                <a16:creationId xmlns="" xmlns:a16="http://schemas.microsoft.com/office/drawing/2014/main" id="{4056CE39-5983-144E-9BC3-653E97736853}"/>
              </a:ext>
            </a:extLst>
          </p:cNvPr>
          <p:cNvSpPr/>
          <p:nvPr/>
        </p:nvSpPr>
        <p:spPr>
          <a:xfrm>
            <a:off x="2271990" y="4964538"/>
            <a:ext cx="321470" cy="321470"/>
          </a:xfrm>
          <a:prstGeom prst="donut">
            <a:avLst>
              <a:gd name="adj" fmla="val 5281"/>
            </a:avLst>
          </a:prstGeom>
          <a:solidFill>
            <a:srgbClr val="7792CB"/>
          </a:solidFill>
          <a:ln>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p:cNvSpPr txBox="1"/>
          <p:nvPr/>
        </p:nvSpPr>
        <p:spPr>
          <a:xfrm>
            <a:off x="439305" y="5773855"/>
            <a:ext cx="8391526" cy="830997"/>
          </a:xfrm>
          <a:prstGeom prst="rect">
            <a:avLst/>
          </a:prstGeom>
          <a:noFill/>
        </p:spPr>
        <p:txBody>
          <a:bodyPr wrap="square" rtlCol="0">
            <a:spAutoFit/>
          </a:bodyPr>
          <a:lstStyle/>
          <a:p>
            <a:r>
              <a:rPr lang="en-US" sz="2400" i="1" dirty="0">
                <a:solidFill>
                  <a:schemeClr val="bg2"/>
                </a:solidFill>
                <a:latin typeface="Century Gothic" charset="0"/>
                <a:ea typeface="Century Gothic" charset="0"/>
                <a:cs typeface="Century Gothic" charset="0"/>
              </a:rPr>
              <a:t>In natural language, we rarely have </a:t>
            </a:r>
            <a:r>
              <a:rPr lang="en-US" sz="2400" b="1" i="1" dirty="0">
                <a:solidFill>
                  <a:schemeClr val="bg2"/>
                </a:solidFill>
                <a:latin typeface="Century Gothic" charset="0"/>
                <a:ea typeface="Century Gothic" charset="0"/>
                <a:cs typeface="Century Gothic" charset="0"/>
              </a:rPr>
              <a:t>timestamps</a:t>
            </a:r>
            <a:r>
              <a:rPr lang="en-US" sz="2400" i="1" dirty="0">
                <a:solidFill>
                  <a:schemeClr val="bg2"/>
                </a:solidFill>
                <a:latin typeface="Century Gothic" charset="0"/>
                <a:ea typeface="Century Gothic" charset="0"/>
                <a:cs typeface="Century Gothic" charset="0"/>
              </a:rPr>
              <a:t>, so we have to figure out the order </a:t>
            </a:r>
            <a:r>
              <a:rPr lang="en-US" sz="2400" b="1" i="1" dirty="0">
                <a:solidFill>
                  <a:schemeClr val="bg2"/>
                </a:solidFill>
                <a:latin typeface="Century Gothic" charset="0"/>
                <a:ea typeface="Century Gothic" charset="0"/>
                <a:cs typeface="Century Gothic" charset="0"/>
              </a:rPr>
              <a:t>based on text</a:t>
            </a:r>
            <a:r>
              <a:rPr lang="en-US" sz="2400" i="1" dirty="0">
                <a:solidFill>
                  <a:schemeClr val="bg2"/>
                </a:solidFill>
                <a:latin typeface="Century Gothic" charset="0"/>
                <a:ea typeface="Century Gothic" charset="0"/>
                <a:cs typeface="Century Gothic" charset="0"/>
              </a:rPr>
              <a:t>.</a:t>
            </a:r>
          </a:p>
        </p:txBody>
      </p:sp>
    </p:spTree>
    <p:extLst>
      <p:ext uri="{BB962C8B-B14F-4D97-AF65-F5344CB8AC3E}">
        <p14:creationId xmlns:p14="http://schemas.microsoft.com/office/powerpoint/2010/main" val="254496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Temporal relation (</a:t>
            </a:r>
            <a:r>
              <a:rPr lang="en-US" dirty="0" err="1"/>
              <a:t>TempRel</a:t>
            </a:r>
            <a:r>
              <a:rPr lang="en-US" dirty="0"/>
              <a:t>)</a:t>
            </a:r>
          </a:p>
        </p:txBody>
      </p:sp>
      <p:grpSp>
        <p:nvGrpSpPr>
          <p:cNvPr id="57" name="Group 56">
            <a:extLst>
              <a:ext uri="{FF2B5EF4-FFF2-40B4-BE49-F238E27FC236}">
                <a16:creationId xmlns="" xmlns:a16="http://schemas.microsoft.com/office/drawing/2014/main" id="{C6C91B87-BC4E-44D6-9D73-045F49937742}"/>
              </a:ext>
            </a:extLst>
          </p:cNvPr>
          <p:cNvGrpSpPr/>
          <p:nvPr/>
        </p:nvGrpSpPr>
        <p:grpSpPr>
          <a:xfrm>
            <a:off x="3276600" y="1884925"/>
            <a:ext cx="3900324" cy="611239"/>
            <a:chOff x="1919028" y="2681481"/>
            <a:chExt cx="4412071" cy="611239"/>
          </a:xfrm>
        </p:grpSpPr>
        <p:sp>
          <p:nvSpPr>
            <p:cNvPr id="54" name="TextBox 53">
              <a:extLst>
                <a:ext uri="{FF2B5EF4-FFF2-40B4-BE49-F238E27FC236}">
                  <a16:creationId xmlns="" xmlns:a16="http://schemas.microsoft.com/office/drawing/2014/main" id="{6EB31E90-A513-42E3-BAEF-C19FDA9145B7}"/>
                </a:ext>
              </a:extLst>
            </p:cNvPr>
            <p:cNvSpPr txBox="1"/>
            <p:nvPr/>
          </p:nvSpPr>
          <p:spPr>
            <a:xfrm>
              <a:off x="3055578" y="2681481"/>
              <a:ext cx="2103823" cy="400110"/>
            </a:xfrm>
            <a:prstGeom prst="rect">
              <a:avLst/>
            </a:prstGeom>
            <a:noFill/>
            <a:ln>
              <a:noFill/>
            </a:ln>
          </p:spPr>
          <p:txBody>
            <a:bodyPr wrap="none" rtlCol="0">
              <a:spAutoFit/>
            </a:bodyPr>
            <a:lstStyle/>
            <a:p>
              <a:r>
                <a:rPr lang="en-US" sz="2000" dirty="0">
                  <a:solidFill>
                    <a:srgbClr val="666089"/>
                  </a:solidFill>
                  <a:latin typeface="Century Gothic" panose="020B0502020202020204" pitchFamily="34" charset="0"/>
                </a:rPr>
                <a:t>BE_INCLUDED</a:t>
              </a:r>
              <a:endParaRPr lang="en-US" sz="2800" dirty="0">
                <a:solidFill>
                  <a:srgbClr val="666089"/>
                </a:solidFill>
                <a:latin typeface="Century Gothic" panose="020B0502020202020204" pitchFamily="34" charset="0"/>
              </a:endParaRPr>
            </a:p>
          </p:txBody>
        </p:sp>
        <p:sp>
          <p:nvSpPr>
            <p:cNvPr id="55" name="U-Turn Arrow 7">
              <a:extLst>
                <a:ext uri="{FF2B5EF4-FFF2-40B4-BE49-F238E27FC236}">
                  <a16:creationId xmlns="" xmlns:a16="http://schemas.microsoft.com/office/drawing/2014/main" id="{81712954-487E-456A-B998-80AD9B84E00D}"/>
                </a:ext>
              </a:extLst>
            </p:cNvPr>
            <p:cNvSpPr/>
            <p:nvPr/>
          </p:nvSpPr>
          <p:spPr>
            <a:xfrm flipH="1">
              <a:off x="1919028" y="3083204"/>
              <a:ext cx="4412071" cy="209516"/>
            </a:xfrm>
            <a:prstGeom prst="uturnArrow">
              <a:avLst>
                <a:gd name="adj1" fmla="val 8552"/>
                <a:gd name="adj2" fmla="val 25000"/>
                <a:gd name="adj3" fmla="val 23505"/>
                <a:gd name="adj4" fmla="val 43750"/>
                <a:gd name="adj5" fmla="val 100000"/>
              </a:avLst>
            </a:prstGeom>
            <a:solidFill>
              <a:srgbClr val="666089"/>
            </a:solidFill>
            <a:ln>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grpSp>
      <p:sp>
        <p:nvSpPr>
          <p:cNvPr id="4" name="TextBox 3"/>
          <p:cNvSpPr txBox="1"/>
          <p:nvPr/>
        </p:nvSpPr>
        <p:spPr>
          <a:xfrm>
            <a:off x="438477" y="4563368"/>
            <a:ext cx="8305800" cy="1532334"/>
          </a:xfrm>
          <a:prstGeom prst="roundRect">
            <a:avLst/>
          </a:prstGeom>
          <a:solidFill>
            <a:srgbClr val="7792CB"/>
          </a:solidFill>
        </p:spPr>
        <p:txBody>
          <a:bodyPr wrap="square" rtlCol="0">
            <a:spAutoFit/>
          </a:bodyPr>
          <a:lstStyle/>
          <a:p>
            <a:r>
              <a:rPr lang="en-US" sz="2800" i="1" dirty="0">
                <a:latin typeface="Century Gothic" charset="0"/>
                <a:ea typeface="Century Gothic" charset="0"/>
                <a:cs typeface="Century Gothic" charset="0"/>
              </a:rPr>
              <a:t>My talk mainly focuses on </a:t>
            </a:r>
            <a:r>
              <a:rPr lang="en-US" sz="2800" i="1" dirty="0" err="1">
                <a:latin typeface="Century Gothic" charset="0"/>
                <a:ea typeface="Century Gothic" charset="0"/>
                <a:cs typeface="Century Gothic" charset="0"/>
              </a:rPr>
              <a:t>TempRel</a:t>
            </a:r>
            <a:r>
              <a:rPr lang="en-US" sz="2800" i="1" dirty="0">
                <a:latin typeface="Century Gothic" charset="0"/>
                <a:ea typeface="Century Gothic" charset="0"/>
                <a:cs typeface="Century Gothic" charset="0"/>
              </a:rPr>
              <a:t> extraction</a:t>
            </a:r>
          </a:p>
          <a:p>
            <a:r>
              <a:rPr lang="en-US" sz="2800" i="1" dirty="0">
                <a:latin typeface="Century Gothic" charset="0"/>
                <a:ea typeface="Century Gothic" charset="0"/>
                <a:cs typeface="Century Gothic" charset="0"/>
              </a:rPr>
              <a:t> </a:t>
            </a:r>
          </a:p>
          <a:p>
            <a:r>
              <a:rPr lang="en-US" sz="2800" i="1" dirty="0">
                <a:latin typeface="Century Gothic" charset="0"/>
                <a:ea typeface="Century Gothic" charset="0"/>
                <a:cs typeface="Century Gothic" charset="0"/>
              </a:rPr>
              <a:t>…assuming those events are given.</a:t>
            </a:r>
          </a:p>
        </p:txBody>
      </p:sp>
      <p:sp>
        <p:nvSpPr>
          <p:cNvPr id="11" name="TextBox 10">
            <a:extLst>
              <a:ext uri="{FF2B5EF4-FFF2-40B4-BE49-F238E27FC236}">
                <a16:creationId xmlns="" xmlns:a16="http://schemas.microsoft.com/office/drawing/2014/main" id="{976A0FD3-76BC-F240-AF81-B55704A9B318}"/>
              </a:ext>
            </a:extLst>
          </p:cNvPr>
          <p:cNvSpPr txBox="1"/>
          <p:nvPr/>
        </p:nvSpPr>
        <p:spPr>
          <a:xfrm>
            <a:off x="594051" y="2438400"/>
            <a:ext cx="7854623" cy="830997"/>
          </a:xfrm>
          <a:prstGeom prst="rect">
            <a:avLst/>
          </a:prstGeom>
          <a:noFill/>
          <a:ln>
            <a:noFill/>
          </a:ln>
        </p:spPr>
        <p:txBody>
          <a:bodyPr wrap="square" rtlCol="0">
            <a:spAutoFit/>
          </a:bodyPr>
          <a:lstStyle/>
          <a:p>
            <a:r>
              <a:rPr lang="en-US" sz="2400" i="1" dirty="0">
                <a:solidFill>
                  <a:srgbClr val="000000"/>
                </a:solidFill>
                <a:latin typeface="Century Gothic" panose="020B0502020202020204" pitchFamily="34" charset="0"/>
                <a:cs typeface="Calibri" panose="020F0502020204030204" pitchFamily="34" charset="0"/>
              </a:rPr>
              <a:t>Tons of earth </a:t>
            </a:r>
            <a:r>
              <a:rPr lang="en-US" sz="2400" b="1" i="1" dirty="0">
                <a:solidFill>
                  <a:srgbClr val="C17A90"/>
                </a:solidFill>
                <a:latin typeface="Century Gothic" panose="020B0502020202020204" pitchFamily="34" charset="0"/>
                <a:cs typeface="Calibri" panose="020F0502020204030204" pitchFamily="34" charset="0"/>
              </a:rPr>
              <a:t>cascaded</a:t>
            </a:r>
            <a:r>
              <a:rPr lang="en-US" sz="2400" i="1" dirty="0">
                <a:solidFill>
                  <a:srgbClr val="FF0000"/>
                </a:solidFill>
                <a:latin typeface="Century Gothic" panose="020B0502020202020204" pitchFamily="34" charset="0"/>
                <a:cs typeface="Calibri" panose="020F0502020204030204" pitchFamily="34" charset="0"/>
              </a:rPr>
              <a:t> </a:t>
            </a:r>
            <a:r>
              <a:rPr lang="en-US" sz="2400" i="1" dirty="0">
                <a:solidFill>
                  <a:srgbClr val="000000"/>
                </a:solidFill>
                <a:latin typeface="Century Gothic" panose="020B0502020202020204" pitchFamily="34" charset="0"/>
                <a:cs typeface="Calibri" panose="020F0502020204030204" pitchFamily="34" charset="0"/>
              </a:rPr>
              <a:t>down a hillside, </a:t>
            </a:r>
            <a:r>
              <a:rPr lang="en-US" sz="2400" b="1" i="1" dirty="0">
                <a:solidFill>
                  <a:srgbClr val="C17A90"/>
                </a:solidFill>
                <a:latin typeface="Century Gothic" panose="020B0502020202020204" pitchFamily="34" charset="0"/>
                <a:cs typeface="Calibri" panose="020F0502020204030204" pitchFamily="34" charset="0"/>
              </a:rPr>
              <a:t>ripping</a:t>
            </a:r>
            <a:r>
              <a:rPr lang="en-US" sz="2400" i="1" dirty="0">
                <a:solidFill>
                  <a:srgbClr val="FF0000"/>
                </a:solidFill>
                <a:latin typeface="Century Gothic" panose="020B0502020202020204" pitchFamily="34" charset="0"/>
                <a:cs typeface="Calibri" panose="020F0502020204030204" pitchFamily="34" charset="0"/>
              </a:rPr>
              <a:t> </a:t>
            </a:r>
            <a:r>
              <a:rPr lang="en-US" sz="2400" i="1" dirty="0">
                <a:solidFill>
                  <a:srgbClr val="000000"/>
                </a:solidFill>
                <a:latin typeface="Century Gothic" panose="020B0502020202020204" pitchFamily="34" charset="0"/>
                <a:cs typeface="Calibri" panose="020F0502020204030204" pitchFamily="34" charset="0"/>
              </a:rPr>
              <a:t>two houses. Firefighters will </a:t>
            </a:r>
            <a:r>
              <a:rPr lang="en-US" sz="2400" b="1" i="1" dirty="0">
                <a:solidFill>
                  <a:srgbClr val="C17A90"/>
                </a:solidFill>
                <a:latin typeface="Century Gothic" panose="020B0502020202020204" pitchFamily="34" charset="0"/>
                <a:cs typeface="Calibri" panose="020F0502020204030204" pitchFamily="34" charset="0"/>
              </a:rPr>
              <a:t>monitor</a:t>
            </a:r>
            <a:r>
              <a:rPr lang="en-US" sz="2400" i="1" dirty="0">
                <a:solidFill>
                  <a:srgbClr val="000000"/>
                </a:solidFill>
                <a:latin typeface="Century Gothic" panose="020B0502020202020204" pitchFamily="34" charset="0"/>
                <a:cs typeface="Calibri" panose="020F0502020204030204" pitchFamily="34" charset="0"/>
              </a:rPr>
              <a:t> the shifting ground.</a:t>
            </a:r>
            <a:endParaRPr lang="en-US" sz="2400" i="1" dirty="0">
              <a:solidFill>
                <a:schemeClr val="bg2"/>
              </a:solidFill>
              <a:latin typeface="Century Gothic" panose="020B0502020202020204" pitchFamily="34" charset="0"/>
            </a:endParaRPr>
          </a:p>
        </p:txBody>
      </p:sp>
      <p:grpSp>
        <p:nvGrpSpPr>
          <p:cNvPr id="6" name="Group 5">
            <a:extLst>
              <a:ext uri="{FF2B5EF4-FFF2-40B4-BE49-F238E27FC236}">
                <a16:creationId xmlns="" xmlns:a16="http://schemas.microsoft.com/office/drawing/2014/main" id="{1D5FDFE3-4898-F644-87CF-633979F50ECE}"/>
              </a:ext>
            </a:extLst>
          </p:cNvPr>
          <p:cNvGrpSpPr/>
          <p:nvPr/>
        </p:nvGrpSpPr>
        <p:grpSpPr>
          <a:xfrm>
            <a:off x="4267198" y="2886599"/>
            <a:ext cx="2909726" cy="1006197"/>
            <a:chOff x="4571998" y="3352800"/>
            <a:chExt cx="2909726" cy="1006197"/>
          </a:xfrm>
        </p:grpSpPr>
        <p:grpSp>
          <p:nvGrpSpPr>
            <p:cNvPr id="56" name="Group 55">
              <a:extLst>
                <a:ext uri="{FF2B5EF4-FFF2-40B4-BE49-F238E27FC236}">
                  <a16:creationId xmlns="" xmlns:a16="http://schemas.microsoft.com/office/drawing/2014/main" id="{1172A96C-6889-4334-AD6E-B2D89EF42DB5}"/>
                </a:ext>
              </a:extLst>
            </p:cNvPr>
            <p:cNvGrpSpPr/>
            <p:nvPr/>
          </p:nvGrpSpPr>
          <p:grpSpPr>
            <a:xfrm>
              <a:off x="4571998" y="3666870"/>
              <a:ext cx="2909726" cy="692127"/>
              <a:chOff x="1318504" y="2524261"/>
              <a:chExt cx="2079815" cy="692127"/>
            </a:xfrm>
          </p:grpSpPr>
          <p:sp>
            <p:nvSpPr>
              <p:cNvPr id="52" name="U-Turn Arrow 3">
                <a:extLst>
                  <a:ext uri="{FF2B5EF4-FFF2-40B4-BE49-F238E27FC236}">
                    <a16:creationId xmlns="" xmlns:a16="http://schemas.microsoft.com/office/drawing/2014/main" id="{1D253428-B43C-4542-84BD-CFB726807CB3}"/>
                  </a:ext>
                </a:extLst>
              </p:cNvPr>
              <p:cNvSpPr/>
              <p:nvPr/>
            </p:nvSpPr>
            <p:spPr>
              <a:xfrm flipH="1" flipV="1">
                <a:off x="1318504" y="2524261"/>
                <a:ext cx="2079815" cy="296168"/>
              </a:xfrm>
              <a:prstGeom prst="uturnArrow">
                <a:avLst>
                  <a:gd name="adj1" fmla="val 8552"/>
                  <a:gd name="adj2" fmla="val 25000"/>
                  <a:gd name="adj3" fmla="val 23505"/>
                  <a:gd name="adj4" fmla="val 43750"/>
                  <a:gd name="adj5" fmla="val 100000"/>
                </a:avLst>
              </a:prstGeom>
              <a:solidFill>
                <a:srgbClr val="666089"/>
              </a:solidFill>
              <a:ln>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66089"/>
                  </a:solidFill>
                </a:endParaRPr>
              </a:p>
            </p:txBody>
          </p:sp>
          <p:sp>
            <p:nvSpPr>
              <p:cNvPr id="53" name="TextBox 52">
                <a:extLst>
                  <a:ext uri="{FF2B5EF4-FFF2-40B4-BE49-F238E27FC236}">
                    <a16:creationId xmlns="" xmlns:a16="http://schemas.microsoft.com/office/drawing/2014/main" id="{130C49B6-8CC0-47F2-A788-49F377287301}"/>
                  </a:ext>
                </a:extLst>
              </p:cNvPr>
              <p:cNvSpPr txBox="1"/>
              <p:nvPr/>
            </p:nvSpPr>
            <p:spPr>
              <a:xfrm>
                <a:off x="1912392" y="2816278"/>
                <a:ext cx="892039" cy="400110"/>
              </a:xfrm>
              <a:prstGeom prst="rect">
                <a:avLst/>
              </a:prstGeom>
              <a:noFill/>
              <a:ln>
                <a:noFill/>
              </a:ln>
            </p:spPr>
            <p:txBody>
              <a:bodyPr wrap="none" rtlCol="0">
                <a:spAutoFit/>
              </a:bodyPr>
              <a:lstStyle/>
              <a:p>
                <a:r>
                  <a:rPr lang="en-US" sz="2000" dirty="0">
                    <a:solidFill>
                      <a:srgbClr val="666089"/>
                    </a:solidFill>
                    <a:latin typeface="Century Gothic" panose="020B0502020202020204" pitchFamily="34" charset="0"/>
                  </a:rPr>
                  <a:t>BEFORE</a:t>
                </a:r>
                <a:endParaRPr lang="en-US" sz="2800" dirty="0">
                  <a:solidFill>
                    <a:srgbClr val="666089"/>
                  </a:solidFill>
                  <a:latin typeface="Century Gothic" panose="020B0502020202020204" pitchFamily="34" charset="0"/>
                </a:endParaRPr>
              </a:p>
            </p:txBody>
          </p:sp>
        </p:grpSp>
        <p:cxnSp>
          <p:nvCxnSpPr>
            <p:cNvPr id="5" name="Straight Connector 4">
              <a:extLst>
                <a:ext uri="{FF2B5EF4-FFF2-40B4-BE49-F238E27FC236}">
                  <a16:creationId xmlns="" xmlns:a16="http://schemas.microsoft.com/office/drawing/2014/main" id="{0BBECAE5-54E8-C04A-A6F9-0BDDA0C3C199}"/>
                </a:ext>
              </a:extLst>
            </p:cNvPr>
            <p:cNvCxnSpPr/>
            <p:nvPr/>
          </p:nvCxnSpPr>
          <p:spPr>
            <a:xfrm flipV="1">
              <a:off x="7467600" y="3352800"/>
              <a:ext cx="0" cy="458998"/>
            </a:xfrm>
            <a:prstGeom prst="line">
              <a:avLst/>
            </a:prstGeom>
            <a:ln w="38100">
              <a:solidFill>
                <a:srgbClr val="66608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TextBox 2"/>
          <p:cNvSpPr txBox="1"/>
          <p:nvPr/>
        </p:nvSpPr>
        <p:spPr>
          <a:xfrm>
            <a:off x="598207" y="1277034"/>
            <a:ext cx="3072938" cy="646331"/>
          </a:xfrm>
          <a:prstGeom prst="rect">
            <a:avLst/>
          </a:prstGeom>
          <a:noFill/>
        </p:spPr>
        <p:txBody>
          <a:bodyPr wrap="square" rtlCol="0">
            <a:spAutoFit/>
          </a:bodyPr>
          <a:lstStyle/>
          <a:p>
            <a:r>
              <a:rPr lang="en-US" b="1" i="1" dirty="0" smtClean="0">
                <a:solidFill>
                  <a:srgbClr val="C27990"/>
                </a:solidFill>
                <a:latin typeface="Century Gothic" charset="0"/>
                <a:ea typeface="Century Gothic" charset="0"/>
                <a:cs typeface="Century Gothic" charset="0"/>
              </a:rPr>
              <a:t>Event</a:t>
            </a:r>
            <a:r>
              <a:rPr lang="en-US" i="1" dirty="0" smtClean="0">
                <a:solidFill>
                  <a:srgbClr val="C27990"/>
                </a:solidFill>
                <a:latin typeface="Century Gothic" charset="0"/>
                <a:ea typeface="Century Gothic" charset="0"/>
                <a:cs typeface="Century Gothic" charset="0"/>
              </a:rPr>
              <a:t>: An action or state headed by a verb</a:t>
            </a:r>
            <a:endParaRPr lang="en-US" i="1" dirty="0">
              <a:solidFill>
                <a:srgbClr val="C2799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65881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nodeType="click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wipe(right)">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righ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14644"/>
            <a:ext cx="8534400" cy="5186156"/>
          </a:xfrm>
        </p:spPr>
        <p:txBody>
          <a:bodyPr/>
          <a:lstStyle/>
          <a:p>
            <a:pPr marL="0" indent="0">
              <a:buNone/>
            </a:pPr>
            <a:r>
              <a:rPr lang="en-US" sz="2400" i="1" dirty="0"/>
              <a:t>In Los Angeles that lesson was brought home Friday when tons of earth </a:t>
            </a:r>
            <a:r>
              <a:rPr lang="en-US" sz="2400" b="1" i="1" dirty="0">
                <a:solidFill>
                  <a:srgbClr val="C17A90"/>
                </a:solidFill>
              </a:rPr>
              <a:t>cascaded</a:t>
            </a:r>
            <a:r>
              <a:rPr lang="en-US" sz="2400" i="1" dirty="0">
                <a:solidFill>
                  <a:srgbClr val="FF0000"/>
                </a:solidFill>
              </a:rPr>
              <a:t> </a:t>
            </a:r>
            <a:r>
              <a:rPr lang="en-US" sz="2400" i="1" dirty="0"/>
              <a:t>down a hillside, </a:t>
            </a:r>
            <a:r>
              <a:rPr lang="en-US" sz="2400" b="1" i="1" dirty="0">
                <a:solidFill>
                  <a:srgbClr val="C17A90"/>
                </a:solidFill>
              </a:rPr>
              <a:t>ripping</a:t>
            </a:r>
            <a:r>
              <a:rPr lang="en-US" sz="2400" i="1" dirty="0">
                <a:solidFill>
                  <a:srgbClr val="FF0000"/>
                </a:solidFill>
              </a:rPr>
              <a:t> </a:t>
            </a:r>
            <a:r>
              <a:rPr lang="en-US" sz="2400" i="1" dirty="0"/>
              <a:t>two houses from their foundations. No one was </a:t>
            </a:r>
            <a:r>
              <a:rPr lang="en-US" sz="2400" b="1" i="1" dirty="0">
                <a:solidFill>
                  <a:srgbClr val="C17A90"/>
                </a:solidFill>
              </a:rPr>
              <a:t>hurt</a:t>
            </a:r>
            <a:r>
              <a:rPr lang="en-US" sz="2400" i="1" dirty="0"/>
              <a:t>, but firefighters </a:t>
            </a:r>
            <a:r>
              <a:rPr lang="en-US" sz="2400" b="1" i="1" dirty="0">
                <a:solidFill>
                  <a:srgbClr val="C17A90"/>
                </a:solidFill>
              </a:rPr>
              <a:t>ordered</a:t>
            </a:r>
            <a:r>
              <a:rPr lang="en-US" sz="2400" i="1" dirty="0">
                <a:solidFill>
                  <a:srgbClr val="FF0000"/>
                </a:solidFill>
              </a:rPr>
              <a:t> </a:t>
            </a:r>
            <a:r>
              <a:rPr lang="en-US" sz="2400" i="1" dirty="0"/>
              <a:t>the evacuation of nearby homes and said they'll </a:t>
            </a:r>
            <a:r>
              <a:rPr lang="en-US" sz="2400" b="1" i="1" dirty="0">
                <a:solidFill>
                  <a:srgbClr val="C17A90"/>
                </a:solidFill>
              </a:rPr>
              <a:t>monitor</a:t>
            </a:r>
            <a:r>
              <a:rPr lang="en-US" sz="2400" i="1" dirty="0">
                <a:solidFill>
                  <a:srgbClr val="FF0000"/>
                </a:solidFill>
              </a:rPr>
              <a:t> </a:t>
            </a:r>
            <a:r>
              <a:rPr lang="en-US" sz="2400" i="1" dirty="0"/>
              <a:t>the shifting ground until March 23</a:t>
            </a:r>
            <a:r>
              <a:rPr lang="en-US" sz="2400" i="1" baseline="30000" dirty="0"/>
              <a:t>rd</a:t>
            </a:r>
            <a:r>
              <a:rPr lang="en-US" sz="2400" i="1" dirty="0"/>
              <a:t>.</a:t>
            </a:r>
          </a:p>
          <a:p>
            <a:endParaRPr lang="en-US" sz="2400" i="1" dirty="0"/>
          </a:p>
          <a:p>
            <a:endParaRPr lang="en-US" sz="2400" i="1" dirty="0"/>
          </a:p>
        </p:txBody>
      </p:sp>
      <p:grpSp>
        <p:nvGrpSpPr>
          <p:cNvPr id="27" name="Group 26">
            <a:extLst>
              <a:ext uri="{FF2B5EF4-FFF2-40B4-BE49-F238E27FC236}">
                <a16:creationId xmlns="" xmlns:a16="http://schemas.microsoft.com/office/drawing/2014/main" id="{E877E13F-D9E9-4A17-84C7-47F0C9244DDE}"/>
              </a:ext>
            </a:extLst>
          </p:cNvPr>
          <p:cNvGrpSpPr/>
          <p:nvPr/>
        </p:nvGrpSpPr>
        <p:grpSpPr>
          <a:xfrm>
            <a:off x="441263" y="3581400"/>
            <a:ext cx="4545074" cy="2336661"/>
            <a:chOff x="3312194" y="1491409"/>
            <a:chExt cx="6060098" cy="3115549"/>
          </a:xfrm>
        </p:grpSpPr>
        <p:grpSp>
          <p:nvGrpSpPr>
            <p:cNvPr id="28" name="Group 27">
              <a:extLst>
                <a:ext uri="{FF2B5EF4-FFF2-40B4-BE49-F238E27FC236}">
                  <a16:creationId xmlns="" xmlns:a16="http://schemas.microsoft.com/office/drawing/2014/main" id="{17A38241-B3ED-48F0-A5D9-BD3DC99E89E3}"/>
                </a:ext>
              </a:extLst>
            </p:cNvPr>
            <p:cNvGrpSpPr/>
            <p:nvPr/>
          </p:nvGrpSpPr>
          <p:grpSpPr>
            <a:xfrm>
              <a:off x="3312194" y="1491409"/>
              <a:ext cx="6060098" cy="3115549"/>
              <a:chOff x="3312194" y="1491409"/>
              <a:chExt cx="6060098" cy="3115549"/>
            </a:xfrm>
          </p:grpSpPr>
          <p:grpSp>
            <p:nvGrpSpPr>
              <p:cNvPr id="30" name="Group 29">
                <a:extLst>
                  <a:ext uri="{FF2B5EF4-FFF2-40B4-BE49-F238E27FC236}">
                    <a16:creationId xmlns="" xmlns:a16="http://schemas.microsoft.com/office/drawing/2014/main" id="{4C95EB2A-5C7E-459A-A7A7-115296DEE9D6}"/>
                  </a:ext>
                </a:extLst>
              </p:cNvPr>
              <p:cNvGrpSpPr/>
              <p:nvPr/>
            </p:nvGrpSpPr>
            <p:grpSpPr>
              <a:xfrm>
                <a:off x="3312194" y="1491409"/>
                <a:ext cx="6060098" cy="2542680"/>
                <a:chOff x="2974846" y="1491409"/>
                <a:chExt cx="6060098" cy="2542680"/>
              </a:xfrm>
            </p:grpSpPr>
            <p:sp>
              <p:nvSpPr>
                <p:cNvPr id="36" name="TextBox 35">
                  <a:extLst>
                    <a:ext uri="{FF2B5EF4-FFF2-40B4-BE49-F238E27FC236}">
                      <a16:creationId xmlns="" xmlns:a16="http://schemas.microsoft.com/office/drawing/2014/main" id="{69231A96-B0D2-4862-A853-F2BB70CA425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37" name="TextBox 36">
                  <a:extLst>
                    <a:ext uri="{FF2B5EF4-FFF2-40B4-BE49-F238E27FC236}">
                      <a16:creationId xmlns="" xmlns:a16="http://schemas.microsoft.com/office/drawing/2014/main" id="{B92B956A-DB60-4C14-A246-235EDA984580}"/>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hurt</a:t>
                  </a:r>
                </a:p>
              </p:txBody>
            </p:sp>
            <p:sp>
              <p:nvSpPr>
                <p:cNvPr id="38" name="TextBox 37">
                  <a:extLst>
                    <a:ext uri="{FF2B5EF4-FFF2-40B4-BE49-F238E27FC236}">
                      <a16:creationId xmlns="" xmlns:a16="http://schemas.microsoft.com/office/drawing/2014/main" id="{306FE320-D23E-4FEE-9F8E-CA98C6C5F530}"/>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39" name="TextBox 38">
                  <a:extLst>
                    <a:ext uri="{FF2B5EF4-FFF2-40B4-BE49-F238E27FC236}">
                      <a16:creationId xmlns="" xmlns:a16="http://schemas.microsoft.com/office/drawing/2014/main" id="{49003EBB-30C2-4A6E-9B7E-9B8B4726829D}"/>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ordered</a:t>
                  </a:r>
                </a:p>
              </p:txBody>
            </p:sp>
            <p:cxnSp>
              <p:nvCxnSpPr>
                <p:cNvPr id="40" name="Straight Arrow Connector 39">
                  <a:extLst>
                    <a:ext uri="{FF2B5EF4-FFF2-40B4-BE49-F238E27FC236}">
                      <a16:creationId xmlns="" xmlns:a16="http://schemas.microsoft.com/office/drawing/2014/main" id="{0BACCC43-6CC5-4C3C-8E5E-F9F927F8B94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 xmlns:a16="http://schemas.microsoft.com/office/drawing/2014/main" id="{4FF3051B-1BED-4F81-84E9-9144F59A6658}"/>
                    </a:ext>
                  </a:extLst>
                </p:cNvPr>
                <p:cNvCxnSpPr/>
                <p:nvPr/>
              </p:nvCxnSpPr>
              <p:spPr>
                <a:xfrm flipH="1">
                  <a:off x="3624993" y="1745325"/>
                  <a:ext cx="1027433" cy="740620"/>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 xmlns:a16="http://schemas.microsoft.com/office/drawing/2014/main" id="{4B33CC75-CE81-4793-BE14-84BC2B70A7B6}"/>
                    </a:ext>
                  </a:extLst>
                </p:cNvPr>
                <p:cNvCxnSpPr/>
                <p:nvPr/>
              </p:nvCxnSpPr>
              <p:spPr>
                <a:xfrm>
                  <a:off x="5507757" y="1984783"/>
                  <a:ext cx="2553980" cy="1517655"/>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 xmlns:a16="http://schemas.microsoft.com/office/drawing/2014/main" id="{DF7A1C68-39CB-4B4F-AF30-2115BB94C260}"/>
                    </a:ext>
                  </a:extLst>
                </p:cNvPr>
                <p:cNvCxnSpPr/>
                <p:nvPr/>
              </p:nvCxnSpPr>
              <p:spPr>
                <a:xfrm flipV="1">
                  <a:off x="6017185" y="3772671"/>
                  <a:ext cx="1666532" cy="7503"/>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 xmlns:a16="http://schemas.microsoft.com/office/drawing/2014/main" id="{BFF47532-9C5A-4318-AAFC-616F8209B108}"/>
                    </a:ext>
                  </a:extLst>
                </p:cNvPr>
                <p:cNvCxnSpPr/>
                <p:nvPr/>
              </p:nvCxnSpPr>
              <p:spPr>
                <a:xfrm flipH="1" flipV="1">
                  <a:off x="3624993" y="2995636"/>
                  <a:ext cx="917001" cy="784537"/>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CF3EC16A-6808-436E-B8D5-2FC0C52207EE}"/>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46" name="Straight Connector 45">
                  <a:extLst>
                    <a:ext uri="{FF2B5EF4-FFF2-40B4-BE49-F238E27FC236}">
                      <a16:creationId xmlns="" xmlns:a16="http://schemas.microsoft.com/office/drawing/2014/main" id="{F6CE56D6-D023-4B88-B59D-400ACE613C21}"/>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C8235993-3487-4925-AE51-802546311D16}"/>
                    </a:ext>
                  </a:extLst>
                </p:cNvPr>
                <p:cNvCxnSpPr/>
                <p:nvPr/>
              </p:nvCxnSpPr>
              <p:spPr>
                <a:xfrm flipH="1">
                  <a:off x="8316583" y="2090596"/>
                  <a:ext cx="12503" cy="130628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5F41F946-2002-4ED4-994A-76B18F3455CF}"/>
                    </a:ext>
                  </a:extLst>
                </p:cNvPr>
                <p:cNvCxnSpPr/>
                <p:nvPr/>
              </p:nvCxnSpPr>
              <p:spPr>
                <a:xfrm flipH="1">
                  <a:off x="5503925" y="2090596"/>
                  <a:ext cx="2825161" cy="1450604"/>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34F1B8A9-5B03-4D1A-B2D7-9B58D51F6443}"/>
                    </a:ext>
                  </a:extLst>
                </p:cNvPr>
                <p:cNvCxnSpPr/>
                <p:nvPr/>
              </p:nvCxnSpPr>
              <p:spPr>
                <a:xfrm flipH="1">
                  <a:off x="3730553" y="1985036"/>
                  <a:ext cx="4343687" cy="75575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 xmlns:a16="http://schemas.microsoft.com/office/drawing/2014/main" id="{055368C6-EDCB-430A-B566-1458ED901E29}"/>
                  </a:ext>
                </a:extLst>
              </p:cNvPr>
              <p:cNvGrpSpPr/>
              <p:nvPr/>
            </p:nvGrpSpPr>
            <p:grpSpPr>
              <a:xfrm>
                <a:off x="4851183" y="4268403"/>
                <a:ext cx="3254802" cy="338555"/>
                <a:chOff x="2403791" y="4308587"/>
                <a:chExt cx="3254802" cy="338555"/>
              </a:xfrm>
            </p:grpSpPr>
            <p:cxnSp>
              <p:nvCxnSpPr>
                <p:cNvPr id="32" name="Straight Arrow Connector 31">
                  <a:extLst>
                    <a:ext uri="{FF2B5EF4-FFF2-40B4-BE49-F238E27FC236}">
                      <a16:creationId xmlns="" xmlns:a16="http://schemas.microsoft.com/office/drawing/2014/main" id="{1790034E-07E3-4A1D-A4A6-9B3839F3BF3F}"/>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 xmlns:a16="http://schemas.microsoft.com/office/drawing/2014/main" id="{4CDA7464-9DEF-4ECF-8EB3-DA28951C95A3}"/>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34" name="Straight Arrow Connector 33">
                  <a:extLst>
                    <a:ext uri="{FF2B5EF4-FFF2-40B4-BE49-F238E27FC236}">
                      <a16:creationId xmlns="" xmlns:a16="http://schemas.microsoft.com/office/drawing/2014/main" id="{3698058B-8FA1-4E6D-AED0-E7432B76635D}"/>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 xmlns:a16="http://schemas.microsoft.com/office/drawing/2014/main" id="{383684F5-6E3C-428D-B627-C1F6F491FD1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29" name="Straight Connector 28">
              <a:extLst>
                <a:ext uri="{FF2B5EF4-FFF2-40B4-BE49-F238E27FC236}">
                  <a16:creationId xmlns="" xmlns:a16="http://schemas.microsoft.com/office/drawing/2014/main" id="{37576C52-D3C3-4A84-ACE8-9DBA2AD73360}"/>
                </a:ext>
              </a:extLst>
            </p:cNvPr>
            <p:cNvCxnSpPr/>
            <p:nvPr/>
          </p:nvCxnSpPr>
          <p:spPr>
            <a:xfrm flipH="1" flipV="1">
              <a:off x="4102797" y="2734614"/>
              <a:ext cx="4203231" cy="89923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graphicFrame>
        <p:nvGraphicFramePr>
          <p:cNvPr id="51" name="Table 50"/>
          <p:cNvGraphicFramePr>
            <a:graphicFrameLocks noGrp="1"/>
          </p:cNvGraphicFramePr>
          <p:nvPr>
            <p:extLst>
              <p:ext uri="{D42A27DB-BD31-4B8C-83A1-F6EECF244321}">
                <p14:modId xmlns:p14="http://schemas.microsoft.com/office/powerpoint/2010/main" val="2416847297"/>
              </p:ext>
            </p:extLst>
          </p:nvPr>
        </p:nvGraphicFramePr>
        <p:xfrm>
          <a:off x="5219544" y="4002103"/>
          <a:ext cx="3428277" cy="1377998"/>
        </p:xfrm>
        <a:graphic>
          <a:graphicData uri="http://schemas.openxmlformats.org/drawingml/2006/table">
            <a:tbl>
              <a:tblPr firstRow="1" bandRow="1">
                <a:tableStyleId>{2D5ABB26-0587-4C30-8999-92F81FD0307C}</a:tableStyleId>
              </a:tblPr>
              <a:tblGrid>
                <a:gridCol w="2229281">
                  <a:extLst>
                    <a:ext uri="{9D8B030D-6E8A-4147-A177-3AD203B41FA5}">
                      <a16:colId xmlns="" xmlns:a16="http://schemas.microsoft.com/office/drawing/2014/main" val="20000"/>
                    </a:ext>
                  </a:extLst>
                </a:gridCol>
                <a:gridCol w="1198996">
                  <a:extLst>
                    <a:ext uri="{9D8B030D-6E8A-4147-A177-3AD203B41FA5}">
                      <a16:colId xmlns="" xmlns:a16="http://schemas.microsoft.com/office/drawing/2014/main" val="20001"/>
                    </a:ext>
                  </a:extLst>
                </a:gridCol>
              </a:tblGrid>
              <a:tr h="597692">
                <a:tc>
                  <a:txBody>
                    <a:bodyPr/>
                    <a:lstStyle/>
                    <a:p>
                      <a:pPr algn="ctr"/>
                      <a:r>
                        <a:rPr lang="en-US" sz="1700" dirty="0">
                          <a:solidFill>
                            <a:schemeClr val="bg2"/>
                          </a:solidFill>
                          <a:latin typeface="Century Gothic" panose="020B0502020202020204" pitchFamily="34" charset="0"/>
                        </a:rPr>
                        <a:t>Temporal relation extraction</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E6E5CF">
                        <a:alpha val="78039"/>
                      </a:srgbClr>
                    </a:solidFill>
                  </a:tcPr>
                </a:tc>
                <a:tc>
                  <a:txBody>
                    <a:bodyPr/>
                    <a:lstStyle/>
                    <a:p>
                      <a:pPr algn="ctr"/>
                      <a:r>
                        <a:rPr lang="en-US" sz="1700" dirty="0">
                          <a:solidFill>
                            <a:schemeClr val="bg2"/>
                          </a:solidFill>
                          <a:latin typeface="Century Gothic" panose="020B0502020202020204" pitchFamily="34" charset="0"/>
                        </a:rPr>
                        <a:t>Literature F1</a:t>
                      </a:r>
                      <a:r>
                        <a:rPr lang="en-US" sz="1700" baseline="0" dirty="0">
                          <a:solidFill>
                            <a:schemeClr val="bg2"/>
                          </a:solidFill>
                          <a:latin typeface="Century Gothic" panose="020B0502020202020204" pitchFamily="34" charset="0"/>
                        </a:rPr>
                        <a:t> (</a:t>
                      </a:r>
                      <a:r>
                        <a:rPr lang="en-US" sz="1700" dirty="0">
                          <a:solidFill>
                            <a:schemeClr val="bg2"/>
                          </a:solidFill>
                          <a:latin typeface="Century Gothic" panose="020B0502020202020204" pitchFamily="34" charset="0"/>
                        </a:rPr>
                        <a:t>%)</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rgbClr val="E6E5CF">
                        <a:alpha val="78039"/>
                      </a:srgbClr>
                    </a:solidFill>
                  </a:tcPr>
                </a:tc>
                <a:extLst>
                  <a:ext uri="{0D108BD9-81ED-4DB2-BD59-A6C34878D82A}">
                    <a16:rowId xmlns="" xmlns:a16="http://schemas.microsoft.com/office/drawing/2014/main" val="10000"/>
                  </a:ext>
                </a:extLst>
              </a:tr>
              <a:tr h="382733">
                <a:tc>
                  <a:txBody>
                    <a:bodyPr/>
                    <a:lstStyle/>
                    <a:p>
                      <a:pPr algn="ctr"/>
                      <a:r>
                        <a:rPr lang="en-US" sz="1700" dirty="0">
                          <a:solidFill>
                            <a:schemeClr val="bg2"/>
                          </a:solidFill>
                          <a:latin typeface="Century Gothic" panose="020B0502020202020204" pitchFamily="34" charset="0"/>
                        </a:rPr>
                        <a:t>w/ gold events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solidFill>
                            <a:schemeClr val="bg2"/>
                          </a:solidFill>
                          <a:latin typeface="Century Gothic" panose="020B0502020202020204" pitchFamily="34" charset="0"/>
                        </a:rPr>
                        <a:t>low 50’s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1"/>
                  </a:ext>
                </a:extLst>
              </a:tr>
              <a:tr h="382733">
                <a:tc>
                  <a:txBody>
                    <a:bodyPr/>
                    <a:lstStyle/>
                    <a:p>
                      <a:pPr algn="ctr"/>
                      <a:r>
                        <a:rPr lang="en-US" sz="1700" baseline="0" dirty="0">
                          <a:solidFill>
                            <a:schemeClr val="bg2"/>
                          </a:solidFill>
                          <a:latin typeface="Century Gothic" panose="020B0502020202020204" pitchFamily="34" charset="0"/>
                        </a:rPr>
                        <a:t>w/o gold events</a:t>
                      </a:r>
                      <a:endParaRPr lang="en-US" sz="1700" dirty="0">
                        <a:solidFill>
                          <a:schemeClr val="bg2"/>
                        </a:solidFill>
                        <a:latin typeface="Century Gothic" panose="020B0502020202020204" pitchFamily="34" charset="0"/>
                      </a:endParaRP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solidFill>
                            <a:schemeClr val="bg2"/>
                          </a:solidFill>
                          <a:latin typeface="Century Gothic" panose="020B0502020202020204" pitchFamily="34" charset="0"/>
                        </a:rPr>
                        <a:t>low 30’s</a:t>
                      </a:r>
                    </a:p>
                  </a:txBody>
                  <a:tcPr marL="94372" marR="94372" marT="47186" marB="4718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 xmlns:a16="http://schemas.microsoft.com/office/drawing/2014/main" val="10002"/>
                  </a:ext>
                </a:extLst>
              </a:tr>
            </a:tbl>
          </a:graphicData>
        </a:graphic>
      </p:graphicFrame>
      <p:sp>
        <p:nvSpPr>
          <p:cNvPr id="4" name="TextBox 3"/>
          <p:cNvSpPr txBox="1"/>
          <p:nvPr/>
        </p:nvSpPr>
        <p:spPr>
          <a:xfrm>
            <a:off x="5581272" y="3517900"/>
            <a:ext cx="3033527"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This task is difficult:</a:t>
            </a:r>
          </a:p>
        </p:txBody>
      </p:sp>
      <p:sp>
        <p:nvSpPr>
          <p:cNvPr id="5" name="TextBox 4">
            <a:extLst>
              <a:ext uri="{FF2B5EF4-FFF2-40B4-BE49-F238E27FC236}">
                <a16:creationId xmlns="" xmlns:a16="http://schemas.microsoft.com/office/drawing/2014/main" id="{45C66110-64DD-4CE7-B8DF-6EC293F0889F}"/>
              </a:ext>
            </a:extLst>
          </p:cNvPr>
          <p:cNvSpPr txBox="1"/>
          <p:nvPr/>
        </p:nvSpPr>
        <p:spPr>
          <a:xfrm>
            <a:off x="381000" y="1218767"/>
            <a:ext cx="8915400" cy="461665"/>
          </a:xfrm>
          <a:prstGeom prst="rect">
            <a:avLst/>
          </a:prstGeom>
          <a:noFill/>
        </p:spPr>
        <p:txBody>
          <a:bodyPr wrap="square" rtlCol="0">
            <a:spAutoFit/>
          </a:bodyPr>
          <a:lstStyle/>
          <a:p>
            <a:pPr>
              <a:buSzPct val="65000"/>
            </a:pPr>
            <a:r>
              <a:rPr lang="en-US" sz="2400" dirty="0">
                <a:solidFill>
                  <a:schemeClr val="bg2"/>
                </a:solidFill>
                <a:latin typeface="Century Gothic" panose="020B0502020202020204" pitchFamily="34" charset="0"/>
              </a:rPr>
              <a:t>The task is to label those edges in temporal graphs.</a:t>
            </a:r>
            <a:endParaRPr lang="en-US" sz="2400" dirty="0">
              <a:solidFill>
                <a:schemeClr val="bg2"/>
              </a:solidFill>
              <a:latin typeface="Century Gothic" panose="020B0502020202020204" pitchFamily="34" charset="0"/>
              <a:cs typeface="Calibri" panose="020F0502020204030204" pitchFamily="34" charset="0"/>
            </a:endParaRPr>
          </a:p>
        </p:txBody>
      </p:sp>
      <p:sp>
        <p:nvSpPr>
          <p:cNvPr id="2" name="Title 1"/>
          <p:cNvSpPr>
            <a:spLocks noGrp="1"/>
          </p:cNvSpPr>
          <p:nvPr>
            <p:ph type="title"/>
          </p:nvPr>
        </p:nvSpPr>
        <p:spPr>
          <a:xfrm>
            <a:off x="676274" y="228600"/>
            <a:ext cx="8620126" cy="533400"/>
          </a:xfrm>
        </p:spPr>
        <p:txBody>
          <a:bodyPr/>
          <a:lstStyle/>
          <a:p>
            <a:r>
              <a:rPr lang="en-US" dirty="0"/>
              <a:t>Multiple events form a situation</a:t>
            </a:r>
          </a:p>
        </p:txBody>
      </p:sp>
      <p:sp>
        <p:nvSpPr>
          <p:cNvPr id="50" name="Title 1"/>
          <p:cNvSpPr txBox="1">
            <a:spLocks/>
          </p:cNvSpPr>
          <p:nvPr/>
        </p:nvSpPr>
        <p:spPr bwMode="auto">
          <a:xfrm>
            <a:off x="672028" y="232724"/>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chemeClr val="bg2"/>
                </a:solidFill>
                <a:latin typeface="Century Gothic" panose="020B0502020202020204" pitchFamily="34" charset="0"/>
              </a:rPr>
              <a:t>“Temporal Graph”</a:t>
            </a:r>
          </a:p>
        </p:txBody>
      </p:sp>
    </p:spTree>
    <p:extLst>
      <p:ext uri="{BB962C8B-B14F-4D97-AF65-F5344CB8AC3E}">
        <p14:creationId xmlns:p14="http://schemas.microsoft.com/office/powerpoint/2010/main" val="21690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par>
                                <p:cTn id="13" presetID="9"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dissolve">
                                      <p:cBhvr>
                                        <p:cTn id="15" dur="500"/>
                                        <p:tgtEl>
                                          <p:spTgt spid="5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3">
                                            <p:txEl>
                                              <p:pRg st="0" end="0"/>
                                            </p:txEl>
                                          </p:spTgt>
                                        </p:tgtEl>
                                      </p:cBhvr>
                                    </p:animEffect>
                                    <p:set>
                                      <p:cBhvr>
                                        <p:cTn id="20" dur="1" fill="hold">
                                          <p:stCondLst>
                                            <p:cond delay="499"/>
                                          </p:stCondLst>
                                        </p:cTn>
                                        <p:tgtEl>
                                          <p:spTgt spid="3">
                                            <p:txEl>
                                              <p:pRg st="0" end="0"/>
                                            </p:txEl>
                                          </p:spTgt>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dissolve">
                                      <p:cBhvr>
                                        <p:cTn id="28" dur="500"/>
                                        <p:tgtEl>
                                          <p:spTgt spid="51"/>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P spid="4" grpId="0"/>
      <p:bldP spid="5" grpId="0"/>
      <p:bldP spid="2" grpId="0"/>
      <p:bldP spid="5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75E6A528-8DBD-A148-A719-12EA32FF22B2}"/>
              </a:ext>
            </a:extLst>
          </p:cNvPr>
          <p:cNvSpPr txBox="1">
            <a:spLocks/>
          </p:cNvSpPr>
          <p:nvPr/>
        </p:nvSpPr>
        <p:spPr bwMode="auto">
          <a:xfrm>
            <a:off x="228600" y="234146"/>
            <a:ext cx="2219326" cy="533400"/>
          </a:xfrm>
          <a:prstGeom prst="roundRect">
            <a:avLst/>
          </a:prstGeom>
          <a:noFill/>
          <a:ln w="127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chemeClr val="bg2"/>
                </a:solidFill>
                <a:latin typeface="Century Gothic" panose="020B0502020202020204" pitchFamily="34" charset="0"/>
              </a:rPr>
              <a:t>Challenges</a:t>
            </a:r>
          </a:p>
        </p:txBody>
      </p:sp>
      <p:graphicFrame>
        <p:nvGraphicFramePr>
          <p:cNvPr id="7" name="Table 6">
            <a:extLst>
              <a:ext uri="{FF2B5EF4-FFF2-40B4-BE49-F238E27FC236}">
                <a16:creationId xmlns="" xmlns:a16="http://schemas.microsoft.com/office/drawing/2014/main" id="{C4099257-CAEA-6E49-AB0F-2B8B29891ED3}"/>
              </a:ext>
            </a:extLst>
          </p:cNvPr>
          <p:cNvGraphicFramePr>
            <a:graphicFrameLocks noGrp="1"/>
          </p:cNvGraphicFramePr>
          <p:nvPr>
            <p:extLst/>
          </p:nvPr>
        </p:nvGraphicFramePr>
        <p:xfrm>
          <a:off x="2690287" y="5607664"/>
          <a:ext cx="2491313" cy="990600"/>
        </p:xfrm>
        <a:graphic>
          <a:graphicData uri="http://schemas.openxmlformats.org/drawingml/2006/table">
            <a:tbl>
              <a:tblPr firstRow="1" bandRow="1">
                <a:tableStyleId>{2D5ABB26-0587-4C30-8999-92F81FD0307C}</a:tableStyleId>
              </a:tblPr>
              <a:tblGrid>
                <a:gridCol w="1620008">
                  <a:extLst>
                    <a:ext uri="{9D8B030D-6E8A-4147-A177-3AD203B41FA5}">
                      <a16:colId xmlns="" xmlns:a16="http://schemas.microsoft.com/office/drawing/2014/main" val="20000"/>
                    </a:ext>
                  </a:extLst>
                </a:gridCol>
                <a:gridCol w="871305">
                  <a:extLst>
                    <a:ext uri="{9D8B030D-6E8A-4147-A177-3AD203B41FA5}">
                      <a16:colId xmlns="" xmlns:a16="http://schemas.microsoft.com/office/drawing/2014/main" val="20001"/>
                    </a:ext>
                  </a:extLst>
                </a:gridCol>
              </a:tblGrid>
              <a:tr h="278130">
                <a:tc>
                  <a:txBody>
                    <a:bodyPr/>
                    <a:lstStyle/>
                    <a:p>
                      <a:pPr algn="ctr"/>
                      <a:r>
                        <a:rPr lang="en-US" sz="1200" dirty="0">
                          <a:solidFill>
                            <a:schemeClr val="bg2"/>
                          </a:solidFill>
                          <a:latin typeface="Century Gothic" panose="020B0502020202020204" pitchFamily="34" charset="0"/>
                        </a:rPr>
                        <a:t>Temporal relation extraction</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tc>
                  <a:txBody>
                    <a:bodyPr/>
                    <a:lstStyle/>
                    <a:p>
                      <a:pPr algn="ctr"/>
                      <a:r>
                        <a:rPr lang="en-US" sz="1200" dirty="0">
                          <a:solidFill>
                            <a:schemeClr val="bg2"/>
                          </a:solidFill>
                          <a:latin typeface="Century Gothic" panose="020B0502020202020204" pitchFamily="34" charset="0"/>
                        </a:rPr>
                        <a:t>Literature F1</a:t>
                      </a:r>
                      <a:r>
                        <a:rPr lang="en-US" sz="1200" baseline="0" dirty="0">
                          <a:solidFill>
                            <a:schemeClr val="bg2"/>
                          </a:solidFill>
                          <a:latin typeface="Century Gothic" panose="020B0502020202020204" pitchFamily="34" charset="0"/>
                        </a:rPr>
                        <a:t> (</a:t>
                      </a:r>
                      <a:r>
                        <a:rPr lang="en-US" sz="1200" dirty="0">
                          <a:solidFill>
                            <a:schemeClr val="bg2"/>
                          </a:solidFill>
                          <a:latin typeface="Century Gothic" panose="020B0502020202020204" pitchFamily="34" charset="0"/>
                        </a:rPr>
                        <a:t>%)</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extLst>
                  <a:ext uri="{0D108BD9-81ED-4DB2-BD59-A6C34878D82A}">
                    <a16:rowId xmlns="" xmlns:a16="http://schemas.microsoft.com/office/drawing/2014/main" val="10000"/>
                  </a:ext>
                </a:extLst>
              </a:tr>
              <a:tr h="278130">
                <a:tc>
                  <a:txBody>
                    <a:bodyPr/>
                    <a:lstStyle/>
                    <a:p>
                      <a:pPr algn="ctr"/>
                      <a:r>
                        <a:rPr lang="en-US" sz="1200" dirty="0">
                          <a:solidFill>
                            <a:schemeClr val="bg2"/>
                          </a:solidFill>
                          <a:latin typeface="Century Gothic" panose="020B0502020202020204" pitchFamily="34" charset="0"/>
                        </a:rPr>
                        <a:t>w/ gold events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sz="1200" dirty="0">
                          <a:solidFill>
                            <a:schemeClr val="bg2"/>
                          </a:solidFill>
                          <a:latin typeface="Century Gothic" panose="020B0502020202020204" pitchFamily="34" charset="0"/>
                        </a:rPr>
                        <a:t>low 50’s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0001"/>
                  </a:ext>
                </a:extLst>
              </a:tr>
              <a:tr h="278130">
                <a:tc>
                  <a:txBody>
                    <a:bodyPr/>
                    <a:lstStyle/>
                    <a:p>
                      <a:pPr algn="ctr"/>
                      <a:r>
                        <a:rPr lang="en-US" sz="1200" baseline="0" dirty="0">
                          <a:solidFill>
                            <a:schemeClr val="bg2"/>
                          </a:solidFill>
                          <a:latin typeface="Century Gothic" panose="020B0502020202020204" pitchFamily="34" charset="0"/>
                        </a:rPr>
                        <a:t>w/o gold events</a:t>
                      </a:r>
                      <a:endParaRPr lang="en-US" sz="1200"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sz="1200" dirty="0">
                          <a:solidFill>
                            <a:schemeClr val="bg2"/>
                          </a:solidFill>
                          <a:latin typeface="Century Gothic" panose="020B0502020202020204" pitchFamily="34" charset="0"/>
                        </a:rPr>
                        <a:t>low 30’s</a:t>
                      </a: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9" name="TextBox 8">
            <a:extLst>
              <a:ext uri="{FF2B5EF4-FFF2-40B4-BE49-F238E27FC236}">
                <a16:creationId xmlns="" xmlns:a16="http://schemas.microsoft.com/office/drawing/2014/main" id="{1A5E9810-C158-724E-9638-99D60BA01912}"/>
              </a:ext>
            </a:extLst>
          </p:cNvPr>
          <p:cNvSpPr txBox="1"/>
          <p:nvPr/>
        </p:nvSpPr>
        <p:spPr>
          <a:xfrm>
            <a:off x="228600" y="1316754"/>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Interrelated events</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0" name="TextBox 9">
            <a:extLst>
              <a:ext uri="{FF2B5EF4-FFF2-40B4-BE49-F238E27FC236}">
                <a16:creationId xmlns="" xmlns:a16="http://schemas.microsoft.com/office/drawing/2014/main" id="{1DEB2E57-E691-EF44-8F7E-F2C288515831}"/>
              </a:ext>
            </a:extLst>
          </p:cNvPr>
          <p:cNvSpPr txBox="1"/>
          <p:nvPr/>
        </p:nvSpPr>
        <p:spPr>
          <a:xfrm>
            <a:off x="228600" y="2848226"/>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Lack of prior knowledge</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1" name="TextBox 10">
            <a:extLst>
              <a:ext uri="{FF2B5EF4-FFF2-40B4-BE49-F238E27FC236}">
                <a16:creationId xmlns="" xmlns:a16="http://schemas.microsoft.com/office/drawing/2014/main" id="{0A241475-E0BE-1D43-BB87-371438F9856A}"/>
              </a:ext>
            </a:extLst>
          </p:cNvPr>
          <p:cNvSpPr txBox="1"/>
          <p:nvPr/>
        </p:nvSpPr>
        <p:spPr>
          <a:xfrm>
            <a:off x="228600" y="4379698"/>
            <a:ext cx="7772400" cy="461665"/>
          </a:xfrm>
          <a:prstGeom prst="rect">
            <a:avLst/>
          </a:prstGeom>
          <a:noFill/>
        </p:spPr>
        <p:txBody>
          <a:bodyPr wrap="square" rtlCol="0">
            <a:spAutoFit/>
          </a:bodyPr>
          <a:lstStyle/>
          <a:p>
            <a:pPr lvl="0"/>
            <a:r>
              <a:rPr lang="en-US" sz="2400" dirty="0">
                <a:solidFill>
                  <a:schemeClr val="bg2"/>
                </a:solidFill>
                <a:latin typeface="Century Gothic" panose="020B0502020202020204" pitchFamily="34" charset="0"/>
              </a:rPr>
              <a:t>Insufficient data</a:t>
            </a:r>
            <a:endParaRPr lang="en-US" sz="2400" dirty="0">
              <a:solidFill>
                <a:schemeClr val="bg2"/>
              </a:solidFill>
              <a:latin typeface="Century Gothic" panose="020B0502020202020204" pitchFamily="34" charset="0"/>
              <a:cs typeface="Calibri" panose="020F0502020204030204" pitchFamily="34" charset="0"/>
            </a:endParaRPr>
          </a:p>
        </p:txBody>
      </p:sp>
      <p:sp>
        <p:nvSpPr>
          <p:cNvPr id="13" name="TextBox 12">
            <a:extLst>
              <a:ext uri="{FF2B5EF4-FFF2-40B4-BE49-F238E27FC236}">
                <a16:creationId xmlns="" xmlns:a16="http://schemas.microsoft.com/office/drawing/2014/main" id="{40B11065-091C-6A4B-97EF-151636C887DE}"/>
              </a:ext>
            </a:extLst>
          </p:cNvPr>
          <p:cNvSpPr txBox="1"/>
          <p:nvPr/>
        </p:nvSpPr>
        <p:spPr>
          <a:xfrm>
            <a:off x="228600" y="1706684"/>
            <a:ext cx="4756192" cy="707886"/>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If A&lt;B and B&lt;C, then A&lt;C </a:t>
            </a:r>
            <a:r>
              <a:rPr lang="en-US" sz="2000" dirty="0" smtClean="0">
                <a:solidFill>
                  <a:schemeClr val="bg2">
                    <a:lumMod val="75000"/>
                    <a:lumOff val="25000"/>
                  </a:schemeClr>
                </a:solidFill>
                <a:latin typeface="Century Gothic" panose="020B0502020202020204" pitchFamily="34" charset="0"/>
                <a:cs typeface="Calibri" panose="020F0502020204030204" pitchFamily="34" charset="0"/>
              </a:rPr>
              <a:t>(time is transitive)</a:t>
            </a:r>
            <a:endParaRPr lang="en-US" sz="2000" dirty="0">
              <a:solidFill>
                <a:schemeClr val="bg2">
                  <a:lumMod val="75000"/>
                  <a:lumOff val="25000"/>
                </a:schemeClr>
              </a:solidFill>
              <a:latin typeface="Century Gothic" panose="020B0502020202020204" pitchFamily="34" charset="0"/>
              <a:cs typeface="Calibri" panose="020F0502020204030204" pitchFamily="34" charset="0"/>
            </a:endParaRPr>
          </a:p>
        </p:txBody>
      </p:sp>
      <p:sp>
        <p:nvSpPr>
          <p:cNvPr id="14" name="TextBox 13">
            <a:extLst>
              <a:ext uri="{FF2B5EF4-FFF2-40B4-BE49-F238E27FC236}">
                <a16:creationId xmlns="" xmlns:a16="http://schemas.microsoft.com/office/drawing/2014/main" id="{6A2E617E-A733-174E-B4DA-0BE58280A520}"/>
              </a:ext>
            </a:extLst>
          </p:cNvPr>
          <p:cNvSpPr txBox="1"/>
          <p:nvPr/>
        </p:nvSpPr>
        <p:spPr>
          <a:xfrm>
            <a:off x="228601" y="3274845"/>
            <a:ext cx="5105399" cy="1015663"/>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Humans have the common sense </a:t>
            </a:r>
            <a:r>
              <a:rPr lang="en-US" sz="2000" dirty="0" smtClean="0">
                <a:solidFill>
                  <a:schemeClr val="bg2">
                    <a:lumMod val="75000"/>
                    <a:lumOff val="25000"/>
                  </a:schemeClr>
                </a:solidFill>
                <a:latin typeface="Century Gothic" panose="020B0502020202020204" pitchFamily="34" charset="0"/>
                <a:cs typeface="Calibri" panose="020F0502020204030204" pitchFamily="34" charset="0"/>
              </a:rPr>
              <a:t>about the </a:t>
            </a:r>
            <a:r>
              <a:rPr lang="en-US" sz="2000" dirty="0">
                <a:solidFill>
                  <a:schemeClr val="bg2">
                    <a:lumMod val="75000"/>
                    <a:lumOff val="25000"/>
                  </a:schemeClr>
                </a:solidFill>
                <a:latin typeface="Century Gothic" panose="020B0502020202020204" pitchFamily="34" charset="0"/>
                <a:cs typeface="Calibri" panose="020F0502020204030204" pitchFamily="34" charset="0"/>
              </a:rPr>
              <a:t>typical orders of events, even if a sentence doesn’t say so</a:t>
            </a:r>
            <a:endParaRPr lang="en-US" sz="2000" i="1" dirty="0">
              <a:solidFill>
                <a:schemeClr val="bg2">
                  <a:lumMod val="75000"/>
                  <a:lumOff val="25000"/>
                </a:schemeClr>
              </a:solidFill>
              <a:latin typeface="Century Gothic" panose="020B0502020202020204" pitchFamily="34" charset="0"/>
              <a:cs typeface="Calibri" panose="020F0502020204030204" pitchFamily="34" charset="0"/>
            </a:endParaRPr>
          </a:p>
        </p:txBody>
      </p:sp>
      <p:sp>
        <p:nvSpPr>
          <p:cNvPr id="15" name="TextBox 14">
            <a:extLst>
              <a:ext uri="{FF2B5EF4-FFF2-40B4-BE49-F238E27FC236}">
                <a16:creationId xmlns="" xmlns:a16="http://schemas.microsoft.com/office/drawing/2014/main" id="{88DE9458-FAA8-DF42-8C6B-F9BC4928D10A}"/>
              </a:ext>
            </a:extLst>
          </p:cNvPr>
          <p:cNvSpPr txBox="1"/>
          <p:nvPr/>
        </p:nvSpPr>
        <p:spPr>
          <a:xfrm>
            <a:off x="228600" y="4760698"/>
            <a:ext cx="5486400" cy="400110"/>
          </a:xfrm>
          <a:prstGeom prst="rect">
            <a:avLst/>
          </a:prstGeom>
          <a:noFill/>
        </p:spPr>
        <p:txBody>
          <a:bodyPr wrap="square" rtlCol="0">
            <a:spAutoFit/>
          </a:bodyPr>
          <a:lstStyle/>
          <a:p>
            <a:pPr lvl="1">
              <a:spcBef>
                <a:spcPct val="20000"/>
              </a:spcBef>
              <a:buClr>
                <a:schemeClr val="bg2"/>
              </a:buClr>
              <a:buSzPct val="65000"/>
            </a:pPr>
            <a:r>
              <a:rPr lang="en-US" sz="2000" dirty="0">
                <a:solidFill>
                  <a:schemeClr val="bg2">
                    <a:lumMod val="75000"/>
                    <a:lumOff val="25000"/>
                  </a:schemeClr>
                </a:solidFill>
                <a:latin typeface="Century Gothic" panose="020B0502020202020204" pitchFamily="34" charset="0"/>
                <a:cs typeface="Calibri" panose="020F0502020204030204" pitchFamily="34" charset="0"/>
              </a:rPr>
              <a:t>#edges is quadratic in terms of #nodes</a:t>
            </a:r>
          </a:p>
        </p:txBody>
      </p:sp>
      <p:sp>
        <p:nvSpPr>
          <p:cNvPr id="23" name="TextBox 22">
            <a:extLst>
              <a:ext uri="{FF2B5EF4-FFF2-40B4-BE49-F238E27FC236}">
                <a16:creationId xmlns="" xmlns:a16="http://schemas.microsoft.com/office/drawing/2014/main" id="{A1EEFF12-CB24-5C46-97C3-7EAFCAF591C9}"/>
              </a:ext>
            </a:extLst>
          </p:cNvPr>
          <p:cNvSpPr txBox="1"/>
          <p:nvPr/>
        </p:nvSpPr>
        <p:spPr>
          <a:xfrm>
            <a:off x="5715000" y="1310843"/>
            <a:ext cx="3657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Structured learning</a:t>
            </a:r>
          </a:p>
        </p:txBody>
      </p:sp>
      <p:sp>
        <p:nvSpPr>
          <p:cNvPr id="24" name="TextBox 23">
            <a:extLst>
              <a:ext uri="{FF2B5EF4-FFF2-40B4-BE49-F238E27FC236}">
                <a16:creationId xmlns="" xmlns:a16="http://schemas.microsoft.com/office/drawing/2014/main" id="{844E813A-3E96-6444-A4A4-F314844CA29E}"/>
              </a:ext>
            </a:extLst>
          </p:cNvPr>
          <p:cNvSpPr txBox="1"/>
          <p:nvPr/>
        </p:nvSpPr>
        <p:spPr>
          <a:xfrm>
            <a:off x="5715000" y="2879004"/>
            <a:ext cx="3657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Common sense</a:t>
            </a:r>
          </a:p>
        </p:txBody>
      </p:sp>
      <p:sp>
        <p:nvSpPr>
          <p:cNvPr id="25" name="TextBox 24">
            <a:extLst>
              <a:ext uri="{FF2B5EF4-FFF2-40B4-BE49-F238E27FC236}">
                <a16:creationId xmlns="" xmlns:a16="http://schemas.microsoft.com/office/drawing/2014/main" id="{4958F66E-BF6B-6F40-B170-C542A7D0D288}"/>
              </a:ext>
            </a:extLst>
          </p:cNvPr>
          <p:cNvSpPr txBox="1"/>
          <p:nvPr/>
        </p:nvSpPr>
        <p:spPr>
          <a:xfrm>
            <a:off x="5715000" y="4333288"/>
            <a:ext cx="3276600" cy="461665"/>
          </a:xfrm>
          <a:prstGeom prst="rect">
            <a:avLst/>
          </a:prstGeom>
          <a:noFill/>
        </p:spPr>
        <p:txBody>
          <a:bodyPr wrap="square" rtlCol="0">
            <a:spAutoFit/>
          </a:bodyPr>
          <a:lstStyle/>
          <a:p>
            <a:pPr lvl="1">
              <a:spcBef>
                <a:spcPct val="20000"/>
              </a:spcBef>
              <a:buClr>
                <a:srgbClr val="400080"/>
              </a:buClr>
              <a:buSzPct val="65000"/>
            </a:pPr>
            <a:r>
              <a:rPr lang="en-US" sz="2400" dirty="0">
                <a:solidFill>
                  <a:srgbClr val="6881B4"/>
                </a:solidFill>
                <a:latin typeface="Century Gothic" panose="020B0502020202020204" pitchFamily="34" charset="0"/>
              </a:rPr>
              <a:t>Data annotation</a:t>
            </a:r>
          </a:p>
        </p:txBody>
      </p:sp>
      <p:graphicFrame>
        <p:nvGraphicFramePr>
          <p:cNvPr id="19" name="Table 18">
            <a:extLst>
              <a:ext uri="{FF2B5EF4-FFF2-40B4-BE49-F238E27FC236}">
                <a16:creationId xmlns="" xmlns:a16="http://schemas.microsoft.com/office/drawing/2014/main" id="{C4099257-CAEA-6E49-AB0F-2B8B29891ED3}"/>
              </a:ext>
            </a:extLst>
          </p:cNvPr>
          <p:cNvGraphicFramePr>
            <a:graphicFrameLocks noGrp="1"/>
          </p:cNvGraphicFramePr>
          <p:nvPr>
            <p:extLst/>
          </p:nvPr>
        </p:nvGraphicFramePr>
        <p:xfrm>
          <a:off x="5181600" y="5607664"/>
          <a:ext cx="871305" cy="990600"/>
        </p:xfrm>
        <a:graphic>
          <a:graphicData uri="http://schemas.openxmlformats.org/drawingml/2006/table">
            <a:tbl>
              <a:tblPr firstRow="1" bandRow="1">
                <a:tableStyleId>{2D5ABB26-0587-4C30-8999-92F81FD0307C}</a:tableStyleId>
              </a:tblPr>
              <a:tblGrid>
                <a:gridCol w="871305">
                  <a:extLst>
                    <a:ext uri="{9D8B030D-6E8A-4147-A177-3AD203B41FA5}">
                      <a16:colId xmlns="" xmlns:a16="http://schemas.microsoft.com/office/drawing/2014/main" val="20001"/>
                    </a:ext>
                  </a:extLst>
                </a:gridCol>
              </a:tblGrid>
              <a:tr h="278130">
                <a:tc>
                  <a:txBody>
                    <a:bodyPr/>
                    <a:lstStyle/>
                    <a:p>
                      <a:pPr algn="ctr"/>
                      <a:r>
                        <a:rPr lang="en-US" sz="1200" dirty="0">
                          <a:solidFill>
                            <a:schemeClr val="bg2"/>
                          </a:solidFill>
                          <a:latin typeface="Century Gothic" panose="020B0502020202020204" pitchFamily="34" charset="0"/>
                        </a:rPr>
                        <a:t>Our F1</a:t>
                      </a:r>
                      <a:r>
                        <a:rPr lang="en-US" sz="1200" baseline="0" dirty="0">
                          <a:solidFill>
                            <a:schemeClr val="bg2"/>
                          </a:solidFill>
                          <a:latin typeface="Century Gothic" panose="020B0502020202020204" pitchFamily="34" charset="0"/>
                        </a:rPr>
                        <a:t> (</a:t>
                      </a:r>
                      <a:r>
                        <a:rPr lang="en-US" sz="1200" dirty="0">
                          <a:solidFill>
                            <a:schemeClr val="bg2"/>
                          </a:solidFill>
                          <a:latin typeface="Century Gothic" panose="020B0502020202020204" pitchFamily="34" charset="0"/>
                        </a:rPr>
                        <a:t>%)</a:t>
                      </a:r>
                    </a:p>
                  </a:txBody>
                  <a:tcPr marL="68580" marR="68580" marT="34290" marB="3429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6078"/>
                      </a:srgbClr>
                    </a:solidFill>
                  </a:tcPr>
                </a:tc>
                <a:extLst>
                  <a:ext uri="{0D108BD9-81ED-4DB2-BD59-A6C34878D82A}">
                    <a16:rowId xmlns="" xmlns:a16="http://schemas.microsoft.com/office/drawing/2014/main" val="10000"/>
                  </a:ext>
                </a:extLst>
              </a:tr>
              <a:tr h="278130">
                <a:tc>
                  <a:txBody>
                    <a:bodyPr/>
                    <a:lstStyle/>
                    <a:p>
                      <a:pPr algn="ctr"/>
                      <a:r>
                        <a:rPr lang="en-US" sz="1200" dirty="0">
                          <a:solidFill>
                            <a:schemeClr val="bg2"/>
                          </a:solidFill>
                          <a:latin typeface="Century Gothic" panose="020B0502020202020204" pitchFamily="34" charset="0"/>
                        </a:rPr>
                        <a:t>70’s</a:t>
                      </a:r>
                      <a:endParaRPr lang="en-US" sz="1200" b="1"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0001"/>
                  </a:ext>
                </a:extLst>
              </a:tr>
              <a:tr h="278130">
                <a:tc>
                  <a:txBody>
                    <a:bodyPr/>
                    <a:lstStyle/>
                    <a:p>
                      <a:pPr algn="ctr"/>
                      <a:r>
                        <a:rPr lang="en-US" sz="1200" dirty="0">
                          <a:solidFill>
                            <a:schemeClr val="bg2"/>
                          </a:solidFill>
                          <a:latin typeface="Century Gothic" panose="020B0502020202020204" pitchFamily="34" charset="0"/>
                        </a:rPr>
                        <a:t>50’s</a:t>
                      </a:r>
                      <a:endParaRPr lang="en-US" sz="1200" b="1" dirty="0">
                        <a:solidFill>
                          <a:schemeClr val="bg2"/>
                        </a:solidFill>
                        <a:latin typeface="Century Gothic" panose="020B0502020202020204" pitchFamily="34" charset="0"/>
                      </a:endParaRPr>
                    </a:p>
                  </a:txBody>
                  <a:tcPr marL="68580" marR="68580" marT="34290" marB="3429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3" name="Rectangle 2"/>
          <p:cNvSpPr/>
          <p:nvPr/>
        </p:nvSpPr>
        <p:spPr>
          <a:xfrm>
            <a:off x="5219699" y="5546993"/>
            <a:ext cx="795105" cy="1111941"/>
          </a:xfrm>
          <a:prstGeom prst="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entury Gothic" panose="020B0502020202020204" pitchFamily="34" charset="0"/>
            </a:endParaRPr>
          </a:p>
        </p:txBody>
      </p:sp>
      <p:sp>
        <p:nvSpPr>
          <p:cNvPr id="20" name="Title 1">
            <a:extLst>
              <a:ext uri="{FF2B5EF4-FFF2-40B4-BE49-F238E27FC236}">
                <a16:creationId xmlns="" xmlns:a16="http://schemas.microsoft.com/office/drawing/2014/main" id="{032028E2-1C92-354A-BFA8-AB98B5E4DD61}"/>
              </a:ext>
            </a:extLst>
          </p:cNvPr>
          <p:cNvSpPr txBox="1">
            <a:spLocks/>
          </p:cNvSpPr>
          <p:nvPr/>
        </p:nvSpPr>
        <p:spPr bwMode="auto">
          <a:xfrm>
            <a:off x="6127792" y="300732"/>
            <a:ext cx="2374815" cy="533400"/>
          </a:xfrm>
          <a:prstGeom prst="roundRect">
            <a:avLst/>
          </a:prstGeom>
          <a:noFill/>
          <a:ln w="12700">
            <a:solidFill>
              <a:srgbClr val="6881B4"/>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2400" b="0" kern="1200" cap="small" baseline="0">
                <a:solidFill>
                  <a:srgbClr val="A7001B"/>
                </a:solidFill>
                <a:latin typeface="Calibri" panose="020F050202020403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cap="none" dirty="0">
                <a:solidFill>
                  <a:srgbClr val="6881B4"/>
                </a:solidFill>
                <a:latin typeface="Century Gothic" panose="020B0502020202020204" pitchFamily="34" charset="0"/>
              </a:rPr>
              <a:t>My solutions</a:t>
            </a:r>
          </a:p>
        </p:txBody>
      </p:sp>
    </p:spTree>
    <p:extLst>
      <p:ext uri="{BB962C8B-B14F-4D97-AF65-F5344CB8AC3E}">
        <p14:creationId xmlns:p14="http://schemas.microsoft.com/office/powerpoint/2010/main" val="2914770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iterate type="lt">
                                    <p:tmPct val="0"/>
                                  </p:iterate>
                                  <p:childTnLst>
                                    <p:set>
                                      <p:cBhvr>
                                        <p:cTn id="6" dur="1" fill="hold">
                                          <p:stCondLst>
                                            <p:cond delay="0"/>
                                          </p:stCondLst>
                                        </p:cTn>
                                        <p:tgtEl>
                                          <p:spTgt spid="13">
                                            <p:txEl>
                                              <p:pRg st="0" end="0"/>
                                            </p:txEl>
                                          </p:spTgt>
                                        </p:tgtEl>
                                        <p:attrNameLst>
                                          <p:attrName>style.visibility</p:attrName>
                                        </p:attrNameLst>
                                      </p:cBhvr>
                                      <p:to>
                                        <p:strVal val="visible"/>
                                      </p:to>
                                    </p:set>
                                    <p:animEffect transition="in" filter="dissolv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iterate type="lt">
                                    <p:tmPct val="0"/>
                                  </p:iterate>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dissolve">
                                      <p:cBhvr>
                                        <p:cTn id="12" dur="5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iterate type="lt">
                                    <p:tmPct val="0"/>
                                  </p:iterate>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dissolve">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par>
                                <p:cTn id="23" presetID="9" presetClass="emph" presetSubtype="0" grpId="1" nodeType="withEffect">
                                  <p:stCondLst>
                                    <p:cond delay="0"/>
                                  </p:stCondLst>
                                  <p:iterate type="lt">
                                    <p:tmAbs val="0"/>
                                  </p:iterate>
                                  <p:childTnLst>
                                    <p:set>
                                      <p:cBhvr>
                                        <p:cTn id="24" dur="indefinite"/>
                                        <p:tgtEl>
                                          <p:spTgt spid="13">
                                            <p:txEl>
                                              <p:pRg st="0" end="0"/>
                                            </p:txEl>
                                          </p:spTgt>
                                        </p:tgtEl>
                                        <p:attrNameLst>
                                          <p:attrName>style.opacity</p:attrName>
                                        </p:attrNameLst>
                                      </p:cBhvr>
                                      <p:to>
                                        <p:strVal val="0.5"/>
                                      </p:to>
                                    </p:set>
                                    <p:animEffect filter="image" prLst="opacity: 0.5">
                                      <p:cBhvr rctx="IE">
                                        <p:cTn id="25" dur="indefinite"/>
                                        <p:tgtEl>
                                          <p:spTgt spid="13">
                                            <p:txEl>
                                              <p:pRg st="0" end="0"/>
                                            </p:txEl>
                                          </p:spTgt>
                                        </p:tgtEl>
                                      </p:cBhvr>
                                    </p:animEffect>
                                  </p:childTnLst>
                                </p:cTn>
                              </p:par>
                              <p:par>
                                <p:cTn id="26" presetID="9" presetClass="emph" presetSubtype="0" grpId="1" nodeType="withEffect">
                                  <p:stCondLst>
                                    <p:cond delay="0"/>
                                  </p:stCondLst>
                                  <p:iterate type="lt">
                                    <p:tmAbs val="0"/>
                                  </p:iterate>
                                  <p:childTnLst>
                                    <p:set>
                                      <p:cBhvr>
                                        <p:cTn id="27" dur="indefinite"/>
                                        <p:tgtEl>
                                          <p:spTgt spid="14">
                                            <p:txEl>
                                              <p:pRg st="0" end="0"/>
                                            </p:txEl>
                                          </p:spTgt>
                                        </p:tgtEl>
                                        <p:attrNameLst>
                                          <p:attrName>style.opacity</p:attrName>
                                        </p:attrNameLst>
                                      </p:cBhvr>
                                      <p:to>
                                        <p:strVal val="0.5"/>
                                      </p:to>
                                    </p:set>
                                    <p:animEffect filter="image" prLst="opacity: 0.5">
                                      <p:cBhvr rctx="IE">
                                        <p:cTn id="28" dur="indefinite"/>
                                        <p:tgtEl>
                                          <p:spTgt spid="14">
                                            <p:txEl>
                                              <p:pRg st="0" end="0"/>
                                            </p:txEl>
                                          </p:spTgt>
                                        </p:tgtEl>
                                      </p:cBhvr>
                                    </p:animEffect>
                                  </p:childTnLst>
                                </p:cTn>
                              </p:par>
                              <p:par>
                                <p:cTn id="29" presetID="9" presetClass="emph" presetSubtype="0" grpId="1" nodeType="withEffect">
                                  <p:stCondLst>
                                    <p:cond delay="0"/>
                                  </p:stCondLst>
                                  <p:iterate type="lt">
                                    <p:tmAbs val="0"/>
                                  </p:iterate>
                                  <p:childTnLst>
                                    <p:set>
                                      <p:cBhvr>
                                        <p:cTn id="30" dur="indefinite"/>
                                        <p:tgtEl>
                                          <p:spTgt spid="15">
                                            <p:txEl>
                                              <p:pRg st="0" end="0"/>
                                            </p:txEl>
                                          </p:spTgt>
                                        </p:tgtEl>
                                        <p:attrNameLst>
                                          <p:attrName>style.opacity</p:attrName>
                                        </p:attrNameLst>
                                      </p:cBhvr>
                                      <p:to>
                                        <p:strVal val="0.5"/>
                                      </p:to>
                                    </p:set>
                                    <p:animEffect filter="image" prLst="opacity: 0.5">
                                      <p:cBhvr rctx="IE">
                                        <p:cTn id="31" dur="indefinite"/>
                                        <p:tgtEl>
                                          <p:spTgt spid="15">
                                            <p:txEl>
                                              <p:pRg st="0" end="0"/>
                                            </p:txEl>
                                          </p:spTgt>
                                        </p:tgtEl>
                                      </p:cBhvr>
                                    </p:animEffect>
                                  </p:childTnLst>
                                </p:cTn>
                              </p:par>
                            </p:childTnLst>
                          </p:cTn>
                        </p:par>
                        <p:par>
                          <p:cTn id="32" fill="hold">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linds(horizontal)">
                                      <p:cBhvr>
                                        <p:cTn id="35" dur="500"/>
                                        <p:tgtEl>
                                          <p:spTgt spid="23"/>
                                        </p:tgtEl>
                                      </p:cBhvr>
                                    </p:animEffect>
                                  </p:childTnLst>
                                </p:cTn>
                              </p:par>
                            </p:childTnLst>
                          </p:cTn>
                        </p:par>
                        <p:par>
                          <p:cTn id="36" fill="hold">
                            <p:stCondLst>
                              <p:cond delay="1000"/>
                            </p:stCondLst>
                            <p:childTnLst>
                              <p:par>
                                <p:cTn id="37" presetID="3" presetClass="entr" presetSubtype="10" fill="hold" grpId="0"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blinds(horizontal)">
                                      <p:cBhvr>
                                        <p:cTn id="39" dur="500"/>
                                        <p:tgtEl>
                                          <p:spTgt spid="24"/>
                                        </p:tgtEl>
                                      </p:cBhvr>
                                    </p:animEffect>
                                  </p:childTnLst>
                                </p:cTn>
                              </p:par>
                            </p:childTnLst>
                          </p:cTn>
                        </p:par>
                        <p:par>
                          <p:cTn id="40" fill="hold">
                            <p:stCondLst>
                              <p:cond delay="1500"/>
                            </p:stCondLst>
                            <p:childTnLst>
                              <p:par>
                                <p:cTn id="41" presetID="3" presetClass="entr" presetSubtype="1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linds(horizontal)">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left)">
                                      <p:cBhvr>
                                        <p:cTn id="48" dur="500"/>
                                        <p:tgtEl>
                                          <p:spTgt spid="19"/>
                                        </p:tgtEl>
                                      </p:cBhvr>
                                    </p:animEffect>
                                  </p:childTnLst>
                                </p:cTn>
                              </p:par>
                            </p:childTnLst>
                          </p:cTn>
                        </p:par>
                        <p:par>
                          <p:cTn id="49" fill="hold">
                            <p:stCondLst>
                              <p:cond delay="500"/>
                            </p:stCondLst>
                            <p:childTnLst>
                              <p:par>
                                <p:cTn id="50" presetID="9" presetClass="entr" presetSubtype="0" fill="hold" grpId="0"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bldLvl="2"/>
      <p:bldP spid="13" grpId="1" build="allAtOnce"/>
      <p:bldP spid="14" grpId="0" uiExpand="1" build="p" bldLvl="2"/>
      <p:bldP spid="14" grpId="1" build="allAtOnce"/>
      <p:bldP spid="15" grpId="0" uiExpand="1" build="p" bldLvl="2"/>
      <p:bldP spid="15" grpId="1" build="allAtOnce"/>
      <p:bldP spid="23" grpId="0"/>
      <p:bldP spid="24" grpId="0"/>
      <p:bldP spid="25" grpId="0"/>
      <p:bldP spid="3"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a:extLst>
              <a:ext uri="{FF2B5EF4-FFF2-40B4-BE49-F238E27FC236}">
                <a16:creationId xmlns="" xmlns:a16="http://schemas.microsoft.com/office/drawing/2014/main" id="{61A3B486-AB62-FA4F-86D2-A8C42B5F4220}"/>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8" name="Freeform 17">
            <a:extLst>
              <a:ext uri="{FF2B5EF4-FFF2-40B4-BE49-F238E27FC236}">
                <a16:creationId xmlns="" xmlns:a16="http://schemas.microsoft.com/office/drawing/2014/main" id="{90713598-516B-E844-B1F8-76B264DE9634}"/>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7" name="Freeform 16">
            <a:extLst>
              <a:ext uri="{FF2B5EF4-FFF2-40B4-BE49-F238E27FC236}">
                <a16:creationId xmlns="" xmlns:a16="http://schemas.microsoft.com/office/drawing/2014/main" id="{D2E47F3F-1B36-A440-A6B3-C95DFE1F6B8E}"/>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6" name="Freeform 15">
            <a:extLst>
              <a:ext uri="{FF2B5EF4-FFF2-40B4-BE49-F238E27FC236}">
                <a16:creationId xmlns="" xmlns:a16="http://schemas.microsoft.com/office/drawing/2014/main" id="{D7DAC120-F2AE-9E42-91AD-D367A20D62A6}"/>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5" name="Freeform 14">
            <a:extLst>
              <a:ext uri="{FF2B5EF4-FFF2-40B4-BE49-F238E27FC236}">
                <a16:creationId xmlns="" xmlns:a16="http://schemas.microsoft.com/office/drawing/2014/main" id="{04B09D7B-0C2C-B04A-B53B-43E0E3647E0A}"/>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4" name="Freeform 13">
            <a:extLst>
              <a:ext uri="{FF2B5EF4-FFF2-40B4-BE49-F238E27FC236}">
                <a16:creationId xmlns="" xmlns:a16="http://schemas.microsoft.com/office/drawing/2014/main" id="{C17A06CB-AE38-924C-A9B4-FE69C1A3EAFE}"/>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3" name="Freeform 12">
            <a:extLst>
              <a:ext uri="{FF2B5EF4-FFF2-40B4-BE49-F238E27FC236}">
                <a16:creationId xmlns="" xmlns:a16="http://schemas.microsoft.com/office/drawing/2014/main" id="{F86028A8-0EA2-224F-BC9E-979373BCB94B}"/>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20" name="TextBox 19">
            <a:extLst>
              <a:ext uri="{FF2B5EF4-FFF2-40B4-BE49-F238E27FC236}">
                <a16:creationId xmlns="" xmlns:a16="http://schemas.microsoft.com/office/drawing/2014/main" id="{9C21D07F-E337-F842-95C9-56B9E450B34B}"/>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22" name="Picture 21" descr="A close up of a logo&#10;&#10;Description automatically generated">
            <a:extLst>
              <a:ext uri="{FF2B5EF4-FFF2-40B4-BE49-F238E27FC236}">
                <a16:creationId xmlns="" xmlns:a16="http://schemas.microsoft.com/office/drawing/2014/main" id="{1C1CFDDB-C8DA-2746-BB81-A44B3B7312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24" name="Picture 23" descr="A close up of a logo&#10;&#10;Description automatically generated">
            <a:extLst>
              <a:ext uri="{FF2B5EF4-FFF2-40B4-BE49-F238E27FC236}">
                <a16:creationId xmlns="" xmlns:a16="http://schemas.microsoft.com/office/drawing/2014/main" id="{64C7EC8F-061A-1440-9487-99937D22249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25" name="TextBox 24">
            <a:extLst>
              <a:ext uri="{FF2B5EF4-FFF2-40B4-BE49-F238E27FC236}">
                <a16:creationId xmlns="" xmlns:a16="http://schemas.microsoft.com/office/drawing/2014/main" id="{0DD8974F-3312-314A-BE72-1C11FFD8A314}"/>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27" name="Picture 26" descr="A close up of a logo&#10;&#10;Description automatically generated">
            <a:extLst>
              <a:ext uri="{FF2B5EF4-FFF2-40B4-BE49-F238E27FC236}">
                <a16:creationId xmlns="" xmlns:a16="http://schemas.microsoft.com/office/drawing/2014/main" id="{60B8FB75-539A-0840-ADE8-6A45256547C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28" name="TextBox 27">
            <a:extLst>
              <a:ext uri="{FF2B5EF4-FFF2-40B4-BE49-F238E27FC236}">
                <a16:creationId xmlns="" xmlns:a16="http://schemas.microsoft.com/office/drawing/2014/main" id="{B970778E-FE0E-C747-9F3B-2C496E425066}"/>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29" name="TextBox 28">
            <a:extLst>
              <a:ext uri="{FF2B5EF4-FFF2-40B4-BE49-F238E27FC236}">
                <a16:creationId xmlns="" xmlns:a16="http://schemas.microsoft.com/office/drawing/2014/main"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 SEM’18</a:t>
            </a:r>
          </a:p>
        </p:txBody>
      </p:sp>
      <p:sp>
        <p:nvSpPr>
          <p:cNvPr id="30" name="TextBox 29">
            <a:extLst>
              <a:ext uri="{FF2B5EF4-FFF2-40B4-BE49-F238E27FC236}">
                <a16:creationId xmlns="" xmlns:a16="http://schemas.microsoft.com/office/drawing/2014/main" id="{C7C5F252-B7A8-654D-B626-DAB47965C335}"/>
              </a:ext>
            </a:extLst>
          </p:cNvPr>
          <p:cNvSpPr txBox="1"/>
          <p:nvPr/>
        </p:nvSpPr>
        <p:spPr>
          <a:xfrm>
            <a:off x="1389733" y="3772497"/>
            <a:ext cx="2393525" cy="1015662"/>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NAACL’18</a:t>
            </a:r>
          </a:p>
          <a:p>
            <a:endParaRPr lang="en-US" sz="2000" b="1" i="1" dirty="0">
              <a:solidFill>
                <a:schemeClr val="bg2"/>
              </a:solidFill>
              <a:latin typeface="Century Gothic" charset="0"/>
              <a:ea typeface="Century Gothic" charset="0"/>
              <a:cs typeface="Century Gothic" charset="0"/>
            </a:endParaRPr>
          </a:p>
          <a:p>
            <a:r>
              <a:rPr lang="en-US" sz="2000" b="1" i="1" dirty="0">
                <a:solidFill>
                  <a:schemeClr val="bg2"/>
                </a:solidFill>
                <a:latin typeface="Century Gothic" charset="0"/>
                <a:ea typeface="Century Gothic" charset="0"/>
                <a:cs typeface="Century Gothic" charset="0"/>
              </a:rPr>
              <a:t>1 in submission</a:t>
            </a:r>
          </a:p>
        </p:txBody>
      </p:sp>
      <p:sp>
        <p:nvSpPr>
          <p:cNvPr id="31" name="TextBox 30">
            <a:extLst>
              <a:ext uri="{FF2B5EF4-FFF2-40B4-BE49-F238E27FC236}">
                <a16:creationId xmlns="" xmlns:a16="http://schemas.microsoft.com/office/drawing/2014/main" id="{152E3D12-708D-1045-A3D0-C2E3342C900B}"/>
              </a:ext>
            </a:extLst>
          </p:cNvPr>
          <p:cNvSpPr txBox="1"/>
          <p:nvPr/>
        </p:nvSpPr>
        <p:spPr>
          <a:xfrm>
            <a:off x="6032627" y="4208480"/>
            <a:ext cx="1630616" cy="400110"/>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ACL’18 (b)</a:t>
            </a:r>
          </a:p>
        </p:txBody>
      </p:sp>
      <p:sp>
        <p:nvSpPr>
          <p:cNvPr id="32" name="TextBox 31">
            <a:extLst>
              <a:ext uri="{FF2B5EF4-FFF2-40B4-BE49-F238E27FC236}">
                <a16:creationId xmlns="" xmlns:a16="http://schemas.microsoft.com/office/drawing/2014/main" id="{1E37F1DA-F15A-5D4C-B81B-595B5E239EF6}"/>
              </a:ext>
            </a:extLst>
          </p:cNvPr>
          <p:cNvSpPr txBox="1"/>
          <p:nvPr/>
        </p:nvSpPr>
        <p:spPr>
          <a:xfrm>
            <a:off x="2881001" y="2779517"/>
            <a:ext cx="1376099"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ACL’18 (a)</a:t>
            </a:r>
          </a:p>
        </p:txBody>
      </p:sp>
      <p:sp>
        <p:nvSpPr>
          <p:cNvPr id="33" name="TextBox 32">
            <a:extLst>
              <a:ext uri="{FF2B5EF4-FFF2-40B4-BE49-F238E27FC236}">
                <a16:creationId xmlns="" xmlns:a16="http://schemas.microsoft.com/office/drawing/2014/main" id="{345EBA8D-5333-284F-87D6-30DD64D51E54}"/>
              </a:ext>
            </a:extLst>
          </p:cNvPr>
          <p:cNvSpPr txBox="1"/>
          <p:nvPr/>
        </p:nvSpPr>
        <p:spPr>
          <a:xfrm>
            <a:off x="5074088" y="2731002"/>
            <a:ext cx="1452191"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NAACL’19</a:t>
            </a:r>
          </a:p>
        </p:txBody>
      </p:sp>
      <p:sp>
        <p:nvSpPr>
          <p:cNvPr id="34" name="TextBox 33">
            <a:extLst>
              <a:ext uri="{FF2B5EF4-FFF2-40B4-BE49-F238E27FC236}">
                <a16:creationId xmlns="" xmlns:a16="http://schemas.microsoft.com/office/drawing/2014/main" id="{783C3AE2-0F2B-5B43-81AE-4BE6C967A5D7}"/>
              </a:ext>
            </a:extLst>
          </p:cNvPr>
          <p:cNvSpPr txBox="1"/>
          <p:nvPr/>
        </p:nvSpPr>
        <p:spPr>
          <a:xfrm>
            <a:off x="4099912" y="3364507"/>
            <a:ext cx="1203677" cy="307777"/>
          </a:xfrm>
          <a:prstGeom prst="rect">
            <a:avLst/>
          </a:prstGeom>
          <a:noFill/>
        </p:spPr>
        <p:txBody>
          <a:bodyPr wrap="square" rtlCol="0">
            <a:spAutoFit/>
          </a:bodyPr>
          <a:lstStyle/>
          <a:p>
            <a:r>
              <a:rPr lang="en-US" sz="1400" b="1" i="1" dirty="0">
                <a:latin typeface="Century Gothic" charset="0"/>
                <a:ea typeface="Century Gothic" charset="0"/>
                <a:cs typeface="Century Gothic" charset="0"/>
              </a:rPr>
              <a:t>EMNLP’18</a:t>
            </a:r>
          </a:p>
        </p:txBody>
      </p:sp>
      <p:sp>
        <p:nvSpPr>
          <p:cNvPr id="35" name="TextBox 34">
            <a:extLst>
              <a:ext uri="{FF2B5EF4-FFF2-40B4-BE49-F238E27FC236}">
                <a16:creationId xmlns="" xmlns:a16="http://schemas.microsoft.com/office/drawing/2014/main" id="{FE6CE12C-489A-0B4F-AF45-26CE1E303C7B}"/>
              </a:ext>
            </a:extLst>
          </p:cNvPr>
          <p:cNvSpPr txBox="1"/>
          <p:nvPr/>
        </p:nvSpPr>
        <p:spPr>
          <a:xfrm>
            <a:off x="3899190" y="4446698"/>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36" name="TextBox 35">
            <a:extLst>
              <a:ext uri="{FF2B5EF4-FFF2-40B4-BE49-F238E27FC236}">
                <a16:creationId xmlns="" xmlns:a16="http://schemas.microsoft.com/office/drawing/2014/main"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Tree>
    <p:extLst>
      <p:ext uri="{BB962C8B-B14F-4D97-AF65-F5344CB8AC3E}">
        <p14:creationId xmlns:p14="http://schemas.microsoft.com/office/powerpoint/2010/main" val="2881521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1000"/>
                                        <p:tgtEl>
                                          <p:spTgt spid="32"/>
                                        </p:tgtEl>
                                      </p:cBhvr>
                                    </p:animEffect>
                                    <p:anim calcmode="lin" valueType="num">
                                      <p:cBhvr>
                                        <p:cTn id="24" dur="1000" fill="hold"/>
                                        <p:tgtEl>
                                          <p:spTgt spid="32"/>
                                        </p:tgtEl>
                                        <p:attrNameLst>
                                          <p:attrName>ppt_x</p:attrName>
                                        </p:attrNameLst>
                                      </p:cBhvr>
                                      <p:tavLst>
                                        <p:tav tm="0">
                                          <p:val>
                                            <p:strVal val="#ppt_x"/>
                                          </p:val>
                                        </p:tav>
                                        <p:tav tm="100000">
                                          <p:val>
                                            <p:strVal val="#ppt_x"/>
                                          </p:val>
                                        </p:tav>
                                      </p:tavLst>
                                    </p:anim>
                                    <p:anim calcmode="lin" valueType="num">
                                      <p:cBhvr>
                                        <p:cTn id="25" dur="1000" fill="hold"/>
                                        <p:tgtEl>
                                          <p:spTgt spid="32"/>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1000"/>
                                        <p:tgtEl>
                                          <p:spTgt spid="35"/>
                                        </p:tgtEl>
                                      </p:cBhvr>
                                    </p:animEffect>
                                    <p:anim calcmode="lin" valueType="num">
                                      <p:cBhvr>
                                        <p:cTn id="34" dur="1000" fill="hold"/>
                                        <p:tgtEl>
                                          <p:spTgt spid="35"/>
                                        </p:tgtEl>
                                        <p:attrNameLst>
                                          <p:attrName>ppt_x</p:attrName>
                                        </p:attrNameLst>
                                      </p:cBhvr>
                                      <p:tavLst>
                                        <p:tav tm="0">
                                          <p:val>
                                            <p:strVal val="#ppt_x"/>
                                          </p:val>
                                        </p:tav>
                                        <p:tav tm="100000">
                                          <p:val>
                                            <p:strVal val="#ppt_x"/>
                                          </p:val>
                                        </p:tav>
                                      </p:tavLst>
                                    </p:anim>
                                    <p:anim calcmode="lin" valueType="num">
                                      <p:cBhvr>
                                        <p:cTn id="35" dur="1000" fill="hold"/>
                                        <p:tgtEl>
                                          <p:spTgt spid="3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1000"/>
                                        <p:tgtEl>
                                          <p:spTgt spid="36"/>
                                        </p:tgtEl>
                                      </p:cBhvr>
                                    </p:animEffect>
                                    <p:anim calcmode="lin" valueType="num">
                                      <p:cBhvr>
                                        <p:cTn id="39" dur="1000" fill="hold"/>
                                        <p:tgtEl>
                                          <p:spTgt spid="36"/>
                                        </p:tgtEl>
                                        <p:attrNameLst>
                                          <p:attrName>ppt_x</p:attrName>
                                        </p:attrNameLst>
                                      </p:cBhvr>
                                      <p:tavLst>
                                        <p:tav tm="0">
                                          <p:val>
                                            <p:strVal val="#ppt_x"/>
                                          </p:val>
                                        </p:tav>
                                        <p:tav tm="100000">
                                          <p:val>
                                            <p:strVal val="#ppt_x"/>
                                          </p:val>
                                        </p:tav>
                                      </p:tavLst>
                                    </p:anim>
                                    <p:anim calcmode="lin" valueType="num">
                                      <p:cBhvr>
                                        <p:cTn id="40" dur="1000" fill="hold"/>
                                        <p:tgtEl>
                                          <p:spTgt spid="3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fade">
                                      <p:cBhvr>
                                        <p:cTn id="43" dur="1000"/>
                                        <p:tgtEl>
                                          <p:spTgt spid="34"/>
                                        </p:tgtEl>
                                      </p:cBhvr>
                                    </p:animEffect>
                                    <p:anim calcmode="lin" valueType="num">
                                      <p:cBhvr>
                                        <p:cTn id="44" dur="1000" fill="hold"/>
                                        <p:tgtEl>
                                          <p:spTgt spid="34"/>
                                        </p:tgtEl>
                                        <p:attrNameLst>
                                          <p:attrName>ppt_x</p:attrName>
                                        </p:attrNameLst>
                                      </p:cBhvr>
                                      <p:tavLst>
                                        <p:tav tm="0">
                                          <p:val>
                                            <p:strVal val="#ppt_x"/>
                                          </p:val>
                                        </p:tav>
                                        <p:tav tm="100000">
                                          <p:val>
                                            <p:strVal val="#ppt_x"/>
                                          </p:val>
                                        </p:tav>
                                      </p:tavLst>
                                    </p:anim>
                                    <p:anim calcmode="lin" valueType="num">
                                      <p:cBhvr>
                                        <p:cTn id="45"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P spid="35" grpId="0"/>
      <p:bldP spid="3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646331"/>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7" name="Freeform 6">
            <a:extLst>
              <a:ext uri="{FF2B5EF4-FFF2-40B4-BE49-F238E27FC236}">
                <a16:creationId xmlns="" xmlns:a16="http://schemas.microsoft.com/office/drawing/2014/main" id="{83400AEF-85EA-7B4C-8D53-44B4E99936D7}"/>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8" name="Freeform 7">
            <a:extLst>
              <a:ext uri="{FF2B5EF4-FFF2-40B4-BE49-F238E27FC236}">
                <a16:creationId xmlns="" xmlns:a16="http://schemas.microsoft.com/office/drawing/2014/main" id="{F3B5E4C5-CCD7-EA44-915F-7E291861564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9" name="Freeform 8">
            <a:extLst>
              <a:ext uri="{FF2B5EF4-FFF2-40B4-BE49-F238E27FC236}">
                <a16:creationId xmlns="" xmlns:a16="http://schemas.microsoft.com/office/drawing/2014/main" id="{DDF6EFEB-F338-0C41-A3F8-D29E7EEE2CE2}"/>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0" name="Freeform 9">
            <a:extLst>
              <a:ext uri="{FF2B5EF4-FFF2-40B4-BE49-F238E27FC236}">
                <a16:creationId xmlns="" xmlns:a16="http://schemas.microsoft.com/office/drawing/2014/main" id="{FA6647F9-1E57-3B41-9C07-019C1EAA9D3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1" name="Freeform 10">
            <a:extLst>
              <a:ext uri="{FF2B5EF4-FFF2-40B4-BE49-F238E27FC236}">
                <a16:creationId xmlns="" xmlns:a16="http://schemas.microsoft.com/office/drawing/2014/main" id="{6E9112B1-EC4A-854D-B296-C8D381E90E59}"/>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2" name="Freeform 11">
            <a:extLst>
              <a:ext uri="{FF2B5EF4-FFF2-40B4-BE49-F238E27FC236}">
                <a16:creationId xmlns="" xmlns:a16="http://schemas.microsoft.com/office/drawing/2014/main" id="{E1952D22-282C-4147-A2C7-BABEC250DF29}"/>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4" name="Freeform 13">
            <a:extLst>
              <a:ext uri="{FF2B5EF4-FFF2-40B4-BE49-F238E27FC236}">
                <a16:creationId xmlns="" xmlns:a16="http://schemas.microsoft.com/office/drawing/2014/main" id="{4E4B3FD1-5ED1-0146-9026-FE8CD53EC45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17" name="Picture 16" descr="A close up of a logo&#10;&#10;Description automatically generated">
            <a:extLst>
              <a:ext uri="{FF2B5EF4-FFF2-40B4-BE49-F238E27FC236}">
                <a16:creationId xmlns="" xmlns:a16="http://schemas.microsoft.com/office/drawing/2014/main" id="{165CA682-DBBA-274A-BF6C-67F04CA82BD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18" name="Picture 17" descr="A close up of a logo&#10;&#10;Description automatically generated">
            <a:extLst>
              <a:ext uri="{FF2B5EF4-FFF2-40B4-BE49-F238E27FC236}">
                <a16:creationId xmlns="" xmlns:a16="http://schemas.microsoft.com/office/drawing/2014/main" id="{2F9A737E-BC3D-FF46-960C-1D934C487BFC}"/>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20" name="Picture 19" descr="A close up of a logo&#10;&#10;Description automatically generated">
            <a:extLst>
              <a:ext uri="{FF2B5EF4-FFF2-40B4-BE49-F238E27FC236}">
                <a16:creationId xmlns="" xmlns:a16="http://schemas.microsoft.com/office/drawing/2014/main" id="{585AE5B7-75E4-D047-8018-E186DB0EE907}"/>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spTree>
    <p:extLst>
      <p:ext uri="{BB962C8B-B14F-4D97-AF65-F5344CB8AC3E}">
        <p14:creationId xmlns:p14="http://schemas.microsoft.com/office/powerpoint/2010/main" val="564008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Arrow Connector 67">
            <a:extLst>
              <a:ext uri="{FF2B5EF4-FFF2-40B4-BE49-F238E27FC236}">
                <a16:creationId xmlns="" xmlns:a16="http://schemas.microsoft.com/office/drawing/2014/main" id="{53EB0D82-2CA5-0044-B598-D6CC4B1217F6}"/>
              </a:ext>
            </a:extLst>
          </p:cNvPr>
          <p:cNvCxnSpPr>
            <a:cxnSpLocks/>
          </p:cNvCxnSpPr>
          <p:nvPr/>
        </p:nvCxnSpPr>
        <p:spPr>
          <a:xfrm flipH="1">
            <a:off x="2340858" y="4012002"/>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 xmlns:a16="http://schemas.microsoft.com/office/drawing/2014/main" id="{0CC5D2CF-3028-CC45-BF3F-96A9A5D0875F}"/>
              </a:ext>
            </a:extLst>
          </p:cNvPr>
          <p:cNvCxnSpPr/>
          <p:nvPr/>
        </p:nvCxnSpPr>
        <p:spPr>
          <a:xfrm flipV="1">
            <a:off x="2793671" y="503185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 xmlns:a16="http://schemas.microsoft.com/office/drawing/2014/main" id="{9466E26E-59BC-9547-BC26-F9F09E3BD552}"/>
              </a:ext>
            </a:extLst>
          </p:cNvPr>
          <p:cNvSpPr txBox="1"/>
          <p:nvPr/>
        </p:nvSpPr>
        <p:spPr>
          <a:xfrm>
            <a:off x="3783762" y="4875352"/>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5" name="TextBox 54">
            <a:extLst>
              <a:ext uri="{FF2B5EF4-FFF2-40B4-BE49-F238E27FC236}">
                <a16:creationId xmlns="" xmlns:a16="http://schemas.microsoft.com/office/drawing/2014/main" id="{AEC3D52B-1871-8F43-AF74-F6A379644828}"/>
              </a:ext>
            </a:extLst>
          </p:cNvPr>
          <p:cNvSpPr txBox="1"/>
          <p:nvPr/>
        </p:nvSpPr>
        <p:spPr>
          <a:xfrm>
            <a:off x="3783762" y="4871327"/>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4" name="TextBox 53">
            <a:extLst>
              <a:ext uri="{FF2B5EF4-FFF2-40B4-BE49-F238E27FC236}">
                <a16:creationId xmlns="" xmlns:a16="http://schemas.microsoft.com/office/drawing/2014/main" id="{75D9A00D-F6E8-A341-BB54-6DC685C17F41}"/>
              </a:ext>
            </a:extLst>
          </p:cNvPr>
          <p:cNvSpPr txBox="1"/>
          <p:nvPr/>
        </p:nvSpPr>
        <p:spPr>
          <a:xfrm>
            <a:off x="3783617" y="3681581"/>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3" name="TextBox 52">
            <a:extLst>
              <a:ext uri="{FF2B5EF4-FFF2-40B4-BE49-F238E27FC236}">
                <a16:creationId xmlns="" xmlns:a16="http://schemas.microsoft.com/office/drawing/2014/main" id="{827A033C-3362-7E4F-9A29-22F5B134DB38}"/>
              </a:ext>
            </a:extLst>
          </p:cNvPr>
          <p:cNvSpPr txBox="1"/>
          <p:nvPr/>
        </p:nvSpPr>
        <p:spPr>
          <a:xfrm>
            <a:off x="3790433" y="3681582"/>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2" name="TextBox 51">
            <a:extLst>
              <a:ext uri="{FF2B5EF4-FFF2-40B4-BE49-F238E27FC236}">
                <a16:creationId xmlns="" xmlns:a16="http://schemas.microsoft.com/office/drawing/2014/main" id="{BA0B8D1C-469A-C34A-B8E5-6EC7BEC871D0}"/>
              </a:ext>
            </a:extLst>
          </p:cNvPr>
          <p:cNvSpPr txBox="1"/>
          <p:nvPr/>
        </p:nvSpPr>
        <p:spPr>
          <a:xfrm>
            <a:off x="3790433" y="3671896"/>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1" name="TextBox 50">
            <a:extLst>
              <a:ext uri="{FF2B5EF4-FFF2-40B4-BE49-F238E27FC236}">
                <a16:creationId xmlns="" xmlns:a16="http://schemas.microsoft.com/office/drawing/2014/main" id="{F5465B13-DBC7-4043-AD11-B7B745E6BC6A}"/>
              </a:ext>
            </a:extLst>
          </p:cNvPr>
          <p:cNvSpPr txBox="1"/>
          <p:nvPr/>
        </p:nvSpPr>
        <p:spPr>
          <a:xfrm>
            <a:off x="3787098" y="3668637"/>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0" name="TextBox 49">
            <a:extLst>
              <a:ext uri="{FF2B5EF4-FFF2-40B4-BE49-F238E27FC236}">
                <a16:creationId xmlns="" xmlns:a16="http://schemas.microsoft.com/office/drawing/2014/main" id="{FA0167F5-14D7-9241-8E39-B181B66DC612}"/>
              </a:ext>
            </a:extLst>
          </p:cNvPr>
          <p:cNvSpPr txBox="1"/>
          <p:nvPr/>
        </p:nvSpPr>
        <p:spPr>
          <a:xfrm>
            <a:off x="1918862" y="488832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9" name="TextBox 48">
            <a:extLst>
              <a:ext uri="{FF2B5EF4-FFF2-40B4-BE49-F238E27FC236}">
                <a16:creationId xmlns="" xmlns:a16="http://schemas.microsoft.com/office/drawing/2014/main" id="{1FD7C706-046D-F946-A57B-AD9AADD6EFDE}"/>
              </a:ext>
            </a:extLst>
          </p:cNvPr>
          <p:cNvSpPr txBox="1"/>
          <p:nvPr/>
        </p:nvSpPr>
        <p:spPr>
          <a:xfrm>
            <a:off x="1918863" y="489837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8" name="TextBox 47">
            <a:extLst>
              <a:ext uri="{FF2B5EF4-FFF2-40B4-BE49-F238E27FC236}">
                <a16:creationId xmlns="" xmlns:a16="http://schemas.microsoft.com/office/drawing/2014/main" id="{9D664915-86BD-CF4C-AA26-C6E877E36A33}"/>
              </a:ext>
            </a:extLst>
          </p:cNvPr>
          <p:cNvSpPr txBox="1"/>
          <p:nvPr/>
        </p:nvSpPr>
        <p:spPr>
          <a:xfrm>
            <a:off x="1918863" y="4898628"/>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7" name="TextBox 46">
            <a:extLst>
              <a:ext uri="{FF2B5EF4-FFF2-40B4-BE49-F238E27FC236}">
                <a16:creationId xmlns="" xmlns:a16="http://schemas.microsoft.com/office/drawing/2014/main" id="{65CD4FAA-5F6F-B648-9597-5F4CCDCC323E}"/>
              </a:ext>
            </a:extLst>
          </p:cNvPr>
          <p:cNvSpPr txBox="1"/>
          <p:nvPr/>
        </p:nvSpPr>
        <p:spPr>
          <a:xfrm>
            <a:off x="1918863" y="4885139"/>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6" name="TextBox 45">
            <a:extLst>
              <a:ext uri="{FF2B5EF4-FFF2-40B4-BE49-F238E27FC236}">
                <a16:creationId xmlns="" xmlns:a16="http://schemas.microsoft.com/office/drawing/2014/main" id="{C46ABA95-9F47-9A45-9186-8C50EF19CE7A}"/>
              </a:ext>
            </a:extLst>
          </p:cNvPr>
          <p:cNvSpPr txBox="1"/>
          <p:nvPr/>
        </p:nvSpPr>
        <p:spPr>
          <a:xfrm>
            <a:off x="978119" y="4261795"/>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35" name="TextBox 34">
            <a:extLst>
              <a:ext uri="{FF2B5EF4-FFF2-40B4-BE49-F238E27FC236}">
                <a16:creationId xmlns="" xmlns:a16="http://schemas.microsoft.com/office/drawing/2014/main" id="{B92B956A-DB60-4C14-A246-235EDA984580}"/>
              </a:ext>
            </a:extLst>
          </p:cNvPr>
          <p:cNvSpPr txBox="1"/>
          <p:nvPr/>
        </p:nvSpPr>
        <p:spPr>
          <a:xfrm>
            <a:off x="975040" y="4258181"/>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44" name="TextBox 43">
            <a:extLst>
              <a:ext uri="{FF2B5EF4-FFF2-40B4-BE49-F238E27FC236}">
                <a16:creationId xmlns="" xmlns:a16="http://schemas.microsoft.com/office/drawing/2014/main" id="{0F90EFB9-7961-EF47-94F2-36A4ED5971C6}"/>
              </a:ext>
            </a:extLst>
          </p:cNvPr>
          <p:cNvSpPr txBox="1"/>
          <p:nvPr/>
        </p:nvSpPr>
        <p:spPr>
          <a:xfrm>
            <a:off x="981197" y="4265410"/>
            <a:ext cx="522900"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43" name="TextBox 42">
            <a:extLst>
              <a:ext uri="{FF2B5EF4-FFF2-40B4-BE49-F238E27FC236}">
                <a16:creationId xmlns="" xmlns:a16="http://schemas.microsoft.com/office/drawing/2014/main" id="{1B0F5427-D97D-D446-A8E0-E7B2935333EF}"/>
              </a:ext>
            </a:extLst>
          </p:cNvPr>
          <p:cNvSpPr txBox="1"/>
          <p:nvPr/>
        </p:nvSpPr>
        <p:spPr>
          <a:xfrm>
            <a:off x="1984412"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2" name="TextBox 41">
            <a:extLst>
              <a:ext uri="{FF2B5EF4-FFF2-40B4-BE49-F238E27FC236}">
                <a16:creationId xmlns="" xmlns:a16="http://schemas.microsoft.com/office/drawing/2014/main" id="{4932E516-C897-DE48-9651-A9FCDE8EC45A}"/>
              </a:ext>
            </a:extLst>
          </p:cNvPr>
          <p:cNvSpPr txBox="1"/>
          <p:nvPr/>
        </p:nvSpPr>
        <p:spPr>
          <a:xfrm>
            <a:off x="1984413"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1" name="TextBox 40">
            <a:extLst>
              <a:ext uri="{FF2B5EF4-FFF2-40B4-BE49-F238E27FC236}">
                <a16:creationId xmlns="" xmlns:a16="http://schemas.microsoft.com/office/drawing/2014/main" id="{43310B80-3C07-DA40-B669-9A98366B3BF1}"/>
              </a:ext>
            </a:extLst>
          </p:cNvPr>
          <p:cNvSpPr txBox="1"/>
          <p:nvPr/>
        </p:nvSpPr>
        <p:spPr>
          <a:xfrm>
            <a:off x="1981076" y="3671896"/>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2" name="Title 1">
            <a:extLst>
              <a:ext uri="{FF2B5EF4-FFF2-40B4-BE49-F238E27FC236}">
                <a16:creationId xmlns="" xmlns:a16="http://schemas.microsoft.com/office/drawing/2014/main" id="{4C1B584B-C97F-4280-A16C-ABFABC535E5A}"/>
              </a:ext>
            </a:extLst>
          </p:cNvPr>
          <p:cNvSpPr>
            <a:spLocks noGrp="1"/>
          </p:cNvSpPr>
          <p:nvPr>
            <p:ph type="title"/>
          </p:nvPr>
        </p:nvSpPr>
        <p:spPr/>
        <p:txBody>
          <a:bodyPr/>
          <a:lstStyle/>
          <a:p>
            <a:r>
              <a:rPr lang="en-US" dirty="0"/>
              <a:t>Temporal graphs are structured</a:t>
            </a:r>
          </a:p>
        </p:txBody>
      </p:sp>
      <p:sp>
        <p:nvSpPr>
          <p:cNvPr id="3" name="Content Placeholder 2">
            <a:extLst>
              <a:ext uri="{FF2B5EF4-FFF2-40B4-BE49-F238E27FC236}">
                <a16:creationId xmlns="" xmlns:a16="http://schemas.microsoft.com/office/drawing/2014/main" id="{E67D7159-3482-41DA-952A-D9B4545CE6AD}"/>
              </a:ext>
            </a:extLst>
          </p:cNvPr>
          <p:cNvSpPr>
            <a:spLocks noGrp="1"/>
          </p:cNvSpPr>
          <p:nvPr>
            <p:ph idx="1"/>
          </p:nvPr>
        </p:nvSpPr>
        <p:spPr>
          <a:xfrm>
            <a:off x="381000" y="1661902"/>
            <a:ext cx="8534400" cy="1201038"/>
          </a:xfrm>
        </p:spPr>
        <p:txBody>
          <a:bodyPr/>
          <a:lstStyle/>
          <a:p>
            <a:pPr marL="0" indent="0">
              <a:buNone/>
            </a:pPr>
            <a:r>
              <a:rPr lang="en-US" sz="2400" dirty="0"/>
              <a:t>Due to transitivity, </a:t>
            </a:r>
            <a:r>
              <a:rPr lang="en-US" sz="2400" dirty="0" err="1"/>
              <a:t>TempRels</a:t>
            </a:r>
            <a:r>
              <a:rPr lang="en-US" sz="2400" dirty="0"/>
              <a:t> are not independent</a:t>
            </a:r>
          </a:p>
          <a:p>
            <a:endParaRPr lang="en-US" sz="2400" dirty="0"/>
          </a:p>
          <a:p>
            <a:pPr marL="0" indent="0">
              <a:buNone/>
            </a:pPr>
            <a:r>
              <a:rPr lang="en-US" sz="2400" dirty="0"/>
              <a:t>Existing methods: global inference</a:t>
            </a:r>
            <a:endParaRPr lang="en-US" sz="2400" dirty="0">
              <a:sym typeface="Wingdings" panose="05000000000000000000" pitchFamily="2" charset="2"/>
            </a:endParaRPr>
          </a:p>
          <a:p>
            <a:endParaRPr lang="en-US" sz="2400" dirty="0"/>
          </a:p>
        </p:txBody>
      </p:sp>
      <p:sp>
        <p:nvSpPr>
          <p:cNvPr id="37" name="TextBox 36">
            <a:extLst>
              <a:ext uri="{FF2B5EF4-FFF2-40B4-BE49-F238E27FC236}">
                <a16:creationId xmlns="" xmlns:a16="http://schemas.microsoft.com/office/drawing/2014/main" id="{69231A96-B0D2-4862-A853-F2BB70CA4250}"/>
              </a:ext>
            </a:extLst>
          </p:cNvPr>
          <p:cNvSpPr txBox="1"/>
          <p:nvPr/>
        </p:nvSpPr>
        <p:spPr>
          <a:xfrm>
            <a:off x="1918863" y="4882931"/>
            <a:ext cx="873957" cy="307777"/>
          </a:xfrm>
          <a:prstGeom prst="rect">
            <a:avLst/>
          </a:prstGeom>
          <a:noFill/>
          <a:ln>
            <a:noFill/>
          </a:ln>
        </p:spPr>
        <p:txBody>
          <a:bodyPr wrap="non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3" name="TextBox 32">
            <a:extLst>
              <a:ext uri="{FF2B5EF4-FFF2-40B4-BE49-F238E27FC236}">
                <a16:creationId xmlns="" xmlns:a16="http://schemas.microsoft.com/office/drawing/2014/main" id="{306FE320-D23E-4FEE-9F8E-CA98C6C5F530}"/>
              </a:ext>
            </a:extLst>
          </p:cNvPr>
          <p:cNvSpPr txBox="1"/>
          <p:nvPr/>
        </p:nvSpPr>
        <p:spPr>
          <a:xfrm>
            <a:off x="1984414" y="3675063"/>
            <a:ext cx="752129"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1" name="TextBox 30">
            <a:extLst>
              <a:ext uri="{FF2B5EF4-FFF2-40B4-BE49-F238E27FC236}">
                <a16:creationId xmlns="" xmlns:a16="http://schemas.microsoft.com/office/drawing/2014/main" id="{49003EBB-30C2-4A6E-9B7E-9B8B4726829D}"/>
              </a:ext>
            </a:extLst>
          </p:cNvPr>
          <p:cNvSpPr txBox="1"/>
          <p:nvPr/>
        </p:nvSpPr>
        <p:spPr>
          <a:xfrm>
            <a:off x="3783762" y="4878477"/>
            <a:ext cx="790537"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ordered</a:t>
            </a:r>
          </a:p>
        </p:txBody>
      </p:sp>
      <p:cxnSp>
        <p:nvCxnSpPr>
          <p:cNvPr id="18" name="Straight Arrow Connector 17">
            <a:extLst>
              <a:ext uri="{FF2B5EF4-FFF2-40B4-BE49-F238E27FC236}">
                <a16:creationId xmlns="" xmlns:a16="http://schemas.microsoft.com/office/drawing/2014/main" id="{0BACCC43-6CC5-4C3C-8E5E-F9F927F8B94F}"/>
              </a:ext>
            </a:extLst>
          </p:cNvPr>
          <p:cNvCxnSpPr>
            <a:cxnSpLocks/>
          </p:cNvCxnSpPr>
          <p:nvPr/>
        </p:nvCxnSpPr>
        <p:spPr>
          <a:xfrm flipH="1">
            <a:off x="2337780" y="4006411"/>
            <a:ext cx="2275" cy="798556"/>
          </a:xfrm>
          <a:prstGeom prst="straightConnector1">
            <a:avLst/>
          </a:prstGeom>
          <a:ln w="76200" cmpd="dbl">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4FF3051B-1BED-4F81-84E9-9144F59A6658}"/>
              </a:ext>
            </a:extLst>
          </p:cNvPr>
          <p:cNvCxnSpPr/>
          <p:nvPr/>
        </p:nvCxnSpPr>
        <p:spPr>
          <a:xfrm flipH="1">
            <a:off x="1374539" y="3825785"/>
            <a:ext cx="609875" cy="439625"/>
          </a:xfrm>
          <a:prstGeom prst="straightConnector1">
            <a:avLst/>
          </a:prstGeom>
          <a:ln w="317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 xmlns:a16="http://schemas.microsoft.com/office/drawing/2014/main" id="{4B33CC75-CE81-4793-BE14-84BC2B70A7B6}"/>
              </a:ext>
            </a:extLst>
          </p:cNvPr>
          <p:cNvCxnSpPr/>
          <p:nvPr/>
        </p:nvCxnSpPr>
        <p:spPr>
          <a:xfrm>
            <a:off x="2492132" y="3967925"/>
            <a:ext cx="1516020" cy="900866"/>
          </a:xfrm>
          <a:prstGeom prst="straightConnector1">
            <a:avLst/>
          </a:prstGeom>
          <a:ln w="31750" cmpd="sng">
            <a:solidFill>
              <a:srgbClr val="FF0000"/>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DF7A1C68-39CB-4B4F-AF30-2115BB94C260}"/>
              </a:ext>
            </a:extLst>
          </p:cNvPr>
          <p:cNvCxnSpPr/>
          <p:nvPr/>
        </p:nvCxnSpPr>
        <p:spPr>
          <a:xfrm flipV="1">
            <a:off x="2794523" y="5029200"/>
            <a:ext cx="989239" cy="4454"/>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BFF47532-9C5A-4318-AAFC-616F8209B108}"/>
              </a:ext>
            </a:extLst>
          </p:cNvPr>
          <p:cNvCxnSpPr/>
          <p:nvPr/>
        </p:nvCxnSpPr>
        <p:spPr>
          <a:xfrm flipH="1" flipV="1">
            <a:off x="1374539" y="4567959"/>
            <a:ext cx="544324" cy="465694"/>
          </a:xfrm>
          <a:prstGeom prst="straightConnector1">
            <a:avLst/>
          </a:prstGeom>
          <a:ln w="31750" cmpd="sng">
            <a:solidFill>
              <a:srgbClr val="0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 xmlns:a16="http://schemas.microsoft.com/office/drawing/2014/main" id="{CF3EC16A-6808-436E-B8D5-2FC0C52207EE}"/>
              </a:ext>
            </a:extLst>
          </p:cNvPr>
          <p:cNvSpPr txBox="1"/>
          <p:nvPr/>
        </p:nvSpPr>
        <p:spPr>
          <a:xfrm>
            <a:off x="3783762" y="3675213"/>
            <a:ext cx="801823" cy="307777"/>
          </a:xfrm>
          <a:prstGeom prst="rect">
            <a:avLst/>
          </a:prstGeom>
          <a:noFill/>
          <a:ln>
            <a:noFill/>
          </a:ln>
        </p:spPr>
        <p:txBody>
          <a:bodyPr wrap="none" rtlCol="0">
            <a:spAutoFit/>
          </a:bodyPr>
          <a:lstStyle/>
          <a:p>
            <a:r>
              <a:rPr lang="en-US" sz="1400" b="1" dirty="0">
                <a:solidFill>
                  <a:srgbClr val="C17A90"/>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F6CE56D6-D023-4B88-B59D-400ACE613C21}"/>
              </a:ext>
            </a:extLst>
          </p:cNvPr>
          <p:cNvCxnSpPr/>
          <p:nvPr/>
        </p:nvCxnSpPr>
        <p:spPr>
          <a:xfrm flipH="1" flipV="1">
            <a:off x="2733206" y="3825785"/>
            <a:ext cx="1050557" cy="150"/>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C8235993-3487-4925-AE51-802546311D16}"/>
              </a:ext>
            </a:extLst>
          </p:cNvPr>
          <p:cNvCxnSpPr/>
          <p:nvPr/>
        </p:nvCxnSpPr>
        <p:spPr>
          <a:xfrm flipH="1">
            <a:off x="4159426" y="4030735"/>
            <a:ext cx="7422" cy="775397"/>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F41F946-2002-4ED4-994A-76B18F3455CF}"/>
              </a:ext>
            </a:extLst>
          </p:cNvPr>
          <p:cNvCxnSpPr/>
          <p:nvPr/>
        </p:nvCxnSpPr>
        <p:spPr>
          <a:xfrm flipH="1">
            <a:off x="2489857" y="4030735"/>
            <a:ext cx="1676991" cy="861065"/>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34F1B8A9-5B03-4D1A-B2D7-9B58D51F6443}"/>
              </a:ext>
            </a:extLst>
          </p:cNvPr>
          <p:cNvCxnSpPr/>
          <p:nvPr/>
        </p:nvCxnSpPr>
        <p:spPr>
          <a:xfrm flipH="1">
            <a:off x="1437199" y="3968076"/>
            <a:ext cx="2578374" cy="44860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1790034E-07E3-4A1D-A4A6-9B3839F3BF3F}"/>
              </a:ext>
            </a:extLst>
          </p:cNvPr>
          <p:cNvCxnSpPr/>
          <p:nvPr/>
        </p:nvCxnSpPr>
        <p:spPr>
          <a:xfrm flipV="1">
            <a:off x="2206066" y="5413121"/>
            <a:ext cx="271390" cy="3376"/>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 xmlns:a16="http://schemas.microsoft.com/office/drawing/2014/main" id="{4CDA7464-9DEF-4ECF-8EB3-DA28951C95A3}"/>
              </a:ext>
            </a:extLst>
          </p:cNvPr>
          <p:cNvSpPr txBox="1"/>
          <p:nvPr/>
        </p:nvSpPr>
        <p:spPr>
          <a:xfrm>
            <a:off x="2444831" y="5323461"/>
            <a:ext cx="607859" cy="215444"/>
          </a:xfrm>
          <a:prstGeom prst="rect">
            <a:avLst/>
          </a:prstGeom>
          <a:noFill/>
          <a:ln>
            <a:noFill/>
          </a:ln>
        </p:spPr>
        <p:txBody>
          <a:bodyPr wrap="none" rtlCol="0">
            <a:spAutoFit/>
          </a:bodyPr>
          <a:lstStyle/>
          <a:p>
            <a:r>
              <a:rPr lang="en-US" sz="800" b="1" dirty="0">
                <a:solidFill>
                  <a:srgbClr val="666089"/>
                </a:solidFill>
                <a:latin typeface="Times New Roman" charset="0"/>
                <a:ea typeface="Times New Roman" charset="0"/>
                <a:cs typeface="Times New Roman" charset="0"/>
              </a:rPr>
              <a:t>BEFORE</a:t>
            </a:r>
            <a:endParaRPr lang="en-US" sz="1200" b="1" dirty="0">
              <a:solidFill>
                <a:srgbClr val="666089"/>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 xmlns:a16="http://schemas.microsoft.com/office/drawing/2014/main" id="{3698058B-8FA1-4E6D-AED0-E7432B76635D}"/>
              </a:ext>
            </a:extLst>
          </p:cNvPr>
          <p:cNvCxnSpPr/>
          <p:nvPr/>
        </p:nvCxnSpPr>
        <p:spPr>
          <a:xfrm flipV="1">
            <a:off x="3055380" y="5413120"/>
            <a:ext cx="27139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383684F5-6E3C-428D-B627-C1F6F491FD1A}"/>
              </a:ext>
            </a:extLst>
          </p:cNvPr>
          <p:cNvSpPr txBox="1"/>
          <p:nvPr/>
        </p:nvSpPr>
        <p:spPr>
          <a:xfrm>
            <a:off x="3294145" y="5323461"/>
            <a:ext cx="731290" cy="215444"/>
          </a:xfrm>
          <a:prstGeom prst="rect">
            <a:avLst/>
          </a:prstGeom>
          <a:noFill/>
          <a:ln>
            <a:noFill/>
          </a:ln>
        </p:spPr>
        <p:txBody>
          <a:bodyPr wrap="none" rtlCol="0">
            <a:spAutoFit/>
          </a:bodyPr>
          <a:lstStyle/>
          <a:p>
            <a:r>
              <a:rPr lang="en-US" sz="800" b="1" dirty="0">
                <a:solidFill>
                  <a:srgbClr val="666089"/>
                </a:solidFill>
                <a:latin typeface="Times New Roman" charset="0"/>
                <a:ea typeface="Times New Roman" charset="0"/>
                <a:cs typeface="Times New Roman" charset="0"/>
              </a:rPr>
              <a:t>INCLUDED</a:t>
            </a:r>
            <a:endParaRPr lang="en-US" sz="1200" b="1" dirty="0">
              <a:solidFill>
                <a:srgbClr val="666089"/>
              </a:solidFill>
              <a:latin typeface="Times New Roman" charset="0"/>
              <a:ea typeface="Times New Roman" charset="0"/>
              <a:cs typeface="Times New Roman" charset="0"/>
            </a:endParaRPr>
          </a:p>
        </p:txBody>
      </p:sp>
      <p:cxnSp>
        <p:nvCxnSpPr>
          <p:cNvPr id="38" name="Straight Connector 37">
            <a:extLst>
              <a:ext uri="{FF2B5EF4-FFF2-40B4-BE49-F238E27FC236}">
                <a16:creationId xmlns="" xmlns:a16="http://schemas.microsoft.com/office/drawing/2014/main" id="{E401D0A2-BE3F-F34E-96A9-92CDCF68B6C0}"/>
              </a:ext>
            </a:extLst>
          </p:cNvPr>
          <p:cNvCxnSpPr>
            <a:cxnSpLocks/>
          </p:cNvCxnSpPr>
          <p:nvPr/>
        </p:nvCxnSpPr>
        <p:spPr>
          <a:xfrm flipH="1" flipV="1">
            <a:off x="1437199" y="4451324"/>
            <a:ext cx="2570953" cy="47613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 xmlns:a16="http://schemas.microsoft.com/office/drawing/2014/main" id="{564FF85C-7656-CF4D-BE38-A2C27601AEF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grpSp>
        <p:nvGrpSpPr>
          <p:cNvPr id="4" name="Group 3">
            <a:extLst>
              <a:ext uri="{FF2B5EF4-FFF2-40B4-BE49-F238E27FC236}">
                <a16:creationId xmlns="" xmlns:a16="http://schemas.microsoft.com/office/drawing/2014/main" id="{9D1B7BE9-C967-F44F-9295-A196A32A51E8}"/>
              </a:ext>
            </a:extLst>
          </p:cNvPr>
          <p:cNvGrpSpPr/>
          <p:nvPr/>
        </p:nvGrpSpPr>
        <p:grpSpPr>
          <a:xfrm>
            <a:off x="4977154" y="3828951"/>
            <a:ext cx="3938246" cy="1198586"/>
            <a:chOff x="4977154" y="3828951"/>
            <a:chExt cx="3938246" cy="1198586"/>
          </a:xfrm>
        </p:grpSpPr>
        <p:grpSp>
          <p:nvGrpSpPr>
            <p:cNvPr id="39" name="Group 38">
              <a:extLst>
                <a:ext uri="{FF2B5EF4-FFF2-40B4-BE49-F238E27FC236}">
                  <a16:creationId xmlns="" xmlns:a16="http://schemas.microsoft.com/office/drawing/2014/main" id="{BD9DA3AD-202F-EF42-AA01-FF5A88466510}"/>
                </a:ext>
              </a:extLst>
            </p:cNvPr>
            <p:cNvGrpSpPr/>
            <p:nvPr/>
          </p:nvGrpSpPr>
          <p:grpSpPr>
            <a:xfrm>
              <a:off x="4977154" y="3828951"/>
              <a:ext cx="3581400" cy="1198586"/>
              <a:chOff x="-5105400" y="4876800"/>
              <a:chExt cx="3581400" cy="1198586"/>
            </a:xfrm>
          </p:grpSpPr>
          <p:grpSp>
            <p:nvGrpSpPr>
              <p:cNvPr id="40" name="Group 39">
                <a:extLst>
                  <a:ext uri="{FF2B5EF4-FFF2-40B4-BE49-F238E27FC236}">
                    <a16:creationId xmlns="" xmlns:a16="http://schemas.microsoft.com/office/drawing/2014/main" id="{19503E91-D86A-0A42-A470-E05E49B425FA}"/>
                  </a:ext>
                </a:extLst>
              </p:cNvPr>
              <p:cNvGrpSpPr/>
              <p:nvPr/>
            </p:nvGrpSpPr>
            <p:grpSpPr>
              <a:xfrm>
                <a:off x="-5105400" y="4876800"/>
                <a:ext cx="3581400" cy="1198586"/>
                <a:chOff x="-5105400" y="2901434"/>
                <a:chExt cx="3581400" cy="1198586"/>
              </a:xfrm>
            </p:grpSpPr>
            <p:cxnSp>
              <p:nvCxnSpPr>
                <p:cNvPr id="63" name="Straight Arrow Connector 62">
                  <a:extLst>
                    <a:ext uri="{FF2B5EF4-FFF2-40B4-BE49-F238E27FC236}">
                      <a16:creationId xmlns="" xmlns:a16="http://schemas.microsoft.com/office/drawing/2014/main" id="{FBBE9CA7-A205-FB41-889E-96347FE496FC}"/>
                    </a:ext>
                  </a:extLst>
                </p:cNvPr>
                <p:cNvCxnSpPr/>
                <p:nvPr/>
              </p:nvCxnSpPr>
              <p:spPr>
                <a:xfrm>
                  <a:off x="-5105400" y="3429000"/>
                  <a:ext cx="3581400" cy="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sp>
              <p:nvSpPr>
                <p:cNvPr id="64" name="TextBox 63">
                  <a:extLst>
                    <a:ext uri="{FF2B5EF4-FFF2-40B4-BE49-F238E27FC236}">
                      <a16:creationId xmlns="" xmlns:a16="http://schemas.microsoft.com/office/drawing/2014/main" id="{125259AA-2068-DB4D-9E9A-65053001A378}"/>
                    </a:ext>
                  </a:extLst>
                </p:cNvPr>
                <p:cNvSpPr txBox="1"/>
                <p:nvPr/>
              </p:nvSpPr>
              <p:spPr>
                <a:xfrm>
                  <a:off x="-4682613" y="3730688"/>
                  <a:ext cx="957313"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ripping</a:t>
                  </a:r>
                </a:p>
              </p:txBody>
            </p:sp>
            <p:sp>
              <p:nvSpPr>
                <p:cNvPr id="65" name="TextBox 64">
                  <a:extLst>
                    <a:ext uri="{FF2B5EF4-FFF2-40B4-BE49-F238E27FC236}">
                      <a16:creationId xmlns="" xmlns:a16="http://schemas.microsoft.com/office/drawing/2014/main" id="{28F84A82-7AE4-AA4C-8A2E-61BCEB468B52}"/>
                    </a:ext>
                  </a:extLst>
                </p:cNvPr>
                <p:cNvSpPr txBox="1"/>
                <p:nvPr/>
              </p:nvSpPr>
              <p:spPr>
                <a:xfrm>
                  <a:off x="-3098714" y="2901434"/>
                  <a:ext cx="1091966"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ordered</a:t>
                  </a:r>
                </a:p>
              </p:txBody>
            </p:sp>
            <p:sp>
              <p:nvSpPr>
                <p:cNvPr id="66" name="TextBox 65">
                  <a:extLst>
                    <a:ext uri="{FF2B5EF4-FFF2-40B4-BE49-F238E27FC236}">
                      <a16:creationId xmlns="" xmlns:a16="http://schemas.microsoft.com/office/drawing/2014/main" id="{B5A9EB4A-DF3F-9E4B-BF48-9C7A83FFFAFD}"/>
                    </a:ext>
                  </a:extLst>
                </p:cNvPr>
                <p:cNvSpPr txBox="1"/>
                <p:nvPr/>
              </p:nvSpPr>
              <p:spPr>
                <a:xfrm>
                  <a:off x="-4846431" y="2904891"/>
                  <a:ext cx="1354858" cy="369332"/>
                </a:xfrm>
                <a:prstGeom prst="rect">
                  <a:avLst/>
                </a:prstGeom>
                <a:noFill/>
              </p:spPr>
              <p:txBody>
                <a:bodyPr wrap="none" rtlCol="0">
                  <a:spAutoFit/>
                </a:bodyPr>
                <a:lstStyle/>
                <a:p>
                  <a:r>
                    <a:rPr lang="en-US" dirty="0">
                      <a:solidFill>
                        <a:srgbClr val="C17A90"/>
                      </a:solidFill>
                      <a:latin typeface="Century Gothic" panose="020B0502020202020204" pitchFamily="34" charset="0"/>
                    </a:rPr>
                    <a:t>cascaded</a:t>
                  </a:r>
                </a:p>
              </p:txBody>
            </p:sp>
          </p:grpSp>
          <p:cxnSp>
            <p:nvCxnSpPr>
              <p:cNvPr id="45" name="Straight Connector 44">
                <a:extLst>
                  <a:ext uri="{FF2B5EF4-FFF2-40B4-BE49-F238E27FC236}">
                    <a16:creationId xmlns="" xmlns:a16="http://schemas.microsoft.com/office/drawing/2014/main" id="{92AD4E36-72AB-1748-9493-E245CFD71CEA}"/>
                  </a:ext>
                </a:extLst>
              </p:cNvPr>
              <p:cNvCxnSpPr>
                <a:cxnSpLocks/>
              </p:cNvCxnSpPr>
              <p:nvPr/>
            </p:nvCxnSpPr>
            <p:spPr>
              <a:xfrm>
                <a:off x="-3491573"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 xmlns:a16="http://schemas.microsoft.com/office/drawing/2014/main" id="{22A4815A-259E-7D49-AC14-49C7E0605A80}"/>
                  </a:ext>
                </a:extLst>
              </p:cNvPr>
              <p:cNvCxnSpPr>
                <a:cxnSpLocks/>
              </p:cNvCxnSpPr>
              <p:nvPr/>
            </p:nvCxnSpPr>
            <p:spPr>
              <a:xfrm>
                <a:off x="-4419600"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Connector 58">
                <a:extLst>
                  <a:ext uri="{FF2B5EF4-FFF2-40B4-BE49-F238E27FC236}">
                    <a16:creationId xmlns="" xmlns:a16="http://schemas.microsoft.com/office/drawing/2014/main" id="{50E9F7F8-A248-6D4A-8548-3862A8CBF78A}"/>
                  </a:ext>
                </a:extLst>
              </p:cNvPr>
              <p:cNvCxnSpPr>
                <a:cxnSpLocks/>
              </p:cNvCxnSpPr>
              <p:nvPr/>
            </p:nvCxnSpPr>
            <p:spPr>
              <a:xfrm>
                <a:off x="-4089497"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 xmlns:a16="http://schemas.microsoft.com/office/drawing/2014/main" id="{FF3B8F8E-6948-1448-A083-D8562DA2F434}"/>
                  </a:ext>
                </a:extLst>
              </p:cNvPr>
              <p:cNvCxnSpPr>
                <a:cxnSpLocks/>
              </p:cNvCxnSpPr>
              <p:nvPr/>
            </p:nvCxnSpPr>
            <p:spPr>
              <a:xfrm>
                <a:off x="-3060614"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 xmlns:a16="http://schemas.microsoft.com/office/drawing/2014/main" id="{F0DD31F0-E600-8D48-936A-ADB0FFC88AE6}"/>
                  </a:ext>
                </a:extLst>
              </p:cNvPr>
              <p:cNvCxnSpPr>
                <a:cxnSpLocks/>
              </p:cNvCxnSpPr>
              <p:nvPr/>
            </p:nvCxnSpPr>
            <p:spPr>
              <a:xfrm>
                <a:off x="-2082620"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 xmlns:a16="http://schemas.microsoft.com/office/drawing/2014/main" id="{842C74D4-16BB-6F45-8C11-FACFBCC29B09}"/>
                  </a:ext>
                </a:extLst>
              </p:cNvPr>
              <p:cNvCxnSpPr>
                <a:cxnSpLocks/>
              </p:cNvCxnSpPr>
              <p:nvPr/>
            </p:nvCxnSpPr>
            <p:spPr>
              <a:xfrm>
                <a:off x="-4953000" y="5064923"/>
                <a:ext cx="0" cy="339443"/>
              </a:xfrm>
              <a:prstGeom prst="line">
                <a:avLst/>
              </a:prstGeom>
            </p:spPr>
            <p:style>
              <a:lnRef idx="3">
                <a:schemeClr val="dk1"/>
              </a:lnRef>
              <a:fillRef idx="0">
                <a:schemeClr val="dk1"/>
              </a:fillRef>
              <a:effectRef idx="2">
                <a:schemeClr val="dk1"/>
              </a:effectRef>
              <a:fontRef idx="minor">
                <a:schemeClr val="tx1"/>
              </a:fontRef>
            </p:style>
          </p:cxnSp>
        </p:grpSp>
        <p:sp>
          <p:nvSpPr>
            <p:cNvPr id="67" name="TextBox 66">
              <a:extLst>
                <a:ext uri="{FF2B5EF4-FFF2-40B4-BE49-F238E27FC236}">
                  <a16:creationId xmlns="" xmlns:a16="http://schemas.microsoft.com/office/drawing/2014/main" id="{44494CDC-D9CC-8A45-BF95-E3ED69C0F731}"/>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p:txBody>
        </p:sp>
      </p:grpSp>
      <p:grpSp>
        <p:nvGrpSpPr>
          <p:cNvPr id="15" name="Group 14">
            <a:extLst>
              <a:ext uri="{FF2B5EF4-FFF2-40B4-BE49-F238E27FC236}">
                <a16:creationId xmlns="" xmlns:a16="http://schemas.microsoft.com/office/drawing/2014/main" id="{07E7041E-DF85-3E4D-A35D-908CB0EB28F8}"/>
              </a:ext>
            </a:extLst>
          </p:cNvPr>
          <p:cNvGrpSpPr/>
          <p:nvPr/>
        </p:nvGrpSpPr>
        <p:grpSpPr>
          <a:xfrm>
            <a:off x="6420023" y="4438750"/>
            <a:ext cx="1891865" cy="938832"/>
            <a:chOff x="6420023" y="4438750"/>
            <a:chExt cx="1891865" cy="938832"/>
          </a:xfrm>
        </p:grpSpPr>
        <p:sp>
          <p:nvSpPr>
            <p:cNvPr id="9" name="Bent-Up Arrow 8">
              <a:extLst>
                <a:ext uri="{FF2B5EF4-FFF2-40B4-BE49-F238E27FC236}">
                  <a16:creationId xmlns="" xmlns:a16="http://schemas.microsoft.com/office/drawing/2014/main" id="{49008456-07ED-3C48-AB5B-2C5A20E8E5F4}"/>
                </a:ext>
              </a:extLst>
            </p:cNvPr>
            <p:cNvSpPr/>
            <p:nvPr/>
          </p:nvSpPr>
          <p:spPr>
            <a:xfrm>
              <a:off x="6436420" y="4438750"/>
              <a:ext cx="1153915" cy="486831"/>
            </a:xfrm>
            <a:prstGeom prst="bentUpArrow">
              <a:avLst>
                <a:gd name="adj1" fmla="val 15490"/>
                <a:gd name="adj2" fmla="val 25000"/>
                <a:gd name="adj3" fmla="val 29755"/>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 xmlns:a16="http://schemas.microsoft.com/office/drawing/2014/main" id="{F71D1E1C-00EE-7E42-83D0-4B601E7E7672}"/>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solidFill>
                  <a:latin typeface="Century Gothic" panose="020B0502020202020204" pitchFamily="34" charset="0"/>
                </a:rPr>
                <a:t>Must be before</a:t>
              </a:r>
            </a:p>
          </p:txBody>
        </p:sp>
      </p:grpSp>
      <p:sp>
        <p:nvSpPr>
          <p:cNvPr id="5" name="TextBox 4">
            <a:extLst>
              <a:ext uri="{FF2B5EF4-FFF2-40B4-BE49-F238E27FC236}">
                <a16:creationId xmlns="" xmlns:a16="http://schemas.microsoft.com/office/drawing/2014/main" id="{88539280-3D24-834A-8256-1C52BB5E9175}"/>
              </a:ext>
            </a:extLst>
          </p:cNvPr>
          <p:cNvSpPr txBox="1"/>
          <p:nvPr/>
        </p:nvSpPr>
        <p:spPr>
          <a:xfrm>
            <a:off x="3128639" y="4005400"/>
            <a:ext cx="396262" cy="523220"/>
          </a:xfrm>
          <a:prstGeom prst="rect">
            <a:avLst/>
          </a:prstGeom>
          <a:noFill/>
        </p:spPr>
        <p:txBody>
          <a:bodyPr wrap="none" rtlCol="0">
            <a:spAutoFit/>
          </a:bodyPr>
          <a:lstStyle/>
          <a:p>
            <a:r>
              <a:rPr lang="en-US" sz="2800" dirty="0">
                <a:solidFill>
                  <a:srgbClr val="FF0000"/>
                </a:solidFill>
                <a:latin typeface="Century Gothic" panose="020B0502020202020204" pitchFamily="34" charset="0"/>
              </a:rPr>
              <a:t>?</a:t>
            </a:r>
          </a:p>
        </p:txBody>
      </p:sp>
    </p:spTree>
    <p:extLst>
      <p:ext uri="{BB962C8B-B14F-4D97-AF65-F5344CB8AC3E}">
        <p14:creationId xmlns:p14="http://schemas.microsoft.com/office/powerpoint/2010/main" val="51466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1000"/>
                                        <p:tgtEl>
                                          <p:spTgt spid="55"/>
                                        </p:tgtEl>
                                      </p:cBhvr>
                                    </p:animEffect>
                                    <p:anim calcmode="lin" valueType="num">
                                      <p:cBhvr>
                                        <p:cTn id="18" dur="1000" fill="hold"/>
                                        <p:tgtEl>
                                          <p:spTgt spid="55"/>
                                        </p:tgtEl>
                                        <p:attrNameLst>
                                          <p:attrName>ppt_x</p:attrName>
                                        </p:attrNameLst>
                                      </p:cBhvr>
                                      <p:tavLst>
                                        <p:tav tm="0">
                                          <p:val>
                                            <p:strVal val="#ppt_x"/>
                                          </p:val>
                                        </p:tav>
                                        <p:tav tm="100000">
                                          <p:val>
                                            <p:strVal val="#ppt_x"/>
                                          </p:val>
                                        </p:tav>
                                      </p:tavLst>
                                    </p:anim>
                                    <p:anim calcmode="lin" valueType="num">
                                      <p:cBhvr>
                                        <p:cTn id="19" dur="1000" fill="hold"/>
                                        <p:tgtEl>
                                          <p:spTgt spid="5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1000"/>
                                        <p:tgtEl>
                                          <p:spTgt spid="54"/>
                                        </p:tgtEl>
                                      </p:cBhvr>
                                    </p:animEffect>
                                    <p:anim calcmode="lin" valueType="num">
                                      <p:cBhvr>
                                        <p:cTn id="23" dur="1000" fill="hold"/>
                                        <p:tgtEl>
                                          <p:spTgt spid="54"/>
                                        </p:tgtEl>
                                        <p:attrNameLst>
                                          <p:attrName>ppt_x</p:attrName>
                                        </p:attrNameLst>
                                      </p:cBhvr>
                                      <p:tavLst>
                                        <p:tav tm="0">
                                          <p:val>
                                            <p:strVal val="#ppt_x"/>
                                          </p:val>
                                        </p:tav>
                                        <p:tav tm="100000">
                                          <p:val>
                                            <p:strVal val="#ppt_x"/>
                                          </p:val>
                                        </p:tav>
                                      </p:tavLst>
                                    </p:anim>
                                    <p:anim calcmode="lin" valueType="num">
                                      <p:cBhvr>
                                        <p:cTn id="24" dur="1000" fill="hold"/>
                                        <p:tgtEl>
                                          <p:spTgt spid="5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1000"/>
                                        <p:tgtEl>
                                          <p:spTgt spid="53"/>
                                        </p:tgtEl>
                                      </p:cBhvr>
                                    </p:animEffect>
                                    <p:anim calcmode="lin" valueType="num">
                                      <p:cBhvr>
                                        <p:cTn id="28" dur="1000" fill="hold"/>
                                        <p:tgtEl>
                                          <p:spTgt spid="53"/>
                                        </p:tgtEl>
                                        <p:attrNameLst>
                                          <p:attrName>ppt_x</p:attrName>
                                        </p:attrNameLst>
                                      </p:cBhvr>
                                      <p:tavLst>
                                        <p:tav tm="0">
                                          <p:val>
                                            <p:strVal val="#ppt_x"/>
                                          </p:val>
                                        </p:tav>
                                        <p:tav tm="100000">
                                          <p:val>
                                            <p:strVal val="#ppt_x"/>
                                          </p:val>
                                        </p:tav>
                                      </p:tavLst>
                                    </p:anim>
                                    <p:anim calcmode="lin" valueType="num">
                                      <p:cBhvr>
                                        <p:cTn id="29" dur="1000" fill="hold"/>
                                        <p:tgtEl>
                                          <p:spTgt spid="5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1000"/>
                                        <p:tgtEl>
                                          <p:spTgt spid="52"/>
                                        </p:tgtEl>
                                      </p:cBhvr>
                                    </p:animEffect>
                                    <p:anim calcmode="lin" valueType="num">
                                      <p:cBhvr>
                                        <p:cTn id="33" dur="1000" fill="hold"/>
                                        <p:tgtEl>
                                          <p:spTgt spid="52"/>
                                        </p:tgtEl>
                                        <p:attrNameLst>
                                          <p:attrName>ppt_x</p:attrName>
                                        </p:attrNameLst>
                                      </p:cBhvr>
                                      <p:tavLst>
                                        <p:tav tm="0">
                                          <p:val>
                                            <p:strVal val="#ppt_x"/>
                                          </p:val>
                                        </p:tav>
                                        <p:tav tm="100000">
                                          <p:val>
                                            <p:strVal val="#ppt_x"/>
                                          </p:val>
                                        </p:tav>
                                      </p:tavLst>
                                    </p:anim>
                                    <p:anim calcmode="lin" valueType="num">
                                      <p:cBhvr>
                                        <p:cTn id="34" dur="1000" fill="hold"/>
                                        <p:tgtEl>
                                          <p:spTgt spid="5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Effect transition="in" filter="fade">
                                      <p:cBhvr>
                                        <p:cTn id="37" dur="1000"/>
                                        <p:tgtEl>
                                          <p:spTgt spid="51"/>
                                        </p:tgtEl>
                                      </p:cBhvr>
                                    </p:animEffect>
                                    <p:anim calcmode="lin" valueType="num">
                                      <p:cBhvr>
                                        <p:cTn id="38" dur="1000" fill="hold"/>
                                        <p:tgtEl>
                                          <p:spTgt spid="51"/>
                                        </p:tgtEl>
                                        <p:attrNameLst>
                                          <p:attrName>ppt_x</p:attrName>
                                        </p:attrNameLst>
                                      </p:cBhvr>
                                      <p:tavLst>
                                        <p:tav tm="0">
                                          <p:val>
                                            <p:strVal val="#ppt_x"/>
                                          </p:val>
                                        </p:tav>
                                        <p:tav tm="100000">
                                          <p:val>
                                            <p:strVal val="#ppt_x"/>
                                          </p:val>
                                        </p:tav>
                                      </p:tavLst>
                                    </p:anim>
                                    <p:anim calcmode="lin" valueType="num">
                                      <p:cBhvr>
                                        <p:cTn id="39" dur="1000" fill="hold"/>
                                        <p:tgtEl>
                                          <p:spTgt spid="51"/>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1000"/>
                                        <p:tgtEl>
                                          <p:spTgt spid="50"/>
                                        </p:tgtEl>
                                      </p:cBhvr>
                                    </p:animEffect>
                                    <p:anim calcmode="lin" valueType="num">
                                      <p:cBhvr>
                                        <p:cTn id="43" dur="1000" fill="hold"/>
                                        <p:tgtEl>
                                          <p:spTgt spid="50"/>
                                        </p:tgtEl>
                                        <p:attrNameLst>
                                          <p:attrName>ppt_x</p:attrName>
                                        </p:attrNameLst>
                                      </p:cBhvr>
                                      <p:tavLst>
                                        <p:tav tm="0">
                                          <p:val>
                                            <p:strVal val="#ppt_x"/>
                                          </p:val>
                                        </p:tav>
                                        <p:tav tm="100000">
                                          <p:val>
                                            <p:strVal val="#ppt_x"/>
                                          </p:val>
                                        </p:tav>
                                      </p:tavLst>
                                    </p:anim>
                                    <p:anim calcmode="lin" valueType="num">
                                      <p:cBhvr>
                                        <p:cTn id="44" dur="1000" fill="hold"/>
                                        <p:tgtEl>
                                          <p:spTgt spid="50"/>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1000"/>
                                        <p:tgtEl>
                                          <p:spTgt spid="49"/>
                                        </p:tgtEl>
                                      </p:cBhvr>
                                    </p:animEffect>
                                    <p:anim calcmode="lin" valueType="num">
                                      <p:cBhvr>
                                        <p:cTn id="48" dur="1000" fill="hold"/>
                                        <p:tgtEl>
                                          <p:spTgt spid="49"/>
                                        </p:tgtEl>
                                        <p:attrNameLst>
                                          <p:attrName>ppt_x</p:attrName>
                                        </p:attrNameLst>
                                      </p:cBhvr>
                                      <p:tavLst>
                                        <p:tav tm="0">
                                          <p:val>
                                            <p:strVal val="#ppt_x"/>
                                          </p:val>
                                        </p:tav>
                                        <p:tav tm="100000">
                                          <p:val>
                                            <p:strVal val="#ppt_x"/>
                                          </p:val>
                                        </p:tav>
                                      </p:tavLst>
                                    </p:anim>
                                    <p:anim calcmode="lin" valueType="num">
                                      <p:cBhvr>
                                        <p:cTn id="49" dur="1000" fill="hold"/>
                                        <p:tgtEl>
                                          <p:spTgt spid="4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1000"/>
                                        <p:tgtEl>
                                          <p:spTgt spid="48"/>
                                        </p:tgtEl>
                                      </p:cBhvr>
                                    </p:animEffect>
                                    <p:anim calcmode="lin" valueType="num">
                                      <p:cBhvr>
                                        <p:cTn id="53" dur="1000" fill="hold"/>
                                        <p:tgtEl>
                                          <p:spTgt spid="48"/>
                                        </p:tgtEl>
                                        <p:attrNameLst>
                                          <p:attrName>ppt_x</p:attrName>
                                        </p:attrNameLst>
                                      </p:cBhvr>
                                      <p:tavLst>
                                        <p:tav tm="0">
                                          <p:val>
                                            <p:strVal val="#ppt_x"/>
                                          </p:val>
                                        </p:tav>
                                        <p:tav tm="100000">
                                          <p:val>
                                            <p:strVal val="#ppt_x"/>
                                          </p:val>
                                        </p:tav>
                                      </p:tavLst>
                                    </p:anim>
                                    <p:anim calcmode="lin" valueType="num">
                                      <p:cBhvr>
                                        <p:cTn id="54" dur="1000" fill="hold"/>
                                        <p:tgtEl>
                                          <p:spTgt spid="4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animEffect transition="in" filter="fade">
                                      <p:cBhvr>
                                        <p:cTn id="57" dur="1000"/>
                                        <p:tgtEl>
                                          <p:spTgt spid="47"/>
                                        </p:tgtEl>
                                      </p:cBhvr>
                                    </p:animEffect>
                                    <p:anim calcmode="lin" valueType="num">
                                      <p:cBhvr>
                                        <p:cTn id="58" dur="1000" fill="hold"/>
                                        <p:tgtEl>
                                          <p:spTgt spid="47"/>
                                        </p:tgtEl>
                                        <p:attrNameLst>
                                          <p:attrName>ppt_x</p:attrName>
                                        </p:attrNameLst>
                                      </p:cBhvr>
                                      <p:tavLst>
                                        <p:tav tm="0">
                                          <p:val>
                                            <p:strVal val="#ppt_x"/>
                                          </p:val>
                                        </p:tav>
                                        <p:tav tm="100000">
                                          <p:val>
                                            <p:strVal val="#ppt_x"/>
                                          </p:val>
                                        </p:tav>
                                      </p:tavLst>
                                    </p:anim>
                                    <p:anim calcmode="lin" valueType="num">
                                      <p:cBhvr>
                                        <p:cTn id="59" dur="1000" fill="hold"/>
                                        <p:tgtEl>
                                          <p:spTgt spid="47"/>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1000"/>
                                        <p:tgtEl>
                                          <p:spTgt spid="46"/>
                                        </p:tgtEl>
                                      </p:cBhvr>
                                    </p:animEffect>
                                    <p:anim calcmode="lin" valueType="num">
                                      <p:cBhvr>
                                        <p:cTn id="63" dur="1000" fill="hold"/>
                                        <p:tgtEl>
                                          <p:spTgt spid="46"/>
                                        </p:tgtEl>
                                        <p:attrNameLst>
                                          <p:attrName>ppt_x</p:attrName>
                                        </p:attrNameLst>
                                      </p:cBhvr>
                                      <p:tavLst>
                                        <p:tav tm="0">
                                          <p:val>
                                            <p:strVal val="#ppt_x"/>
                                          </p:val>
                                        </p:tav>
                                        <p:tav tm="100000">
                                          <p:val>
                                            <p:strVal val="#ppt_x"/>
                                          </p:val>
                                        </p:tav>
                                      </p:tavLst>
                                    </p:anim>
                                    <p:anim calcmode="lin" valueType="num">
                                      <p:cBhvr>
                                        <p:cTn id="64" dur="1000" fill="hold"/>
                                        <p:tgtEl>
                                          <p:spTgt spid="4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anim calcmode="lin" valueType="num">
                                      <p:cBhvr>
                                        <p:cTn id="68" dur="1000" fill="hold"/>
                                        <p:tgtEl>
                                          <p:spTgt spid="35"/>
                                        </p:tgtEl>
                                        <p:attrNameLst>
                                          <p:attrName>ppt_x</p:attrName>
                                        </p:attrNameLst>
                                      </p:cBhvr>
                                      <p:tavLst>
                                        <p:tav tm="0">
                                          <p:val>
                                            <p:strVal val="#ppt_x"/>
                                          </p:val>
                                        </p:tav>
                                        <p:tav tm="100000">
                                          <p:val>
                                            <p:strVal val="#ppt_x"/>
                                          </p:val>
                                        </p:tav>
                                      </p:tavLst>
                                    </p:anim>
                                    <p:anim calcmode="lin" valueType="num">
                                      <p:cBhvr>
                                        <p:cTn id="69" dur="1000" fill="hold"/>
                                        <p:tgtEl>
                                          <p:spTgt spid="3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Effect transition="in" filter="fade">
                                      <p:cBhvr>
                                        <p:cTn id="72" dur="1000"/>
                                        <p:tgtEl>
                                          <p:spTgt spid="44"/>
                                        </p:tgtEl>
                                      </p:cBhvr>
                                    </p:animEffect>
                                    <p:anim calcmode="lin" valueType="num">
                                      <p:cBhvr>
                                        <p:cTn id="73" dur="1000" fill="hold"/>
                                        <p:tgtEl>
                                          <p:spTgt spid="44"/>
                                        </p:tgtEl>
                                        <p:attrNameLst>
                                          <p:attrName>ppt_x</p:attrName>
                                        </p:attrNameLst>
                                      </p:cBhvr>
                                      <p:tavLst>
                                        <p:tav tm="0">
                                          <p:val>
                                            <p:strVal val="#ppt_x"/>
                                          </p:val>
                                        </p:tav>
                                        <p:tav tm="100000">
                                          <p:val>
                                            <p:strVal val="#ppt_x"/>
                                          </p:val>
                                        </p:tav>
                                      </p:tavLst>
                                    </p:anim>
                                    <p:anim calcmode="lin" valueType="num">
                                      <p:cBhvr>
                                        <p:cTn id="74" dur="1000" fill="hold"/>
                                        <p:tgtEl>
                                          <p:spTgt spid="44"/>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1000"/>
                                        <p:tgtEl>
                                          <p:spTgt spid="43"/>
                                        </p:tgtEl>
                                      </p:cBhvr>
                                    </p:animEffect>
                                    <p:anim calcmode="lin" valueType="num">
                                      <p:cBhvr>
                                        <p:cTn id="78" dur="1000" fill="hold"/>
                                        <p:tgtEl>
                                          <p:spTgt spid="43"/>
                                        </p:tgtEl>
                                        <p:attrNameLst>
                                          <p:attrName>ppt_x</p:attrName>
                                        </p:attrNameLst>
                                      </p:cBhvr>
                                      <p:tavLst>
                                        <p:tav tm="0">
                                          <p:val>
                                            <p:strVal val="#ppt_x"/>
                                          </p:val>
                                        </p:tav>
                                        <p:tav tm="100000">
                                          <p:val>
                                            <p:strVal val="#ppt_x"/>
                                          </p:val>
                                        </p:tav>
                                      </p:tavLst>
                                    </p:anim>
                                    <p:anim calcmode="lin" valueType="num">
                                      <p:cBhvr>
                                        <p:cTn id="79" dur="1000" fill="hold"/>
                                        <p:tgtEl>
                                          <p:spTgt spid="43"/>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2"/>
                                        </p:tgtEl>
                                        <p:attrNameLst>
                                          <p:attrName>style.visibility</p:attrName>
                                        </p:attrNameLst>
                                      </p:cBhvr>
                                      <p:to>
                                        <p:strVal val="visible"/>
                                      </p:to>
                                    </p:set>
                                    <p:animEffect transition="in" filter="fade">
                                      <p:cBhvr>
                                        <p:cTn id="82" dur="1000"/>
                                        <p:tgtEl>
                                          <p:spTgt spid="42"/>
                                        </p:tgtEl>
                                      </p:cBhvr>
                                    </p:animEffect>
                                    <p:anim calcmode="lin" valueType="num">
                                      <p:cBhvr>
                                        <p:cTn id="83" dur="1000" fill="hold"/>
                                        <p:tgtEl>
                                          <p:spTgt spid="42"/>
                                        </p:tgtEl>
                                        <p:attrNameLst>
                                          <p:attrName>ppt_x</p:attrName>
                                        </p:attrNameLst>
                                      </p:cBhvr>
                                      <p:tavLst>
                                        <p:tav tm="0">
                                          <p:val>
                                            <p:strVal val="#ppt_x"/>
                                          </p:val>
                                        </p:tav>
                                        <p:tav tm="100000">
                                          <p:val>
                                            <p:strVal val="#ppt_x"/>
                                          </p:val>
                                        </p:tav>
                                      </p:tavLst>
                                    </p:anim>
                                    <p:anim calcmode="lin" valueType="num">
                                      <p:cBhvr>
                                        <p:cTn id="84" dur="1000" fill="hold"/>
                                        <p:tgtEl>
                                          <p:spTgt spid="42"/>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1000"/>
                                        <p:tgtEl>
                                          <p:spTgt spid="41"/>
                                        </p:tgtEl>
                                      </p:cBhvr>
                                    </p:animEffect>
                                    <p:anim calcmode="lin" valueType="num">
                                      <p:cBhvr>
                                        <p:cTn id="88" dur="1000" fill="hold"/>
                                        <p:tgtEl>
                                          <p:spTgt spid="41"/>
                                        </p:tgtEl>
                                        <p:attrNameLst>
                                          <p:attrName>ppt_x</p:attrName>
                                        </p:attrNameLst>
                                      </p:cBhvr>
                                      <p:tavLst>
                                        <p:tav tm="0">
                                          <p:val>
                                            <p:strVal val="#ppt_x"/>
                                          </p:val>
                                        </p:tav>
                                        <p:tav tm="100000">
                                          <p:val>
                                            <p:strVal val="#ppt_x"/>
                                          </p:val>
                                        </p:tav>
                                      </p:tavLst>
                                    </p:anim>
                                    <p:anim calcmode="lin" valueType="num">
                                      <p:cBhvr>
                                        <p:cTn id="89" dur="1000" fill="hold"/>
                                        <p:tgtEl>
                                          <p:spTgt spid="41"/>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1000"/>
                                        <p:tgtEl>
                                          <p:spTgt spid="37"/>
                                        </p:tgtEl>
                                      </p:cBhvr>
                                    </p:animEffect>
                                    <p:anim calcmode="lin" valueType="num">
                                      <p:cBhvr>
                                        <p:cTn id="93" dur="1000" fill="hold"/>
                                        <p:tgtEl>
                                          <p:spTgt spid="37"/>
                                        </p:tgtEl>
                                        <p:attrNameLst>
                                          <p:attrName>ppt_x</p:attrName>
                                        </p:attrNameLst>
                                      </p:cBhvr>
                                      <p:tavLst>
                                        <p:tav tm="0">
                                          <p:val>
                                            <p:strVal val="#ppt_x"/>
                                          </p:val>
                                        </p:tav>
                                        <p:tav tm="100000">
                                          <p:val>
                                            <p:strVal val="#ppt_x"/>
                                          </p:val>
                                        </p:tav>
                                      </p:tavLst>
                                    </p:anim>
                                    <p:anim calcmode="lin" valueType="num">
                                      <p:cBhvr>
                                        <p:cTn id="94" dur="1000" fill="hold"/>
                                        <p:tgtEl>
                                          <p:spTgt spid="37"/>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1000"/>
                                        <p:tgtEl>
                                          <p:spTgt spid="33"/>
                                        </p:tgtEl>
                                      </p:cBhvr>
                                    </p:animEffect>
                                    <p:anim calcmode="lin" valueType="num">
                                      <p:cBhvr>
                                        <p:cTn id="98" dur="1000" fill="hold"/>
                                        <p:tgtEl>
                                          <p:spTgt spid="33"/>
                                        </p:tgtEl>
                                        <p:attrNameLst>
                                          <p:attrName>ppt_x</p:attrName>
                                        </p:attrNameLst>
                                      </p:cBhvr>
                                      <p:tavLst>
                                        <p:tav tm="0">
                                          <p:val>
                                            <p:strVal val="#ppt_x"/>
                                          </p:val>
                                        </p:tav>
                                        <p:tav tm="100000">
                                          <p:val>
                                            <p:strVal val="#ppt_x"/>
                                          </p:val>
                                        </p:tav>
                                      </p:tavLst>
                                    </p:anim>
                                    <p:anim calcmode="lin" valueType="num">
                                      <p:cBhvr>
                                        <p:cTn id="99" dur="1000" fill="hold"/>
                                        <p:tgtEl>
                                          <p:spTgt spid="33"/>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1000"/>
                                        <p:tgtEl>
                                          <p:spTgt spid="31"/>
                                        </p:tgtEl>
                                      </p:cBhvr>
                                    </p:animEffect>
                                    <p:anim calcmode="lin" valueType="num">
                                      <p:cBhvr>
                                        <p:cTn id="103" dur="1000" fill="hold"/>
                                        <p:tgtEl>
                                          <p:spTgt spid="31"/>
                                        </p:tgtEl>
                                        <p:attrNameLst>
                                          <p:attrName>ppt_x</p:attrName>
                                        </p:attrNameLst>
                                      </p:cBhvr>
                                      <p:tavLst>
                                        <p:tav tm="0">
                                          <p:val>
                                            <p:strVal val="#ppt_x"/>
                                          </p:val>
                                        </p:tav>
                                        <p:tav tm="100000">
                                          <p:val>
                                            <p:strVal val="#ppt_x"/>
                                          </p:val>
                                        </p:tav>
                                      </p:tavLst>
                                    </p:anim>
                                    <p:anim calcmode="lin" valueType="num">
                                      <p:cBhvr>
                                        <p:cTn id="104" dur="1000" fill="hold"/>
                                        <p:tgtEl>
                                          <p:spTgt spid="31"/>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18"/>
                                        </p:tgtEl>
                                        <p:attrNameLst>
                                          <p:attrName>style.visibility</p:attrName>
                                        </p:attrNameLst>
                                      </p:cBhvr>
                                      <p:to>
                                        <p:strVal val="visible"/>
                                      </p:to>
                                    </p:set>
                                    <p:animEffect transition="in" filter="fade">
                                      <p:cBhvr>
                                        <p:cTn id="107" dur="1000"/>
                                        <p:tgtEl>
                                          <p:spTgt spid="18"/>
                                        </p:tgtEl>
                                      </p:cBhvr>
                                    </p:animEffect>
                                    <p:anim calcmode="lin" valueType="num">
                                      <p:cBhvr>
                                        <p:cTn id="108" dur="1000" fill="hold"/>
                                        <p:tgtEl>
                                          <p:spTgt spid="18"/>
                                        </p:tgtEl>
                                        <p:attrNameLst>
                                          <p:attrName>ppt_x</p:attrName>
                                        </p:attrNameLst>
                                      </p:cBhvr>
                                      <p:tavLst>
                                        <p:tav tm="0">
                                          <p:val>
                                            <p:strVal val="#ppt_x"/>
                                          </p:val>
                                        </p:tav>
                                        <p:tav tm="100000">
                                          <p:val>
                                            <p:strVal val="#ppt_x"/>
                                          </p:val>
                                        </p:tav>
                                      </p:tavLst>
                                    </p:anim>
                                    <p:anim calcmode="lin" valueType="num">
                                      <p:cBhvr>
                                        <p:cTn id="109" dur="1000" fill="hold"/>
                                        <p:tgtEl>
                                          <p:spTgt spid="18"/>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1000"/>
                                        <p:tgtEl>
                                          <p:spTgt spid="19"/>
                                        </p:tgtEl>
                                      </p:cBhvr>
                                    </p:animEffect>
                                    <p:anim calcmode="lin" valueType="num">
                                      <p:cBhvr>
                                        <p:cTn id="113" dur="1000" fill="hold"/>
                                        <p:tgtEl>
                                          <p:spTgt spid="19"/>
                                        </p:tgtEl>
                                        <p:attrNameLst>
                                          <p:attrName>ppt_x</p:attrName>
                                        </p:attrNameLst>
                                      </p:cBhvr>
                                      <p:tavLst>
                                        <p:tav tm="0">
                                          <p:val>
                                            <p:strVal val="#ppt_x"/>
                                          </p:val>
                                        </p:tav>
                                        <p:tav tm="100000">
                                          <p:val>
                                            <p:strVal val="#ppt_x"/>
                                          </p:val>
                                        </p:tav>
                                      </p:tavLst>
                                    </p:anim>
                                    <p:anim calcmode="lin" valueType="num">
                                      <p:cBhvr>
                                        <p:cTn id="114" dur="1000" fill="hold"/>
                                        <p:tgtEl>
                                          <p:spTgt spid="19"/>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6" dur="1" fill="hold">
                                          <p:stCondLst>
                                            <p:cond delay="0"/>
                                          </p:stCondLst>
                                        </p:cTn>
                                        <p:tgtEl>
                                          <p:spTgt spid="20"/>
                                        </p:tgtEl>
                                        <p:attrNameLst>
                                          <p:attrName>style.visibility</p:attrName>
                                        </p:attrNameLst>
                                      </p:cBhvr>
                                      <p:to>
                                        <p:strVal val="visible"/>
                                      </p:to>
                                    </p:set>
                                    <p:animEffect transition="in" filter="fade">
                                      <p:cBhvr>
                                        <p:cTn id="117" dur="1000"/>
                                        <p:tgtEl>
                                          <p:spTgt spid="20"/>
                                        </p:tgtEl>
                                      </p:cBhvr>
                                    </p:animEffect>
                                    <p:anim calcmode="lin" valueType="num">
                                      <p:cBhvr>
                                        <p:cTn id="118" dur="1000" fill="hold"/>
                                        <p:tgtEl>
                                          <p:spTgt spid="20"/>
                                        </p:tgtEl>
                                        <p:attrNameLst>
                                          <p:attrName>ppt_x</p:attrName>
                                        </p:attrNameLst>
                                      </p:cBhvr>
                                      <p:tavLst>
                                        <p:tav tm="0">
                                          <p:val>
                                            <p:strVal val="#ppt_x"/>
                                          </p:val>
                                        </p:tav>
                                        <p:tav tm="100000">
                                          <p:val>
                                            <p:strVal val="#ppt_x"/>
                                          </p:val>
                                        </p:tav>
                                      </p:tavLst>
                                    </p:anim>
                                    <p:anim calcmode="lin" valueType="num">
                                      <p:cBhvr>
                                        <p:cTn id="119" dur="1000" fill="hold"/>
                                        <p:tgtEl>
                                          <p:spTgt spid="20"/>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21"/>
                                        </p:tgtEl>
                                        <p:attrNameLst>
                                          <p:attrName>style.visibility</p:attrName>
                                        </p:attrNameLst>
                                      </p:cBhvr>
                                      <p:to>
                                        <p:strVal val="visible"/>
                                      </p:to>
                                    </p:set>
                                    <p:animEffect transition="in" filter="fade">
                                      <p:cBhvr>
                                        <p:cTn id="122" dur="1000"/>
                                        <p:tgtEl>
                                          <p:spTgt spid="21"/>
                                        </p:tgtEl>
                                      </p:cBhvr>
                                    </p:animEffect>
                                    <p:anim calcmode="lin" valueType="num">
                                      <p:cBhvr>
                                        <p:cTn id="123" dur="1000" fill="hold"/>
                                        <p:tgtEl>
                                          <p:spTgt spid="21"/>
                                        </p:tgtEl>
                                        <p:attrNameLst>
                                          <p:attrName>ppt_x</p:attrName>
                                        </p:attrNameLst>
                                      </p:cBhvr>
                                      <p:tavLst>
                                        <p:tav tm="0">
                                          <p:val>
                                            <p:strVal val="#ppt_x"/>
                                          </p:val>
                                        </p:tav>
                                        <p:tav tm="100000">
                                          <p:val>
                                            <p:strVal val="#ppt_x"/>
                                          </p:val>
                                        </p:tav>
                                      </p:tavLst>
                                    </p:anim>
                                    <p:anim calcmode="lin" valueType="num">
                                      <p:cBhvr>
                                        <p:cTn id="124" dur="1000" fill="hold"/>
                                        <p:tgtEl>
                                          <p:spTgt spid="21"/>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22"/>
                                        </p:tgtEl>
                                        <p:attrNameLst>
                                          <p:attrName>style.visibility</p:attrName>
                                        </p:attrNameLst>
                                      </p:cBhvr>
                                      <p:to>
                                        <p:strVal val="visible"/>
                                      </p:to>
                                    </p:set>
                                    <p:animEffect transition="in" filter="fade">
                                      <p:cBhvr>
                                        <p:cTn id="127" dur="1000"/>
                                        <p:tgtEl>
                                          <p:spTgt spid="22"/>
                                        </p:tgtEl>
                                      </p:cBhvr>
                                    </p:animEffect>
                                    <p:anim calcmode="lin" valueType="num">
                                      <p:cBhvr>
                                        <p:cTn id="128" dur="1000" fill="hold"/>
                                        <p:tgtEl>
                                          <p:spTgt spid="22"/>
                                        </p:tgtEl>
                                        <p:attrNameLst>
                                          <p:attrName>ppt_x</p:attrName>
                                        </p:attrNameLst>
                                      </p:cBhvr>
                                      <p:tavLst>
                                        <p:tav tm="0">
                                          <p:val>
                                            <p:strVal val="#ppt_x"/>
                                          </p:val>
                                        </p:tav>
                                        <p:tav tm="100000">
                                          <p:val>
                                            <p:strVal val="#ppt_x"/>
                                          </p:val>
                                        </p:tav>
                                      </p:tavLst>
                                    </p:anim>
                                    <p:anim calcmode="lin" valueType="num">
                                      <p:cBhvr>
                                        <p:cTn id="129" dur="1000" fill="hold"/>
                                        <p:tgtEl>
                                          <p:spTgt spid="22"/>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1000"/>
                                        <p:tgtEl>
                                          <p:spTgt spid="29"/>
                                        </p:tgtEl>
                                      </p:cBhvr>
                                    </p:animEffect>
                                    <p:anim calcmode="lin" valueType="num">
                                      <p:cBhvr>
                                        <p:cTn id="133" dur="1000" fill="hold"/>
                                        <p:tgtEl>
                                          <p:spTgt spid="29"/>
                                        </p:tgtEl>
                                        <p:attrNameLst>
                                          <p:attrName>ppt_x</p:attrName>
                                        </p:attrNameLst>
                                      </p:cBhvr>
                                      <p:tavLst>
                                        <p:tav tm="0">
                                          <p:val>
                                            <p:strVal val="#ppt_x"/>
                                          </p:val>
                                        </p:tav>
                                        <p:tav tm="100000">
                                          <p:val>
                                            <p:strVal val="#ppt_x"/>
                                          </p:val>
                                        </p:tav>
                                      </p:tavLst>
                                    </p:anim>
                                    <p:anim calcmode="lin" valueType="num">
                                      <p:cBhvr>
                                        <p:cTn id="134" dur="10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fade">
                                      <p:cBhvr>
                                        <p:cTn id="137" dur="1000"/>
                                        <p:tgtEl>
                                          <p:spTgt spid="24"/>
                                        </p:tgtEl>
                                      </p:cBhvr>
                                    </p:animEffect>
                                    <p:anim calcmode="lin" valueType="num">
                                      <p:cBhvr>
                                        <p:cTn id="138" dur="1000" fill="hold"/>
                                        <p:tgtEl>
                                          <p:spTgt spid="24"/>
                                        </p:tgtEl>
                                        <p:attrNameLst>
                                          <p:attrName>ppt_x</p:attrName>
                                        </p:attrNameLst>
                                      </p:cBhvr>
                                      <p:tavLst>
                                        <p:tav tm="0">
                                          <p:val>
                                            <p:strVal val="#ppt_x"/>
                                          </p:val>
                                        </p:tav>
                                        <p:tav tm="100000">
                                          <p:val>
                                            <p:strVal val="#ppt_x"/>
                                          </p:val>
                                        </p:tav>
                                      </p:tavLst>
                                    </p:anim>
                                    <p:anim calcmode="lin" valueType="num">
                                      <p:cBhvr>
                                        <p:cTn id="139" dur="1000" fill="hold"/>
                                        <p:tgtEl>
                                          <p:spTgt spid="24"/>
                                        </p:tgtEl>
                                        <p:attrNameLst>
                                          <p:attrName>ppt_y</p:attrName>
                                        </p:attrNameLst>
                                      </p:cBhvr>
                                      <p:tavLst>
                                        <p:tav tm="0">
                                          <p:val>
                                            <p:strVal val="#ppt_y+.1"/>
                                          </p:val>
                                        </p:tav>
                                        <p:tav tm="100000">
                                          <p:val>
                                            <p:strVal val="#ppt_y"/>
                                          </p:val>
                                        </p:tav>
                                      </p:tavLst>
                                    </p:anim>
                                  </p:childTnLst>
                                </p:cTn>
                              </p:par>
                              <p:par>
                                <p:cTn id="140" presetID="42" presetClass="entr" presetSubtype="0" fill="hold" nodeType="withEffect">
                                  <p:stCondLst>
                                    <p:cond delay="0"/>
                                  </p:stCondLst>
                                  <p:childTnLst>
                                    <p:set>
                                      <p:cBhvr>
                                        <p:cTn id="141" dur="1" fill="hold">
                                          <p:stCondLst>
                                            <p:cond delay="0"/>
                                          </p:stCondLst>
                                        </p:cTn>
                                        <p:tgtEl>
                                          <p:spTgt spid="25"/>
                                        </p:tgtEl>
                                        <p:attrNameLst>
                                          <p:attrName>style.visibility</p:attrName>
                                        </p:attrNameLst>
                                      </p:cBhvr>
                                      <p:to>
                                        <p:strVal val="visible"/>
                                      </p:to>
                                    </p:set>
                                    <p:animEffect transition="in" filter="fade">
                                      <p:cBhvr>
                                        <p:cTn id="142" dur="1000"/>
                                        <p:tgtEl>
                                          <p:spTgt spid="25"/>
                                        </p:tgtEl>
                                      </p:cBhvr>
                                    </p:animEffect>
                                    <p:anim calcmode="lin" valueType="num">
                                      <p:cBhvr>
                                        <p:cTn id="143" dur="1000" fill="hold"/>
                                        <p:tgtEl>
                                          <p:spTgt spid="25"/>
                                        </p:tgtEl>
                                        <p:attrNameLst>
                                          <p:attrName>ppt_x</p:attrName>
                                        </p:attrNameLst>
                                      </p:cBhvr>
                                      <p:tavLst>
                                        <p:tav tm="0">
                                          <p:val>
                                            <p:strVal val="#ppt_x"/>
                                          </p:val>
                                        </p:tav>
                                        <p:tav tm="100000">
                                          <p:val>
                                            <p:strVal val="#ppt_x"/>
                                          </p:val>
                                        </p:tav>
                                      </p:tavLst>
                                    </p:anim>
                                    <p:anim calcmode="lin" valueType="num">
                                      <p:cBhvr>
                                        <p:cTn id="144" dur="1000" fill="hold"/>
                                        <p:tgtEl>
                                          <p:spTgt spid="25"/>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26"/>
                                        </p:tgtEl>
                                        <p:attrNameLst>
                                          <p:attrName>style.visibility</p:attrName>
                                        </p:attrNameLst>
                                      </p:cBhvr>
                                      <p:to>
                                        <p:strVal val="visible"/>
                                      </p:to>
                                    </p:set>
                                    <p:animEffect transition="in" filter="fade">
                                      <p:cBhvr>
                                        <p:cTn id="147" dur="1000"/>
                                        <p:tgtEl>
                                          <p:spTgt spid="26"/>
                                        </p:tgtEl>
                                      </p:cBhvr>
                                    </p:animEffect>
                                    <p:anim calcmode="lin" valueType="num">
                                      <p:cBhvr>
                                        <p:cTn id="148" dur="1000" fill="hold"/>
                                        <p:tgtEl>
                                          <p:spTgt spid="26"/>
                                        </p:tgtEl>
                                        <p:attrNameLst>
                                          <p:attrName>ppt_x</p:attrName>
                                        </p:attrNameLst>
                                      </p:cBhvr>
                                      <p:tavLst>
                                        <p:tav tm="0">
                                          <p:val>
                                            <p:strVal val="#ppt_x"/>
                                          </p:val>
                                        </p:tav>
                                        <p:tav tm="100000">
                                          <p:val>
                                            <p:strVal val="#ppt_x"/>
                                          </p:val>
                                        </p:tav>
                                      </p:tavLst>
                                    </p:anim>
                                    <p:anim calcmode="lin" valueType="num">
                                      <p:cBhvr>
                                        <p:cTn id="149" dur="1000" fill="hold"/>
                                        <p:tgtEl>
                                          <p:spTgt spid="26"/>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27"/>
                                        </p:tgtEl>
                                        <p:attrNameLst>
                                          <p:attrName>style.visibility</p:attrName>
                                        </p:attrNameLst>
                                      </p:cBhvr>
                                      <p:to>
                                        <p:strVal val="visible"/>
                                      </p:to>
                                    </p:set>
                                    <p:animEffect transition="in" filter="fade">
                                      <p:cBhvr>
                                        <p:cTn id="152" dur="1000"/>
                                        <p:tgtEl>
                                          <p:spTgt spid="27"/>
                                        </p:tgtEl>
                                      </p:cBhvr>
                                    </p:animEffect>
                                    <p:anim calcmode="lin" valueType="num">
                                      <p:cBhvr>
                                        <p:cTn id="153" dur="1000" fill="hold"/>
                                        <p:tgtEl>
                                          <p:spTgt spid="27"/>
                                        </p:tgtEl>
                                        <p:attrNameLst>
                                          <p:attrName>ppt_x</p:attrName>
                                        </p:attrNameLst>
                                      </p:cBhvr>
                                      <p:tavLst>
                                        <p:tav tm="0">
                                          <p:val>
                                            <p:strVal val="#ppt_x"/>
                                          </p:val>
                                        </p:tav>
                                        <p:tav tm="100000">
                                          <p:val>
                                            <p:strVal val="#ppt_x"/>
                                          </p:val>
                                        </p:tav>
                                      </p:tavLst>
                                    </p:anim>
                                    <p:anim calcmode="lin" valueType="num">
                                      <p:cBhvr>
                                        <p:cTn id="154" dur="1000" fill="hold"/>
                                        <p:tgtEl>
                                          <p:spTgt spid="27"/>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10"/>
                                        </p:tgtEl>
                                        <p:attrNameLst>
                                          <p:attrName>style.visibility</p:attrName>
                                        </p:attrNameLst>
                                      </p:cBhvr>
                                      <p:to>
                                        <p:strVal val="visible"/>
                                      </p:to>
                                    </p:set>
                                    <p:animEffect transition="in" filter="fade">
                                      <p:cBhvr>
                                        <p:cTn id="157" dur="1000"/>
                                        <p:tgtEl>
                                          <p:spTgt spid="10"/>
                                        </p:tgtEl>
                                      </p:cBhvr>
                                    </p:animEffect>
                                    <p:anim calcmode="lin" valueType="num">
                                      <p:cBhvr>
                                        <p:cTn id="158" dur="1000" fill="hold"/>
                                        <p:tgtEl>
                                          <p:spTgt spid="10"/>
                                        </p:tgtEl>
                                        <p:attrNameLst>
                                          <p:attrName>ppt_x</p:attrName>
                                        </p:attrNameLst>
                                      </p:cBhvr>
                                      <p:tavLst>
                                        <p:tav tm="0">
                                          <p:val>
                                            <p:strVal val="#ppt_x"/>
                                          </p:val>
                                        </p:tav>
                                        <p:tav tm="100000">
                                          <p:val>
                                            <p:strVal val="#ppt_x"/>
                                          </p:val>
                                        </p:tav>
                                      </p:tavLst>
                                    </p:anim>
                                    <p:anim calcmode="lin" valueType="num">
                                      <p:cBhvr>
                                        <p:cTn id="159" dur="1000" fill="hold"/>
                                        <p:tgtEl>
                                          <p:spTgt spid="10"/>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11"/>
                                        </p:tgtEl>
                                        <p:attrNameLst>
                                          <p:attrName>style.visibility</p:attrName>
                                        </p:attrNameLst>
                                      </p:cBhvr>
                                      <p:to>
                                        <p:strVal val="visible"/>
                                      </p:to>
                                    </p:set>
                                    <p:animEffect transition="in" filter="fade">
                                      <p:cBhvr>
                                        <p:cTn id="162" dur="1000"/>
                                        <p:tgtEl>
                                          <p:spTgt spid="11"/>
                                        </p:tgtEl>
                                      </p:cBhvr>
                                    </p:animEffect>
                                    <p:anim calcmode="lin" valueType="num">
                                      <p:cBhvr>
                                        <p:cTn id="163" dur="1000" fill="hold"/>
                                        <p:tgtEl>
                                          <p:spTgt spid="11"/>
                                        </p:tgtEl>
                                        <p:attrNameLst>
                                          <p:attrName>ppt_x</p:attrName>
                                        </p:attrNameLst>
                                      </p:cBhvr>
                                      <p:tavLst>
                                        <p:tav tm="0">
                                          <p:val>
                                            <p:strVal val="#ppt_x"/>
                                          </p:val>
                                        </p:tav>
                                        <p:tav tm="100000">
                                          <p:val>
                                            <p:strVal val="#ppt_x"/>
                                          </p:val>
                                        </p:tav>
                                      </p:tavLst>
                                    </p:anim>
                                    <p:anim calcmode="lin" valueType="num">
                                      <p:cBhvr>
                                        <p:cTn id="164" dur="1000" fill="hold"/>
                                        <p:tgtEl>
                                          <p:spTgt spid="11"/>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12"/>
                                        </p:tgtEl>
                                        <p:attrNameLst>
                                          <p:attrName>style.visibility</p:attrName>
                                        </p:attrNameLst>
                                      </p:cBhvr>
                                      <p:to>
                                        <p:strVal val="visible"/>
                                      </p:to>
                                    </p:set>
                                    <p:animEffect transition="in" filter="fade">
                                      <p:cBhvr>
                                        <p:cTn id="167" dur="1000"/>
                                        <p:tgtEl>
                                          <p:spTgt spid="12"/>
                                        </p:tgtEl>
                                      </p:cBhvr>
                                    </p:animEffect>
                                    <p:anim calcmode="lin" valueType="num">
                                      <p:cBhvr>
                                        <p:cTn id="168" dur="1000" fill="hold"/>
                                        <p:tgtEl>
                                          <p:spTgt spid="12"/>
                                        </p:tgtEl>
                                        <p:attrNameLst>
                                          <p:attrName>ppt_x</p:attrName>
                                        </p:attrNameLst>
                                      </p:cBhvr>
                                      <p:tavLst>
                                        <p:tav tm="0">
                                          <p:val>
                                            <p:strVal val="#ppt_x"/>
                                          </p:val>
                                        </p:tav>
                                        <p:tav tm="100000">
                                          <p:val>
                                            <p:strVal val="#ppt_x"/>
                                          </p:val>
                                        </p:tav>
                                      </p:tavLst>
                                    </p:anim>
                                    <p:anim calcmode="lin" valueType="num">
                                      <p:cBhvr>
                                        <p:cTn id="169" dur="1000" fill="hold"/>
                                        <p:tgtEl>
                                          <p:spTgt spid="12"/>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71" dur="1" fill="hold">
                                          <p:stCondLst>
                                            <p:cond delay="0"/>
                                          </p:stCondLst>
                                        </p:cTn>
                                        <p:tgtEl>
                                          <p:spTgt spid="38"/>
                                        </p:tgtEl>
                                        <p:attrNameLst>
                                          <p:attrName>style.visibility</p:attrName>
                                        </p:attrNameLst>
                                      </p:cBhvr>
                                      <p:to>
                                        <p:strVal val="visible"/>
                                      </p:to>
                                    </p:set>
                                    <p:animEffect transition="in" filter="fade">
                                      <p:cBhvr>
                                        <p:cTn id="172" dur="1000"/>
                                        <p:tgtEl>
                                          <p:spTgt spid="38"/>
                                        </p:tgtEl>
                                      </p:cBhvr>
                                    </p:animEffect>
                                    <p:anim calcmode="lin" valueType="num">
                                      <p:cBhvr>
                                        <p:cTn id="173" dur="1000" fill="hold"/>
                                        <p:tgtEl>
                                          <p:spTgt spid="38"/>
                                        </p:tgtEl>
                                        <p:attrNameLst>
                                          <p:attrName>ppt_x</p:attrName>
                                        </p:attrNameLst>
                                      </p:cBhvr>
                                      <p:tavLst>
                                        <p:tav tm="0">
                                          <p:val>
                                            <p:strVal val="#ppt_x"/>
                                          </p:val>
                                        </p:tav>
                                        <p:tav tm="100000">
                                          <p:val>
                                            <p:strVal val="#ppt_x"/>
                                          </p:val>
                                        </p:tav>
                                      </p:tavLst>
                                    </p:anim>
                                    <p:anim calcmode="lin" valueType="num">
                                      <p:cBhvr>
                                        <p:cTn id="174" dur="1000" fill="hold"/>
                                        <p:tgtEl>
                                          <p:spTgt spid="38"/>
                                        </p:tgtEl>
                                        <p:attrNameLst>
                                          <p:attrName>ppt_y</p:attrName>
                                        </p:attrNameLst>
                                      </p:cBhvr>
                                      <p:tavLst>
                                        <p:tav tm="0">
                                          <p:val>
                                            <p:strVal val="#ppt_y+.1"/>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13"/>
                                        </p:tgtEl>
                                        <p:attrNameLst>
                                          <p:attrName>style.visibility</p:attrName>
                                        </p:attrNameLst>
                                      </p:cBhvr>
                                      <p:to>
                                        <p:strVal val="visible"/>
                                      </p:to>
                                    </p:set>
                                    <p:animEffect transition="in" filter="fade">
                                      <p:cBhvr>
                                        <p:cTn id="177" dur="1000"/>
                                        <p:tgtEl>
                                          <p:spTgt spid="13"/>
                                        </p:tgtEl>
                                      </p:cBhvr>
                                    </p:animEffect>
                                    <p:anim calcmode="lin" valueType="num">
                                      <p:cBhvr>
                                        <p:cTn id="178" dur="1000" fill="hold"/>
                                        <p:tgtEl>
                                          <p:spTgt spid="13"/>
                                        </p:tgtEl>
                                        <p:attrNameLst>
                                          <p:attrName>ppt_x</p:attrName>
                                        </p:attrNameLst>
                                      </p:cBhvr>
                                      <p:tavLst>
                                        <p:tav tm="0">
                                          <p:val>
                                            <p:strVal val="#ppt_x"/>
                                          </p:val>
                                        </p:tav>
                                        <p:tav tm="100000">
                                          <p:val>
                                            <p:strVal val="#ppt_x"/>
                                          </p:val>
                                        </p:tav>
                                      </p:tavLst>
                                    </p:anim>
                                    <p:anim calcmode="lin" valueType="num">
                                      <p:cBhvr>
                                        <p:cTn id="179" dur="1000" fill="hold"/>
                                        <p:tgtEl>
                                          <p:spTgt spid="13"/>
                                        </p:tgtEl>
                                        <p:attrNameLst>
                                          <p:attrName>ppt_y</p:attrName>
                                        </p:attrNameLst>
                                      </p:cBhvr>
                                      <p:tavLst>
                                        <p:tav tm="0">
                                          <p:val>
                                            <p:strVal val="#ppt_y+.1"/>
                                          </p:val>
                                        </p:tav>
                                        <p:tav tm="100000">
                                          <p:val>
                                            <p:strVal val="#ppt_y"/>
                                          </p:val>
                                        </p:tav>
                                      </p:tavLst>
                                    </p:anim>
                                  </p:childTnLst>
                                </p:cTn>
                              </p:par>
                              <p:par>
                                <p:cTn id="180" presetID="42" presetClass="entr" presetSubtype="0" fill="hold" nodeType="withEffect">
                                  <p:stCondLst>
                                    <p:cond delay="0"/>
                                  </p:stCondLst>
                                  <p:childTnLst>
                                    <p:set>
                                      <p:cBhvr>
                                        <p:cTn id="181" dur="1" fill="hold">
                                          <p:stCondLst>
                                            <p:cond delay="0"/>
                                          </p:stCondLst>
                                        </p:cTn>
                                        <p:tgtEl>
                                          <p:spTgt spid="68"/>
                                        </p:tgtEl>
                                        <p:attrNameLst>
                                          <p:attrName>style.visibility</p:attrName>
                                        </p:attrNameLst>
                                      </p:cBhvr>
                                      <p:to>
                                        <p:strVal val="visible"/>
                                      </p:to>
                                    </p:set>
                                    <p:animEffect transition="in" filter="fade">
                                      <p:cBhvr>
                                        <p:cTn id="182" dur="1000"/>
                                        <p:tgtEl>
                                          <p:spTgt spid="68"/>
                                        </p:tgtEl>
                                      </p:cBhvr>
                                    </p:animEffect>
                                    <p:anim calcmode="lin" valueType="num">
                                      <p:cBhvr>
                                        <p:cTn id="183" dur="1000" fill="hold"/>
                                        <p:tgtEl>
                                          <p:spTgt spid="68"/>
                                        </p:tgtEl>
                                        <p:attrNameLst>
                                          <p:attrName>ppt_x</p:attrName>
                                        </p:attrNameLst>
                                      </p:cBhvr>
                                      <p:tavLst>
                                        <p:tav tm="0">
                                          <p:val>
                                            <p:strVal val="#ppt_x"/>
                                          </p:val>
                                        </p:tav>
                                        <p:tav tm="100000">
                                          <p:val>
                                            <p:strVal val="#ppt_x"/>
                                          </p:val>
                                        </p:tav>
                                      </p:tavLst>
                                    </p:anim>
                                    <p:anim calcmode="lin" valueType="num">
                                      <p:cBhvr>
                                        <p:cTn id="184" dur="1000" fill="hold"/>
                                        <p:tgtEl>
                                          <p:spTgt spid="68"/>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6" dur="1" fill="hold">
                                          <p:stCondLst>
                                            <p:cond delay="0"/>
                                          </p:stCondLst>
                                        </p:cTn>
                                        <p:tgtEl>
                                          <p:spTgt spid="70"/>
                                        </p:tgtEl>
                                        <p:attrNameLst>
                                          <p:attrName>style.visibility</p:attrName>
                                        </p:attrNameLst>
                                      </p:cBhvr>
                                      <p:to>
                                        <p:strVal val="visible"/>
                                      </p:to>
                                    </p:set>
                                    <p:animEffect transition="in" filter="fade">
                                      <p:cBhvr>
                                        <p:cTn id="187" dur="1000"/>
                                        <p:tgtEl>
                                          <p:spTgt spid="70"/>
                                        </p:tgtEl>
                                      </p:cBhvr>
                                    </p:animEffect>
                                    <p:anim calcmode="lin" valueType="num">
                                      <p:cBhvr>
                                        <p:cTn id="188" dur="1000" fill="hold"/>
                                        <p:tgtEl>
                                          <p:spTgt spid="70"/>
                                        </p:tgtEl>
                                        <p:attrNameLst>
                                          <p:attrName>ppt_x</p:attrName>
                                        </p:attrNameLst>
                                      </p:cBhvr>
                                      <p:tavLst>
                                        <p:tav tm="0">
                                          <p:val>
                                            <p:strVal val="#ppt_x"/>
                                          </p:val>
                                        </p:tav>
                                        <p:tav tm="100000">
                                          <p:val>
                                            <p:strVal val="#ppt_x"/>
                                          </p:val>
                                        </p:tav>
                                      </p:tavLst>
                                    </p:anim>
                                    <p:anim calcmode="lin" valueType="num">
                                      <p:cBhvr>
                                        <p:cTn id="189" dur="1000" fill="hold"/>
                                        <p:tgtEl>
                                          <p:spTgt spid="70"/>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91" dur="1" fill="hold">
                                          <p:stCondLst>
                                            <p:cond delay="0"/>
                                          </p:stCondLst>
                                        </p:cTn>
                                        <p:tgtEl>
                                          <p:spTgt spid="5">
                                            <p:txEl>
                                              <p:pRg st="0" end="0"/>
                                            </p:txEl>
                                          </p:spTgt>
                                        </p:tgtEl>
                                        <p:attrNameLst>
                                          <p:attrName>style.visibility</p:attrName>
                                        </p:attrNameLst>
                                      </p:cBhvr>
                                      <p:to>
                                        <p:strVal val="visible"/>
                                      </p:to>
                                    </p:set>
                                    <p:animEffect transition="in" filter="fade">
                                      <p:cBhvr>
                                        <p:cTn id="192" dur="1000"/>
                                        <p:tgtEl>
                                          <p:spTgt spid="5">
                                            <p:txEl>
                                              <p:pRg st="0" end="0"/>
                                            </p:txEl>
                                          </p:spTgt>
                                        </p:tgtEl>
                                      </p:cBhvr>
                                    </p:animEffect>
                                    <p:anim calcmode="lin" valueType="num">
                                      <p:cBhvr>
                                        <p:cTn id="19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9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nodeType="clickEffect">
                                  <p:stCondLst>
                                    <p:cond delay="0"/>
                                  </p:stCondLst>
                                  <p:childTnLst>
                                    <p:set>
                                      <p:cBhvr>
                                        <p:cTn id="198" dur="1" fill="hold">
                                          <p:stCondLst>
                                            <p:cond delay="0"/>
                                          </p:stCondLst>
                                        </p:cTn>
                                        <p:tgtEl>
                                          <p:spTgt spid="4"/>
                                        </p:tgtEl>
                                        <p:attrNameLst>
                                          <p:attrName>style.visibility</p:attrName>
                                        </p:attrNameLst>
                                      </p:cBhvr>
                                      <p:to>
                                        <p:strVal val="visible"/>
                                      </p:to>
                                    </p:set>
                                    <p:animEffect transition="in" filter="wipe(left)">
                                      <p:cBhvr>
                                        <p:cTn id="199" dur="500"/>
                                        <p:tgtEl>
                                          <p:spTgt spid="4"/>
                                        </p:tgtEl>
                                      </p:cBhvr>
                                    </p:animEffect>
                                  </p:childTnLst>
                                </p:cTn>
                              </p:par>
                            </p:childTnLst>
                          </p:cTn>
                        </p:par>
                        <p:par>
                          <p:cTn id="200" fill="hold">
                            <p:stCondLst>
                              <p:cond delay="500"/>
                            </p:stCondLst>
                            <p:childTnLst>
                              <p:par>
                                <p:cTn id="201" presetID="9" presetClass="entr" presetSubtype="0" fill="hold" nodeType="afterEffect">
                                  <p:stCondLst>
                                    <p:cond delay="0"/>
                                  </p:stCondLst>
                                  <p:childTnLst>
                                    <p:set>
                                      <p:cBhvr>
                                        <p:cTn id="202" dur="1" fill="hold">
                                          <p:stCondLst>
                                            <p:cond delay="0"/>
                                          </p:stCondLst>
                                        </p:cTn>
                                        <p:tgtEl>
                                          <p:spTgt spid="15"/>
                                        </p:tgtEl>
                                        <p:attrNameLst>
                                          <p:attrName>style.visibility</p:attrName>
                                        </p:attrNameLst>
                                      </p:cBhvr>
                                      <p:to>
                                        <p:strVal val="visible"/>
                                      </p:to>
                                    </p:set>
                                    <p:animEffect transition="in" filter="dissolve">
                                      <p:cBhvr>
                                        <p:cTn id="203" dur="500"/>
                                        <p:tgtEl>
                                          <p:spTgt spid="15"/>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grpId="0" nodeType="clickEffect">
                                  <p:stCondLst>
                                    <p:cond delay="0"/>
                                  </p:stCondLst>
                                  <p:childTnLst>
                                    <p:set>
                                      <p:cBhvr>
                                        <p:cTn id="207" dur="1" fill="hold">
                                          <p:stCondLst>
                                            <p:cond delay="0"/>
                                          </p:stCondLst>
                                        </p:cTn>
                                        <p:tgtEl>
                                          <p:spTgt spid="3">
                                            <p:txEl>
                                              <p:pRg st="2" end="2"/>
                                            </p:txEl>
                                          </p:spTgt>
                                        </p:tgtEl>
                                        <p:attrNameLst>
                                          <p:attrName>style.visibility</p:attrName>
                                        </p:attrNameLst>
                                      </p:cBhvr>
                                      <p:to>
                                        <p:strVal val="visible"/>
                                      </p:to>
                                    </p:set>
                                    <p:animEffect transition="in" filter="wipe(left)">
                                      <p:cBhvr>
                                        <p:cTn id="20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5" grpId="0"/>
      <p:bldP spid="54" grpId="0"/>
      <p:bldP spid="53" grpId="0"/>
      <p:bldP spid="52" grpId="0"/>
      <p:bldP spid="51" grpId="0"/>
      <p:bldP spid="50" grpId="0"/>
      <p:bldP spid="49" grpId="0"/>
      <p:bldP spid="48" grpId="0"/>
      <p:bldP spid="47" grpId="0"/>
      <p:bldP spid="46" grpId="0"/>
      <p:bldP spid="35" grpId="0"/>
      <p:bldP spid="44" grpId="0"/>
      <p:bldP spid="43" grpId="0"/>
      <p:bldP spid="42" grpId="0"/>
      <p:bldP spid="41" grpId="0"/>
      <p:bldP spid="3" grpId="0" uiExpand="1" build="p"/>
      <p:bldP spid="37" grpId="0"/>
      <p:bldP spid="33" grpId="0"/>
      <p:bldP spid="31" grpId="0"/>
      <p:bldP spid="29" grpId="0"/>
      <p:bldP spid="11"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Arrow Connector 8">
            <a:extLst>
              <a:ext uri="{FF2B5EF4-FFF2-40B4-BE49-F238E27FC236}">
                <a16:creationId xmlns="" xmlns:a16="http://schemas.microsoft.com/office/drawing/2014/main" id="{37BED0E5-5927-864F-8240-9E327369AE62}"/>
              </a:ext>
            </a:extLst>
          </p:cNvPr>
          <p:cNvCxnSpPr>
            <a:stCxn id="40" idx="3"/>
          </p:cNvCxnSpPr>
          <p:nvPr/>
        </p:nvCxnSpPr>
        <p:spPr>
          <a:xfrm>
            <a:off x="3198383" y="3336667"/>
            <a:ext cx="3354817" cy="16133"/>
          </a:xfrm>
          <a:prstGeom prst="straightConnector1">
            <a:avLst/>
          </a:prstGeom>
          <a:ln w="38100">
            <a:solidFill>
              <a:schemeClr val="tx1">
                <a:lumMod val="50000"/>
              </a:schemeClr>
            </a:solidFill>
            <a:prstDash val="sys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 xmlns:a16="http://schemas.microsoft.com/office/drawing/2014/main" id="{362C54E8-A944-294C-99D7-B1C1F9AF827D}"/>
              </a:ext>
            </a:extLst>
          </p:cNvPr>
          <p:cNvSpPr txBox="1"/>
          <p:nvPr/>
        </p:nvSpPr>
        <p:spPr>
          <a:xfrm>
            <a:off x="313795" y="3105836"/>
            <a:ext cx="2884588"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               ,             )</a:t>
            </a:r>
          </a:p>
        </p:txBody>
      </p:sp>
      <p:sp>
        <p:nvSpPr>
          <p:cNvPr id="2" name="Title 1">
            <a:extLst>
              <a:ext uri="{FF2B5EF4-FFF2-40B4-BE49-F238E27FC236}">
                <a16:creationId xmlns="" xmlns:a16="http://schemas.microsoft.com/office/drawing/2014/main" id="{4C1B584B-C97F-4280-A16C-ABFABC535E5A}"/>
              </a:ext>
            </a:extLst>
          </p:cNvPr>
          <p:cNvSpPr>
            <a:spLocks noGrp="1"/>
          </p:cNvSpPr>
          <p:nvPr>
            <p:ph type="title"/>
          </p:nvPr>
        </p:nvSpPr>
        <p:spPr/>
        <p:txBody>
          <a:bodyPr/>
          <a:lstStyle/>
          <a:p>
            <a:r>
              <a:rPr lang="en-US" dirty="0"/>
              <a:t>Assume a model is already trained</a:t>
            </a:r>
          </a:p>
        </p:txBody>
      </p:sp>
      <p:sp>
        <p:nvSpPr>
          <p:cNvPr id="38" name="TextBox 37">
            <a:extLst>
              <a:ext uri="{FF2B5EF4-FFF2-40B4-BE49-F238E27FC236}">
                <a16:creationId xmlns="" xmlns:a16="http://schemas.microsoft.com/office/drawing/2014/main" id="{630AE675-0B7E-EA41-8E46-4858E8D9A076}"/>
              </a:ext>
            </a:extLst>
          </p:cNvPr>
          <p:cNvSpPr txBox="1"/>
          <p:nvPr/>
        </p:nvSpPr>
        <p:spPr>
          <a:xfrm>
            <a:off x="492167" y="3105835"/>
            <a:ext cx="1514106" cy="461665"/>
          </a:xfrm>
          <a:prstGeom prst="rect">
            <a:avLst/>
          </a:prstGeom>
          <a:noFill/>
          <a:ln>
            <a:noFill/>
          </a:ln>
        </p:spPr>
        <p:txBody>
          <a:bodyPr wrap="square" rtlCol="0">
            <a:spAutoFit/>
          </a:bodyPr>
          <a:lstStyle/>
          <a:p>
            <a:r>
              <a:rPr lang="en-US" altLang="zh-CN" sz="2400" b="1" dirty="0">
                <a:solidFill>
                  <a:srgbClr val="C17A90"/>
                </a:solidFill>
                <a:latin typeface="Times New Roman" charset="0"/>
                <a:ea typeface="Times New Roman" charset="0"/>
                <a:cs typeface="Times New Roman" charset="0"/>
              </a:rPr>
              <a:t>cascaded</a:t>
            </a:r>
            <a:endParaRPr lang="en-US" sz="2400" b="1" dirty="0">
              <a:solidFill>
                <a:srgbClr val="C17A90"/>
              </a:solidFill>
              <a:latin typeface="Times New Roman" charset="0"/>
              <a:ea typeface="Times New Roman" charset="0"/>
              <a:cs typeface="Times New Roman" charset="0"/>
            </a:endParaRPr>
          </a:p>
        </p:txBody>
      </p:sp>
      <p:sp>
        <p:nvSpPr>
          <p:cNvPr id="40" name="TextBox 39">
            <a:extLst>
              <a:ext uri="{FF2B5EF4-FFF2-40B4-BE49-F238E27FC236}">
                <a16:creationId xmlns="" xmlns:a16="http://schemas.microsoft.com/office/drawing/2014/main" id="{740BF692-DFBB-1B4E-9D9C-479535407470}"/>
              </a:ext>
            </a:extLst>
          </p:cNvPr>
          <p:cNvSpPr txBox="1"/>
          <p:nvPr/>
        </p:nvSpPr>
        <p:spPr>
          <a:xfrm>
            <a:off x="1828800" y="3105834"/>
            <a:ext cx="1369583" cy="461665"/>
          </a:xfrm>
          <a:prstGeom prst="rect">
            <a:avLst/>
          </a:prstGeom>
          <a:noFill/>
          <a:ln>
            <a:noFill/>
          </a:ln>
        </p:spPr>
        <p:txBody>
          <a:bodyPr wrap="square" rtlCol="0">
            <a:spAutoFit/>
          </a:bodyPr>
          <a:lstStyle/>
          <a:p>
            <a:r>
              <a:rPr lang="en-US" sz="2400" b="1" dirty="0">
                <a:solidFill>
                  <a:srgbClr val="C17A90"/>
                </a:solidFill>
                <a:latin typeface="Times New Roman" charset="0"/>
                <a:ea typeface="Times New Roman" charset="0"/>
                <a:cs typeface="Times New Roman" charset="0"/>
              </a:rPr>
              <a:t>ordered</a:t>
            </a:r>
          </a:p>
        </p:txBody>
      </p:sp>
      <p:sp>
        <p:nvSpPr>
          <p:cNvPr id="62" name="Rounded Rectangle 61">
            <a:extLst>
              <a:ext uri="{FF2B5EF4-FFF2-40B4-BE49-F238E27FC236}">
                <a16:creationId xmlns="" xmlns:a16="http://schemas.microsoft.com/office/drawing/2014/main" id="{909F75B9-0062-E240-8CF3-4202B5100BA2}"/>
              </a:ext>
            </a:extLst>
          </p:cNvPr>
          <p:cNvSpPr/>
          <p:nvPr/>
        </p:nvSpPr>
        <p:spPr>
          <a:xfrm>
            <a:off x="3521278" y="2979595"/>
            <a:ext cx="1941013" cy="714142"/>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entury Gothic" panose="020B0502020202020204" pitchFamily="34" charset="0"/>
            </a:endParaRPr>
          </a:p>
        </p:txBody>
      </p:sp>
      <p:sp>
        <p:nvSpPr>
          <p:cNvPr id="50" name="TextBox 49">
            <a:extLst>
              <a:ext uri="{FF2B5EF4-FFF2-40B4-BE49-F238E27FC236}">
                <a16:creationId xmlns="" xmlns:a16="http://schemas.microsoft.com/office/drawing/2014/main" id="{FBAE29BC-60CA-D341-9069-7E9CEDB2EAFD}"/>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TextBox 2">
            <a:extLst>
              <a:ext uri="{FF2B5EF4-FFF2-40B4-BE49-F238E27FC236}">
                <a16:creationId xmlns="" xmlns:a16="http://schemas.microsoft.com/office/drawing/2014/main" id="{6CF9ECFB-E6E8-BD49-869A-90663D307E7A}"/>
              </a:ext>
            </a:extLst>
          </p:cNvPr>
          <p:cNvSpPr txBox="1"/>
          <p:nvPr/>
        </p:nvSpPr>
        <p:spPr>
          <a:xfrm>
            <a:off x="3455114" y="3044279"/>
            <a:ext cx="2113765" cy="523220"/>
          </a:xfrm>
          <a:prstGeom prst="rect">
            <a:avLst/>
          </a:prstGeom>
          <a:noFill/>
        </p:spPr>
        <p:txBody>
          <a:bodyPr wrap="square" rtlCol="0">
            <a:spAutoFit/>
          </a:bodyPr>
          <a:lstStyle/>
          <a:p>
            <a:pPr algn="ctr"/>
            <a:r>
              <a:rPr lang="en-US" sz="2800" smtClean="0">
                <a:latin typeface="Century Gothic" panose="020B0502020202020204" pitchFamily="34" charset="0"/>
              </a:rPr>
              <a:t>model</a:t>
            </a:r>
            <a:endParaRPr lang="en-US" sz="2800" dirty="0">
              <a:latin typeface="Century Gothic" panose="020B0502020202020204" pitchFamily="34" charset="0"/>
            </a:endParaRPr>
          </a:p>
        </p:txBody>
      </p:sp>
      <p:grpSp>
        <p:nvGrpSpPr>
          <p:cNvPr id="17" name="Group 16">
            <a:extLst>
              <a:ext uri="{FF2B5EF4-FFF2-40B4-BE49-F238E27FC236}">
                <a16:creationId xmlns="" xmlns:a16="http://schemas.microsoft.com/office/drawing/2014/main" id="{BA1DE1EE-46CA-6646-A0B2-7CFC41AEDD1A}"/>
              </a:ext>
            </a:extLst>
          </p:cNvPr>
          <p:cNvGrpSpPr/>
          <p:nvPr/>
        </p:nvGrpSpPr>
        <p:grpSpPr>
          <a:xfrm>
            <a:off x="6609395" y="2524303"/>
            <a:ext cx="2027359" cy="1752807"/>
            <a:chOff x="6609395" y="2524303"/>
            <a:chExt cx="2027359" cy="1752807"/>
          </a:xfrm>
        </p:grpSpPr>
        <p:sp>
          <p:nvSpPr>
            <p:cNvPr id="14" name="Left Brace 13">
              <a:extLst>
                <a:ext uri="{FF2B5EF4-FFF2-40B4-BE49-F238E27FC236}">
                  <a16:creationId xmlns="" xmlns:a16="http://schemas.microsoft.com/office/drawing/2014/main" id="{80FD5245-391C-B44C-98A8-F2704484AFB5}"/>
                </a:ext>
              </a:extLst>
            </p:cNvPr>
            <p:cNvSpPr/>
            <p:nvPr/>
          </p:nvSpPr>
          <p:spPr>
            <a:xfrm>
              <a:off x="6609395" y="2655329"/>
              <a:ext cx="351264" cy="1443344"/>
            </a:xfrm>
            <a:prstGeom prst="lef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 xmlns:a16="http://schemas.microsoft.com/office/drawing/2014/main" id="{2D8F2DB2-EC64-B449-8F54-F7BE4BE32A8D}"/>
                </a:ext>
              </a:extLst>
            </p:cNvPr>
            <p:cNvSpPr txBox="1"/>
            <p:nvPr/>
          </p:nvSpPr>
          <p:spPr>
            <a:xfrm>
              <a:off x="6946868" y="2524303"/>
              <a:ext cx="138371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before: 0.4</a:t>
              </a:r>
            </a:p>
          </p:txBody>
        </p:sp>
        <p:sp>
          <p:nvSpPr>
            <p:cNvPr id="51" name="TextBox 50">
              <a:extLst>
                <a:ext uri="{FF2B5EF4-FFF2-40B4-BE49-F238E27FC236}">
                  <a16:creationId xmlns="" xmlns:a16="http://schemas.microsoft.com/office/drawing/2014/main" id="{426AFBEB-B8C8-5B4B-B52B-2FFCD78D280E}"/>
                </a:ext>
              </a:extLst>
            </p:cNvPr>
            <p:cNvSpPr txBox="1"/>
            <p:nvPr/>
          </p:nvSpPr>
          <p:spPr>
            <a:xfrm>
              <a:off x="6946868" y="2797937"/>
              <a:ext cx="1160895"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after: 0.2</a:t>
              </a:r>
            </a:p>
          </p:txBody>
        </p:sp>
        <p:sp>
          <p:nvSpPr>
            <p:cNvPr id="52" name="TextBox 51">
              <a:extLst>
                <a:ext uri="{FF2B5EF4-FFF2-40B4-BE49-F238E27FC236}">
                  <a16:creationId xmlns="" xmlns:a16="http://schemas.microsoft.com/office/drawing/2014/main" id="{7FCE5BF8-00B5-8A40-AC4C-DFA9F72F098B}"/>
                </a:ext>
              </a:extLst>
            </p:cNvPr>
            <p:cNvSpPr txBox="1"/>
            <p:nvPr/>
          </p:nvSpPr>
          <p:spPr>
            <a:xfrm>
              <a:off x="6946868" y="3092453"/>
              <a:ext cx="155683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includes: 0.1</a:t>
              </a:r>
            </a:p>
          </p:txBody>
        </p:sp>
        <p:sp>
          <p:nvSpPr>
            <p:cNvPr id="53" name="TextBox 52">
              <a:extLst>
                <a:ext uri="{FF2B5EF4-FFF2-40B4-BE49-F238E27FC236}">
                  <a16:creationId xmlns="" xmlns:a16="http://schemas.microsoft.com/office/drawing/2014/main" id="{00FE164C-0C04-CC49-A4E5-416AD3123E24}"/>
                </a:ext>
              </a:extLst>
            </p:cNvPr>
            <p:cNvSpPr txBox="1"/>
            <p:nvPr/>
          </p:nvSpPr>
          <p:spPr>
            <a:xfrm>
              <a:off x="6946868" y="3629985"/>
              <a:ext cx="1285929"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equal: 0.0</a:t>
              </a:r>
            </a:p>
          </p:txBody>
        </p:sp>
        <p:sp>
          <p:nvSpPr>
            <p:cNvPr id="19" name="TextBox 18">
              <a:extLst>
                <a:ext uri="{FF2B5EF4-FFF2-40B4-BE49-F238E27FC236}">
                  <a16:creationId xmlns="" xmlns:a16="http://schemas.microsoft.com/office/drawing/2014/main" id="{AA036769-6191-554A-84BD-B01D9C92ADAC}"/>
                </a:ext>
              </a:extLst>
            </p:cNvPr>
            <p:cNvSpPr txBox="1"/>
            <p:nvPr/>
          </p:nvSpPr>
          <p:spPr>
            <a:xfrm>
              <a:off x="6946868" y="3907778"/>
              <a:ext cx="136608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vague: 0.2</a:t>
              </a:r>
            </a:p>
          </p:txBody>
        </p:sp>
        <p:sp>
          <p:nvSpPr>
            <p:cNvPr id="20" name="TextBox 19">
              <a:extLst>
                <a:ext uri="{FF2B5EF4-FFF2-40B4-BE49-F238E27FC236}">
                  <a16:creationId xmlns="" xmlns:a16="http://schemas.microsoft.com/office/drawing/2014/main" id="{C35CA577-D622-1E48-A162-621603664DC6}"/>
                </a:ext>
              </a:extLst>
            </p:cNvPr>
            <p:cNvSpPr txBox="1"/>
            <p:nvPr/>
          </p:nvSpPr>
          <p:spPr>
            <a:xfrm>
              <a:off x="6946868" y="3382833"/>
              <a:ext cx="168988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included: 0.1</a:t>
              </a:r>
            </a:p>
          </p:txBody>
        </p:sp>
      </p:grpSp>
      <p:sp>
        <p:nvSpPr>
          <p:cNvPr id="16" name="TextBox 15">
            <a:extLst>
              <a:ext uri="{FF2B5EF4-FFF2-40B4-BE49-F238E27FC236}">
                <a16:creationId xmlns="" xmlns:a16="http://schemas.microsoft.com/office/drawing/2014/main" id="{D036EF41-8A97-7F48-942B-90F8222FB384}"/>
              </a:ext>
            </a:extLst>
          </p:cNvPr>
          <p:cNvSpPr txBox="1"/>
          <p:nvPr/>
        </p:nvSpPr>
        <p:spPr>
          <a:xfrm>
            <a:off x="6384214" y="1829425"/>
            <a:ext cx="250902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Confidence/</a:t>
            </a:r>
            <a:r>
              <a:rPr lang="en-US" dirty="0" err="1">
                <a:solidFill>
                  <a:schemeClr val="bg2"/>
                </a:solidFill>
                <a:latin typeface="Century Gothic" panose="020B0502020202020204" pitchFamily="34" charset="0"/>
              </a:rPr>
              <a:t>softmax</a:t>
            </a:r>
            <a:endParaRPr lang="en-US" dirty="0">
              <a:solidFill>
                <a:schemeClr val="bg2"/>
              </a:solidFill>
              <a:latin typeface="Century Gothic" panose="020B0502020202020204" pitchFamily="34" charset="0"/>
            </a:endParaRPr>
          </a:p>
        </p:txBody>
      </p:sp>
      <p:sp>
        <p:nvSpPr>
          <p:cNvPr id="18" name="TextBox 17">
            <a:extLst>
              <a:ext uri="{FF2B5EF4-FFF2-40B4-BE49-F238E27FC236}">
                <a16:creationId xmlns="" xmlns:a16="http://schemas.microsoft.com/office/drawing/2014/main" id="{2FC63BFE-90C3-7A45-AA6E-64636E597A33}"/>
              </a:ext>
            </a:extLst>
          </p:cNvPr>
          <p:cNvSpPr txBox="1"/>
          <p:nvPr/>
        </p:nvSpPr>
        <p:spPr>
          <a:xfrm>
            <a:off x="1028133" y="5099417"/>
            <a:ext cx="7381874" cy="830997"/>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Based on these confidence scores, we need to solve for the final temporal graph.</a:t>
            </a:r>
          </a:p>
        </p:txBody>
      </p:sp>
    </p:spTree>
    <p:extLst>
      <p:ext uri="{BB962C8B-B14F-4D97-AF65-F5344CB8AC3E}">
        <p14:creationId xmlns:p14="http://schemas.microsoft.com/office/powerpoint/2010/main" val="42305715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dissolve">
                                      <p:cBhvr>
                                        <p:cTn id="11" dur="500"/>
                                        <p:tgtEl>
                                          <p:spTgt spid="16"/>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wipe(left)">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 xmlns:a16="http://schemas.microsoft.com/office/drawing/2014/main" id="{36B1D67F-0313-A74E-B05C-364131DACC42}"/>
              </a:ext>
            </a:extLst>
          </p:cNvPr>
          <p:cNvSpPr txBox="1"/>
          <p:nvPr/>
        </p:nvSpPr>
        <p:spPr>
          <a:xfrm>
            <a:off x="1811908" y="3905336"/>
            <a:ext cx="1725152" cy="461665"/>
          </a:xfrm>
          <a:prstGeom prst="rect">
            <a:avLst/>
          </a:prstGeom>
          <a:noFill/>
          <a:ln>
            <a:noFill/>
          </a:ln>
        </p:spPr>
        <p:txBody>
          <a:bodyPr wrap="none" rtlCol="0">
            <a:spAutoFit/>
          </a:bodyPr>
          <a:lstStyle/>
          <a:p>
            <a:r>
              <a:rPr lang="en-US" altLang="zh-CN" sz="2400" b="1" dirty="0">
                <a:solidFill>
                  <a:srgbClr val="C00000"/>
                </a:solidFill>
                <a:latin typeface="Century Gothic" panose="020B0502020202020204" pitchFamily="34" charset="0"/>
                <a:ea typeface="Times New Roman" charset="0"/>
                <a:cs typeface="Times New Roman" charset="0"/>
              </a:rPr>
              <a:t>cascaded</a:t>
            </a:r>
            <a:endParaRPr lang="en-US" sz="24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 xmlns:a16="http://schemas.microsoft.com/office/drawing/2014/main" id="{CA72676C-C889-F54C-93B4-2CEDC29787F3}"/>
              </a:ext>
            </a:extLst>
          </p:cNvPr>
          <p:cNvSpPr txBox="1"/>
          <p:nvPr/>
        </p:nvSpPr>
        <p:spPr>
          <a:xfrm>
            <a:off x="5585800" y="3905336"/>
            <a:ext cx="1378904"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 xmlns:a16="http://schemas.microsoft.com/office/drawing/2014/main" id="{5E97BEC5-F97E-4245-9A44-4C677DCF82BD}"/>
              </a:ext>
            </a:extLst>
          </p:cNvPr>
          <p:cNvSpPr txBox="1"/>
          <p:nvPr/>
        </p:nvSpPr>
        <p:spPr>
          <a:xfrm>
            <a:off x="3733800" y="1905000"/>
            <a:ext cx="1316386"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monitor</a:t>
            </a:r>
          </a:p>
        </p:txBody>
      </p:sp>
      <p:cxnSp>
        <p:nvCxnSpPr>
          <p:cNvPr id="28" name="Straight Connector 27">
            <a:extLst>
              <a:ext uri="{FF2B5EF4-FFF2-40B4-BE49-F238E27FC236}">
                <a16:creationId xmlns="" xmlns:a16="http://schemas.microsoft.com/office/drawing/2014/main" id="{37B11748-6444-954F-ABE5-219A4F7EDA66}"/>
              </a:ext>
            </a:extLst>
          </p:cNvPr>
          <p:cNvCxnSpPr/>
          <p:nvPr/>
        </p:nvCxnSpPr>
        <p:spPr>
          <a:xfrm flipH="1" flipV="1">
            <a:off x="3499546" y="4087180"/>
            <a:ext cx="2008858" cy="28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146FD400-E108-F84E-A3FF-39FED7C840C7}"/>
              </a:ext>
            </a:extLst>
          </p:cNvPr>
          <p:cNvCxnSpPr>
            <a:cxnSpLocks/>
          </p:cNvCxnSpPr>
          <p:nvPr/>
        </p:nvCxnSpPr>
        <p:spPr>
          <a:xfrm flipH="1">
            <a:off x="2240264" y="2311716"/>
            <a:ext cx="1282506" cy="147200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532B21EF-3D88-9E4D-9E5D-20F4E1ED6C37}"/>
              </a:ext>
            </a:extLst>
          </p:cNvPr>
          <p:cNvCxnSpPr>
            <a:cxnSpLocks/>
          </p:cNvCxnSpPr>
          <p:nvPr/>
        </p:nvCxnSpPr>
        <p:spPr>
          <a:xfrm>
            <a:off x="5399731" y="2329637"/>
            <a:ext cx="1254706" cy="160424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 xmlns:a16="http://schemas.microsoft.com/office/drawing/2014/main" id="{646D566B-5C87-434C-942D-9581C9F1DFCE}"/>
              </a:ext>
            </a:extLst>
          </p:cNvPr>
          <p:cNvCxnSpPr>
            <a:cxnSpLocks/>
          </p:cNvCxnSpPr>
          <p:nvPr/>
        </p:nvCxnSpPr>
        <p:spPr>
          <a:xfrm>
            <a:off x="4998142" y="2393114"/>
            <a:ext cx="1254706" cy="1604242"/>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3CF42BF5-F17A-3A4C-814B-7F492E7A695B}"/>
              </a:ext>
            </a:extLst>
          </p:cNvPr>
          <p:cNvCxnSpPr/>
          <p:nvPr/>
        </p:nvCxnSpPr>
        <p:spPr>
          <a:xfrm flipH="1" flipV="1">
            <a:off x="3499546" y="4378597"/>
            <a:ext cx="2008858" cy="287"/>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 xmlns:a16="http://schemas.microsoft.com/office/drawing/2014/main" id="{D09CE199-21E2-4F49-8DC9-31AF6256D858}"/>
              </a:ext>
            </a:extLst>
          </p:cNvPr>
          <p:cNvCxnSpPr>
            <a:cxnSpLocks/>
          </p:cNvCxnSpPr>
          <p:nvPr/>
        </p:nvCxnSpPr>
        <p:spPr>
          <a:xfrm flipH="1">
            <a:off x="2576516" y="2491050"/>
            <a:ext cx="1282506" cy="1472005"/>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C14E1151-C763-6B44-9905-25C11B0E8D49}"/>
              </a:ext>
            </a:extLst>
          </p:cNvPr>
          <p:cNvSpPr txBox="1"/>
          <p:nvPr/>
        </p:nvSpPr>
        <p:spPr>
          <a:xfrm>
            <a:off x="4208495" y="3774831"/>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0.8</a:t>
            </a:r>
          </a:p>
        </p:txBody>
      </p:sp>
      <p:sp>
        <p:nvSpPr>
          <p:cNvPr id="46" name="TextBox 45">
            <a:extLst>
              <a:ext uri="{FF2B5EF4-FFF2-40B4-BE49-F238E27FC236}">
                <a16:creationId xmlns="" xmlns:a16="http://schemas.microsoft.com/office/drawing/2014/main" id="{6E096EB5-38D5-0743-8D99-B4052BCB6E7A}"/>
              </a:ext>
            </a:extLst>
          </p:cNvPr>
          <p:cNvSpPr txBox="1"/>
          <p:nvPr/>
        </p:nvSpPr>
        <p:spPr>
          <a:xfrm>
            <a:off x="4208495" y="440787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0.2</a:t>
            </a:r>
          </a:p>
        </p:txBody>
      </p:sp>
      <p:sp>
        <p:nvSpPr>
          <p:cNvPr id="47" name="TextBox 46">
            <a:extLst>
              <a:ext uri="{FF2B5EF4-FFF2-40B4-BE49-F238E27FC236}">
                <a16:creationId xmlns="" xmlns:a16="http://schemas.microsoft.com/office/drawing/2014/main" id="{2FC63F5C-DF4C-4045-8F83-F255995B2736}"/>
              </a:ext>
            </a:extLst>
          </p:cNvPr>
          <p:cNvSpPr txBox="1"/>
          <p:nvPr/>
        </p:nvSpPr>
        <p:spPr>
          <a:xfrm>
            <a:off x="6060741" y="2836984"/>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0.7</a:t>
            </a:r>
          </a:p>
        </p:txBody>
      </p:sp>
      <p:sp>
        <p:nvSpPr>
          <p:cNvPr id="48" name="TextBox 47">
            <a:extLst>
              <a:ext uri="{FF2B5EF4-FFF2-40B4-BE49-F238E27FC236}">
                <a16:creationId xmlns="" xmlns:a16="http://schemas.microsoft.com/office/drawing/2014/main" id="{9371D5F8-DAD1-7241-A931-1F2E16DF3B63}"/>
              </a:ext>
            </a:extLst>
          </p:cNvPr>
          <p:cNvSpPr txBox="1"/>
          <p:nvPr/>
        </p:nvSpPr>
        <p:spPr>
          <a:xfrm>
            <a:off x="5123364" y="3057513"/>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0.3</a:t>
            </a:r>
          </a:p>
        </p:txBody>
      </p:sp>
      <p:sp>
        <p:nvSpPr>
          <p:cNvPr id="49" name="TextBox 48">
            <a:extLst>
              <a:ext uri="{FF2B5EF4-FFF2-40B4-BE49-F238E27FC236}">
                <a16:creationId xmlns="" xmlns:a16="http://schemas.microsoft.com/office/drawing/2014/main" id="{8FD65723-6CE8-5444-89C6-0EF49270A308}"/>
              </a:ext>
            </a:extLst>
          </p:cNvPr>
          <p:cNvSpPr txBox="1"/>
          <p:nvPr/>
        </p:nvSpPr>
        <p:spPr>
          <a:xfrm>
            <a:off x="2381045" y="277414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a:t>
            </a:r>
          </a:p>
        </p:txBody>
      </p:sp>
      <p:sp>
        <p:nvSpPr>
          <p:cNvPr id="50" name="TextBox 49">
            <a:extLst>
              <a:ext uri="{FF2B5EF4-FFF2-40B4-BE49-F238E27FC236}">
                <a16:creationId xmlns="" xmlns:a16="http://schemas.microsoft.com/office/drawing/2014/main" id="{82FAF982-2278-5B41-A01A-0A29A607C240}"/>
              </a:ext>
            </a:extLst>
          </p:cNvPr>
          <p:cNvSpPr txBox="1"/>
          <p:nvPr/>
        </p:nvSpPr>
        <p:spPr>
          <a:xfrm>
            <a:off x="3201556" y="3071445"/>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a:t>
            </a:r>
          </a:p>
        </p:txBody>
      </p:sp>
      <p:sp>
        <p:nvSpPr>
          <p:cNvPr id="51" name="TextBox 50">
            <a:extLst>
              <a:ext uri="{FF2B5EF4-FFF2-40B4-BE49-F238E27FC236}">
                <a16:creationId xmlns="" xmlns:a16="http://schemas.microsoft.com/office/drawing/2014/main" id="{4348F4B8-66E5-774D-9209-78F3086CE3E6}"/>
              </a:ext>
            </a:extLst>
          </p:cNvPr>
          <p:cNvSpPr txBox="1"/>
          <p:nvPr/>
        </p:nvSpPr>
        <p:spPr>
          <a:xfrm>
            <a:off x="2493980" y="5401319"/>
            <a:ext cx="4270721"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Time cannot be a loop!</a:t>
            </a:r>
          </a:p>
        </p:txBody>
      </p:sp>
      <p:sp>
        <p:nvSpPr>
          <p:cNvPr id="3" name="Arc 2">
            <a:extLst>
              <a:ext uri="{FF2B5EF4-FFF2-40B4-BE49-F238E27FC236}">
                <a16:creationId xmlns="" xmlns:a16="http://schemas.microsoft.com/office/drawing/2014/main" id="{ED6FB6A5-3427-E84B-8BF6-96488F5CF0AB}"/>
              </a:ext>
            </a:extLst>
          </p:cNvPr>
          <p:cNvSpPr/>
          <p:nvPr/>
        </p:nvSpPr>
        <p:spPr>
          <a:xfrm rot="8100000">
            <a:off x="3924359" y="2700406"/>
            <a:ext cx="1047002" cy="1083546"/>
          </a:xfrm>
          <a:prstGeom prst="arc">
            <a:avLst>
              <a:gd name="adj1" fmla="val 1281952"/>
              <a:gd name="adj2" fmla="val 20515349"/>
            </a:avLst>
          </a:prstGeom>
          <a:ln w="38100">
            <a:solidFill>
              <a:schemeClr val="tx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 xmlns:a16="http://schemas.microsoft.com/office/drawing/2014/main" id="{FCB651A3-D740-C24E-B3E5-12893BE5765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4" name="TextBox 3">
            <a:extLst>
              <a:ext uri="{FF2B5EF4-FFF2-40B4-BE49-F238E27FC236}">
                <a16:creationId xmlns="" xmlns:a16="http://schemas.microsoft.com/office/drawing/2014/main" id="{49B50B11-BE7E-A14F-B169-791CA5FA8C14}"/>
              </a:ext>
            </a:extLst>
          </p:cNvPr>
          <p:cNvSpPr txBox="1"/>
          <p:nvPr/>
        </p:nvSpPr>
        <p:spPr>
          <a:xfrm>
            <a:off x="6991212" y="2702113"/>
            <a:ext cx="2076209" cy="1169551"/>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Local inference:</a:t>
            </a:r>
          </a:p>
          <a:p>
            <a:endParaRPr lang="en-US" sz="1400" i="1" dirty="0">
              <a:solidFill>
                <a:schemeClr val="bg2"/>
              </a:solidFill>
              <a:latin typeface="Century Gothic" panose="020B0502020202020204" pitchFamily="34" charset="0"/>
            </a:endParaRPr>
          </a:p>
          <a:p>
            <a:r>
              <a:rPr lang="en-US" sz="1400" i="1" dirty="0">
                <a:solidFill>
                  <a:schemeClr val="bg2"/>
                </a:solidFill>
                <a:latin typeface="Century Gothic" panose="020B0502020202020204" pitchFamily="34" charset="0"/>
              </a:rPr>
              <a:t>Mani et al., 2006</a:t>
            </a:r>
          </a:p>
          <a:p>
            <a:r>
              <a:rPr lang="en-US" sz="1400" i="1" dirty="0">
                <a:solidFill>
                  <a:schemeClr val="bg2"/>
                </a:solidFill>
                <a:latin typeface="Century Gothic" panose="020B0502020202020204" pitchFamily="34" charset="0"/>
              </a:rPr>
              <a:t>Chambers et al., 2007</a:t>
            </a:r>
          </a:p>
          <a:p>
            <a:r>
              <a:rPr lang="en-US" sz="1400" i="1" dirty="0" err="1">
                <a:solidFill>
                  <a:schemeClr val="bg2"/>
                </a:solidFill>
                <a:latin typeface="Century Gothic" panose="020B0502020202020204" pitchFamily="34" charset="0"/>
              </a:rPr>
              <a:t>Bethard</a:t>
            </a:r>
            <a:r>
              <a:rPr lang="en-US" sz="1400" i="1" dirty="0">
                <a:solidFill>
                  <a:schemeClr val="bg2"/>
                </a:solidFill>
                <a:latin typeface="Century Gothic" panose="020B0502020202020204" pitchFamily="34" charset="0"/>
              </a:rPr>
              <a:t> et al., 2007</a:t>
            </a:r>
          </a:p>
        </p:txBody>
      </p:sp>
    </p:spTree>
    <p:extLst>
      <p:ext uri="{BB962C8B-B14F-4D97-AF65-F5344CB8AC3E}">
        <p14:creationId xmlns:p14="http://schemas.microsoft.com/office/powerpoint/2010/main" val="378501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nodeType="clickEffect">
                                  <p:stCondLst>
                                    <p:cond delay="0"/>
                                  </p:stCondLst>
                                  <p:childTnLst>
                                    <p:animEffect transition="out" filter="fade">
                                      <p:cBhvr>
                                        <p:cTn id="6" dur="1000"/>
                                        <p:tgtEl>
                                          <p:spTgt spid="43"/>
                                        </p:tgtEl>
                                      </p:cBhvr>
                                    </p:animEffect>
                                    <p:anim calcmode="lin" valueType="num">
                                      <p:cBhvr>
                                        <p:cTn id="7" dur="1000"/>
                                        <p:tgtEl>
                                          <p:spTgt spid="43"/>
                                        </p:tgtEl>
                                        <p:attrNameLst>
                                          <p:attrName>ppt_x</p:attrName>
                                        </p:attrNameLst>
                                      </p:cBhvr>
                                      <p:tavLst>
                                        <p:tav tm="0">
                                          <p:val>
                                            <p:strVal val="ppt_x"/>
                                          </p:val>
                                        </p:tav>
                                        <p:tav tm="100000">
                                          <p:val>
                                            <p:strVal val="ppt_x"/>
                                          </p:val>
                                        </p:tav>
                                      </p:tavLst>
                                    </p:anim>
                                    <p:anim calcmode="lin" valueType="num">
                                      <p:cBhvr>
                                        <p:cTn id="8" dur="1000"/>
                                        <p:tgtEl>
                                          <p:spTgt spid="43"/>
                                        </p:tgtEl>
                                        <p:attrNameLst>
                                          <p:attrName>ppt_y</p:attrName>
                                        </p:attrNameLst>
                                      </p:cBhvr>
                                      <p:tavLst>
                                        <p:tav tm="0">
                                          <p:val>
                                            <p:strVal val="ppt_y"/>
                                          </p:val>
                                        </p:tav>
                                        <p:tav tm="100000">
                                          <p:val>
                                            <p:strVal val="ppt_y+.1"/>
                                          </p:val>
                                        </p:tav>
                                      </p:tavLst>
                                    </p:anim>
                                    <p:set>
                                      <p:cBhvr>
                                        <p:cTn id="9" dur="1" fill="hold">
                                          <p:stCondLst>
                                            <p:cond delay="999"/>
                                          </p:stCondLst>
                                        </p:cTn>
                                        <p:tgtEl>
                                          <p:spTgt spid="43"/>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50"/>
                                        </p:tgtEl>
                                      </p:cBhvr>
                                    </p:animEffect>
                                    <p:anim calcmode="lin" valueType="num">
                                      <p:cBhvr>
                                        <p:cTn id="12" dur="1000"/>
                                        <p:tgtEl>
                                          <p:spTgt spid="50"/>
                                        </p:tgtEl>
                                        <p:attrNameLst>
                                          <p:attrName>ppt_x</p:attrName>
                                        </p:attrNameLst>
                                      </p:cBhvr>
                                      <p:tavLst>
                                        <p:tav tm="0">
                                          <p:val>
                                            <p:strVal val="ppt_x"/>
                                          </p:val>
                                        </p:tav>
                                        <p:tav tm="100000">
                                          <p:val>
                                            <p:strVal val="ppt_x"/>
                                          </p:val>
                                        </p:tav>
                                      </p:tavLst>
                                    </p:anim>
                                    <p:anim calcmode="lin" valueType="num">
                                      <p:cBhvr>
                                        <p:cTn id="13" dur="1000"/>
                                        <p:tgtEl>
                                          <p:spTgt spid="50"/>
                                        </p:tgtEl>
                                        <p:attrNameLst>
                                          <p:attrName>ppt_y</p:attrName>
                                        </p:attrNameLst>
                                      </p:cBhvr>
                                      <p:tavLst>
                                        <p:tav tm="0">
                                          <p:val>
                                            <p:strVal val="ppt_y"/>
                                          </p:val>
                                        </p:tav>
                                        <p:tav tm="100000">
                                          <p:val>
                                            <p:strVal val="ppt_y+.1"/>
                                          </p:val>
                                        </p:tav>
                                      </p:tavLst>
                                    </p:anim>
                                    <p:set>
                                      <p:cBhvr>
                                        <p:cTn id="14" dur="1" fill="hold">
                                          <p:stCondLst>
                                            <p:cond delay="999"/>
                                          </p:stCondLst>
                                        </p:cTn>
                                        <p:tgtEl>
                                          <p:spTgt spid="5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exit" presetSubtype="0" fill="hold" nodeType="clickEffect">
                                  <p:stCondLst>
                                    <p:cond delay="0"/>
                                  </p:stCondLst>
                                  <p:childTnLst>
                                    <p:animEffect transition="out" filter="fade">
                                      <p:cBhvr>
                                        <p:cTn id="18" dur="1000"/>
                                        <p:tgtEl>
                                          <p:spTgt spid="42"/>
                                        </p:tgtEl>
                                      </p:cBhvr>
                                    </p:animEffect>
                                    <p:anim calcmode="lin" valueType="num">
                                      <p:cBhvr>
                                        <p:cTn id="19" dur="1000"/>
                                        <p:tgtEl>
                                          <p:spTgt spid="42"/>
                                        </p:tgtEl>
                                        <p:attrNameLst>
                                          <p:attrName>ppt_x</p:attrName>
                                        </p:attrNameLst>
                                      </p:cBhvr>
                                      <p:tavLst>
                                        <p:tav tm="0">
                                          <p:val>
                                            <p:strVal val="ppt_x"/>
                                          </p:val>
                                        </p:tav>
                                        <p:tav tm="100000">
                                          <p:val>
                                            <p:strVal val="ppt_x"/>
                                          </p:val>
                                        </p:tav>
                                      </p:tavLst>
                                    </p:anim>
                                    <p:anim calcmode="lin" valueType="num">
                                      <p:cBhvr>
                                        <p:cTn id="20" dur="1000"/>
                                        <p:tgtEl>
                                          <p:spTgt spid="42"/>
                                        </p:tgtEl>
                                        <p:attrNameLst>
                                          <p:attrName>ppt_y</p:attrName>
                                        </p:attrNameLst>
                                      </p:cBhvr>
                                      <p:tavLst>
                                        <p:tav tm="0">
                                          <p:val>
                                            <p:strVal val="ppt_y"/>
                                          </p:val>
                                        </p:tav>
                                        <p:tav tm="100000">
                                          <p:val>
                                            <p:strVal val="ppt_y+.1"/>
                                          </p:val>
                                        </p:tav>
                                      </p:tavLst>
                                    </p:anim>
                                    <p:set>
                                      <p:cBhvr>
                                        <p:cTn id="21" dur="1" fill="hold">
                                          <p:stCondLst>
                                            <p:cond delay="999"/>
                                          </p:stCondLst>
                                        </p:cTn>
                                        <p:tgtEl>
                                          <p:spTgt spid="42"/>
                                        </p:tgtEl>
                                        <p:attrNameLst>
                                          <p:attrName>style.visibility</p:attrName>
                                        </p:attrNameLst>
                                      </p:cBhvr>
                                      <p:to>
                                        <p:strVal val="hidden"/>
                                      </p:to>
                                    </p:set>
                                  </p:childTnLst>
                                </p:cTn>
                              </p:par>
                              <p:par>
                                <p:cTn id="22" presetID="42" presetClass="exit" presetSubtype="0" fill="hold" grpId="0" nodeType="withEffect">
                                  <p:stCondLst>
                                    <p:cond delay="0"/>
                                  </p:stCondLst>
                                  <p:childTnLst>
                                    <p:animEffect transition="out" filter="fade">
                                      <p:cBhvr>
                                        <p:cTn id="23" dur="1000"/>
                                        <p:tgtEl>
                                          <p:spTgt spid="46"/>
                                        </p:tgtEl>
                                      </p:cBhvr>
                                    </p:animEffect>
                                    <p:anim calcmode="lin" valueType="num">
                                      <p:cBhvr>
                                        <p:cTn id="24" dur="1000"/>
                                        <p:tgtEl>
                                          <p:spTgt spid="46"/>
                                        </p:tgtEl>
                                        <p:attrNameLst>
                                          <p:attrName>ppt_x</p:attrName>
                                        </p:attrNameLst>
                                      </p:cBhvr>
                                      <p:tavLst>
                                        <p:tav tm="0">
                                          <p:val>
                                            <p:strVal val="ppt_x"/>
                                          </p:val>
                                        </p:tav>
                                        <p:tav tm="100000">
                                          <p:val>
                                            <p:strVal val="ppt_x"/>
                                          </p:val>
                                        </p:tav>
                                      </p:tavLst>
                                    </p:anim>
                                    <p:anim calcmode="lin" valueType="num">
                                      <p:cBhvr>
                                        <p:cTn id="25" dur="1000"/>
                                        <p:tgtEl>
                                          <p:spTgt spid="46"/>
                                        </p:tgtEl>
                                        <p:attrNameLst>
                                          <p:attrName>ppt_y</p:attrName>
                                        </p:attrNameLst>
                                      </p:cBhvr>
                                      <p:tavLst>
                                        <p:tav tm="0">
                                          <p:val>
                                            <p:strVal val="ppt_y"/>
                                          </p:val>
                                        </p:tav>
                                        <p:tav tm="100000">
                                          <p:val>
                                            <p:strVal val="ppt_y+.1"/>
                                          </p:val>
                                        </p:tav>
                                      </p:tavLst>
                                    </p:anim>
                                    <p:set>
                                      <p:cBhvr>
                                        <p:cTn id="26" dur="1" fill="hold">
                                          <p:stCondLst>
                                            <p:cond delay="999"/>
                                          </p:stCondLst>
                                        </p:cTn>
                                        <p:tgtEl>
                                          <p:spTgt spid="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42" presetClass="exit" presetSubtype="0" fill="hold" nodeType="clickEffect">
                                  <p:stCondLst>
                                    <p:cond delay="0"/>
                                  </p:stCondLst>
                                  <p:childTnLst>
                                    <p:animEffect transition="out" filter="fade">
                                      <p:cBhvr>
                                        <p:cTn id="30" dur="1000"/>
                                        <p:tgtEl>
                                          <p:spTgt spid="41"/>
                                        </p:tgtEl>
                                      </p:cBhvr>
                                    </p:animEffect>
                                    <p:anim calcmode="lin" valueType="num">
                                      <p:cBhvr>
                                        <p:cTn id="31" dur="1000"/>
                                        <p:tgtEl>
                                          <p:spTgt spid="41"/>
                                        </p:tgtEl>
                                        <p:attrNameLst>
                                          <p:attrName>ppt_x</p:attrName>
                                        </p:attrNameLst>
                                      </p:cBhvr>
                                      <p:tavLst>
                                        <p:tav tm="0">
                                          <p:val>
                                            <p:strVal val="ppt_x"/>
                                          </p:val>
                                        </p:tav>
                                        <p:tav tm="100000">
                                          <p:val>
                                            <p:strVal val="ppt_x"/>
                                          </p:val>
                                        </p:tav>
                                      </p:tavLst>
                                    </p:anim>
                                    <p:anim calcmode="lin" valueType="num">
                                      <p:cBhvr>
                                        <p:cTn id="32" dur="1000"/>
                                        <p:tgtEl>
                                          <p:spTgt spid="41"/>
                                        </p:tgtEl>
                                        <p:attrNameLst>
                                          <p:attrName>ppt_y</p:attrName>
                                        </p:attrNameLst>
                                      </p:cBhvr>
                                      <p:tavLst>
                                        <p:tav tm="0">
                                          <p:val>
                                            <p:strVal val="ppt_y"/>
                                          </p:val>
                                        </p:tav>
                                        <p:tav tm="100000">
                                          <p:val>
                                            <p:strVal val="ppt_y+.1"/>
                                          </p:val>
                                        </p:tav>
                                      </p:tavLst>
                                    </p:anim>
                                    <p:set>
                                      <p:cBhvr>
                                        <p:cTn id="33" dur="1" fill="hold">
                                          <p:stCondLst>
                                            <p:cond delay="999"/>
                                          </p:stCondLst>
                                        </p:cTn>
                                        <p:tgtEl>
                                          <p:spTgt spid="41"/>
                                        </p:tgtEl>
                                        <p:attrNameLst>
                                          <p:attrName>style.visibility</p:attrName>
                                        </p:attrNameLst>
                                      </p:cBhvr>
                                      <p:to>
                                        <p:strVal val="hidden"/>
                                      </p:to>
                                    </p:set>
                                  </p:childTnLst>
                                </p:cTn>
                              </p:par>
                              <p:par>
                                <p:cTn id="34" presetID="42" presetClass="exit" presetSubtype="0" fill="hold" grpId="0" nodeType="withEffect">
                                  <p:stCondLst>
                                    <p:cond delay="0"/>
                                  </p:stCondLst>
                                  <p:childTnLst>
                                    <p:animEffect transition="out" filter="fade">
                                      <p:cBhvr>
                                        <p:cTn id="35" dur="1000"/>
                                        <p:tgtEl>
                                          <p:spTgt spid="48"/>
                                        </p:tgtEl>
                                      </p:cBhvr>
                                    </p:animEffect>
                                    <p:anim calcmode="lin" valueType="num">
                                      <p:cBhvr>
                                        <p:cTn id="36" dur="1000"/>
                                        <p:tgtEl>
                                          <p:spTgt spid="48"/>
                                        </p:tgtEl>
                                        <p:attrNameLst>
                                          <p:attrName>ppt_x</p:attrName>
                                        </p:attrNameLst>
                                      </p:cBhvr>
                                      <p:tavLst>
                                        <p:tav tm="0">
                                          <p:val>
                                            <p:strVal val="ppt_x"/>
                                          </p:val>
                                        </p:tav>
                                        <p:tav tm="100000">
                                          <p:val>
                                            <p:strVal val="ppt_x"/>
                                          </p:val>
                                        </p:tav>
                                      </p:tavLst>
                                    </p:anim>
                                    <p:anim calcmode="lin" valueType="num">
                                      <p:cBhvr>
                                        <p:cTn id="37" dur="1000"/>
                                        <p:tgtEl>
                                          <p:spTgt spid="48"/>
                                        </p:tgtEl>
                                        <p:attrNameLst>
                                          <p:attrName>ppt_y</p:attrName>
                                        </p:attrNameLst>
                                      </p:cBhvr>
                                      <p:tavLst>
                                        <p:tav tm="0">
                                          <p:val>
                                            <p:strVal val="ppt_y"/>
                                          </p:val>
                                        </p:tav>
                                        <p:tav tm="100000">
                                          <p:val>
                                            <p:strVal val="ppt_y+.1"/>
                                          </p:val>
                                        </p:tav>
                                      </p:tavLst>
                                    </p:anim>
                                    <p:set>
                                      <p:cBhvr>
                                        <p:cTn id="38" dur="1" fill="hold">
                                          <p:stCondLst>
                                            <p:cond delay="999"/>
                                          </p:stCondLst>
                                        </p:cTn>
                                        <p:tgtEl>
                                          <p:spTgt spid="4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up)">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p:cTn id="48" dur="500" fill="hold"/>
                                        <p:tgtEl>
                                          <p:spTgt spid="3"/>
                                        </p:tgtEl>
                                        <p:attrNameLst>
                                          <p:attrName>ppt_w</p:attrName>
                                        </p:attrNameLst>
                                      </p:cBhvr>
                                      <p:tavLst>
                                        <p:tav tm="0">
                                          <p:val>
                                            <p:fltVal val="0"/>
                                          </p:val>
                                        </p:tav>
                                        <p:tav tm="100000">
                                          <p:val>
                                            <p:strVal val="#ppt_w"/>
                                          </p:val>
                                        </p:tav>
                                      </p:tavLst>
                                    </p:anim>
                                    <p:anim calcmode="lin" valueType="num">
                                      <p:cBhvr>
                                        <p:cTn id="49" dur="500" fill="hold"/>
                                        <p:tgtEl>
                                          <p:spTgt spid="3"/>
                                        </p:tgtEl>
                                        <p:attrNameLst>
                                          <p:attrName>ppt_h</p:attrName>
                                        </p:attrNameLst>
                                      </p:cBhvr>
                                      <p:tavLst>
                                        <p:tav tm="0">
                                          <p:val>
                                            <p:fltVal val="0"/>
                                          </p:val>
                                        </p:tav>
                                        <p:tav tm="100000">
                                          <p:val>
                                            <p:strVal val="#ppt_h"/>
                                          </p:val>
                                        </p:tav>
                                      </p:tavLst>
                                    </p:anim>
                                    <p:animEffect transition="in" filter="fade">
                                      <p:cBhvr>
                                        <p:cTn id="50" dur="500"/>
                                        <p:tgtEl>
                                          <p:spTgt spid="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wipe(left)">
                                      <p:cBhvr>
                                        <p:cTn id="5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50" grpId="0"/>
      <p:bldP spid="51" grpId="0"/>
      <p:bldP spid="3" grpId="0"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 xmlns:a16="http://schemas.microsoft.com/office/drawing/2014/main" id="{36B1D67F-0313-A74E-B05C-364131DACC42}"/>
              </a:ext>
            </a:extLst>
          </p:cNvPr>
          <p:cNvSpPr txBox="1"/>
          <p:nvPr/>
        </p:nvSpPr>
        <p:spPr>
          <a:xfrm>
            <a:off x="1811908" y="3905336"/>
            <a:ext cx="1725152" cy="461665"/>
          </a:xfrm>
          <a:prstGeom prst="rect">
            <a:avLst/>
          </a:prstGeom>
          <a:noFill/>
          <a:ln>
            <a:noFill/>
          </a:ln>
        </p:spPr>
        <p:txBody>
          <a:bodyPr wrap="none" rtlCol="0">
            <a:spAutoFit/>
          </a:bodyPr>
          <a:lstStyle/>
          <a:p>
            <a:r>
              <a:rPr lang="en-US" altLang="zh-CN" sz="2400" b="1" dirty="0">
                <a:solidFill>
                  <a:srgbClr val="C00000"/>
                </a:solidFill>
                <a:latin typeface="Century Gothic" panose="020B0502020202020204" pitchFamily="34" charset="0"/>
                <a:ea typeface="Times New Roman" charset="0"/>
                <a:cs typeface="Times New Roman" charset="0"/>
              </a:rPr>
              <a:t>cascaded</a:t>
            </a:r>
            <a:endParaRPr lang="en-US" sz="24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 xmlns:a16="http://schemas.microsoft.com/office/drawing/2014/main" id="{CA72676C-C889-F54C-93B4-2CEDC29787F3}"/>
              </a:ext>
            </a:extLst>
          </p:cNvPr>
          <p:cNvSpPr txBox="1"/>
          <p:nvPr/>
        </p:nvSpPr>
        <p:spPr>
          <a:xfrm>
            <a:off x="5585800" y="3905336"/>
            <a:ext cx="1378904"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 xmlns:a16="http://schemas.microsoft.com/office/drawing/2014/main" id="{5E97BEC5-F97E-4245-9A44-4C677DCF82BD}"/>
              </a:ext>
            </a:extLst>
          </p:cNvPr>
          <p:cNvSpPr txBox="1"/>
          <p:nvPr/>
        </p:nvSpPr>
        <p:spPr>
          <a:xfrm>
            <a:off x="3733800" y="1905000"/>
            <a:ext cx="1316386" cy="461665"/>
          </a:xfrm>
          <a:prstGeom prst="rect">
            <a:avLst/>
          </a:prstGeom>
          <a:noFill/>
          <a:ln>
            <a:noFill/>
          </a:ln>
        </p:spPr>
        <p:txBody>
          <a:bodyPr wrap="none" rtlCol="0">
            <a:spAutoFit/>
          </a:bodyPr>
          <a:lstStyle/>
          <a:p>
            <a:r>
              <a:rPr lang="en-US" sz="2400" b="1" dirty="0">
                <a:solidFill>
                  <a:srgbClr val="C00000"/>
                </a:solidFill>
                <a:latin typeface="Century Gothic" panose="020B0502020202020204" pitchFamily="34" charset="0"/>
                <a:ea typeface="Times New Roman" charset="0"/>
                <a:cs typeface="Times New Roman" charset="0"/>
              </a:rPr>
              <a:t>monitor</a:t>
            </a:r>
          </a:p>
        </p:txBody>
      </p:sp>
      <p:cxnSp>
        <p:nvCxnSpPr>
          <p:cNvPr id="28" name="Straight Connector 27">
            <a:extLst>
              <a:ext uri="{FF2B5EF4-FFF2-40B4-BE49-F238E27FC236}">
                <a16:creationId xmlns="" xmlns:a16="http://schemas.microsoft.com/office/drawing/2014/main" id="{37B11748-6444-954F-ABE5-219A4F7EDA66}"/>
              </a:ext>
            </a:extLst>
          </p:cNvPr>
          <p:cNvCxnSpPr/>
          <p:nvPr/>
        </p:nvCxnSpPr>
        <p:spPr>
          <a:xfrm flipH="1" flipV="1">
            <a:off x="3499546" y="4087180"/>
            <a:ext cx="2008858" cy="28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146FD400-E108-F84E-A3FF-39FED7C840C7}"/>
              </a:ext>
            </a:extLst>
          </p:cNvPr>
          <p:cNvCxnSpPr>
            <a:cxnSpLocks/>
          </p:cNvCxnSpPr>
          <p:nvPr/>
        </p:nvCxnSpPr>
        <p:spPr>
          <a:xfrm flipH="1">
            <a:off x="2240264" y="2311716"/>
            <a:ext cx="1282506" cy="147200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532B21EF-3D88-9E4D-9E5D-20F4E1ED6C37}"/>
              </a:ext>
            </a:extLst>
          </p:cNvPr>
          <p:cNvCxnSpPr>
            <a:cxnSpLocks/>
          </p:cNvCxnSpPr>
          <p:nvPr/>
        </p:nvCxnSpPr>
        <p:spPr>
          <a:xfrm>
            <a:off x="5399731" y="2329637"/>
            <a:ext cx="1254706" cy="1604242"/>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 xmlns:a16="http://schemas.microsoft.com/office/drawing/2014/main" id="{C14E1151-C763-6B44-9905-25C11B0E8D49}"/>
              </a:ext>
            </a:extLst>
          </p:cNvPr>
          <p:cNvSpPr txBox="1"/>
          <p:nvPr/>
        </p:nvSpPr>
        <p:spPr>
          <a:xfrm>
            <a:off x="4208495" y="3774831"/>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0.8</a:t>
            </a:r>
          </a:p>
        </p:txBody>
      </p:sp>
      <p:sp>
        <p:nvSpPr>
          <p:cNvPr id="47" name="TextBox 46">
            <a:extLst>
              <a:ext uri="{FF2B5EF4-FFF2-40B4-BE49-F238E27FC236}">
                <a16:creationId xmlns="" xmlns:a16="http://schemas.microsoft.com/office/drawing/2014/main" id="{2FC63F5C-DF4C-4045-8F83-F255995B2736}"/>
              </a:ext>
            </a:extLst>
          </p:cNvPr>
          <p:cNvSpPr txBox="1"/>
          <p:nvPr/>
        </p:nvSpPr>
        <p:spPr>
          <a:xfrm>
            <a:off x="6060741" y="2836984"/>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0.7</a:t>
            </a:r>
          </a:p>
        </p:txBody>
      </p:sp>
      <p:sp>
        <p:nvSpPr>
          <p:cNvPr id="49" name="TextBox 48">
            <a:extLst>
              <a:ext uri="{FF2B5EF4-FFF2-40B4-BE49-F238E27FC236}">
                <a16:creationId xmlns="" xmlns:a16="http://schemas.microsoft.com/office/drawing/2014/main" id="{8FD65723-6CE8-5444-89C6-0EF49270A308}"/>
              </a:ext>
            </a:extLst>
          </p:cNvPr>
          <p:cNvSpPr txBox="1"/>
          <p:nvPr/>
        </p:nvSpPr>
        <p:spPr>
          <a:xfrm>
            <a:off x="2381045" y="2774148"/>
            <a:ext cx="50526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a:t>
            </a:r>
          </a:p>
        </p:txBody>
      </p:sp>
      <p:sp>
        <p:nvSpPr>
          <p:cNvPr id="3" name="Arc 2">
            <a:extLst>
              <a:ext uri="{FF2B5EF4-FFF2-40B4-BE49-F238E27FC236}">
                <a16:creationId xmlns="" xmlns:a16="http://schemas.microsoft.com/office/drawing/2014/main" id="{ED6FB6A5-3427-E84B-8BF6-96488F5CF0AB}"/>
              </a:ext>
            </a:extLst>
          </p:cNvPr>
          <p:cNvSpPr/>
          <p:nvPr/>
        </p:nvSpPr>
        <p:spPr>
          <a:xfrm rot="8100000">
            <a:off x="3924359" y="2700406"/>
            <a:ext cx="1047002" cy="1083546"/>
          </a:xfrm>
          <a:prstGeom prst="arc">
            <a:avLst>
              <a:gd name="adj1" fmla="val 1281952"/>
              <a:gd name="adj2" fmla="val 20515349"/>
            </a:avLst>
          </a:prstGeom>
          <a:ln w="38100">
            <a:solidFill>
              <a:schemeClr val="tx1">
                <a:lumMod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 xmlns:a16="http://schemas.microsoft.com/office/drawing/2014/main" id="{FCB651A3-D740-C24E-B3E5-12893BE5765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23" name="TextBox 22">
            <a:extLst>
              <a:ext uri="{FF2B5EF4-FFF2-40B4-BE49-F238E27FC236}">
                <a16:creationId xmlns="" xmlns:a16="http://schemas.microsoft.com/office/drawing/2014/main" id="{5FB7352E-75A1-DA42-AE7C-0E2DFC90E428}"/>
              </a:ext>
            </a:extLst>
          </p:cNvPr>
          <p:cNvSpPr txBox="1"/>
          <p:nvPr/>
        </p:nvSpPr>
        <p:spPr>
          <a:xfrm>
            <a:off x="989250"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sp>
        <p:nvSpPr>
          <p:cNvPr id="15" name="TextBox 14">
            <a:extLst>
              <a:ext uri="{FF2B5EF4-FFF2-40B4-BE49-F238E27FC236}">
                <a16:creationId xmlns="" xmlns:a16="http://schemas.microsoft.com/office/drawing/2014/main" id="{5F3FEC25-A8B8-3D46-9E22-5C7CDE64B46D}"/>
              </a:ext>
            </a:extLst>
          </p:cNvPr>
          <p:cNvSpPr txBox="1"/>
          <p:nvPr/>
        </p:nvSpPr>
        <p:spPr>
          <a:xfrm>
            <a:off x="6991212" y="2702113"/>
            <a:ext cx="2076209" cy="1169551"/>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Local inference:</a:t>
            </a:r>
          </a:p>
          <a:p>
            <a:endParaRPr lang="en-US" sz="1400" i="1" dirty="0">
              <a:solidFill>
                <a:schemeClr val="bg2"/>
              </a:solidFill>
              <a:latin typeface="Century Gothic" panose="020B0502020202020204" pitchFamily="34" charset="0"/>
            </a:endParaRPr>
          </a:p>
          <a:p>
            <a:r>
              <a:rPr lang="en-US" sz="1400" i="1" dirty="0">
                <a:solidFill>
                  <a:schemeClr val="bg2"/>
                </a:solidFill>
                <a:latin typeface="Century Gothic" panose="020B0502020202020204" pitchFamily="34" charset="0"/>
              </a:rPr>
              <a:t>Mani et al., 2006</a:t>
            </a:r>
          </a:p>
          <a:p>
            <a:r>
              <a:rPr lang="en-US" sz="1400" i="1" dirty="0">
                <a:solidFill>
                  <a:schemeClr val="bg2"/>
                </a:solidFill>
                <a:latin typeface="Century Gothic" panose="020B0502020202020204" pitchFamily="34" charset="0"/>
              </a:rPr>
              <a:t>Chambers et al., 2007</a:t>
            </a:r>
          </a:p>
          <a:p>
            <a:r>
              <a:rPr lang="en-US" sz="1400" i="1" dirty="0" err="1">
                <a:solidFill>
                  <a:schemeClr val="bg2"/>
                </a:solidFill>
                <a:latin typeface="Century Gothic" panose="020B0502020202020204" pitchFamily="34" charset="0"/>
              </a:rPr>
              <a:t>Bethard</a:t>
            </a:r>
            <a:r>
              <a:rPr lang="en-US" sz="1400" i="1" dirty="0">
                <a:solidFill>
                  <a:schemeClr val="bg2"/>
                </a:solidFill>
                <a:latin typeface="Century Gothic" panose="020B0502020202020204" pitchFamily="34" charset="0"/>
              </a:rPr>
              <a:t> et al., 2007</a:t>
            </a:r>
          </a:p>
        </p:txBody>
      </p:sp>
    </p:spTree>
    <p:extLst>
      <p:ext uri="{BB962C8B-B14F-4D97-AF65-F5344CB8AC3E}">
        <p14:creationId xmlns:p14="http://schemas.microsoft.com/office/powerpoint/2010/main" val="840007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88E46-7D58-094D-9208-8CD42A923548}"/>
              </a:ext>
            </a:extLst>
          </p:cNvPr>
          <p:cNvSpPr>
            <a:spLocks noGrp="1"/>
          </p:cNvSpPr>
          <p:nvPr>
            <p:ph type="title"/>
          </p:nvPr>
        </p:nvSpPr>
        <p:spPr/>
        <p:txBody>
          <a:bodyPr/>
          <a:lstStyle/>
          <a:p>
            <a:r>
              <a:rPr lang="en-US" dirty="0"/>
              <a:t>Global inference (a toy example)</a:t>
            </a:r>
          </a:p>
        </p:txBody>
      </p:sp>
      <p:sp>
        <p:nvSpPr>
          <p:cNvPr id="51" name="TextBox 50">
            <a:extLst>
              <a:ext uri="{FF2B5EF4-FFF2-40B4-BE49-F238E27FC236}">
                <a16:creationId xmlns="" xmlns:a16="http://schemas.microsoft.com/office/drawing/2014/main" id="{4348F4B8-66E5-774D-9209-78F3086CE3E6}"/>
              </a:ext>
            </a:extLst>
          </p:cNvPr>
          <p:cNvSpPr txBox="1"/>
          <p:nvPr/>
        </p:nvSpPr>
        <p:spPr>
          <a:xfrm>
            <a:off x="989250"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grpSp>
        <p:nvGrpSpPr>
          <p:cNvPr id="5" name="Group 4">
            <a:extLst>
              <a:ext uri="{FF2B5EF4-FFF2-40B4-BE49-F238E27FC236}">
                <a16:creationId xmlns="" xmlns:a16="http://schemas.microsoft.com/office/drawing/2014/main" id="{75964CCB-2D2F-A746-8B59-CEDD22754EF6}"/>
              </a:ext>
            </a:extLst>
          </p:cNvPr>
          <p:cNvGrpSpPr/>
          <p:nvPr/>
        </p:nvGrpSpPr>
        <p:grpSpPr>
          <a:xfrm>
            <a:off x="228600" y="1649313"/>
            <a:ext cx="8355661" cy="2939875"/>
            <a:chOff x="228600" y="1649313"/>
            <a:chExt cx="8355661" cy="2939875"/>
          </a:xfrm>
        </p:grpSpPr>
        <p:sp>
          <p:nvSpPr>
            <p:cNvPr id="19" name="TextBox 18">
              <a:extLst>
                <a:ext uri="{FF2B5EF4-FFF2-40B4-BE49-F238E27FC236}">
                  <a16:creationId xmlns="" xmlns:a16="http://schemas.microsoft.com/office/drawing/2014/main"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 xmlns:a16="http://schemas.microsoft.com/office/drawing/2014/main"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 xmlns:a16="http://schemas.microsoft.com/office/drawing/2014/main"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 xmlns:a16="http://schemas.microsoft.com/office/drawing/2014/main" id="{146FD400-E108-F84E-A3FF-39FED7C840C7}"/>
                </a:ext>
              </a:extLst>
            </p:cNvPr>
            <p:cNvCxnSpPr>
              <a:cxnSpLocks/>
            </p:cNvCxnSpPr>
            <p:nvPr/>
          </p:nvCxnSpPr>
          <p:spPr>
            <a:xfrm flipH="1">
              <a:off x="675330" y="2863818"/>
              <a:ext cx="646475" cy="741996"/>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532B21EF-3D88-9E4D-9E5D-20F4E1ED6C37}"/>
                </a:ext>
              </a:extLst>
            </p:cNvPr>
            <p:cNvCxnSpPr>
              <a:cxnSpLocks/>
            </p:cNvCxnSpPr>
            <p:nvPr/>
          </p:nvCxnSpPr>
          <p:spPr>
            <a:xfrm>
              <a:off x="1745656" y="2822264"/>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3CF42BF5-F17A-3A4C-814B-7F492E7A695B}"/>
                </a:ext>
              </a:extLst>
            </p:cNvPr>
            <p:cNvCxnSpPr/>
            <p:nvPr/>
          </p:nvCxnSpPr>
          <p:spPr>
            <a:xfrm flipH="1" flipV="1">
              <a:off x="1088239" y="3705152"/>
              <a:ext cx="1012609" cy="145"/>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 xmlns:a16="http://schemas.microsoft.com/office/drawing/2014/main"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0.2</a:t>
              </a:r>
            </a:p>
          </p:txBody>
        </p:sp>
        <p:sp>
          <p:nvSpPr>
            <p:cNvPr id="47" name="TextBox 46">
              <a:extLst>
                <a:ext uri="{FF2B5EF4-FFF2-40B4-BE49-F238E27FC236}">
                  <a16:creationId xmlns="" xmlns:a16="http://schemas.microsoft.com/office/drawing/2014/main"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49" name="TextBox 48">
              <a:extLst>
                <a:ext uri="{FF2B5EF4-FFF2-40B4-BE49-F238E27FC236}">
                  <a16:creationId xmlns="" xmlns:a16="http://schemas.microsoft.com/office/drawing/2014/main"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0.6</a:t>
              </a:r>
            </a:p>
          </p:txBody>
        </p:sp>
        <p:sp>
          <p:nvSpPr>
            <p:cNvPr id="20" name="TextBox 19">
              <a:extLst>
                <a:ext uri="{FF2B5EF4-FFF2-40B4-BE49-F238E27FC236}">
                  <a16:creationId xmlns="" xmlns:a16="http://schemas.microsoft.com/office/drawing/2014/main"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 xmlns:a16="http://schemas.microsoft.com/office/drawing/2014/main"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 xmlns:a16="http://schemas.microsoft.com/office/drawing/2014/main"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 xmlns:a16="http://schemas.microsoft.com/office/drawing/2014/main"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 xmlns:a16="http://schemas.microsoft.com/office/drawing/2014/main"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 xmlns:a16="http://schemas.microsoft.com/office/drawing/2014/main"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 xmlns:a16="http://schemas.microsoft.com/office/drawing/2014/main"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 xmlns:a16="http://schemas.microsoft.com/office/drawing/2014/main"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 xmlns:a16="http://schemas.microsoft.com/office/drawing/2014/main"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 xmlns:a16="http://schemas.microsoft.com/office/drawing/2014/main" id="{EFEB6276-6809-E04B-BEEA-D0562384C437}"/>
                </a:ext>
              </a:extLst>
            </p:cNvPr>
            <p:cNvCxnSpPr/>
            <p:nvPr/>
          </p:nvCxnSpPr>
          <p:spPr>
            <a:xfrm flipH="1" flipV="1">
              <a:off x="6795249" y="3697929"/>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73F94B03-FD32-D341-805C-670C4E7C17D5}"/>
                </a:ext>
              </a:extLst>
            </p:cNvPr>
            <p:cNvCxnSpPr>
              <a:cxnSpLocks/>
            </p:cNvCxnSpPr>
            <p:nvPr/>
          </p:nvCxnSpPr>
          <p:spPr>
            <a:xfrm flipH="1">
              <a:off x="6412327" y="2813659"/>
              <a:ext cx="646475" cy="741996"/>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D6B74932-A0DA-2347-BF16-9F4E41F75A81}"/>
                </a:ext>
              </a:extLst>
            </p:cNvPr>
            <p:cNvCxnSpPr>
              <a:cxnSpLocks/>
            </p:cNvCxnSpPr>
            <p:nvPr/>
          </p:nvCxnSpPr>
          <p:spPr>
            <a:xfrm>
              <a:off x="7439326" y="2820026"/>
              <a:ext cx="632462" cy="808653"/>
            </a:xfrm>
            <a:prstGeom prst="line">
              <a:avLst/>
            </a:prstGeom>
            <a:ln w="31750">
              <a:solidFill>
                <a:schemeClr val="bg2"/>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 xmlns:a16="http://schemas.microsoft.com/office/drawing/2014/main"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62" name="TextBox 61">
              <a:extLst>
                <a:ext uri="{FF2B5EF4-FFF2-40B4-BE49-F238E27FC236}">
                  <a16:creationId xmlns="" xmlns:a16="http://schemas.microsoft.com/office/drawing/2014/main"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0.3</a:t>
              </a:r>
            </a:p>
          </p:txBody>
        </p:sp>
        <p:sp>
          <p:nvSpPr>
            <p:cNvPr id="63" name="TextBox 62">
              <a:extLst>
                <a:ext uri="{FF2B5EF4-FFF2-40B4-BE49-F238E27FC236}">
                  <a16:creationId xmlns="" xmlns:a16="http://schemas.microsoft.com/office/drawing/2014/main"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0.6</a:t>
              </a:r>
            </a:p>
          </p:txBody>
        </p:sp>
        <p:sp>
          <p:nvSpPr>
            <p:cNvPr id="4" name="TextBox 3">
              <a:extLst>
                <a:ext uri="{FF2B5EF4-FFF2-40B4-BE49-F238E27FC236}">
                  <a16:creationId xmlns="" xmlns:a16="http://schemas.microsoft.com/office/drawing/2014/main"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0.6+0.2+0.7=1.5</a:t>
              </a:r>
            </a:p>
          </p:txBody>
        </p:sp>
        <p:sp>
          <p:nvSpPr>
            <p:cNvPr id="65" name="TextBox 64">
              <a:extLst>
                <a:ext uri="{FF2B5EF4-FFF2-40B4-BE49-F238E27FC236}">
                  <a16:creationId xmlns="" xmlns:a16="http://schemas.microsoft.com/office/drawing/2014/main"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 xmlns:a16="http://schemas.microsoft.com/office/drawing/2014/main"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0.6+0.3+0.8=1.7</a:t>
              </a:r>
            </a:p>
          </p:txBody>
        </p:sp>
        <p:sp>
          <p:nvSpPr>
            <p:cNvPr id="3" name="TextBox 2">
              <a:extLst>
                <a:ext uri="{FF2B5EF4-FFF2-40B4-BE49-F238E27FC236}">
                  <a16:creationId xmlns="" xmlns:a16="http://schemas.microsoft.com/office/drawing/2014/main" id="{7356C81A-6E44-7046-ABC4-A8164F563EE1}"/>
                </a:ext>
              </a:extLst>
            </p:cNvPr>
            <p:cNvSpPr txBox="1"/>
            <p:nvPr/>
          </p:nvSpPr>
          <p:spPr>
            <a:xfrm>
              <a:off x="1026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1</a:t>
              </a:r>
            </a:p>
          </p:txBody>
        </p:sp>
        <p:sp>
          <p:nvSpPr>
            <p:cNvPr id="37" name="TextBox 36">
              <a:extLst>
                <a:ext uri="{FF2B5EF4-FFF2-40B4-BE49-F238E27FC236}">
                  <a16:creationId xmlns="" xmlns:a16="http://schemas.microsoft.com/office/drawing/2014/main" id="{40CC0123-C31D-A949-8572-0F79B98CB557}"/>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41" name="TextBox 40">
              <a:extLst>
                <a:ext uri="{FF2B5EF4-FFF2-40B4-BE49-F238E27FC236}">
                  <a16:creationId xmlns="" xmlns:a16="http://schemas.microsoft.com/office/drawing/2014/main" id="{725B9194-C81F-CC47-8451-F2BE49042478}"/>
                </a:ext>
              </a:extLst>
            </p:cNvPr>
            <p:cNvSpPr txBox="1"/>
            <p:nvPr/>
          </p:nvSpPr>
          <p:spPr>
            <a:xfrm>
              <a:off x="67158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3</a:t>
              </a:r>
            </a:p>
          </p:txBody>
        </p:sp>
      </p:grpSp>
      <p:sp>
        <p:nvSpPr>
          <p:cNvPr id="45" name="TextBox 44">
            <a:extLst>
              <a:ext uri="{FF2B5EF4-FFF2-40B4-BE49-F238E27FC236}">
                <a16:creationId xmlns="" xmlns:a16="http://schemas.microsoft.com/office/drawing/2014/main" id="{334C7DF2-5C0A-AE46-A785-C2D29797345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31828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 xmlns:a16="http://schemas.microsoft.com/office/drawing/2014/main"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 xmlns:a16="http://schemas.microsoft.com/office/drawing/2014/main"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 xmlns:a16="http://schemas.microsoft.com/office/drawing/2014/main"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 xmlns:a16="http://schemas.microsoft.com/office/drawing/2014/main" id="{146FD400-E108-F84E-A3FF-39FED7C840C7}"/>
              </a:ext>
            </a:extLst>
          </p:cNvPr>
          <p:cNvCxnSpPr>
            <a:cxnSpLocks/>
          </p:cNvCxnSpPr>
          <p:nvPr/>
        </p:nvCxnSpPr>
        <p:spPr>
          <a:xfrm flipH="1">
            <a:off x="675330" y="2863818"/>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532B21EF-3D88-9E4D-9E5D-20F4E1ED6C37}"/>
              </a:ext>
            </a:extLst>
          </p:cNvPr>
          <p:cNvCxnSpPr>
            <a:cxnSpLocks/>
          </p:cNvCxnSpPr>
          <p:nvPr/>
        </p:nvCxnSpPr>
        <p:spPr>
          <a:xfrm>
            <a:off x="1745656" y="2822264"/>
            <a:ext cx="632462" cy="808653"/>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3CF42BF5-F17A-3A4C-814B-7F492E7A695B}"/>
              </a:ext>
            </a:extLst>
          </p:cNvPr>
          <p:cNvCxnSpPr/>
          <p:nvPr/>
        </p:nvCxnSpPr>
        <p:spPr>
          <a:xfrm flipH="1" flipV="1">
            <a:off x="1088239" y="3705152"/>
            <a:ext cx="1012609" cy="145"/>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 xmlns:a16="http://schemas.microsoft.com/office/drawing/2014/main"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0.2</a:t>
            </a:r>
          </a:p>
        </p:txBody>
      </p:sp>
      <p:sp>
        <p:nvSpPr>
          <p:cNvPr id="47" name="TextBox 46">
            <a:extLst>
              <a:ext uri="{FF2B5EF4-FFF2-40B4-BE49-F238E27FC236}">
                <a16:creationId xmlns="" xmlns:a16="http://schemas.microsoft.com/office/drawing/2014/main"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0.7</a:t>
            </a:r>
          </a:p>
        </p:txBody>
      </p:sp>
      <p:sp>
        <p:nvSpPr>
          <p:cNvPr id="49" name="TextBox 48">
            <a:extLst>
              <a:ext uri="{FF2B5EF4-FFF2-40B4-BE49-F238E27FC236}">
                <a16:creationId xmlns="" xmlns:a16="http://schemas.microsoft.com/office/drawing/2014/main"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20" name="TextBox 19">
            <a:extLst>
              <a:ext uri="{FF2B5EF4-FFF2-40B4-BE49-F238E27FC236}">
                <a16:creationId xmlns="" xmlns:a16="http://schemas.microsoft.com/office/drawing/2014/main"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 xmlns:a16="http://schemas.microsoft.com/office/drawing/2014/main"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 xmlns:a16="http://schemas.microsoft.com/office/drawing/2014/main"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 xmlns:a16="http://schemas.microsoft.com/office/drawing/2014/main"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 xmlns:a16="http://schemas.microsoft.com/office/drawing/2014/main"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 xmlns:a16="http://schemas.microsoft.com/office/drawing/2014/main"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 xmlns:a16="http://schemas.microsoft.com/office/drawing/2014/main"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 xmlns:a16="http://schemas.microsoft.com/office/drawing/2014/main"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 xmlns:a16="http://schemas.microsoft.com/office/drawing/2014/main"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 xmlns:a16="http://schemas.microsoft.com/office/drawing/2014/main" id="{EFEB6276-6809-E04B-BEEA-D0562384C437}"/>
              </a:ext>
            </a:extLst>
          </p:cNvPr>
          <p:cNvCxnSpPr/>
          <p:nvPr/>
        </p:nvCxnSpPr>
        <p:spPr>
          <a:xfrm flipH="1" flipV="1">
            <a:off x="6795249" y="3697929"/>
            <a:ext cx="1012609" cy="145"/>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73F94B03-FD32-D341-805C-670C4E7C17D5}"/>
              </a:ext>
            </a:extLst>
          </p:cNvPr>
          <p:cNvCxnSpPr>
            <a:cxnSpLocks/>
          </p:cNvCxnSpPr>
          <p:nvPr/>
        </p:nvCxnSpPr>
        <p:spPr>
          <a:xfrm flipH="1">
            <a:off x="6412327" y="2813659"/>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D6B74932-A0DA-2347-BF16-9F4E41F75A81}"/>
              </a:ext>
            </a:extLst>
          </p:cNvPr>
          <p:cNvCxnSpPr>
            <a:cxnSpLocks/>
          </p:cNvCxnSpPr>
          <p:nvPr/>
        </p:nvCxnSpPr>
        <p:spPr>
          <a:xfrm>
            <a:off x="7439326" y="2820026"/>
            <a:ext cx="632462" cy="808653"/>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 xmlns:a16="http://schemas.microsoft.com/office/drawing/2014/main"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0.8</a:t>
            </a:r>
          </a:p>
        </p:txBody>
      </p:sp>
      <p:sp>
        <p:nvSpPr>
          <p:cNvPr id="62" name="TextBox 61">
            <a:extLst>
              <a:ext uri="{FF2B5EF4-FFF2-40B4-BE49-F238E27FC236}">
                <a16:creationId xmlns="" xmlns:a16="http://schemas.microsoft.com/office/drawing/2014/main"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0.3</a:t>
            </a:r>
          </a:p>
        </p:txBody>
      </p:sp>
      <p:sp>
        <p:nvSpPr>
          <p:cNvPr id="63" name="TextBox 62">
            <a:extLst>
              <a:ext uri="{FF2B5EF4-FFF2-40B4-BE49-F238E27FC236}">
                <a16:creationId xmlns="" xmlns:a16="http://schemas.microsoft.com/office/drawing/2014/main"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4" name="TextBox 3">
            <a:extLst>
              <a:ext uri="{FF2B5EF4-FFF2-40B4-BE49-F238E27FC236}">
                <a16:creationId xmlns="" xmlns:a16="http://schemas.microsoft.com/office/drawing/2014/main"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0.6+0.2+0.7=1.5</a:t>
            </a:r>
          </a:p>
        </p:txBody>
      </p:sp>
      <p:sp>
        <p:nvSpPr>
          <p:cNvPr id="65" name="TextBox 64">
            <a:extLst>
              <a:ext uri="{FF2B5EF4-FFF2-40B4-BE49-F238E27FC236}">
                <a16:creationId xmlns="" xmlns:a16="http://schemas.microsoft.com/office/drawing/2014/main"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 xmlns:a16="http://schemas.microsoft.com/office/drawing/2014/main"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0.6+0.3+0.8=1.7</a:t>
            </a:r>
          </a:p>
        </p:txBody>
      </p:sp>
      <p:sp>
        <p:nvSpPr>
          <p:cNvPr id="37" name="TextBox 36">
            <a:extLst>
              <a:ext uri="{FF2B5EF4-FFF2-40B4-BE49-F238E27FC236}">
                <a16:creationId xmlns="" xmlns:a16="http://schemas.microsoft.com/office/drawing/2014/main" id="{77E12BAB-E193-2B47-834D-BEE4B2CB5112}"/>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41" name="TextBox 40">
            <a:extLst>
              <a:ext uri="{FF2B5EF4-FFF2-40B4-BE49-F238E27FC236}">
                <a16:creationId xmlns="" xmlns:a16="http://schemas.microsoft.com/office/drawing/2014/main" id="{756D1C4C-77C2-374B-AFB4-673864B48D32}"/>
              </a:ext>
            </a:extLst>
          </p:cNvPr>
          <p:cNvSpPr txBox="1"/>
          <p:nvPr/>
        </p:nvSpPr>
        <p:spPr>
          <a:xfrm>
            <a:off x="989250" y="5046421"/>
            <a:ext cx="7459424" cy="830997"/>
          </a:xfrm>
          <a:prstGeom prst="rect">
            <a:avLst/>
          </a:prstGeom>
          <a:noFill/>
        </p:spPr>
        <p:txBody>
          <a:bodyPr wrap="square" rtlCol="0">
            <a:spAutoFit/>
          </a:bodyPr>
          <a:lstStyle/>
          <a:p>
            <a:pPr algn="ctr"/>
            <a:r>
              <a:rPr lang="en-US" sz="2400" dirty="0">
                <a:solidFill>
                  <a:schemeClr val="bg2"/>
                </a:solidFill>
                <a:latin typeface="Century Gothic" panose="020B0502020202020204" pitchFamily="34" charset="0"/>
              </a:rPr>
              <a:t>We should not only select the assignment with the best score, </a:t>
            </a:r>
            <a:r>
              <a:rPr lang="en-US" sz="2400" dirty="0">
                <a:solidFill>
                  <a:srgbClr val="C00000"/>
                </a:solidFill>
                <a:latin typeface="Century Gothic" panose="020B0502020202020204" pitchFamily="34" charset="0"/>
              </a:rPr>
              <a:t>but also avoid loops</a:t>
            </a:r>
          </a:p>
        </p:txBody>
      </p:sp>
      <p:sp>
        <p:nvSpPr>
          <p:cNvPr id="35" name="TextBox 34">
            <a:extLst>
              <a:ext uri="{FF2B5EF4-FFF2-40B4-BE49-F238E27FC236}">
                <a16:creationId xmlns="" xmlns:a16="http://schemas.microsoft.com/office/drawing/2014/main" id="{C055575D-5ACE-764B-B3C1-36109536E53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249849129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288E46-7D58-094D-9208-8CD42A923548}"/>
              </a:ext>
            </a:extLst>
          </p:cNvPr>
          <p:cNvSpPr>
            <a:spLocks noGrp="1"/>
          </p:cNvSpPr>
          <p:nvPr>
            <p:ph type="title"/>
          </p:nvPr>
        </p:nvSpPr>
        <p:spPr/>
        <p:txBody>
          <a:bodyPr/>
          <a:lstStyle/>
          <a:p>
            <a:r>
              <a:rPr lang="en-US" dirty="0"/>
              <a:t>Global inference (a toy example)</a:t>
            </a:r>
          </a:p>
        </p:txBody>
      </p:sp>
      <p:sp>
        <p:nvSpPr>
          <p:cNvPr id="19" name="TextBox 18">
            <a:extLst>
              <a:ext uri="{FF2B5EF4-FFF2-40B4-BE49-F238E27FC236}">
                <a16:creationId xmlns="" xmlns:a16="http://schemas.microsoft.com/office/drawing/2014/main" id="{36B1D67F-0313-A74E-B05C-364131DACC42}"/>
              </a:ext>
            </a:extLst>
          </p:cNvPr>
          <p:cNvSpPr txBox="1"/>
          <p:nvPr/>
        </p:nvSpPr>
        <p:spPr>
          <a:xfrm>
            <a:off x="228600"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21" name="TextBox 20">
            <a:extLst>
              <a:ext uri="{FF2B5EF4-FFF2-40B4-BE49-F238E27FC236}">
                <a16:creationId xmlns="" xmlns:a16="http://schemas.microsoft.com/office/drawing/2014/main" id="{CA72676C-C889-F54C-93B4-2CEDC29787F3}"/>
              </a:ext>
            </a:extLst>
          </p:cNvPr>
          <p:cNvSpPr txBox="1"/>
          <p:nvPr/>
        </p:nvSpPr>
        <p:spPr>
          <a:xfrm>
            <a:off x="2130912"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27" name="TextBox 26">
            <a:extLst>
              <a:ext uri="{FF2B5EF4-FFF2-40B4-BE49-F238E27FC236}">
                <a16:creationId xmlns="" xmlns:a16="http://schemas.microsoft.com/office/drawing/2014/main" id="{5E97BEC5-F97E-4245-9A44-4C677DCF82BD}"/>
              </a:ext>
            </a:extLst>
          </p:cNvPr>
          <p:cNvSpPr txBox="1"/>
          <p:nvPr/>
        </p:nvSpPr>
        <p:spPr>
          <a:xfrm>
            <a:off x="1197372"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36" name="Straight Connector 35">
            <a:extLst>
              <a:ext uri="{FF2B5EF4-FFF2-40B4-BE49-F238E27FC236}">
                <a16:creationId xmlns="" xmlns:a16="http://schemas.microsoft.com/office/drawing/2014/main" id="{146FD400-E108-F84E-A3FF-39FED7C840C7}"/>
              </a:ext>
            </a:extLst>
          </p:cNvPr>
          <p:cNvCxnSpPr>
            <a:cxnSpLocks/>
          </p:cNvCxnSpPr>
          <p:nvPr/>
        </p:nvCxnSpPr>
        <p:spPr>
          <a:xfrm flipH="1">
            <a:off x="675330" y="2863818"/>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532B21EF-3D88-9E4D-9E5D-20F4E1ED6C37}"/>
              </a:ext>
            </a:extLst>
          </p:cNvPr>
          <p:cNvCxnSpPr>
            <a:cxnSpLocks/>
          </p:cNvCxnSpPr>
          <p:nvPr/>
        </p:nvCxnSpPr>
        <p:spPr>
          <a:xfrm>
            <a:off x="1745656" y="2822264"/>
            <a:ext cx="632462" cy="808653"/>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3CF42BF5-F17A-3A4C-814B-7F492E7A695B}"/>
              </a:ext>
            </a:extLst>
          </p:cNvPr>
          <p:cNvCxnSpPr/>
          <p:nvPr/>
        </p:nvCxnSpPr>
        <p:spPr>
          <a:xfrm flipH="1" flipV="1">
            <a:off x="1088239" y="3705152"/>
            <a:ext cx="1012609" cy="145"/>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 xmlns:a16="http://schemas.microsoft.com/office/drawing/2014/main" id="{6E096EB5-38D5-0743-8D99-B4052BCB6E7A}"/>
              </a:ext>
            </a:extLst>
          </p:cNvPr>
          <p:cNvSpPr txBox="1"/>
          <p:nvPr/>
        </p:nvSpPr>
        <p:spPr>
          <a:xfrm>
            <a:off x="1436652" y="381274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0.2</a:t>
            </a:r>
          </a:p>
        </p:txBody>
      </p:sp>
      <p:sp>
        <p:nvSpPr>
          <p:cNvPr id="47" name="TextBox 46">
            <a:extLst>
              <a:ext uri="{FF2B5EF4-FFF2-40B4-BE49-F238E27FC236}">
                <a16:creationId xmlns="" xmlns:a16="http://schemas.microsoft.com/office/drawing/2014/main" id="{2FC63F5C-DF4C-4045-8F83-F255995B2736}"/>
              </a:ext>
            </a:extLst>
          </p:cNvPr>
          <p:cNvSpPr txBox="1"/>
          <p:nvPr/>
        </p:nvSpPr>
        <p:spPr>
          <a:xfrm>
            <a:off x="2289350" y="3038685"/>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0.7</a:t>
            </a:r>
          </a:p>
        </p:txBody>
      </p:sp>
      <p:sp>
        <p:nvSpPr>
          <p:cNvPr id="49" name="TextBox 48">
            <a:extLst>
              <a:ext uri="{FF2B5EF4-FFF2-40B4-BE49-F238E27FC236}">
                <a16:creationId xmlns="" xmlns:a16="http://schemas.microsoft.com/office/drawing/2014/main" id="{8FD65723-6CE8-5444-89C6-0EF49270A308}"/>
              </a:ext>
            </a:extLst>
          </p:cNvPr>
          <p:cNvSpPr txBox="1"/>
          <p:nvPr/>
        </p:nvSpPr>
        <p:spPr>
          <a:xfrm>
            <a:off x="395700" y="2952257"/>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20" name="TextBox 19">
            <a:extLst>
              <a:ext uri="{FF2B5EF4-FFF2-40B4-BE49-F238E27FC236}">
                <a16:creationId xmlns="" xmlns:a16="http://schemas.microsoft.com/office/drawing/2014/main" id="{B2CB9D28-632D-D04A-9716-A19ACBA86B4D}"/>
              </a:ext>
            </a:extLst>
          </p:cNvPr>
          <p:cNvSpPr txBox="1"/>
          <p:nvPr/>
        </p:nvSpPr>
        <p:spPr>
          <a:xfrm>
            <a:off x="3053861" y="3559430"/>
            <a:ext cx="949299" cy="276999"/>
          </a:xfrm>
          <a:prstGeom prst="rect">
            <a:avLst/>
          </a:prstGeom>
          <a:noFill/>
          <a:ln>
            <a:noFill/>
          </a:ln>
        </p:spPr>
        <p:txBody>
          <a:bodyPr wrap="none" rtlCol="0">
            <a:spAutoFit/>
          </a:bodyPr>
          <a:lstStyle/>
          <a:p>
            <a:r>
              <a:rPr lang="en-US" altLang="zh-CN" sz="1200" b="1" dirty="0">
                <a:solidFill>
                  <a:srgbClr val="C00000"/>
                </a:solidFill>
                <a:latin typeface="Century Gothic" panose="020B0502020202020204" pitchFamily="34" charset="0"/>
                <a:ea typeface="Times New Roman" charset="0"/>
                <a:cs typeface="Times New Roman" charset="0"/>
              </a:rPr>
              <a:t>cascaded</a:t>
            </a:r>
            <a:endParaRPr lang="en-US" sz="1200" b="1" dirty="0">
              <a:solidFill>
                <a:srgbClr val="C00000"/>
              </a:solidFill>
              <a:latin typeface="Century Gothic" panose="020B0502020202020204" pitchFamily="34" charset="0"/>
              <a:ea typeface="Times New Roman" charset="0"/>
              <a:cs typeface="Times New Roman" charset="0"/>
            </a:endParaRPr>
          </a:p>
        </p:txBody>
      </p:sp>
      <p:sp>
        <p:nvSpPr>
          <p:cNvPr id="22" name="TextBox 21">
            <a:extLst>
              <a:ext uri="{FF2B5EF4-FFF2-40B4-BE49-F238E27FC236}">
                <a16:creationId xmlns="" xmlns:a16="http://schemas.microsoft.com/office/drawing/2014/main" id="{0A0F939A-6DAC-F643-8418-CD8C6FFC480F}"/>
              </a:ext>
            </a:extLst>
          </p:cNvPr>
          <p:cNvSpPr txBox="1"/>
          <p:nvPr/>
        </p:nvSpPr>
        <p:spPr>
          <a:xfrm>
            <a:off x="4956173" y="3559430"/>
            <a:ext cx="779381"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ordered</a:t>
            </a:r>
          </a:p>
        </p:txBody>
      </p:sp>
      <p:sp>
        <p:nvSpPr>
          <p:cNvPr id="23" name="TextBox 22">
            <a:extLst>
              <a:ext uri="{FF2B5EF4-FFF2-40B4-BE49-F238E27FC236}">
                <a16:creationId xmlns="" xmlns:a16="http://schemas.microsoft.com/office/drawing/2014/main" id="{8F54DC36-24AE-464F-933D-B2189F4607CB}"/>
              </a:ext>
            </a:extLst>
          </p:cNvPr>
          <p:cNvSpPr txBox="1"/>
          <p:nvPr/>
        </p:nvSpPr>
        <p:spPr>
          <a:xfrm>
            <a:off x="4022633" y="2551117"/>
            <a:ext cx="750526" cy="276999"/>
          </a:xfrm>
          <a:prstGeom prst="rect">
            <a:avLst/>
          </a:prstGeom>
          <a:noFill/>
          <a:ln>
            <a:noFill/>
          </a:ln>
        </p:spPr>
        <p:txBody>
          <a:bodyPr wrap="none" rtlCol="0">
            <a:spAutoFit/>
          </a:bodyPr>
          <a:lstStyle/>
          <a:p>
            <a:r>
              <a:rPr lang="en-US" sz="1200" b="1" dirty="0">
                <a:solidFill>
                  <a:srgbClr val="C00000"/>
                </a:solidFill>
                <a:latin typeface="Century Gothic" panose="020B0502020202020204" pitchFamily="34"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0F91BE87-617F-4946-88EC-86032DDAF309}"/>
              </a:ext>
            </a:extLst>
          </p:cNvPr>
          <p:cNvCxnSpPr/>
          <p:nvPr/>
        </p:nvCxnSpPr>
        <p:spPr>
          <a:xfrm flipH="1" flipV="1">
            <a:off x="3975958" y="3685573"/>
            <a:ext cx="1012609" cy="14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B2BE960-8AC7-2F4E-9150-E9DF1994FBAB}"/>
              </a:ext>
            </a:extLst>
          </p:cNvPr>
          <p:cNvCxnSpPr>
            <a:cxnSpLocks/>
          </p:cNvCxnSpPr>
          <p:nvPr/>
        </p:nvCxnSpPr>
        <p:spPr>
          <a:xfrm>
            <a:off x="4625479" y="2846528"/>
            <a:ext cx="632462" cy="8086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474FB0E2-9DB3-014B-943E-5DBF424451E9}"/>
              </a:ext>
            </a:extLst>
          </p:cNvPr>
          <p:cNvCxnSpPr>
            <a:cxnSpLocks/>
          </p:cNvCxnSpPr>
          <p:nvPr/>
        </p:nvCxnSpPr>
        <p:spPr>
          <a:xfrm flipH="1">
            <a:off x="3583128" y="2846528"/>
            <a:ext cx="646475" cy="741996"/>
          </a:xfrm>
          <a:prstGeom prst="line">
            <a:avLst/>
          </a:prstGeom>
          <a:ln w="31750">
            <a:solidFill>
              <a:schemeClr val="bg2"/>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 xmlns:a16="http://schemas.microsoft.com/office/drawing/2014/main" id="{B136AA5A-08FC-CE41-818C-E224FF7BA32F}"/>
              </a:ext>
            </a:extLst>
          </p:cNvPr>
          <p:cNvSpPr txBox="1"/>
          <p:nvPr/>
        </p:nvSpPr>
        <p:spPr>
          <a:xfrm>
            <a:off x="4187828" y="3796877"/>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0.8</a:t>
            </a:r>
          </a:p>
        </p:txBody>
      </p:sp>
      <p:sp>
        <p:nvSpPr>
          <p:cNvPr id="34" name="TextBox 33">
            <a:extLst>
              <a:ext uri="{FF2B5EF4-FFF2-40B4-BE49-F238E27FC236}">
                <a16:creationId xmlns="" xmlns:a16="http://schemas.microsoft.com/office/drawing/2014/main" id="{439323F0-26E3-FF47-A604-80740308C3E6}"/>
              </a:ext>
            </a:extLst>
          </p:cNvPr>
          <p:cNvSpPr txBox="1"/>
          <p:nvPr/>
        </p:nvSpPr>
        <p:spPr>
          <a:xfrm>
            <a:off x="5040239" y="3032210"/>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0.7</a:t>
            </a:r>
          </a:p>
        </p:txBody>
      </p:sp>
      <p:sp>
        <p:nvSpPr>
          <p:cNvPr id="38" name="TextBox 37">
            <a:extLst>
              <a:ext uri="{FF2B5EF4-FFF2-40B4-BE49-F238E27FC236}">
                <a16:creationId xmlns="" xmlns:a16="http://schemas.microsoft.com/office/drawing/2014/main" id="{51CC655D-DC22-054E-8557-BDFD834F6385}"/>
              </a:ext>
            </a:extLst>
          </p:cNvPr>
          <p:cNvSpPr txBox="1"/>
          <p:nvPr/>
        </p:nvSpPr>
        <p:spPr>
          <a:xfrm>
            <a:off x="3238667" y="3020904"/>
            <a:ext cx="46839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0.4</a:t>
            </a:r>
          </a:p>
        </p:txBody>
      </p:sp>
      <p:sp>
        <p:nvSpPr>
          <p:cNvPr id="40" name="TextBox 39">
            <a:extLst>
              <a:ext uri="{FF2B5EF4-FFF2-40B4-BE49-F238E27FC236}">
                <a16:creationId xmlns="" xmlns:a16="http://schemas.microsoft.com/office/drawing/2014/main" id="{2C0B95A8-B7D1-3241-B162-7020F82B7CD9}"/>
              </a:ext>
            </a:extLst>
          </p:cNvPr>
          <p:cNvSpPr txBox="1"/>
          <p:nvPr/>
        </p:nvSpPr>
        <p:spPr>
          <a:xfrm>
            <a:off x="5902568" y="3559430"/>
            <a:ext cx="949299" cy="276999"/>
          </a:xfrm>
          <a:prstGeom prst="rect">
            <a:avLst/>
          </a:prstGeom>
          <a:noFill/>
          <a:ln>
            <a:noFill/>
          </a:ln>
        </p:spPr>
        <p:txBody>
          <a:bodyPr wrap="none" rtlCol="0">
            <a:spAutoFit/>
          </a:bodyPr>
          <a:lstStyle/>
          <a:p>
            <a:r>
              <a:rPr lang="en-US" altLang="zh-CN" sz="1200" b="1" dirty="0">
                <a:solidFill>
                  <a:srgbClr val="C00000">
                    <a:alpha val="50000"/>
                  </a:srgbClr>
                </a:solidFill>
                <a:latin typeface="Century Gothic" panose="020B0502020202020204" pitchFamily="34" charset="0"/>
                <a:ea typeface="Times New Roman" charset="0"/>
                <a:cs typeface="Times New Roman" charset="0"/>
              </a:rPr>
              <a:t>cascaded</a:t>
            </a:r>
            <a:endParaRPr lang="en-US" sz="1200" b="1" dirty="0">
              <a:solidFill>
                <a:srgbClr val="C00000">
                  <a:alpha val="50000"/>
                </a:srgbClr>
              </a:solidFill>
              <a:latin typeface="Century Gothic" panose="020B0502020202020204" pitchFamily="34" charset="0"/>
              <a:ea typeface="Times New Roman" charset="0"/>
              <a:cs typeface="Times New Roman" charset="0"/>
            </a:endParaRPr>
          </a:p>
        </p:txBody>
      </p:sp>
      <p:sp>
        <p:nvSpPr>
          <p:cNvPr id="44" name="TextBox 43">
            <a:extLst>
              <a:ext uri="{FF2B5EF4-FFF2-40B4-BE49-F238E27FC236}">
                <a16:creationId xmlns="" xmlns:a16="http://schemas.microsoft.com/office/drawing/2014/main" id="{0F7847B4-9935-7F42-A298-BF92DE615C0B}"/>
              </a:ext>
            </a:extLst>
          </p:cNvPr>
          <p:cNvSpPr txBox="1"/>
          <p:nvPr/>
        </p:nvSpPr>
        <p:spPr>
          <a:xfrm>
            <a:off x="7804880" y="3559430"/>
            <a:ext cx="779381"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ordered</a:t>
            </a:r>
          </a:p>
        </p:txBody>
      </p:sp>
      <p:sp>
        <p:nvSpPr>
          <p:cNvPr id="52" name="TextBox 51">
            <a:extLst>
              <a:ext uri="{FF2B5EF4-FFF2-40B4-BE49-F238E27FC236}">
                <a16:creationId xmlns="" xmlns:a16="http://schemas.microsoft.com/office/drawing/2014/main" id="{E55A1780-F99A-3C44-BB8D-9F2579DAAD71}"/>
              </a:ext>
            </a:extLst>
          </p:cNvPr>
          <p:cNvSpPr txBox="1"/>
          <p:nvPr/>
        </p:nvSpPr>
        <p:spPr>
          <a:xfrm>
            <a:off x="6871340" y="2551117"/>
            <a:ext cx="750526" cy="276999"/>
          </a:xfrm>
          <a:prstGeom prst="rect">
            <a:avLst/>
          </a:prstGeom>
          <a:noFill/>
          <a:ln>
            <a:noFill/>
          </a:ln>
        </p:spPr>
        <p:txBody>
          <a:bodyPr wrap="none" rtlCol="0">
            <a:spAutoFit/>
          </a:bodyPr>
          <a:lstStyle/>
          <a:p>
            <a:r>
              <a:rPr lang="en-US" sz="1200" b="1" dirty="0">
                <a:solidFill>
                  <a:srgbClr val="C00000">
                    <a:alpha val="50000"/>
                  </a:srgbClr>
                </a:solidFill>
                <a:latin typeface="Century Gothic" panose="020B0502020202020204" pitchFamily="34" charset="0"/>
                <a:ea typeface="Times New Roman" charset="0"/>
                <a:cs typeface="Times New Roman" charset="0"/>
              </a:rPr>
              <a:t>monitor</a:t>
            </a:r>
          </a:p>
        </p:txBody>
      </p:sp>
      <p:cxnSp>
        <p:nvCxnSpPr>
          <p:cNvPr id="53" name="Straight Connector 52">
            <a:extLst>
              <a:ext uri="{FF2B5EF4-FFF2-40B4-BE49-F238E27FC236}">
                <a16:creationId xmlns="" xmlns:a16="http://schemas.microsoft.com/office/drawing/2014/main" id="{EFEB6276-6809-E04B-BEEA-D0562384C437}"/>
              </a:ext>
            </a:extLst>
          </p:cNvPr>
          <p:cNvCxnSpPr/>
          <p:nvPr/>
        </p:nvCxnSpPr>
        <p:spPr>
          <a:xfrm flipH="1" flipV="1">
            <a:off x="6795249" y="3697929"/>
            <a:ext cx="1012609" cy="145"/>
          </a:xfrm>
          <a:prstGeom prst="line">
            <a:avLst/>
          </a:prstGeom>
          <a:ln w="31750">
            <a:solidFill>
              <a:schemeClr val="bg2">
                <a:alpha val="50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73F94B03-FD32-D341-805C-670C4E7C17D5}"/>
              </a:ext>
            </a:extLst>
          </p:cNvPr>
          <p:cNvCxnSpPr>
            <a:cxnSpLocks/>
          </p:cNvCxnSpPr>
          <p:nvPr/>
        </p:nvCxnSpPr>
        <p:spPr>
          <a:xfrm flipH="1">
            <a:off x="6412327" y="2813659"/>
            <a:ext cx="646475" cy="741996"/>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 xmlns:a16="http://schemas.microsoft.com/office/drawing/2014/main" id="{D6B74932-A0DA-2347-BF16-9F4E41F75A81}"/>
              </a:ext>
            </a:extLst>
          </p:cNvPr>
          <p:cNvCxnSpPr>
            <a:cxnSpLocks/>
          </p:cNvCxnSpPr>
          <p:nvPr/>
        </p:nvCxnSpPr>
        <p:spPr>
          <a:xfrm>
            <a:off x="7439326" y="2820026"/>
            <a:ext cx="632462" cy="808653"/>
          </a:xfrm>
          <a:prstGeom prst="line">
            <a:avLst/>
          </a:prstGeom>
          <a:ln w="31750">
            <a:solidFill>
              <a:schemeClr val="bg2">
                <a:alpha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 xmlns:a16="http://schemas.microsoft.com/office/drawing/2014/main" id="{E710B3EA-ACF2-A149-A3C6-7F8178EE0E0F}"/>
              </a:ext>
            </a:extLst>
          </p:cNvPr>
          <p:cNvSpPr txBox="1"/>
          <p:nvPr/>
        </p:nvSpPr>
        <p:spPr>
          <a:xfrm>
            <a:off x="7072891" y="3728311"/>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0.8</a:t>
            </a:r>
          </a:p>
        </p:txBody>
      </p:sp>
      <p:sp>
        <p:nvSpPr>
          <p:cNvPr id="62" name="TextBox 61">
            <a:extLst>
              <a:ext uri="{FF2B5EF4-FFF2-40B4-BE49-F238E27FC236}">
                <a16:creationId xmlns="" xmlns:a16="http://schemas.microsoft.com/office/drawing/2014/main" id="{A51733ED-54E7-824C-82A9-FB1447C26D8F}"/>
              </a:ext>
            </a:extLst>
          </p:cNvPr>
          <p:cNvSpPr txBox="1"/>
          <p:nvPr/>
        </p:nvSpPr>
        <p:spPr>
          <a:xfrm>
            <a:off x="7885763" y="3013126"/>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0.3</a:t>
            </a:r>
          </a:p>
        </p:txBody>
      </p:sp>
      <p:sp>
        <p:nvSpPr>
          <p:cNvPr id="63" name="TextBox 62">
            <a:extLst>
              <a:ext uri="{FF2B5EF4-FFF2-40B4-BE49-F238E27FC236}">
                <a16:creationId xmlns="" xmlns:a16="http://schemas.microsoft.com/office/drawing/2014/main" id="{7D0F34BC-2D16-6545-9F5D-D16900888C26}"/>
              </a:ext>
            </a:extLst>
          </p:cNvPr>
          <p:cNvSpPr txBox="1"/>
          <p:nvPr/>
        </p:nvSpPr>
        <p:spPr>
          <a:xfrm>
            <a:off x="6018396" y="3049712"/>
            <a:ext cx="468398" cy="338554"/>
          </a:xfrm>
          <a:prstGeom prst="rect">
            <a:avLst/>
          </a:prstGeom>
          <a:noFill/>
        </p:spPr>
        <p:txBody>
          <a:bodyPr wrap="none" rtlCol="0">
            <a:spAutoFit/>
          </a:bodyPr>
          <a:lstStyle/>
          <a:p>
            <a:r>
              <a:rPr lang="en-US" sz="1600" dirty="0">
                <a:solidFill>
                  <a:schemeClr val="bg2">
                    <a:alpha val="50000"/>
                  </a:schemeClr>
                </a:solidFill>
                <a:latin typeface="Century Gothic" panose="020B0502020202020204" pitchFamily="34" charset="0"/>
              </a:rPr>
              <a:t>0.6</a:t>
            </a:r>
          </a:p>
        </p:txBody>
      </p:sp>
      <p:sp>
        <p:nvSpPr>
          <p:cNvPr id="4" name="TextBox 3">
            <a:extLst>
              <a:ext uri="{FF2B5EF4-FFF2-40B4-BE49-F238E27FC236}">
                <a16:creationId xmlns="" xmlns:a16="http://schemas.microsoft.com/office/drawing/2014/main" id="{E078A33B-FCC2-8645-AE9D-ED5EBAD77C73}"/>
              </a:ext>
            </a:extLst>
          </p:cNvPr>
          <p:cNvSpPr txBox="1"/>
          <p:nvPr/>
        </p:nvSpPr>
        <p:spPr>
          <a:xfrm>
            <a:off x="612364"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0.6+0.2+0.7=1.5</a:t>
            </a:r>
          </a:p>
        </p:txBody>
      </p:sp>
      <p:sp>
        <p:nvSpPr>
          <p:cNvPr id="65" name="TextBox 64">
            <a:extLst>
              <a:ext uri="{FF2B5EF4-FFF2-40B4-BE49-F238E27FC236}">
                <a16:creationId xmlns="" xmlns:a16="http://schemas.microsoft.com/office/drawing/2014/main" id="{57249D9F-980E-914D-B8D1-2D723A76E18F}"/>
              </a:ext>
            </a:extLst>
          </p:cNvPr>
          <p:cNvSpPr txBox="1"/>
          <p:nvPr/>
        </p:nvSpPr>
        <p:spPr>
          <a:xfrm>
            <a:off x="3402457" y="4219856"/>
            <a:ext cx="188545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0.4+0.8+0.7=1.9</a:t>
            </a:r>
          </a:p>
        </p:txBody>
      </p:sp>
      <p:sp>
        <p:nvSpPr>
          <p:cNvPr id="66" name="TextBox 65">
            <a:extLst>
              <a:ext uri="{FF2B5EF4-FFF2-40B4-BE49-F238E27FC236}">
                <a16:creationId xmlns="" xmlns:a16="http://schemas.microsoft.com/office/drawing/2014/main" id="{0AA08714-8536-7841-B19F-25C26DA70AD8}"/>
              </a:ext>
            </a:extLst>
          </p:cNvPr>
          <p:cNvSpPr txBox="1"/>
          <p:nvPr/>
        </p:nvSpPr>
        <p:spPr>
          <a:xfrm>
            <a:off x="6415288" y="4219856"/>
            <a:ext cx="1885453" cy="369332"/>
          </a:xfrm>
          <a:prstGeom prst="rect">
            <a:avLst/>
          </a:prstGeom>
          <a:noFill/>
        </p:spPr>
        <p:txBody>
          <a:bodyPr wrap="none" rtlCol="0">
            <a:spAutoFit/>
          </a:bodyPr>
          <a:lstStyle/>
          <a:p>
            <a:r>
              <a:rPr lang="en-US" dirty="0">
                <a:solidFill>
                  <a:schemeClr val="bg2">
                    <a:alpha val="50000"/>
                  </a:schemeClr>
                </a:solidFill>
                <a:latin typeface="Century Gothic" panose="020B0502020202020204" pitchFamily="34" charset="0"/>
              </a:rPr>
              <a:t>0.6+0.3+0.8=1.7</a:t>
            </a:r>
          </a:p>
        </p:txBody>
      </p:sp>
      <p:sp>
        <p:nvSpPr>
          <p:cNvPr id="68" name="Title 1">
            <a:extLst>
              <a:ext uri="{FF2B5EF4-FFF2-40B4-BE49-F238E27FC236}">
                <a16:creationId xmlns="" xmlns:a16="http://schemas.microsoft.com/office/drawing/2014/main" id="{75CA4650-586F-1B45-B159-3525C7A47E6A}"/>
              </a:ext>
            </a:extLst>
          </p:cNvPr>
          <p:cNvSpPr txBox="1">
            <a:spLocks/>
          </p:cNvSpPr>
          <p:nvPr/>
        </p:nvSpPr>
        <p:spPr bwMode="auto">
          <a:xfrm>
            <a:off x="873866" y="6064188"/>
            <a:ext cx="486063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dirty="0"/>
              <a:t>Global inference via ILP</a:t>
            </a:r>
          </a:p>
        </p:txBody>
      </p:sp>
      <p:sp>
        <p:nvSpPr>
          <p:cNvPr id="69" name="Title 1">
            <a:extLst>
              <a:ext uri="{FF2B5EF4-FFF2-40B4-BE49-F238E27FC236}">
                <a16:creationId xmlns="" xmlns:a16="http://schemas.microsoft.com/office/drawing/2014/main" id="{E9E8089C-B974-4140-A14C-BBC06E800B31}"/>
              </a:ext>
            </a:extLst>
          </p:cNvPr>
          <p:cNvSpPr txBox="1">
            <a:spLocks/>
          </p:cNvSpPr>
          <p:nvPr/>
        </p:nvSpPr>
        <p:spPr bwMode="auto">
          <a:xfrm>
            <a:off x="989250" y="5267331"/>
            <a:ext cx="731149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dirty="0"/>
              <a:t>How should we formulate this procedure?</a:t>
            </a:r>
          </a:p>
        </p:txBody>
      </p:sp>
      <p:sp>
        <p:nvSpPr>
          <p:cNvPr id="37" name="TextBox 36">
            <a:extLst>
              <a:ext uri="{FF2B5EF4-FFF2-40B4-BE49-F238E27FC236}">
                <a16:creationId xmlns="" xmlns:a16="http://schemas.microsoft.com/office/drawing/2014/main" id="{77E12BAB-E193-2B47-834D-BEE4B2CB5112}"/>
              </a:ext>
            </a:extLst>
          </p:cNvPr>
          <p:cNvSpPr txBox="1"/>
          <p:nvPr/>
        </p:nvSpPr>
        <p:spPr>
          <a:xfrm>
            <a:off x="3820291" y="1649313"/>
            <a:ext cx="1151277"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Option 2</a:t>
            </a:r>
          </a:p>
        </p:txBody>
      </p:sp>
      <p:sp>
        <p:nvSpPr>
          <p:cNvPr id="3" name="TextBox 2">
            <a:extLst>
              <a:ext uri="{FF2B5EF4-FFF2-40B4-BE49-F238E27FC236}">
                <a16:creationId xmlns="" xmlns:a16="http://schemas.microsoft.com/office/drawing/2014/main" id="{28787ECE-D229-724D-A812-FA530F115ADF}"/>
              </a:ext>
            </a:extLst>
          </p:cNvPr>
          <p:cNvSpPr txBox="1"/>
          <p:nvPr/>
        </p:nvSpPr>
        <p:spPr>
          <a:xfrm>
            <a:off x="5164028" y="6153008"/>
            <a:ext cx="2125903" cy="369332"/>
          </a:xfrm>
          <a:prstGeom prst="rect">
            <a:avLst/>
          </a:prstGeom>
          <a:noFill/>
        </p:spPr>
        <p:txBody>
          <a:bodyPr wrap="none" rtlCol="0">
            <a:spAutoFit/>
          </a:bodyPr>
          <a:lstStyle/>
          <a:p>
            <a:r>
              <a:rPr lang="en-US" i="1" dirty="0">
                <a:solidFill>
                  <a:schemeClr val="bg2"/>
                </a:solidFill>
                <a:latin typeface="Century Gothic" panose="020B0502020202020204" pitchFamily="34" charset="0"/>
              </a:rPr>
              <a:t>[Roth &amp; </a:t>
            </a:r>
            <a:r>
              <a:rPr lang="en-US" i="1" dirty="0" err="1">
                <a:solidFill>
                  <a:schemeClr val="bg2"/>
                </a:solidFill>
                <a:latin typeface="Century Gothic" panose="020B0502020202020204" pitchFamily="34" charset="0"/>
              </a:rPr>
              <a:t>Yih</a:t>
            </a:r>
            <a:r>
              <a:rPr lang="en-US" i="1" dirty="0">
                <a:solidFill>
                  <a:schemeClr val="bg2"/>
                </a:solidFill>
                <a:latin typeface="Century Gothic" panose="020B0502020202020204" pitchFamily="34" charset="0"/>
              </a:rPr>
              <a:t>, 2004]</a:t>
            </a:r>
          </a:p>
        </p:txBody>
      </p:sp>
      <p:sp>
        <p:nvSpPr>
          <p:cNvPr id="41" name="TextBox 40">
            <a:extLst>
              <a:ext uri="{FF2B5EF4-FFF2-40B4-BE49-F238E27FC236}">
                <a16:creationId xmlns="" xmlns:a16="http://schemas.microsoft.com/office/drawing/2014/main" id="{7867E129-5CD1-694A-9F31-410C0165B0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Tree>
    <p:extLst>
      <p:ext uri="{BB962C8B-B14F-4D97-AF65-F5344CB8AC3E}">
        <p14:creationId xmlns:p14="http://schemas.microsoft.com/office/powerpoint/2010/main" val="1335106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wipe(left)">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68"/>
                                        </p:tgtEl>
                                        <p:attrNameLst>
                                          <p:attrName>style.visibility</p:attrName>
                                        </p:attrNameLst>
                                      </p:cBhvr>
                                      <p:to>
                                        <p:strVal val="visible"/>
                                      </p:to>
                                    </p:set>
                                    <p:anim calcmode="lin" valueType="num">
                                      <p:cBhvr>
                                        <p:cTn id="12" dur="1000" fill="hold"/>
                                        <p:tgtEl>
                                          <p:spTgt spid="68"/>
                                        </p:tgtEl>
                                        <p:attrNameLst>
                                          <p:attrName>ppt_w</p:attrName>
                                        </p:attrNameLst>
                                      </p:cBhvr>
                                      <p:tavLst>
                                        <p:tav tm="0">
                                          <p:val>
                                            <p:strVal val="#ppt_w*0.70"/>
                                          </p:val>
                                        </p:tav>
                                        <p:tav tm="100000">
                                          <p:val>
                                            <p:strVal val="#ppt_w"/>
                                          </p:val>
                                        </p:tav>
                                      </p:tavLst>
                                    </p:anim>
                                    <p:anim calcmode="lin" valueType="num">
                                      <p:cBhvr>
                                        <p:cTn id="13" dur="1000" fill="hold"/>
                                        <p:tgtEl>
                                          <p:spTgt spid="68"/>
                                        </p:tgtEl>
                                        <p:attrNameLst>
                                          <p:attrName>ppt_h</p:attrName>
                                        </p:attrNameLst>
                                      </p:cBhvr>
                                      <p:tavLst>
                                        <p:tav tm="0">
                                          <p:val>
                                            <p:strVal val="#ppt_h"/>
                                          </p:val>
                                        </p:tav>
                                        <p:tav tm="100000">
                                          <p:val>
                                            <p:strVal val="#ppt_h"/>
                                          </p:val>
                                        </p:tav>
                                      </p:tavLst>
                                    </p:anim>
                                    <p:animEffect transition="in" filter="fade">
                                      <p:cBhvr>
                                        <p:cTn id="14" dur="1000"/>
                                        <p:tgtEl>
                                          <p:spTgt spid="68"/>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1000" fill="hold"/>
                                        <p:tgtEl>
                                          <p:spTgt spid="3"/>
                                        </p:tgtEl>
                                        <p:attrNameLst>
                                          <p:attrName>ppt_w</p:attrName>
                                        </p:attrNameLst>
                                      </p:cBhvr>
                                      <p:tavLst>
                                        <p:tav tm="0">
                                          <p:val>
                                            <p:strVal val="#ppt_w*0.70"/>
                                          </p:val>
                                        </p:tav>
                                        <p:tav tm="100000">
                                          <p:val>
                                            <p:strVal val="#ppt_w"/>
                                          </p:val>
                                        </p:tav>
                                      </p:tavLst>
                                    </p:anim>
                                    <p:anim calcmode="lin" valueType="num">
                                      <p:cBhvr>
                                        <p:cTn id="18" dur="1000" fill="hold"/>
                                        <p:tgtEl>
                                          <p:spTgt spid="3"/>
                                        </p:tgtEl>
                                        <p:attrNameLst>
                                          <p:attrName>ppt_h</p:attrName>
                                        </p:attrNameLst>
                                      </p:cBhvr>
                                      <p:tavLst>
                                        <p:tav tm="0">
                                          <p:val>
                                            <p:strVal val="#ppt_h"/>
                                          </p:val>
                                        </p:tav>
                                        <p:tav tm="100000">
                                          <p:val>
                                            <p:strVal val="#ppt_h"/>
                                          </p:val>
                                        </p:tav>
                                      </p:tavLst>
                                    </p:anim>
                                    <p:animEffect transition="in" filter="fade">
                                      <p:cBhvr>
                                        <p:cTn id="1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F02C4E20-21E9-49F2-99C9-0CA78E0DF464}"/>
                  </a:ext>
                </a:extLst>
              </p:cNvPr>
              <p:cNvSpPr>
                <a:spLocks noGrp="1"/>
              </p:cNvSpPr>
              <p:nvPr>
                <p:ph idx="4294967295"/>
              </p:nvPr>
            </p:nvSpPr>
            <p:spPr>
              <a:xfrm>
                <a:off x="609600" y="1219200"/>
                <a:ext cx="8534400" cy="5181600"/>
              </a:xfrm>
            </p:spPr>
            <p:txBody>
              <a:bodyPr/>
              <a:lstStyle/>
              <a:p>
                <a:pPr marL="0" indent="0">
                  <a:buNone/>
                </a:pPr>
                <a:r>
                  <a:rPr lang="en-US" dirty="0"/>
                  <a:t>Integer Linear Programming (ILP)</a:t>
                </a:r>
              </a:p>
              <a:p>
                <a:pPr lvl="1"/>
                <a:endParaRPr lang="en-US" dirty="0">
                  <a:solidFill>
                    <a:srgbClr val="7030A0"/>
                  </a:solidFill>
                </a:endParaRPr>
              </a:p>
              <a:p>
                <a:pPr marL="457200" lvl="1" indent="0">
                  <a:buNone/>
                </a:pPr>
                <a14:m>
                  <m:oMathPara xmlns:m="http://schemas.openxmlformats.org/officeDocument/2006/math">
                    <m:oMathParaPr>
                      <m:jc m:val="centerGroup"/>
                    </m:oMathParaPr>
                    <m:oMath xmlns:m="http://schemas.openxmlformats.org/officeDocument/2006/math">
                      <m:acc>
                        <m:accPr>
                          <m:chr m:val="̂"/>
                          <m:ctrlPr>
                            <a:rPr lang="en-US" b="0" i="1" smtClean="0">
                              <a:solidFill>
                                <a:schemeClr val="bg2"/>
                              </a:solidFill>
                              <a:latin typeface="Cambria Math" charset="0"/>
                            </a:rPr>
                          </m:ctrlPr>
                        </m:accPr>
                        <m:e>
                          <m:r>
                            <a:rPr lang="en-US" b="0" i="1" smtClean="0">
                              <a:solidFill>
                                <a:schemeClr val="bg2"/>
                              </a:solidFill>
                              <a:latin typeface="Cambria Math" panose="02040503050406030204" pitchFamily="18" charset="0"/>
                            </a:rPr>
                            <m:t>𝐼</m:t>
                          </m:r>
                        </m:e>
                      </m:acc>
                      <m:r>
                        <a:rPr lang="en-US" b="0" i="1" dirty="0" smtClean="0">
                          <a:solidFill>
                            <a:schemeClr val="bg2"/>
                          </a:solidFill>
                          <a:latin typeface="Cambria Math" panose="02040503050406030204" pitchFamily="18" charset="0"/>
                        </a:rPr>
                        <m:t>=</m:t>
                      </m:r>
                      <m:r>
                        <a:rPr lang="en-US" b="0" i="1" dirty="0" smtClean="0">
                          <a:solidFill>
                            <a:schemeClr val="bg2"/>
                          </a:solidFill>
                          <a:latin typeface="Cambria Math" panose="02040503050406030204" pitchFamily="18" charset="0"/>
                        </a:rPr>
                        <m:t>𝑎𝑟𝑔</m:t>
                      </m:r>
                      <m:func>
                        <m:funcPr>
                          <m:ctrlPr>
                            <a:rPr lang="en-US" b="0" i="1" dirty="0" smtClean="0">
                              <a:solidFill>
                                <a:schemeClr val="bg2"/>
                              </a:solidFill>
                              <a:latin typeface="Cambria Math" charset="0"/>
                            </a:rPr>
                          </m:ctrlPr>
                        </m:funcPr>
                        <m:fName>
                          <m:limLow>
                            <m:limLowPr>
                              <m:ctrlPr>
                                <a:rPr lang="en-US" b="0" i="1" dirty="0" smtClean="0">
                                  <a:solidFill>
                                    <a:schemeClr val="bg2"/>
                                  </a:solidFill>
                                  <a:latin typeface="Cambria Math" charset="0"/>
                                </a:rPr>
                              </m:ctrlPr>
                            </m:limLowPr>
                            <m:e>
                              <m:r>
                                <m:rPr>
                                  <m:sty m:val="p"/>
                                </m:rPr>
                                <a:rPr lang="en-US" b="0" i="0" dirty="0" smtClean="0">
                                  <a:solidFill>
                                    <a:schemeClr val="bg2"/>
                                  </a:solidFill>
                                  <a:latin typeface="Cambria Math" panose="02040503050406030204" pitchFamily="18" charset="0"/>
                                </a:rPr>
                                <m:t>m</m:t>
                              </m:r>
                              <m:r>
                                <m:rPr>
                                  <m:sty m:val="p"/>
                                </m:rPr>
                                <a:rPr lang="en-US" b="0" i="0" dirty="0" smtClean="0">
                                  <a:solidFill>
                                    <a:schemeClr val="bg2"/>
                                  </a:solidFill>
                                  <a:latin typeface="Cambria Math" charset="0"/>
                                </a:rPr>
                                <m:t>ax</m:t>
                              </m:r>
                            </m:e>
                            <m:lim>
                              <m:r>
                                <a:rPr lang="en-US" b="0" i="1" dirty="0" smtClean="0">
                                  <a:solidFill>
                                    <a:schemeClr val="bg2"/>
                                  </a:solidFill>
                                  <a:latin typeface="Cambria Math" panose="02040503050406030204" pitchFamily="18" charset="0"/>
                                </a:rPr>
                                <m:t>𝐼</m:t>
                              </m:r>
                            </m:lim>
                          </m:limLow>
                        </m:fName>
                        <m:e>
                          <m:nary>
                            <m:naryPr>
                              <m:chr m:val="∑"/>
                              <m:supHide m:val="on"/>
                              <m:ctrlPr>
                                <a:rPr lang="en-US" b="0" i="1" dirty="0" smtClean="0">
                                  <a:solidFill>
                                    <a:schemeClr val="bg2"/>
                                  </a:solidFill>
                                  <a:latin typeface="Cambria Math" charset="0"/>
                                </a:rPr>
                              </m:ctrlPr>
                            </m:naryPr>
                            <m:sub>
                              <m:r>
                                <a:rPr lang="en-US" b="0" i="1" dirty="0" smtClean="0">
                                  <a:solidFill>
                                    <a:schemeClr val="bg2"/>
                                  </a:solidFill>
                                  <a:latin typeface="Cambria Math" panose="02040503050406030204" pitchFamily="18" charset="0"/>
                                </a:rPr>
                                <m:t>𝑖</m:t>
                              </m:r>
                              <m:r>
                                <a:rPr lang="en-US" b="0" i="1" dirty="0" smtClean="0">
                                  <a:solidFill>
                                    <a:schemeClr val="bg2"/>
                                  </a:solidFill>
                                  <a:latin typeface="Cambria Math" panose="02040503050406030204" pitchFamily="18" charset="0"/>
                                </a:rPr>
                                <m:t>&lt;</m:t>
                              </m:r>
                              <m:r>
                                <a:rPr lang="en-US" b="0" i="1" dirty="0" smtClean="0">
                                  <a:solidFill>
                                    <a:schemeClr val="bg2"/>
                                  </a:solidFill>
                                  <a:latin typeface="Cambria Math" panose="02040503050406030204" pitchFamily="18" charset="0"/>
                                </a:rPr>
                                <m:t>𝑗</m:t>
                              </m:r>
                            </m:sub>
                            <m:sup/>
                            <m:e>
                              <m:nary>
                                <m:naryPr>
                                  <m:chr m:val="∑"/>
                                  <m:supHide m:val="on"/>
                                  <m:ctrlPr>
                                    <a:rPr lang="en-US" b="0" i="1" dirty="0" smtClean="0">
                                      <a:solidFill>
                                        <a:schemeClr val="bg2"/>
                                      </a:solidFill>
                                      <a:latin typeface="Cambria Math" charset="0"/>
                                    </a:rPr>
                                  </m:ctrlPr>
                                </m:naryPr>
                                <m:sub>
                                  <m:r>
                                    <a:rPr lang="en-US" b="0" i="1" dirty="0" smtClean="0">
                                      <a:solidFill>
                                        <a:schemeClr val="bg2"/>
                                      </a:solidFill>
                                      <a:latin typeface="Cambria Math" panose="02040503050406030204" pitchFamily="18" charset="0"/>
                                    </a:rPr>
                                    <m:t>𝑟</m:t>
                                  </m:r>
                                </m:sub>
                                <m:sup/>
                                <m:e>
                                  <m:sSub>
                                    <m:sSubPr>
                                      <m:ctrlPr>
                                        <a:rPr lang="en-US" b="0" i="1" dirty="0" smtClean="0">
                                          <a:solidFill>
                                            <a:schemeClr val="bg2"/>
                                          </a:solidFill>
                                          <a:latin typeface="Cambria Math" charset="0"/>
                                        </a:rPr>
                                      </m:ctrlPr>
                                    </m:sSubPr>
                                    <m:e>
                                      <m:r>
                                        <a:rPr lang="en-US" b="0" i="1" dirty="0" smtClean="0">
                                          <a:solidFill>
                                            <a:schemeClr val="bg2"/>
                                          </a:solidFill>
                                          <a:latin typeface="Cambria Math" panose="02040503050406030204" pitchFamily="18" charset="0"/>
                                        </a:rPr>
                                        <m:t>𝑓</m:t>
                                      </m:r>
                                    </m:e>
                                    <m:sub>
                                      <m:r>
                                        <a:rPr lang="en-US" b="0" i="1" dirty="0" smtClean="0">
                                          <a:solidFill>
                                            <a:schemeClr val="bg2"/>
                                          </a:solidFill>
                                          <a:latin typeface="Cambria Math" panose="02040503050406030204" pitchFamily="18" charset="0"/>
                                        </a:rPr>
                                        <m:t>𝑟</m:t>
                                      </m:r>
                                    </m:sub>
                                  </m:sSub>
                                  <m:d>
                                    <m:dPr>
                                      <m:ctrlPr>
                                        <a:rPr lang="en-US" b="0" i="1" dirty="0" smtClean="0">
                                          <a:solidFill>
                                            <a:schemeClr val="bg2"/>
                                          </a:solidFill>
                                          <a:latin typeface="Cambria Math" charset="0"/>
                                        </a:rPr>
                                      </m:ctrlPr>
                                    </m:dPr>
                                    <m:e>
                                      <m:r>
                                        <a:rPr lang="en-US" b="0" i="1" dirty="0" smtClean="0">
                                          <a:solidFill>
                                            <a:schemeClr val="bg2"/>
                                          </a:solidFill>
                                          <a:latin typeface="Cambria Math" panose="02040503050406030204" pitchFamily="18" charset="0"/>
                                        </a:rPr>
                                        <m:t>𝑖𝑗</m:t>
                                      </m:r>
                                    </m:e>
                                  </m:d>
                                  <m:sSub>
                                    <m:sSubPr>
                                      <m:ctrlPr>
                                        <a:rPr lang="en-US" b="0" i="1" dirty="0" smtClean="0">
                                          <a:solidFill>
                                            <a:schemeClr val="bg2"/>
                                          </a:solidFill>
                                          <a:latin typeface="Cambria Math" charset="0"/>
                                        </a:rPr>
                                      </m:ctrlPr>
                                    </m:sSubPr>
                                    <m:e>
                                      <m:r>
                                        <a:rPr lang="en-US" b="0" i="1" dirty="0" smtClean="0">
                                          <a:solidFill>
                                            <a:schemeClr val="bg2"/>
                                          </a:solidFill>
                                          <a:latin typeface="Cambria Math" panose="02040503050406030204" pitchFamily="18" charset="0"/>
                                        </a:rPr>
                                        <m:t>𝐼</m:t>
                                      </m:r>
                                    </m:e>
                                    <m:sub>
                                      <m:r>
                                        <a:rPr lang="en-US" b="0" i="1" dirty="0" smtClean="0">
                                          <a:solidFill>
                                            <a:schemeClr val="bg2"/>
                                          </a:solidFill>
                                          <a:latin typeface="Cambria Math" panose="02040503050406030204" pitchFamily="18" charset="0"/>
                                        </a:rPr>
                                        <m:t>𝑟</m:t>
                                      </m:r>
                                    </m:sub>
                                  </m:sSub>
                                  <m:r>
                                    <a:rPr lang="en-US" b="0" i="1" dirty="0" smtClean="0">
                                      <a:solidFill>
                                        <a:schemeClr val="bg2"/>
                                      </a:solidFill>
                                      <a:latin typeface="Cambria Math" panose="02040503050406030204" pitchFamily="18" charset="0"/>
                                    </a:rPr>
                                    <m:t>(</m:t>
                                  </m:r>
                                  <m:r>
                                    <a:rPr lang="en-US" b="0" i="1" dirty="0" smtClean="0">
                                      <a:solidFill>
                                        <a:schemeClr val="bg2"/>
                                      </a:solidFill>
                                      <a:latin typeface="Cambria Math" panose="02040503050406030204" pitchFamily="18" charset="0"/>
                                    </a:rPr>
                                    <m:t>𝑖𝑗</m:t>
                                  </m:r>
                                  <m:r>
                                    <a:rPr lang="en-US" b="0" i="1" dirty="0" smtClean="0">
                                      <a:solidFill>
                                        <a:schemeClr val="bg2"/>
                                      </a:solidFill>
                                      <a:latin typeface="Cambria Math" panose="02040503050406030204" pitchFamily="18" charset="0"/>
                                    </a:rPr>
                                    <m:t>)</m:t>
                                  </m:r>
                                </m:e>
                              </m:nary>
                            </m:e>
                          </m:nary>
                        </m:e>
                      </m:func>
                    </m:oMath>
                  </m:oMathPara>
                </a14:m>
                <a:endParaRPr lang="en-US" b="0" dirty="0">
                  <a:solidFill>
                    <a:schemeClr val="bg2"/>
                  </a:solidFill>
                </a:endParaRPr>
              </a:p>
              <a:p>
                <a:pPr marL="457200" lvl="1" indent="0">
                  <a:buNone/>
                </a:pPr>
                <a:r>
                  <a:rPr lang="en-US" dirty="0">
                    <a:solidFill>
                      <a:schemeClr val="bg2"/>
                    </a:solidFill>
                  </a:rPr>
                  <a:t>s.t. </a:t>
                </a:r>
                <a14:m>
                  <m:oMath xmlns:m="http://schemas.openxmlformats.org/officeDocument/2006/math">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𝑖</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𝑗</m:t>
                    </m:r>
                    <m:r>
                      <a:rPr lang="en-US" b="0" i="1" smtClean="0">
                        <a:solidFill>
                          <a:schemeClr val="bg2"/>
                        </a:solidFill>
                        <a:latin typeface="Cambria Math" panose="02040503050406030204" pitchFamily="18" charset="0"/>
                      </a:rPr>
                      <m:t>,</m:t>
                    </m:r>
                    <m:r>
                      <a:rPr lang="en-US" b="0" i="1" smtClean="0">
                        <a:solidFill>
                          <a:schemeClr val="bg2"/>
                        </a:solidFill>
                        <a:latin typeface="Cambria Math" panose="02040503050406030204" pitchFamily="18" charset="0"/>
                      </a:rPr>
                      <m:t>𝑘</m:t>
                    </m:r>
                  </m:oMath>
                </a14:m>
                <a:endParaRPr lang="en-US" b="0" dirty="0">
                  <a:solidFill>
                    <a:schemeClr val="bg2"/>
                  </a:solidFill>
                </a:endParaRPr>
              </a:p>
              <a:p>
                <a:pPr marL="457200" lvl="1" indent="0">
                  <a:buNone/>
                </a:pPr>
                <a14:m>
                  <m:oMathPara xmlns:m="http://schemas.openxmlformats.org/officeDocument/2006/math">
                    <m:oMathParaPr>
                      <m:jc m:val="centerGroup"/>
                    </m:oMathParaPr>
                    <m:oMath xmlns:m="http://schemas.openxmlformats.org/officeDocument/2006/math">
                      <m:nary>
                        <m:naryPr>
                          <m:chr m:val="∑"/>
                          <m:supHide m:val="on"/>
                          <m:ctrlPr>
                            <a:rPr lang="en-US" b="0" i="1" smtClean="0">
                              <a:solidFill>
                                <a:schemeClr val="bg2"/>
                              </a:solidFill>
                              <a:latin typeface="Cambria Math" charset="0"/>
                            </a:rPr>
                          </m:ctrlPr>
                        </m:naryPr>
                        <m:sub>
                          <m:r>
                            <a:rPr lang="en-US" b="0" i="1" smtClean="0">
                              <a:solidFill>
                                <a:schemeClr val="bg2"/>
                              </a:solidFill>
                              <a:latin typeface="Cambria Math" panose="02040503050406030204" pitchFamily="18" charset="0"/>
                            </a:rPr>
                            <m:t>𝑟</m:t>
                          </m:r>
                        </m:sub>
                        <m:sup/>
                        <m:e>
                          <m:sSub>
                            <m:sSubPr>
                              <m:ctrlPr>
                                <a:rPr lang="en-US" b="0" i="1" smtClean="0">
                                  <a:solidFill>
                                    <a:schemeClr val="bg2"/>
                                  </a:solidFill>
                                  <a:latin typeface="Cambria Math" charset="0"/>
                                </a:rPr>
                              </m:ctrlPr>
                            </m:sSubPr>
                            <m:e>
                              <m:r>
                                <a:rPr lang="en-US" b="0" i="1" smtClean="0">
                                  <a:solidFill>
                                    <a:schemeClr val="bg2"/>
                                  </a:solidFill>
                                  <a:latin typeface="Cambria Math" panose="02040503050406030204" pitchFamily="18" charset="0"/>
                                </a:rPr>
                                <m:t>𝐼</m:t>
                              </m:r>
                            </m:e>
                            <m:sub>
                              <m:r>
                                <a:rPr lang="en-US" b="0" i="1" smtClean="0">
                                  <a:solidFill>
                                    <a:schemeClr val="bg2"/>
                                  </a:solidFill>
                                  <a:latin typeface="Cambria Math" panose="02040503050406030204" pitchFamily="18" charset="0"/>
                                </a:rPr>
                                <m:t>𝑟</m:t>
                              </m:r>
                            </m:sub>
                          </m:sSub>
                          <m:d>
                            <m:dPr>
                              <m:ctrlPr>
                                <a:rPr lang="en-US" b="0" i="1" smtClean="0">
                                  <a:solidFill>
                                    <a:schemeClr val="bg2"/>
                                  </a:solidFill>
                                  <a:latin typeface="Cambria Math" charset="0"/>
                                </a:rPr>
                              </m:ctrlPr>
                            </m:dPr>
                            <m:e>
                              <m:r>
                                <a:rPr lang="en-US" b="0" i="1" smtClean="0">
                                  <a:solidFill>
                                    <a:schemeClr val="bg2"/>
                                  </a:solidFill>
                                  <a:latin typeface="Cambria Math" panose="02040503050406030204" pitchFamily="18" charset="0"/>
                                </a:rPr>
                                <m:t>𝑖𝑗</m:t>
                              </m:r>
                            </m:e>
                          </m:d>
                        </m:e>
                      </m:nary>
                      <m:r>
                        <a:rPr lang="en-US" b="0" i="1" smtClean="0">
                          <a:solidFill>
                            <a:schemeClr val="bg2"/>
                          </a:solidFill>
                          <a:latin typeface="Cambria Math" panose="02040503050406030204" pitchFamily="18" charset="0"/>
                        </a:rPr>
                        <m:t>=1,  </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panose="02040503050406030204" pitchFamily="18" charset="0"/>
                            </a:rPr>
                            <m:t>1</m:t>
                          </m:r>
                        </m:sub>
                      </m:sSub>
                      <m:d>
                        <m:dPr>
                          <m:ctrlPr>
                            <a:rPr lang="en-US" i="1">
                              <a:solidFill>
                                <a:schemeClr val="bg2"/>
                              </a:solidFill>
                              <a:latin typeface="Cambria Math" charset="0"/>
                            </a:rPr>
                          </m:ctrlPr>
                        </m:dPr>
                        <m:e>
                          <m:r>
                            <a:rPr lang="en-US" i="1">
                              <a:solidFill>
                                <a:schemeClr val="bg2"/>
                              </a:solidFill>
                              <a:latin typeface="Cambria Math" panose="02040503050406030204" pitchFamily="18" charset="0"/>
                            </a:rPr>
                            <m:t>𝑖𝑗</m:t>
                          </m:r>
                        </m:e>
                      </m:d>
                      <m:r>
                        <a:rPr lang="en-US" i="1">
                          <a:solidFill>
                            <a:schemeClr val="bg2"/>
                          </a:solidFill>
                          <a:latin typeface="Cambria Math" panose="02040503050406030204" pitchFamily="18" charset="0"/>
                        </a:rPr>
                        <m:t>+</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panose="02040503050406030204" pitchFamily="18" charset="0"/>
                            </a:rPr>
                            <m:t>2</m:t>
                          </m:r>
                        </m:sub>
                      </m:sSub>
                      <m:d>
                        <m:dPr>
                          <m:ctrlPr>
                            <a:rPr lang="en-US" i="1">
                              <a:solidFill>
                                <a:schemeClr val="bg2"/>
                              </a:solidFill>
                              <a:latin typeface="Cambria Math" charset="0"/>
                            </a:rPr>
                          </m:ctrlPr>
                        </m:dPr>
                        <m:e>
                          <m:r>
                            <a:rPr lang="en-US" i="1">
                              <a:solidFill>
                                <a:schemeClr val="bg2"/>
                              </a:solidFill>
                              <a:latin typeface="Cambria Math" panose="02040503050406030204" pitchFamily="18" charset="0"/>
                            </a:rPr>
                            <m:t>𝑗𝑘</m:t>
                          </m:r>
                        </m:e>
                      </m:d>
                      <m:r>
                        <a:rPr lang="en-US" i="1">
                          <a:solidFill>
                            <a:schemeClr val="bg2"/>
                          </a:solidFill>
                          <a:latin typeface="Cambria Math" panose="02040503050406030204" pitchFamily="18" charset="0"/>
                        </a:rPr>
                        <m:t>−</m:t>
                      </m:r>
                      <m:sSub>
                        <m:sSubPr>
                          <m:ctrlPr>
                            <a:rPr lang="en-US" i="1">
                              <a:solidFill>
                                <a:schemeClr val="bg2"/>
                              </a:solidFill>
                              <a:latin typeface="Cambria Math" charset="0"/>
                            </a:rPr>
                          </m:ctrlPr>
                        </m:sSubPr>
                        <m:e>
                          <m:r>
                            <a:rPr lang="en-US" i="1">
                              <a:solidFill>
                                <a:schemeClr val="bg2"/>
                              </a:solidFill>
                              <a:latin typeface="Cambria Math" panose="02040503050406030204" pitchFamily="18" charset="0"/>
                            </a:rPr>
                            <m:t>𝐼</m:t>
                          </m:r>
                        </m:e>
                        <m:sub>
                          <m:r>
                            <a:rPr lang="en-US" i="1">
                              <a:solidFill>
                                <a:schemeClr val="bg2"/>
                              </a:solidFill>
                              <a:latin typeface="Cambria Math" panose="02040503050406030204" pitchFamily="18" charset="0"/>
                            </a:rPr>
                            <m:t>𝑟</m:t>
                          </m:r>
                          <m:r>
                            <a:rPr lang="en-US" i="1">
                              <a:solidFill>
                                <a:schemeClr val="bg2"/>
                              </a:solidFill>
                              <a:latin typeface="Cambria Math" charset="0"/>
                            </a:rPr>
                            <m:t>3</m:t>
                          </m:r>
                        </m:sub>
                      </m:sSub>
                      <m:d>
                        <m:dPr>
                          <m:ctrlPr>
                            <a:rPr lang="en-US" i="1">
                              <a:solidFill>
                                <a:schemeClr val="bg2"/>
                              </a:solidFill>
                              <a:latin typeface="Cambria Math" charset="0"/>
                            </a:rPr>
                          </m:ctrlPr>
                        </m:dPr>
                        <m:e>
                          <m:r>
                            <a:rPr lang="en-US" i="1">
                              <a:solidFill>
                                <a:schemeClr val="bg2"/>
                              </a:solidFill>
                              <a:latin typeface="Cambria Math" charset="0"/>
                            </a:rPr>
                            <m:t>𝑖</m:t>
                          </m:r>
                          <m:r>
                            <a:rPr lang="en-US" i="1">
                              <a:solidFill>
                                <a:schemeClr val="bg2"/>
                              </a:solidFill>
                              <a:latin typeface="Cambria Math" panose="02040503050406030204" pitchFamily="18" charset="0"/>
                            </a:rPr>
                            <m:t>𝑘</m:t>
                          </m:r>
                        </m:e>
                      </m:d>
                      <m:r>
                        <a:rPr lang="en-US" i="1">
                          <a:solidFill>
                            <a:schemeClr val="bg2"/>
                          </a:solidFill>
                          <a:latin typeface="Cambria Math" panose="02040503050406030204" pitchFamily="18" charset="0"/>
                        </a:rPr>
                        <m:t>≤1</m:t>
                      </m:r>
                    </m:oMath>
                  </m:oMathPara>
                </a14:m>
                <a:endParaRPr lang="en-US" dirty="0">
                  <a:solidFill>
                    <a:schemeClr val="bg2"/>
                  </a:solidFill>
                </a:endParaRPr>
              </a:p>
              <a:p>
                <a:pPr marL="0" indent="0">
                  <a:buNone/>
                </a:pPr>
                <a:endParaRPr lang="en-US" dirty="0">
                  <a:solidFill>
                    <a:schemeClr val="bg2"/>
                  </a:solidFill>
                </a:endParaRPr>
              </a:p>
              <a:p>
                <a:pPr marL="0" indent="0">
                  <a:buNone/>
                </a:pPr>
                <a:r>
                  <a:rPr lang="en-US" dirty="0">
                    <a:solidFill>
                      <a:schemeClr val="bg2"/>
                    </a:solidFill>
                  </a:rPr>
                  <a:t>We’re maximizing the score of an entire graph </a:t>
                </a:r>
                <a:r>
                  <a:rPr lang="en-US" b="1" dirty="0">
                    <a:solidFill>
                      <a:schemeClr val="bg2"/>
                    </a:solidFill>
                  </a:rPr>
                  <a:t>while enforcing transitivity constraints</a:t>
                </a:r>
                <a:r>
                  <a:rPr lang="en-US" dirty="0">
                    <a:solidFill>
                      <a:schemeClr val="bg2"/>
                    </a:solidFill>
                  </a:rPr>
                  <a:t>.</a:t>
                </a:r>
              </a:p>
            </p:txBody>
          </p:sp>
        </mc:Choice>
        <mc:Fallback xmlns="">
          <p:sp>
            <p:nvSpPr>
              <p:cNvPr id="3" name="Content Placeholder 2">
                <a:extLst>
                  <a:ext uri="{FF2B5EF4-FFF2-40B4-BE49-F238E27FC236}">
                    <a16:creationId xmlns:a16="http://schemas.microsoft.com/office/drawing/2014/main" id="{F02C4E20-21E9-49F2-99C9-0CA78E0DF464}"/>
                  </a:ext>
                </a:extLst>
              </p:cNvPr>
              <p:cNvSpPr>
                <a:spLocks noGrp="1" noRot="1" noChangeAspect="1" noMove="1" noResize="1" noEditPoints="1" noAdjustHandles="1" noChangeArrowheads="1" noChangeShapeType="1" noTextEdit="1"/>
              </p:cNvSpPr>
              <p:nvPr>
                <p:ph idx="4294967295"/>
              </p:nvPr>
            </p:nvSpPr>
            <p:spPr>
              <a:xfrm>
                <a:off x="609600" y="1219200"/>
                <a:ext cx="8534400" cy="5181600"/>
              </a:xfrm>
              <a:blipFill>
                <a:blip r:embed="rId3"/>
                <a:stretch>
                  <a:fillRect l="-3274" t="-8578"/>
                </a:stretch>
              </a:blipFill>
            </p:spPr>
            <p:txBody>
              <a:bodyPr/>
              <a:lstStyle/>
              <a:p>
                <a:r>
                  <a:rPr lang="en-US">
                    <a:noFill/>
                  </a:rPr>
                  <a:t> </a:t>
                </a:r>
              </a:p>
            </p:txBody>
          </p:sp>
        </mc:Fallback>
      </mc:AlternateContent>
      <p:sp>
        <p:nvSpPr>
          <p:cNvPr id="5" name="TextBox 4">
            <a:extLst>
              <a:ext uri="{FF2B5EF4-FFF2-40B4-BE49-F238E27FC236}">
                <a16:creationId xmlns="" xmlns:a16="http://schemas.microsoft.com/office/drawing/2014/main" id="{E0CB617D-BD82-460A-81E8-D560F32C96B0}"/>
              </a:ext>
            </a:extLst>
          </p:cNvPr>
          <p:cNvSpPr txBox="1"/>
          <p:nvPr/>
        </p:nvSpPr>
        <p:spPr>
          <a:xfrm>
            <a:off x="1828800" y="4114800"/>
            <a:ext cx="1470935" cy="408623"/>
          </a:xfrm>
          <a:prstGeom prst="round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solidFill>
                  <a:schemeClr val="bg2"/>
                </a:solidFill>
                <a:latin typeface="Century Gothic" panose="020B0502020202020204" pitchFamily="34" charset="0"/>
              </a:rPr>
              <a:t>Uniqueness</a:t>
            </a:r>
          </a:p>
        </p:txBody>
      </p:sp>
      <p:sp>
        <p:nvSpPr>
          <p:cNvPr id="9" name="TextBox 8">
            <a:extLst>
              <a:ext uri="{FF2B5EF4-FFF2-40B4-BE49-F238E27FC236}">
                <a16:creationId xmlns="" xmlns:a16="http://schemas.microsoft.com/office/drawing/2014/main" id="{13C649FF-D4DE-4DDB-B1B8-730DA7C8DC8A}"/>
              </a:ext>
            </a:extLst>
          </p:cNvPr>
          <p:cNvSpPr txBox="1"/>
          <p:nvPr/>
        </p:nvSpPr>
        <p:spPr>
          <a:xfrm>
            <a:off x="4518935" y="4096259"/>
            <a:ext cx="2533386" cy="408623"/>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chemeClr val="bg2"/>
                </a:solidFill>
                <a:latin typeface="Century Gothic" panose="020B0502020202020204" pitchFamily="34" charset="0"/>
              </a:rPr>
              <a:t>Transitivity (no loops)</a:t>
            </a:r>
          </a:p>
        </p:txBody>
      </p:sp>
      <p:sp>
        <p:nvSpPr>
          <p:cNvPr id="6" name="TextBox 5"/>
          <p:cNvSpPr txBox="1"/>
          <p:nvPr/>
        </p:nvSpPr>
        <p:spPr>
          <a:xfrm>
            <a:off x="6093556" y="2726982"/>
            <a:ext cx="2114681" cy="369332"/>
          </a:xfrm>
          <a:prstGeom prst="rect">
            <a:avLst/>
          </a:prstGeom>
          <a:noFill/>
        </p:spPr>
        <p:txBody>
          <a:bodyPr wrap="none" rtlCol="0">
            <a:spAutoFit/>
          </a:bodyPr>
          <a:lstStyle/>
          <a:p>
            <a:r>
              <a:rPr lang="en-US" dirty="0" err="1">
                <a:solidFill>
                  <a:srgbClr val="666089"/>
                </a:solidFill>
                <a:latin typeface="Century Gothic" panose="020B0502020202020204" pitchFamily="34" charset="0"/>
              </a:rPr>
              <a:t>boolean</a:t>
            </a:r>
            <a:r>
              <a:rPr lang="en-US" dirty="0">
                <a:solidFill>
                  <a:srgbClr val="666089"/>
                </a:solidFill>
                <a:latin typeface="Century Gothic" panose="020B0502020202020204" pitchFamily="34" charset="0"/>
              </a:rPr>
              <a:t> variable</a:t>
            </a:r>
          </a:p>
        </p:txBody>
      </p:sp>
      <p:sp>
        <p:nvSpPr>
          <p:cNvPr id="8" name="TextBox 7"/>
          <p:cNvSpPr txBox="1"/>
          <p:nvPr/>
        </p:nvSpPr>
        <p:spPr>
          <a:xfrm>
            <a:off x="4308346" y="1828800"/>
            <a:ext cx="1584088" cy="369332"/>
          </a:xfrm>
          <a:prstGeom prst="rect">
            <a:avLst/>
          </a:prstGeom>
          <a:noFill/>
        </p:spPr>
        <p:txBody>
          <a:bodyPr wrap="none" rtlCol="0">
            <a:spAutoFit/>
          </a:bodyPr>
          <a:lstStyle/>
          <a:p>
            <a:r>
              <a:rPr lang="en-US" dirty="0">
                <a:solidFill>
                  <a:srgbClr val="666089"/>
                </a:solidFill>
                <a:latin typeface="Century Gothic" panose="020B0502020202020204" pitchFamily="34" charset="0"/>
              </a:rPr>
              <a:t>real variable</a:t>
            </a:r>
          </a:p>
        </p:txBody>
      </p:sp>
      <p:sp>
        <p:nvSpPr>
          <p:cNvPr id="7" name="Rounded Rectangle 6"/>
          <p:cNvSpPr/>
          <p:nvPr/>
        </p:nvSpPr>
        <p:spPr>
          <a:xfrm>
            <a:off x="5943600" y="2345899"/>
            <a:ext cx="872168" cy="369332"/>
          </a:xfrm>
          <a:prstGeom prst="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3D3F8F46-05C1-024A-87CE-C4BF841F1AFE}"/>
                  </a:ext>
                </a:extLst>
              </p:cNvPr>
              <p:cNvSpPr txBox="1"/>
              <p:nvPr/>
            </p:nvSpPr>
            <p:spPr>
              <a:xfrm>
                <a:off x="6815768" y="87868"/>
                <a:ext cx="130439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𝐼</m:t>
                          </m:r>
                        </m:e>
                        <m:sub>
                          <m:r>
                            <a:rPr lang="en-US" b="0" i="1" dirty="0" smtClean="0">
                              <a:solidFill>
                                <a:schemeClr val="bg2"/>
                              </a:solidFill>
                              <a:latin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=1</m:t>
                      </m:r>
                    </m:oMath>
                  </m:oMathPara>
                </a14:m>
                <a:endParaRPr lang="en-US" dirty="0">
                  <a:solidFill>
                    <a:schemeClr val="bg2"/>
                  </a:solidFill>
                  <a:latin typeface="Century Gothic" panose="020B0502020202020204" pitchFamily="34" charset="0"/>
                </a:endParaRPr>
              </a:p>
            </p:txBody>
          </p:sp>
        </mc:Choice>
        <mc:Fallback xmlns="">
          <p:sp>
            <p:nvSpPr>
              <p:cNvPr id="15" name="TextBox 14">
                <a:extLst>
                  <a:ext uri="{FF2B5EF4-FFF2-40B4-BE49-F238E27FC236}">
                    <a16:creationId xmlns:a16="http://schemas.microsoft.com/office/drawing/2014/main" id="{3D3F8F46-05C1-024A-87CE-C4BF841F1AFE}"/>
                  </a:ext>
                </a:extLst>
              </p:cNvPr>
              <p:cNvSpPr txBox="1">
                <a:spLocks noRot="1" noChangeAspect="1" noMove="1" noResize="1" noEditPoints="1" noAdjustHandles="1" noChangeArrowheads="1" noChangeShapeType="1" noTextEdit="1"/>
              </p:cNvSpPr>
              <p:nvPr/>
            </p:nvSpPr>
            <p:spPr>
              <a:xfrm>
                <a:off x="6815768" y="87868"/>
                <a:ext cx="1304396" cy="369332"/>
              </a:xfrm>
              <a:prstGeom prst="rect">
                <a:avLst/>
              </a:prstGeom>
              <a:blipFill>
                <a:blip r:embed="rId4"/>
                <a:stretch>
                  <a:fillRect b="-13333"/>
                </a:stretch>
              </a:blipFill>
            </p:spPr>
            <p:txBody>
              <a:bodyPr/>
              <a:lstStyle/>
              <a:p>
                <a:r>
                  <a:rPr lang="en-US">
                    <a:noFill/>
                  </a:rPr>
                  <a:t> </a:t>
                </a:r>
              </a:p>
            </p:txBody>
          </p:sp>
        </mc:Fallback>
      </mc:AlternateContent>
      <p:sp>
        <p:nvSpPr>
          <p:cNvPr id="17" name="Title 1">
            <a:extLst>
              <a:ext uri="{FF2B5EF4-FFF2-40B4-BE49-F238E27FC236}">
                <a16:creationId xmlns="" xmlns:a16="http://schemas.microsoft.com/office/drawing/2014/main" id="{B9CE4E78-7AFD-2341-B94A-24E4A140DF8F}"/>
              </a:ext>
            </a:extLst>
          </p:cNvPr>
          <p:cNvSpPr txBox="1">
            <a:spLocks/>
          </p:cNvSpPr>
          <p:nvPr/>
        </p:nvSpPr>
        <p:spPr bwMode="auto">
          <a:xfrm>
            <a:off x="533400" y="182773"/>
            <a:ext cx="4860631"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t>Global inference via ILP</a:t>
            </a:r>
          </a:p>
        </p:txBody>
      </p:sp>
      <p:grpSp>
        <p:nvGrpSpPr>
          <p:cNvPr id="11" name="Group 10">
            <a:extLst>
              <a:ext uri="{FF2B5EF4-FFF2-40B4-BE49-F238E27FC236}">
                <a16:creationId xmlns="" xmlns:a16="http://schemas.microsoft.com/office/drawing/2014/main" id="{2CF67A6E-32F8-5B41-AB18-831ADFF4F659}"/>
              </a:ext>
            </a:extLst>
          </p:cNvPr>
          <p:cNvGrpSpPr/>
          <p:nvPr/>
        </p:nvGrpSpPr>
        <p:grpSpPr>
          <a:xfrm>
            <a:off x="5701934" y="655920"/>
            <a:ext cx="3024243" cy="411374"/>
            <a:chOff x="5701934" y="655920"/>
            <a:chExt cx="3024243" cy="411374"/>
          </a:xfrm>
        </p:grpSpPr>
        <p:grpSp>
          <p:nvGrpSpPr>
            <p:cNvPr id="16" name="Group 15">
              <a:extLst>
                <a:ext uri="{FF2B5EF4-FFF2-40B4-BE49-F238E27FC236}">
                  <a16:creationId xmlns="" xmlns:a16="http://schemas.microsoft.com/office/drawing/2014/main" id="{52B6E319-F6E3-E142-88C8-A66255FE176A}"/>
                </a:ext>
              </a:extLst>
            </p:cNvPr>
            <p:cNvGrpSpPr/>
            <p:nvPr/>
          </p:nvGrpSpPr>
          <p:grpSpPr>
            <a:xfrm>
              <a:off x="5701934" y="655920"/>
              <a:ext cx="3024243" cy="411374"/>
              <a:chOff x="6028653" y="823776"/>
              <a:chExt cx="3024243" cy="411374"/>
            </a:xfrm>
          </p:grpSpPr>
          <p:cxnSp>
            <p:nvCxnSpPr>
              <p:cNvPr id="12" name="Straight Arrow Connector 11">
                <a:extLst>
                  <a:ext uri="{FF2B5EF4-FFF2-40B4-BE49-F238E27FC236}">
                    <a16:creationId xmlns="" xmlns:a16="http://schemas.microsoft.com/office/drawing/2014/main" id="{3CAB12E8-9DBE-D448-8B03-3FA1EBD02030}"/>
                  </a:ext>
                </a:extLst>
              </p:cNvPr>
              <p:cNvCxnSpPr/>
              <p:nvPr/>
            </p:nvCxnSpPr>
            <p:spPr>
              <a:xfrm>
                <a:off x="7010400" y="914400"/>
                <a:ext cx="1676400" cy="0"/>
              </a:xfrm>
              <a:prstGeom prst="straightConnector1">
                <a:avLst/>
              </a:prstGeom>
              <a:ln w="38100">
                <a:solidFill>
                  <a:schemeClr val="tx1">
                    <a:lumMod val="50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32B3CA7F-2E20-5E47-B421-CCF6914F737A}"/>
                  </a:ext>
                </a:extLst>
              </p:cNvPr>
              <p:cNvSpPr txBox="1"/>
              <p:nvPr/>
            </p:nvSpPr>
            <p:spPr>
              <a:xfrm>
                <a:off x="6028653" y="865818"/>
                <a:ext cx="917239"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Event </a:t>
                </a:r>
                <a:r>
                  <a:rPr lang="en-US" dirty="0" err="1">
                    <a:solidFill>
                      <a:schemeClr val="bg2"/>
                    </a:solidFill>
                    <a:latin typeface="Century Gothic" panose="020B0502020202020204" pitchFamily="34" charset="0"/>
                  </a:rPr>
                  <a:t>i</a:t>
                </a:r>
                <a:endParaRPr lang="en-US" dirty="0">
                  <a:solidFill>
                    <a:schemeClr val="bg2"/>
                  </a:solidFill>
                  <a:latin typeface="Century Gothic" panose="020B0502020202020204" pitchFamily="34" charset="0"/>
                </a:endParaRPr>
              </a:p>
            </p:txBody>
          </p:sp>
          <p:sp>
            <p:nvSpPr>
              <p:cNvPr id="14" name="TextBox 13">
                <a:extLst>
                  <a:ext uri="{FF2B5EF4-FFF2-40B4-BE49-F238E27FC236}">
                    <a16:creationId xmlns="" xmlns:a16="http://schemas.microsoft.com/office/drawing/2014/main" id="{8BDFDF59-4395-6543-A259-65419609F901}"/>
                  </a:ext>
                </a:extLst>
              </p:cNvPr>
              <p:cNvSpPr txBox="1"/>
              <p:nvPr/>
            </p:nvSpPr>
            <p:spPr>
              <a:xfrm>
                <a:off x="8821742" y="823776"/>
                <a:ext cx="23115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j</a:t>
                </a:r>
              </a:p>
            </p:txBody>
          </p:sp>
        </p:grpSp>
        <p:cxnSp>
          <p:nvCxnSpPr>
            <p:cNvPr id="19" name="Straight Arrow Connector 18">
              <a:extLst>
                <a:ext uri="{FF2B5EF4-FFF2-40B4-BE49-F238E27FC236}">
                  <a16:creationId xmlns="" xmlns:a16="http://schemas.microsoft.com/office/drawing/2014/main" id="{4DABB494-E7DF-FF46-98B0-1179AB6B5D88}"/>
                </a:ext>
              </a:extLst>
            </p:cNvPr>
            <p:cNvCxnSpPr>
              <a:cxnSpLocks/>
            </p:cNvCxnSpPr>
            <p:nvPr/>
          </p:nvCxnSpPr>
          <p:spPr>
            <a:xfrm flipH="1">
              <a:off x="6619173" y="990600"/>
              <a:ext cx="1639619" cy="0"/>
            </a:xfrm>
            <a:prstGeom prst="straightConnector1">
              <a:avLst/>
            </a:prstGeom>
            <a:ln w="38100">
              <a:solidFill>
                <a:schemeClr val="tx1">
                  <a:lumMod val="50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TextBox 19">
                <a:extLst>
                  <a:ext uri="{FF2B5EF4-FFF2-40B4-BE49-F238E27FC236}">
                    <a16:creationId xmlns="" xmlns:a16="http://schemas.microsoft.com/office/drawing/2014/main" id="{EDFCE5D8-1E99-F74F-A10A-BBB7F92D24FB}"/>
                  </a:ext>
                </a:extLst>
              </p:cNvPr>
              <p:cNvSpPr txBox="1"/>
              <p:nvPr/>
            </p:nvSpPr>
            <p:spPr>
              <a:xfrm>
                <a:off x="6832685" y="1303426"/>
                <a:ext cx="12563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𝐼</m:t>
                          </m:r>
                        </m:e>
                        <m:sub>
                          <m:r>
                            <a:rPr lang="en-US" i="1" dirty="0">
                              <a:solidFill>
                                <a:schemeClr val="bg2"/>
                              </a:solidFill>
                              <a:latin typeface="Cambria Math" panose="02040503050406030204" pitchFamily="18" charset="0"/>
                              <a:ea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=1</m:t>
                      </m:r>
                    </m:oMath>
                  </m:oMathPara>
                </a14:m>
                <a:endParaRPr lang="en-US" dirty="0">
                  <a:solidFill>
                    <a:schemeClr val="bg2"/>
                  </a:solidFill>
                  <a:latin typeface="Century Gothic" panose="020B0502020202020204" pitchFamily="34" charset="0"/>
                </a:endParaRPr>
              </a:p>
            </p:txBody>
          </p:sp>
        </mc:Choice>
        <mc:Fallback xmlns="">
          <p:sp>
            <p:nvSpPr>
              <p:cNvPr id="20" name="TextBox 19">
                <a:extLst>
                  <a:ext uri="{FF2B5EF4-FFF2-40B4-BE49-F238E27FC236}">
                    <a16:creationId xmlns:a16="http://schemas.microsoft.com/office/drawing/2014/main" id="{EDFCE5D8-1E99-F74F-A10A-BBB7F92D24FB}"/>
                  </a:ext>
                </a:extLst>
              </p:cNvPr>
              <p:cNvSpPr txBox="1">
                <a:spLocks noRot="1" noChangeAspect="1" noMove="1" noResize="1" noEditPoints="1" noAdjustHandles="1" noChangeArrowheads="1" noChangeShapeType="1" noTextEdit="1"/>
              </p:cNvSpPr>
              <p:nvPr/>
            </p:nvSpPr>
            <p:spPr>
              <a:xfrm>
                <a:off x="6832685" y="1303426"/>
                <a:ext cx="1256306" cy="369332"/>
              </a:xfrm>
              <a:prstGeom prst="rect">
                <a:avLst/>
              </a:prstGeom>
              <a:blipFill>
                <a:blip r:embed="rId5"/>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 xmlns:a16="http://schemas.microsoft.com/office/drawing/2014/main" id="{CE98EC79-E3A4-AD4B-8DD2-FCD9CF475C96}"/>
                  </a:ext>
                </a:extLst>
              </p:cNvPr>
              <p:cNvSpPr/>
              <p:nvPr/>
            </p:nvSpPr>
            <p:spPr>
              <a:xfrm>
                <a:off x="6840798" y="348147"/>
                <a:ext cx="143956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𝑓</m:t>
                          </m:r>
                        </m:e>
                        <m:sub>
                          <m:r>
                            <a:rPr lang="en-US" b="0" i="1" dirty="0" smtClean="0">
                              <a:solidFill>
                                <a:schemeClr val="bg2"/>
                              </a:solidFill>
                              <a:latin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=0.6</m:t>
                      </m:r>
                    </m:oMath>
                  </m:oMathPara>
                </a14:m>
                <a:endParaRPr lang="en-US" dirty="0"/>
              </a:p>
            </p:txBody>
          </p:sp>
        </mc:Choice>
        <mc:Fallback xmlns="">
          <p:sp>
            <p:nvSpPr>
              <p:cNvPr id="10" name="Rectangle 9">
                <a:extLst>
                  <a:ext uri="{FF2B5EF4-FFF2-40B4-BE49-F238E27FC236}">
                    <a16:creationId xmlns:a16="http://schemas.microsoft.com/office/drawing/2014/main" id="{CE98EC79-E3A4-AD4B-8DD2-FCD9CF475C96}"/>
                  </a:ext>
                </a:extLst>
              </p:cNvPr>
              <p:cNvSpPr>
                <a:spLocks noRot="1" noChangeAspect="1" noMove="1" noResize="1" noEditPoints="1" noAdjustHandles="1" noChangeArrowheads="1" noChangeShapeType="1" noTextEdit="1"/>
              </p:cNvSpPr>
              <p:nvPr/>
            </p:nvSpPr>
            <p:spPr>
              <a:xfrm>
                <a:off x="6840798" y="348147"/>
                <a:ext cx="1439561" cy="369332"/>
              </a:xfrm>
              <a:prstGeom prst="rect">
                <a:avLst/>
              </a:prstGeom>
              <a:blipFill>
                <a:blip r:embed="rId6"/>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 xmlns:a16="http://schemas.microsoft.com/office/drawing/2014/main" id="{8797B9CD-C3A9-4A48-8CB8-23E44582466A}"/>
                  </a:ext>
                </a:extLst>
              </p:cNvPr>
              <p:cNvSpPr/>
              <p:nvPr/>
            </p:nvSpPr>
            <p:spPr>
              <a:xfrm>
                <a:off x="6819232" y="1010117"/>
                <a:ext cx="14395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solidFill>
                                <a:schemeClr val="bg2"/>
                              </a:solidFill>
                              <a:latin typeface="Cambria Math" charset="0"/>
                            </a:rPr>
                          </m:ctrlPr>
                        </m:sSubPr>
                        <m:e>
                          <m:r>
                            <a:rPr lang="en-US" i="1" dirty="0">
                              <a:solidFill>
                                <a:schemeClr val="bg2"/>
                              </a:solidFill>
                              <a:latin typeface="Cambria Math" panose="02040503050406030204" pitchFamily="18" charset="0"/>
                            </a:rPr>
                            <m:t>𝑓</m:t>
                          </m:r>
                        </m:e>
                        <m:sub>
                          <m:r>
                            <a:rPr lang="en-US" i="1" dirty="0">
                              <a:solidFill>
                                <a:schemeClr val="bg2"/>
                              </a:solidFill>
                              <a:latin typeface="Cambria Math" panose="02040503050406030204" pitchFamily="18" charset="0"/>
                              <a:ea typeface="Cambria Math" panose="02040503050406030204" pitchFamily="18" charset="0"/>
                            </a:rPr>
                            <m:t>←</m:t>
                          </m:r>
                        </m:sub>
                      </m:sSub>
                      <m:d>
                        <m:dPr>
                          <m:ctrlPr>
                            <a:rPr lang="en-US" i="1" dirty="0">
                              <a:solidFill>
                                <a:schemeClr val="bg2"/>
                              </a:solidFill>
                              <a:latin typeface="Cambria Math" charset="0"/>
                            </a:rPr>
                          </m:ctrlPr>
                        </m:dPr>
                        <m:e>
                          <m:r>
                            <a:rPr lang="en-US" i="1" dirty="0">
                              <a:solidFill>
                                <a:schemeClr val="bg2"/>
                              </a:solidFill>
                              <a:latin typeface="Cambria Math" panose="02040503050406030204" pitchFamily="18" charset="0"/>
                            </a:rPr>
                            <m:t>𝑖𝑗</m:t>
                          </m:r>
                        </m:e>
                      </m:d>
                      <m:r>
                        <a:rPr lang="en-US" b="0" i="1" dirty="0" smtClean="0">
                          <a:solidFill>
                            <a:schemeClr val="bg2"/>
                          </a:solidFill>
                          <a:latin typeface="Cambria Math" panose="02040503050406030204" pitchFamily="18" charset="0"/>
                        </a:rPr>
                        <m:t>=0.4</m:t>
                      </m:r>
                    </m:oMath>
                  </m:oMathPara>
                </a14:m>
                <a:endParaRPr lang="en-US" dirty="0"/>
              </a:p>
            </p:txBody>
          </p:sp>
        </mc:Choice>
        <mc:Fallback xmlns="">
          <p:sp>
            <p:nvSpPr>
              <p:cNvPr id="21" name="Rectangle 20">
                <a:extLst>
                  <a:ext uri="{FF2B5EF4-FFF2-40B4-BE49-F238E27FC236}">
                    <a16:creationId xmlns:a16="http://schemas.microsoft.com/office/drawing/2014/main" id="{8797B9CD-C3A9-4A48-8CB8-23E44582466A}"/>
                  </a:ext>
                </a:extLst>
              </p:cNvPr>
              <p:cNvSpPr>
                <a:spLocks noRot="1" noChangeAspect="1" noMove="1" noResize="1" noEditPoints="1" noAdjustHandles="1" noChangeArrowheads="1" noChangeShapeType="1" noTextEdit="1"/>
              </p:cNvSpPr>
              <p:nvPr/>
            </p:nvSpPr>
            <p:spPr>
              <a:xfrm>
                <a:off x="6819232" y="1010117"/>
                <a:ext cx="1439560" cy="369332"/>
              </a:xfrm>
              <a:prstGeom prst="rect">
                <a:avLst/>
              </a:prstGeom>
              <a:blipFill>
                <a:blip r:embed="rId7"/>
                <a:stretch>
                  <a:fillRect b="-13333"/>
                </a:stretch>
              </a:blipFill>
            </p:spPr>
            <p:txBody>
              <a:bodyPr/>
              <a:lstStyle/>
              <a:p>
                <a:r>
                  <a:rPr lang="en-US">
                    <a:noFill/>
                  </a:rPr>
                  <a:t> </a:t>
                </a:r>
              </a:p>
            </p:txBody>
          </p:sp>
        </mc:Fallback>
      </mc:AlternateContent>
      <p:sp>
        <p:nvSpPr>
          <p:cNvPr id="24" name="TextBox 23">
            <a:extLst>
              <a:ext uri="{FF2B5EF4-FFF2-40B4-BE49-F238E27FC236}">
                <a16:creationId xmlns="" xmlns:a16="http://schemas.microsoft.com/office/drawing/2014/main" id="{E6B06B78-B3B4-D141-94D5-750226B771B5}"/>
              </a:ext>
            </a:extLst>
          </p:cNvPr>
          <p:cNvSpPr txBox="1"/>
          <p:nvPr/>
        </p:nvSpPr>
        <p:spPr>
          <a:xfrm>
            <a:off x="696759" y="6291096"/>
            <a:ext cx="7750481" cy="523220"/>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Global inference for </a:t>
            </a:r>
            <a:r>
              <a:rPr lang="en-US" sz="1400" i="1" dirty="0" err="1">
                <a:solidFill>
                  <a:schemeClr val="bg2"/>
                </a:solidFill>
                <a:latin typeface="Century Gothic" panose="020B0502020202020204" pitchFamily="34" charset="0"/>
              </a:rPr>
              <a:t>TempRel</a:t>
            </a:r>
            <a:r>
              <a:rPr lang="en-US" sz="1400" i="1" dirty="0">
                <a:solidFill>
                  <a:schemeClr val="bg2"/>
                </a:solidFill>
                <a:latin typeface="Century Gothic" panose="020B0502020202020204" pitchFamily="34" charset="0"/>
              </a:rPr>
              <a:t> extraction: Bramsen et al., 2006. Chambers &amp; </a:t>
            </a:r>
            <a:r>
              <a:rPr lang="en-US" sz="1400" i="1" dirty="0" err="1">
                <a:solidFill>
                  <a:schemeClr val="bg2"/>
                </a:solidFill>
                <a:latin typeface="Century Gothic" panose="020B0502020202020204" pitchFamily="34" charset="0"/>
              </a:rPr>
              <a:t>Jurafsky</a:t>
            </a:r>
            <a:r>
              <a:rPr lang="en-US" sz="1400" i="1" dirty="0">
                <a:solidFill>
                  <a:schemeClr val="bg2"/>
                </a:solidFill>
                <a:latin typeface="Century Gothic" panose="020B0502020202020204" pitchFamily="34" charset="0"/>
              </a:rPr>
              <a:t>, 2008. Denis &amp; Muller, 2011. Do et al., 2012. Chambers et al., 2014. Mirza &amp; Tonelli, 2016.</a:t>
            </a:r>
          </a:p>
        </p:txBody>
      </p:sp>
    </p:spTree>
    <p:extLst>
      <p:ext uri="{BB962C8B-B14F-4D97-AF65-F5344CB8AC3E}">
        <p14:creationId xmlns:p14="http://schemas.microsoft.com/office/powerpoint/2010/main" val="21503097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left)">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wipe(left)">
                                      <p:cBhvr>
                                        <p:cTn id="28" dur="500"/>
                                        <p:tgtEl>
                                          <p:spTgt spid="15">
                                            <p:txEl>
                                              <p:pRg st="0" end="0"/>
                                            </p:txEl>
                                          </p:spTgt>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20">
                                            <p:txEl>
                                              <p:pRg st="0" end="0"/>
                                            </p:txEl>
                                          </p:spTgt>
                                        </p:tgtEl>
                                        <p:attrNameLst>
                                          <p:attrName>style.visibility</p:attrName>
                                        </p:attrNameLst>
                                      </p:cBhvr>
                                      <p:to>
                                        <p:strVal val="visible"/>
                                      </p:to>
                                    </p:set>
                                    <p:animEffect transition="in" filter="wipe(right)">
                                      <p:cBhvr>
                                        <p:cTn id="31" dur="500"/>
                                        <p:tgtEl>
                                          <p:spTgt spid="20">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6"/>
                                        </p:tgtEl>
                                        <p:attrNameLst>
                                          <p:attrName>style.visibility</p:attrName>
                                        </p:attrNameLst>
                                      </p:cBhvr>
                                      <p:to>
                                        <p:strVal val="hidden"/>
                                      </p:to>
                                    </p:set>
                                  </p:childTnLst>
                                </p:cTn>
                              </p:par>
                              <p:par>
                                <p:cTn id="36" presetID="0" presetClass="path" presetSubtype="0" accel="50000" decel="50000" fill="hold" grpId="1" nodeType="withEffect">
                                  <p:stCondLst>
                                    <p:cond delay="0"/>
                                  </p:stCondLst>
                                  <p:childTnLst>
                                    <p:animMotion origin="layout" path="M 5.55556E-7 -1.48148E-6 L -0.0809 -1.48148E-6 " pathEditMode="relative" rAng="0" ptsTypes="AA">
                                      <p:cBhvr>
                                        <p:cTn id="37" dur="1000" fill="hold"/>
                                        <p:tgtEl>
                                          <p:spTgt spid="7"/>
                                        </p:tgtEl>
                                        <p:attrNameLst>
                                          <p:attrName>ppt_x</p:attrName>
                                          <p:attrName>ppt_y</p:attrName>
                                        </p:attrNameLst>
                                      </p:cBhvr>
                                      <p:rCtr x="-4045" y="0"/>
                                    </p:animMotion>
                                  </p:childTnLst>
                                </p:cTn>
                              </p:par>
                            </p:childTnLst>
                          </p:cTn>
                        </p:par>
                        <p:par>
                          <p:cTn id="38" fill="hold">
                            <p:stCondLst>
                              <p:cond delay="1000"/>
                            </p:stCondLst>
                            <p:childTnLst>
                              <p:par>
                                <p:cTn id="39" presetID="9" presetClass="entr" presetSubtype="0"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dissolve">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2"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right)">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wipe(left)">
                                      <p:cBhvr>
                                        <p:cTn id="54" dur="500"/>
                                        <p:tgtEl>
                                          <p:spTgt spid="3">
                                            <p:txEl>
                                              <p:pRg st="3" end="3"/>
                                            </p:txEl>
                                          </p:spTgt>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wipe(left)">
                                      <p:cBhvr>
                                        <p:cTn id="57" dur="500"/>
                                        <p:tgtEl>
                                          <p:spTgt spid="3">
                                            <p:txEl>
                                              <p:pRg st="4" end="4"/>
                                            </p:txEl>
                                          </p:spTgt>
                                        </p:tgtEl>
                                      </p:cBhvr>
                                    </p:animEffect>
                                  </p:childTnLst>
                                </p:cTn>
                              </p:par>
                              <p:par>
                                <p:cTn id="58" presetID="1" presetClass="exit" presetSubtype="0" fill="hold" grpId="2" nodeType="withEffect">
                                  <p:stCondLst>
                                    <p:cond delay="0"/>
                                  </p:stCondLst>
                                  <p:childTnLst>
                                    <p:set>
                                      <p:cBhvr>
                                        <p:cTn id="59" dur="1" fill="hold">
                                          <p:stCondLst>
                                            <p:cond delay="0"/>
                                          </p:stCondLst>
                                        </p:cTn>
                                        <p:tgtEl>
                                          <p:spTgt spid="7"/>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8"/>
                                        </p:tgtEl>
                                        <p:attrNameLst>
                                          <p:attrName>style.visibility</p:attrName>
                                        </p:attrNameLst>
                                      </p:cBhvr>
                                      <p:to>
                                        <p:strVal val="hidden"/>
                                      </p:to>
                                    </p:set>
                                  </p:childTnLst>
                                </p:cTn>
                              </p:par>
                              <p:par>
                                <p:cTn id="62" presetID="2" presetClass="entr" presetSubtype="4"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additive="base">
                                        <p:cTn id="64" dur="500" fill="hold"/>
                                        <p:tgtEl>
                                          <p:spTgt spid="5"/>
                                        </p:tgtEl>
                                        <p:attrNameLst>
                                          <p:attrName>ppt_x</p:attrName>
                                        </p:attrNameLst>
                                      </p:cBhvr>
                                      <p:tavLst>
                                        <p:tav tm="0">
                                          <p:val>
                                            <p:strVal val="#ppt_x"/>
                                          </p:val>
                                        </p:tav>
                                        <p:tav tm="100000">
                                          <p:val>
                                            <p:strVal val="#ppt_x"/>
                                          </p:val>
                                        </p:tav>
                                      </p:tavLst>
                                    </p:anim>
                                    <p:anim calcmode="lin" valueType="num">
                                      <p:cBhvr additive="base">
                                        <p:cTn id="65" dur="500" fill="hold"/>
                                        <p:tgtEl>
                                          <p:spTgt spid="5"/>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9"/>
                                        </p:tgtEl>
                                        <p:attrNameLst>
                                          <p:attrName>style.visibility</p:attrName>
                                        </p:attrNameLst>
                                      </p:cBhvr>
                                      <p:to>
                                        <p:strVal val="visible"/>
                                      </p:to>
                                    </p:set>
                                    <p:anim calcmode="lin" valueType="num">
                                      <p:cBhvr additive="base">
                                        <p:cTn id="68" dur="500" fill="hold"/>
                                        <p:tgtEl>
                                          <p:spTgt spid="9"/>
                                        </p:tgtEl>
                                        <p:attrNameLst>
                                          <p:attrName>ppt_x</p:attrName>
                                        </p:attrNameLst>
                                      </p:cBhvr>
                                      <p:tavLst>
                                        <p:tav tm="0">
                                          <p:val>
                                            <p:strVal val="#ppt_x"/>
                                          </p:val>
                                        </p:tav>
                                        <p:tav tm="100000">
                                          <p:val>
                                            <p:strVal val="#ppt_x"/>
                                          </p:val>
                                        </p:tav>
                                      </p:tavLst>
                                    </p:anim>
                                    <p:anim calcmode="lin" valueType="num">
                                      <p:cBhvr additive="base">
                                        <p:cTn id="6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3">
                                            <p:txEl>
                                              <p:pRg st="6" end="6"/>
                                            </p:txEl>
                                          </p:spTgt>
                                        </p:tgtEl>
                                        <p:attrNameLst>
                                          <p:attrName>style.visibility</p:attrName>
                                        </p:attrNameLst>
                                      </p:cBhvr>
                                      <p:to>
                                        <p:strVal val="visible"/>
                                      </p:to>
                                    </p:set>
                                    <p:animEffect transition="in" filter="wipe(left)">
                                      <p:cBhvr>
                                        <p:cTn id="74" dur="500"/>
                                        <p:tgtEl>
                                          <p:spTgt spid="3">
                                            <p:txEl>
                                              <p:pRg st="6" end="6"/>
                                            </p:txEl>
                                          </p:spTgt>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dissolve">
                                      <p:cBhvr>
                                        <p:cTn id="7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9" grpId="0" animBg="1"/>
      <p:bldP spid="6" grpId="0"/>
      <p:bldP spid="6" grpId="1"/>
      <p:bldP spid="8" grpId="0"/>
      <p:bldP spid="8" grpId="1"/>
      <p:bldP spid="7" grpId="0" animBg="1"/>
      <p:bldP spid="7" grpId="1" animBg="1"/>
      <p:bldP spid="7" grpId="2" animBg="1"/>
      <p:bldP spid="20" grpId="0" build="allAtOnce"/>
      <p:bldP spid="10" grpId="0"/>
      <p:bldP spid="21" grpId="0"/>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3F2613-70B0-4C0B-BAF1-9053EED9CF55}"/>
              </a:ext>
            </a:extLst>
          </p:cNvPr>
          <p:cNvSpPr>
            <a:spLocks noGrp="1"/>
          </p:cNvSpPr>
          <p:nvPr>
            <p:ph type="title"/>
          </p:nvPr>
        </p:nvSpPr>
        <p:spPr/>
        <p:txBody>
          <a:bodyPr/>
          <a:lstStyle/>
          <a:p>
            <a:r>
              <a:rPr lang="en-US" dirty="0"/>
              <a:t>Benefit of global inference via ILP</a:t>
            </a:r>
          </a:p>
        </p:txBody>
      </p:sp>
      <p:sp>
        <p:nvSpPr>
          <p:cNvPr id="6" name="TextBox 5">
            <a:extLst>
              <a:ext uri="{FF2B5EF4-FFF2-40B4-BE49-F238E27FC236}">
                <a16:creationId xmlns="" xmlns:a16="http://schemas.microsoft.com/office/drawing/2014/main" id="{163FE45C-D2DA-4101-B247-212E21A47F6F}"/>
              </a:ext>
            </a:extLst>
          </p:cNvPr>
          <p:cNvSpPr txBox="1"/>
          <p:nvPr/>
        </p:nvSpPr>
        <p:spPr>
          <a:xfrm>
            <a:off x="1058894" y="5800916"/>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graphicFrame>
        <p:nvGraphicFramePr>
          <p:cNvPr id="7" name="Chart 6"/>
          <p:cNvGraphicFramePr/>
          <p:nvPr>
            <p:extLst>
              <p:ext uri="{D42A27DB-BD31-4B8C-83A1-F6EECF244321}">
                <p14:modId xmlns:p14="http://schemas.microsoft.com/office/powerpoint/2010/main" val="3587968737"/>
              </p:ext>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791200" y="2644588"/>
            <a:ext cx="2912233" cy="762000"/>
            <a:chOff x="5791200" y="2590800"/>
            <a:chExt cx="2912233"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83603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 via ILP</a:t>
              </a:r>
            </a:p>
          </p:txBody>
        </p:sp>
      </p:grpSp>
      <p:sp>
        <p:nvSpPr>
          <p:cNvPr id="20" name="Rounded Rectangle 19"/>
          <p:cNvSpPr/>
          <p:nvPr/>
        </p:nvSpPr>
        <p:spPr>
          <a:xfrm>
            <a:off x="1828800" y="4800600"/>
            <a:ext cx="914400" cy="304800"/>
          </a:xfrm>
          <a:prstGeom prst="roundRect">
            <a:avLst/>
          </a:prstGeom>
          <a:noFill/>
          <a:ln w="38100">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4914900" y="4800600"/>
            <a:ext cx="1295400" cy="304800"/>
          </a:xfrm>
          <a:prstGeom prst="roundRect">
            <a:avLst/>
          </a:prstGeom>
          <a:noFill/>
          <a:ln w="38100">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 xmlns:a16="http://schemas.microsoft.com/office/drawing/2014/main" id="{6B808468-C261-8048-A332-B35585459F3A}"/>
              </a:ext>
            </a:extLst>
          </p:cNvPr>
          <p:cNvGrpSpPr/>
          <p:nvPr/>
        </p:nvGrpSpPr>
        <p:grpSpPr>
          <a:xfrm>
            <a:off x="5778500" y="3352800"/>
            <a:ext cx="1188881" cy="914400"/>
            <a:chOff x="5562600" y="3352800"/>
            <a:chExt cx="1188881" cy="914400"/>
          </a:xfrm>
        </p:grpSpPr>
        <p:sp>
          <p:nvSpPr>
            <p:cNvPr id="10" name="TextBox 9">
              <a:extLst>
                <a:ext uri="{FF2B5EF4-FFF2-40B4-BE49-F238E27FC236}">
                  <a16:creationId xmlns="" xmlns:a16="http://schemas.microsoft.com/office/drawing/2014/main" id="{0D80EE88-CA81-B54E-BF21-F273DCE32E2B}"/>
                </a:ext>
              </a:extLst>
            </p:cNvPr>
            <p:cNvSpPr txBox="1"/>
            <p:nvPr/>
          </p:nvSpPr>
          <p:spPr>
            <a:xfrm>
              <a:off x="5651500" y="3693023"/>
              <a:ext cx="10999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Baseline</a:t>
              </a:r>
            </a:p>
          </p:txBody>
        </p:sp>
        <p:cxnSp>
          <p:nvCxnSpPr>
            <p:cNvPr id="11" name="Straight Arrow Connector 10">
              <a:extLst>
                <a:ext uri="{FF2B5EF4-FFF2-40B4-BE49-F238E27FC236}">
                  <a16:creationId xmlns="" xmlns:a16="http://schemas.microsoft.com/office/drawing/2014/main" id="{2F1006E5-82FC-4A44-9973-E05ED938BE69}"/>
                </a:ext>
              </a:extLst>
            </p:cNvPr>
            <p:cNvCxnSpPr>
              <a:cxnSpLocks/>
            </p:cNvCxnSpPr>
            <p:nvPr/>
          </p:nvCxnSpPr>
          <p:spPr>
            <a:xfrm flipV="1">
              <a:off x="5562600" y="3352800"/>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 xmlns:a16="http://schemas.microsoft.com/office/drawing/2014/main" id="{C02CA987-BD8F-074B-8916-B07866243092}"/>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7" name="TextBox 16">
            <a:extLst>
              <a:ext uri="{FF2B5EF4-FFF2-40B4-BE49-F238E27FC236}">
                <a16:creationId xmlns="" xmlns:a16="http://schemas.microsoft.com/office/drawing/2014/main" id="{61F2E0C8-3B2C-2F48-AFCD-D10034956B66}"/>
              </a:ext>
            </a:extLst>
          </p:cNvPr>
          <p:cNvSpPr txBox="1"/>
          <p:nvPr/>
        </p:nvSpPr>
        <p:spPr>
          <a:xfrm>
            <a:off x="1058894" y="6043985"/>
            <a:ext cx="5841664"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Perceptron+ILP</a:t>
            </a:r>
            <a:r>
              <a:rPr lang="en-US" sz="1100" i="1" dirty="0">
                <a:solidFill>
                  <a:schemeClr val="bg2"/>
                </a:solidFill>
                <a:latin typeface="Century Gothic" panose="020B0502020202020204" pitchFamily="34" charset="0"/>
              </a:rPr>
              <a:t>] Do et al. EMNLP’12. Joint inference for event timeline construction.</a:t>
            </a:r>
          </a:p>
        </p:txBody>
      </p:sp>
      <p:sp>
        <p:nvSpPr>
          <p:cNvPr id="19" name="TextBox 18">
            <a:extLst>
              <a:ext uri="{FF2B5EF4-FFF2-40B4-BE49-F238E27FC236}">
                <a16:creationId xmlns="" xmlns:a16="http://schemas.microsoft.com/office/drawing/2014/main" id="{2FAE6305-B62A-044B-B32F-6CED7C5B7430}"/>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3331368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par>
                                <p:cTn id="13" presetID="9"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dissolv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dissolve">
                                      <p:cBhvr>
                                        <p:cTn id="20" dur="500"/>
                                        <p:tgtEl>
                                          <p:spTgt spid="1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dissolve">
                                      <p:cBhvr>
                                        <p:cTn id="2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4" grpId="0" animBg="1"/>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8" name="Straight Arrow Connector 67">
            <a:extLst>
              <a:ext uri="{FF2B5EF4-FFF2-40B4-BE49-F238E27FC236}">
                <a16:creationId xmlns="" xmlns:a16="http://schemas.microsoft.com/office/drawing/2014/main" id="{53EB0D82-2CA5-0044-B598-D6CC4B1217F6}"/>
              </a:ext>
            </a:extLst>
          </p:cNvPr>
          <p:cNvCxnSpPr>
            <a:cxnSpLocks/>
          </p:cNvCxnSpPr>
          <p:nvPr/>
        </p:nvCxnSpPr>
        <p:spPr>
          <a:xfrm flipH="1">
            <a:off x="2340858" y="4012002"/>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 xmlns:a16="http://schemas.microsoft.com/office/drawing/2014/main" id="{0BACCC43-6CC5-4C3C-8E5E-F9F927F8B94F}"/>
              </a:ext>
            </a:extLst>
          </p:cNvPr>
          <p:cNvCxnSpPr>
            <a:cxnSpLocks/>
          </p:cNvCxnSpPr>
          <p:nvPr/>
        </p:nvCxnSpPr>
        <p:spPr>
          <a:xfrm flipH="1">
            <a:off x="2337780" y="4006411"/>
            <a:ext cx="2275" cy="798556"/>
          </a:xfrm>
          <a:prstGeom prst="straightConnector1">
            <a:avLst/>
          </a:prstGeom>
          <a:ln w="76200" cmpd="dbl">
            <a:solidFill>
              <a:srgbClr val="FF0000">
                <a:alpha val="50000"/>
              </a:srgb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 xmlns:a16="http://schemas.microsoft.com/office/drawing/2014/main" id="{0CC5D2CF-3028-CC45-BF3F-96A9A5D0875F}"/>
              </a:ext>
            </a:extLst>
          </p:cNvPr>
          <p:cNvCxnSpPr/>
          <p:nvPr/>
        </p:nvCxnSpPr>
        <p:spPr>
          <a:xfrm flipV="1">
            <a:off x="2793671" y="503185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DF7A1C68-39CB-4B4F-AF30-2115BB94C260}"/>
              </a:ext>
            </a:extLst>
          </p:cNvPr>
          <p:cNvCxnSpPr/>
          <p:nvPr/>
        </p:nvCxnSpPr>
        <p:spPr>
          <a:xfrm flipV="1">
            <a:off x="2794523" y="5029200"/>
            <a:ext cx="989239" cy="4454"/>
          </a:xfrm>
          <a:prstGeom prst="straightConnector1">
            <a:avLst/>
          </a:prstGeom>
          <a:ln w="31750">
            <a:solidFill>
              <a:srgbClr val="FF0000">
                <a:alpha val="50000"/>
              </a:srgbClr>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 xmlns:a16="http://schemas.microsoft.com/office/drawing/2014/main" id="{9466E26E-59BC-9547-BC26-F9F09E3BD552}"/>
              </a:ext>
            </a:extLst>
          </p:cNvPr>
          <p:cNvSpPr txBox="1"/>
          <p:nvPr/>
        </p:nvSpPr>
        <p:spPr>
          <a:xfrm>
            <a:off x="3783762" y="4875352"/>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5" name="TextBox 54">
            <a:extLst>
              <a:ext uri="{FF2B5EF4-FFF2-40B4-BE49-F238E27FC236}">
                <a16:creationId xmlns="" xmlns:a16="http://schemas.microsoft.com/office/drawing/2014/main" id="{AEC3D52B-1871-8F43-AF74-F6A379644828}"/>
              </a:ext>
            </a:extLst>
          </p:cNvPr>
          <p:cNvSpPr txBox="1"/>
          <p:nvPr/>
        </p:nvSpPr>
        <p:spPr>
          <a:xfrm>
            <a:off x="3783762" y="4871327"/>
            <a:ext cx="790537"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ordered</a:t>
            </a:r>
          </a:p>
        </p:txBody>
      </p:sp>
      <p:sp>
        <p:nvSpPr>
          <p:cNvPr id="54" name="TextBox 53">
            <a:extLst>
              <a:ext uri="{FF2B5EF4-FFF2-40B4-BE49-F238E27FC236}">
                <a16:creationId xmlns="" xmlns:a16="http://schemas.microsoft.com/office/drawing/2014/main" id="{75D9A00D-F6E8-A341-BB54-6DC685C17F41}"/>
              </a:ext>
            </a:extLst>
          </p:cNvPr>
          <p:cNvSpPr txBox="1"/>
          <p:nvPr/>
        </p:nvSpPr>
        <p:spPr>
          <a:xfrm>
            <a:off x="3783617" y="3681581"/>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3" name="TextBox 52">
            <a:extLst>
              <a:ext uri="{FF2B5EF4-FFF2-40B4-BE49-F238E27FC236}">
                <a16:creationId xmlns="" xmlns:a16="http://schemas.microsoft.com/office/drawing/2014/main" id="{827A033C-3362-7E4F-9A29-22F5B134DB38}"/>
              </a:ext>
            </a:extLst>
          </p:cNvPr>
          <p:cNvSpPr txBox="1"/>
          <p:nvPr/>
        </p:nvSpPr>
        <p:spPr>
          <a:xfrm>
            <a:off x="3790433" y="3681582"/>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2" name="TextBox 51">
            <a:extLst>
              <a:ext uri="{FF2B5EF4-FFF2-40B4-BE49-F238E27FC236}">
                <a16:creationId xmlns="" xmlns:a16="http://schemas.microsoft.com/office/drawing/2014/main" id="{BA0B8D1C-469A-C34A-B8E5-6EC7BEC871D0}"/>
              </a:ext>
            </a:extLst>
          </p:cNvPr>
          <p:cNvSpPr txBox="1"/>
          <p:nvPr/>
        </p:nvSpPr>
        <p:spPr>
          <a:xfrm>
            <a:off x="3790433" y="3671896"/>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1" name="TextBox 50">
            <a:extLst>
              <a:ext uri="{FF2B5EF4-FFF2-40B4-BE49-F238E27FC236}">
                <a16:creationId xmlns="" xmlns:a16="http://schemas.microsoft.com/office/drawing/2014/main" id="{F5465B13-DBC7-4043-AD11-B7B745E6BC6A}"/>
              </a:ext>
            </a:extLst>
          </p:cNvPr>
          <p:cNvSpPr txBox="1"/>
          <p:nvPr/>
        </p:nvSpPr>
        <p:spPr>
          <a:xfrm>
            <a:off x="3787098" y="3668637"/>
            <a:ext cx="801823"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monitor</a:t>
            </a:r>
          </a:p>
        </p:txBody>
      </p:sp>
      <p:sp>
        <p:nvSpPr>
          <p:cNvPr id="50" name="TextBox 49">
            <a:extLst>
              <a:ext uri="{FF2B5EF4-FFF2-40B4-BE49-F238E27FC236}">
                <a16:creationId xmlns="" xmlns:a16="http://schemas.microsoft.com/office/drawing/2014/main" id="{FA0167F5-14D7-9241-8E39-B181B66DC612}"/>
              </a:ext>
            </a:extLst>
          </p:cNvPr>
          <p:cNvSpPr txBox="1"/>
          <p:nvPr/>
        </p:nvSpPr>
        <p:spPr>
          <a:xfrm>
            <a:off x="1918862" y="488832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9" name="TextBox 48">
            <a:extLst>
              <a:ext uri="{FF2B5EF4-FFF2-40B4-BE49-F238E27FC236}">
                <a16:creationId xmlns="" xmlns:a16="http://schemas.microsoft.com/office/drawing/2014/main" id="{1FD7C706-046D-F946-A57B-AD9AADD6EFDE}"/>
              </a:ext>
            </a:extLst>
          </p:cNvPr>
          <p:cNvSpPr txBox="1"/>
          <p:nvPr/>
        </p:nvSpPr>
        <p:spPr>
          <a:xfrm>
            <a:off x="1918863" y="4898371"/>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8" name="TextBox 47">
            <a:extLst>
              <a:ext uri="{FF2B5EF4-FFF2-40B4-BE49-F238E27FC236}">
                <a16:creationId xmlns="" xmlns:a16="http://schemas.microsoft.com/office/drawing/2014/main" id="{9D664915-86BD-CF4C-AA26-C6E877E36A33}"/>
              </a:ext>
            </a:extLst>
          </p:cNvPr>
          <p:cNvSpPr txBox="1"/>
          <p:nvPr/>
        </p:nvSpPr>
        <p:spPr>
          <a:xfrm>
            <a:off x="1918863" y="4898628"/>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7" name="TextBox 46">
            <a:extLst>
              <a:ext uri="{FF2B5EF4-FFF2-40B4-BE49-F238E27FC236}">
                <a16:creationId xmlns="" xmlns:a16="http://schemas.microsoft.com/office/drawing/2014/main" id="{65CD4FAA-5F6F-B648-9597-5F4CCDCC323E}"/>
              </a:ext>
            </a:extLst>
          </p:cNvPr>
          <p:cNvSpPr txBox="1"/>
          <p:nvPr/>
        </p:nvSpPr>
        <p:spPr>
          <a:xfrm>
            <a:off x="1918863" y="4885139"/>
            <a:ext cx="873957" cy="307777"/>
          </a:xfrm>
          <a:prstGeom prst="rect">
            <a:avLst/>
          </a:prstGeom>
          <a:noFill/>
          <a:ln>
            <a:noFill/>
          </a:ln>
        </p:spPr>
        <p:txBody>
          <a:bodyPr wrap="none" rtlCol="0">
            <a:spAutoFit/>
          </a:bodyPr>
          <a:lstStyle/>
          <a:p>
            <a:r>
              <a:rPr lang="en-US" altLang="zh-CN" sz="1400" b="1" dirty="0">
                <a:latin typeface="Times New Roman" charset="0"/>
                <a:ea typeface="Times New Roman" charset="0"/>
                <a:cs typeface="Times New Roman" charset="0"/>
              </a:rPr>
              <a:t>cascaded</a:t>
            </a:r>
            <a:endParaRPr lang="en-US" sz="1400" b="1" dirty="0">
              <a:latin typeface="Times New Roman" charset="0"/>
              <a:ea typeface="Times New Roman" charset="0"/>
              <a:cs typeface="Times New Roman" charset="0"/>
            </a:endParaRPr>
          </a:p>
        </p:txBody>
      </p:sp>
      <p:sp>
        <p:nvSpPr>
          <p:cNvPr id="46" name="TextBox 45">
            <a:extLst>
              <a:ext uri="{FF2B5EF4-FFF2-40B4-BE49-F238E27FC236}">
                <a16:creationId xmlns="" xmlns:a16="http://schemas.microsoft.com/office/drawing/2014/main" id="{C46ABA95-9F47-9A45-9186-8C50EF19CE7A}"/>
              </a:ext>
            </a:extLst>
          </p:cNvPr>
          <p:cNvSpPr txBox="1"/>
          <p:nvPr/>
        </p:nvSpPr>
        <p:spPr>
          <a:xfrm>
            <a:off x="978119" y="4261795"/>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35" name="TextBox 34">
            <a:extLst>
              <a:ext uri="{FF2B5EF4-FFF2-40B4-BE49-F238E27FC236}">
                <a16:creationId xmlns="" xmlns:a16="http://schemas.microsoft.com/office/drawing/2014/main" id="{B92B956A-DB60-4C14-A246-235EDA984580}"/>
              </a:ext>
            </a:extLst>
          </p:cNvPr>
          <p:cNvSpPr txBox="1"/>
          <p:nvPr/>
        </p:nvSpPr>
        <p:spPr>
          <a:xfrm>
            <a:off x="975040" y="4258181"/>
            <a:ext cx="522900"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hurt</a:t>
            </a:r>
          </a:p>
        </p:txBody>
      </p:sp>
      <p:sp>
        <p:nvSpPr>
          <p:cNvPr id="44" name="TextBox 43">
            <a:extLst>
              <a:ext uri="{FF2B5EF4-FFF2-40B4-BE49-F238E27FC236}">
                <a16:creationId xmlns="" xmlns:a16="http://schemas.microsoft.com/office/drawing/2014/main" id="{0F90EFB9-7961-EF47-94F2-36A4ED5971C6}"/>
              </a:ext>
            </a:extLst>
          </p:cNvPr>
          <p:cNvSpPr txBox="1"/>
          <p:nvPr/>
        </p:nvSpPr>
        <p:spPr>
          <a:xfrm>
            <a:off x="981197" y="4265410"/>
            <a:ext cx="522900"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hurt</a:t>
            </a:r>
          </a:p>
        </p:txBody>
      </p:sp>
      <p:sp>
        <p:nvSpPr>
          <p:cNvPr id="43" name="TextBox 42">
            <a:extLst>
              <a:ext uri="{FF2B5EF4-FFF2-40B4-BE49-F238E27FC236}">
                <a16:creationId xmlns="" xmlns:a16="http://schemas.microsoft.com/office/drawing/2014/main" id="{1B0F5427-D97D-D446-A8E0-E7B2935333EF}"/>
              </a:ext>
            </a:extLst>
          </p:cNvPr>
          <p:cNvSpPr txBox="1"/>
          <p:nvPr/>
        </p:nvSpPr>
        <p:spPr>
          <a:xfrm>
            <a:off x="1984412"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2" name="TextBox 41">
            <a:extLst>
              <a:ext uri="{FF2B5EF4-FFF2-40B4-BE49-F238E27FC236}">
                <a16:creationId xmlns="" xmlns:a16="http://schemas.microsoft.com/office/drawing/2014/main" id="{4932E516-C897-DE48-9651-A9FCDE8EC45A}"/>
              </a:ext>
            </a:extLst>
          </p:cNvPr>
          <p:cNvSpPr txBox="1"/>
          <p:nvPr/>
        </p:nvSpPr>
        <p:spPr>
          <a:xfrm>
            <a:off x="1984413" y="3675063"/>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41" name="TextBox 40">
            <a:extLst>
              <a:ext uri="{FF2B5EF4-FFF2-40B4-BE49-F238E27FC236}">
                <a16:creationId xmlns="" xmlns:a16="http://schemas.microsoft.com/office/drawing/2014/main" id="{43310B80-3C07-DA40-B669-9A98366B3BF1}"/>
              </a:ext>
            </a:extLst>
          </p:cNvPr>
          <p:cNvSpPr txBox="1"/>
          <p:nvPr/>
        </p:nvSpPr>
        <p:spPr>
          <a:xfrm>
            <a:off x="1981076" y="3671896"/>
            <a:ext cx="752129" cy="307777"/>
          </a:xfrm>
          <a:prstGeom prst="rect">
            <a:avLst/>
          </a:prstGeom>
          <a:noFill/>
          <a:ln>
            <a:noFill/>
          </a:ln>
        </p:spPr>
        <p:txBody>
          <a:bodyPr wrap="none" rtlCol="0">
            <a:spAutoFit/>
          </a:bodyPr>
          <a:lstStyle/>
          <a:p>
            <a:r>
              <a:rPr lang="en-US" sz="1400" b="1" dirty="0">
                <a:latin typeface="Times New Roman" charset="0"/>
                <a:ea typeface="Times New Roman" charset="0"/>
                <a:cs typeface="Times New Roman" charset="0"/>
              </a:rPr>
              <a:t>ripping</a:t>
            </a:r>
          </a:p>
        </p:txBody>
      </p:sp>
      <p:sp>
        <p:nvSpPr>
          <p:cNvPr id="2" name="Title 1">
            <a:extLst>
              <a:ext uri="{FF2B5EF4-FFF2-40B4-BE49-F238E27FC236}">
                <a16:creationId xmlns="" xmlns:a16="http://schemas.microsoft.com/office/drawing/2014/main" id="{4C1B584B-C97F-4280-A16C-ABFABC535E5A}"/>
              </a:ext>
            </a:extLst>
          </p:cNvPr>
          <p:cNvSpPr>
            <a:spLocks noGrp="1"/>
          </p:cNvSpPr>
          <p:nvPr>
            <p:ph type="title"/>
          </p:nvPr>
        </p:nvSpPr>
        <p:spPr/>
        <p:txBody>
          <a:bodyPr/>
          <a:lstStyle/>
          <a:p>
            <a:r>
              <a:rPr lang="en-US" dirty="0"/>
              <a:t>How </a:t>
            </a:r>
            <a:r>
              <a:rPr lang="en-US" dirty="0" smtClean="0"/>
              <a:t>was the </a:t>
            </a:r>
            <a:r>
              <a:rPr lang="en-US" dirty="0"/>
              <a:t>model trained?</a:t>
            </a:r>
          </a:p>
        </p:txBody>
      </p:sp>
      <p:sp>
        <p:nvSpPr>
          <p:cNvPr id="3" name="Content Placeholder 2">
            <a:extLst>
              <a:ext uri="{FF2B5EF4-FFF2-40B4-BE49-F238E27FC236}">
                <a16:creationId xmlns="" xmlns:a16="http://schemas.microsoft.com/office/drawing/2014/main" id="{E67D7159-3482-41DA-952A-D9B4545CE6AD}"/>
              </a:ext>
            </a:extLst>
          </p:cNvPr>
          <p:cNvSpPr>
            <a:spLocks noGrp="1"/>
          </p:cNvSpPr>
          <p:nvPr>
            <p:ph idx="1"/>
          </p:nvPr>
        </p:nvSpPr>
        <p:spPr>
          <a:xfrm>
            <a:off x="381000" y="1661902"/>
            <a:ext cx="8534400" cy="1201038"/>
          </a:xfrm>
        </p:spPr>
        <p:txBody>
          <a:bodyPr/>
          <a:lstStyle/>
          <a:p>
            <a:pPr marL="0" indent="0">
              <a:buNone/>
            </a:pPr>
            <a:r>
              <a:rPr lang="en-US" sz="2400" dirty="0">
                <a:solidFill>
                  <a:schemeClr val="bg2">
                    <a:alpha val="50000"/>
                  </a:schemeClr>
                </a:solidFill>
              </a:rPr>
              <a:t>Due to transitivity, </a:t>
            </a:r>
            <a:r>
              <a:rPr lang="en-US" sz="2400" dirty="0" err="1">
                <a:solidFill>
                  <a:schemeClr val="bg2">
                    <a:alpha val="50000"/>
                  </a:schemeClr>
                </a:solidFill>
              </a:rPr>
              <a:t>TempRels</a:t>
            </a:r>
            <a:r>
              <a:rPr lang="en-US" sz="2400" dirty="0">
                <a:solidFill>
                  <a:schemeClr val="bg2">
                    <a:alpha val="50000"/>
                  </a:schemeClr>
                </a:solidFill>
              </a:rPr>
              <a:t> are not independent</a:t>
            </a:r>
          </a:p>
          <a:p>
            <a:endParaRPr lang="en-US" sz="2400" dirty="0">
              <a:solidFill>
                <a:schemeClr val="bg2">
                  <a:alpha val="50000"/>
                </a:schemeClr>
              </a:solidFill>
            </a:endParaRPr>
          </a:p>
          <a:p>
            <a:pPr marL="0" indent="0">
              <a:buNone/>
            </a:pPr>
            <a:r>
              <a:rPr lang="en-US" sz="2400" dirty="0">
                <a:solidFill>
                  <a:schemeClr val="bg2">
                    <a:alpha val="50000"/>
                  </a:schemeClr>
                </a:solidFill>
              </a:rPr>
              <a:t>Existing methods: global inference</a:t>
            </a:r>
            <a:endParaRPr lang="en-US" sz="2400" b="1" dirty="0">
              <a:solidFill>
                <a:schemeClr val="bg2">
                  <a:alpha val="50000"/>
                </a:schemeClr>
              </a:solidFill>
              <a:sym typeface="Wingdings" panose="05000000000000000000" pitchFamily="2" charset="2"/>
            </a:endParaRPr>
          </a:p>
          <a:p>
            <a:endParaRPr lang="en-US" sz="2400" dirty="0"/>
          </a:p>
        </p:txBody>
      </p:sp>
      <p:sp>
        <p:nvSpPr>
          <p:cNvPr id="37" name="TextBox 36">
            <a:extLst>
              <a:ext uri="{FF2B5EF4-FFF2-40B4-BE49-F238E27FC236}">
                <a16:creationId xmlns="" xmlns:a16="http://schemas.microsoft.com/office/drawing/2014/main" id="{69231A96-B0D2-4862-A853-F2BB70CA4250}"/>
              </a:ext>
            </a:extLst>
          </p:cNvPr>
          <p:cNvSpPr txBox="1"/>
          <p:nvPr/>
        </p:nvSpPr>
        <p:spPr>
          <a:xfrm>
            <a:off x="1918863" y="4882931"/>
            <a:ext cx="873957" cy="307777"/>
          </a:xfrm>
          <a:prstGeom prst="rect">
            <a:avLst/>
          </a:prstGeom>
          <a:noFill/>
          <a:ln>
            <a:noFill/>
          </a:ln>
        </p:spPr>
        <p:txBody>
          <a:bodyPr wrap="none" rtlCol="0">
            <a:spAutoFit/>
          </a:bodyPr>
          <a:lstStyle/>
          <a:p>
            <a:r>
              <a:rPr lang="en-US" altLang="zh-CN" sz="1400" b="1" dirty="0">
                <a:solidFill>
                  <a:srgbClr val="C17A90">
                    <a:alpha val="50000"/>
                  </a:srgbClr>
                </a:solidFill>
                <a:latin typeface="Times New Roman" charset="0"/>
                <a:ea typeface="Times New Roman" charset="0"/>
                <a:cs typeface="Times New Roman" charset="0"/>
              </a:rPr>
              <a:t>cascaded</a:t>
            </a:r>
            <a:endParaRPr lang="en-US" sz="1400" b="1" dirty="0">
              <a:solidFill>
                <a:srgbClr val="C17A90">
                  <a:alpha val="50000"/>
                </a:srgbClr>
              </a:solidFill>
              <a:latin typeface="Times New Roman" charset="0"/>
              <a:ea typeface="Times New Roman" charset="0"/>
              <a:cs typeface="Times New Roman" charset="0"/>
            </a:endParaRPr>
          </a:p>
        </p:txBody>
      </p:sp>
      <p:sp>
        <p:nvSpPr>
          <p:cNvPr id="33" name="TextBox 32">
            <a:extLst>
              <a:ext uri="{FF2B5EF4-FFF2-40B4-BE49-F238E27FC236}">
                <a16:creationId xmlns="" xmlns:a16="http://schemas.microsoft.com/office/drawing/2014/main" id="{306FE320-D23E-4FEE-9F8E-CA98C6C5F530}"/>
              </a:ext>
            </a:extLst>
          </p:cNvPr>
          <p:cNvSpPr txBox="1"/>
          <p:nvPr/>
        </p:nvSpPr>
        <p:spPr>
          <a:xfrm>
            <a:off x="1984414" y="3675063"/>
            <a:ext cx="752129"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ripping</a:t>
            </a:r>
          </a:p>
        </p:txBody>
      </p:sp>
      <p:sp>
        <p:nvSpPr>
          <p:cNvPr id="31" name="TextBox 30">
            <a:extLst>
              <a:ext uri="{FF2B5EF4-FFF2-40B4-BE49-F238E27FC236}">
                <a16:creationId xmlns="" xmlns:a16="http://schemas.microsoft.com/office/drawing/2014/main" id="{49003EBB-30C2-4A6E-9B7E-9B8B4726829D}"/>
              </a:ext>
            </a:extLst>
          </p:cNvPr>
          <p:cNvSpPr txBox="1"/>
          <p:nvPr/>
        </p:nvSpPr>
        <p:spPr>
          <a:xfrm>
            <a:off x="3783762" y="4878477"/>
            <a:ext cx="790537"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ordered</a:t>
            </a:r>
          </a:p>
        </p:txBody>
      </p:sp>
      <p:cxnSp>
        <p:nvCxnSpPr>
          <p:cNvPr id="19" name="Straight Arrow Connector 18">
            <a:extLst>
              <a:ext uri="{FF2B5EF4-FFF2-40B4-BE49-F238E27FC236}">
                <a16:creationId xmlns="" xmlns:a16="http://schemas.microsoft.com/office/drawing/2014/main" id="{4FF3051B-1BED-4F81-84E9-9144F59A6658}"/>
              </a:ext>
            </a:extLst>
          </p:cNvPr>
          <p:cNvCxnSpPr/>
          <p:nvPr/>
        </p:nvCxnSpPr>
        <p:spPr>
          <a:xfrm flipH="1">
            <a:off x="1374539" y="3825785"/>
            <a:ext cx="609875" cy="439625"/>
          </a:xfrm>
          <a:prstGeom prst="straightConnector1">
            <a:avLst/>
          </a:prstGeom>
          <a:ln w="317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 xmlns:a16="http://schemas.microsoft.com/office/drawing/2014/main" id="{4B33CC75-CE81-4793-BE14-84BC2B70A7B6}"/>
              </a:ext>
            </a:extLst>
          </p:cNvPr>
          <p:cNvCxnSpPr/>
          <p:nvPr/>
        </p:nvCxnSpPr>
        <p:spPr>
          <a:xfrm>
            <a:off x="2492132" y="3967925"/>
            <a:ext cx="1516020" cy="900866"/>
          </a:xfrm>
          <a:prstGeom prst="straightConnector1">
            <a:avLst/>
          </a:prstGeom>
          <a:ln w="31750" cmpd="sng">
            <a:solidFill>
              <a:srgbClr val="FF0000">
                <a:alpha val="50000"/>
              </a:srgbClr>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BFF47532-9C5A-4318-AAFC-616F8209B108}"/>
              </a:ext>
            </a:extLst>
          </p:cNvPr>
          <p:cNvCxnSpPr/>
          <p:nvPr/>
        </p:nvCxnSpPr>
        <p:spPr>
          <a:xfrm flipH="1" flipV="1">
            <a:off x="1374539" y="4567959"/>
            <a:ext cx="544324" cy="465694"/>
          </a:xfrm>
          <a:prstGeom prst="straightConnector1">
            <a:avLst/>
          </a:prstGeom>
          <a:ln w="31750" cmpd="sng">
            <a:solidFill>
              <a:srgbClr val="0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 xmlns:a16="http://schemas.microsoft.com/office/drawing/2014/main" id="{CF3EC16A-6808-436E-B8D5-2FC0C52207EE}"/>
              </a:ext>
            </a:extLst>
          </p:cNvPr>
          <p:cNvSpPr txBox="1"/>
          <p:nvPr/>
        </p:nvSpPr>
        <p:spPr>
          <a:xfrm>
            <a:off x="3783762" y="3675213"/>
            <a:ext cx="801823" cy="307777"/>
          </a:xfrm>
          <a:prstGeom prst="rect">
            <a:avLst/>
          </a:prstGeom>
          <a:noFill/>
          <a:ln>
            <a:noFill/>
          </a:ln>
        </p:spPr>
        <p:txBody>
          <a:bodyPr wrap="none" rtlCol="0">
            <a:spAutoFit/>
          </a:bodyPr>
          <a:lstStyle/>
          <a:p>
            <a:r>
              <a:rPr lang="en-US" sz="1400" b="1" dirty="0">
                <a:solidFill>
                  <a:srgbClr val="C17A90">
                    <a:alpha val="50000"/>
                  </a:srgbClr>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F6CE56D6-D023-4B88-B59D-400ACE613C21}"/>
              </a:ext>
            </a:extLst>
          </p:cNvPr>
          <p:cNvCxnSpPr/>
          <p:nvPr/>
        </p:nvCxnSpPr>
        <p:spPr>
          <a:xfrm flipH="1" flipV="1">
            <a:off x="2733206" y="3825785"/>
            <a:ext cx="1050557" cy="150"/>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C8235993-3487-4925-AE51-802546311D16}"/>
              </a:ext>
            </a:extLst>
          </p:cNvPr>
          <p:cNvCxnSpPr/>
          <p:nvPr/>
        </p:nvCxnSpPr>
        <p:spPr>
          <a:xfrm flipH="1">
            <a:off x="4159426" y="4030735"/>
            <a:ext cx="7422" cy="775397"/>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F41F946-2002-4ED4-994A-76B18F3455CF}"/>
              </a:ext>
            </a:extLst>
          </p:cNvPr>
          <p:cNvCxnSpPr/>
          <p:nvPr/>
        </p:nvCxnSpPr>
        <p:spPr>
          <a:xfrm flipH="1">
            <a:off x="2489857" y="4030735"/>
            <a:ext cx="1676991" cy="861065"/>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34F1B8A9-5B03-4D1A-B2D7-9B58D51F6443}"/>
              </a:ext>
            </a:extLst>
          </p:cNvPr>
          <p:cNvCxnSpPr/>
          <p:nvPr/>
        </p:nvCxnSpPr>
        <p:spPr>
          <a:xfrm flipH="1">
            <a:off x="1437199" y="3968076"/>
            <a:ext cx="2578374" cy="44860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1790034E-07E3-4A1D-A4A6-9B3839F3BF3F}"/>
              </a:ext>
            </a:extLst>
          </p:cNvPr>
          <p:cNvCxnSpPr/>
          <p:nvPr/>
        </p:nvCxnSpPr>
        <p:spPr>
          <a:xfrm flipV="1">
            <a:off x="2206066" y="5413121"/>
            <a:ext cx="271390" cy="3376"/>
          </a:xfrm>
          <a:prstGeom prst="straightConnector1">
            <a:avLst/>
          </a:prstGeom>
          <a:ln w="63500">
            <a:solidFill>
              <a:schemeClr val="bg2">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 xmlns:a16="http://schemas.microsoft.com/office/drawing/2014/main" id="{4CDA7464-9DEF-4ECF-8EB3-DA28951C95A3}"/>
              </a:ext>
            </a:extLst>
          </p:cNvPr>
          <p:cNvSpPr txBox="1"/>
          <p:nvPr/>
        </p:nvSpPr>
        <p:spPr>
          <a:xfrm>
            <a:off x="2444831" y="5323461"/>
            <a:ext cx="607859" cy="215444"/>
          </a:xfrm>
          <a:prstGeom prst="rect">
            <a:avLst/>
          </a:prstGeom>
          <a:noFill/>
          <a:ln>
            <a:noFill/>
          </a:ln>
        </p:spPr>
        <p:txBody>
          <a:bodyPr wrap="none" rtlCol="0">
            <a:spAutoFit/>
          </a:bodyPr>
          <a:lstStyle/>
          <a:p>
            <a:r>
              <a:rPr lang="en-US" sz="800" b="1" dirty="0">
                <a:solidFill>
                  <a:srgbClr val="666089">
                    <a:alpha val="50000"/>
                  </a:srgbClr>
                </a:solidFill>
                <a:latin typeface="Times New Roman" charset="0"/>
                <a:ea typeface="Times New Roman" charset="0"/>
                <a:cs typeface="Times New Roman" charset="0"/>
              </a:rPr>
              <a:t>BEFORE</a:t>
            </a:r>
            <a:endParaRPr lang="en-US" sz="1200" b="1" dirty="0">
              <a:solidFill>
                <a:srgbClr val="666089">
                  <a:alpha val="50000"/>
                </a:srgbClr>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 xmlns:a16="http://schemas.microsoft.com/office/drawing/2014/main" id="{3698058B-8FA1-4E6D-AED0-E7432B76635D}"/>
              </a:ext>
            </a:extLst>
          </p:cNvPr>
          <p:cNvCxnSpPr/>
          <p:nvPr/>
        </p:nvCxnSpPr>
        <p:spPr>
          <a:xfrm flipV="1">
            <a:off x="3055380" y="5413120"/>
            <a:ext cx="271390" cy="0"/>
          </a:xfrm>
          <a:prstGeom prst="straightConnector1">
            <a:avLst/>
          </a:prstGeom>
          <a:ln w="88900" cmpd="dbl">
            <a:solidFill>
              <a:schemeClr val="bg2">
                <a:alpha val="50000"/>
              </a:schemeClr>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383684F5-6E3C-428D-B627-C1F6F491FD1A}"/>
              </a:ext>
            </a:extLst>
          </p:cNvPr>
          <p:cNvSpPr txBox="1"/>
          <p:nvPr/>
        </p:nvSpPr>
        <p:spPr>
          <a:xfrm>
            <a:off x="3294145" y="5323461"/>
            <a:ext cx="731290" cy="215444"/>
          </a:xfrm>
          <a:prstGeom prst="rect">
            <a:avLst/>
          </a:prstGeom>
          <a:noFill/>
          <a:ln>
            <a:noFill/>
          </a:ln>
        </p:spPr>
        <p:txBody>
          <a:bodyPr wrap="none" rtlCol="0">
            <a:spAutoFit/>
          </a:bodyPr>
          <a:lstStyle/>
          <a:p>
            <a:r>
              <a:rPr lang="en-US" sz="800" b="1" dirty="0">
                <a:solidFill>
                  <a:srgbClr val="666089">
                    <a:alpha val="50000"/>
                  </a:srgbClr>
                </a:solidFill>
                <a:latin typeface="Times New Roman" charset="0"/>
                <a:ea typeface="Times New Roman" charset="0"/>
                <a:cs typeface="Times New Roman" charset="0"/>
              </a:rPr>
              <a:t>INCLUDED</a:t>
            </a:r>
            <a:endParaRPr lang="en-US" sz="1200" b="1" dirty="0">
              <a:solidFill>
                <a:srgbClr val="666089">
                  <a:alpha val="50000"/>
                </a:srgbClr>
              </a:solidFill>
              <a:latin typeface="Times New Roman" charset="0"/>
              <a:ea typeface="Times New Roman" charset="0"/>
              <a:cs typeface="Times New Roman" charset="0"/>
            </a:endParaRPr>
          </a:p>
        </p:txBody>
      </p:sp>
      <p:cxnSp>
        <p:nvCxnSpPr>
          <p:cNvPr id="38" name="Straight Connector 37">
            <a:extLst>
              <a:ext uri="{FF2B5EF4-FFF2-40B4-BE49-F238E27FC236}">
                <a16:creationId xmlns="" xmlns:a16="http://schemas.microsoft.com/office/drawing/2014/main" id="{E401D0A2-BE3F-F34E-96A9-92CDCF68B6C0}"/>
              </a:ext>
            </a:extLst>
          </p:cNvPr>
          <p:cNvCxnSpPr>
            <a:cxnSpLocks/>
          </p:cNvCxnSpPr>
          <p:nvPr/>
        </p:nvCxnSpPr>
        <p:spPr>
          <a:xfrm flipH="1" flipV="1">
            <a:off x="1437199" y="4451324"/>
            <a:ext cx="2570953" cy="476139"/>
          </a:xfrm>
          <a:prstGeom prst="line">
            <a:avLst/>
          </a:prstGeom>
          <a:ln w="31750">
            <a:solidFill>
              <a:srgbClr val="0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 xmlns:a16="http://schemas.microsoft.com/office/drawing/2014/main" id="{564FF85C-7656-CF4D-BE38-A2C27601AEF8}"/>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grpSp>
        <p:nvGrpSpPr>
          <p:cNvPr id="39" name="Group 38">
            <a:extLst>
              <a:ext uri="{FF2B5EF4-FFF2-40B4-BE49-F238E27FC236}">
                <a16:creationId xmlns="" xmlns:a16="http://schemas.microsoft.com/office/drawing/2014/main" id="{BD9DA3AD-202F-EF42-AA01-FF5A88466510}"/>
              </a:ext>
            </a:extLst>
          </p:cNvPr>
          <p:cNvGrpSpPr/>
          <p:nvPr/>
        </p:nvGrpSpPr>
        <p:grpSpPr>
          <a:xfrm>
            <a:off x="4977154" y="3828951"/>
            <a:ext cx="3581400" cy="1198586"/>
            <a:chOff x="-5105400" y="4876800"/>
            <a:chExt cx="3581400" cy="1198586"/>
          </a:xfrm>
        </p:grpSpPr>
        <p:grpSp>
          <p:nvGrpSpPr>
            <p:cNvPr id="40" name="Group 39">
              <a:extLst>
                <a:ext uri="{FF2B5EF4-FFF2-40B4-BE49-F238E27FC236}">
                  <a16:creationId xmlns="" xmlns:a16="http://schemas.microsoft.com/office/drawing/2014/main" id="{19503E91-D86A-0A42-A470-E05E49B425FA}"/>
                </a:ext>
              </a:extLst>
            </p:cNvPr>
            <p:cNvGrpSpPr/>
            <p:nvPr/>
          </p:nvGrpSpPr>
          <p:grpSpPr>
            <a:xfrm>
              <a:off x="-5105400" y="4876800"/>
              <a:ext cx="3581400" cy="1198586"/>
              <a:chOff x="-5105400" y="2901434"/>
              <a:chExt cx="3581400" cy="1198586"/>
            </a:xfrm>
          </p:grpSpPr>
          <p:cxnSp>
            <p:nvCxnSpPr>
              <p:cNvPr id="63" name="Straight Arrow Connector 62">
                <a:extLst>
                  <a:ext uri="{FF2B5EF4-FFF2-40B4-BE49-F238E27FC236}">
                    <a16:creationId xmlns="" xmlns:a16="http://schemas.microsoft.com/office/drawing/2014/main" id="{FBBE9CA7-A205-FB41-889E-96347FE496FC}"/>
                  </a:ext>
                </a:extLst>
              </p:cNvPr>
              <p:cNvCxnSpPr/>
              <p:nvPr/>
            </p:nvCxnSpPr>
            <p:spPr>
              <a:xfrm>
                <a:off x="-5105400" y="3429000"/>
                <a:ext cx="3581400" cy="0"/>
              </a:xfrm>
              <a:prstGeom prst="straightConnector1">
                <a:avLst/>
              </a:prstGeom>
              <a:ln>
                <a:solidFill>
                  <a:schemeClr val="bg2">
                    <a:alpha val="50000"/>
                  </a:schemeClr>
                </a:solidFill>
                <a:tailEnd type="triangle"/>
              </a:ln>
            </p:spPr>
            <p:style>
              <a:lnRef idx="3">
                <a:schemeClr val="dk1"/>
              </a:lnRef>
              <a:fillRef idx="0">
                <a:schemeClr val="dk1"/>
              </a:fillRef>
              <a:effectRef idx="2">
                <a:schemeClr val="dk1"/>
              </a:effectRef>
              <a:fontRef idx="minor">
                <a:schemeClr val="tx1"/>
              </a:fontRef>
            </p:style>
          </p:cxnSp>
          <p:sp>
            <p:nvSpPr>
              <p:cNvPr id="64" name="TextBox 63">
                <a:extLst>
                  <a:ext uri="{FF2B5EF4-FFF2-40B4-BE49-F238E27FC236}">
                    <a16:creationId xmlns="" xmlns:a16="http://schemas.microsoft.com/office/drawing/2014/main" id="{125259AA-2068-DB4D-9E9A-65053001A378}"/>
                  </a:ext>
                </a:extLst>
              </p:cNvPr>
              <p:cNvSpPr txBox="1"/>
              <p:nvPr/>
            </p:nvSpPr>
            <p:spPr>
              <a:xfrm>
                <a:off x="-4682613" y="3730688"/>
                <a:ext cx="957313"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ripping</a:t>
                </a:r>
              </a:p>
            </p:txBody>
          </p:sp>
          <p:sp>
            <p:nvSpPr>
              <p:cNvPr id="65" name="TextBox 64">
                <a:extLst>
                  <a:ext uri="{FF2B5EF4-FFF2-40B4-BE49-F238E27FC236}">
                    <a16:creationId xmlns="" xmlns:a16="http://schemas.microsoft.com/office/drawing/2014/main" id="{28F84A82-7AE4-AA4C-8A2E-61BCEB468B52}"/>
                  </a:ext>
                </a:extLst>
              </p:cNvPr>
              <p:cNvSpPr txBox="1"/>
              <p:nvPr/>
            </p:nvSpPr>
            <p:spPr>
              <a:xfrm>
                <a:off x="-3098714" y="2901434"/>
                <a:ext cx="1091966"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ordered</a:t>
                </a:r>
              </a:p>
            </p:txBody>
          </p:sp>
          <p:sp>
            <p:nvSpPr>
              <p:cNvPr id="66" name="TextBox 65">
                <a:extLst>
                  <a:ext uri="{FF2B5EF4-FFF2-40B4-BE49-F238E27FC236}">
                    <a16:creationId xmlns="" xmlns:a16="http://schemas.microsoft.com/office/drawing/2014/main" id="{B5A9EB4A-DF3F-9E4B-BF48-9C7A83FFFAFD}"/>
                  </a:ext>
                </a:extLst>
              </p:cNvPr>
              <p:cNvSpPr txBox="1"/>
              <p:nvPr/>
            </p:nvSpPr>
            <p:spPr>
              <a:xfrm>
                <a:off x="-4846431" y="2904891"/>
                <a:ext cx="1354858" cy="369332"/>
              </a:xfrm>
              <a:prstGeom prst="rect">
                <a:avLst/>
              </a:prstGeom>
              <a:noFill/>
            </p:spPr>
            <p:txBody>
              <a:bodyPr wrap="none" rtlCol="0">
                <a:spAutoFit/>
              </a:bodyPr>
              <a:lstStyle/>
              <a:p>
                <a:r>
                  <a:rPr lang="en-US" dirty="0">
                    <a:solidFill>
                      <a:srgbClr val="C17A90">
                        <a:alpha val="50000"/>
                      </a:srgbClr>
                    </a:solidFill>
                    <a:latin typeface="Century Gothic" panose="020B0502020202020204" pitchFamily="34" charset="0"/>
                  </a:rPr>
                  <a:t>cascaded</a:t>
                </a:r>
              </a:p>
            </p:txBody>
          </p:sp>
        </p:grpSp>
        <p:cxnSp>
          <p:nvCxnSpPr>
            <p:cNvPr id="45" name="Straight Connector 44">
              <a:extLst>
                <a:ext uri="{FF2B5EF4-FFF2-40B4-BE49-F238E27FC236}">
                  <a16:creationId xmlns="" xmlns:a16="http://schemas.microsoft.com/office/drawing/2014/main" id="{92AD4E36-72AB-1748-9493-E245CFD71CEA}"/>
                </a:ext>
              </a:extLst>
            </p:cNvPr>
            <p:cNvCxnSpPr>
              <a:cxnSpLocks/>
            </p:cNvCxnSpPr>
            <p:nvPr/>
          </p:nvCxnSpPr>
          <p:spPr>
            <a:xfrm>
              <a:off x="-3491573"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58" name="Straight Connector 57">
              <a:extLst>
                <a:ext uri="{FF2B5EF4-FFF2-40B4-BE49-F238E27FC236}">
                  <a16:creationId xmlns="" xmlns:a16="http://schemas.microsoft.com/office/drawing/2014/main" id="{22A4815A-259E-7D49-AC14-49C7E0605A80}"/>
                </a:ext>
              </a:extLst>
            </p:cNvPr>
            <p:cNvCxnSpPr>
              <a:cxnSpLocks/>
            </p:cNvCxnSpPr>
            <p:nvPr/>
          </p:nvCxnSpPr>
          <p:spPr>
            <a:xfrm>
              <a:off x="-4419600" y="5404366"/>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59" name="Straight Connector 58">
              <a:extLst>
                <a:ext uri="{FF2B5EF4-FFF2-40B4-BE49-F238E27FC236}">
                  <a16:creationId xmlns="" xmlns:a16="http://schemas.microsoft.com/office/drawing/2014/main" id="{50E9F7F8-A248-6D4A-8548-3862A8CBF78A}"/>
                </a:ext>
              </a:extLst>
            </p:cNvPr>
            <p:cNvCxnSpPr>
              <a:cxnSpLocks/>
            </p:cNvCxnSpPr>
            <p:nvPr/>
          </p:nvCxnSpPr>
          <p:spPr>
            <a:xfrm>
              <a:off x="-4089497" y="5404366"/>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 xmlns:a16="http://schemas.microsoft.com/office/drawing/2014/main" id="{FF3B8F8E-6948-1448-A083-D8562DA2F434}"/>
                </a:ext>
              </a:extLst>
            </p:cNvPr>
            <p:cNvCxnSpPr>
              <a:cxnSpLocks/>
            </p:cNvCxnSpPr>
            <p:nvPr/>
          </p:nvCxnSpPr>
          <p:spPr>
            <a:xfrm>
              <a:off x="-3060614"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 xmlns:a16="http://schemas.microsoft.com/office/drawing/2014/main" id="{F0DD31F0-E600-8D48-936A-ADB0FFC88AE6}"/>
                </a:ext>
              </a:extLst>
            </p:cNvPr>
            <p:cNvCxnSpPr>
              <a:cxnSpLocks/>
            </p:cNvCxnSpPr>
            <p:nvPr/>
          </p:nvCxnSpPr>
          <p:spPr>
            <a:xfrm>
              <a:off x="-2082620"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 xmlns:a16="http://schemas.microsoft.com/office/drawing/2014/main" id="{842C74D4-16BB-6F45-8C11-FACFBCC29B09}"/>
                </a:ext>
              </a:extLst>
            </p:cNvPr>
            <p:cNvCxnSpPr>
              <a:cxnSpLocks/>
            </p:cNvCxnSpPr>
            <p:nvPr/>
          </p:nvCxnSpPr>
          <p:spPr>
            <a:xfrm>
              <a:off x="-4953000" y="5064923"/>
              <a:ext cx="0" cy="339443"/>
            </a:xfrm>
            <a:prstGeom prst="line">
              <a:avLst/>
            </a:prstGeom>
            <a:ln>
              <a:solidFill>
                <a:schemeClr val="dk1">
                  <a:alpha val="50000"/>
                </a:schemeClr>
              </a:solidFill>
            </a:ln>
          </p:spPr>
          <p:style>
            <a:lnRef idx="3">
              <a:schemeClr val="dk1"/>
            </a:lnRef>
            <a:fillRef idx="0">
              <a:schemeClr val="dk1"/>
            </a:fillRef>
            <a:effectRef idx="2">
              <a:schemeClr val="dk1"/>
            </a:effectRef>
            <a:fontRef idx="minor">
              <a:schemeClr val="tx1"/>
            </a:fontRef>
          </p:style>
        </p:cxnSp>
      </p:grpSp>
      <p:sp>
        <p:nvSpPr>
          <p:cNvPr id="67" name="TextBox 66">
            <a:extLst>
              <a:ext uri="{FF2B5EF4-FFF2-40B4-BE49-F238E27FC236}">
                <a16:creationId xmlns="" xmlns:a16="http://schemas.microsoft.com/office/drawing/2014/main" id="{44494CDC-D9CC-8A45-BF95-E3ED69C0F731}"/>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alpha val="50000"/>
                  </a:schemeClr>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alpha val="50000"/>
                </a:schemeClr>
              </a:solidFill>
              <a:latin typeface="Century Gothic" panose="020B0502020202020204" pitchFamily="34" charset="0"/>
              <a:cs typeface="Calibri" panose="020F0502020204030204" pitchFamily="34" charset="0"/>
              <a:sym typeface="Wingdings" panose="05000000000000000000" pitchFamily="2" charset="2"/>
            </a:endParaRPr>
          </a:p>
        </p:txBody>
      </p:sp>
      <p:sp>
        <p:nvSpPr>
          <p:cNvPr id="9" name="Bent-Up Arrow 8">
            <a:extLst>
              <a:ext uri="{FF2B5EF4-FFF2-40B4-BE49-F238E27FC236}">
                <a16:creationId xmlns="" xmlns:a16="http://schemas.microsoft.com/office/drawing/2014/main" id="{49008456-07ED-3C48-AB5B-2C5A20E8E5F4}"/>
              </a:ext>
            </a:extLst>
          </p:cNvPr>
          <p:cNvSpPr/>
          <p:nvPr/>
        </p:nvSpPr>
        <p:spPr>
          <a:xfrm>
            <a:off x="6436420" y="4438750"/>
            <a:ext cx="1153915" cy="486831"/>
          </a:xfrm>
          <a:prstGeom prst="bentUpArrow">
            <a:avLst>
              <a:gd name="adj1" fmla="val 15490"/>
              <a:gd name="adj2" fmla="val 25000"/>
              <a:gd name="adj3" fmla="val 29755"/>
            </a:avLst>
          </a:prstGeom>
          <a:solidFill>
            <a:srgbClr val="FF0000">
              <a:alpha val="50000"/>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 xmlns:a16="http://schemas.microsoft.com/office/drawing/2014/main" id="{F71D1E1C-00EE-7E42-83D0-4B601E7E7672}"/>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alpha val="50000"/>
                  </a:srgbClr>
                </a:solidFill>
                <a:latin typeface="Century Gothic" panose="020B0502020202020204" pitchFamily="34" charset="0"/>
              </a:rPr>
              <a:t>Must be before</a:t>
            </a:r>
          </a:p>
        </p:txBody>
      </p:sp>
      <p:sp>
        <p:nvSpPr>
          <p:cNvPr id="5" name="TextBox 4">
            <a:extLst>
              <a:ext uri="{FF2B5EF4-FFF2-40B4-BE49-F238E27FC236}">
                <a16:creationId xmlns="" xmlns:a16="http://schemas.microsoft.com/office/drawing/2014/main" id="{88539280-3D24-834A-8256-1C52BB5E9175}"/>
              </a:ext>
            </a:extLst>
          </p:cNvPr>
          <p:cNvSpPr txBox="1"/>
          <p:nvPr/>
        </p:nvSpPr>
        <p:spPr>
          <a:xfrm>
            <a:off x="3128639" y="4005400"/>
            <a:ext cx="396262" cy="523220"/>
          </a:xfrm>
          <a:prstGeom prst="rect">
            <a:avLst/>
          </a:prstGeom>
          <a:noFill/>
        </p:spPr>
        <p:txBody>
          <a:bodyPr wrap="none" rtlCol="0">
            <a:spAutoFit/>
          </a:bodyPr>
          <a:lstStyle/>
          <a:p>
            <a:r>
              <a:rPr lang="en-US" sz="2800" dirty="0">
                <a:solidFill>
                  <a:srgbClr val="FF0000">
                    <a:alpha val="50000"/>
                  </a:srgbClr>
                </a:solidFill>
                <a:latin typeface="Century Gothic" panose="020B0502020202020204" pitchFamily="34" charset="0"/>
              </a:rPr>
              <a:t>?</a:t>
            </a:r>
          </a:p>
        </p:txBody>
      </p:sp>
      <p:sp>
        <p:nvSpPr>
          <p:cNvPr id="6" name="TextBox 5">
            <a:extLst>
              <a:ext uri="{FF2B5EF4-FFF2-40B4-BE49-F238E27FC236}">
                <a16:creationId xmlns="" xmlns:a16="http://schemas.microsoft.com/office/drawing/2014/main" id="{C34A5283-AEA1-D242-8C92-C042CE04BF54}"/>
              </a:ext>
            </a:extLst>
          </p:cNvPr>
          <p:cNvSpPr txBox="1"/>
          <p:nvPr/>
        </p:nvSpPr>
        <p:spPr>
          <a:xfrm>
            <a:off x="5529285" y="2526473"/>
            <a:ext cx="2919389" cy="461665"/>
          </a:xfrm>
          <a:prstGeom prst="rect">
            <a:avLst/>
          </a:prstGeom>
          <a:noFill/>
        </p:spPr>
        <p:txBody>
          <a:bodyPr wrap="none" rtlCol="0">
            <a:spAutoFit/>
          </a:bodyPr>
          <a:lstStyle/>
          <a:p>
            <a:r>
              <a:rPr lang="en-US" sz="2400" b="1" dirty="0">
                <a:solidFill>
                  <a:srgbClr val="000000"/>
                </a:solidFill>
                <a:latin typeface="Century Gothic" panose="020B0502020202020204" pitchFamily="34" charset="0"/>
                <a:cs typeface="Calibri" panose="020F0502020204030204" pitchFamily="34" charset="0"/>
              </a:rPr>
              <a:t>with local learning</a:t>
            </a:r>
            <a:endParaRPr lang="en-US" dirty="0"/>
          </a:p>
        </p:txBody>
      </p:sp>
    </p:spTree>
    <p:extLst>
      <p:ext uri="{BB962C8B-B14F-4D97-AF65-F5344CB8AC3E}">
        <p14:creationId xmlns:p14="http://schemas.microsoft.com/office/powerpoint/2010/main" val="30249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7" name="Elbow Connector 76">
            <a:extLst>
              <a:ext uri="{FF2B5EF4-FFF2-40B4-BE49-F238E27FC236}">
                <a16:creationId xmlns="" xmlns:a16="http://schemas.microsoft.com/office/drawing/2014/main" id="{825B8EA7-88DA-F143-8302-5409CE8F083A}"/>
              </a:ext>
            </a:extLst>
          </p:cNvPr>
          <p:cNvCxnSpPr>
            <a:cxnSpLocks/>
          </p:cNvCxnSpPr>
          <p:nvPr/>
        </p:nvCxnSpPr>
        <p:spPr>
          <a:xfrm>
            <a:off x="5524317" y="3253590"/>
            <a:ext cx="3162102" cy="210258"/>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 xmlns:a16="http://schemas.microsoft.com/office/drawing/2014/main" id="{51589945-D842-3947-8CFB-2262AAD44E26}"/>
              </a:ext>
            </a:extLst>
          </p:cNvPr>
          <p:cNvCxnSpPr>
            <a:cxnSpLocks/>
          </p:cNvCxnSpPr>
          <p:nvPr/>
        </p:nvCxnSpPr>
        <p:spPr>
          <a:xfrm>
            <a:off x="5524317" y="2927866"/>
            <a:ext cx="3162102" cy="535982"/>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a:extLst>
              <a:ext uri="{FF2B5EF4-FFF2-40B4-BE49-F238E27FC236}">
                <a16:creationId xmlns="" xmlns:a16="http://schemas.microsoft.com/office/drawing/2014/main" id="{4F8D7680-DBD5-D840-A532-0090010809BD}"/>
              </a:ext>
            </a:extLst>
          </p:cNvPr>
          <p:cNvCxnSpPr>
            <a:cxnSpLocks/>
          </p:cNvCxnSpPr>
          <p:nvPr/>
        </p:nvCxnSpPr>
        <p:spPr>
          <a:xfrm>
            <a:off x="5524317" y="2646859"/>
            <a:ext cx="3162102" cy="816989"/>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a:extLst>
              <a:ext uri="{FF2B5EF4-FFF2-40B4-BE49-F238E27FC236}">
                <a16:creationId xmlns="" xmlns:a16="http://schemas.microsoft.com/office/drawing/2014/main" id="{09DE97DA-D56B-894F-81BB-94B81B82F82D}"/>
              </a:ext>
            </a:extLst>
          </p:cNvPr>
          <p:cNvCxnSpPr>
            <a:cxnSpLocks/>
          </p:cNvCxnSpPr>
          <p:nvPr/>
        </p:nvCxnSpPr>
        <p:spPr>
          <a:xfrm>
            <a:off x="5524317" y="2316059"/>
            <a:ext cx="3162102" cy="1147789"/>
          </a:xfrm>
          <a:prstGeom prst="bentConnector3">
            <a:avLst>
              <a:gd name="adj1" fmla="val 16361"/>
            </a:avLst>
          </a:prstGeom>
          <a:ln w="1905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 xmlns:a16="http://schemas.microsoft.com/office/drawing/2014/main" id="{4C1B584B-C97F-4280-A16C-ABFABC535E5A}"/>
              </a:ext>
            </a:extLst>
          </p:cNvPr>
          <p:cNvSpPr>
            <a:spLocks noGrp="1"/>
          </p:cNvSpPr>
          <p:nvPr>
            <p:ph type="title"/>
          </p:nvPr>
        </p:nvSpPr>
        <p:spPr/>
        <p:txBody>
          <a:bodyPr/>
          <a:lstStyle/>
          <a:p>
            <a:r>
              <a:rPr lang="en-US" dirty="0"/>
              <a:t>Local </a:t>
            </a:r>
            <a:r>
              <a:rPr lang="en-US" dirty="0" smtClean="0"/>
              <a:t>learning in previous methods</a:t>
            </a:r>
            <a:endParaRPr lang="en-US" dirty="0"/>
          </a:p>
        </p:txBody>
      </p:sp>
      <p:sp>
        <p:nvSpPr>
          <p:cNvPr id="37" name="TextBox 36">
            <a:extLst>
              <a:ext uri="{FF2B5EF4-FFF2-40B4-BE49-F238E27FC236}">
                <a16:creationId xmlns="" xmlns:a16="http://schemas.microsoft.com/office/drawing/2014/main" id="{69231A96-B0D2-4862-A853-F2BB70CA4250}"/>
              </a:ext>
            </a:extLst>
          </p:cNvPr>
          <p:cNvSpPr txBox="1"/>
          <p:nvPr/>
        </p:nvSpPr>
        <p:spPr>
          <a:xfrm>
            <a:off x="4650360" y="2162889"/>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5" name="TextBox 34">
            <a:extLst>
              <a:ext uri="{FF2B5EF4-FFF2-40B4-BE49-F238E27FC236}">
                <a16:creationId xmlns="" xmlns:a16="http://schemas.microsoft.com/office/drawing/2014/main" id="{B92B956A-DB60-4C14-A246-235EDA984580}"/>
              </a:ext>
            </a:extLst>
          </p:cNvPr>
          <p:cNvSpPr txBox="1"/>
          <p:nvPr/>
        </p:nvSpPr>
        <p:spPr>
          <a:xfrm>
            <a:off x="4651915" y="2464487"/>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33" name="TextBox 32">
            <a:extLst>
              <a:ext uri="{FF2B5EF4-FFF2-40B4-BE49-F238E27FC236}">
                <a16:creationId xmlns="" xmlns:a16="http://schemas.microsoft.com/office/drawing/2014/main" id="{306FE320-D23E-4FEE-9F8E-CA98C6C5F530}"/>
              </a:ext>
            </a:extLst>
          </p:cNvPr>
          <p:cNvSpPr txBox="1"/>
          <p:nvPr/>
        </p:nvSpPr>
        <p:spPr>
          <a:xfrm>
            <a:off x="1076694" y="2162890"/>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1" name="TextBox 30">
            <a:extLst>
              <a:ext uri="{FF2B5EF4-FFF2-40B4-BE49-F238E27FC236}">
                <a16:creationId xmlns="" xmlns:a16="http://schemas.microsoft.com/office/drawing/2014/main" id="{49003EBB-30C2-4A6E-9B7E-9B8B4726829D}"/>
              </a:ext>
            </a:extLst>
          </p:cNvPr>
          <p:cNvSpPr txBox="1"/>
          <p:nvPr/>
        </p:nvSpPr>
        <p:spPr>
          <a:xfrm>
            <a:off x="1076694" y="3084325"/>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cxnSp>
        <p:nvCxnSpPr>
          <p:cNvPr id="18" name="Straight Arrow Connector 17">
            <a:extLst>
              <a:ext uri="{FF2B5EF4-FFF2-40B4-BE49-F238E27FC236}">
                <a16:creationId xmlns="" xmlns:a16="http://schemas.microsoft.com/office/drawing/2014/main" id="{0BACCC43-6CC5-4C3C-8E5E-F9F927F8B94F}"/>
              </a:ext>
            </a:extLst>
          </p:cNvPr>
          <p:cNvCxnSpPr>
            <a:cxnSpLocks/>
          </p:cNvCxnSpPr>
          <p:nvPr/>
        </p:nvCxnSpPr>
        <p:spPr>
          <a:xfrm rot="-5400000" flipH="1">
            <a:off x="3270022" y="1918639"/>
            <a:ext cx="2275" cy="798556"/>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4FF3051B-1BED-4F81-84E9-9144F59A6658}"/>
              </a:ext>
            </a:extLst>
          </p:cNvPr>
          <p:cNvCxnSpPr>
            <a:cxnSpLocks/>
          </p:cNvCxnSpPr>
          <p:nvPr/>
        </p:nvCxnSpPr>
        <p:spPr>
          <a:xfrm rot="-8640000" flipH="1">
            <a:off x="2966222" y="2713993"/>
            <a:ext cx="609875" cy="439625"/>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 xmlns:a16="http://schemas.microsoft.com/office/drawing/2014/main" id="{4B33CC75-CE81-4793-BE14-84BC2B70A7B6}"/>
              </a:ext>
            </a:extLst>
          </p:cNvPr>
          <p:cNvCxnSpPr>
            <a:cxnSpLocks/>
          </p:cNvCxnSpPr>
          <p:nvPr/>
        </p:nvCxnSpPr>
        <p:spPr>
          <a:xfrm rot="-1860000">
            <a:off x="2513149" y="3707705"/>
            <a:ext cx="1516020" cy="900866"/>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DF7A1C68-39CB-4B4F-AF30-2115BB94C260}"/>
              </a:ext>
            </a:extLst>
          </p:cNvPr>
          <p:cNvCxnSpPr>
            <a:cxnSpLocks/>
          </p:cNvCxnSpPr>
          <p:nvPr/>
        </p:nvCxnSpPr>
        <p:spPr>
          <a:xfrm flipV="1">
            <a:off x="2776540" y="3566825"/>
            <a:ext cx="989239" cy="4454"/>
          </a:xfrm>
          <a:prstGeom prst="straightConnector1">
            <a:avLst/>
          </a:prstGeom>
          <a:ln w="3175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BFF47532-9C5A-4318-AAFC-616F8209B108}"/>
              </a:ext>
            </a:extLst>
          </p:cNvPr>
          <p:cNvCxnSpPr>
            <a:cxnSpLocks/>
          </p:cNvCxnSpPr>
          <p:nvPr/>
        </p:nvCxnSpPr>
        <p:spPr>
          <a:xfrm rot="8400000" flipH="1" flipV="1">
            <a:off x="2998997" y="2397294"/>
            <a:ext cx="544324" cy="465694"/>
          </a:xfrm>
          <a:prstGeom prst="straightConnector1">
            <a:avLst/>
          </a:prstGeom>
          <a:ln w="31750" cmpd="sng">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 xmlns:a16="http://schemas.microsoft.com/office/drawing/2014/main" id="{CF3EC16A-6808-436E-B8D5-2FC0C52207EE}"/>
              </a:ext>
            </a:extLst>
          </p:cNvPr>
          <p:cNvSpPr txBox="1"/>
          <p:nvPr/>
        </p:nvSpPr>
        <p:spPr>
          <a:xfrm>
            <a:off x="4650360" y="3073861"/>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cxnSp>
        <p:nvCxnSpPr>
          <p:cNvPr id="24" name="Straight Connector 23">
            <a:extLst>
              <a:ext uri="{FF2B5EF4-FFF2-40B4-BE49-F238E27FC236}">
                <a16:creationId xmlns="" xmlns:a16="http://schemas.microsoft.com/office/drawing/2014/main" id="{F6CE56D6-D023-4B88-B59D-400ACE613C21}"/>
              </a:ext>
            </a:extLst>
          </p:cNvPr>
          <p:cNvCxnSpPr>
            <a:cxnSpLocks/>
          </p:cNvCxnSpPr>
          <p:nvPr/>
        </p:nvCxnSpPr>
        <p:spPr>
          <a:xfrm flipH="1" flipV="1">
            <a:off x="2745881" y="3853190"/>
            <a:ext cx="1050557" cy="150"/>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C8235993-3487-4925-AE51-802546311D16}"/>
              </a:ext>
            </a:extLst>
          </p:cNvPr>
          <p:cNvCxnSpPr>
            <a:cxnSpLocks/>
          </p:cNvCxnSpPr>
          <p:nvPr/>
        </p:nvCxnSpPr>
        <p:spPr>
          <a:xfrm rot="5400000" flipH="1">
            <a:off x="3267448" y="2879871"/>
            <a:ext cx="7422" cy="775397"/>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5F41F946-2002-4ED4-994A-76B18F3455CF}"/>
              </a:ext>
            </a:extLst>
          </p:cNvPr>
          <p:cNvCxnSpPr>
            <a:cxnSpLocks/>
          </p:cNvCxnSpPr>
          <p:nvPr/>
        </p:nvCxnSpPr>
        <p:spPr>
          <a:xfrm rot="1620000" flipH="1">
            <a:off x="2432664" y="4040402"/>
            <a:ext cx="1676991" cy="861065"/>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34F1B8A9-5B03-4D1A-B2D7-9B58D51F6443}"/>
              </a:ext>
            </a:extLst>
          </p:cNvPr>
          <p:cNvCxnSpPr>
            <a:cxnSpLocks/>
          </p:cNvCxnSpPr>
          <p:nvPr/>
        </p:nvCxnSpPr>
        <p:spPr>
          <a:xfrm rot="600000" flipH="1">
            <a:off x="1981972" y="4584534"/>
            <a:ext cx="2578374" cy="448609"/>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1790034E-07E3-4A1D-A4A6-9B3839F3BF3F}"/>
              </a:ext>
            </a:extLst>
          </p:cNvPr>
          <p:cNvCxnSpPr>
            <a:cxnSpLocks/>
          </p:cNvCxnSpPr>
          <p:nvPr/>
        </p:nvCxnSpPr>
        <p:spPr>
          <a:xfrm flipV="1">
            <a:off x="2541240" y="5226344"/>
            <a:ext cx="271390" cy="3376"/>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 xmlns:a16="http://schemas.microsoft.com/office/drawing/2014/main" id="{4CDA7464-9DEF-4ECF-8EB3-DA28951C95A3}"/>
              </a:ext>
            </a:extLst>
          </p:cNvPr>
          <p:cNvSpPr txBox="1"/>
          <p:nvPr/>
        </p:nvSpPr>
        <p:spPr>
          <a:xfrm>
            <a:off x="2780005" y="5136684"/>
            <a:ext cx="607859" cy="215444"/>
          </a:xfrm>
          <a:prstGeom prst="rect">
            <a:avLst/>
          </a:prstGeom>
          <a:noFill/>
          <a:ln>
            <a:noFill/>
          </a:ln>
        </p:spPr>
        <p:txBody>
          <a:bodyPr wrap="square" rtlCol="0">
            <a:spAutoFit/>
          </a:bodyPr>
          <a:lstStyle/>
          <a:p>
            <a:r>
              <a:rPr lang="en-US" sz="800" b="1" dirty="0">
                <a:solidFill>
                  <a:srgbClr val="666089"/>
                </a:solidFill>
                <a:latin typeface="Times New Roman" charset="0"/>
                <a:ea typeface="Times New Roman" charset="0"/>
                <a:cs typeface="Times New Roman" charset="0"/>
              </a:rPr>
              <a:t>BEFORE</a:t>
            </a:r>
            <a:endParaRPr lang="en-US" sz="1200" b="1" dirty="0">
              <a:solidFill>
                <a:srgbClr val="666089"/>
              </a:solidFill>
              <a:latin typeface="Times New Roman" charset="0"/>
              <a:ea typeface="Times New Roman" charset="0"/>
              <a:cs typeface="Times New Roman" charset="0"/>
            </a:endParaRPr>
          </a:p>
        </p:txBody>
      </p:sp>
      <p:cxnSp>
        <p:nvCxnSpPr>
          <p:cNvPr id="12" name="Straight Arrow Connector 11">
            <a:extLst>
              <a:ext uri="{FF2B5EF4-FFF2-40B4-BE49-F238E27FC236}">
                <a16:creationId xmlns="" xmlns:a16="http://schemas.microsoft.com/office/drawing/2014/main" id="{3698058B-8FA1-4E6D-AED0-E7432B76635D}"/>
              </a:ext>
            </a:extLst>
          </p:cNvPr>
          <p:cNvCxnSpPr>
            <a:cxnSpLocks/>
          </p:cNvCxnSpPr>
          <p:nvPr/>
        </p:nvCxnSpPr>
        <p:spPr>
          <a:xfrm flipV="1">
            <a:off x="3390554" y="5226343"/>
            <a:ext cx="27139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 xmlns:a16="http://schemas.microsoft.com/office/drawing/2014/main" id="{383684F5-6E3C-428D-B627-C1F6F491FD1A}"/>
              </a:ext>
            </a:extLst>
          </p:cNvPr>
          <p:cNvSpPr txBox="1"/>
          <p:nvPr/>
        </p:nvSpPr>
        <p:spPr>
          <a:xfrm>
            <a:off x="3629319" y="5136684"/>
            <a:ext cx="731290" cy="215444"/>
          </a:xfrm>
          <a:prstGeom prst="rect">
            <a:avLst/>
          </a:prstGeom>
          <a:noFill/>
          <a:ln>
            <a:noFill/>
          </a:ln>
        </p:spPr>
        <p:txBody>
          <a:bodyPr wrap="square" rtlCol="0">
            <a:spAutoFit/>
          </a:bodyPr>
          <a:lstStyle/>
          <a:p>
            <a:r>
              <a:rPr lang="en-US" sz="800" b="1" dirty="0">
                <a:solidFill>
                  <a:srgbClr val="666089"/>
                </a:solidFill>
                <a:latin typeface="Times New Roman" charset="0"/>
                <a:ea typeface="Times New Roman" charset="0"/>
                <a:cs typeface="Times New Roman" charset="0"/>
              </a:rPr>
              <a:t>INCLUDED</a:t>
            </a:r>
            <a:endParaRPr lang="en-US" sz="1200" b="1" dirty="0">
              <a:solidFill>
                <a:srgbClr val="666089"/>
              </a:solidFill>
              <a:latin typeface="Times New Roman" charset="0"/>
              <a:ea typeface="Times New Roman" charset="0"/>
              <a:cs typeface="Times New Roman" charset="0"/>
            </a:endParaRPr>
          </a:p>
        </p:txBody>
      </p:sp>
      <p:sp>
        <p:nvSpPr>
          <p:cNvPr id="32" name="TextBox 31">
            <a:extLst>
              <a:ext uri="{FF2B5EF4-FFF2-40B4-BE49-F238E27FC236}">
                <a16:creationId xmlns="" xmlns:a16="http://schemas.microsoft.com/office/drawing/2014/main" id="{445A0CE4-0058-9A40-9453-8133EB8DBC60}"/>
              </a:ext>
            </a:extLst>
          </p:cNvPr>
          <p:cNvSpPr txBox="1"/>
          <p:nvPr/>
        </p:nvSpPr>
        <p:spPr>
          <a:xfrm>
            <a:off x="1076694" y="2464487"/>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34" name="TextBox 33">
            <a:extLst>
              <a:ext uri="{FF2B5EF4-FFF2-40B4-BE49-F238E27FC236}">
                <a16:creationId xmlns="" xmlns:a16="http://schemas.microsoft.com/office/drawing/2014/main" id="{B40C0D57-5372-6D40-ABAA-E2DB91C19334}"/>
              </a:ext>
            </a:extLst>
          </p:cNvPr>
          <p:cNvSpPr txBox="1"/>
          <p:nvPr/>
        </p:nvSpPr>
        <p:spPr>
          <a:xfrm>
            <a:off x="1076694" y="2766084"/>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36" name="TextBox 35">
            <a:extLst>
              <a:ext uri="{FF2B5EF4-FFF2-40B4-BE49-F238E27FC236}">
                <a16:creationId xmlns="" xmlns:a16="http://schemas.microsoft.com/office/drawing/2014/main" id="{55BDB408-B6B3-5040-B4CF-8F75CD2B609E}"/>
              </a:ext>
            </a:extLst>
          </p:cNvPr>
          <p:cNvSpPr txBox="1"/>
          <p:nvPr/>
        </p:nvSpPr>
        <p:spPr>
          <a:xfrm>
            <a:off x="4651915" y="2763182"/>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38" name="TextBox 37">
            <a:extLst>
              <a:ext uri="{FF2B5EF4-FFF2-40B4-BE49-F238E27FC236}">
                <a16:creationId xmlns="" xmlns:a16="http://schemas.microsoft.com/office/drawing/2014/main" id="{630AE675-0B7E-EA41-8E46-4858E8D9A076}"/>
              </a:ext>
            </a:extLst>
          </p:cNvPr>
          <p:cNvSpPr txBox="1"/>
          <p:nvPr/>
        </p:nvSpPr>
        <p:spPr>
          <a:xfrm>
            <a:off x="1076694" y="3388741"/>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40" name="TextBox 39">
            <a:extLst>
              <a:ext uri="{FF2B5EF4-FFF2-40B4-BE49-F238E27FC236}">
                <a16:creationId xmlns="" xmlns:a16="http://schemas.microsoft.com/office/drawing/2014/main" id="{740BF692-DFBB-1B4E-9D9C-479535407470}"/>
              </a:ext>
            </a:extLst>
          </p:cNvPr>
          <p:cNvSpPr txBox="1"/>
          <p:nvPr/>
        </p:nvSpPr>
        <p:spPr>
          <a:xfrm>
            <a:off x="4650360" y="3388741"/>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sp>
        <p:nvSpPr>
          <p:cNvPr id="41" name="TextBox 40">
            <a:extLst>
              <a:ext uri="{FF2B5EF4-FFF2-40B4-BE49-F238E27FC236}">
                <a16:creationId xmlns="" xmlns:a16="http://schemas.microsoft.com/office/drawing/2014/main" id="{4FE57E4F-239B-934B-9D27-B9862E3B7475}"/>
              </a:ext>
            </a:extLst>
          </p:cNvPr>
          <p:cNvSpPr txBox="1"/>
          <p:nvPr/>
        </p:nvSpPr>
        <p:spPr>
          <a:xfrm>
            <a:off x="1076694" y="3693157"/>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42" name="TextBox 41">
            <a:extLst>
              <a:ext uri="{FF2B5EF4-FFF2-40B4-BE49-F238E27FC236}">
                <a16:creationId xmlns="" xmlns:a16="http://schemas.microsoft.com/office/drawing/2014/main" id="{04868608-1792-454A-A42E-E3CD073C3867}"/>
              </a:ext>
            </a:extLst>
          </p:cNvPr>
          <p:cNvSpPr txBox="1"/>
          <p:nvPr/>
        </p:nvSpPr>
        <p:spPr>
          <a:xfrm>
            <a:off x="4650360" y="3699452"/>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43" name="TextBox 42">
            <a:extLst>
              <a:ext uri="{FF2B5EF4-FFF2-40B4-BE49-F238E27FC236}">
                <a16:creationId xmlns="" xmlns:a16="http://schemas.microsoft.com/office/drawing/2014/main" id="{CAC43683-FFB5-E940-871C-E1B838B51B11}"/>
              </a:ext>
            </a:extLst>
          </p:cNvPr>
          <p:cNvSpPr txBox="1"/>
          <p:nvPr/>
        </p:nvSpPr>
        <p:spPr>
          <a:xfrm>
            <a:off x="1076694" y="4000934"/>
            <a:ext cx="752129"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ripping</a:t>
            </a:r>
          </a:p>
        </p:txBody>
      </p:sp>
      <p:sp>
        <p:nvSpPr>
          <p:cNvPr id="44" name="TextBox 43">
            <a:extLst>
              <a:ext uri="{FF2B5EF4-FFF2-40B4-BE49-F238E27FC236}">
                <a16:creationId xmlns="" xmlns:a16="http://schemas.microsoft.com/office/drawing/2014/main" id="{45ECF81F-97A4-AD4E-A6EA-C9A21347A2A5}"/>
              </a:ext>
            </a:extLst>
          </p:cNvPr>
          <p:cNvSpPr txBox="1"/>
          <p:nvPr/>
        </p:nvSpPr>
        <p:spPr>
          <a:xfrm>
            <a:off x="4650359" y="3998393"/>
            <a:ext cx="790537"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ordered</a:t>
            </a:r>
          </a:p>
        </p:txBody>
      </p:sp>
      <p:sp>
        <p:nvSpPr>
          <p:cNvPr id="45" name="TextBox 44">
            <a:extLst>
              <a:ext uri="{FF2B5EF4-FFF2-40B4-BE49-F238E27FC236}">
                <a16:creationId xmlns="" xmlns:a16="http://schemas.microsoft.com/office/drawing/2014/main" id="{8B79661A-C955-874C-B8A3-62DF390B69B6}"/>
              </a:ext>
            </a:extLst>
          </p:cNvPr>
          <p:cNvSpPr txBox="1"/>
          <p:nvPr/>
        </p:nvSpPr>
        <p:spPr>
          <a:xfrm>
            <a:off x="1076694" y="4304245"/>
            <a:ext cx="873957" cy="307777"/>
          </a:xfrm>
          <a:prstGeom prst="rect">
            <a:avLst/>
          </a:prstGeom>
          <a:noFill/>
          <a:ln>
            <a:noFill/>
          </a:ln>
        </p:spPr>
        <p:txBody>
          <a:bodyPr wrap="square" rtlCol="0">
            <a:spAutoFit/>
          </a:bodyPr>
          <a:lstStyle/>
          <a:p>
            <a:r>
              <a:rPr lang="en-US" altLang="zh-CN" sz="1400" b="1" dirty="0">
                <a:solidFill>
                  <a:srgbClr val="C17A90"/>
                </a:solidFill>
                <a:latin typeface="Times New Roman" charset="0"/>
                <a:ea typeface="Times New Roman" charset="0"/>
                <a:cs typeface="Times New Roman" charset="0"/>
              </a:rPr>
              <a:t>cascaded</a:t>
            </a:r>
            <a:endParaRPr lang="en-US" sz="1400" b="1" dirty="0">
              <a:solidFill>
                <a:srgbClr val="C17A90"/>
              </a:solidFill>
              <a:latin typeface="Times New Roman" charset="0"/>
              <a:ea typeface="Times New Roman" charset="0"/>
              <a:cs typeface="Times New Roman" charset="0"/>
            </a:endParaRPr>
          </a:p>
        </p:txBody>
      </p:sp>
      <p:sp>
        <p:nvSpPr>
          <p:cNvPr id="46" name="TextBox 45">
            <a:extLst>
              <a:ext uri="{FF2B5EF4-FFF2-40B4-BE49-F238E27FC236}">
                <a16:creationId xmlns="" xmlns:a16="http://schemas.microsoft.com/office/drawing/2014/main" id="{7EC58FBA-8049-9946-B95E-A76FD81F75D1}"/>
              </a:ext>
            </a:extLst>
          </p:cNvPr>
          <p:cNvSpPr txBox="1"/>
          <p:nvPr/>
        </p:nvSpPr>
        <p:spPr>
          <a:xfrm>
            <a:off x="4651570" y="4297334"/>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47" name="TextBox 46">
            <a:extLst>
              <a:ext uri="{FF2B5EF4-FFF2-40B4-BE49-F238E27FC236}">
                <a16:creationId xmlns="" xmlns:a16="http://schemas.microsoft.com/office/drawing/2014/main" id="{D18CC848-1ABF-6648-89FC-F6DF63C8A2C2}"/>
              </a:ext>
            </a:extLst>
          </p:cNvPr>
          <p:cNvSpPr txBox="1"/>
          <p:nvPr/>
        </p:nvSpPr>
        <p:spPr>
          <a:xfrm>
            <a:off x="1076694" y="4619275"/>
            <a:ext cx="522900"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hurt</a:t>
            </a:r>
          </a:p>
        </p:txBody>
      </p:sp>
      <p:sp>
        <p:nvSpPr>
          <p:cNvPr id="48" name="TextBox 47">
            <a:extLst>
              <a:ext uri="{FF2B5EF4-FFF2-40B4-BE49-F238E27FC236}">
                <a16:creationId xmlns="" xmlns:a16="http://schemas.microsoft.com/office/drawing/2014/main" id="{A07E4DB0-F6EF-8842-8EF2-EAFE1EC0E970}"/>
              </a:ext>
            </a:extLst>
          </p:cNvPr>
          <p:cNvSpPr txBox="1"/>
          <p:nvPr/>
        </p:nvSpPr>
        <p:spPr>
          <a:xfrm>
            <a:off x="4651193" y="4614870"/>
            <a:ext cx="801823" cy="307777"/>
          </a:xfrm>
          <a:prstGeom prst="rect">
            <a:avLst/>
          </a:prstGeom>
          <a:noFill/>
          <a:ln>
            <a:noFill/>
          </a:ln>
        </p:spPr>
        <p:txBody>
          <a:bodyPr wrap="square" rtlCol="0">
            <a:spAutoFit/>
          </a:bodyPr>
          <a:lstStyle/>
          <a:p>
            <a:r>
              <a:rPr lang="en-US" sz="1400" b="1" dirty="0">
                <a:solidFill>
                  <a:srgbClr val="C17A90"/>
                </a:solidFill>
                <a:latin typeface="Times New Roman" charset="0"/>
                <a:ea typeface="Times New Roman" charset="0"/>
                <a:cs typeface="Times New Roman" charset="0"/>
              </a:rPr>
              <a:t>monitor</a:t>
            </a:r>
          </a:p>
        </p:txBody>
      </p:sp>
      <p:sp>
        <p:nvSpPr>
          <p:cNvPr id="62" name="Rounded Rectangle 61">
            <a:extLst>
              <a:ext uri="{FF2B5EF4-FFF2-40B4-BE49-F238E27FC236}">
                <a16:creationId xmlns="" xmlns:a16="http://schemas.microsoft.com/office/drawing/2014/main" id="{909F75B9-0062-E240-8CF3-4202B5100BA2}"/>
              </a:ext>
            </a:extLst>
          </p:cNvPr>
          <p:cNvSpPr/>
          <p:nvPr/>
        </p:nvSpPr>
        <p:spPr>
          <a:xfrm>
            <a:off x="6629019" y="3200864"/>
            <a:ext cx="1676400" cy="492293"/>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Century Gothic" panose="020B0502020202020204" pitchFamily="34" charset="0"/>
            </a:endParaRPr>
          </a:p>
        </p:txBody>
      </p:sp>
      <p:sp>
        <p:nvSpPr>
          <p:cNvPr id="69" name="Snip and Round Single Corner Rectangle 68">
            <a:extLst>
              <a:ext uri="{FF2B5EF4-FFF2-40B4-BE49-F238E27FC236}">
                <a16:creationId xmlns="" xmlns:a16="http://schemas.microsoft.com/office/drawing/2014/main" id="{934F8341-63F8-DB4D-8683-53E91FDD0F9F}"/>
              </a:ext>
            </a:extLst>
          </p:cNvPr>
          <p:cNvSpPr/>
          <p:nvPr/>
        </p:nvSpPr>
        <p:spPr>
          <a:xfrm>
            <a:off x="926530" y="1705689"/>
            <a:ext cx="4922668" cy="3795107"/>
          </a:xfrm>
          <a:prstGeom prst="snipRoundRect">
            <a:avLst/>
          </a:prstGeom>
          <a:noFill/>
          <a:ln w="38100">
            <a:solidFill>
              <a:srgbClr val="6660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17A90"/>
              </a:solidFill>
            </a:endParaRPr>
          </a:p>
        </p:txBody>
      </p:sp>
      <p:sp>
        <p:nvSpPr>
          <p:cNvPr id="70" name="Rounded Rectangle 69">
            <a:extLst>
              <a:ext uri="{FF2B5EF4-FFF2-40B4-BE49-F238E27FC236}">
                <a16:creationId xmlns="" xmlns:a16="http://schemas.microsoft.com/office/drawing/2014/main" id="{20EB5C29-4BF6-1245-8A21-0EF81D4FBCA9}"/>
              </a:ext>
            </a:extLst>
          </p:cNvPr>
          <p:cNvSpPr/>
          <p:nvPr/>
        </p:nvSpPr>
        <p:spPr>
          <a:xfrm>
            <a:off x="2652419" y="1753251"/>
            <a:ext cx="1237479" cy="218031"/>
          </a:xfrm>
          <a:prstGeom prst="roundRect">
            <a:avLst/>
          </a:prstGeom>
          <a:solidFill>
            <a:srgbClr val="66608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Century Gothic" panose="020B0502020202020204" pitchFamily="34" charset="0"/>
              </a:rPr>
              <a:t>Training Data</a:t>
            </a:r>
          </a:p>
        </p:txBody>
      </p:sp>
      <p:sp>
        <p:nvSpPr>
          <p:cNvPr id="5" name="TextBox 4">
            <a:extLst>
              <a:ext uri="{FF2B5EF4-FFF2-40B4-BE49-F238E27FC236}">
                <a16:creationId xmlns="" xmlns:a16="http://schemas.microsoft.com/office/drawing/2014/main" id="{D620AD83-DDC6-AF45-8A8E-E7A3272909D5}"/>
              </a:ext>
            </a:extLst>
          </p:cNvPr>
          <p:cNvSpPr txBox="1"/>
          <p:nvPr/>
        </p:nvSpPr>
        <p:spPr>
          <a:xfrm>
            <a:off x="6796202" y="3936355"/>
            <a:ext cx="1436612" cy="1200329"/>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Perceptron</a:t>
            </a:r>
          </a:p>
          <a:p>
            <a:pPr algn="ctr"/>
            <a:r>
              <a:rPr lang="en-US" dirty="0">
                <a:solidFill>
                  <a:schemeClr val="bg2"/>
                </a:solidFill>
                <a:latin typeface="Century Gothic" panose="020B0502020202020204" pitchFamily="34" charset="0"/>
              </a:rPr>
              <a:t>SVM</a:t>
            </a:r>
          </a:p>
          <a:p>
            <a:pPr algn="ctr"/>
            <a:r>
              <a:rPr lang="en-US" dirty="0">
                <a:solidFill>
                  <a:schemeClr val="bg2"/>
                </a:solidFill>
                <a:latin typeface="Century Gothic" panose="020B0502020202020204" pitchFamily="34" charset="0"/>
              </a:rPr>
              <a:t>Neural net</a:t>
            </a:r>
          </a:p>
          <a:p>
            <a:pPr algn="ctr"/>
            <a:r>
              <a:rPr lang="en-US" dirty="0">
                <a:solidFill>
                  <a:schemeClr val="bg2"/>
                </a:solidFill>
                <a:latin typeface="Century Gothic" panose="020B0502020202020204" pitchFamily="34" charset="0"/>
              </a:rPr>
              <a:t>…</a:t>
            </a:r>
          </a:p>
        </p:txBody>
      </p:sp>
      <p:sp>
        <p:nvSpPr>
          <p:cNvPr id="50" name="TextBox 49">
            <a:extLst>
              <a:ext uri="{FF2B5EF4-FFF2-40B4-BE49-F238E27FC236}">
                <a16:creationId xmlns="" xmlns:a16="http://schemas.microsoft.com/office/drawing/2014/main" id="{FBAE29BC-60CA-D341-9069-7E9CEDB2EAFD}"/>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TextBox 2">
            <a:extLst>
              <a:ext uri="{FF2B5EF4-FFF2-40B4-BE49-F238E27FC236}">
                <a16:creationId xmlns="" xmlns:a16="http://schemas.microsoft.com/office/drawing/2014/main" id="{6B609D91-5E46-B845-9E51-20A6CDDFDDC6}"/>
              </a:ext>
            </a:extLst>
          </p:cNvPr>
          <p:cNvSpPr txBox="1"/>
          <p:nvPr/>
        </p:nvSpPr>
        <p:spPr>
          <a:xfrm>
            <a:off x="6648726" y="3301504"/>
            <a:ext cx="1584088" cy="553998"/>
          </a:xfrm>
          <a:prstGeom prst="rect">
            <a:avLst/>
          </a:prstGeom>
          <a:noFill/>
        </p:spPr>
        <p:txBody>
          <a:bodyPr wrap="none" rtlCol="0">
            <a:spAutoFit/>
          </a:bodyPr>
          <a:lstStyle/>
          <a:p>
            <a:pPr lvl="0" algn="ctr"/>
            <a:r>
              <a:rPr lang="en-US" sz="1200" dirty="0">
                <a:solidFill>
                  <a:srgbClr val="FFFFFF"/>
                </a:solidFill>
                <a:latin typeface="Century Gothic" panose="020B0502020202020204" pitchFamily="34" charset="0"/>
              </a:rPr>
              <a:t>Learning algorithm</a:t>
            </a:r>
          </a:p>
          <a:p>
            <a:endParaRPr lang="en-US" dirty="0"/>
          </a:p>
        </p:txBody>
      </p:sp>
    </p:spTree>
    <p:extLst>
      <p:ext uri="{BB962C8B-B14F-4D97-AF65-F5344CB8AC3E}">
        <p14:creationId xmlns:p14="http://schemas.microsoft.com/office/powerpoint/2010/main" val="32433438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2" presetClass="exit" presetSubtype="6" fill="hold" grpId="0" nodeType="afterEffect">
                                  <p:stCondLst>
                                    <p:cond delay="500"/>
                                  </p:stCondLst>
                                  <p:childTnLst>
                                    <p:anim calcmode="lin" valueType="num">
                                      <p:cBhvr additive="base">
                                        <p:cTn id="10" dur="500"/>
                                        <p:tgtEl>
                                          <p:spTgt spid="33"/>
                                        </p:tgtEl>
                                        <p:attrNameLst>
                                          <p:attrName>ppt_x</p:attrName>
                                        </p:attrNameLst>
                                      </p:cBhvr>
                                      <p:tavLst>
                                        <p:tav tm="0">
                                          <p:val>
                                            <p:strVal val="ppt_x"/>
                                          </p:val>
                                        </p:tav>
                                        <p:tav tm="100000">
                                          <p:val>
                                            <p:strVal val="1+ppt_w/2"/>
                                          </p:val>
                                        </p:tav>
                                      </p:tavLst>
                                    </p:anim>
                                    <p:anim calcmode="lin" valueType="num">
                                      <p:cBhvr additive="base">
                                        <p:cTn id="11" dur="500"/>
                                        <p:tgtEl>
                                          <p:spTgt spid="33"/>
                                        </p:tgtEl>
                                        <p:attrNameLst>
                                          <p:attrName>ppt_y</p:attrName>
                                        </p:attrNameLst>
                                      </p:cBhvr>
                                      <p:tavLst>
                                        <p:tav tm="0">
                                          <p:val>
                                            <p:strVal val="ppt_y"/>
                                          </p:val>
                                        </p:tav>
                                        <p:tav tm="100000">
                                          <p:val>
                                            <p:strVal val="1+ppt_h/2"/>
                                          </p:val>
                                        </p:tav>
                                      </p:tavLst>
                                    </p:anim>
                                    <p:set>
                                      <p:cBhvr>
                                        <p:cTn id="12" dur="1" fill="hold">
                                          <p:stCondLst>
                                            <p:cond delay="499"/>
                                          </p:stCondLst>
                                        </p:cTn>
                                        <p:tgtEl>
                                          <p:spTgt spid="33"/>
                                        </p:tgtEl>
                                        <p:attrNameLst>
                                          <p:attrName>style.visibility</p:attrName>
                                        </p:attrNameLst>
                                      </p:cBhvr>
                                      <p:to>
                                        <p:strVal val="hidden"/>
                                      </p:to>
                                    </p:set>
                                  </p:childTnLst>
                                </p:cTn>
                              </p:par>
                              <p:par>
                                <p:cTn id="13" presetID="2" presetClass="exit" presetSubtype="6" fill="hold" nodeType="withEffect">
                                  <p:stCondLst>
                                    <p:cond delay="500"/>
                                  </p:stCondLst>
                                  <p:childTnLst>
                                    <p:anim calcmode="lin" valueType="num">
                                      <p:cBhvr additive="base">
                                        <p:cTn id="14" dur="500"/>
                                        <p:tgtEl>
                                          <p:spTgt spid="18"/>
                                        </p:tgtEl>
                                        <p:attrNameLst>
                                          <p:attrName>ppt_x</p:attrName>
                                        </p:attrNameLst>
                                      </p:cBhvr>
                                      <p:tavLst>
                                        <p:tav tm="0">
                                          <p:val>
                                            <p:strVal val="ppt_x"/>
                                          </p:val>
                                        </p:tav>
                                        <p:tav tm="100000">
                                          <p:val>
                                            <p:strVal val="1+ppt_w/2"/>
                                          </p:val>
                                        </p:tav>
                                      </p:tavLst>
                                    </p:anim>
                                    <p:anim calcmode="lin" valueType="num">
                                      <p:cBhvr additive="base">
                                        <p:cTn id="15" dur="500"/>
                                        <p:tgtEl>
                                          <p:spTgt spid="18"/>
                                        </p:tgtEl>
                                        <p:attrNameLst>
                                          <p:attrName>ppt_y</p:attrName>
                                        </p:attrNameLst>
                                      </p:cBhvr>
                                      <p:tavLst>
                                        <p:tav tm="0">
                                          <p:val>
                                            <p:strVal val="ppt_y"/>
                                          </p:val>
                                        </p:tav>
                                        <p:tav tm="100000">
                                          <p:val>
                                            <p:strVal val="1+ppt_h/2"/>
                                          </p:val>
                                        </p:tav>
                                      </p:tavLst>
                                    </p:anim>
                                    <p:set>
                                      <p:cBhvr>
                                        <p:cTn id="16" dur="1" fill="hold">
                                          <p:stCondLst>
                                            <p:cond delay="499"/>
                                          </p:stCondLst>
                                        </p:cTn>
                                        <p:tgtEl>
                                          <p:spTgt spid="18"/>
                                        </p:tgtEl>
                                        <p:attrNameLst>
                                          <p:attrName>style.visibility</p:attrName>
                                        </p:attrNameLst>
                                      </p:cBhvr>
                                      <p:to>
                                        <p:strVal val="hidden"/>
                                      </p:to>
                                    </p:set>
                                  </p:childTnLst>
                                </p:cTn>
                              </p:par>
                              <p:par>
                                <p:cTn id="17" presetID="2" presetClass="exit" presetSubtype="6" fill="hold" grpId="0" nodeType="withEffect">
                                  <p:stCondLst>
                                    <p:cond delay="500"/>
                                  </p:stCondLst>
                                  <p:childTnLst>
                                    <p:anim calcmode="lin" valueType="num">
                                      <p:cBhvr additive="base">
                                        <p:cTn id="18" dur="500"/>
                                        <p:tgtEl>
                                          <p:spTgt spid="37"/>
                                        </p:tgtEl>
                                        <p:attrNameLst>
                                          <p:attrName>ppt_x</p:attrName>
                                        </p:attrNameLst>
                                      </p:cBhvr>
                                      <p:tavLst>
                                        <p:tav tm="0">
                                          <p:val>
                                            <p:strVal val="ppt_x"/>
                                          </p:val>
                                        </p:tav>
                                        <p:tav tm="100000">
                                          <p:val>
                                            <p:strVal val="1+ppt_w/2"/>
                                          </p:val>
                                        </p:tav>
                                      </p:tavLst>
                                    </p:anim>
                                    <p:anim calcmode="lin" valueType="num">
                                      <p:cBhvr additive="base">
                                        <p:cTn id="19" dur="500"/>
                                        <p:tgtEl>
                                          <p:spTgt spid="37"/>
                                        </p:tgtEl>
                                        <p:attrNameLst>
                                          <p:attrName>ppt_y</p:attrName>
                                        </p:attrNameLst>
                                      </p:cBhvr>
                                      <p:tavLst>
                                        <p:tav tm="0">
                                          <p:val>
                                            <p:strVal val="ppt_y"/>
                                          </p:val>
                                        </p:tav>
                                        <p:tav tm="100000">
                                          <p:val>
                                            <p:strVal val="1+ppt_h/2"/>
                                          </p:val>
                                        </p:tav>
                                      </p:tavLst>
                                    </p:anim>
                                    <p:set>
                                      <p:cBhvr>
                                        <p:cTn id="20" dur="1" fill="hold">
                                          <p:stCondLst>
                                            <p:cond delay="499"/>
                                          </p:stCondLst>
                                        </p:cTn>
                                        <p:tgtEl>
                                          <p:spTgt spid="37"/>
                                        </p:tgtEl>
                                        <p:attrNameLst>
                                          <p:attrName>style.visibility</p:attrName>
                                        </p:attrNameLst>
                                      </p:cBhvr>
                                      <p:to>
                                        <p:strVal val="hidden"/>
                                      </p:to>
                                    </p:set>
                                  </p:childTnLst>
                                </p:cTn>
                              </p:par>
                              <p:par>
                                <p:cTn id="21" presetID="22" presetClass="exit" presetSubtype="8" fill="hold" nodeType="withEffect">
                                  <p:stCondLst>
                                    <p:cond delay="500"/>
                                  </p:stCondLst>
                                  <p:childTnLst>
                                    <p:animEffect transition="out" filter="wipe(left)">
                                      <p:cBhvr>
                                        <p:cTn id="22" dur="500"/>
                                        <p:tgtEl>
                                          <p:spTgt spid="64"/>
                                        </p:tgtEl>
                                      </p:cBhvr>
                                    </p:animEffect>
                                    <p:set>
                                      <p:cBhvr>
                                        <p:cTn id="23" dur="1" fill="hold">
                                          <p:stCondLst>
                                            <p:cond delay="499"/>
                                          </p:stCondLst>
                                        </p:cTn>
                                        <p:tgtEl>
                                          <p:spTgt spid="64"/>
                                        </p:tgtEl>
                                        <p:attrNameLst>
                                          <p:attrName>style.visibility</p:attrName>
                                        </p:attrNameLst>
                                      </p:cBhvr>
                                      <p:to>
                                        <p:strVal val="hidden"/>
                                      </p:to>
                                    </p:set>
                                  </p:childTnLst>
                                </p:cTn>
                              </p:par>
                              <p:par>
                                <p:cTn id="24" presetID="22" presetClass="entr" presetSubtype="8" fill="hold" nodeType="withEffect">
                                  <p:stCondLst>
                                    <p:cond delay="500"/>
                                  </p:stCondLst>
                                  <p:childTnLst>
                                    <p:set>
                                      <p:cBhvr>
                                        <p:cTn id="25" dur="1" fill="hold">
                                          <p:stCondLst>
                                            <p:cond delay="0"/>
                                          </p:stCondLst>
                                        </p:cTn>
                                        <p:tgtEl>
                                          <p:spTgt spid="71"/>
                                        </p:tgtEl>
                                        <p:attrNameLst>
                                          <p:attrName>style.visibility</p:attrName>
                                        </p:attrNameLst>
                                      </p:cBhvr>
                                      <p:to>
                                        <p:strVal val="visible"/>
                                      </p:to>
                                    </p:set>
                                    <p:animEffect transition="in" filter="wipe(left)">
                                      <p:cBhvr>
                                        <p:cTn id="26" dur="500"/>
                                        <p:tgtEl>
                                          <p:spTgt spid="71"/>
                                        </p:tgtEl>
                                      </p:cBhvr>
                                    </p:animEffect>
                                  </p:childTnLst>
                                </p:cTn>
                              </p:par>
                            </p:childTnLst>
                          </p:cTn>
                        </p:par>
                        <p:par>
                          <p:cTn id="27" fill="hold">
                            <p:stCondLst>
                              <p:cond delay="1500"/>
                            </p:stCondLst>
                            <p:childTnLst>
                              <p:par>
                                <p:cTn id="28" presetID="2" presetClass="exit" presetSubtype="6" fill="hold" grpId="0" nodeType="afterEffect">
                                  <p:stCondLst>
                                    <p:cond delay="500"/>
                                  </p:stCondLst>
                                  <p:childTnLst>
                                    <p:anim calcmode="lin" valueType="num">
                                      <p:cBhvr additive="base">
                                        <p:cTn id="29" dur="500"/>
                                        <p:tgtEl>
                                          <p:spTgt spid="32"/>
                                        </p:tgtEl>
                                        <p:attrNameLst>
                                          <p:attrName>ppt_x</p:attrName>
                                        </p:attrNameLst>
                                      </p:cBhvr>
                                      <p:tavLst>
                                        <p:tav tm="0">
                                          <p:val>
                                            <p:strVal val="ppt_x"/>
                                          </p:val>
                                        </p:tav>
                                        <p:tav tm="100000">
                                          <p:val>
                                            <p:strVal val="1+ppt_w/2"/>
                                          </p:val>
                                        </p:tav>
                                      </p:tavLst>
                                    </p:anim>
                                    <p:anim calcmode="lin" valueType="num">
                                      <p:cBhvr additive="base">
                                        <p:cTn id="30" dur="500"/>
                                        <p:tgtEl>
                                          <p:spTgt spid="32"/>
                                        </p:tgtEl>
                                        <p:attrNameLst>
                                          <p:attrName>ppt_y</p:attrName>
                                        </p:attrNameLst>
                                      </p:cBhvr>
                                      <p:tavLst>
                                        <p:tav tm="0">
                                          <p:val>
                                            <p:strVal val="ppt_y"/>
                                          </p:val>
                                        </p:tav>
                                        <p:tav tm="100000">
                                          <p:val>
                                            <p:strVal val="1+ppt_h/2"/>
                                          </p:val>
                                        </p:tav>
                                      </p:tavLst>
                                    </p:anim>
                                    <p:set>
                                      <p:cBhvr>
                                        <p:cTn id="31" dur="1" fill="hold">
                                          <p:stCondLst>
                                            <p:cond delay="499"/>
                                          </p:stCondLst>
                                        </p:cTn>
                                        <p:tgtEl>
                                          <p:spTgt spid="32"/>
                                        </p:tgtEl>
                                        <p:attrNameLst>
                                          <p:attrName>style.visibility</p:attrName>
                                        </p:attrNameLst>
                                      </p:cBhvr>
                                      <p:to>
                                        <p:strVal val="hidden"/>
                                      </p:to>
                                    </p:set>
                                  </p:childTnLst>
                                </p:cTn>
                              </p:par>
                              <p:par>
                                <p:cTn id="32" presetID="2" presetClass="exit" presetSubtype="6" fill="hold" nodeType="withEffect">
                                  <p:stCondLst>
                                    <p:cond delay="500"/>
                                  </p:stCondLst>
                                  <p:childTnLst>
                                    <p:anim calcmode="lin" valueType="num">
                                      <p:cBhvr additive="base">
                                        <p:cTn id="33" dur="500"/>
                                        <p:tgtEl>
                                          <p:spTgt spid="22"/>
                                        </p:tgtEl>
                                        <p:attrNameLst>
                                          <p:attrName>ppt_x</p:attrName>
                                        </p:attrNameLst>
                                      </p:cBhvr>
                                      <p:tavLst>
                                        <p:tav tm="0">
                                          <p:val>
                                            <p:strVal val="ppt_x"/>
                                          </p:val>
                                        </p:tav>
                                        <p:tav tm="100000">
                                          <p:val>
                                            <p:strVal val="1+ppt_w/2"/>
                                          </p:val>
                                        </p:tav>
                                      </p:tavLst>
                                    </p:anim>
                                    <p:anim calcmode="lin" valueType="num">
                                      <p:cBhvr additive="base">
                                        <p:cTn id="34" dur="500"/>
                                        <p:tgtEl>
                                          <p:spTgt spid="22"/>
                                        </p:tgtEl>
                                        <p:attrNameLst>
                                          <p:attrName>ppt_y</p:attrName>
                                        </p:attrNameLst>
                                      </p:cBhvr>
                                      <p:tavLst>
                                        <p:tav tm="0">
                                          <p:val>
                                            <p:strVal val="ppt_y"/>
                                          </p:val>
                                        </p:tav>
                                        <p:tav tm="100000">
                                          <p:val>
                                            <p:strVal val="1+ppt_h/2"/>
                                          </p:val>
                                        </p:tav>
                                      </p:tavLst>
                                    </p:anim>
                                    <p:set>
                                      <p:cBhvr>
                                        <p:cTn id="35" dur="1" fill="hold">
                                          <p:stCondLst>
                                            <p:cond delay="499"/>
                                          </p:stCondLst>
                                        </p:cTn>
                                        <p:tgtEl>
                                          <p:spTgt spid="22"/>
                                        </p:tgtEl>
                                        <p:attrNameLst>
                                          <p:attrName>style.visibility</p:attrName>
                                        </p:attrNameLst>
                                      </p:cBhvr>
                                      <p:to>
                                        <p:strVal val="hidden"/>
                                      </p:to>
                                    </p:set>
                                  </p:childTnLst>
                                </p:cTn>
                              </p:par>
                              <p:par>
                                <p:cTn id="36" presetID="2" presetClass="exit" presetSubtype="6" fill="hold" grpId="0" nodeType="withEffect">
                                  <p:stCondLst>
                                    <p:cond delay="500"/>
                                  </p:stCondLst>
                                  <p:childTnLst>
                                    <p:anim calcmode="lin" valueType="num">
                                      <p:cBhvr additive="base">
                                        <p:cTn id="37" dur="500"/>
                                        <p:tgtEl>
                                          <p:spTgt spid="35"/>
                                        </p:tgtEl>
                                        <p:attrNameLst>
                                          <p:attrName>ppt_x</p:attrName>
                                        </p:attrNameLst>
                                      </p:cBhvr>
                                      <p:tavLst>
                                        <p:tav tm="0">
                                          <p:val>
                                            <p:strVal val="ppt_x"/>
                                          </p:val>
                                        </p:tav>
                                        <p:tav tm="100000">
                                          <p:val>
                                            <p:strVal val="1+ppt_w/2"/>
                                          </p:val>
                                        </p:tav>
                                      </p:tavLst>
                                    </p:anim>
                                    <p:anim calcmode="lin" valueType="num">
                                      <p:cBhvr additive="base">
                                        <p:cTn id="38" dur="500"/>
                                        <p:tgtEl>
                                          <p:spTgt spid="35"/>
                                        </p:tgtEl>
                                        <p:attrNameLst>
                                          <p:attrName>ppt_y</p:attrName>
                                        </p:attrNameLst>
                                      </p:cBhvr>
                                      <p:tavLst>
                                        <p:tav tm="0">
                                          <p:val>
                                            <p:strVal val="ppt_y"/>
                                          </p:val>
                                        </p:tav>
                                        <p:tav tm="100000">
                                          <p:val>
                                            <p:strVal val="1+ppt_h/2"/>
                                          </p:val>
                                        </p:tav>
                                      </p:tavLst>
                                    </p:anim>
                                    <p:set>
                                      <p:cBhvr>
                                        <p:cTn id="39" dur="1" fill="hold">
                                          <p:stCondLst>
                                            <p:cond delay="499"/>
                                          </p:stCondLst>
                                        </p:cTn>
                                        <p:tgtEl>
                                          <p:spTgt spid="35"/>
                                        </p:tgtEl>
                                        <p:attrNameLst>
                                          <p:attrName>style.visibility</p:attrName>
                                        </p:attrNameLst>
                                      </p:cBhvr>
                                      <p:to>
                                        <p:strVal val="hidden"/>
                                      </p:to>
                                    </p:set>
                                  </p:childTnLst>
                                </p:cTn>
                              </p:par>
                              <p:par>
                                <p:cTn id="40" presetID="22" presetClass="exit" presetSubtype="8" fill="hold" nodeType="withEffect">
                                  <p:stCondLst>
                                    <p:cond delay="500"/>
                                  </p:stCondLst>
                                  <p:childTnLst>
                                    <p:animEffect transition="out" filter="wipe(left)">
                                      <p:cBhvr>
                                        <p:cTn id="41" dur="500"/>
                                        <p:tgtEl>
                                          <p:spTgt spid="71"/>
                                        </p:tgtEl>
                                      </p:cBhvr>
                                    </p:animEffect>
                                    <p:set>
                                      <p:cBhvr>
                                        <p:cTn id="42" dur="1" fill="hold">
                                          <p:stCondLst>
                                            <p:cond delay="499"/>
                                          </p:stCondLst>
                                        </p:cTn>
                                        <p:tgtEl>
                                          <p:spTgt spid="71"/>
                                        </p:tgtEl>
                                        <p:attrNameLst>
                                          <p:attrName>style.visibility</p:attrName>
                                        </p:attrNameLst>
                                      </p:cBhvr>
                                      <p:to>
                                        <p:strVal val="hidden"/>
                                      </p:to>
                                    </p:set>
                                  </p:childTnLst>
                                </p:cTn>
                              </p:par>
                              <p:par>
                                <p:cTn id="43" presetID="22" presetClass="entr" presetSubtype="8" fill="hold" nodeType="withEffect">
                                  <p:stCondLst>
                                    <p:cond delay="500"/>
                                  </p:stCondLst>
                                  <p:childTnLst>
                                    <p:set>
                                      <p:cBhvr>
                                        <p:cTn id="44" dur="1" fill="hold">
                                          <p:stCondLst>
                                            <p:cond delay="0"/>
                                          </p:stCondLst>
                                        </p:cTn>
                                        <p:tgtEl>
                                          <p:spTgt spid="74"/>
                                        </p:tgtEl>
                                        <p:attrNameLst>
                                          <p:attrName>style.visibility</p:attrName>
                                        </p:attrNameLst>
                                      </p:cBhvr>
                                      <p:to>
                                        <p:strVal val="visible"/>
                                      </p:to>
                                    </p:set>
                                    <p:animEffect transition="in" filter="wipe(left)">
                                      <p:cBhvr>
                                        <p:cTn id="45" dur="500"/>
                                        <p:tgtEl>
                                          <p:spTgt spid="74"/>
                                        </p:tgtEl>
                                      </p:cBhvr>
                                    </p:animEffect>
                                  </p:childTnLst>
                                </p:cTn>
                              </p:par>
                            </p:childTnLst>
                          </p:cTn>
                        </p:par>
                        <p:par>
                          <p:cTn id="46" fill="hold">
                            <p:stCondLst>
                              <p:cond delay="2500"/>
                            </p:stCondLst>
                            <p:childTnLst>
                              <p:par>
                                <p:cTn id="47" presetID="2" presetClass="exit" presetSubtype="6" fill="hold" grpId="0" nodeType="afterEffect">
                                  <p:stCondLst>
                                    <p:cond delay="500"/>
                                  </p:stCondLst>
                                  <p:childTnLst>
                                    <p:anim calcmode="lin" valueType="num">
                                      <p:cBhvr additive="base">
                                        <p:cTn id="48" dur="500"/>
                                        <p:tgtEl>
                                          <p:spTgt spid="34"/>
                                        </p:tgtEl>
                                        <p:attrNameLst>
                                          <p:attrName>ppt_x</p:attrName>
                                        </p:attrNameLst>
                                      </p:cBhvr>
                                      <p:tavLst>
                                        <p:tav tm="0">
                                          <p:val>
                                            <p:strVal val="ppt_x"/>
                                          </p:val>
                                        </p:tav>
                                        <p:tav tm="100000">
                                          <p:val>
                                            <p:strVal val="1+ppt_w/2"/>
                                          </p:val>
                                        </p:tav>
                                      </p:tavLst>
                                    </p:anim>
                                    <p:anim calcmode="lin" valueType="num">
                                      <p:cBhvr additive="base">
                                        <p:cTn id="49" dur="500"/>
                                        <p:tgtEl>
                                          <p:spTgt spid="34"/>
                                        </p:tgtEl>
                                        <p:attrNameLst>
                                          <p:attrName>ppt_y</p:attrName>
                                        </p:attrNameLst>
                                      </p:cBhvr>
                                      <p:tavLst>
                                        <p:tav tm="0">
                                          <p:val>
                                            <p:strVal val="ppt_y"/>
                                          </p:val>
                                        </p:tav>
                                        <p:tav tm="100000">
                                          <p:val>
                                            <p:strVal val="1+ppt_h/2"/>
                                          </p:val>
                                        </p:tav>
                                      </p:tavLst>
                                    </p:anim>
                                    <p:set>
                                      <p:cBhvr>
                                        <p:cTn id="50" dur="1" fill="hold">
                                          <p:stCondLst>
                                            <p:cond delay="499"/>
                                          </p:stCondLst>
                                        </p:cTn>
                                        <p:tgtEl>
                                          <p:spTgt spid="34"/>
                                        </p:tgtEl>
                                        <p:attrNameLst>
                                          <p:attrName>style.visibility</p:attrName>
                                        </p:attrNameLst>
                                      </p:cBhvr>
                                      <p:to>
                                        <p:strVal val="hidden"/>
                                      </p:to>
                                    </p:set>
                                  </p:childTnLst>
                                </p:cTn>
                              </p:par>
                              <p:par>
                                <p:cTn id="51" presetID="2" presetClass="exit" presetSubtype="6" fill="hold" nodeType="withEffect">
                                  <p:stCondLst>
                                    <p:cond delay="500"/>
                                  </p:stCondLst>
                                  <p:childTnLst>
                                    <p:anim calcmode="lin" valueType="num">
                                      <p:cBhvr additive="base">
                                        <p:cTn id="52" dur="500"/>
                                        <p:tgtEl>
                                          <p:spTgt spid="19"/>
                                        </p:tgtEl>
                                        <p:attrNameLst>
                                          <p:attrName>ppt_x</p:attrName>
                                        </p:attrNameLst>
                                      </p:cBhvr>
                                      <p:tavLst>
                                        <p:tav tm="0">
                                          <p:val>
                                            <p:strVal val="ppt_x"/>
                                          </p:val>
                                        </p:tav>
                                        <p:tav tm="100000">
                                          <p:val>
                                            <p:strVal val="1+ppt_w/2"/>
                                          </p:val>
                                        </p:tav>
                                      </p:tavLst>
                                    </p:anim>
                                    <p:anim calcmode="lin" valueType="num">
                                      <p:cBhvr additive="base">
                                        <p:cTn id="53" dur="500"/>
                                        <p:tgtEl>
                                          <p:spTgt spid="19"/>
                                        </p:tgtEl>
                                        <p:attrNameLst>
                                          <p:attrName>ppt_y</p:attrName>
                                        </p:attrNameLst>
                                      </p:cBhvr>
                                      <p:tavLst>
                                        <p:tav tm="0">
                                          <p:val>
                                            <p:strVal val="ppt_y"/>
                                          </p:val>
                                        </p:tav>
                                        <p:tav tm="100000">
                                          <p:val>
                                            <p:strVal val="1+ppt_h/2"/>
                                          </p:val>
                                        </p:tav>
                                      </p:tavLst>
                                    </p:anim>
                                    <p:set>
                                      <p:cBhvr>
                                        <p:cTn id="54" dur="1" fill="hold">
                                          <p:stCondLst>
                                            <p:cond delay="499"/>
                                          </p:stCondLst>
                                        </p:cTn>
                                        <p:tgtEl>
                                          <p:spTgt spid="19"/>
                                        </p:tgtEl>
                                        <p:attrNameLst>
                                          <p:attrName>style.visibility</p:attrName>
                                        </p:attrNameLst>
                                      </p:cBhvr>
                                      <p:to>
                                        <p:strVal val="hidden"/>
                                      </p:to>
                                    </p:set>
                                  </p:childTnLst>
                                </p:cTn>
                              </p:par>
                              <p:par>
                                <p:cTn id="55" presetID="2" presetClass="exit" presetSubtype="6" fill="hold" grpId="0" nodeType="withEffect">
                                  <p:stCondLst>
                                    <p:cond delay="500"/>
                                  </p:stCondLst>
                                  <p:childTnLst>
                                    <p:anim calcmode="lin" valueType="num">
                                      <p:cBhvr additive="base">
                                        <p:cTn id="56" dur="500"/>
                                        <p:tgtEl>
                                          <p:spTgt spid="36"/>
                                        </p:tgtEl>
                                        <p:attrNameLst>
                                          <p:attrName>ppt_x</p:attrName>
                                        </p:attrNameLst>
                                      </p:cBhvr>
                                      <p:tavLst>
                                        <p:tav tm="0">
                                          <p:val>
                                            <p:strVal val="ppt_x"/>
                                          </p:val>
                                        </p:tav>
                                        <p:tav tm="100000">
                                          <p:val>
                                            <p:strVal val="1+ppt_w/2"/>
                                          </p:val>
                                        </p:tav>
                                      </p:tavLst>
                                    </p:anim>
                                    <p:anim calcmode="lin" valueType="num">
                                      <p:cBhvr additive="base">
                                        <p:cTn id="57" dur="500"/>
                                        <p:tgtEl>
                                          <p:spTgt spid="36"/>
                                        </p:tgtEl>
                                        <p:attrNameLst>
                                          <p:attrName>ppt_y</p:attrName>
                                        </p:attrNameLst>
                                      </p:cBhvr>
                                      <p:tavLst>
                                        <p:tav tm="0">
                                          <p:val>
                                            <p:strVal val="ppt_y"/>
                                          </p:val>
                                        </p:tav>
                                        <p:tav tm="100000">
                                          <p:val>
                                            <p:strVal val="1+ppt_h/2"/>
                                          </p:val>
                                        </p:tav>
                                      </p:tavLst>
                                    </p:anim>
                                    <p:set>
                                      <p:cBhvr>
                                        <p:cTn id="58" dur="1" fill="hold">
                                          <p:stCondLst>
                                            <p:cond delay="499"/>
                                          </p:stCondLst>
                                        </p:cTn>
                                        <p:tgtEl>
                                          <p:spTgt spid="36"/>
                                        </p:tgtEl>
                                        <p:attrNameLst>
                                          <p:attrName>style.visibility</p:attrName>
                                        </p:attrNameLst>
                                      </p:cBhvr>
                                      <p:to>
                                        <p:strVal val="hidden"/>
                                      </p:to>
                                    </p:set>
                                  </p:childTnLst>
                                </p:cTn>
                              </p:par>
                              <p:par>
                                <p:cTn id="59" presetID="22" presetClass="exit" presetSubtype="8" fill="hold" nodeType="withEffect">
                                  <p:stCondLst>
                                    <p:cond delay="500"/>
                                  </p:stCondLst>
                                  <p:childTnLst>
                                    <p:animEffect transition="out" filter="wipe(left)">
                                      <p:cBhvr>
                                        <p:cTn id="60" dur="500"/>
                                        <p:tgtEl>
                                          <p:spTgt spid="74"/>
                                        </p:tgtEl>
                                      </p:cBhvr>
                                    </p:animEffect>
                                    <p:set>
                                      <p:cBhvr>
                                        <p:cTn id="61" dur="1" fill="hold">
                                          <p:stCondLst>
                                            <p:cond delay="499"/>
                                          </p:stCondLst>
                                        </p:cTn>
                                        <p:tgtEl>
                                          <p:spTgt spid="74"/>
                                        </p:tgtEl>
                                        <p:attrNameLst>
                                          <p:attrName>style.visibility</p:attrName>
                                        </p:attrNameLst>
                                      </p:cBhvr>
                                      <p:to>
                                        <p:strVal val="hidden"/>
                                      </p:to>
                                    </p:set>
                                  </p:childTnLst>
                                </p:cTn>
                              </p:par>
                              <p:par>
                                <p:cTn id="62" presetID="22" presetClass="entr" presetSubtype="8" fill="hold" nodeType="withEffect">
                                  <p:stCondLst>
                                    <p:cond delay="500"/>
                                  </p:stCondLst>
                                  <p:childTnLst>
                                    <p:set>
                                      <p:cBhvr>
                                        <p:cTn id="63" dur="1" fill="hold">
                                          <p:stCondLst>
                                            <p:cond delay="0"/>
                                          </p:stCondLst>
                                        </p:cTn>
                                        <p:tgtEl>
                                          <p:spTgt spid="77"/>
                                        </p:tgtEl>
                                        <p:attrNameLst>
                                          <p:attrName>style.visibility</p:attrName>
                                        </p:attrNameLst>
                                      </p:cBhvr>
                                      <p:to>
                                        <p:strVal val="visible"/>
                                      </p:to>
                                    </p:set>
                                    <p:animEffect transition="in" filter="wipe(left)">
                                      <p:cBhvr>
                                        <p:cTn id="64" dur="500"/>
                                        <p:tgtEl>
                                          <p:spTgt spid="77"/>
                                        </p:tgtEl>
                                      </p:cBhvr>
                                    </p:animEffect>
                                  </p:childTnLst>
                                </p:cTn>
                              </p:par>
                            </p:childTnLst>
                          </p:cTn>
                        </p:par>
                        <p:par>
                          <p:cTn id="65" fill="hold">
                            <p:stCondLst>
                              <p:cond delay="3500"/>
                            </p:stCondLst>
                            <p:childTnLst>
                              <p:par>
                                <p:cTn id="66" presetID="2" presetClass="exit" presetSubtype="6" fill="hold" grpId="0" nodeType="afterEffect">
                                  <p:stCondLst>
                                    <p:cond delay="500"/>
                                  </p:stCondLst>
                                  <p:childTnLst>
                                    <p:anim calcmode="lin" valueType="num">
                                      <p:cBhvr additive="base">
                                        <p:cTn id="67" dur="500"/>
                                        <p:tgtEl>
                                          <p:spTgt spid="29"/>
                                        </p:tgtEl>
                                        <p:attrNameLst>
                                          <p:attrName>ppt_x</p:attrName>
                                        </p:attrNameLst>
                                      </p:cBhvr>
                                      <p:tavLst>
                                        <p:tav tm="0">
                                          <p:val>
                                            <p:strVal val="ppt_x"/>
                                          </p:val>
                                        </p:tav>
                                        <p:tav tm="100000">
                                          <p:val>
                                            <p:strVal val="1+ppt_w/2"/>
                                          </p:val>
                                        </p:tav>
                                      </p:tavLst>
                                    </p:anim>
                                    <p:anim calcmode="lin" valueType="num">
                                      <p:cBhvr additive="base">
                                        <p:cTn id="68" dur="500"/>
                                        <p:tgtEl>
                                          <p:spTgt spid="29"/>
                                        </p:tgtEl>
                                        <p:attrNameLst>
                                          <p:attrName>ppt_y</p:attrName>
                                        </p:attrNameLst>
                                      </p:cBhvr>
                                      <p:tavLst>
                                        <p:tav tm="0">
                                          <p:val>
                                            <p:strVal val="ppt_y"/>
                                          </p:val>
                                        </p:tav>
                                        <p:tav tm="100000">
                                          <p:val>
                                            <p:strVal val="1+ppt_h/2"/>
                                          </p:val>
                                        </p:tav>
                                      </p:tavLst>
                                    </p:anim>
                                    <p:set>
                                      <p:cBhvr>
                                        <p:cTn id="69" dur="1" fill="hold">
                                          <p:stCondLst>
                                            <p:cond delay="499"/>
                                          </p:stCondLst>
                                        </p:cTn>
                                        <p:tgtEl>
                                          <p:spTgt spid="29"/>
                                        </p:tgtEl>
                                        <p:attrNameLst>
                                          <p:attrName>style.visibility</p:attrName>
                                        </p:attrNameLst>
                                      </p:cBhvr>
                                      <p:to>
                                        <p:strVal val="hidden"/>
                                      </p:to>
                                    </p:set>
                                  </p:childTnLst>
                                </p:cTn>
                              </p:par>
                              <p:par>
                                <p:cTn id="70" presetID="2" presetClass="exit" presetSubtype="6" fill="hold" nodeType="withEffect">
                                  <p:stCondLst>
                                    <p:cond delay="500"/>
                                  </p:stCondLst>
                                  <p:childTnLst>
                                    <p:anim calcmode="lin" valueType="num">
                                      <p:cBhvr additive="base">
                                        <p:cTn id="71" dur="500"/>
                                        <p:tgtEl>
                                          <p:spTgt spid="25"/>
                                        </p:tgtEl>
                                        <p:attrNameLst>
                                          <p:attrName>ppt_x</p:attrName>
                                        </p:attrNameLst>
                                      </p:cBhvr>
                                      <p:tavLst>
                                        <p:tav tm="0">
                                          <p:val>
                                            <p:strVal val="ppt_x"/>
                                          </p:val>
                                        </p:tav>
                                        <p:tav tm="100000">
                                          <p:val>
                                            <p:strVal val="1+ppt_w/2"/>
                                          </p:val>
                                        </p:tav>
                                      </p:tavLst>
                                    </p:anim>
                                    <p:anim calcmode="lin" valueType="num">
                                      <p:cBhvr additive="base">
                                        <p:cTn id="72" dur="500"/>
                                        <p:tgtEl>
                                          <p:spTgt spid="25"/>
                                        </p:tgtEl>
                                        <p:attrNameLst>
                                          <p:attrName>ppt_y</p:attrName>
                                        </p:attrNameLst>
                                      </p:cBhvr>
                                      <p:tavLst>
                                        <p:tav tm="0">
                                          <p:val>
                                            <p:strVal val="ppt_y"/>
                                          </p:val>
                                        </p:tav>
                                        <p:tav tm="100000">
                                          <p:val>
                                            <p:strVal val="1+ppt_h/2"/>
                                          </p:val>
                                        </p:tav>
                                      </p:tavLst>
                                    </p:anim>
                                    <p:set>
                                      <p:cBhvr>
                                        <p:cTn id="73" dur="1" fill="hold">
                                          <p:stCondLst>
                                            <p:cond delay="499"/>
                                          </p:stCondLst>
                                        </p:cTn>
                                        <p:tgtEl>
                                          <p:spTgt spid="25"/>
                                        </p:tgtEl>
                                        <p:attrNameLst>
                                          <p:attrName>style.visibility</p:attrName>
                                        </p:attrNameLst>
                                      </p:cBhvr>
                                      <p:to>
                                        <p:strVal val="hidden"/>
                                      </p:to>
                                    </p:set>
                                  </p:childTnLst>
                                </p:cTn>
                              </p:par>
                              <p:par>
                                <p:cTn id="74" presetID="2" presetClass="exit" presetSubtype="6" fill="hold" grpId="0" nodeType="withEffect">
                                  <p:stCondLst>
                                    <p:cond delay="500"/>
                                  </p:stCondLst>
                                  <p:childTnLst>
                                    <p:anim calcmode="lin" valueType="num">
                                      <p:cBhvr additive="base">
                                        <p:cTn id="75" dur="500"/>
                                        <p:tgtEl>
                                          <p:spTgt spid="31"/>
                                        </p:tgtEl>
                                        <p:attrNameLst>
                                          <p:attrName>ppt_x</p:attrName>
                                        </p:attrNameLst>
                                      </p:cBhvr>
                                      <p:tavLst>
                                        <p:tav tm="0">
                                          <p:val>
                                            <p:strVal val="ppt_x"/>
                                          </p:val>
                                        </p:tav>
                                        <p:tav tm="100000">
                                          <p:val>
                                            <p:strVal val="1+ppt_w/2"/>
                                          </p:val>
                                        </p:tav>
                                      </p:tavLst>
                                    </p:anim>
                                    <p:anim calcmode="lin" valueType="num">
                                      <p:cBhvr additive="base">
                                        <p:cTn id="76" dur="500"/>
                                        <p:tgtEl>
                                          <p:spTgt spid="31"/>
                                        </p:tgtEl>
                                        <p:attrNameLst>
                                          <p:attrName>ppt_y</p:attrName>
                                        </p:attrNameLst>
                                      </p:cBhvr>
                                      <p:tavLst>
                                        <p:tav tm="0">
                                          <p:val>
                                            <p:strVal val="ppt_y"/>
                                          </p:val>
                                        </p:tav>
                                        <p:tav tm="100000">
                                          <p:val>
                                            <p:strVal val="1+ppt_h/2"/>
                                          </p:val>
                                        </p:tav>
                                      </p:tavLst>
                                    </p:anim>
                                    <p:set>
                                      <p:cBhvr>
                                        <p:cTn id="77" dur="1" fill="hold">
                                          <p:stCondLst>
                                            <p:cond delay="499"/>
                                          </p:stCondLst>
                                        </p:cTn>
                                        <p:tgtEl>
                                          <p:spTgt spid="31"/>
                                        </p:tgtEl>
                                        <p:attrNameLst>
                                          <p:attrName>style.visibility</p:attrName>
                                        </p:attrNameLst>
                                      </p:cBhvr>
                                      <p:to>
                                        <p:strVal val="hidden"/>
                                      </p:to>
                                    </p:set>
                                  </p:childTnLst>
                                </p:cTn>
                              </p:par>
                              <p:par>
                                <p:cTn id="78" presetID="22" presetClass="exit" presetSubtype="8" fill="hold" nodeType="withEffect">
                                  <p:stCondLst>
                                    <p:cond delay="500"/>
                                  </p:stCondLst>
                                  <p:childTnLst>
                                    <p:animEffect transition="out" filter="wipe(left)">
                                      <p:cBhvr>
                                        <p:cTn id="79" dur="500"/>
                                        <p:tgtEl>
                                          <p:spTgt spid="77"/>
                                        </p:tgtEl>
                                      </p:cBhvr>
                                    </p:animEffect>
                                    <p:set>
                                      <p:cBhvr>
                                        <p:cTn id="80" dur="1" fill="hold">
                                          <p:stCondLst>
                                            <p:cond delay="499"/>
                                          </p:stCondLst>
                                        </p:cTn>
                                        <p:tgtEl>
                                          <p:spTgt spid="77"/>
                                        </p:tgtEl>
                                        <p:attrNameLst>
                                          <p:attrName>style.visibility</p:attrName>
                                        </p:attrNameLst>
                                      </p:cBhvr>
                                      <p:to>
                                        <p:strVal val="hidden"/>
                                      </p:to>
                                    </p:set>
                                  </p:childTnLst>
                                </p:cTn>
                              </p:par>
                            </p:childTnLst>
                          </p:cTn>
                        </p:par>
                        <p:par>
                          <p:cTn id="81" fill="hold">
                            <p:stCondLst>
                              <p:cond delay="4500"/>
                            </p:stCondLst>
                            <p:childTnLst>
                              <p:par>
                                <p:cTn id="82" presetID="22" presetClass="entr" presetSubtype="1" fill="hold" grpId="0" nodeType="afterEffect">
                                  <p:stCondLst>
                                    <p:cond delay="0"/>
                                  </p:stCondLst>
                                  <p:childTnLst>
                                    <p:set>
                                      <p:cBhvr>
                                        <p:cTn id="83" dur="1" fill="hold">
                                          <p:stCondLst>
                                            <p:cond delay="0"/>
                                          </p:stCondLst>
                                        </p:cTn>
                                        <p:tgtEl>
                                          <p:spTgt spid="5"/>
                                        </p:tgtEl>
                                        <p:attrNameLst>
                                          <p:attrName>style.visibility</p:attrName>
                                        </p:attrNameLst>
                                      </p:cBhvr>
                                      <p:to>
                                        <p:strVal val="visible"/>
                                      </p:to>
                                    </p:set>
                                    <p:animEffect transition="in" filter="wipe(up)">
                                      <p:cBhvr>
                                        <p:cTn id="8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5" grpId="0"/>
      <p:bldP spid="33" grpId="0"/>
      <p:bldP spid="31" grpId="0"/>
      <p:bldP spid="29" grpId="0"/>
      <p:bldP spid="32" grpId="0"/>
      <p:bldP spid="34" grpId="0"/>
      <p:bldP spid="36"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A423E5-2081-436B-AC11-F8A2D82D4675}"/>
              </a:ext>
            </a:extLst>
          </p:cNvPr>
          <p:cNvSpPr>
            <a:spLocks noGrp="1"/>
          </p:cNvSpPr>
          <p:nvPr>
            <p:ph type="title"/>
          </p:nvPr>
        </p:nvSpPr>
        <p:spPr>
          <a:xfrm>
            <a:off x="394814" y="254286"/>
            <a:ext cx="8740442" cy="533400"/>
          </a:xfrm>
        </p:spPr>
        <p:txBody>
          <a:bodyPr/>
          <a:lstStyle/>
          <a:p>
            <a:r>
              <a:rPr lang="en-US" dirty="0"/>
              <a:t>Local learning is not sufficient</a:t>
            </a:r>
          </a:p>
        </p:txBody>
      </p:sp>
      <p:sp>
        <p:nvSpPr>
          <p:cNvPr id="3" name="Content Placeholder 2">
            <a:extLst>
              <a:ext uri="{FF2B5EF4-FFF2-40B4-BE49-F238E27FC236}">
                <a16:creationId xmlns="" xmlns:a16="http://schemas.microsoft.com/office/drawing/2014/main" id="{6A4692F0-E04E-46C4-8BEB-E50EC94A923B}"/>
              </a:ext>
            </a:extLst>
          </p:cNvPr>
          <p:cNvSpPr>
            <a:spLocks noGrp="1"/>
          </p:cNvSpPr>
          <p:nvPr>
            <p:ph idx="1"/>
          </p:nvPr>
        </p:nvSpPr>
        <p:spPr>
          <a:xfrm>
            <a:off x="394814" y="1666962"/>
            <a:ext cx="8901586" cy="4460558"/>
          </a:xfrm>
        </p:spPr>
        <p:txBody>
          <a:bodyPr/>
          <a:lstStyle/>
          <a:p>
            <a:pPr marL="0" indent="0">
              <a:buNone/>
            </a:pPr>
            <a:r>
              <a:rPr lang="en-US" sz="2400" dirty="0"/>
              <a:t>…</a:t>
            </a:r>
            <a:r>
              <a:rPr lang="en-US" sz="2400" b="1" dirty="0">
                <a:solidFill>
                  <a:srgbClr val="C27990"/>
                </a:solidFill>
              </a:rPr>
              <a:t>ripping</a:t>
            </a:r>
            <a:r>
              <a:rPr lang="en-US" sz="2400" dirty="0">
                <a:solidFill>
                  <a:srgbClr val="FF0000"/>
                </a:solidFill>
              </a:rPr>
              <a:t> </a:t>
            </a:r>
            <a:r>
              <a:rPr lang="en-US" sz="2400" dirty="0"/>
              <a:t>two houses…firefighters </a:t>
            </a:r>
            <a:r>
              <a:rPr lang="en-US" sz="2400" b="1" dirty="0">
                <a:solidFill>
                  <a:srgbClr val="C27990"/>
                </a:solidFill>
              </a:rPr>
              <a:t>ordered</a:t>
            </a:r>
            <a:r>
              <a:rPr lang="en-US" sz="2400" dirty="0">
                <a:solidFill>
                  <a:srgbClr val="FF0000"/>
                </a:solidFill>
              </a:rPr>
              <a:t> </a:t>
            </a:r>
            <a:r>
              <a:rPr lang="en-US" sz="2400" dirty="0"/>
              <a:t>the evacuation of nearby homes… </a:t>
            </a:r>
            <a:endParaRPr lang="en-US" sz="2400" i="1" dirty="0"/>
          </a:p>
          <a:p>
            <a:pPr marL="457200" lvl="1" indent="0">
              <a:buNone/>
            </a:pPr>
            <a:r>
              <a:rPr lang="en-US" sz="2000" dirty="0"/>
              <a:t>Q: (</a:t>
            </a:r>
            <a:r>
              <a:rPr lang="en-US" sz="2000" b="1" dirty="0">
                <a:solidFill>
                  <a:srgbClr val="C27990"/>
                </a:solidFill>
              </a:rPr>
              <a:t>ripping</a:t>
            </a:r>
            <a:r>
              <a:rPr lang="en-US" sz="2000" dirty="0"/>
              <a:t>, </a:t>
            </a:r>
            <a:r>
              <a:rPr lang="en-US" sz="2000" b="1" dirty="0">
                <a:solidFill>
                  <a:srgbClr val="C27990"/>
                </a:solidFill>
              </a:rPr>
              <a:t>ordered</a:t>
            </a:r>
            <a:r>
              <a:rPr lang="en-US" sz="2000" dirty="0"/>
              <a:t>)=? (difficult even for humans)</a:t>
            </a:r>
          </a:p>
          <a:p>
            <a:pPr marL="457200" lvl="1" indent="0">
              <a:buNone/>
            </a:pPr>
            <a:r>
              <a:rPr lang="en-US" sz="2000" dirty="0"/>
              <a:t>Annotation says “before”, so let’s update the parameters to fit it.</a:t>
            </a:r>
          </a:p>
          <a:p>
            <a:pPr marL="457200" lvl="1" indent="0">
              <a:buNone/>
            </a:pPr>
            <a:r>
              <a:rPr lang="en-US" sz="2000" dirty="0"/>
              <a:t>which leads to </a:t>
            </a:r>
            <a:r>
              <a:rPr lang="en-US" sz="2000" u="sng" dirty="0"/>
              <a:t>overfitting</a:t>
            </a:r>
          </a:p>
          <a:p>
            <a:pPr marL="457200" lvl="1" indent="0">
              <a:buNone/>
            </a:pPr>
            <a:r>
              <a:rPr lang="en-US" sz="2000" b="1" dirty="0"/>
              <a:t>No overfitting is needed anymore.</a:t>
            </a:r>
          </a:p>
        </p:txBody>
      </p:sp>
      <p:sp>
        <p:nvSpPr>
          <p:cNvPr id="5" name="TextBox 4">
            <a:extLst>
              <a:ext uri="{FF2B5EF4-FFF2-40B4-BE49-F238E27FC236}">
                <a16:creationId xmlns="" xmlns:a16="http://schemas.microsoft.com/office/drawing/2014/main" id="{99D73CAA-E3E3-434F-8F9E-B3634BFFB49E}"/>
              </a:ext>
            </a:extLst>
          </p:cNvPr>
          <p:cNvSpPr txBox="1"/>
          <p:nvPr/>
        </p:nvSpPr>
        <p:spPr>
          <a:xfrm>
            <a:off x="175057" y="1170174"/>
            <a:ext cx="4110421" cy="338554"/>
          </a:xfrm>
          <a:prstGeom prst="rect">
            <a:avLst/>
          </a:prstGeom>
          <a:noFill/>
        </p:spPr>
        <p:txBody>
          <a:bodyPr wrap="none" rtlCol="0">
            <a:spAutoFit/>
          </a:bodyPr>
          <a:lstStyle/>
          <a:p>
            <a:r>
              <a:rPr lang="en-US" sz="1600" dirty="0">
                <a:solidFill>
                  <a:schemeClr val="bg2">
                    <a:lumMod val="75000"/>
                    <a:lumOff val="25000"/>
                  </a:schemeClr>
                </a:solidFill>
                <a:latin typeface="Century Gothic" panose="020B0502020202020204" pitchFamily="34" charset="0"/>
              </a:rPr>
              <a:t>tons of earth </a:t>
            </a:r>
            <a:r>
              <a:rPr lang="en-US" sz="1600" b="1" dirty="0">
                <a:solidFill>
                  <a:srgbClr val="665E8A"/>
                </a:solidFill>
                <a:latin typeface="Century Gothic" panose="020B0502020202020204" pitchFamily="34" charset="0"/>
              </a:rPr>
              <a:t>cascaded</a:t>
            </a:r>
            <a:r>
              <a:rPr lang="en-US" sz="1600" dirty="0">
                <a:solidFill>
                  <a:srgbClr val="0070C0"/>
                </a:solidFill>
                <a:latin typeface="Century Gothic" panose="020B0502020202020204" pitchFamily="34" charset="0"/>
              </a:rPr>
              <a:t> </a:t>
            </a:r>
            <a:r>
              <a:rPr lang="en-US" sz="1600" dirty="0">
                <a:solidFill>
                  <a:schemeClr val="bg2">
                    <a:lumMod val="75000"/>
                    <a:lumOff val="25000"/>
                  </a:schemeClr>
                </a:solidFill>
                <a:latin typeface="Century Gothic" panose="020B0502020202020204" pitchFamily="34" charset="0"/>
              </a:rPr>
              <a:t>down a hillside,</a:t>
            </a:r>
          </a:p>
        </p:txBody>
      </p:sp>
      <p:sp>
        <p:nvSpPr>
          <p:cNvPr id="27" name="TextBox 26">
            <a:extLst>
              <a:ext uri="{FF2B5EF4-FFF2-40B4-BE49-F238E27FC236}">
                <a16:creationId xmlns="" xmlns:a16="http://schemas.microsoft.com/office/drawing/2014/main" id="{574360DA-2010-F741-B501-17EEDDBF78D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8" name="Title 1">
            <a:extLst>
              <a:ext uri="{FF2B5EF4-FFF2-40B4-BE49-F238E27FC236}">
                <a16:creationId xmlns="" xmlns:a16="http://schemas.microsoft.com/office/drawing/2014/main" id="{2F7C800A-A01D-F64E-A08F-E1D676AC2B58}"/>
              </a:ext>
            </a:extLst>
          </p:cNvPr>
          <p:cNvSpPr txBox="1">
            <a:spLocks/>
          </p:cNvSpPr>
          <p:nvPr/>
        </p:nvSpPr>
        <p:spPr bwMode="auto">
          <a:xfrm>
            <a:off x="2326629" y="5658413"/>
            <a:ext cx="4490741" cy="533400"/>
          </a:xfrm>
          <a:prstGeom prst="roundRect">
            <a:avLst/>
          </a:prstGeom>
          <a:solidFill>
            <a:srgbClr val="C17A90"/>
          </a:solidFill>
          <a:ln w="38100">
            <a:noFill/>
            <a:miter lim="800000"/>
            <a:headEnd/>
            <a:tailEnd/>
          </a:ln>
          <a:effectLs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algn="ctr"/>
            <a:r>
              <a:rPr lang="en-US" sz="2400" i="1" dirty="0">
                <a:solidFill>
                  <a:schemeClr val="tx1"/>
                </a:solidFill>
              </a:rPr>
              <a:t>Structured learning</a:t>
            </a:r>
          </a:p>
        </p:txBody>
      </p:sp>
      <p:grpSp>
        <p:nvGrpSpPr>
          <p:cNvPr id="4" name="Group 3">
            <a:extLst>
              <a:ext uri="{FF2B5EF4-FFF2-40B4-BE49-F238E27FC236}">
                <a16:creationId xmlns="" xmlns:a16="http://schemas.microsoft.com/office/drawing/2014/main" id="{DC1AB4D1-6E31-7741-A0D7-12EFFF1B5FB3}"/>
              </a:ext>
            </a:extLst>
          </p:cNvPr>
          <p:cNvGrpSpPr/>
          <p:nvPr/>
        </p:nvGrpSpPr>
        <p:grpSpPr>
          <a:xfrm>
            <a:off x="2602876" y="3925355"/>
            <a:ext cx="3938246" cy="1537095"/>
            <a:chOff x="3276600" y="4715812"/>
            <a:chExt cx="3938246" cy="1537095"/>
          </a:xfrm>
        </p:grpSpPr>
        <p:grpSp>
          <p:nvGrpSpPr>
            <p:cNvPr id="19" name="Group 18">
              <a:extLst>
                <a:ext uri="{FF2B5EF4-FFF2-40B4-BE49-F238E27FC236}">
                  <a16:creationId xmlns="" xmlns:a16="http://schemas.microsoft.com/office/drawing/2014/main" id="{3639B82E-328F-C94A-888A-F737AB423C48}"/>
                </a:ext>
              </a:extLst>
            </p:cNvPr>
            <p:cNvGrpSpPr/>
            <p:nvPr/>
          </p:nvGrpSpPr>
          <p:grpSpPr>
            <a:xfrm>
              <a:off x="3276600" y="4715812"/>
              <a:ext cx="3938246" cy="1198586"/>
              <a:chOff x="4977154" y="3828951"/>
              <a:chExt cx="3938246" cy="1198586"/>
            </a:xfrm>
          </p:grpSpPr>
          <p:grpSp>
            <p:nvGrpSpPr>
              <p:cNvPr id="21" name="Group 20">
                <a:extLst>
                  <a:ext uri="{FF2B5EF4-FFF2-40B4-BE49-F238E27FC236}">
                    <a16:creationId xmlns="" xmlns:a16="http://schemas.microsoft.com/office/drawing/2014/main" id="{FFA9C60D-3034-524D-883C-DBC1773E1BA5}"/>
                  </a:ext>
                </a:extLst>
              </p:cNvPr>
              <p:cNvGrpSpPr/>
              <p:nvPr/>
            </p:nvGrpSpPr>
            <p:grpSpPr>
              <a:xfrm>
                <a:off x="4977154" y="3828951"/>
                <a:ext cx="3581400" cy="1198586"/>
                <a:chOff x="-5105400" y="4876800"/>
                <a:chExt cx="3581400" cy="1198586"/>
              </a:xfrm>
            </p:grpSpPr>
            <p:grpSp>
              <p:nvGrpSpPr>
                <p:cNvPr id="24" name="Group 23">
                  <a:extLst>
                    <a:ext uri="{FF2B5EF4-FFF2-40B4-BE49-F238E27FC236}">
                      <a16:creationId xmlns="" xmlns:a16="http://schemas.microsoft.com/office/drawing/2014/main" id="{5FC28287-09BF-9B44-AD27-3D76FAD26990}"/>
                    </a:ext>
                  </a:extLst>
                </p:cNvPr>
                <p:cNvGrpSpPr/>
                <p:nvPr/>
              </p:nvGrpSpPr>
              <p:grpSpPr>
                <a:xfrm>
                  <a:off x="-5105400" y="4876800"/>
                  <a:ext cx="3581400" cy="1198586"/>
                  <a:chOff x="-5105400" y="2901434"/>
                  <a:chExt cx="3581400" cy="1198586"/>
                </a:xfrm>
              </p:grpSpPr>
              <p:cxnSp>
                <p:nvCxnSpPr>
                  <p:cNvPr id="38" name="Straight Arrow Connector 37">
                    <a:extLst>
                      <a:ext uri="{FF2B5EF4-FFF2-40B4-BE49-F238E27FC236}">
                        <a16:creationId xmlns="" xmlns:a16="http://schemas.microsoft.com/office/drawing/2014/main" id="{724E1E1F-CA74-404D-B3F7-DAED68C78964}"/>
                      </a:ext>
                    </a:extLst>
                  </p:cNvPr>
                  <p:cNvCxnSpPr/>
                  <p:nvPr/>
                </p:nvCxnSpPr>
                <p:spPr>
                  <a:xfrm>
                    <a:off x="-5105400" y="3429000"/>
                    <a:ext cx="3581400" cy="0"/>
                  </a:xfrm>
                  <a:prstGeom prst="straightConnector1">
                    <a:avLst/>
                  </a:prstGeom>
                  <a:ln>
                    <a:solidFill>
                      <a:schemeClr val="bg2"/>
                    </a:solidFill>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 xmlns:a16="http://schemas.microsoft.com/office/drawing/2014/main" id="{CF389386-243C-1D4F-97AA-A526D67D63AC}"/>
                      </a:ext>
                    </a:extLst>
                  </p:cNvPr>
                  <p:cNvSpPr txBox="1"/>
                  <p:nvPr/>
                </p:nvSpPr>
                <p:spPr>
                  <a:xfrm>
                    <a:off x="-4682613" y="3730688"/>
                    <a:ext cx="957313" cy="369332"/>
                  </a:xfrm>
                  <a:prstGeom prst="rect">
                    <a:avLst/>
                  </a:prstGeom>
                  <a:noFill/>
                </p:spPr>
                <p:txBody>
                  <a:bodyPr wrap="none" rtlCol="0">
                    <a:spAutoFit/>
                  </a:bodyPr>
                  <a:lstStyle/>
                  <a:p>
                    <a:r>
                      <a:rPr lang="en-US" b="1" dirty="0">
                        <a:solidFill>
                          <a:srgbClr val="C17A90"/>
                        </a:solidFill>
                        <a:latin typeface="Century Gothic" panose="020B0502020202020204" pitchFamily="34" charset="0"/>
                      </a:rPr>
                      <a:t>ripping</a:t>
                    </a:r>
                  </a:p>
                </p:txBody>
              </p:sp>
              <p:sp>
                <p:nvSpPr>
                  <p:cNvPr id="40" name="TextBox 39">
                    <a:extLst>
                      <a:ext uri="{FF2B5EF4-FFF2-40B4-BE49-F238E27FC236}">
                        <a16:creationId xmlns="" xmlns:a16="http://schemas.microsoft.com/office/drawing/2014/main" id="{6269C2E0-5165-504B-AC38-44E7C51562CF}"/>
                      </a:ext>
                    </a:extLst>
                  </p:cNvPr>
                  <p:cNvSpPr txBox="1"/>
                  <p:nvPr/>
                </p:nvSpPr>
                <p:spPr>
                  <a:xfrm>
                    <a:off x="-3098714" y="2901434"/>
                    <a:ext cx="1091966" cy="369332"/>
                  </a:xfrm>
                  <a:prstGeom prst="rect">
                    <a:avLst/>
                  </a:prstGeom>
                  <a:noFill/>
                </p:spPr>
                <p:txBody>
                  <a:bodyPr wrap="none" rtlCol="0">
                    <a:spAutoFit/>
                  </a:bodyPr>
                  <a:lstStyle/>
                  <a:p>
                    <a:r>
                      <a:rPr lang="en-US" b="1" dirty="0">
                        <a:solidFill>
                          <a:srgbClr val="C17A90"/>
                        </a:solidFill>
                        <a:latin typeface="Century Gothic" panose="020B0502020202020204" pitchFamily="34" charset="0"/>
                      </a:rPr>
                      <a:t>ordered</a:t>
                    </a:r>
                  </a:p>
                </p:txBody>
              </p:sp>
              <p:sp>
                <p:nvSpPr>
                  <p:cNvPr id="41" name="TextBox 40">
                    <a:extLst>
                      <a:ext uri="{FF2B5EF4-FFF2-40B4-BE49-F238E27FC236}">
                        <a16:creationId xmlns="" xmlns:a16="http://schemas.microsoft.com/office/drawing/2014/main" id="{3E8449A5-0FE5-144E-97DE-D3F20392D1B0}"/>
                      </a:ext>
                    </a:extLst>
                  </p:cNvPr>
                  <p:cNvSpPr txBox="1"/>
                  <p:nvPr/>
                </p:nvSpPr>
                <p:spPr>
                  <a:xfrm>
                    <a:off x="-4846431" y="2904891"/>
                    <a:ext cx="1354858" cy="369332"/>
                  </a:xfrm>
                  <a:prstGeom prst="rect">
                    <a:avLst/>
                  </a:prstGeom>
                  <a:noFill/>
                </p:spPr>
                <p:txBody>
                  <a:bodyPr wrap="none" rtlCol="0">
                    <a:spAutoFit/>
                  </a:bodyPr>
                  <a:lstStyle/>
                  <a:p>
                    <a:r>
                      <a:rPr lang="en-US" b="1" dirty="0">
                        <a:solidFill>
                          <a:srgbClr val="665E8A"/>
                        </a:solidFill>
                        <a:latin typeface="Century Gothic" panose="020B0502020202020204" pitchFamily="34" charset="0"/>
                      </a:rPr>
                      <a:t>cascaded</a:t>
                    </a:r>
                  </a:p>
                </p:txBody>
              </p:sp>
            </p:grpSp>
            <p:cxnSp>
              <p:nvCxnSpPr>
                <p:cNvPr id="25" name="Straight Connector 24">
                  <a:extLst>
                    <a:ext uri="{FF2B5EF4-FFF2-40B4-BE49-F238E27FC236}">
                      <a16:creationId xmlns="" xmlns:a16="http://schemas.microsoft.com/office/drawing/2014/main" id="{54C43CB8-8E52-B142-B461-944FCB1E9C4E}"/>
                    </a:ext>
                  </a:extLst>
                </p:cNvPr>
                <p:cNvCxnSpPr>
                  <a:cxnSpLocks/>
                </p:cNvCxnSpPr>
                <p:nvPr/>
              </p:nvCxnSpPr>
              <p:spPr>
                <a:xfrm>
                  <a:off x="-3491573"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 xmlns:a16="http://schemas.microsoft.com/office/drawing/2014/main" id="{50605509-03E7-3A41-8B64-4FE59FDE8323}"/>
                    </a:ext>
                  </a:extLst>
                </p:cNvPr>
                <p:cNvCxnSpPr>
                  <a:cxnSpLocks/>
                </p:cNvCxnSpPr>
                <p:nvPr/>
              </p:nvCxnSpPr>
              <p:spPr>
                <a:xfrm>
                  <a:off x="-4419600"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 xmlns:a16="http://schemas.microsoft.com/office/drawing/2014/main" id="{2827880C-9C88-5549-B901-7B0A7F368634}"/>
                    </a:ext>
                  </a:extLst>
                </p:cNvPr>
                <p:cNvCxnSpPr>
                  <a:cxnSpLocks/>
                </p:cNvCxnSpPr>
                <p:nvPr/>
              </p:nvCxnSpPr>
              <p:spPr>
                <a:xfrm>
                  <a:off x="-4089497" y="5404366"/>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 xmlns:a16="http://schemas.microsoft.com/office/drawing/2014/main" id="{4EDD699D-1DE8-1B4A-BB5A-BB8AA332780B}"/>
                    </a:ext>
                  </a:extLst>
                </p:cNvPr>
                <p:cNvCxnSpPr>
                  <a:cxnSpLocks/>
                </p:cNvCxnSpPr>
                <p:nvPr/>
              </p:nvCxnSpPr>
              <p:spPr>
                <a:xfrm>
                  <a:off x="-3060614"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 xmlns:a16="http://schemas.microsoft.com/office/drawing/2014/main" id="{F9DEE8B8-2090-4F47-8949-0B4EDE95971C}"/>
                    </a:ext>
                  </a:extLst>
                </p:cNvPr>
                <p:cNvCxnSpPr>
                  <a:cxnSpLocks/>
                </p:cNvCxnSpPr>
                <p:nvPr/>
              </p:nvCxnSpPr>
              <p:spPr>
                <a:xfrm>
                  <a:off x="-2082620" y="5064923"/>
                  <a:ext cx="0" cy="339443"/>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a:extLst>
                    <a:ext uri="{FF2B5EF4-FFF2-40B4-BE49-F238E27FC236}">
                      <a16:creationId xmlns="" xmlns:a16="http://schemas.microsoft.com/office/drawing/2014/main" id="{7CA11C6C-D0CB-F04A-9836-DED7C1BF5552}"/>
                    </a:ext>
                  </a:extLst>
                </p:cNvPr>
                <p:cNvCxnSpPr>
                  <a:cxnSpLocks/>
                </p:cNvCxnSpPr>
                <p:nvPr/>
              </p:nvCxnSpPr>
              <p:spPr>
                <a:xfrm>
                  <a:off x="-4953000" y="5064923"/>
                  <a:ext cx="0" cy="339443"/>
                </a:xfrm>
                <a:prstGeom prst="line">
                  <a:avLst/>
                </a:prstGeom>
              </p:spPr>
              <p:style>
                <a:lnRef idx="3">
                  <a:schemeClr val="dk1"/>
                </a:lnRef>
                <a:fillRef idx="0">
                  <a:schemeClr val="dk1"/>
                </a:fillRef>
                <a:effectRef idx="2">
                  <a:schemeClr val="dk1"/>
                </a:effectRef>
                <a:fontRef idx="minor">
                  <a:schemeClr val="tx1"/>
                </a:fontRef>
              </p:style>
            </p:cxnSp>
          </p:grpSp>
          <p:sp>
            <p:nvSpPr>
              <p:cNvPr id="23" name="TextBox 22">
                <a:extLst>
                  <a:ext uri="{FF2B5EF4-FFF2-40B4-BE49-F238E27FC236}">
                    <a16:creationId xmlns="" xmlns:a16="http://schemas.microsoft.com/office/drawing/2014/main" id="{BE26D544-24D4-7F4B-90B9-7F926C0C0E46}"/>
                  </a:ext>
                </a:extLst>
              </p:cNvPr>
              <p:cNvSpPr txBox="1"/>
              <p:nvPr/>
            </p:nvSpPr>
            <p:spPr>
              <a:xfrm>
                <a:off x="8219376" y="4388521"/>
                <a:ext cx="696024" cy="369332"/>
              </a:xfrm>
              <a:prstGeom prst="rect">
                <a:avLst/>
              </a:prstGeom>
              <a:noFill/>
              <a:ln>
                <a:noFill/>
              </a:ln>
            </p:spPr>
            <p:txBody>
              <a:bodyPr wrap="none" rtlCol="0">
                <a:spAutoFit/>
              </a:bodyPr>
              <a:lstStyle/>
              <a:p>
                <a:pPr lvl="0">
                  <a:spcBef>
                    <a:spcPct val="20000"/>
                  </a:spcBef>
                  <a:buClr>
                    <a:srgbClr val="000080"/>
                  </a:buClr>
                </a:pPr>
                <a:r>
                  <a:rPr lang="en-US" dirty="0">
                    <a:solidFill>
                      <a:schemeClr val="bg2"/>
                    </a:solidFill>
                    <a:latin typeface="Century Gothic" panose="020B0502020202020204" pitchFamily="34" charset="0"/>
                    <a:ea typeface="Courier" charset="0"/>
                    <a:cs typeface="Courier" charset="0"/>
                    <a:sym typeface="Wingdings" panose="05000000000000000000" pitchFamily="2" charset="2"/>
                  </a:rPr>
                  <a:t>Time</a:t>
                </a:r>
                <a:endParaRPr lang="en-US" dirty="0">
                  <a:solidFill>
                    <a:schemeClr val="bg2"/>
                  </a:solidFill>
                  <a:latin typeface="Century Gothic" panose="020B0502020202020204" pitchFamily="34" charset="0"/>
                  <a:cs typeface="Calibri" panose="020F0502020204030204" pitchFamily="34" charset="0"/>
                  <a:sym typeface="Wingdings" panose="05000000000000000000" pitchFamily="2" charset="2"/>
                </a:endParaRPr>
              </a:p>
            </p:txBody>
          </p:sp>
        </p:grpSp>
        <p:grpSp>
          <p:nvGrpSpPr>
            <p:cNvPr id="42" name="Group 41">
              <a:extLst>
                <a:ext uri="{FF2B5EF4-FFF2-40B4-BE49-F238E27FC236}">
                  <a16:creationId xmlns="" xmlns:a16="http://schemas.microsoft.com/office/drawing/2014/main" id="{B438BF90-9DC9-7447-A20C-BE6FE88FA4E5}"/>
                </a:ext>
              </a:extLst>
            </p:cNvPr>
            <p:cNvGrpSpPr/>
            <p:nvPr/>
          </p:nvGrpSpPr>
          <p:grpSpPr>
            <a:xfrm>
              <a:off x="4765035" y="5314075"/>
              <a:ext cx="1891865" cy="938832"/>
              <a:chOff x="6420023" y="4438750"/>
              <a:chExt cx="1891865" cy="938832"/>
            </a:xfrm>
          </p:grpSpPr>
          <p:sp>
            <p:nvSpPr>
              <p:cNvPr id="43" name="Bent-Up Arrow 42">
                <a:extLst>
                  <a:ext uri="{FF2B5EF4-FFF2-40B4-BE49-F238E27FC236}">
                    <a16:creationId xmlns="" xmlns:a16="http://schemas.microsoft.com/office/drawing/2014/main" id="{DABE22E9-74EE-774E-8544-49B2D7919221}"/>
                  </a:ext>
                </a:extLst>
              </p:cNvPr>
              <p:cNvSpPr/>
              <p:nvPr/>
            </p:nvSpPr>
            <p:spPr>
              <a:xfrm>
                <a:off x="6436420" y="4438750"/>
                <a:ext cx="1153915" cy="486831"/>
              </a:xfrm>
              <a:prstGeom prst="bentUpArrow">
                <a:avLst>
                  <a:gd name="adj1" fmla="val 15490"/>
                  <a:gd name="adj2" fmla="val 25000"/>
                  <a:gd name="adj3" fmla="val 29755"/>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 xmlns:a16="http://schemas.microsoft.com/office/drawing/2014/main" id="{FC5C6F9F-C35C-5947-BA46-092C82EB02D0}"/>
                  </a:ext>
                </a:extLst>
              </p:cNvPr>
              <p:cNvSpPr txBox="1"/>
              <p:nvPr/>
            </p:nvSpPr>
            <p:spPr>
              <a:xfrm>
                <a:off x="6420023" y="5008250"/>
                <a:ext cx="1891865" cy="369332"/>
              </a:xfrm>
              <a:prstGeom prst="rect">
                <a:avLst/>
              </a:prstGeom>
              <a:noFill/>
            </p:spPr>
            <p:txBody>
              <a:bodyPr wrap="none" rtlCol="0">
                <a:spAutoFit/>
              </a:bodyPr>
              <a:lstStyle/>
              <a:p>
                <a:r>
                  <a:rPr lang="en-US" dirty="0">
                    <a:solidFill>
                      <a:srgbClr val="FF0000"/>
                    </a:solidFill>
                    <a:latin typeface="Century Gothic" panose="020B0502020202020204" pitchFamily="34" charset="0"/>
                  </a:rPr>
                  <a:t>Must be before</a:t>
                </a:r>
              </a:p>
            </p:txBody>
          </p:sp>
        </p:grpSp>
      </p:grpSp>
    </p:spTree>
    <p:extLst>
      <p:ext uri="{BB962C8B-B14F-4D97-AF65-F5344CB8AC3E}">
        <p14:creationId xmlns:p14="http://schemas.microsoft.com/office/powerpoint/2010/main" val="161393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left)">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left)">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dissolv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wipe(left)">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ectangle 11"/>
              <p:cNvSpPr/>
              <p:nvPr/>
            </p:nvSpPr>
            <p:spPr>
              <a:xfrm>
                <a:off x="5486400" y="2156397"/>
                <a:ext cx="2575129" cy="6585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2400" i="1" smtClean="0">
                              <a:solidFill>
                                <a:schemeClr val="tx1"/>
                              </a:solidFill>
                              <a:latin typeface="Cambria Math" charset="0"/>
                              <a:cs typeface="Calibri" panose="020F0502020204030204" pitchFamily="34" charset="0"/>
                            </a:rPr>
                          </m:ctrlPr>
                        </m:accPr>
                        <m:e>
                          <m:r>
                            <a:rPr lang="en-US" sz="2400" i="1">
                              <a:solidFill>
                                <a:schemeClr val="tx1"/>
                              </a:solidFill>
                              <a:latin typeface="Cambria Math" panose="02040503050406030204" pitchFamily="18" charset="0"/>
                              <a:cs typeface="Calibri" panose="020F0502020204030204" pitchFamily="34" charset="0"/>
                            </a:rPr>
                            <m:t>𝑌</m:t>
                          </m:r>
                        </m:e>
                      </m:acc>
                      <m:r>
                        <a:rPr lang="en-US" sz="2400" i="1">
                          <a:solidFill>
                            <a:schemeClr val="tx1"/>
                          </a:solidFill>
                          <a:latin typeface="Cambria Math" panose="02040503050406030204" pitchFamily="18" charset="0"/>
                          <a:cs typeface="Calibri" panose="020F0502020204030204" pitchFamily="34" charset="0"/>
                        </a:rPr>
                        <m:t>=</m:t>
                      </m:r>
                      <m:func>
                        <m:funcPr>
                          <m:ctrlPr>
                            <a:rPr lang="en-US" sz="2400" i="1">
                              <a:solidFill>
                                <a:schemeClr val="tx1"/>
                              </a:solidFill>
                              <a:latin typeface="Cambria Math" charset="0"/>
                              <a:cs typeface="Calibri" panose="020F0502020204030204" pitchFamily="34" charset="0"/>
                            </a:rPr>
                          </m:ctrlPr>
                        </m:funcPr>
                        <m:fName>
                          <m:limLow>
                            <m:limLowPr>
                              <m:ctrlPr>
                                <a:rPr lang="en-US" sz="2400" i="1">
                                  <a:solidFill>
                                    <a:schemeClr val="tx1"/>
                                  </a:solidFill>
                                  <a:latin typeface="Cambria Math" charset="0"/>
                                  <a:cs typeface="Calibri" panose="020F0502020204030204" pitchFamily="34" charset="0"/>
                                </a:rPr>
                              </m:ctrlPr>
                            </m:limLowPr>
                            <m:e>
                              <m:r>
                                <m:rPr>
                                  <m:sty m:val="p"/>
                                </m:rPr>
                                <a:rPr lang="en-US" sz="2400">
                                  <a:solidFill>
                                    <a:schemeClr val="tx1"/>
                                  </a:solidFill>
                                  <a:latin typeface="Cambria Math" panose="02040503050406030204" pitchFamily="18" charset="0"/>
                                  <a:cs typeface="Calibri" panose="020F0502020204030204" pitchFamily="34" charset="0"/>
                                </a:rPr>
                                <m:t>argmax</m:t>
                              </m:r>
                            </m:e>
                            <m:lim>
                              <m:r>
                                <a:rPr lang="en-US" sz="2400" i="1">
                                  <a:solidFill>
                                    <a:schemeClr val="tx1"/>
                                  </a:solidFill>
                                  <a:latin typeface="Cambria Math" panose="02040503050406030204" pitchFamily="18" charset="0"/>
                                  <a:cs typeface="Calibri" panose="020F0502020204030204" pitchFamily="34" charset="0"/>
                                </a:rPr>
                                <m:t>𝑌</m:t>
                              </m:r>
                              <m:r>
                                <a:rPr lang="en-US" sz="2400" i="1" dirty="0">
                                  <a:solidFill>
                                    <a:schemeClr val="tx1"/>
                                  </a:solidFill>
                                  <a:latin typeface="Cambria Math" panose="02040503050406030204" pitchFamily="18" charset="0"/>
                                  <a:cs typeface="Calibri" panose="020F0502020204030204" pitchFamily="34" charset="0"/>
                                </a:rPr>
                                <m:t>∈</m:t>
                              </m:r>
                              <m:r>
                                <a:rPr lang="en-US" sz="2400" i="1" dirty="0">
                                  <a:solidFill>
                                    <a:schemeClr val="tx1"/>
                                  </a:solidFill>
                                  <a:latin typeface="Cambria Math" panose="02040503050406030204" pitchFamily="18" charset="0"/>
                                  <a:cs typeface="Calibri" panose="020F0502020204030204" pitchFamily="34" charset="0"/>
                                </a:rPr>
                                <m:t>𝒞</m:t>
                              </m:r>
                            </m:lim>
                          </m:limLow>
                        </m:fName>
                        <m:e>
                          <m:sSup>
                            <m:sSupPr>
                              <m:ctrlPr>
                                <a:rPr lang="en-US" sz="2400" i="1">
                                  <a:solidFill>
                                    <a:schemeClr val="tx1"/>
                                  </a:solidFill>
                                  <a:latin typeface="Cambria Math" charset="0"/>
                                  <a:cs typeface="Calibri" panose="020F0502020204030204" pitchFamily="34" charset="0"/>
                                </a:rPr>
                              </m:ctrlPr>
                            </m:sSupPr>
                            <m:e>
                              <m:r>
                                <a:rPr lang="en-US" sz="2400" i="1">
                                  <a:solidFill>
                                    <a:schemeClr val="tx1"/>
                                  </a:solidFill>
                                  <a:latin typeface="Cambria Math" panose="02040503050406030204" pitchFamily="18" charset="0"/>
                                  <a:cs typeface="Calibri" panose="020F0502020204030204" pitchFamily="34" charset="0"/>
                                </a:rPr>
                                <m:t>𝑊</m:t>
                              </m:r>
                            </m:e>
                            <m:sup>
                              <m:r>
                                <a:rPr lang="en-US" sz="2400" i="1">
                                  <a:solidFill>
                                    <a:schemeClr val="tx1"/>
                                  </a:solidFill>
                                  <a:latin typeface="Cambria Math" panose="02040503050406030204" pitchFamily="18" charset="0"/>
                                  <a:cs typeface="Calibri" panose="020F0502020204030204" pitchFamily="34" charset="0"/>
                                </a:rPr>
                                <m:t>𝑇</m:t>
                              </m:r>
                            </m:sup>
                          </m:sSup>
                          <m:r>
                            <a:rPr lang="en-US" sz="2400" i="1">
                              <a:solidFill>
                                <a:schemeClr val="tx1"/>
                              </a:solidFill>
                              <a:latin typeface="Cambria Math" panose="02040503050406030204" pitchFamily="18" charset="0"/>
                              <a:cs typeface="Calibri" panose="020F0502020204030204" pitchFamily="34" charset="0"/>
                            </a:rPr>
                            <m:t>𝑋</m:t>
                          </m:r>
                        </m:e>
                      </m:func>
                    </m:oMath>
                  </m:oMathPara>
                </a14:m>
                <a:endParaRPr lang="en-US" dirty="0">
                  <a:solidFill>
                    <a:schemeClr val="tx1"/>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5486400" y="2156397"/>
                <a:ext cx="2575129" cy="658514"/>
              </a:xfrm>
              <a:prstGeom prst="rect">
                <a:avLst/>
              </a:prstGeom>
              <a:blipFill>
                <a:blip r:embed="rId3"/>
                <a:stretch>
                  <a:fillRect t="-5660" b="-1887"/>
                </a:stretch>
              </a:blipFill>
            </p:spPr>
            <p:txBody>
              <a:bodyPr/>
              <a:lstStyle/>
              <a:p>
                <a:r>
                  <a:rPr lang="en-US">
                    <a:noFill/>
                  </a:rPr>
                  <a:t> </a:t>
                </a:r>
              </a:p>
            </p:txBody>
          </p:sp>
        </mc:Fallback>
      </mc:AlternateContent>
      <p:sp>
        <p:nvSpPr>
          <p:cNvPr id="2" name="Title 1">
            <a:extLst>
              <a:ext uri="{FF2B5EF4-FFF2-40B4-BE49-F238E27FC236}">
                <a16:creationId xmlns="" xmlns:a16="http://schemas.microsoft.com/office/drawing/2014/main" id="{11B7D0D8-B826-48CD-9D53-969F5987D9E6}"/>
              </a:ext>
            </a:extLst>
          </p:cNvPr>
          <p:cNvSpPr>
            <a:spLocks noGrp="1"/>
          </p:cNvSpPr>
          <p:nvPr>
            <p:ph type="title"/>
          </p:nvPr>
        </p:nvSpPr>
        <p:spPr>
          <a:xfrm>
            <a:off x="630238" y="-76200"/>
            <a:ext cx="7886700" cy="1325563"/>
          </a:xfrm>
        </p:spPr>
        <p:txBody>
          <a:bodyPr/>
          <a:lstStyle/>
          <a:p>
            <a:r>
              <a:rPr lang="en-US" dirty="0"/>
              <a:t>Structured (global) Learning</a:t>
            </a:r>
          </a:p>
        </p:txBody>
      </p:sp>
      <p:sp>
        <p:nvSpPr>
          <p:cNvPr id="8" name="Text Placeholder 7">
            <a:extLst>
              <a:ext uri="{FF2B5EF4-FFF2-40B4-BE49-F238E27FC236}">
                <a16:creationId xmlns="" xmlns:a16="http://schemas.microsoft.com/office/drawing/2014/main" id="{8D1916CC-EAD4-4EA7-A445-F8159943258B}"/>
              </a:ext>
            </a:extLst>
          </p:cNvPr>
          <p:cNvSpPr>
            <a:spLocks noGrp="1"/>
          </p:cNvSpPr>
          <p:nvPr>
            <p:ph type="body" idx="1"/>
          </p:nvPr>
        </p:nvSpPr>
        <p:spPr>
          <a:xfrm>
            <a:off x="630238" y="1239838"/>
            <a:ext cx="3868737" cy="452437"/>
          </a:xfrm>
        </p:spPr>
        <p:txBody>
          <a:bodyPr/>
          <a:lstStyle/>
          <a:p>
            <a:r>
              <a:rPr lang="en-US" dirty="0"/>
              <a:t>Local Learning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57B0DF5D-F9CD-4391-92A9-7600F2154229}"/>
                  </a:ext>
                </a:extLst>
              </p:cNvPr>
              <p:cNvSpPr>
                <a:spLocks noGrp="1"/>
              </p:cNvSpPr>
              <p:nvPr>
                <p:ph sz="half" idx="2"/>
              </p:nvPr>
            </p:nvSpPr>
            <p:spPr>
              <a:xfrm>
                <a:off x="630238" y="1692275"/>
                <a:ext cx="3868737" cy="4056063"/>
              </a:xfrm>
            </p:spPr>
            <p:txBody>
              <a:bodyPr/>
              <a:lstStyle/>
              <a:p>
                <a:pPr marL="0" indent="0">
                  <a:buNone/>
                </a:pPr>
                <a:r>
                  <a:rPr lang="en-US" sz="2400" dirty="0"/>
                  <a:t>For each </a:t>
                </a:r>
                <a14:m>
                  <m:oMath xmlns:m="http://schemas.openxmlformats.org/officeDocument/2006/math">
                    <m:d>
                      <m:dPr>
                        <m:ctrlPr>
                          <a:rPr lang="en-US" sz="2400" b="0" i="1" smtClean="0">
                            <a:latin typeface="Cambria Math"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e>
                    </m:d>
                  </m:oMath>
                </a14:m>
                <a:endParaRPr lang="en-US" sz="2400" b="0" dirty="0"/>
              </a:p>
              <a:p>
                <a:pPr marL="0" indent="0">
                  <a:buNone/>
                </a:pPr>
                <a:r>
                  <a:rPr lang="en-US" sz="2400" dirty="0"/>
                  <a:t>	</a:t>
                </a:r>
                <a14:m>
                  <m:oMath xmlns:m="http://schemas.openxmlformats.org/officeDocument/2006/math">
                    <m:acc>
                      <m:accPr>
                        <m:chr m:val="̂"/>
                        <m:ctrlPr>
                          <a:rPr lang="en-US" sz="2400" b="0" i="1" smtClean="0">
                            <a:latin typeface="Cambria Math" charset="0"/>
                          </a:rPr>
                        </m:ctrlPr>
                      </m:accPr>
                      <m:e>
                        <m:r>
                          <a:rPr lang="en-US" sz="2400" b="0" i="1" smtClean="0">
                            <a:latin typeface="Cambria Math" panose="02040503050406030204" pitchFamily="18" charset="0"/>
                          </a:rPr>
                          <m:t>𝑦</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𝑠𝑔𝑛</m:t>
                    </m:r>
                    <m:r>
                      <a:rPr lang="en-US" sz="2400" b="0" i="1" dirty="0" smtClean="0">
                        <a:latin typeface="Cambria Math" panose="02040503050406030204" pitchFamily="18" charset="0"/>
                      </a:rPr>
                      <m:t>(</m:t>
                    </m:r>
                    <m:sSup>
                      <m:sSupPr>
                        <m:ctrlPr>
                          <a:rPr lang="en-US" sz="2400" b="0" i="1" dirty="0" smtClean="0">
                            <a:latin typeface="Cambria Math" charset="0"/>
                          </a:rPr>
                        </m:ctrlPr>
                      </m:sSupPr>
                      <m:e>
                        <m:r>
                          <a:rPr lang="en-US" sz="2400" b="0" i="1" dirty="0" smtClean="0">
                            <a:latin typeface="Cambria Math" panose="02040503050406030204" pitchFamily="18" charset="0"/>
                          </a:rPr>
                          <m:t>𝑤</m:t>
                        </m:r>
                      </m:e>
                      <m:sup>
                        <m:r>
                          <a:rPr lang="en-US" sz="2400" b="0" i="1" dirty="0" smtClean="0">
                            <a:latin typeface="Cambria Math" panose="02040503050406030204" pitchFamily="18" charset="0"/>
                          </a:rPr>
                          <m:t>𝑇</m:t>
                        </m:r>
                      </m:sup>
                    </m:sSup>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oMath>
                </a14:m>
                <a:endParaRPr lang="en-US" sz="2400" dirty="0"/>
              </a:p>
              <a:p>
                <a:pPr marL="0" indent="0">
                  <a:buNone/>
                </a:pPr>
                <a:r>
                  <a:rPr lang="en-US" sz="2400" dirty="0"/>
                  <a:t>	If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acc>
                      <m:accPr>
                        <m:chr m:val="̂"/>
                        <m:ctrlPr>
                          <a:rPr lang="en-US" sz="2400" b="0" i="1" smtClean="0">
                            <a:latin typeface="Cambria Math" charset="0"/>
                          </a:rPr>
                        </m:ctrlPr>
                      </m:accPr>
                      <m:e>
                        <m:r>
                          <a:rPr lang="en-US" sz="2400" b="0" i="1" smtClean="0">
                            <a:latin typeface="Cambria Math" panose="02040503050406030204" pitchFamily="18" charset="0"/>
                          </a:rPr>
                          <m:t>𝑦</m:t>
                        </m:r>
                      </m:e>
                    </m:acc>
                  </m:oMath>
                </a14:m>
                <a:endParaRPr lang="en-US" sz="2400" b="0" dirty="0"/>
              </a:p>
              <a:p>
                <a:pPr marL="0" indent="0">
                  <a:buNone/>
                </a:pPr>
                <a:r>
                  <a:rPr lang="en-US" sz="2400" dirty="0"/>
                  <a:t>		Update </a:t>
                </a:r>
                <a14:m>
                  <m:oMath xmlns:m="http://schemas.openxmlformats.org/officeDocument/2006/math">
                    <m:r>
                      <a:rPr lang="en-US" sz="2400" b="0" i="1" smtClean="0">
                        <a:latin typeface="Cambria Math" panose="02040503050406030204" pitchFamily="18" charset="0"/>
                      </a:rPr>
                      <m:t>𝑤</m:t>
                    </m:r>
                  </m:oMath>
                </a14:m>
                <a:endParaRPr lang="en-US" sz="2400" dirty="0"/>
              </a:p>
              <a:p>
                <a:r>
                  <a:rPr lang="en-US" sz="2400" dirty="0"/>
                  <a:t> </a:t>
                </a:r>
                <a14:m>
                  <m:oMath xmlns:m="http://schemas.openxmlformats.org/officeDocument/2006/math">
                    <m:r>
                      <a:rPr lang="en-US" sz="2400" b="0" i="0"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𝑦</m:t>
                    </m:r>
                    <m:r>
                      <a:rPr lang="en-US" sz="2400" b="0" i="1" smtClean="0">
                        <a:latin typeface="Cambria Math" panose="02040503050406030204" pitchFamily="18" charset="0"/>
                      </a:rPr>
                      <m:t>)</m:t>
                    </m:r>
                  </m:oMath>
                </a14:m>
                <a:r>
                  <a:rPr lang="en-US" sz="2400" dirty="0"/>
                  <a:t>: feature and label for </a:t>
                </a:r>
                <a:r>
                  <a:rPr lang="en-US" sz="2400" b="1" dirty="0"/>
                  <a:t>a single pair of events</a:t>
                </a:r>
              </a:p>
              <a:p>
                <a:r>
                  <a:rPr lang="en-US" sz="2400" b="1" dirty="0"/>
                  <a:t>Unaware </a:t>
                </a:r>
                <a:r>
                  <a:rPr lang="en-US" sz="2400" dirty="0"/>
                  <a:t>of decisions in other pairs. </a:t>
                </a:r>
              </a:p>
              <a:p>
                <a:endParaRPr lang="en-US" sz="2400" b="1" dirty="0"/>
              </a:p>
              <a:p>
                <a:endParaRPr lang="en-US" sz="2400" dirty="0"/>
              </a:p>
              <a:p>
                <a:endParaRPr lang="en-US" sz="2400" dirty="0"/>
              </a:p>
            </p:txBody>
          </p:sp>
        </mc:Choice>
        <mc:Fallback xmlns="">
          <p:sp>
            <p:nvSpPr>
              <p:cNvPr id="3" name="Content Placeholder 2">
                <a:extLst>
                  <a:ext uri="{FF2B5EF4-FFF2-40B4-BE49-F238E27FC236}">
                    <a16:creationId xmlns:a16="http://schemas.microsoft.com/office/drawing/2014/main" id="{57B0DF5D-F9CD-4391-92A9-7600F2154229}"/>
                  </a:ext>
                </a:extLst>
              </p:cNvPr>
              <p:cNvSpPr>
                <a:spLocks noGrp="1" noRot="1" noChangeAspect="1" noMove="1" noResize="1" noEditPoints="1" noAdjustHandles="1" noChangeArrowheads="1" noChangeShapeType="1" noTextEdit="1"/>
              </p:cNvSpPr>
              <p:nvPr>
                <p:ph sz="half" idx="2"/>
              </p:nvPr>
            </p:nvSpPr>
            <p:spPr>
              <a:xfrm>
                <a:off x="630238" y="1692275"/>
                <a:ext cx="3868737" cy="4056063"/>
              </a:xfrm>
              <a:blipFill>
                <a:blip r:embed="rId4"/>
                <a:stretch>
                  <a:fillRect l="-2295" t="-935"/>
                </a:stretch>
              </a:blipFill>
            </p:spPr>
            <p:txBody>
              <a:bodyPr/>
              <a:lstStyle/>
              <a:p>
                <a:r>
                  <a:rPr lang="en-US">
                    <a:noFill/>
                  </a:rPr>
                  <a:t> </a:t>
                </a:r>
              </a:p>
            </p:txBody>
          </p:sp>
        </mc:Fallback>
      </mc:AlternateContent>
      <p:sp>
        <p:nvSpPr>
          <p:cNvPr id="9" name="Text Placeholder 8">
            <a:extLst>
              <a:ext uri="{FF2B5EF4-FFF2-40B4-BE49-F238E27FC236}">
                <a16:creationId xmlns="" xmlns:a16="http://schemas.microsoft.com/office/drawing/2014/main" id="{87B91A4A-D7F6-49DC-91A6-0AB078951FB2}"/>
              </a:ext>
            </a:extLst>
          </p:cNvPr>
          <p:cNvSpPr>
            <a:spLocks noGrp="1"/>
          </p:cNvSpPr>
          <p:nvPr>
            <p:ph type="body" sz="quarter" idx="3"/>
          </p:nvPr>
        </p:nvSpPr>
        <p:spPr>
          <a:xfrm>
            <a:off x="4629150" y="1239838"/>
            <a:ext cx="3887788" cy="452437"/>
          </a:xfrm>
        </p:spPr>
        <p:txBody>
          <a:bodyPr/>
          <a:lstStyle/>
          <a:p>
            <a:r>
              <a:rPr lang="en-US" dirty="0"/>
              <a:t>Structured Learning</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 xmlns:a16="http://schemas.microsoft.com/office/drawing/2014/main" id="{153DE9B1-AEC7-40D3-BED1-67BAA91B38D6}"/>
                  </a:ext>
                </a:extLst>
              </p:cNvPr>
              <p:cNvSpPr>
                <a:spLocks noGrp="1"/>
              </p:cNvSpPr>
              <p:nvPr>
                <p:ph sz="quarter" idx="4"/>
              </p:nvPr>
            </p:nvSpPr>
            <p:spPr>
              <a:xfrm>
                <a:off x="4629150" y="1692275"/>
                <a:ext cx="3887788" cy="4479925"/>
              </a:xfrm>
            </p:spPr>
            <p:txBody>
              <a:bodyPr/>
              <a:lstStyle/>
              <a:p>
                <a:pPr marL="0" indent="0">
                  <a:buNone/>
                </a:pPr>
                <a:r>
                  <a:rPr lang="en-US" sz="2400" dirty="0"/>
                  <a:t>For each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m:t>
                    </m:r>
                  </m:oMath>
                </a14:m>
                <a:endParaRPr lang="en-US" sz="2400" dirty="0"/>
              </a:p>
              <a:p>
                <a:pPr marL="0" indent="0">
                  <a:buNone/>
                </a:pPr>
                <a:r>
                  <a:rPr lang="en-US" sz="2400" dirty="0"/>
                  <a:t>	</a:t>
                </a:r>
                <a14:m>
                  <m:oMath xmlns:m="http://schemas.openxmlformats.org/officeDocument/2006/math">
                    <m:acc>
                      <m:accPr>
                        <m:chr m:val="̂"/>
                        <m:ctrlPr>
                          <a:rPr lang="en-US" sz="2400" b="0" i="1" smtClean="0">
                            <a:latin typeface="Cambria Math" charset="0"/>
                          </a:rPr>
                        </m:ctrlPr>
                      </m:accPr>
                      <m:e>
                        <m:r>
                          <a:rPr lang="en-US" sz="2400" b="0" i="1" smtClean="0">
                            <a:latin typeface="Cambria Math" panose="02040503050406030204" pitchFamily="18" charset="0"/>
                          </a:rPr>
                          <m:t>𝑌</m:t>
                        </m:r>
                      </m:e>
                    </m:acc>
                    <m:r>
                      <a:rPr lang="en-US" sz="2400" b="0" i="1" smtClean="0">
                        <a:latin typeface="Cambria Math" panose="02040503050406030204" pitchFamily="18" charset="0"/>
                      </a:rPr>
                      <m:t>=</m:t>
                    </m:r>
                  </m:oMath>
                </a14:m>
                <a:r>
                  <a:rPr lang="en-US" sz="2400" dirty="0"/>
                  <a:t>“solution to ILP”</a:t>
                </a:r>
              </a:p>
              <a:p>
                <a:pPr marL="0" indent="0">
                  <a:buNone/>
                </a:pPr>
                <a:r>
                  <a:rPr lang="en-US" sz="2400" dirty="0"/>
                  <a:t>	If </a:t>
                </a:r>
                <a14:m>
                  <m:oMath xmlns:m="http://schemas.openxmlformats.org/officeDocument/2006/math">
                    <m:r>
                      <a:rPr lang="en-US" sz="2400" b="0" i="1" smtClean="0">
                        <a:latin typeface="Cambria Math" panose="02040503050406030204" pitchFamily="18" charset="0"/>
                      </a:rPr>
                      <m:t>𝑌</m:t>
                    </m:r>
                    <m:r>
                      <a:rPr lang="en-US" sz="2400" b="0" i="1" smtClean="0">
                        <a:latin typeface="Cambria Math" panose="02040503050406030204" pitchFamily="18" charset="0"/>
                      </a:rPr>
                      <m:t>≠</m:t>
                    </m:r>
                    <m:acc>
                      <m:accPr>
                        <m:chr m:val="̂"/>
                        <m:ctrlPr>
                          <a:rPr lang="en-US" sz="2400" b="0" i="1" smtClean="0">
                            <a:latin typeface="Cambria Math" charset="0"/>
                          </a:rPr>
                        </m:ctrlPr>
                      </m:accPr>
                      <m:e>
                        <m:r>
                          <a:rPr lang="en-US" sz="2400" b="0" i="1" smtClean="0">
                            <a:latin typeface="Cambria Math" panose="02040503050406030204" pitchFamily="18" charset="0"/>
                          </a:rPr>
                          <m:t>𝑌</m:t>
                        </m:r>
                      </m:e>
                    </m:acc>
                  </m:oMath>
                </a14:m>
                <a:endParaRPr lang="en-US" sz="2400" b="0" dirty="0"/>
              </a:p>
              <a:p>
                <a:pPr marL="0" indent="0">
                  <a:buNone/>
                </a:pPr>
                <a:r>
                  <a:rPr lang="en-US" sz="2400" dirty="0"/>
                  <a:t>		Update </a:t>
                </a:r>
                <a14:m>
                  <m:oMath xmlns:m="http://schemas.openxmlformats.org/officeDocument/2006/math">
                    <m:r>
                      <a:rPr lang="en-US" sz="2400" b="0" i="1" smtClean="0">
                        <a:latin typeface="Cambria Math" panose="02040503050406030204" pitchFamily="18" charset="0"/>
                      </a:rPr>
                      <m:t>𝑊</m:t>
                    </m:r>
                  </m:oMath>
                </a14:m>
                <a:endParaRPr lang="en-US" sz="2400" dirty="0"/>
              </a:p>
              <a:p>
                <a14:m>
                  <m:oMath xmlns:m="http://schemas.openxmlformats.org/officeDocument/2006/math">
                    <m:d>
                      <m:dPr>
                        <m:ctrlPr>
                          <a:rPr lang="en-US" sz="2400" b="0" i="1" smtClean="0">
                            <a:latin typeface="Cambria Math"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𝑌</m:t>
                        </m:r>
                      </m:e>
                    </m:d>
                  </m:oMath>
                </a14:m>
                <a:r>
                  <a:rPr lang="en-US" sz="2400" dirty="0"/>
                  <a:t>: features and labels from </a:t>
                </a:r>
                <a:r>
                  <a:rPr lang="en-US" sz="2400" b="1" dirty="0"/>
                  <a:t>the entire situation</a:t>
                </a:r>
              </a:p>
              <a:p>
                <a:r>
                  <a:rPr lang="en-US" sz="2400" b="1" dirty="0"/>
                  <a:t>Aware </a:t>
                </a:r>
                <a:r>
                  <a:rPr lang="en-US" sz="2400" dirty="0"/>
                  <a:t>of other pairs due to global inference in-between</a:t>
                </a:r>
                <a:endParaRPr lang="en-US" sz="2400" b="1" dirty="0"/>
              </a:p>
            </p:txBody>
          </p:sp>
        </mc:Choice>
        <mc:Fallback xmlns="">
          <p:sp>
            <p:nvSpPr>
              <p:cNvPr id="10" name="Content Placeholder 9">
                <a:extLst>
                  <a:ext uri="{FF2B5EF4-FFF2-40B4-BE49-F238E27FC236}">
                    <a16:creationId xmlns:a16="http://schemas.microsoft.com/office/drawing/2014/main" id="{153DE9B1-AEC7-40D3-BED1-67BAA91B38D6}"/>
                  </a:ext>
                </a:extLst>
              </p:cNvPr>
              <p:cNvSpPr>
                <a:spLocks noGrp="1" noRot="1" noChangeAspect="1" noMove="1" noResize="1" noEditPoints="1" noAdjustHandles="1" noChangeArrowheads="1" noChangeShapeType="1" noTextEdit="1"/>
              </p:cNvSpPr>
              <p:nvPr>
                <p:ph sz="quarter" idx="4"/>
              </p:nvPr>
            </p:nvSpPr>
            <p:spPr>
              <a:xfrm>
                <a:off x="4629150" y="1692275"/>
                <a:ext cx="3887788" cy="4479925"/>
              </a:xfrm>
              <a:blipFill>
                <a:blip r:embed="rId5"/>
                <a:stretch>
                  <a:fillRect l="-2280" t="-847" r="-1954"/>
                </a:stretch>
              </a:blipFill>
            </p:spPr>
            <p:txBody>
              <a:bodyPr/>
              <a:lstStyle/>
              <a:p>
                <a:r>
                  <a:rPr lang="en-US">
                    <a:noFill/>
                  </a:rPr>
                  <a:t> </a:t>
                </a:r>
              </a:p>
            </p:txBody>
          </p:sp>
        </mc:Fallback>
      </mc:AlternateContent>
      <p:sp>
        <p:nvSpPr>
          <p:cNvPr id="11" name="Rounded Rectangle 10">
            <a:extLst>
              <a:ext uri="{FF2B5EF4-FFF2-40B4-BE49-F238E27FC236}">
                <a16:creationId xmlns="" xmlns:a16="http://schemas.microsoft.com/office/drawing/2014/main" id="{1DF243D1-2C10-4AB6-BD25-D5EAB4CC6A55}"/>
              </a:ext>
            </a:extLst>
          </p:cNvPr>
          <p:cNvSpPr/>
          <p:nvPr/>
        </p:nvSpPr>
        <p:spPr>
          <a:xfrm>
            <a:off x="5357967" y="2158127"/>
            <a:ext cx="3155795" cy="407274"/>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 xmlns:a16="http://schemas.microsoft.com/office/drawing/2014/main" id="{C28CDFB1-FA75-FB4F-9AAD-87B90DFC8F54}"/>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4" name="TextBox 3">
            <a:extLst>
              <a:ext uri="{FF2B5EF4-FFF2-40B4-BE49-F238E27FC236}">
                <a16:creationId xmlns="" xmlns:a16="http://schemas.microsoft.com/office/drawing/2014/main" id="{38BB9873-5E56-7D4C-B79F-08AEF9A4859C}"/>
              </a:ext>
            </a:extLst>
          </p:cNvPr>
          <p:cNvSpPr txBox="1"/>
          <p:nvPr/>
        </p:nvSpPr>
        <p:spPr>
          <a:xfrm>
            <a:off x="7543800" y="1296758"/>
            <a:ext cx="1697901" cy="369332"/>
          </a:xfrm>
          <a:prstGeom prst="rect">
            <a:avLst/>
          </a:prstGeom>
          <a:noFill/>
        </p:spPr>
        <p:txBody>
          <a:bodyPr wrap="none" rtlCol="0">
            <a:spAutoFit/>
          </a:bodyPr>
          <a:lstStyle/>
          <a:p>
            <a:r>
              <a:rPr lang="en-US" i="1" dirty="0">
                <a:solidFill>
                  <a:schemeClr val="bg2"/>
                </a:solidFill>
                <a:latin typeface="Century Gothic" panose="020B0502020202020204" pitchFamily="34" charset="0"/>
              </a:rPr>
              <a:t>[Collins, 2002]</a:t>
            </a:r>
          </a:p>
        </p:txBody>
      </p:sp>
    </p:spTree>
    <p:extLst>
      <p:ext uri="{BB962C8B-B14F-4D97-AF65-F5344CB8AC3E}">
        <p14:creationId xmlns:p14="http://schemas.microsoft.com/office/powerpoint/2010/main" val="58124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fade">
                                      <p:cBhvr>
                                        <p:cTn id="10" dur="500"/>
                                        <p:tgtEl>
                                          <p:spTgt spid="10">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Effect transition="in" filter="fade">
                                      <p:cBhvr>
                                        <p:cTn id="24" dur="500"/>
                                        <p:tgtEl>
                                          <p:spTgt spid="10">
                                            <p:txEl>
                                              <p:pRg st="2" end="2"/>
                                            </p:txEl>
                                          </p:spTgt>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xEl>
                                              <p:pRg st="3" end="3"/>
                                            </p:txEl>
                                          </p:spTgt>
                                        </p:tgtEl>
                                        <p:attrNameLst>
                                          <p:attrName>style.visibility</p:attrName>
                                        </p:attrNameLst>
                                      </p:cBhvr>
                                      <p:to>
                                        <p:strVal val="visible"/>
                                      </p:to>
                                    </p:set>
                                    <p:animEffect transition="in" filter="fade">
                                      <p:cBhvr>
                                        <p:cTn id="31" dur="500"/>
                                        <p:tgtEl>
                                          <p:spTgt spid="10">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dissolv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
                                            <p:txEl>
                                              <p:pRg st="4" end="4"/>
                                            </p:txEl>
                                          </p:spTgt>
                                        </p:tgtEl>
                                        <p:attrNameLst>
                                          <p:attrName>style.visibility</p:attrName>
                                        </p:attrNameLst>
                                      </p:cBhvr>
                                      <p:to>
                                        <p:strVal val="visible"/>
                                      </p:to>
                                    </p:set>
                                    <p:animEffect transition="in" filter="dissolve">
                                      <p:cBhvr>
                                        <p:cTn id="41" dur="500"/>
                                        <p:tgtEl>
                                          <p:spTgt spid="10">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3">
                                            <p:txEl>
                                              <p:pRg st="5" end="5"/>
                                            </p:txEl>
                                          </p:spTgt>
                                        </p:tgtEl>
                                        <p:attrNameLst>
                                          <p:attrName>style.visibility</p:attrName>
                                        </p:attrNameLst>
                                      </p:cBhvr>
                                      <p:to>
                                        <p:strVal val="visible"/>
                                      </p:to>
                                    </p:set>
                                    <p:animEffect transition="in" filter="dissolve">
                                      <p:cBhvr>
                                        <p:cTn id="46" dur="500"/>
                                        <p:tgtEl>
                                          <p:spTgt spid="3">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0">
                                            <p:txEl>
                                              <p:pRg st="5" end="5"/>
                                            </p:txEl>
                                          </p:spTgt>
                                        </p:tgtEl>
                                        <p:attrNameLst>
                                          <p:attrName>style.visibility</p:attrName>
                                        </p:attrNameLst>
                                      </p:cBhvr>
                                      <p:to>
                                        <p:strVal val="visible"/>
                                      </p:to>
                                    </p:set>
                                    <p:animEffect transition="in" filter="dissolve">
                                      <p:cBhvr>
                                        <p:cTn id="51" dur="500"/>
                                        <p:tgtEl>
                                          <p:spTgt spid="10">
                                            <p:txEl>
                                              <p:pRg st="5" end="5"/>
                                            </p:txEl>
                                          </p:spTgt>
                                        </p:tgtEl>
                                      </p:cBhvr>
                                    </p:animEffect>
                                  </p:childTnLst>
                                </p:cTn>
                              </p:par>
                            </p:childTnLst>
                          </p:cTn>
                        </p:par>
                        <p:par>
                          <p:cTn id="52" fill="hold">
                            <p:stCondLst>
                              <p:cond delay="500"/>
                            </p:stCondLst>
                            <p:childTnLst>
                              <p:par>
                                <p:cTn id="53" presetID="22" presetClass="entr" presetSubtype="1"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up)">
                                      <p:cBhvr>
                                        <p:cTn id="5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 grpId="0" uiExpand="1" build="p"/>
      <p:bldP spid="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3F2613-70B0-4C0B-BAF1-9053EED9CF55}"/>
              </a:ext>
            </a:extLst>
          </p:cNvPr>
          <p:cNvSpPr>
            <a:spLocks noGrp="1"/>
          </p:cNvSpPr>
          <p:nvPr>
            <p:ph type="title"/>
          </p:nvPr>
        </p:nvSpPr>
        <p:spPr/>
        <p:txBody>
          <a:bodyPr/>
          <a:lstStyle/>
          <a:p>
            <a:r>
              <a:rPr lang="en-US" dirty="0"/>
              <a:t>Results</a:t>
            </a:r>
          </a:p>
        </p:txBody>
      </p:sp>
      <p:graphicFrame>
        <p:nvGraphicFramePr>
          <p:cNvPr id="7" name="Chart 6"/>
          <p:cNvGraphicFramePr/>
          <p:nvPr>
            <p:extLst>
              <p:ext uri="{D42A27DB-BD31-4B8C-83A1-F6EECF244321}">
                <p14:modId xmlns:p14="http://schemas.microsoft.com/office/powerpoint/2010/main" val="3023141519"/>
              </p:ext>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334000" y="2605121"/>
            <a:ext cx="2155615" cy="762000"/>
            <a:chOff x="5791200" y="2590800"/>
            <a:chExt cx="2155615"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079415"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a:t>
              </a:r>
            </a:p>
          </p:txBody>
        </p:sp>
      </p:grpSp>
      <p:sp>
        <p:nvSpPr>
          <p:cNvPr id="21" name="TextBox 20">
            <a:extLst>
              <a:ext uri="{FF2B5EF4-FFF2-40B4-BE49-F238E27FC236}">
                <a16:creationId xmlns="" xmlns:a16="http://schemas.microsoft.com/office/drawing/2014/main" id="{524E73CA-08B7-F84B-AFD1-ED1554955BD2}"/>
              </a:ext>
            </a:extLst>
          </p:cNvPr>
          <p:cNvSpPr txBox="1"/>
          <p:nvPr/>
        </p:nvSpPr>
        <p:spPr>
          <a:xfrm>
            <a:off x="5409327" y="3710245"/>
            <a:ext cx="176683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Local learning</a:t>
            </a:r>
          </a:p>
        </p:txBody>
      </p:sp>
      <p:cxnSp>
        <p:nvCxnSpPr>
          <p:cNvPr id="22" name="Straight Arrow Connector 21">
            <a:extLst>
              <a:ext uri="{FF2B5EF4-FFF2-40B4-BE49-F238E27FC236}">
                <a16:creationId xmlns="" xmlns:a16="http://schemas.microsoft.com/office/drawing/2014/main" id="{C2B6E344-0E0A-CC4C-9BC4-D46DCDBFBEFA}"/>
              </a:ext>
            </a:extLst>
          </p:cNvPr>
          <p:cNvCxnSpPr>
            <a:cxnSpLocks/>
          </p:cNvCxnSpPr>
          <p:nvPr/>
        </p:nvCxnSpPr>
        <p:spPr>
          <a:xfrm flipV="1">
            <a:off x="5334000" y="3355677"/>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 xmlns:a16="http://schemas.microsoft.com/office/drawing/2014/main" id="{530D261B-88BC-8344-BAA6-05EB21EA17C8}"/>
              </a:ext>
            </a:extLst>
          </p:cNvPr>
          <p:cNvSpPr txBox="1"/>
          <p:nvPr/>
        </p:nvSpPr>
        <p:spPr>
          <a:xfrm>
            <a:off x="1058894" y="6033700"/>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sp>
        <p:nvSpPr>
          <p:cNvPr id="14" name="Rectangle 13">
            <a:extLst>
              <a:ext uri="{FF2B5EF4-FFF2-40B4-BE49-F238E27FC236}">
                <a16:creationId xmlns="" xmlns:a16="http://schemas.microsoft.com/office/drawing/2014/main" id="{8A5982C1-ACA5-DD43-AABE-8E232EBB7B93}"/>
              </a:ext>
            </a:extLst>
          </p:cNvPr>
          <p:cNvSpPr/>
          <p:nvPr/>
        </p:nvSpPr>
        <p:spPr>
          <a:xfrm>
            <a:off x="4696536" y="5138616"/>
            <a:ext cx="3165211" cy="304774"/>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20" name="TextBox 19">
            <a:extLst>
              <a:ext uri="{FF2B5EF4-FFF2-40B4-BE49-F238E27FC236}">
                <a16:creationId xmlns="" xmlns:a16="http://schemas.microsoft.com/office/drawing/2014/main" id="{F5B7D7B5-9342-204A-AC9F-295399A5C820}"/>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12" name="TextBox 11">
            <a:extLst>
              <a:ext uri="{FF2B5EF4-FFF2-40B4-BE49-F238E27FC236}">
                <a16:creationId xmlns="" xmlns:a16="http://schemas.microsoft.com/office/drawing/2014/main" id="{2A5A5A5E-0BCF-D247-8D91-DC5564CF7D65}"/>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141402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3F2613-70B0-4C0B-BAF1-9053EED9CF55}"/>
              </a:ext>
            </a:extLst>
          </p:cNvPr>
          <p:cNvSpPr>
            <a:spLocks noGrp="1"/>
          </p:cNvSpPr>
          <p:nvPr>
            <p:ph type="title"/>
          </p:nvPr>
        </p:nvSpPr>
        <p:spPr/>
        <p:txBody>
          <a:bodyPr/>
          <a:lstStyle/>
          <a:p>
            <a:r>
              <a:rPr lang="en-US" dirty="0"/>
              <a:t>Results</a:t>
            </a:r>
          </a:p>
        </p:txBody>
      </p:sp>
      <p:graphicFrame>
        <p:nvGraphicFramePr>
          <p:cNvPr id="7" name="Chart 6"/>
          <p:cNvGraphicFramePr/>
          <p:nvPr>
            <p:extLst/>
          </p:nvPr>
        </p:nvGraphicFramePr>
        <p:xfrm>
          <a:off x="1219200" y="779584"/>
          <a:ext cx="6954672" cy="4783015"/>
        </p:xfrm>
        <a:graphic>
          <a:graphicData uri="http://schemas.openxmlformats.org/drawingml/2006/chart">
            <c:chart xmlns:c="http://schemas.openxmlformats.org/drawingml/2006/chart" xmlns:r="http://schemas.openxmlformats.org/officeDocument/2006/relationships" r:id="rId3"/>
          </a:graphicData>
        </a:graphic>
      </p:graphicFrame>
      <p:grpSp>
        <p:nvGrpSpPr>
          <p:cNvPr id="16" name="Group 15"/>
          <p:cNvGrpSpPr/>
          <p:nvPr/>
        </p:nvGrpSpPr>
        <p:grpSpPr>
          <a:xfrm>
            <a:off x="5334000" y="2605121"/>
            <a:ext cx="2686210" cy="762000"/>
            <a:chOff x="5791200" y="2590800"/>
            <a:chExt cx="2686210" cy="762000"/>
          </a:xfrm>
        </p:grpSpPr>
        <p:cxnSp>
          <p:nvCxnSpPr>
            <p:cNvPr id="13" name="Straight Arrow Connector 12"/>
            <p:cNvCxnSpPr/>
            <p:nvPr/>
          </p:nvCxnSpPr>
          <p:spPr>
            <a:xfrm flipV="1">
              <a:off x="5791200" y="2590800"/>
              <a:ext cx="0" cy="7620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67400" y="2787134"/>
              <a:ext cx="261001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Global inference (ILP)</a:t>
              </a:r>
            </a:p>
          </p:txBody>
        </p:sp>
      </p:grpSp>
      <p:grpSp>
        <p:nvGrpSpPr>
          <p:cNvPr id="18" name="Group 17"/>
          <p:cNvGrpSpPr/>
          <p:nvPr/>
        </p:nvGrpSpPr>
        <p:grpSpPr>
          <a:xfrm>
            <a:off x="5334000" y="1831176"/>
            <a:ext cx="2382369" cy="820030"/>
            <a:chOff x="6096000" y="1828800"/>
            <a:chExt cx="2382369" cy="820030"/>
          </a:xfrm>
        </p:grpSpPr>
        <p:cxnSp>
          <p:nvCxnSpPr>
            <p:cNvPr id="17" name="Straight Arrow Connector 16"/>
            <p:cNvCxnSpPr>
              <a:cxnSpLocks/>
            </p:cNvCxnSpPr>
            <p:nvPr/>
          </p:nvCxnSpPr>
          <p:spPr>
            <a:xfrm flipV="1">
              <a:off x="6096000" y="1828800"/>
              <a:ext cx="0" cy="82003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171327" y="1991303"/>
              <a:ext cx="230704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Structured learning</a:t>
              </a:r>
            </a:p>
          </p:txBody>
        </p:sp>
      </p:grpSp>
      <p:sp>
        <p:nvSpPr>
          <p:cNvPr id="21" name="TextBox 20">
            <a:extLst>
              <a:ext uri="{FF2B5EF4-FFF2-40B4-BE49-F238E27FC236}">
                <a16:creationId xmlns="" xmlns:a16="http://schemas.microsoft.com/office/drawing/2014/main" id="{524E73CA-08B7-F84B-AFD1-ED1554955BD2}"/>
              </a:ext>
            </a:extLst>
          </p:cNvPr>
          <p:cNvSpPr txBox="1"/>
          <p:nvPr/>
        </p:nvSpPr>
        <p:spPr>
          <a:xfrm>
            <a:off x="5409327" y="3710245"/>
            <a:ext cx="176683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Local learning</a:t>
            </a:r>
          </a:p>
        </p:txBody>
      </p:sp>
      <p:cxnSp>
        <p:nvCxnSpPr>
          <p:cNvPr id="22" name="Straight Arrow Connector 21">
            <a:extLst>
              <a:ext uri="{FF2B5EF4-FFF2-40B4-BE49-F238E27FC236}">
                <a16:creationId xmlns="" xmlns:a16="http://schemas.microsoft.com/office/drawing/2014/main" id="{C2B6E344-0E0A-CC4C-9BC4-D46DCDBFBEFA}"/>
              </a:ext>
            </a:extLst>
          </p:cNvPr>
          <p:cNvCxnSpPr>
            <a:cxnSpLocks/>
          </p:cNvCxnSpPr>
          <p:nvPr/>
        </p:nvCxnSpPr>
        <p:spPr>
          <a:xfrm flipV="1">
            <a:off x="5334000" y="3355677"/>
            <a:ext cx="0" cy="914400"/>
          </a:xfrm>
          <a:prstGeom prst="straightConnector1">
            <a:avLst/>
          </a:prstGeom>
          <a:ln w="38100">
            <a:solidFill>
              <a:schemeClr val="bg2"/>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 xmlns:a16="http://schemas.microsoft.com/office/drawing/2014/main" id="{530D261B-88BC-8344-BAA6-05EB21EA17C8}"/>
              </a:ext>
            </a:extLst>
          </p:cNvPr>
          <p:cNvSpPr txBox="1"/>
          <p:nvPr/>
        </p:nvSpPr>
        <p:spPr>
          <a:xfrm>
            <a:off x="1058894" y="6033700"/>
            <a:ext cx="7180171" cy="261610"/>
          </a:xfrm>
          <a:prstGeom prst="rect">
            <a:avLst/>
          </a:prstGeom>
          <a:noFill/>
        </p:spPr>
        <p:txBody>
          <a:bodyPr wrap="none" rtlCol="0">
            <a:spAutoFit/>
          </a:bodyPr>
          <a:lstStyle/>
          <a:p>
            <a:r>
              <a:rPr lang="en-US" sz="1100" i="1" dirty="0">
                <a:solidFill>
                  <a:schemeClr val="bg2"/>
                </a:solidFill>
                <a:latin typeface="Century Gothic" panose="020B0502020202020204" pitchFamily="34" charset="0"/>
              </a:rPr>
              <a:t>[</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a:t>
            </a:r>
            <a:r>
              <a:rPr lang="en-US" sz="1100" i="1" dirty="0" err="1">
                <a:solidFill>
                  <a:schemeClr val="bg2"/>
                </a:solidFill>
                <a:latin typeface="Century Gothic" panose="020B0502020202020204" pitchFamily="34" charset="0"/>
              </a:rPr>
              <a:t>Laokulrat</a:t>
            </a:r>
            <a:r>
              <a:rPr lang="en-US" sz="1100" i="1" dirty="0">
                <a:solidFill>
                  <a:schemeClr val="bg2"/>
                </a:solidFill>
                <a:latin typeface="Century Gothic" panose="020B0502020202020204" pitchFamily="34" charset="0"/>
              </a:rPr>
              <a:t> et al. *SEM’13. </a:t>
            </a:r>
            <a:r>
              <a:rPr lang="en-US" sz="1100" i="1" dirty="0" err="1">
                <a:solidFill>
                  <a:schemeClr val="bg2"/>
                </a:solidFill>
                <a:latin typeface="Century Gothic" panose="020B0502020202020204" pitchFamily="34" charset="0"/>
              </a:rPr>
              <a:t>UTTime</a:t>
            </a:r>
            <a:r>
              <a:rPr lang="en-US" sz="1100" i="1" dirty="0">
                <a:solidFill>
                  <a:schemeClr val="bg2"/>
                </a:solidFill>
                <a:latin typeface="Century Gothic" panose="020B0502020202020204" pitchFamily="34" charset="0"/>
              </a:rPr>
              <a:t>: Temporal relation classiﬁcation using deep syntactic features.</a:t>
            </a:r>
          </a:p>
        </p:txBody>
      </p:sp>
      <p:sp>
        <p:nvSpPr>
          <p:cNvPr id="20" name="TextBox 19">
            <a:extLst>
              <a:ext uri="{FF2B5EF4-FFF2-40B4-BE49-F238E27FC236}">
                <a16:creationId xmlns="" xmlns:a16="http://schemas.microsoft.com/office/drawing/2014/main" id="{F5B7D7B5-9342-204A-AC9F-295399A5C820}"/>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 Structured learning</a:t>
            </a:r>
          </a:p>
        </p:txBody>
      </p:sp>
      <p:sp>
        <p:nvSpPr>
          <p:cNvPr id="3" name="Rounded Rectangle 2">
            <a:extLst>
              <a:ext uri="{FF2B5EF4-FFF2-40B4-BE49-F238E27FC236}">
                <a16:creationId xmlns="" xmlns:a16="http://schemas.microsoft.com/office/drawing/2014/main" id="{B3253653-C8C6-7B46-9D25-AC305EC2F6D0}"/>
              </a:ext>
            </a:extLst>
          </p:cNvPr>
          <p:cNvSpPr/>
          <p:nvPr/>
        </p:nvSpPr>
        <p:spPr>
          <a:xfrm>
            <a:off x="5334000" y="771980"/>
            <a:ext cx="2017509"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46861570-BE78-1140-9E76-351BA9307B38}"/>
              </a:ext>
            </a:extLst>
          </p:cNvPr>
          <p:cNvSpPr txBox="1"/>
          <p:nvPr/>
        </p:nvSpPr>
        <p:spPr>
          <a:xfrm>
            <a:off x="4181370" y="253461"/>
            <a:ext cx="4537074" cy="369332"/>
          </a:xfrm>
          <a:prstGeom prst="rect">
            <a:avLst/>
          </a:prstGeom>
          <a:noFill/>
        </p:spPr>
        <p:txBody>
          <a:bodyPr wrap="square" rtlCol="0">
            <a:spAutoFit/>
          </a:bodyPr>
          <a:lstStyle/>
          <a:p>
            <a:r>
              <a:rPr lang="en-US" i="1" dirty="0">
                <a:solidFill>
                  <a:srgbClr val="C17A90"/>
                </a:solidFill>
                <a:latin typeface="Century Gothic" panose="020B0502020202020204" pitchFamily="34" charset="0"/>
              </a:rPr>
              <a:t>We know which event pairs are related</a:t>
            </a:r>
          </a:p>
        </p:txBody>
      </p:sp>
      <p:grpSp>
        <p:nvGrpSpPr>
          <p:cNvPr id="24" name="Group 23">
            <a:extLst>
              <a:ext uri="{FF2B5EF4-FFF2-40B4-BE49-F238E27FC236}">
                <a16:creationId xmlns="" xmlns:a16="http://schemas.microsoft.com/office/drawing/2014/main" id="{0AC6B81B-6894-A84D-88AF-6B1B55C8F4B8}"/>
              </a:ext>
            </a:extLst>
          </p:cNvPr>
          <p:cNvGrpSpPr/>
          <p:nvPr/>
        </p:nvGrpSpPr>
        <p:grpSpPr>
          <a:xfrm>
            <a:off x="7967921" y="647654"/>
            <a:ext cx="999609" cy="944075"/>
            <a:chOff x="2226911" y="1490958"/>
            <a:chExt cx="999609" cy="944075"/>
          </a:xfrm>
          <a:solidFill>
            <a:srgbClr val="C17A90"/>
          </a:solidFill>
        </p:grpSpPr>
        <p:sp>
          <p:nvSpPr>
            <p:cNvPr id="25" name="Oval 24">
              <a:extLst>
                <a:ext uri="{FF2B5EF4-FFF2-40B4-BE49-F238E27FC236}">
                  <a16:creationId xmlns="" xmlns:a16="http://schemas.microsoft.com/office/drawing/2014/main" id="{9019B126-1106-8A4F-8C66-2B39DCB2FA56}"/>
                </a:ext>
              </a:extLst>
            </p:cNvPr>
            <p:cNvSpPr/>
            <p:nvPr/>
          </p:nvSpPr>
          <p:spPr>
            <a:xfrm>
              <a:off x="2634159" y="149095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6" name="Oval 25">
              <a:extLst>
                <a:ext uri="{FF2B5EF4-FFF2-40B4-BE49-F238E27FC236}">
                  <a16:creationId xmlns="" xmlns:a16="http://schemas.microsoft.com/office/drawing/2014/main" id="{B54E1A34-0BF3-4E42-87FE-DA5455E44981}"/>
                </a:ext>
              </a:extLst>
            </p:cNvPr>
            <p:cNvSpPr/>
            <p:nvPr/>
          </p:nvSpPr>
          <p:spPr>
            <a:xfrm>
              <a:off x="2226911"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7" name="Oval 26">
              <a:extLst>
                <a:ext uri="{FF2B5EF4-FFF2-40B4-BE49-F238E27FC236}">
                  <a16:creationId xmlns="" xmlns:a16="http://schemas.microsoft.com/office/drawing/2014/main" id="{20D884F4-AEFB-B446-B98B-2229DD557753}"/>
                </a:ext>
              </a:extLst>
            </p:cNvPr>
            <p:cNvSpPr/>
            <p:nvPr/>
          </p:nvSpPr>
          <p:spPr>
            <a:xfrm>
              <a:off x="3041407"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8" name="Oval 27">
              <a:extLst>
                <a:ext uri="{FF2B5EF4-FFF2-40B4-BE49-F238E27FC236}">
                  <a16:creationId xmlns="" xmlns:a16="http://schemas.microsoft.com/office/drawing/2014/main" id="{670843C1-1F53-364A-BF87-6ADBD11D8484}"/>
                </a:ext>
              </a:extLst>
            </p:cNvPr>
            <p:cNvSpPr/>
            <p:nvPr/>
          </p:nvSpPr>
          <p:spPr>
            <a:xfrm>
              <a:off x="241202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9" name="Oval 28">
              <a:extLst>
                <a:ext uri="{FF2B5EF4-FFF2-40B4-BE49-F238E27FC236}">
                  <a16:creationId xmlns="" xmlns:a16="http://schemas.microsoft.com/office/drawing/2014/main" id="{D73A717A-CA42-5A44-A491-49E32BF1FA0E}"/>
                </a:ext>
              </a:extLst>
            </p:cNvPr>
            <p:cNvSpPr/>
            <p:nvPr/>
          </p:nvSpPr>
          <p:spPr>
            <a:xfrm>
              <a:off x="285629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31" name="Straight Arrow Connector 30">
              <a:extLst>
                <a:ext uri="{FF2B5EF4-FFF2-40B4-BE49-F238E27FC236}">
                  <a16:creationId xmlns="" xmlns:a16="http://schemas.microsoft.com/office/drawing/2014/main" id="{48625842-45C8-C841-9BB0-B381DEB425C6}"/>
                </a:ext>
              </a:extLst>
            </p:cNvPr>
            <p:cNvCxnSpPr/>
            <p:nvPr/>
          </p:nvCxnSpPr>
          <p:spPr>
            <a:xfrm flipH="1">
              <a:off x="2384915" y="1648962"/>
              <a:ext cx="276353" cy="165286"/>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 xmlns:a16="http://schemas.microsoft.com/office/drawing/2014/main" id="{8300EE3F-0D2C-674C-ADBD-4E66CE5ABC04}"/>
                </a:ext>
              </a:extLst>
            </p:cNvPr>
            <p:cNvCxnSpPr/>
            <p:nvPr/>
          </p:nvCxnSpPr>
          <p:spPr>
            <a:xfrm flipH="1">
              <a:off x="2504580" y="1676071"/>
              <a:ext cx="222135" cy="57385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 xmlns:a16="http://schemas.microsoft.com/office/drawing/2014/main" id="{A8947BB3-FAC2-3142-8075-C5ECC1A5EBA2}"/>
                </a:ext>
              </a:extLst>
            </p:cNvPr>
            <p:cNvCxnSpPr/>
            <p:nvPr/>
          </p:nvCxnSpPr>
          <p:spPr>
            <a:xfrm>
              <a:off x="2726715" y="1676071"/>
              <a:ext cx="222135" cy="57385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 xmlns:a16="http://schemas.microsoft.com/office/drawing/2014/main" id="{D5A75323-18F0-1049-87CF-9A20B5932C03}"/>
                </a:ext>
              </a:extLst>
            </p:cNvPr>
            <p:cNvCxnSpPr/>
            <p:nvPr/>
          </p:nvCxnSpPr>
          <p:spPr>
            <a:xfrm flipH="1">
              <a:off x="3014297" y="1972251"/>
              <a:ext cx="119665" cy="304778"/>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 xmlns:a16="http://schemas.microsoft.com/office/drawing/2014/main" id="{589ABDB9-0329-DB4C-9D81-13EA971CE210}"/>
                </a:ext>
              </a:extLst>
            </p:cNvPr>
            <p:cNvCxnSpPr/>
            <p:nvPr/>
          </p:nvCxnSpPr>
          <p:spPr>
            <a:xfrm>
              <a:off x="2412024" y="1879695"/>
              <a:ext cx="629383" cy="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 xmlns:a16="http://schemas.microsoft.com/office/drawing/2014/main" id="{65DF0F2D-FAE9-C743-8D46-C00BC314AD29}"/>
                </a:ext>
              </a:extLst>
            </p:cNvPr>
            <p:cNvCxnSpPr/>
            <p:nvPr/>
          </p:nvCxnSpPr>
          <p:spPr>
            <a:xfrm>
              <a:off x="2597136" y="2342477"/>
              <a:ext cx="259158" cy="0"/>
            </a:xfrm>
            <a:prstGeom prst="straightConnector1">
              <a:avLst/>
            </a:prstGeom>
            <a:grpFill/>
            <a:ln w="38100">
              <a:solidFill>
                <a:srgbClr val="C17A90"/>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TextBox 4">
            <a:extLst>
              <a:ext uri="{FF2B5EF4-FFF2-40B4-BE49-F238E27FC236}">
                <a16:creationId xmlns="" xmlns:a16="http://schemas.microsoft.com/office/drawing/2014/main" id="{2FAE6305-B62A-044B-B32F-6CED7C5B7430}"/>
              </a:ext>
            </a:extLst>
          </p:cNvPr>
          <p:cNvSpPr txBox="1"/>
          <p:nvPr/>
        </p:nvSpPr>
        <p:spPr>
          <a:xfrm>
            <a:off x="4848698" y="2814005"/>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
        <p:nvSpPr>
          <p:cNvPr id="30" name="TextBox 29">
            <a:extLst>
              <a:ext uri="{FF2B5EF4-FFF2-40B4-BE49-F238E27FC236}">
                <a16:creationId xmlns="" xmlns:a16="http://schemas.microsoft.com/office/drawing/2014/main" id="{82679807-881A-CE45-81FB-B1BE0C274DA0}"/>
              </a:ext>
            </a:extLst>
          </p:cNvPr>
          <p:cNvSpPr txBox="1"/>
          <p:nvPr/>
        </p:nvSpPr>
        <p:spPr>
          <a:xfrm>
            <a:off x="4848698" y="2080079"/>
            <a:ext cx="492443"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5%</a:t>
            </a:r>
          </a:p>
        </p:txBody>
      </p:sp>
    </p:spTree>
    <p:extLst>
      <p:ext uri="{BB962C8B-B14F-4D97-AF65-F5344CB8AC3E}">
        <p14:creationId xmlns:p14="http://schemas.microsoft.com/office/powerpoint/2010/main" val="3933925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par>
                                <p:cTn id="17" presetID="9"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dissolv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graphicFrame>
        <p:nvGraphicFramePr>
          <p:cNvPr id="4" name="Chart 3"/>
          <p:cNvGraphicFramePr/>
          <p:nvPr>
            <p:extLst>
              <p:ext uri="{D42A27DB-BD31-4B8C-83A1-F6EECF244321}">
                <p14:modId xmlns:p14="http://schemas.microsoft.com/office/powerpoint/2010/main" val="773994479"/>
              </p:ext>
            </p:extLst>
          </p:nvPr>
        </p:nvGraphicFramePr>
        <p:xfrm>
          <a:off x="914400" y="990600"/>
          <a:ext cx="7761849" cy="5174566"/>
        </p:xfrm>
        <a:graphic>
          <a:graphicData uri="http://schemas.openxmlformats.org/drawingml/2006/chart">
            <c:chart xmlns:c="http://schemas.openxmlformats.org/drawingml/2006/chart" xmlns:r="http://schemas.openxmlformats.org/officeDocument/2006/relationships" r:id="rId3"/>
          </a:graphicData>
        </a:graphic>
      </p:graphicFrame>
      <p:sp>
        <p:nvSpPr>
          <p:cNvPr id="13" name="Rounded Rectangle 12"/>
          <p:cNvSpPr/>
          <p:nvPr/>
        </p:nvSpPr>
        <p:spPr>
          <a:xfrm>
            <a:off x="2133600" y="5715000"/>
            <a:ext cx="1219200" cy="304800"/>
          </a:xfrm>
          <a:prstGeom prst="roundRect">
            <a:avLst/>
          </a:prstGeom>
          <a:noFill/>
          <a:ln w="38100">
            <a:solidFill>
              <a:srgbClr val="F1CE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214619" y="2463105"/>
            <a:ext cx="2148345"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Structure </a:t>
            </a:r>
            <a:r>
              <a:rPr lang="en-US" dirty="0" smtClean="0">
                <a:solidFill>
                  <a:schemeClr val="bg2"/>
                </a:solidFill>
                <a:latin typeface="Century Gothic" panose="020B0502020202020204" pitchFamily="34" charset="0"/>
              </a:rPr>
              <a:t>learning</a:t>
            </a:r>
          </a:p>
          <a:p>
            <a:pPr algn="ctr"/>
            <a:r>
              <a:rPr lang="en-US" dirty="0" smtClean="0">
                <a:solidFill>
                  <a:schemeClr val="bg2"/>
                </a:solidFill>
                <a:latin typeface="Century Gothic" panose="020B0502020202020204" pitchFamily="34" charset="0"/>
              </a:rPr>
              <a:t>+</a:t>
            </a:r>
            <a:r>
              <a:rPr lang="en-US" dirty="0">
                <a:solidFill>
                  <a:schemeClr val="bg2"/>
                </a:solidFill>
                <a:latin typeface="Century Gothic" panose="020B0502020202020204" pitchFamily="34" charset="0"/>
              </a:rPr>
              <a:t>2%</a:t>
            </a:r>
          </a:p>
        </p:txBody>
      </p:sp>
      <p:sp>
        <p:nvSpPr>
          <p:cNvPr id="3" name="TextBox 2"/>
          <p:cNvSpPr txBox="1"/>
          <p:nvPr/>
        </p:nvSpPr>
        <p:spPr>
          <a:xfrm>
            <a:off x="1377243" y="6185948"/>
            <a:ext cx="6832320" cy="276999"/>
          </a:xfrm>
          <a:prstGeom prst="rect">
            <a:avLst/>
          </a:prstGeom>
          <a:noFill/>
        </p:spPr>
        <p:txBody>
          <a:bodyPr wrap="none" rtlCol="0">
            <a:spAutoFit/>
          </a:bodyPr>
          <a:lstStyle/>
          <a:p>
            <a:r>
              <a:rPr lang="en-US" sz="1200" i="1" dirty="0">
                <a:solidFill>
                  <a:schemeClr val="bg2"/>
                </a:solidFill>
                <a:latin typeface="Century Gothic" panose="020B0502020202020204" pitchFamily="34" charset="0"/>
              </a:rPr>
              <a:t>[CAEVO] Chambers et al. TACL2014. Dense event ordering with a multi-pass architecture.</a:t>
            </a:r>
          </a:p>
        </p:txBody>
      </p:sp>
      <p:sp>
        <p:nvSpPr>
          <p:cNvPr id="16" name="TextBox 15">
            <a:extLst>
              <a:ext uri="{FF2B5EF4-FFF2-40B4-BE49-F238E27FC236}">
                <a16:creationId xmlns="" xmlns:a16="http://schemas.microsoft.com/office/drawing/2014/main" id="{C16B2D94-5DA6-3545-94C8-73FE6B2CA42B}"/>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a:t>
            </a:r>
          </a:p>
        </p:txBody>
      </p:sp>
      <p:sp>
        <p:nvSpPr>
          <p:cNvPr id="17" name="TextBox 16">
            <a:extLst>
              <a:ext uri="{FF2B5EF4-FFF2-40B4-BE49-F238E27FC236}">
                <a16:creationId xmlns="" xmlns:a16="http://schemas.microsoft.com/office/drawing/2014/main" id="{A20D91BC-553B-9F48-8CAD-030C1B29359A}"/>
              </a:ext>
            </a:extLst>
          </p:cNvPr>
          <p:cNvSpPr txBox="1"/>
          <p:nvPr/>
        </p:nvSpPr>
        <p:spPr>
          <a:xfrm>
            <a:off x="1879242" y="2383895"/>
            <a:ext cx="2335377" cy="923330"/>
          </a:xfrm>
          <a:prstGeom prst="rect">
            <a:avLst/>
          </a:prstGeom>
          <a:noFill/>
        </p:spPr>
        <p:txBody>
          <a:bodyPr wrap="square" rtlCol="0">
            <a:spAutoFit/>
          </a:bodyPr>
          <a:lstStyle/>
          <a:p>
            <a:pPr algn="ctr"/>
            <a:r>
              <a:rPr lang="en-US" dirty="0">
                <a:solidFill>
                  <a:schemeClr val="bg2"/>
                </a:solidFill>
                <a:latin typeface="Century Gothic" panose="020B0502020202020204" pitchFamily="34" charset="0"/>
              </a:rPr>
              <a:t>Local learning</a:t>
            </a:r>
          </a:p>
          <a:p>
            <a:pPr algn="ctr"/>
            <a:r>
              <a:rPr lang="en-US" dirty="0">
                <a:solidFill>
                  <a:schemeClr val="bg2"/>
                </a:solidFill>
                <a:latin typeface="Century Gothic" panose="020B0502020202020204" pitchFamily="34" charset="0"/>
              </a:rPr>
              <a:t>&amp;</a:t>
            </a:r>
          </a:p>
          <a:p>
            <a:pPr algn="ctr"/>
            <a:r>
              <a:rPr lang="en-US" dirty="0">
                <a:solidFill>
                  <a:schemeClr val="bg2"/>
                </a:solidFill>
                <a:latin typeface="Century Gothic" panose="020B0502020202020204" pitchFamily="34" charset="0"/>
              </a:rPr>
              <a:t>Global inference</a:t>
            </a:r>
          </a:p>
        </p:txBody>
      </p:sp>
      <p:sp>
        <p:nvSpPr>
          <p:cNvPr id="19" name="Rectangle 18">
            <a:extLst>
              <a:ext uri="{FF2B5EF4-FFF2-40B4-BE49-F238E27FC236}">
                <a16:creationId xmlns="" xmlns:a16="http://schemas.microsoft.com/office/drawing/2014/main" id="{B6442371-53D5-5248-AB4A-7C23C646DF54}"/>
              </a:ext>
            </a:extLst>
          </p:cNvPr>
          <p:cNvSpPr/>
          <p:nvPr/>
        </p:nvSpPr>
        <p:spPr>
          <a:xfrm>
            <a:off x="5018952" y="5736255"/>
            <a:ext cx="3165211" cy="304774"/>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15" name="Rounded Rectangle 14">
            <a:extLst>
              <a:ext uri="{FF2B5EF4-FFF2-40B4-BE49-F238E27FC236}">
                <a16:creationId xmlns="" xmlns:a16="http://schemas.microsoft.com/office/drawing/2014/main" id="{F63E02BE-D0CB-FC4B-BBDB-7519CB9B9FEC}"/>
              </a:ext>
            </a:extLst>
          </p:cNvPr>
          <p:cNvSpPr/>
          <p:nvPr/>
        </p:nvSpPr>
        <p:spPr>
          <a:xfrm>
            <a:off x="5334000" y="1044036"/>
            <a:ext cx="1102418"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 xmlns:a16="http://schemas.microsoft.com/office/drawing/2014/main" id="{C747CC61-603D-584A-A509-595EADBFDA80}"/>
              </a:ext>
            </a:extLst>
          </p:cNvPr>
          <p:cNvSpPr txBox="1"/>
          <p:nvPr/>
        </p:nvSpPr>
        <p:spPr>
          <a:xfrm>
            <a:off x="5018951" y="215811"/>
            <a:ext cx="3698874" cy="646331"/>
          </a:xfrm>
          <a:prstGeom prst="rect">
            <a:avLst/>
          </a:prstGeom>
          <a:noFill/>
        </p:spPr>
        <p:txBody>
          <a:bodyPr wrap="square" rtlCol="0">
            <a:spAutoFit/>
          </a:bodyPr>
          <a:lstStyle/>
          <a:p>
            <a:r>
              <a:rPr lang="en-US" i="1" dirty="0">
                <a:solidFill>
                  <a:srgbClr val="C17A90"/>
                </a:solidFill>
                <a:latin typeface="Century Gothic" panose="020B0502020202020204" pitchFamily="34" charset="0"/>
              </a:rPr>
              <a:t>We don’t know which event pairs are related</a:t>
            </a:r>
          </a:p>
        </p:txBody>
      </p:sp>
      <p:grpSp>
        <p:nvGrpSpPr>
          <p:cNvPr id="12" name="Group 11">
            <a:extLst>
              <a:ext uri="{FF2B5EF4-FFF2-40B4-BE49-F238E27FC236}">
                <a16:creationId xmlns="" xmlns:a16="http://schemas.microsoft.com/office/drawing/2014/main" id="{BA7949C0-C825-8F44-8D4B-EF973D65C1E1}"/>
              </a:ext>
            </a:extLst>
          </p:cNvPr>
          <p:cNvGrpSpPr/>
          <p:nvPr/>
        </p:nvGrpSpPr>
        <p:grpSpPr>
          <a:xfrm>
            <a:off x="7967921" y="647654"/>
            <a:ext cx="999609" cy="944075"/>
            <a:chOff x="2226911" y="1490958"/>
            <a:chExt cx="999609" cy="944075"/>
          </a:xfrm>
          <a:solidFill>
            <a:srgbClr val="C17A90"/>
          </a:solidFill>
        </p:grpSpPr>
        <p:sp>
          <p:nvSpPr>
            <p:cNvPr id="14" name="Oval 13">
              <a:extLst>
                <a:ext uri="{FF2B5EF4-FFF2-40B4-BE49-F238E27FC236}">
                  <a16:creationId xmlns="" xmlns:a16="http://schemas.microsoft.com/office/drawing/2014/main" id="{D40606C1-4A94-534E-B812-A63687A7D680}"/>
                </a:ext>
              </a:extLst>
            </p:cNvPr>
            <p:cNvSpPr/>
            <p:nvPr/>
          </p:nvSpPr>
          <p:spPr>
            <a:xfrm>
              <a:off x="2634159" y="149095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8" name="Oval 17">
              <a:extLst>
                <a:ext uri="{FF2B5EF4-FFF2-40B4-BE49-F238E27FC236}">
                  <a16:creationId xmlns="" xmlns:a16="http://schemas.microsoft.com/office/drawing/2014/main" id="{D5A7304A-EF60-B94A-B40D-A3B3D5A9BD9A}"/>
                </a:ext>
              </a:extLst>
            </p:cNvPr>
            <p:cNvSpPr/>
            <p:nvPr/>
          </p:nvSpPr>
          <p:spPr>
            <a:xfrm>
              <a:off x="2226911"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1" name="Oval 20">
              <a:extLst>
                <a:ext uri="{FF2B5EF4-FFF2-40B4-BE49-F238E27FC236}">
                  <a16:creationId xmlns="" xmlns:a16="http://schemas.microsoft.com/office/drawing/2014/main" id="{5785B17B-0330-744F-839F-1E5A85F4AC9E}"/>
                </a:ext>
              </a:extLst>
            </p:cNvPr>
            <p:cNvSpPr/>
            <p:nvPr/>
          </p:nvSpPr>
          <p:spPr>
            <a:xfrm>
              <a:off x="3041407" y="1787138"/>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2" name="Oval 21">
              <a:extLst>
                <a:ext uri="{FF2B5EF4-FFF2-40B4-BE49-F238E27FC236}">
                  <a16:creationId xmlns="" xmlns:a16="http://schemas.microsoft.com/office/drawing/2014/main" id="{78949AF5-DC4F-CF45-8EB1-DF7E05A98AE9}"/>
                </a:ext>
              </a:extLst>
            </p:cNvPr>
            <p:cNvSpPr/>
            <p:nvPr/>
          </p:nvSpPr>
          <p:spPr>
            <a:xfrm>
              <a:off x="241202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3" name="Oval 22">
              <a:extLst>
                <a:ext uri="{FF2B5EF4-FFF2-40B4-BE49-F238E27FC236}">
                  <a16:creationId xmlns="" xmlns:a16="http://schemas.microsoft.com/office/drawing/2014/main" id="{60CB6431-B572-F14D-A1B2-B4D8A5A372EF}"/>
                </a:ext>
              </a:extLst>
            </p:cNvPr>
            <p:cNvSpPr/>
            <p:nvPr/>
          </p:nvSpPr>
          <p:spPr>
            <a:xfrm>
              <a:off x="2856294" y="2249920"/>
              <a:ext cx="185113" cy="185113"/>
            </a:xfrm>
            <a:prstGeom prst="ellipse">
              <a:avLst/>
            </a:prstGeom>
            <a:grp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5" name="TextBox 4">
            <a:extLst>
              <a:ext uri="{FF2B5EF4-FFF2-40B4-BE49-F238E27FC236}">
                <a16:creationId xmlns="" xmlns:a16="http://schemas.microsoft.com/office/drawing/2014/main" id="{B32504A5-3939-FA42-9BE8-321EBC4268FB}"/>
              </a:ext>
            </a:extLst>
          </p:cNvPr>
          <p:cNvSpPr txBox="1"/>
          <p:nvPr/>
        </p:nvSpPr>
        <p:spPr>
          <a:xfrm>
            <a:off x="8303462" y="890458"/>
            <a:ext cx="327334" cy="461665"/>
          </a:xfrm>
          <a:prstGeom prst="rect">
            <a:avLst/>
          </a:prstGeom>
          <a:noFill/>
        </p:spPr>
        <p:txBody>
          <a:bodyPr wrap="none" rtlCol="0">
            <a:spAutoFit/>
          </a:bodyPr>
          <a:lstStyle/>
          <a:p>
            <a:r>
              <a:rPr lang="en-US" sz="2400" dirty="0">
                <a:solidFill>
                  <a:srgbClr val="C17A90"/>
                </a:solidFill>
                <a:latin typeface="+mj-lt"/>
              </a:rPr>
              <a:t>?</a:t>
            </a:r>
          </a:p>
        </p:txBody>
      </p:sp>
    </p:spTree>
    <p:extLst>
      <p:ext uri="{BB962C8B-B14F-4D97-AF65-F5344CB8AC3E}">
        <p14:creationId xmlns:p14="http://schemas.microsoft.com/office/powerpoint/2010/main" val="663829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par>
                                <p:cTn id="19" presetID="42"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p:bldP spid="17" grpId="0"/>
      <p:bldP spid="20" grpId="0"/>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646331"/>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7" name="Freeform 6">
            <a:extLst>
              <a:ext uri="{FF2B5EF4-FFF2-40B4-BE49-F238E27FC236}">
                <a16:creationId xmlns="" xmlns:a16="http://schemas.microsoft.com/office/drawing/2014/main" id="{83400AEF-85EA-7B4C-8D53-44B4E99936D7}"/>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8" name="Freeform 7">
            <a:extLst>
              <a:ext uri="{FF2B5EF4-FFF2-40B4-BE49-F238E27FC236}">
                <a16:creationId xmlns="" xmlns:a16="http://schemas.microsoft.com/office/drawing/2014/main" id="{F3B5E4C5-CCD7-EA44-915F-7E291861564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9" name="Freeform 8">
            <a:extLst>
              <a:ext uri="{FF2B5EF4-FFF2-40B4-BE49-F238E27FC236}">
                <a16:creationId xmlns="" xmlns:a16="http://schemas.microsoft.com/office/drawing/2014/main" id="{DDF6EFEB-F338-0C41-A3F8-D29E7EEE2CE2}"/>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0" name="Freeform 9">
            <a:extLst>
              <a:ext uri="{FF2B5EF4-FFF2-40B4-BE49-F238E27FC236}">
                <a16:creationId xmlns="" xmlns:a16="http://schemas.microsoft.com/office/drawing/2014/main" id="{FA6647F9-1E57-3B41-9C07-019C1EAA9D3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1" name="Freeform 10">
            <a:extLst>
              <a:ext uri="{FF2B5EF4-FFF2-40B4-BE49-F238E27FC236}">
                <a16:creationId xmlns="" xmlns:a16="http://schemas.microsoft.com/office/drawing/2014/main" id="{6E9112B1-EC4A-854D-B296-C8D381E90E59}"/>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2" name="Freeform 11">
            <a:extLst>
              <a:ext uri="{FF2B5EF4-FFF2-40B4-BE49-F238E27FC236}">
                <a16:creationId xmlns="" xmlns:a16="http://schemas.microsoft.com/office/drawing/2014/main" id="{E1952D22-282C-4147-A2C7-BABEC250DF29}"/>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14" name="Freeform 13">
            <a:extLst>
              <a:ext uri="{FF2B5EF4-FFF2-40B4-BE49-F238E27FC236}">
                <a16:creationId xmlns="" xmlns:a16="http://schemas.microsoft.com/office/drawing/2014/main" id="{4E4B3FD1-5ED1-0146-9026-FE8CD53EC45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17" name="Picture 16" descr="A close up of a logo&#10;&#10;Description automatically generated">
            <a:extLst>
              <a:ext uri="{FF2B5EF4-FFF2-40B4-BE49-F238E27FC236}">
                <a16:creationId xmlns="" xmlns:a16="http://schemas.microsoft.com/office/drawing/2014/main" id="{165CA682-DBBA-274A-BF6C-67F04CA82BD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18" name="Picture 17" descr="A close up of a logo&#10;&#10;Description automatically generated">
            <a:extLst>
              <a:ext uri="{FF2B5EF4-FFF2-40B4-BE49-F238E27FC236}">
                <a16:creationId xmlns="" xmlns:a16="http://schemas.microsoft.com/office/drawing/2014/main" id="{2F9A737E-BC3D-FF46-960C-1D934C487BFC}"/>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20" name="Picture 19" descr="A close up of a logo&#10;&#10;Description automatically generated">
            <a:extLst>
              <a:ext uri="{FF2B5EF4-FFF2-40B4-BE49-F238E27FC236}">
                <a16:creationId xmlns="" xmlns:a16="http://schemas.microsoft.com/office/drawing/2014/main" id="{585AE5B7-75E4-D047-8018-E186DB0EE907}"/>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spTree>
    <p:extLst>
      <p:ext uri="{BB962C8B-B14F-4D97-AF65-F5344CB8AC3E}">
        <p14:creationId xmlns:p14="http://schemas.microsoft.com/office/powerpoint/2010/main" val="481995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1040285"/>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 Common sense</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1255728"/>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[NAACL’18]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H. Peng, and D. Roth. Improving Temporal Relation Extraction with a Globally Acquired Statistical Resource</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 xmlns:a16="http://schemas.microsoft.com/office/drawing/2014/main" id="{737704AE-40D6-5B41-93A5-0619AD29734D}"/>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67656835-B3B1-0140-8366-F388DE9AC7DE}"/>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DBB7266B-EAB7-C647-9721-E2CEA856426A}"/>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72A1C4BA-E7EE-AF4C-B12C-B7BDA3B98276}"/>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 xmlns:a16="http://schemas.microsoft.com/office/drawing/2014/main" id="{40C968C7-2328-774C-9161-CAE68F4D7E4C}"/>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7" name="Freeform 36">
            <a:extLst>
              <a:ext uri="{FF2B5EF4-FFF2-40B4-BE49-F238E27FC236}">
                <a16:creationId xmlns="" xmlns:a16="http://schemas.microsoft.com/office/drawing/2014/main" id="{5D85D7CC-A2D1-1F4B-B090-CA149D2B57BE}"/>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 xmlns:a16="http://schemas.microsoft.com/office/drawing/2014/main" id="{FA8C2487-C668-E44C-ADFE-D14AACBBFE14}"/>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 xmlns:a16="http://schemas.microsoft.com/office/drawing/2014/main" id="{5DEBAE03-1406-3D4D-9456-439219582AF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 xmlns:a16="http://schemas.microsoft.com/office/drawing/2014/main" id="{29476940-6C69-1C4D-A06E-F1334286427B}"/>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 xmlns:a16="http://schemas.microsoft.com/office/drawing/2014/main" id="{6EB66274-7F58-6C4F-A635-1034AE91BC8D}"/>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363951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F23C841-9656-A049-87FE-07FF02F8D5A4}"/>
              </a:ext>
            </a:extLst>
          </p:cNvPr>
          <p:cNvSpPr>
            <a:spLocks noGrp="1"/>
          </p:cNvSpPr>
          <p:nvPr>
            <p:ph type="title"/>
          </p:nvPr>
        </p:nvSpPr>
        <p:spPr/>
        <p:txBody>
          <a:bodyPr/>
          <a:lstStyle/>
          <a:p>
            <a:r>
              <a:rPr lang="en-US" dirty="0"/>
              <a:t>More than 10 people have (</a:t>
            </a:r>
            <a:r>
              <a:rPr lang="en-US" b="1" dirty="0"/>
              <a:t>event1: </a:t>
            </a:r>
            <a:r>
              <a:rPr lang="en-US" b="1" dirty="0">
                <a:solidFill>
                  <a:schemeClr val="tx1"/>
                </a:solidFill>
              </a:rPr>
              <a:t>died</a:t>
            </a:r>
            <a:r>
              <a:rPr lang="en-US" dirty="0"/>
              <a:t>), police said. A car (</a:t>
            </a:r>
            <a:r>
              <a:rPr lang="en-US" b="1" dirty="0"/>
              <a:t>event2</a:t>
            </a:r>
            <a:r>
              <a:rPr lang="en-US" dirty="0"/>
              <a:t>: </a:t>
            </a:r>
            <a:r>
              <a:rPr lang="en-US" b="1" dirty="0">
                <a:solidFill>
                  <a:schemeClr val="tx1"/>
                </a:solidFill>
              </a:rPr>
              <a:t>exploded</a:t>
            </a:r>
            <a:r>
              <a:rPr lang="en-US" dirty="0"/>
              <a:t>) on Friday in a group of men in north Pakistan.</a:t>
            </a:r>
            <a:br>
              <a:rPr lang="en-US" dirty="0"/>
            </a:br>
            <a:endParaRPr lang="en-US" dirty="0"/>
          </a:p>
        </p:txBody>
      </p:sp>
    </p:spTree>
    <p:extLst>
      <p:ext uri="{BB962C8B-B14F-4D97-AF65-F5344CB8AC3E}">
        <p14:creationId xmlns:p14="http://schemas.microsoft.com/office/powerpoint/2010/main" val="370019852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BF23C841-9656-A049-87FE-07FF02F8D5A4}"/>
              </a:ext>
            </a:extLst>
          </p:cNvPr>
          <p:cNvSpPr>
            <a:spLocks noGrp="1"/>
          </p:cNvSpPr>
          <p:nvPr>
            <p:ph type="title"/>
          </p:nvPr>
        </p:nvSpPr>
        <p:spPr/>
        <p:txBody>
          <a:bodyPr/>
          <a:lstStyle/>
          <a:p>
            <a:r>
              <a:rPr lang="en-US" dirty="0">
                <a:solidFill>
                  <a:schemeClr val="bg2"/>
                </a:solidFill>
              </a:rPr>
              <a:t>More than 10 people have (</a:t>
            </a:r>
            <a:r>
              <a:rPr lang="en-US" b="1" dirty="0">
                <a:solidFill>
                  <a:schemeClr val="bg2"/>
                </a:solidFill>
              </a:rPr>
              <a:t>event1: died</a:t>
            </a:r>
            <a:r>
              <a:rPr lang="en-US" dirty="0">
                <a:solidFill>
                  <a:schemeClr val="bg2"/>
                </a:solidFill>
              </a:rPr>
              <a:t>), police said. A car (</a:t>
            </a:r>
            <a:r>
              <a:rPr lang="en-US" b="1" dirty="0">
                <a:solidFill>
                  <a:schemeClr val="bg2"/>
                </a:solidFill>
              </a:rPr>
              <a:t>event2</a:t>
            </a:r>
            <a:r>
              <a:rPr lang="en-US" dirty="0">
                <a:solidFill>
                  <a:schemeClr val="bg2"/>
                </a:solidFill>
              </a:rPr>
              <a:t>: </a:t>
            </a:r>
            <a:r>
              <a:rPr lang="en-US" b="1" dirty="0">
                <a:solidFill>
                  <a:schemeClr val="bg2"/>
                </a:solidFill>
              </a:rPr>
              <a:t>exploded</a:t>
            </a:r>
            <a:r>
              <a:rPr lang="en-US" dirty="0">
                <a:solidFill>
                  <a:schemeClr val="bg2"/>
                </a:solidFill>
              </a:rPr>
              <a:t>) on Friday in a group of men in north Pakistan.</a:t>
            </a:r>
            <a:br>
              <a:rPr lang="en-US" dirty="0">
                <a:solidFill>
                  <a:schemeClr val="bg2"/>
                </a:solidFill>
              </a:rPr>
            </a:br>
            <a:endParaRPr lang="en-US" dirty="0">
              <a:solidFill>
                <a:schemeClr val="bg2"/>
              </a:solidFill>
            </a:endParaRPr>
          </a:p>
        </p:txBody>
      </p:sp>
    </p:spTree>
    <p:extLst>
      <p:ext uri="{BB962C8B-B14F-4D97-AF65-F5344CB8AC3E}">
        <p14:creationId xmlns:p14="http://schemas.microsoft.com/office/powerpoint/2010/main" val="188558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events are …</a:t>
            </a:r>
            <a:endParaRPr lang="en-US" u="sng" dirty="0"/>
          </a:p>
        </p:txBody>
      </p:sp>
      <p:sp>
        <p:nvSpPr>
          <p:cNvPr id="3" name="Content Placeholder 2"/>
          <p:cNvSpPr>
            <a:spLocks noGrp="1"/>
          </p:cNvSpPr>
          <p:nvPr>
            <p:ph idx="1"/>
          </p:nvPr>
        </p:nvSpPr>
        <p:spPr/>
        <p:txBody>
          <a:bodyPr/>
          <a:lstStyle/>
          <a:p>
            <a:pPr marL="0" indent="0">
              <a:buNone/>
            </a:pPr>
            <a:r>
              <a:rPr lang="en-US" dirty="0"/>
              <a:t>… missing</a:t>
            </a:r>
          </a:p>
          <a:p>
            <a:pPr marL="0" indent="0">
              <a:buNone/>
            </a:pPr>
            <a:endParaRPr lang="en-US" dirty="0"/>
          </a:p>
          <a:p>
            <a:pPr marL="0" indent="0">
              <a:buNone/>
            </a:pPr>
            <a:r>
              <a:rPr lang="en-US" dirty="0"/>
              <a:t>More than 10 people have (</a:t>
            </a:r>
            <a:r>
              <a:rPr lang="en-US" b="1" dirty="0"/>
              <a:t>event1: </a:t>
            </a:r>
            <a:r>
              <a:rPr lang="en-US" b="1" dirty="0">
                <a:solidFill>
                  <a:schemeClr val="tx1"/>
                </a:solidFill>
              </a:rPr>
              <a:t>died</a:t>
            </a:r>
            <a:r>
              <a:rPr lang="en-US" dirty="0"/>
              <a:t>), police said. A car (</a:t>
            </a:r>
            <a:r>
              <a:rPr lang="en-US" b="1" dirty="0"/>
              <a:t>event2</a:t>
            </a:r>
            <a:r>
              <a:rPr lang="en-US" dirty="0"/>
              <a:t>: </a:t>
            </a:r>
            <a:r>
              <a:rPr lang="en-US" b="1" dirty="0">
                <a:solidFill>
                  <a:schemeClr val="tx1"/>
                </a:solidFill>
              </a:rPr>
              <a:t>exploded</a:t>
            </a:r>
            <a:r>
              <a:rPr lang="en-US" dirty="0"/>
              <a:t>) on Friday in a group of men.</a:t>
            </a:r>
          </a:p>
          <a:p>
            <a:pPr marL="0" indent="0">
              <a:buNone/>
            </a:pPr>
            <a:endParaRPr lang="en-US" dirty="0"/>
          </a:p>
          <a:p>
            <a:pPr marL="0" indent="0">
              <a:buNone/>
            </a:pPr>
            <a:r>
              <a:rPr lang="en-US" dirty="0"/>
              <a:t>This turns out to be </a:t>
            </a:r>
            <a:r>
              <a:rPr lang="en-US" b="1" u="sng" dirty="0"/>
              <a:t>difficult</a:t>
            </a:r>
            <a:r>
              <a:rPr lang="en-US" dirty="0"/>
              <a:t>. </a:t>
            </a:r>
          </a:p>
        </p:txBody>
      </p:sp>
      <p:sp>
        <p:nvSpPr>
          <p:cNvPr id="4" name="TextBox 3">
            <a:extLst>
              <a:ext uri="{FF2B5EF4-FFF2-40B4-BE49-F238E27FC236}">
                <a16:creationId xmlns="" xmlns:a16="http://schemas.microsoft.com/office/drawing/2014/main" id="{1827CA05-0F8A-F244-AF4A-3319047CC3CA}"/>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3071081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events are …</a:t>
            </a:r>
            <a:endParaRPr lang="en-US" u="sng" dirty="0"/>
          </a:p>
        </p:txBody>
      </p:sp>
      <p:sp>
        <p:nvSpPr>
          <p:cNvPr id="3" name="Content Placeholder 2"/>
          <p:cNvSpPr>
            <a:spLocks noGrp="1"/>
          </p:cNvSpPr>
          <p:nvPr>
            <p:ph idx="1"/>
          </p:nvPr>
        </p:nvSpPr>
        <p:spPr/>
        <p:txBody>
          <a:bodyPr/>
          <a:lstStyle/>
          <a:p>
            <a:pPr marL="0" indent="0">
              <a:buNone/>
            </a:pPr>
            <a:r>
              <a:rPr lang="en-US" dirty="0"/>
              <a:t>… present</a:t>
            </a:r>
          </a:p>
          <a:p>
            <a:pPr marL="0" indent="0">
              <a:buNone/>
            </a:pPr>
            <a:endParaRPr lang="en-US" dirty="0"/>
          </a:p>
          <a:p>
            <a:pPr marL="0" indent="0">
              <a:buNone/>
            </a:pPr>
            <a:r>
              <a:rPr lang="en-US" dirty="0"/>
              <a:t>More than 10 people have (</a:t>
            </a:r>
            <a:r>
              <a:rPr lang="en-US" b="1" dirty="0"/>
              <a:t>event1: died</a:t>
            </a:r>
            <a:r>
              <a:rPr lang="en-US" dirty="0"/>
              <a:t>), police said. A car (</a:t>
            </a:r>
            <a:r>
              <a:rPr lang="en-US" b="1" dirty="0"/>
              <a:t>event2</a:t>
            </a:r>
            <a:r>
              <a:rPr lang="en-US" dirty="0"/>
              <a:t>: </a:t>
            </a:r>
            <a:r>
              <a:rPr lang="en-US" b="1" dirty="0"/>
              <a:t>exploded</a:t>
            </a:r>
            <a:r>
              <a:rPr lang="en-US" dirty="0"/>
              <a:t>) on Friday in a group of men.</a:t>
            </a:r>
          </a:p>
          <a:p>
            <a:pPr marL="0" indent="0">
              <a:buNone/>
            </a:pPr>
            <a:endParaRPr lang="en-US" dirty="0"/>
          </a:p>
          <a:p>
            <a:pPr marL="0" indent="0">
              <a:buNone/>
            </a:pPr>
            <a:r>
              <a:rPr lang="en-US" dirty="0"/>
              <a:t>This turns out to be </a:t>
            </a:r>
            <a:r>
              <a:rPr lang="en-US" b="1" u="sng" dirty="0"/>
              <a:t>easy</a:t>
            </a:r>
            <a:r>
              <a:rPr lang="en-US" dirty="0"/>
              <a:t> because humans have the </a:t>
            </a:r>
            <a:r>
              <a:rPr lang="en-US" b="1" u="sng" dirty="0"/>
              <a:t>common sense</a:t>
            </a:r>
            <a:r>
              <a:rPr lang="en-US" b="1" dirty="0"/>
              <a:t> </a:t>
            </a:r>
            <a:r>
              <a:rPr lang="en-US" dirty="0"/>
              <a:t>of which event “usually” happens before another.</a:t>
            </a:r>
          </a:p>
          <a:p>
            <a:pPr marL="0" indent="0">
              <a:buNone/>
            </a:pPr>
            <a:endParaRPr lang="en-US" dirty="0"/>
          </a:p>
          <a:p>
            <a:pPr marL="0" indent="0">
              <a:buNone/>
            </a:pPr>
            <a:r>
              <a:rPr lang="en-US" dirty="0"/>
              <a:t>We would like to </a:t>
            </a:r>
            <a:r>
              <a:rPr lang="en-US" dirty="0" smtClean="0"/>
              <a:t>acquire this </a:t>
            </a:r>
            <a:r>
              <a:rPr lang="en-US" dirty="0"/>
              <a:t>common sense.</a:t>
            </a:r>
          </a:p>
          <a:p>
            <a:pPr marL="0" indent="0">
              <a:buNone/>
            </a:pPr>
            <a:endParaRPr lang="en-US" dirty="0"/>
          </a:p>
        </p:txBody>
      </p:sp>
      <p:sp>
        <p:nvSpPr>
          <p:cNvPr id="5" name="TextBox 4">
            <a:extLst>
              <a:ext uri="{FF2B5EF4-FFF2-40B4-BE49-F238E27FC236}">
                <a16:creationId xmlns="" xmlns:a16="http://schemas.microsoft.com/office/drawing/2014/main" id="{316EE82A-7D98-5F40-A1A8-4F5E5F1FBDB5}"/>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85717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wipe(left)">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t>TemProb</a:t>
            </a:r>
            <a:r>
              <a:rPr lang="en-US" sz="2400" dirty="0"/>
              <a:t> [NAACL’18]:</a:t>
            </a:r>
            <a:br>
              <a:rPr lang="en-US" sz="2400" dirty="0"/>
            </a:br>
            <a:r>
              <a:rPr lang="en-US" sz="2400" b="1" dirty="0"/>
              <a:t>Tem</a:t>
            </a:r>
            <a:r>
              <a:rPr lang="en-US" sz="2400" dirty="0"/>
              <a:t>poral Relation </a:t>
            </a:r>
            <a:r>
              <a:rPr lang="en-US" sz="2400" b="1" dirty="0"/>
              <a:t>Prob</a:t>
            </a:r>
            <a:r>
              <a:rPr lang="en-US" sz="2400" dirty="0"/>
              <a:t>abilistic Knowledge Base</a:t>
            </a:r>
          </a:p>
        </p:txBody>
      </p:sp>
      <p:sp>
        <p:nvSpPr>
          <p:cNvPr id="3" name="Content Placeholder 2"/>
          <p:cNvSpPr>
            <a:spLocks noGrp="1"/>
          </p:cNvSpPr>
          <p:nvPr>
            <p:ph idx="1"/>
          </p:nvPr>
        </p:nvSpPr>
        <p:spPr/>
        <p:txBody>
          <a:bodyPr/>
          <a:lstStyle/>
          <a:p>
            <a:pPr marL="0" indent="0">
              <a:buNone/>
            </a:pPr>
            <a:r>
              <a:rPr lang="en-US" dirty="0"/>
              <a:t>To mimic human’s reading experience</a:t>
            </a:r>
          </a:p>
          <a:p>
            <a:r>
              <a:rPr lang="en-US" dirty="0"/>
              <a:t>New York Times 1987-2007, #Articles~1M</a:t>
            </a:r>
          </a:p>
          <a:p>
            <a:r>
              <a:rPr lang="en-US" dirty="0"/>
              <a:t>Ran our system on top of it (via AWS)</a:t>
            </a:r>
          </a:p>
          <a:p>
            <a:r>
              <a:rPr lang="en-US" dirty="0">
                <a:sym typeface="Wingdings" pitchFamily="2" charset="2"/>
              </a:rPr>
              <a:t>80M temporal relations</a:t>
            </a:r>
          </a:p>
          <a:p>
            <a:r>
              <a:rPr lang="en-US" dirty="0"/>
              <a:t>Simply by counting, we get</a:t>
            </a:r>
          </a:p>
          <a:p>
            <a:pPr lvl="2"/>
            <a:endParaRPr lang="en-US" dirty="0"/>
          </a:p>
          <a:p>
            <a:endParaRPr lang="en-US" dirty="0"/>
          </a:p>
        </p:txBody>
      </p:sp>
      <p:graphicFrame>
        <p:nvGraphicFramePr>
          <p:cNvPr id="4" name="Table 3">
            <a:extLst>
              <a:ext uri="{FF2B5EF4-FFF2-40B4-BE49-F238E27FC236}">
                <a16:creationId xmlns="" xmlns:a16="http://schemas.microsoft.com/office/drawing/2014/main" id="{3C78FF00-D755-4A8F-936C-5605ADF618FE}"/>
              </a:ext>
            </a:extLst>
          </p:cNvPr>
          <p:cNvGraphicFramePr>
            <a:graphicFrameLocks noGrp="1"/>
          </p:cNvGraphicFramePr>
          <p:nvPr>
            <p:extLst>
              <p:ext uri="{D42A27DB-BD31-4B8C-83A1-F6EECF244321}">
                <p14:modId xmlns:p14="http://schemas.microsoft.com/office/powerpoint/2010/main" val="3404511650"/>
              </p:ext>
            </p:extLst>
          </p:nvPr>
        </p:nvGraphicFramePr>
        <p:xfrm>
          <a:off x="1176336" y="3835400"/>
          <a:ext cx="6791328" cy="2225040"/>
        </p:xfrm>
        <a:graphic>
          <a:graphicData uri="http://schemas.openxmlformats.org/drawingml/2006/table">
            <a:tbl>
              <a:tblPr firstRow="1" bandRow="1">
                <a:tableStyleId>{5940675A-B579-460E-94D1-54222C63F5DA}</a:tableStyleId>
              </a:tblPr>
              <a:tblGrid>
                <a:gridCol w="1697832">
                  <a:extLst>
                    <a:ext uri="{9D8B030D-6E8A-4147-A177-3AD203B41FA5}">
                      <a16:colId xmlns="" xmlns:a16="http://schemas.microsoft.com/office/drawing/2014/main" val="2761333320"/>
                    </a:ext>
                  </a:extLst>
                </a:gridCol>
                <a:gridCol w="1697832">
                  <a:extLst>
                    <a:ext uri="{9D8B030D-6E8A-4147-A177-3AD203B41FA5}">
                      <a16:colId xmlns="" xmlns:a16="http://schemas.microsoft.com/office/drawing/2014/main" val="4032749486"/>
                    </a:ext>
                  </a:extLst>
                </a:gridCol>
                <a:gridCol w="1697832">
                  <a:extLst>
                    <a:ext uri="{9D8B030D-6E8A-4147-A177-3AD203B41FA5}">
                      <a16:colId xmlns="" xmlns:a16="http://schemas.microsoft.com/office/drawing/2014/main" val="1662114478"/>
                    </a:ext>
                  </a:extLst>
                </a:gridCol>
                <a:gridCol w="1697832">
                  <a:extLst>
                    <a:ext uri="{9D8B030D-6E8A-4147-A177-3AD203B41FA5}">
                      <a16:colId xmlns="" xmlns:a16="http://schemas.microsoft.com/office/drawing/2014/main" val="118045171"/>
                    </a:ext>
                  </a:extLst>
                </a:gridCol>
              </a:tblGrid>
              <a:tr h="370840">
                <a:tc gridSpan="2">
                  <a:txBody>
                    <a:bodyPr/>
                    <a:lstStyle/>
                    <a:p>
                      <a:pPr algn="ctr"/>
                      <a:r>
                        <a:rPr lang="en-US" dirty="0">
                          <a:solidFill>
                            <a:schemeClr val="bg2"/>
                          </a:solidFill>
                          <a:latin typeface="Century Gothic" panose="020B0502020202020204" pitchFamily="34" charset="0"/>
                        </a:rPr>
                        <a:t>Example pairs</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hMerge="1">
                  <a:txBody>
                    <a:bodyPr/>
                    <a:lstStyle/>
                    <a:p>
                      <a:endParaRPr lang="en-US" dirty="0"/>
                    </a:p>
                  </a:txBody>
                  <a:tcPr/>
                </a:tc>
                <a:tc rowSpan="2">
                  <a:txBody>
                    <a:bodyPr/>
                    <a:lstStyle/>
                    <a:p>
                      <a:pPr algn="ctr"/>
                      <a:r>
                        <a:rPr lang="en-US" dirty="0">
                          <a:solidFill>
                            <a:schemeClr val="bg2"/>
                          </a:solidFill>
                          <a:latin typeface="Century Gothic" panose="020B0502020202020204" pitchFamily="34" charset="0"/>
                        </a:rPr>
                        <a:t>Time Before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rowSpan="2">
                  <a:txBody>
                    <a:bodyPr/>
                    <a:lstStyle/>
                    <a:p>
                      <a:pPr algn="ctr"/>
                      <a:r>
                        <a:rPr lang="en-US" dirty="0">
                          <a:solidFill>
                            <a:schemeClr val="bg2"/>
                          </a:solidFill>
                          <a:latin typeface="Century Gothic" panose="020B0502020202020204" pitchFamily="34" charset="0"/>
                        </a:rPr>
                        <a:t>Time After (%)</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extLst>
                  <a:ext uri="{0D108BD9-81ED-4DB2-BD59-A6C34878D82A}">
                    <a16:rowId xmlns="" xmlns:a16="http://schemas.microsoft.com/office/drawing/2014/main" val="3984453807"/>
                  </a:ext>
                </a:extLst>
              </a:tr>
              <a:tr h="370840">
                <a:tc>
                  <a:txBody>
                    <a:bodyPr/>
                    <a:lstStyle/>
                    <a:p>
                      <a:pPr algn="ctr"/>
                      <a:r>
                        <a:rPr lang="en-US" dirty="0">
                          <a:solidFill>
                            <a:schemeClr val="bg2"/>
                          </a:solidFill>
                          <a:latin typeface="Century Gothic" panose="020B0502020202020204" pitchFamily="34" charset="0"/>
                        </a:rPr>
                        <a:t>Text Before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dirty="0">
                          <a:solidFill>
                            <a:schemeClr val="bg2"/>
                          </a:solidFill>
                          <a:latin typeface="Century Gothic" panose="020B0502020202020204" pitchFamily="34" charset="0"/>
                        </a:rPr>
                        <a:t>Text After</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vMerge="1">
                  <a:txBody>
                    <a:bodyPr/>
                    <a:lstStyle/>
                    <a:p>
                      <a:endParaRPr lang="en-US" dirty="0"/>
                    </a:p>
                  </a:txBody>
                  <a:tcPr/>
                </a:tc>
                <a:tc vMerge="1">
                  <a:txBody>
                    <a:bodyPr/>
                    <a:lstStyle/>
                    <a:p>
                      <a:endParaRPr lang="en-US" dirty="0"/>
                    </a:p>
                  </a:txBody>
                  <a:tcPr/>
                </a:tc>
                <a:extLst>
                  <a:ext uri="{0D108BD9-81ED-4DB2-BD59-A6C34878D82A}">
                    <a16:rowId xmlns="" xmlns:a16="http://schemas.microsoft.com/office/drawing/2014/main" val="10001"/>
                  </a:ext>
                </a:extLst>
              </a:tr>
              <a:tr h="370840">
                <a:tc>
                  <a:txBody>
                    <a:bodyPr/>
                    <a:lstStyle/>
                    <a:p>
                      <a:pPr algn="ctr"/>
                      <a:r>
                        <a:rPr lang="en-US" dirty="0">
                          <a:solidFill>
                            <a:schemeClr val="bg2"/>
                          </a:solidFill>
                          <a:latin typeface="Century Gothic" panose="020B0502020202020204" pitchFamily="34" charset="0"/>
                        </a:rPr>
                        <a:t>Ask</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Help</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86</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9</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4049109764"/>
                  </a:ext>
                </a:extLst>
              </a:tr>
              <a:tr h="370840">
                <a:tc>
                  <a:txBody>
                    <a:bodyPr/>
                    <a:lstStyle/>
                    <a:p>
                      <a:pPr algn="ctr"/>
                      <a:r>
                        <a:rPr lang="en-US" dirty="0">
                          <a:solidFill>
                            <a:schemeClr val="bg2"/>
                          </a:solidFill>
                          <a:latin typeface="Century Gothic" panose="020B0502020202020204" pitchFamily="34" charset="0"/>
                        </a:rPr>
                        <a:t>Attend</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Schedule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82</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3722957401"/>
                  </a:ext>
                </a:extLst>
              </a:tr>
              <a:tr h="370840">
                <a:tc>
                  <a:txBody>
                    <a:bodyPr/>
                    <a:lstStyle/>
                    <a:p>
                      <a:pPr algn="ctr"/>
                      <a:r>
                        <a:rPr lang="en-US" dirty="0">
                          <a:solidFill>
                            <a:schemeClr val="bg2"/>
                          </a:solidFill>
                          <a:latin typeface="Century Gothic" panose="020B0502020202020204" pitchFamily="34" charset="0"/>
                        </a:rPr>
                        <a:t>Accept</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Propose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10</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77</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3582377463"/>
                  </a:ext>
                </a:extLst>
              </a:tr>
              <a:tr h="370840">
                <a:tc>
                  <a:txBody>
                    <a:bodyPr/>
                    <a:lstStyle/>
                    <a:p>
                      <a:pPr algn="ctr"/>
                      <a:r>
                        <a:rPr lang="en-US" dirty="0">
                          <a:solidFill>
                            <a:schemeClr val="bg2"/>
                          </a:solidFill>
                          <a:latin typeface="Century Gothic" panose="020B0502020202020204" pitchFamily="34" charset="0"/>
                        </a:rPr>
                        <a:t>Die </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Explode</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14</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ctr"/>
                      <a:r>
                        <a:rPr lang="en-US" dirty="0">
                          <a:solidFill>
                            <a:schemeClr val="bg2"/>
                          </a:solidFill>
                          <a:latin typeface="Century Gothic" panose="020B0502020202020204" pitchFamily="34" charset="0"/>
                        </a:rPr>
                        <a:t>83</a:t>
                      </a:r>
                      <a:endParaRPr lang="en-US"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228930219"/>
                  </a:ext>
                </a:extLst>
              </a:tr>
            </a:tbl>
          </a:graphicData>
        </a:graphic>
      </p:graphicFrame>
      <p:sp>
        <p:nvSpPr>
          <p:cNvPr id="6" name="TextBox 5">
            <a:extLst>
              <a:ext uri="{FF2B5EF4-FFF2-40B4-BE49-F238E27FC236}">
                <a16:creationId xmlns="" xmlns:a16="http://schemas.microsoft.com/office/drawing/2014/main" id="{0E5A1BDB-2DBC-9D49-80A8-4313B74337BD}"/>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367223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 xmlns:a16="http://schemas.microsoft.com/office/drawing/2014/main" id="{256372E4-154A-426F-984B-E68843429810}"/>
              </a:ext>
            </a:extLst>
          </p:cNvPr>
          <p:cNvGrpSpPr/>
          <p:nvPr/>
        </p:nvGrpSpPr>
        <p:grpSpPr>
          <a:xfrm>
            <a:off x="-68580" y="1538142"/>
            <a:ext cx="4648154" cy="2097089"/>
            <a:chOff x="2990850" y="567266"/>
            <a:chExt cx="6257926" cy="5418667"/>
          </a:xfrm>
        </p:grpSpPr>
        <p:graphicFrame>
          <p:nvGraphicFramePr>
            <p:cNvPr id="35" name="Chart 34">
              <a:extLst>
                <a:ext uri="{FF2B5EF4-FFF2-40B4-BE49-F238E27FC236}">
                  <a16:creationId xmlns="" xmlns:a16="http://schemas.microsoft.com/office/drawing/2014/main" id="{A0AEE44E-D9FC-45DF-A88D-ACDA6468085F}"/>
                </a:ext>
              </a:extLst>
            </p:cNvPr>
            <p:cNvGraphicFramePr/>
            <p:nvPr>
              <p:extLst>
                <p:ext uri="{D42A27DB-BD31-4B8C-83A1-F6EECF244321}">
                  <p14:modId xmlns:p14="http://schemas.microsoft.com/office/powerpoint/2010/main" val="1601165932"/>
                </p:ext>
              </p:extLst>
            </p:nvPr>
          </p:nvGraphicFramePr>
          <p:xfrm>
            <a:off x="6143626" y="567266"/>
            <a:ext cx="3105150" cy="53161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Chart 35" title="‰">
              <a:extLst>
                <a:ext uri="{FF2B5EF4-FFF2-40B4-BE49-F238E27FC236}">
                  <a16:creationId xmlns="" xmlns:a16="http://schemas.microsoft.com/office/drawing/2014/main" id="{401D81E2-6BFB-4D12-86A1-BECC96D72668}"/>
                </a:ext>
              </a:extLst>
            </p:cNvPr>
            <p:cNvGraphicFramePr/>
            <p:nvPr>
              <p:extLst>
                <p:ext uri="{D42A27DB-BD31-4B8C-83A1-F6EECF244321}">
                  <p14:modId xmlns:p14="http://schemas.microsoft.com/office/powerpoint/2010/main" val="3426354333"/>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2"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grpSp>
        <p:nvGrpSpPr>
          <p:cNvPr id="37" name="Group 36">
            <a:extLst>
              <a:ext uri="{FF2B5EF4-FFF2-40B4-BE49-F238E27FC236}">
                <a16:creationId xmlns="" xmlns:a16="http://schemas.microsoft.com/office/drawing/2014/main" id="{60DBE023-6F6D-4A6A-AD2E-1F4DD648E333}"/>
              </a:ext>
            </a:extLst>
          </p:cNvPr>
          <p:cNvGrpSpPr/>
          <p:nvPr/>
        </p:nvGrpSpPr>
        <p:grpSpPr>
          <a:xfrm>
            <a:off x="4439125" y="1525035"/>
            <a:ext cx="4648154" cy="2123303"/>
            <a:chOff x="2990850" y="567264"/>
            <a:chExt cx="6257926" cy="5486400"/>
          </a:xfrm>
        </p:grpSpPr>
        <p:graphicFrame>
          <p:nvGraphicFramePr>
            <p:cNvPr id="38" name="Chart 37">
              <a:extLst>
                <a:ext uri="{FF2B5EF4-FFF2-40B4-BE49-F238E27FC236}">
                  <a16:creationId xmlns="" xmlns:a16="http://schemas.microsoft.com/office/drawing/2014/main" id="{8E55CE37-515A-4AF3-908E-A9A686DCC65B}"/>
                </a:ext>
              </a:extLst>
            </p:cNvPr>
            <p:cNvGraphicFramePr/>
            <p:nvPr>
              <p:extLst>
                <p:ext uri="{D42A27DB-BD31-4B8C-83A1-F6EECF244321}">
                  <p14:modId xmlns:p14="http://schemas.microsoft.com/office/powerpoint/2010/main" val="3833280503"/>
                </p:ext>
              </p:extLst>
            </p:nvPr>
          </p:nvGraphicFramePr>
          <p:xfrm>
            <a:off x="6143626" y="567264"/>
            <a:ext cx="3105150" cy="54864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9" name="Chart 38" title="‰">
              <a:extLst>
                <a:ext uri="{FF2B5EF4-FFF2-40B4-BE49-F238E27FC236}">
                  <a16:creationId xmlns="" xmlns:a16="http://schemas.microsoft.com/office/drawing/2014/main" id="{F3F024C7-EFC7-45B1-A25B-4B19640666AF}"/>
                </a:ext>
              </a:extLst>
            </p:cNvPr>
            <p:cNvGraphicFramePr/>
            <p:nvPr>
              <p:extLst>
                <p:ext uri="{D42A27DB-BD31-4B8C-83A1-F6EECF244321}">
                  <p14:modId xmlns:p14="http://schemas.microsoft.com/office/powerpoint/2010/main" val="128257219"/>
                </p:ext>
              </p:extLst>
            </p:nvPr>
          </p:nvGraphicFramePr>
          <p:xfrm>
            <a:off x="2990850" y="567266"/>
            <a:ext cx="3105150" cy="5418668"/>
          </p:xfrm>
          <a:graphic>
            <a:graphicData uri="http://schemas.openxmlformats.org/drawingml/2006/chart">
              <c:chart xmlns:c="http://schemas.openxmlformats.org/drawingml/2006/chart" xmlns:r="http://schemas.openxmlformats.org/officeDocument/2006/relationships" r:id="rId6"/>
            </a:graphicData>
          </a:graphic>
        </p:graphicFrame>
      </p:grpSp>
      <p:grpSp>
        <p:nvGrpSpPr>
          <p:cNvPr id="40" name="Group 39">
            <a:extLst>
              <a:ext uri="{FF2B5EF4-FFF2-40B4-BE49-F238E27FC236}">
                <a16:creationId xmlns="" xmlns:a16="http://schemas.microsoft.com/office/drawing/2014/main" id="{256372E4-154A-426F-984B-E68843429810}"/>
              </a:ext>
            </a:extLst>
          </p:cNvPr>
          <p:cNvGrpSpPr/>
          <p:nvPr/>
        </p:nvGrpSpPr>
        <p:grpSpPr>
          <a:xfrm>
            <a:off x="-83298" y="3592604"/>
            <a:ext cx="4648154" cy="2210336"/>
            <a:chOff x="2990850" y="567266"/>
            <a:chExt cx="6257926" cy="5711284"/>
          </a:xfrm>
        </p:grpSpPr>
        <p:graphicFrame>
          <p:nvGraphicFramePr>
            <p:cNvPr id="41" name="Chart 40">
              <a:extLst>
                <a:ext uri="{FF2B5EF4-FFF2-40B4-BE49-F238E27FC236}">
                  <a16:creationId xmlns="" xmlns:a16="http://schemas.microsoft.com/office/drawing/2014/main" id="{A0AEE44E-D9FC-45DF-A88D-ACDA6468085F}"/>
                </a:ext>
              </a:extLst>
            </p:cNvPr>
            <p:cNvGraphicFramePr/>
            <p:nvPr>
              <p:extLst>
                <p:ext uri="{D42A27DB-BD31-4B8C-83A1-F6EECF244321}">
                  <p14:modId xmlns:p14="http://schemas.microsoft.com/office/powerpoint/2010/main" val="2473944885"/>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2" name="Chart 41" title="‰">
              <a:extLst>
                <a:ext uri="{FF2B5EF4-FFF2-40B4-BE49-F238E27FC236}">
                  <a16:creationId xmlns="" xmlns:a16="http://schemas.microsoft.com/office/drawing/2014/main" id="{401D81E2-6BFB-4D12-86A1-BECC96D72668}"/>
                </a:ext>
              </a:extLst>
            </p:cNvPr>
            <p:cNvGraphicFramePr/>
            <p:nvPr>
              <p:extLst>
                <p:ext uri="{D42A27DB-BD31-4B8C-83A1-F6EECF244321}">
                  <p14:modId xmlns:p14="http://schemas.microsoft.com/office/powerpoint/2010/main" val="2154020980"/>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8"/>
            </a:graphicData>
          </a:graphic>
        </p:graphicFrame>
      </p:grpSp>
      <p:grpSp>
        <p:nvGrpSpPr>
          <p:cNvPr id="43" name="Group 42">
            <a:extLst>
              <a:ext uri="{FF2B5EF4-FFF2-40B4-BE49-F238E27FC236}">
                <a16:creationId xmlns="" xmlns:a16="http://schemas.microsoft.com/office/drawing/2014/main" id="{256372E4-154A-426F-984B-E68843429810}"/>
              </a:ext>
            </a:extLst>
          </p:cNvPr>
          <p:cNvGrpSpPr/>
          <p:nvPr/>
        </p:nvGrpSpPr>
        <p:grpSpPr>
          <a:xfrm>
            <a:off x="4267200" y="3618817"/>
            <a:ext cx="4876800" cy="2210336"/>
            <a:chOff x="2990850" y="567266"/>
            <a:chExt cx="6257926" cy="5711284"/>
          </a:xfrm>
        </p:grpSpPr>
        <p:graphicFrame>
          <p:nvGraphicFramePr>
            <p:cNvPr id="44" name="Chart 43">
              <a:extLst>
                <a:ext uri="{FF2B5EF4-FFF2-40B4-BE49-F238E27FC236}">
                  <a16:creationId xmlns="" xmlns:a16="http://schemas.microsoft.com/office/drawing/2014/main" id="{A0AEE44E-D9FC-45DF-A88D-ACDA6468085F}"/>
                </a:ext>
              </a:extLst>
            </p:cNvPr>
            <p:cNvGraphicFramePr/>
            <p:nvPr>
              <p:extLst>
                <p:ext uri="{D42A27DB-BD31-4B8C-83A1-F6EECF244321}">
                  <p14:modId xmlns:p14="http://schemas.microsoft.com/office/powerpoint/2010/main" val="2119410826"/>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5" name="Chart 44" title="‰">
              <a:extLst>
                <a:ext uri="{FF2B5EF4-FFF2-40B4-BE49-F238E27FC236}">
                  <a16:creationId xmlns="" xmlns:a16="http://schemas.microsoft.com/office/drawing/2014/main" id="{401D81E2-6BFB-4D12-86A1-BECC96D72668}"/>
                </a:ext>
              </a:extLst>
            </p:cNvPr>
            <p:cNvGraphicFramePr/>
            <p:nvPr>
              <p:extLst>
                <p:ext uri="{D42A27DB-BD31-4B8C-83A1-F6EECF244321}">
                  <p14:modId xmlns:p14="http://schemas.microsoft.com/office/powerpoint/2010/main" val="411061018"/>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10"/>
            </a:graphicData>
          </a:graphic>
        </p:graphicFrame>
      </p:grpSp>
      <p:sp>
        <p:nvSpPr>
          <p:cNvPr id="16" name="TextBox 15">
            <a:extLst>
              <a:ext uri="{FF2B5EF4-FFF2-40B4-BE49-F238E27FC236}">
                <a16:creationId xmlns="" xmlns:a16="http://schemas.microsoft.com/office/drawing/2014/main" id="{B2384ACD-E7AC-9645-A90C-998D44EEC4A1}"/>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565855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 xmlns:a16="http://schemas.microsoft.com/office/drawing/2014/main" id="{442613AB-8E01-2947-BD06-5CF76D1FCF19}"/>
              </a:ext>
            </a:extLst>
          </p:cNvPr>
          <p:cNvGrpSpPr/>
          <p:nvPr/>
        </p:nvGrpSpPr>
        <p:grpSpPr>
          <a:xfrm>
            <a:off x="76200" y="1617609"/>
            <a:ext cx="8590218" cy="3875614"/>
            <a:chOff x="2990850" y="567266"/>
            <a:chExt cx="6257926" cy="5418667"/>
          </a:xfrm>
        </p:grpSpPr>
        <p:graphicFrame>
          <p:nvGraphicFramePr>
            <p:cNvPr id="17" name="Chart 16">
              <a:extLst>
                <a:ext uri="{FF2B5EF4-FFF2-40B4-BE49-F238E27FC236}">
                  <a16:creationId xmlns="" xmlns:a16="http://schemas.microsoft.com/office/drawing/2014/main" id="{8EB65856-515B-2549-9D3A-9DBFFEBF3605}"/>
                </a:ext>
              </a:extLst>
            </p:cNvPr>
            <p:cNvGraphicFramePr/>
            <p:nvPr>
              <p:extLst>
                <p:ext uri="{D42A27DB-BD31-4B8C-83A1-F6EECF244321}">
                  <p14:modId xmlns:p14="http://schemas.microsoft.com/office/powerpoint/2010/main" val="2025722213"/>
                </p:ext>
              </p:extLst>
            </p:nvPr>
          </p:nvGraphicFramePr>
          <p:xfrm>
            <a:off x="6143626" y="567266"/>
            <a:ext cx="3105150" cy="53161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8" name="Chart 17" title="‰">
              <a:extLst>
                <a:ext uri="{FF2B5EF4-FFF2-40B4-BE49-F238E27FC236}">
                  <a16:creationId xmlns="" xmlns:a16="http://schemas.microsoft.com/office/drawing/2014/main" id="{1AFA9A9D-FF3E-CF4E-848C-21BDC537D590}"/>
                </a:ext>
              </a:extLst>
            </p:cNvPr>
            <p:cNvGraphicFramePr/>
            <p:nvPr>
              <p:extLst>
                <p:ext uri="{D42A27DB-BD31-4B8C-83A1-F6EECF244321}">
                  <p14:modId xmlns:p14="http://schemas.microsoft.com/office/powerpoint/2010/main" val="92119025"/>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1085066" y="4598112"/>
            <a:ext cx="739238" cy="368546"/>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p:cNvSpPr/>
          <p:nvPr/>
        </p:nvSpPr>
        <p:spPr>
          <a:xfrm rot="18692017">
            <a:off x="5342525"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3" name="Rounded Rectangle 22">
            <a:extLst>
              <a:ext uri="{FF2B5EF4-FFF2-40B4-BE49-F238E27FC236}">
                <a16:creationId xmlns="" xmlns:a16="http://schemas.microsoft.com/office/drawing/2014/main" id="{1E5E5077-DE00-5445-947B-F4893BED47EA}"/>
              </a:ext>
            </a:extLst>
          </p:cNvPr>
          <p:cNvSpPr/>
          <p:nvPr/>
        </p:nvSpPr>
        <p:spPr>
          <a:xfrm rot="18692017">
            <a:off x="7590426"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ounded Rectangle 23">
            <a:extLst>
              <a:ext uri="{FF2B5EF4-FFF2-40B4-BE49-F238E27FC236}">
                <a16:creationId xmlns="" xmlns:a16="http://schemas.microsoft.com/office/drawing/2014/main" id="{6B186DD4-DAA2-B848-8FFA-74B0634D1B5E}"/>
              </a:ext>
            </a:extLst>
          </p:cNvPr>
          <p:cNvSpPr/>
          <p:nvPr/>
        </p:nvSpPr>
        <p:spPr>
          <a:xfrm rot="18692017">
            <a:off x="4809125" y="4715049"/>
            <a:ext cx="905866" cy="390357"/>
          </a:xfrm>
          <a:prstGeom prst="roundRect">
            <a:avLst/>
          </a:prstGeom>
          <a:noFill/>
          <a:ln w="38100">
            <a:solidFill>
              <a:srgbClr val="C3799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 xmlns:a16="http://schemas.microsoft.com/office/drawing/2014/main" id="{67E45F79-C683-AF45-9A47-87E61D49150C}"/>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84468174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 xmlns:a16="http://schemas.microsoft.com/office/drawing/2014/main" id="{DA3668F8-65DC-B84D-BDAA-8A06D4D33CDC}"/>
              </a:ext>
            </a:extLst>
          </p:cNvPr>
          <p:cNvGrpSpPr/>
          <p:nvPr/>
        </p:nvGrpSpPr>
        <p:grpSpPr>
          <a:xfrm>
            <a:off x="286711" y="1686836"/>
            <a:ext cx="8551526" cy="3906385"/>
            <a:chOff x="2990850" y="567264"/>
            <a:chExt cx="6257926" cy="5486400"/>
          </a:xfrm>
        </p:grpSpPr>
        <p:graphicFrame>
          <p:nvGraphicFramePr>
            <p:cNvPr id="23" name="Chart 22">
              <a:extLst>
                <a:ext uri="{FF2B5EF4-FFF2-40B4-BE49-F238E27FC236}">
                  <a16:creationId xmlns="" xmlns:a16="http://schemas.microsoft.com/office/drawing/2014/main" id="{116145C5-F23D-9543-8862-C3F676EF9287}"/>
                </a:ext>
              </a:extLst>
            </p:cNvPr>
            <p:cNvGraphicFramePr/>
            <p:nvPr>
              <p:extLst>
                <p:ext uri="{D42A27DB-BD31-4B8C-83A1-F6EECF244321}">
                  <p14:modId xmlns:p14="http://schemas.microsoft.com/office/powerpoint/2010/main" val="956958780"/>
                </p:ext>
              </p:extLst>
            </p:nvPr>
          </p:nvGraphicFramePr>
          <p:xfrm>
            <a:off x="6143626" y="567264"/>
            <a:ext cx="3105150" cy="5486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23" title="‰">
              <a:extLst>
                <a:ext uri="{FF2B5EF4-FFF2-40B4-BE49-F238E27FC236}">
                  <a16:creationId xmlns="" xmlns:a16="http://schemas.microsoft.com/office/drawing/2014/main" id="{E781FF3B-4C8B-7445-96C7-9D4CF5E02448}"/>
                </a:ext>
              </a:extLst>
            </p:cNvPr>
            <p:cNvGraphicFramePr/>
            <p:nvPr>
              <p:extLst>
                <p:ext uri="{D42A27DB-BD31-4B8C-83A1-F6EECF244321}">
                  <p14:modId xmlns:p14="http://schemas.microsoft.com/office/powerpoint/2010/main" val="2465197067"/>
                </p:ext>
              </p:extLst>
            </p:nvPr>
          </p:nvGraphicFramePr>
          <p:xfrm>
            <a:off x="2990850" y="567266"/>
            <a:ext cx="3105150" cy="5418668"/>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1032787" y="4831191"/>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5" name="Rounded Rectangle 24">
            <a:extLst>
              <a:ext uri="{FF2B5EF4-FFF2-40B4-BE49-F238E27FC236}">
                <a16:creationId xmlns="" xmlns:a16="http://schemas.microsoft.com/office/drawing/2014/main" id="{63AE01F0-5307-3C40-AFEA-7AC5CA4659FC}"/>
              </a:ext>
            </a:extLst>
          </p:cNvPr>
          <p:cNvSpPr/>
          <p:nvPr/>
        </p:nvSpPr>
        <p:spPr>
          <a:xfrm rot="18692017">
            <a:off x="1489987" y="4831192"/>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25">
            <a:extLst>
              <a:ext uri="{FF2B5EF4-FFF2-40B4-BE49-F238E27FC236}">
                <a16:creationId xmlns="" xmlns:a16="http://schemas.microsoft.com/office/drawing/2014/main" id="{71C5771A-D82D-054D-951D-58BD61DC7D94}"/>
              </a:ext>
            </a:extLst>
          </p:cNvPr>
          <p:cNvSpPr/>
          <p:nvPr/>
        </p:nvSpPr>
        <p:spPr>
          <a:xfrm rot="18692017">
            <a:off x="5133002" y="4889445"/>
            <a:ext cx="1203578" cy="304614"/>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 xmlns:a16="http://schemas.microsoft.com/office/drawing/2014/main" id="{395F17A5-1482-774D-9436-4AA0AA0FFA2E}"/>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
        <p:nvSpPr>
          <p:cNvPr id="12" name="Rounded Rectangle 11">
            <a:extLst>
              <a:ext uri="{FF2B5EF4-FFF2-40B4-BE49-F238E27FC236}">
                <a16:creationId xmlns="" xmlns:a16="http://schemas.microsoft.com/office/drawing/2014/main" id="{C9E516F6-A600-464C-B5F0-02555FD2C3AF}"/>
              </a:ext>
            </a:extLst>
          </p:cNvPr>
          <p:cNvSpPr/>
          <p:nvPr/>
        </p:nvSpPr>
        <p:spPr>
          <a:xfrm rot="18692017">
            <a:off x="3390977" y="4831192"/>
            <a:ext cx="1061513" cy="334776"/>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ounded Rectangle 12">
            <a:extLst>
              <a:ext uri="{FF2B5EF4-FFF2-40B4-BE49-F238E27FC236}">
                <a16:creationId xmlns="" xmlns:a16="http://schemas.microsoft.com/office/drawing/2014/main" id="{080BB011-DCF6-6F4A-8158-16AF63EEF632}"/>
              </a:ext>
            </a:extLst>
          </p:cNvPr>
          <p:cNvSpPr/>
          <p:nvPr/>
        </p:nvSpPr>
        <p:spPr>
          <a:xfrm rot="18692017">
            <a:off x="7511726" y="4889445"/>
            <a:ext cx="1203578" cy="304614"/>
          </a:xfrm>
          <a:prstGeom prst="roundRect">
            <a:avLst/>
          </a:prstGeom>
          <a:noFill/>
          <a:ln w="38100">
            <a:solidFill>
              <a:srgbClr val="95A28E"/>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471341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 xmlns:a16="http://schemas.microsoft.com/office/drawing/2014/main" id="{5F00F344-24FB-4241-B98A-EA66746672A6}"/>
              </a:ext>
            </a:extLst>
          </p:cNvPr>
          <p:cNvGrpSpPr/>
          <p:nvPr/>
        </p:nvGrpSpPr>
        <p:grpSpPr>
          <a:xfrm>
            <a:off x="406811" y="1639181"/>
            <a:ext cx="8311325" cy="3952283"/>
            <a:chOff x="2990850" y="567266"/>
            <a:chExt cx="6257926" cy="5711284"/>
          </a:xfrm>
        </p:grpSpPr>
        <p:graphicFrame>
          <p:nvGraphicFramePr>
            <p:cNvPr id="22" name="Chart 21">
              <a:extLst>
                <a:ext uri="{FF2B5EF4-FFF2-40B4-BE49-F238E27FC236}">
                  <a16:creationId xmlns="" xmlns:a16="http://schemas.microsoft.com/office/drawing/2014/main" id="{A7ACD9A5-F34E-7D40-B87A-B72B9A7D1C89}"/>
                </a:ext>
              </a:extLst>
            </p:cNvPr>
            <p:cNvGraphicFramePr/>
            <p:nvPr>
              <p:extLst>
                <p:ext uri="{D42A27DB-BD31-4B8C-83A1-F6EECF244321}">
                  <p14:modId xmlns:p14="http://schemas.microsoft.com/office/powerpoint/2010/main" val="2360566092"/>
                </p:ext>
              </p:extLst>
            </p:nvPr>
          </p:nvGraphicFramePr>
          <p:xfrm>
            <a:off x="6143626" y="567266"/>
            <a:ext cx="3105150" cy="57112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title="‰">
              <a:extLst>
                <a:ext uri="{FF2B5EF4-FFF2-40B4-BE49-F238E27FC236}">
                  <a16:creationId xmlns="" xmlns:a16="http://schemas.microsoft.com/office/drawing/2014/main" id="{88CE20C0-8B24-6A49-BDED-1B4E844C855D}"/>
                </a:ext>
              </a:extLst>
            </p:cNvPr>
            <p:cNvGraphicFramePr/>
            <p:nvPr>
              <p:extLst>
                <p:ext uri="{D42A27DB-BD31-4B8C-83A1-F6EECF244321}">
                  <p14:modId xmlns:p14="http://schemas.microsoft.com/office/powerpoint/2010/main" val="2504173405"/>
                </p:ext>
              </p:extLst>
            </p:nvPr>
          </p:nvGraphicFramePr>
          <p:xfrm>
            <a:off x="2990850" y="567266"/>
            <a:ext cx="3105150" cy="5418667"/>
          </p:xfrm>
          <a:graphic>
            <a:graphicData uri="http://schemas.openxmlformats.org/drawingml/2006/chart">
              <c:chart xmlns:c="http://schemas.openxmlformats.org/drawingml/2006/chart" xmlns:r="http://schemas.openxmlformats.org/officeDocument/2006/relationships" r:id="rId4"/>
            </a:graphicData>
          </a:graphic>
        </p:graphicFrame>
      </p:grpSp>
      <p:sp>
        <p:nvSpPr>
          <p:cNvPr id="4" name="Rounded Rectangle 3"/>
          <p:cNvSpPr/>
          <p:nvPr/>
        </p:nvSpPr>
        <p:spPr>
          <a:xfrm rot="18692017">
            <a:off x="897443" y="4652088"/>
            <a:ext cx="739238" cy="324641"/>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ounded Rectangle 18"/>
          <p:cNvSpPr/>
          <p:nvPr/>
        </p:nvSpPr>
        <p:spPr>
          <a:xfrm rot="18692017">
            <a:off x="2537223" y="4739925"/>
            <a:ext cx="869597"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ounded Rectangle 19"/>
          <p:cNvSpPr/>
          <p:nvPr/>
        </p:nvSpPr>
        <p:spPr>
          <a:xfrm rot="18692017">
            <a:off x="5038414" y="4793140"/>
            <a:ext cx="860005"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ounded Rectangle 16"/>
          <p:cNvSpPr/>
          <p:nvPr/>
        </p:nvSpPr>
        <p:spPr>
          <a:xfrm rot="18692017">
            <a:off x="3594934" y="4691133"/>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p:cNvSpPr>
            <a:spLocks noGrp="1"/>
          </p:cNvSpPr>
          <p:nvPr>
            <p:ph type="title"/>
          </p:nvPr>
        </p:nvSpPr>
        <p:spPr/>
        <p:txBody>
          <a:bodyPr>
            <a:noAutofit/>
          </a:bodyPr>
          <a:lstStyle/>
          <a:p>
            <a:r>
              <a:rPr lang="en-US" sz="3600" dirty="0">
                <a:latin typeface="Century Gothic" charset="0"/>
                <a:ea typeface="Century Gothic" charset="0"/>
                <a:cs typeface="Century Gothic" charset="0"/>
              </a:rPr>
              <a:t>Event distributions from </a:t>
            </a:r>
            <a:r>
              <a:rPr lang="en-US" sz="3600" dirty="0" err="1">
                <a:latin typeface="Century Gothic" charset="0"/>
                <a:ea typeface="Century Gothic" charset="0"/>
                <a:cs typeface="Century Gothic" charset="0"/>
              </a:rPr>
              <a:t>TemProb</a:t>
            </a:r>
            <a:endParaRPr lang="en-US" sz="3600" dirty="0">
              <a:latin typeface="Century Gothic" charset="0"/>
              <a:ea typeface="Century Gothic" charset="0"/>
              <a:cs typeface="Century Gothic" charset="0"/>
            </a:endParaRPr>
          </a:p>
        </p:txBody>
      </p:sp>
      <p:sp>
        <p:nvSpPr>
          <p:cNvPr id="24" name="Rounded Rectangle 23">
            <a:extLst>
              <a:ext uri="{FF2B5EF4-FFF2-40B4-BE49-F238E27FC236}">
                <a16:creationId xmlns="" xmlns:a16="http://schemas.microsoft.com/office/drawing/2014/main" id="{0364FDA4-BA70-BF43-BCAE-43EE56404990}"/>
              </a:ext>
            </a:extLst>
          </p:cNvPr>
          <p:cNvSpPr/>
          <p:nvPr/>
        </p:nvSpPr>
        <p:spPr>
          <a:xfrm rot="18692017">
            <a:off x="7823399" y="4743517"/>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ounded Rectangle 24">
            <a:extLst>
              <a:ext uri="{FF2B5EF4-FFF2-40B4-BE49-F238E27FC236}">
                <a16:creationId xmlns="" xmlns:a16="http://schemas.microsoft.com/office/drawing/2014/main" id="{A2F9E6C8-867A-AD49-A732-C447D45E119D}"/>
              </a:ext>
            </a:extLst>
          </p:cNvPr>
          <p:cNvSpPr/>
          <p:nvPr/>
        </p:nvSpPr>
        <p:spPr>
          <a:xfrm rot="18692017">
            <a:off x="5613599" y="4743517"/>
            <a:ext cx="739238" cy="368546"/>
          </a:xfrm>
          <a:prstGeom prst="roundRect">
            <a:avLst/>
          </a:prstGeom>
          <a:noFill/>
          <a:ln w="38100">
            <a:solidFill>
              <a:srgbClr val="665E8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 xmlns:a16="http://schemas.microsoft.com/office/drawing/2014/main" id="{8CEDBD31-CCF0-F643-AFBB-9F6527276537}"/>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5759450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EE7ADF-5BC0-414F-9158-EFB96D484FD3}"/>
              </a:ext>
            </a:extLst>
          </p:cNvPr>
          <p:cNvSpPr>
            <a:spLocks noGrp="1"/>
          </p:cNvSpPr>
          <p:nvPr>
            <p:ph type="title"/>
          </p:nvPr>
        </p:nvSpPr>
        <p:spPr/>
        <p:txBody>
          <a:bodyPr/>
          <a:lstStyle/>
          <a:p>
            <a:r>
              <a:rPr lang="en-US" dirty="0"/>
              <a:t>Apply </a:t>
            </a:r>
            <a:r>
              <a:rPr lang="en-US" dirty="0" err="1"/>
              <a:t>TemProb</a:t>
            </a:r>
            <a:r>
              <a:rPr lang="en-US" dirty="0"/>
              <a:t> in </a:t>
            </a:r>
            <a:r>
              <a:rPr lang="en-US" u="sng" dirty="0"/>
              <a:t>learning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19D1DA06-FD6B-465D-A38F-AD3A108E37A2}"/>
                  </a:ext>
                </a:extLst>
              </p:cNvPr>
              <p:cNvSpPr>
                <a:spLocks noGrp="1"/>
              </p:cNvSpPr>
              <p:nvPr>
                <p:ph idx="1"/>
              </p:nvPr>
            </p:nvSpPr>
            <p:spPr/>
            <p:txBody>
              <a:bodyPr/>
              <a:lstStyle/>
              <a:p>
                <a:pPr marL="0" indent="0">
                  <a:buNone/>
                </a:pPr>
                <a:r>
                  <a:rPr lang="en-US" sz="2400" dirty="0"/>
                  <a:t>Let </a:t>
                </a:r>
                <a14:m>
                  <m:oMath xmlns:m="http://schemas.openxmlformats.org/officeDocument/2006/math">
                    <m:r>
                      <a:rPr lang="en-US" sz="2400" b="0" i="1" smtClean="0">
                        <a:latin typeface="Cambria Math" panose="02040503050406030204" pitchFamily="18" charset="0"/>
                      </a:rPr>
                      <m:t>𝐶</m:t>
                    </m:r>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oMath>
                </a14:m>
                <a:r>
                  <a:rPr lang="en-US" sz="2400" dirty="0"/>
                  <a:t> be the number of appearances of </a:t>
                </a:r>
                <a14:m>
                  <m:oMath xmlns:m="http://schemas.openxmlformats.org/officeDocument/2006/math">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e>
                    </m:d>
                  </m:oMath>
                </a14:m>
                <a:r>
                  <a:rPr lang="en-US" sz="2400" dirty="0"/>
                  <a:t> in </a:t>
                </a:r>
                <a:r>
                  <a:rPr lang="en-US" sz="2400" dirty="0" err="1"/>
                  <a:t>TemProb</a:t>
                </a:r>
                <a:r>
                  <a:rPr lang="en-US" sz="2400" dirty="0"/>
                  <a:t> that are classified to be relation </a:t>
                </a:r>
                <a14:m>
                  <m:oMath xmlns:m="http://schemas.openxmlformats.org/officeDocument/2006/math">
                    <m:r>
                      <a:rPr lang="en-US" sz="2400" b="0" i="1" smtClean="0">
                        <a:latin typeface="Cambria Math" panose="02040503050406030204" pitchFamily="18" charset="0"/>
                      </a:rPr>
                      <m:t>𝑟</m:t>
                    </m:r>
                  </m:oMath>
                </a14:m>
                <a:r>
                  <a:rPr lang="en-US" sz="2400" dirty="0"/>
                  <a:t>.</a:t>
                </a:r>
              </a:p>
              <a:p>
                <a:pPr marL="0" indent="0">
                  <a:buNone/>
                </a:pPr>
                <a:endParaRPr lang="en-US" sz="2400" dirty="0"/>
              </a:p>
              <a:p>
                <a:pPr marL="0" indent="0">
                  <a:buNone/>
                </a:pPr>
                <a:r>
                  <a:rPr lang="en-US" sz="2400" dirty="0"/>
                  <a:t>For each pair of verb events,</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charset="0"/>
                            </a:rPr>
                          </m:ctrlPr>
                        </m:sSubPr>
                        <m:e>
                          <m:r>
                            <a:rPr lang="en-US" sz="2400" b="0" i="1" smtClean="0">
                              <a:latin typeface="Cambria Math" charset="0"/>
                            </a:rPr>
                            <m:t>h</m:t>
                          </m:r>
                        </m:e>
                        <m:sub>
                          <m:r>
                            <a:rPr lang="en-US" sz="2400" b="0" i="1" smtClean="0">
                              <a:latin typeface="Cambria Math" panose="02040503050406030204" pitchFamily="18" charset="0"/>
                            </a:rPr>
                            <m:t>𝑟</m:t>
                          </m:r>
                        </m:sub>
                      </m:sSub>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e>
                      </m:d>
                      <m:r>
                        <a:rPr lang="en-US" sz="2400" b="0" i="1" smtClean="0">
                          <a:latin typeface="Cambria Math" panose="02040503050406030204" pitchFamily="18" charset="0"/>
                        </a:rPr>
                        <m:t>=</m:t>
                      </m:r>
                      <m:f>
                        <m:fPr>
                          <m:ctrlPr>
                            <a:rPr lang="en-US" sz="2400" b="0" i="1" smtClean="0">
                              <a:latin typeface="Cambria Math" charset="0"/>
                            </a:rPr>
                          </m:ctrlPr>
                        </m:fPr>
                        <m:num>
                          <m:r>
                            <a:rPr lang="en-US" sz="2400" b="0" i="1" smtClean="0">
                              <a:latin typeface="Cambria Math" panose="02040503050406030204" pitchFamily="18" charset="0"/>
                            </a:rPr>
                            <m:t>𝐶</m:t>
                          </m:r>
                          <m:d>
                            <m:dPr>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r>
                                <a:rPr lang="en-US" sz="2400" b="0" i="1" smtClean="0">
                                  <a:latin typeface="Cambria Math" panose="02040503050406030204" pitchFamily="18" charset="0"/>
                                </a:rPr>
                                <m:t>𝑟</m:t>
                              </m:r>
                            </m:e>
                          </m:d>
                        </m:num>
                        <m:den>
                          <m:nary>
                            <m:naryPr>
                              <m:chr m:val="∑"/>
                              <m:supHide m:val="on"/>
                              <m:ctrlPr>
                                <a:rPr lang="en-US" sz="2400" b="0" i="1" smtClean="0">
                                  <a:latin typeface="Cambria Math" charset="0"/>
                                </a:rPr>
                              </m:ctrlPr>
                            </m:naryPr>
                            <m:sub>
                              <m:sSup>
                                <m:sSupPr>
                                  <m:ctrlPr>
                                    <a:rPr lang="en-US" sz="2400" b="0" i="1" smtClean="0">
                                      <a:latin typeface="Cambria Math" charset="0"/>
                                    </a:rPr>
                                  </m:ctrlPr>
                                </m:sSupPr>
                                <m:e>
                                  <m:r>
                                    <a:rPr lang="en-US" sz="2400" b="0" i="1" smtClean="0">
                                      <a:latin typeface="Cambria Math" panose="02040503050406030204" pitchFamily="18" charset="0"/>
                                    </a:rPr>
                                    <m:t>𝑟</m:t>
                                  </m:r>
                                </m:e>
                                <m:sup>
                                  <m:r>
                                    <a:rPr lang="en-US" sz="2400" b="0" i="1" smtClean="0">
                                      <a:latin typeface="Cambria Math" panose="02040503050406030204" pitchFamily="18" charset="0"/>
                                    </a:rPr>
                                    <m:t>′</m:t>
                                  </m:r>
                                </m:sup>
                              </m:sSup>
                            </m:sub>
                            <m:sup/>
                            <m:e>
                              <m:r>
                                <a:rPr lang="en-US" sz="2400" b="0" i="1" smtClean="0">
                                  <a:latin typeface="Cambria Math" panose="02040503050406030204" pitchFamily="18" charset="0"/>
                                </a:rPr>
                                <m:t>𝐶</m:t>
                              </m:r>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m:t>
                              </m:r>
                              <m:sSup>
                                <m:sSupPr>
                                  <m:ctrlPr>
                                    <a:rPr lang="en-US" sz="2400" b="0" i="1" smtClean="0">
                                      <a:latin typeface="Cambria Math" charset="0"/>
                                    </a:rPr>
                                  </m:ctrlPr>
                                </m:sSupPr>
                                <m:e>
                                  <m:r>
                                    <a:rPr lang="en-US" sz="2400" b="0" i="1" smtClean="0">
                                      <a:latin typeface="Cambria Math" panose="02040503050406030204" pitchFamily="18" charset="0"/>
                                    </a:rPr>
                                    <m:t>𝑟</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e>
                          </m:nary>
                        </m:den>
                      </m:f>
                    </m:oMath>
                  </m:oMathPara>
                </a14:m>
                <a:endParaRPr lang="en-US" sz="2400" dirty="0"/>
              </a:p>
              <a:p>
                <a:pPr marL="0" indent="0">
                  <a:buNone/>
                </a:pPr>
                <a:r>
                  <a:rPr lang="en-US" sz="2400" dirty="0"/>
                  <a:t>is the prior probability of them being relation </a:t>
                </a:r>
                <a14:m>
                  <m:oMath xmlns:m="http://schemas.openxmlformats.org/officeDocument/2006/math">
                    <m:r>
                      <a:rPr lang="en-US" sz="2400" b="0" i="1" smtClean="0">
                        <a:latin typeface="Cambria Math" panose="02040503050406030204" pitchFamily="18" charset="0"/>
                      </a:rPr>
                      <m:t>𝑟</m:t>
                    </m:r>
                  </m:oMath>
                </a14:m>
                <a:r>
                  <a:rPr lang="en-US" sz="2400" dirty="0"/>
                  <a:t>.</a:t>
                </a:r>
              </a:p>
              <a:p>
                <a:pPr marL="0" indent="0">
                  <a:buNone/>
                </a:pPr>
                <a:endParaRPr lang="en-US" sz="2400" dirty="0"/>
              </a:p>
              <a:p>
                <a:pPr marL="0" indent="0">
                  <a:buNone/>
                </a:pPr>
                <a:r>
                  <a:rPr lang="en-US" sz="2400" dirty="0"/>
                  <a:t>Learning: We can add the prior in </a:t>
                </a:r>
                <a:r>
                  <a:rPr lang="en-US" sz="2400" dirty="0" err="1"/>
                  <a:t>TemProb</a:t>
                </a:r>
                <a:r>
                  <a:rPr lang="en-US" sz="2400" dirty="0"/>
                  <a:t> as an additional feature and retrain our system.</a:t>
                </a:r>
              </a:p>
            </p:txBody>
          </p:sp>
        </mc:Choice>
        <mc:Fallback xmlns="">
          <p:sp>
            <p:nvSpPr>
              <p:cNvPr id="3" name="Content Placeholder 2">
                <a:extLst>
                  <a:ext uri="{FF2B5EF4-FFF2-40B4-BE49-F238E27FC236}">
                    <a16:creationId xmlns:a16="http://schemas.microsoft.com/office/drawing/2014/main" id="{19D1DA06-FD6B-465D-A38F-AD3A108E37A2}"/>
                  </a:ext>
                </a:extLst>
              </p:cNvPr>
              <p:cNvSpPr>
                <a:spLocks noGrp="1" noRot="1" noChangeAspect="1" noMove="1" noResize="1" noEditPoints="1" noAdjustHandles="1" noChangeArrowheads="1" noChangeShapeType="1" noTextEdit="1"/>
              </p:cNvSpPr>
              <p:nvPr>
                <p:ph idx="1"/>
              </p:nvPr>
            </p:nvSpPr>
            <p:spPr>
              <a:blipFill>
                <a:blip r:embed="rId3"/>
                <a:stretch>
                  <a:fillRect l="-1040" t="-490"/>
                </a:stretch>
              </a:blipFill>
            </p:spPr>
            <p:txBody>
              <a:bodyPr/>
              <a:lstStyle/>
              <a:p>
                <a:r>
                  <a:rPr lang="en-US">
                    <a:noFill/>
                  </a:rPr>
                  <a:t> </a:t>
                </a:r>
              </a:p>
            </p:txBody>
          </p:sp>
        </mc:Fallback>
      </mc:AlternateContent>
    </p:spTree>
    <p:extLst>
      <p:ext uri="{BB962C8B-B14F-4D97-AF65-F5344CB8AC3E}">
        <p14:creationId xmlns:p14="http://schemas.microsoft.com/office/powerpoint/2010/main" val="37960773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dissolv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B7DAD8-661B-426E-A64C-930C32D1572C}"/>
              </a:ext>
            </a:extLst>
          </p:cNvPr>
          <p:cNvSpPr>
            <a:spLocks noGrp="1"/>
          </p:cNvSpPr>
          <p:nvPr>
            <p:ph type="title"/>
          </p:nvPr>
        </p:nvSpPr>
        <p:spPr/>
        <p:txBody>
          <a:bodyPr/>
          <a:lstStyle/>
          <a:p>
            <a:r>
              <a:rPr lang="en-US" dirty="0"/>
              <a:t>Apply </a:t>
            </a:r>
            <a:r>
              <a:rPr lang="en-US" dirty="0" err="1"/>
              <a:t>TemProb</a:t>
            </a:r>
            <a:r>
              <a:rPr lang="en-US" dirty="0"/>
              <a:t> in our task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F02C4E20-21E9-49F2-99C9-0CA78E0DF464}"/>
                  </a:ext>
                </a:extLst>
              </p:cNvPr>
              <p:cNvSpPr>
                <a:spLocks noGrp="1"/>
              </p:cNvSpPr>
              <p:nvPr>
                <p:ph idx="4294967295"/>
              </p:nvPr>
            </p:nvSpPr>
            <p:spPr>
              <a:xfrm>
                <a:off x="609600" y="1219200"/>
                <a:ext cx="8534400" cy="5181600"/>
              </a:xfrm>
            </p:spPr>
            <p:txBody>
              <a:bodyPr/>
              <a:lstStyle/>
              <a:p>
                <a:pPr marL="0" indent="0">
                  <a:buNone/>
                </a:pPr>
                <a:r>
                  <a:rPr lang="en-US" u="sng" dirty="0"/>
                  <a:t>Learning</a:t>
                </a:r>
                <a:r>
                  <a:rPr lang="en-US" dirty="0"/>
                  <a:t>: We can add the prior in </a:t>
                </a:r>
                <a:r>
                  <a:rPr lang="en-US" dirty="0" err="1"/>
                  <a:t>TemProb</a:t>
                </a:r>
                <a:r>
                  <a:rPr lang="en-US" dirty="0"/>
                  <a:t> as an additional feature and retrain our system.</a:t>
                </a:r>
              </a:p>
              <a:p>
                <a:pPr marL="0" indent="0">
                  <a:buNone/>
                </a:pPr>
                <a:endParaRPr lang="en-US" dirty="0"/>
              </a:p>
              <a:p>
                <a:pPr marL="0" indent="0">
                  <a:buNone/>
                </a:pPr>
                <a:r>
                  <a:rPr lang="en-US" u="sng" dirty="0"/>
                  <a:t>Inference</a:t>
                </a:r>
                <a:r>
                  <a:rPr lang="en-US" dirty="0"/>
                  <a:t>: We can further add this prior as regularization terms. </a:t>
                </a:r>
              </a:p>
              <a:p>
                <a:pPr lvl="1"/>
                <a:endParaRPr lang="en-US" dirty="0">
                  <a:solidFill>
                    <a:srgbClr val="7030A0"/>
                  </a:solidFill>
                </a:endParaRPr>
              </a:p>
              <a:p>
                <a:pPr marL="457200" lvl="1" indent="0">
                  <a:buNone/>
                </a:pPr>
                <a14:m>
                  <m:oMathPara xmlns:m="http://schemas.openxmlformats.org/officeDocument/2006/math">
                    <m:oMathParaPr>
                      <m:jc m:val="centerGroup"/>
                    </m:oMathParaPr>
                    <m:oMath xmlns:m="http://schemas.openxmlformats.org/officeDocument/2006/math">
                      <m:acc>
                        <m:accPr>
                          <m:chr m:val="̂"/>
                          <m:ctrlPr>
                            <a:rPr lang="en-US" i="1" smtClean="0">
                              <a:solidFill>
                                <a:schemeClr val="tx1">
                                  <a:lumMod val="50000"/>
                                </a:schemeClr>
                              </a:solidFill>
                              <a:latin typeface="Cambria Math" charset="0"/>
                            </a:rPr>
                          </m:ctrlPr>
                        </m:accPr>
                        <m:e>
                          <m:r>
                            <a:rPr lang="en-US" i="1">
                              <a:solidFill>
                                <a:schemeClr val="tx1">
                                  <a:lumMod val="50000"/>
                                </a:schemeClr>
                              </a:solidFill>
                              <a:latin typeface="Cambria Math" panose="02040503050406030204" pitchFamily="18" charset="0"/>
                            </a:rPr>
                            <m:t>𝐼</m:t>
                          </m:r>
                        </m:e>
                      </m:acc>
                      <m:r>
                        <a:rPr lang="en-US" i="1" dirty="0">
                          <a:solidFill>
                            <a:schemeClr val="tx1">
                              <a:lumMod val="50000"/>
                            </a:schemeClr>
                          </a:solidFill>
                          <a:latin typeface="Cambria Math" panose="02040503050406030204" pitchFamily="18" charset="0"/>
                        </a:rPr>
                        <m:t>=</m:t>
                      </m:r>
                      <m:r>
                        <a:rPr lang="en-US" i="1" dirty="0">
                          <a:solidFill>
                            <a:schemeClr val="tx1">
                              <a:lumMod val="50000"/>
                            </a:schemeClr>
                          </a:solidFill>
                          <a:latin typeface="Cambria Math" panose="02040503050406030204" pitchFamily="18" charset="0"/>
                        </a:rPr>
                        <m:t>𝑎𝑟𝑔</m:t>
                      </m:r>
                      <m:func>
                        <m:funcPr>
                          <m:ctrlPr>
                            <a:rPr lang="en-US" i="1" dirty="0">
                              <a:solidFill>
                                <a:schemeClr val="tx1">
                                  <a:lumMod val="50000"/>
                                </a:schemeClr>
                              </a:solidFill>
                              <a:latin typeface="Cambria Math" charset="0"/>
                            </a:rPr>
                          </m:ctrlPr>
                        </m:funcPr>
                        <m:fName>
                          <m:limLow>
                            <m:limLowPr>
                              <m:ctrlPr>
                                <a:rPr lang="en-US" i="1" dirty="0">
                                  <a:solidFill>
                                    <a:schemeClr val="tx1">
                                      <a:lumMod val="50000"/>
                                    </a:schemeClr>
                                  </a:solidFill>
                                  <a:latin typeface="Cambria Math" charset="0"/>
                                </a:rPr>
                              </m:ctrlPr>
                            </m:limLowPr>
                            <m:e>
                              <m:r>
                                <m:rPr>
                                  <m:sty m:val="p"/>
                                </m:rPr>
                                <a:rPr lang="en-US" dirty="0">
                                  <a:solidFill>
                                    <a:schemeClr val="tx1">
                                      <a:lumMod val="50000"/>
                                    </a:schemeClr>
                                  </a:solidFill>
                                  <a:latin typeface="Cambria Math" panose="02040503050406030204" pitchFamily="18" charset="0"/>
                                </a:rPr>
                                <m:t>m</m:t>
                              </m:r>
                              <m:r>
                                <m:rPr>
                                  <m:sty m:val="p"/>
                                </m:rPr>
                                <a:rPr lang="en-US" dirty="0">
                                  <a:solidFill>
                                    <a:schemeClr val="tx1">
                                      <a:lumMod val="50000"/>
                                    </a:schemeClr>
                                  </a:solidFill>
                                  <a:latin typeface="Cambria Math" charset="0"/>
                                </a:rPr>
                                <m:t>ax</m:t>
                              </m:r>
                            </m:e>
                            <m:lim>
                              <m:r>
                                <a:rPr lang="en-US" i="1" dirty="0">
                                  <a:solidFill>
                                    <a:schemeClr val="tx1">
                                      <a:lumMod val="50000"/>
                                    </a:schemeClr>
                                  </a:solidFill>
                                  <a:latin typeface="Cambria Math" panose="02040503050406030204" pitchFamily="18" charset="0"/>
                                </a:rPr>
                                <m:t>𝐼</m:t>
                              </m:r>
                            </m:lim>
                          </m:limLow>
                        </m:fName>
                        <m:e>
                          <m:nary>
                            <m:naryPr>
                              <m:chr m:val="∑"/>
                              <m:supHide m:val="on"/>
                              <m:ctrlPr>
                                <a:rPr lang="en-US" i="1" dirty="0">
                                  <a:solidFill>
                                    <a:schemeClr val="tx1">
                                      <a:lumMod val="50000"/>
                                    </a:schemeClr>
                                  </a:solidFill>
                                  <a:latin typeface="Cambria Math" charset="0"/>
                                </a:rPr>
                              </m:ctrlPr>
                            </m:naryPr>
                            <m:sub>
                              <m:r>
                                <a:rPr lang="en-US" i="1" dirty="0">
                                  <a:solidFill>
                                    <a:schemeClr val="tx1">
                                      <a:lumMod val="50000"/>
                                    </a:schemeClr>
                                  </a:solidFill>
                                  <a:latin typeface="Cambria Math" panose="02040503050406030204" pitchFamily="18" charset="0"/>
                                </a:rPr>
                                <m:t>𝑖</m:t>
                              </m:r>
                              <m:r>
                                <a:rPr lang="en-US" i="1" dirty="0">
                                  <a:solidFill>
                                    <a:schemeClr val="tx1">
                                      <a:lumMod val="50000"/>
                                    </a:schemeClr>
                                  </a:solidFill>
                                  <a:latin typeface="Cambria Math" panose="02040503050406030204" pitchFamily="18" charset="0"/>
                                </a:rPr>
                                <m:t>&lt;</m:t>
                              </m:r>
                              <m:r>
                                <a:rPr lang="en-US" i="1" dirty="0">
                                  <a:solidFill>
                                    <a:schemeClr val="tx1">
                                      <a:lumMod val="50000"/>
                                    </a:schemeClr>
                                  </a:solidFill>
                                  <a:latin typeface="Cambria Math" panose="02040503050406030204" pitchFamily="18" charset="0"/>
                                </a:rPr>
                                <m:t>𝑗</m:t>
                              </m:r>
                            </m:sub>
                            <m:sup/>
                            <m:e>
                              <m:nary>
                                <m:naryPr>
                                  <m:chr m:val="∑"/>
                                  <m:supHide m:val="on"/>
                                  <m:ctrlPr>
                                    <a:rPr lang="en-US" i="1" dirty="0">
                                      <a:solidFill>
                                        <a:schemeClr val="tx1">
                                          <a:lumMod val="50000"/>
                                        </a:schemeClr>
                                      </a:solidFill>
                                      <a:latin typeface="Cambria Math" charset="0"/>
                                    </a:rPr>
                                  </m:ctrlPr>
                                </m:naryPr>
                                <m:sub>
                                  <m:r>
                                    <a:rPr lang="en-US" i="1" dirty="0">
                                      <a:solidFill>
                                        <a:schemeClr val="tx1">
                                          <a:lumMod val="50000"/>
                                        </a:schemeClr>
                                      </a:solidFill>
                                      <a:latin typeface="Cambria Math" panose="02040503050406030204" pitchFamily="18" charset="0"/>
                                    </a:rPr>
                                    <m:t>𝑟</m:t>
                                  </m:r>
                                </m:sub>
                                <m:sup/>
                                <m:e>
                                  <m:r>
                                    <a:rPr lang="en-US" i="1" dirty="0">
                                      <a:solidFill>
                                        <a:schemeClr val="tx1">
                                          <a:lumMod val="50000"/>
                                        </a:schemeClr>
                                      </a:solidFill>
                                      <a:latin typeface="Cambria Math" panose="02040503050406030204" pitchFamily="18" charset="0"/>
                                    </a:rPr>
                                    <m:t>(</m:t>
                                  </m:r>
                                  <m:sSub>
                                    <m:sSubPr>
                                      <m:ctrlPr>
                                        <a:rPr lang="en-US" i="1" dirty="0">
                                          <a:solidFill>
                                            <a:schemeClr val="tx1">
                                              <a:lumMod val="50000"/>
                                            </a:schemeClr>
                                          </a:solidFill>
                                          <a:latin typeface="Cambria Math" charset="0"/>
                                        </a:rPr>
                                      </m:ctrlPr>
                                    </m:sSubPr>
                                    <m:e>
                                      <m:r>
                                        <a:rPr lang="en-US" i="1" dirty="0">
                                          <a:solidFill>
                                            <a:schemeClr val="tx1">
                                              <a:lumMod val="50000"/>
                                            </a:schemeClr>
                                          </a:solidFill>
                                          <a:latin typeface="Cambria Math" panose="02040503050406030204" pitchFamily="18" charset="0"/>
                                        </a:rPr>
                                        <m:t>𝑓</m:t>
                                      </m:r>
                                    </m:e>
                                    <m:sub>
                                      <m:r>
                                        <a:rPr lang="en-US" i="1" dirty="0">
                                          <a:solidFill>
                                            <a:schemeClr val="tx1">
                                              <a:lumMod val="50000"/>
                                            </a:schemeClr>
                                          </a:solidFill>
                                          <a:latin typeface="Cambria Math" panose="02040503050406030204" pitchFamily="18" charset="0"/>
                                        </a:rPr>
                                        <m:t>𝑟</m:t>
                                      </m:r>
                                    </m:sub>
                                  </m:sSub>
                                  <m:d>
                                    <m:dPr>
                                      <m:ctrlPr>
                                        <a:rPr lang="en-US" i="1" dirty="0">
                                          <a:solidFill>
                                            <a:schemeClr val="tx1">
                                              <a:lumMod val="50000"/>
                                            </a:schemeClr>
                                          </a:solidFill>
                                          <a:latin typeface="Cambria Math" charset="0"/>
                                        </a:rPr>
                                      </m:ctrlPr>
                                    </m:dPr>
                                    <m:e>
                                      <m:r>
                                        <a:rPr lang="en-US" i="1" dirty="0">
                                          <a:solidFill>
                                            <a:schemeClr val="tx1">
                                              <a:lumMod val="50000"/>
                                            </a:schemeClr>
                                          </a:solidFill>
                                          <a:latin typeface="Cambria Math" panose="02040503050406030204" pitchFamily="18" charset="0"/>
                                        </a:rPr>
                                        <m:t>𝑖𝑗</m:t>
                                      </m:r>
                                    </m:e>
                                  </m:d>
                                  <m:r>
                                    <a:rPr lang="en-US" i="1" dirty="0">
                                      <a:solidFill>
                                        <a:schemeClr val="tx1">
                                          <a:lumMod val="50000"/>
                                        </a:schemeClr>
                                      </a:solidFill>
                                      <a:latin typeface="Cambria Math" panose="02040503050406030204" pitchFamily="18" charset="0"/>
                                    </a:rPr>
                                    <m:t>+</m:t>
                                  </m:r>
                                  <m:sSub>
                                    <m:sSubPr>
                                      <m:ctrlPr>
                                        <a:rPr lang="en-US" i="1" dirty="0" smtClean="0">
                                          <a:solidFill>
                                            <a:srgbClr val="C17A90"/>
                                          </a:solidFill>
                                          <a:latin typeface="Cambria Math" charset="0"/>
                                        </a:rPr>
                                      </m:ctrlPr>
                                    </m:sSubPr>
                                    <m:e>
                                      <m:r>
                                        <a:rPr lang="en-US" i="1" dirty="0">
                                          <a:solidFill>
                                            <a:srgbClr val="C17A90"/>
                                          </a:solidFill>
                                          <a:latin typeface="Cambria Math" panose="02040503050406030204" pitchFamily="18" charset="0"/>
                                        </a:rPr>
                                        <m:t>h</m:t>
                                      </m:r>
                                    </m:e>
                                    <m:sub>
                                      <m:r>
                                        <a:rPr lang="en-US" i="1" dirty="0">
                                          <a:solidFill>
                                            <a:srgbClr val="C17A90"/>
                                          </a:solidFill>
                                          <a:latin typeface="Cambria Math" panose="02040503050406030204" pitchFamily="18" charset="0"/>
                                        </a:rPr>
                                        <m:t>𝑟</m:t>
                                      </m:r>
                                    </m:sub>
                                  </m:sSub>
                                  <m:r>
                                    <a:rPr lang="en-US" i="1" dirty="0">
                                      <a:solidFill>
                                        <a:srgbClr val="C17A90"/>
                                      </a:solidFill>
                                      <a:latin typeface="Cambria Math" panose="02040503050406030204" pitchFamily="18" charset="0"/>
                                    </a:rPr>
                                    <m:t>(</m:t>
                                  </m:r>
                                  <m:r>
                                    <a:rPr lang="en-US" i="1" dirty="0">
                                      <a:solidFill>
                                        <a:srgbClr val="C17A90"/>
                                      </a:solidFill>
                                      <a:latin typeface="Cambria Math" panose="02040503050406030204" pitchFamily="18" charset="0"/>
                                    </a:rPr>
                                    <m:t>𝑖𝑗</m:t>
                                  </m:r>
                                  <m:r>
                                    <a:rPr lang="en-US" i="1" dirty="0">
                                      <a:solidFill>
                                        <a:srgbClr val="C17A90"/>
                                      </a:solidFill>
                                      <a:latin typeface="Cambria Math" panose="02040503050406030204" pitchFamily="18" charset="0"/>
                                    </a:rPr>
                                    <m:t>))</m:t>
                                  </m:r>
                                  <m:sSub>
                                    <m:sSubPr>
                                      <m:ctrlPr>
                                        <a:rPr lang="en-US" i="1" dirty="0">
                                          <a:solidFill>
                                            <a:schemeClr val="tx1">
                                              <a:lumMod val="50000"/>
                                            </a:schemeClr>
                                          </a:solidFill>
                                          <a:latin typeface="Cambria Math" charset="0"/>
                                        </a:rPr>
                                      </m:ctrlPr>
                                    </m:sSubPr>
                                    <m:e>
                                      <m:r>
                                        <a:rPr lang="en-US" i="1" dirty="0">
                                          <a:solidFill>
                                            <a:schemeClr val="tx1">
                                              <a:lumMod val="50000"/>
                                            </a:schemeClr>
                                          </a:solidFill>
                                          <a:latin typeface="Cambria Math" panose="02040503050406030204" pitchFamily="18" charset="0"/>
                                        </a:rPr>
                                        <m:t>𝐼</m:t>
                                      </m:r>
                                    </m:e>
                                    <m:sub>
                                      <m:r>
                                        <a:rPr lang="en-US" i="1" dirty="0">
                                          <a:solidFill>
                                            <a:schemeClr val="tx1">
                                              <a:lumMod val="50000"/>
                                            </a:schemeClr>
                                          </a:solidFill>
                                          <a:latin typeface="Cambria Math" panose="02040503050406030204" pitchFamily="18" charset="0"/>
                                        </a:rPr>
                                        <m:t>𝑟</m:t>
                                      </m:r>
                                    </m:sub>
                                  </m:sSub>
                                  <m:r>
                                    <a:rPr lang="en-US" i="1" dirty="0">
                                      <a:solidFill>
                                        <a:schemeClr val="tx1">
                                          <a:lumMod val="50000"/>
                                        </a:schemeClr>
                                      </a:solidFill>
                                      <a:latin typeface="Cambria Math" panose="02040503050406030204" pitchFamily="18" charset="0"/>
                                    </a:rPr>
                                    <m:t>(</m:t>
                                  </m:r>
                                  <m:r>
                                    <a:rPr lang="en-US" i="1" dirty="0">
                                      <a:solidFill>
                                        <a:schemeClr val="tx1">
                                          <a:lumMod val="50000"/>
                                        </a:schemeClr>
                                      </a:solidFill>
                                      <a:latin typeface="Cambria Math" panose="02040503050406030204" pitchFamily="18" charset="0"/>
                                    </a:rPr>
                                    <m:t>𝑖𝑗</m:t>
                                  </m:r>
                                  <m:r>
                                    <a:rPr lang="en-US" i="1" dirty="0">
                                      <a:solidFill>
                                        <a:schemeClr val="tx1">
                                          <a:lumMod val="50000"/>
                                        </a:schemeClr>
                                      </a:solidFill>
                                      <a:latin typeface="Cambria Math" panose="02040503050406030204" pitchFamily="18" charset="0"/>
                                    </a:rPr>
                                    <m:t>)</m:t>
                                  </m:r>
                                </m:e>
                              </m:nary>
                            </m:e>
                          </m:nary>
                        </m:e>
                      </m:func>
                    </m:oMath>
                  </m:oMathPara>
                </a14:m>
                <a:endParaRPr lang="en-US" i="1" dirty="0">
                  <a:solidFill>
                    <a:schemeClr val="tx1">
                      <a:lumMod val="50000"/>
                    </a:schemeClr>
                  </a:solidFill>
                  <a:latin typeface="Cambria Math" charset="0"/>
                </a:endParaRPr>
              </a:p>
              <a:p>
                <a:pPr marL="457200" lvl="1" indent="0">
                  <a:buNone/>
                </a:pPr>
                <a:endParaRPr lang="en-US" i="1" dirty="0">
                  <a:solidFill>
                    <a:schemeClr val="tx1">
                      <a:lumMod val="50000"/>
                    </a:schemeClr>
                  </a:solidFill>
                  <a:latin typeface="Cambria Math" charset="0"/>
                </a:endParaRPr>
              </a:p>
              <a:p>
                <a:pPr marL="0" lvl="0" indent="0">
                  <a:buNone/>
                </a:pPr>
                <a:r>
                  <a:rPr lang="en-US" dirty="0">
                    <a:solidFill>
                      <a:srgbClr val="000000">
                        <a:lumMod val="85000"/>
                        <a:lumOff val="15000"/>
                      </a:srgbClr>
                    </a:solidFill>
                  </a:rPr>
                  <a:t>Straightforward yet effective.</a:t>
                </a:r>
              </a:p>
            </p:txBody>
          </p:sp>
        </mc:Choice>
        <mc:Fallback xmlns="">
          <p:sp>
            <p:nvSpPr>
              <p:cNvPr id="3" name="Content Placeholder 2">
                <a:extLst>
                  <a:ext uri="{FF2B5EF4-FFF2-40B4-BE49-F238E27FC236}">
                    <a16:creationId xmlns:a16="http://schemas.microsoft.com/office/drawing/2014/main" id="{F02C4E20-21E9-49F2-99C9-0CA78E0DF464}"/>
                  </a:ext>
                </a:extLst>
              </p:cNvPr>
              <p:cNvSpPr>
                <a:spLocks noGrp="1" noRot="1" noChangeAspect="1" noMove="1" noResize="1" noEditPoints="1" noAdjustHandles="1" noChangeArrowheads="1" noChangeShapeType="1" noTextEdit="1"/>
              </p:cNvSpPr>
              <p:nvPr>
                <p:ph idx="4294967295"/>
              </p:nvPr>
            </p:nvSpPr>
            <p:spPr>
              <a:xfrm>
                <a:off x="609600" y="1219200"/>
                <a:ext cx="8534400" cy="5181600"/>
              </a:xfrm>
              <a:blipFill>
                <a:blip r:embed="rId3"/>
                <a:stretch>
                  <a:fillRect l="-1637" t="-1471" b="-6618"/>
                </a:stretch>
              </a:blipFill>
            </p:spPr>
            <p:txBody>
              <a:bodyPr/>
              <a:lstStyle/>
              <a:p>
                <a:r>
                  <a:rPr lang="en-US">
                    <a:noFill/>
                  </a:rPr>
                  <a:t> </a:t>
                </a:r>
              </a:p>
            </p:txBody>
          </p:sp>
        </mc:Fallback>
      </mc:AlternateContent>
      <p:sp>
        <p:nvSpPr>
          <p:cNvPr id="7" name="Rounded Rectangle 6"/>
          <p:cNvSpPr/>
          <p:nvPr/>
        </p:nvSpPr>
        <p:spPr>
          <a:xfrm>
            <a:off x="5638800" y="4114800"/>
            <a:ext cx="849081" cy="5334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 xmlns:a16="http://schemas.microsoft.com/office/drawing/2014/main" id="{EB41F9BF-8DB1-8C43-AB67-7ACEF3CB8C20}"/>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164226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500"/>
                                        <p:tgtEl>
                                          <p:spTgt spid="3">
                                            <p:txEl>
                                              <p:pRg st="4" end="4"/>
                                            </p:txEl>
                                          </p:spTgt>
                                        </p:tgtEl>
                                      </p:cBhvr>
                                    </p:animEffect>
                                  </p:childTnLst>
                                </p:cTn>
                              </p:par>
                            </p:childTnLst>
                          </p:cTn>
                        </p:par>
                        <p:par>
                          <p:cTn id="16" fill="hold">
                            <p:stCondLst>
                              <p:cond delay="500"/>
                            </p:stCondLst>
                            <p:childTnLst>
                              <p:par>
                                <p:cTn id="17" presetID="2" presetClass="entr" presetSubtype="4"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ssolv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improvement by </a:t>
            </a:r>
            <a:r>
              <a:rPr lang="en-US" dirty="0" err="1"/>
              <a:t>TemProb</a:t>
            </a:r>
            <a:endParaRPr lang="en-US" dirty="0"/>
          </a:p>
        </p:txBody>
      </p:sp>
      <p:graphicFrame>
        <p:nvGraphicFramePr>
          <p:cNvPr id="4" name="Chart 3"/>
          <p:cNvGraphicFramePr/>
          <p:nvPr>
            <p:extLst>
              <p:ext uri="{D42A27DB-BD31-4B8C-83A1-F6EECF244321}">
                <p14:modId xmlns:p14="http://schemas.microsoft.com/office/powerpoint/2010/main" val="82530017"/>
              </p:ext>
            </p:extLst>
          </p:nvPr>
        </p:nvGraphicFramePr>
        <p:xfrm>
          <a:off x="914400" y="990600"/>
          <a:ext cx="7761849" cy="5174566"/>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791200" y="1318343"/>
            <a:ext cx="1492717" cy="830997"/>
          </a:xfrm>
          <a:prstGeom prst="rect">
            <a:avLst/>
          </a:prstGeom>
          <a:noFill/>
        </p:spPr>
        <p:txBody>
          <a:bodyPr wrap="none" rtlCol="0">
            <a:spAutoFit/>
          </a:bodyPr>
          <a:lstStyle/>
          <a:p>
            <a:pPr algn="ctr"/>
            <a:r>
              <a:rPr lang="en-US" sz="2400" dirty="0" err="1">
                <a:solidFill>
                  <a:schemeClr val="bg2"/>
                </a:solidFill>
                <a:latin typeface="Century Gothic" panose="020B0502020202020204" pitchFamily="34" charset="0"/>
              </a:rPr>
              <a:t>TemProb</a:t>
            </a:r>
            <a:endParaRPr lang="en-US" sz="2400" dirty="0">
              <a:solidFill>
                <a:schemeClr val="bg2"/>
              </a:solidFill>
              <a:latin typeface="Century Gothic" panose="020B0502020202020204" pitchFamily="34" charset="0"/>
            </a:endParaRPr>
          </a:p>
          <a:p>
            <a:pPr algn="ctr"/>
            <a:r>
              <a:rPr lang="en-US" sz="2400" dirty="0">
                <a:solidFill>
                  <a:schemeClr val="bg2"/>
                </a:solidFill>
                <a:latin typeface="Century Gothic" panose="020B0502020202020204" pitchFamily="34" charset="0"/>
              </a:rPr>
              <a:t>+4%</a:t>
            </a:r>
          </a:p>
        </p:txBody>
      </p:sp>
      <p:sp>
        <p:nvSpPr>
          <p:cNvPr id="11" name="TextBox 10"/>
          <p:cNvSpPr txBox="1"/>
          <p:nvPr/>
        </p:nvSpPr>
        <p:spPr>
          <a:xfrm>
            <a:off x="3581400" y="2030849"/>
            <a:ext cx="2799164" cy="830997"/>
          </a:xfrm>
          <a:prstGeom prst="rect">
            <a:avLst/>
          </a:prstGeom>
          <a:noFill/>
        </p:spPr>
        <p:txBody>
          <a:bodyPr wrap="none" rtlCol="0">
            <a:spAutoFit/>
          </a:bodyPr>
          <a:lstStyle/>
          <a:p>
            <a:pPr algn="ctr"/>
            <a:r>
              <a:rPr lang="en-US" sz="2400" dirty="0">
                <a:solidFill>
                  <a:schemeClr val="bg2"/>
                </a:solidFill>
                <a:latin typeface="Century Gothic" panose="020B0502020202020204" pitchFamily="34" charset="0"/>
              </a:rPr>
              <a:t>Structure learning</a:t>
            </a:r>
          </a:p>
          <a:p>
            <a:pPr algn="ctr"/>
            <a:r>
              <a:rPr lang="en-US" sz="2400" dirty="0">
                <a:solidFill>
                  <a:schemeClr val="bg2"/>
                </a:solidFill>
                <a:latin typeface="Century Gothic" panose="020B0502020202020204" pitchFamily="34" charset="0"/>
              </a:rPr>
              <a:t>+2%</a:t>
            </a:r>
          </a:p>
        </p:txBody>
      </p:sp>
      <p:sp>
        <p:nvSpPr>
          <p:cNvPr id="3" name="TextBox 2"/>
          <p:cNvSpPr txBox="1"/>
          <p:nvPr/>
        </p:nvSpPr>
        <p:spPr>
          <a:xfrm>
            <a:off x="1377243" y="6185948"/>
            <a:ext cx="6832320" cy="276999"/>
          </a:xfrm>
          <a:prstGeom prst="rect">
            <a:avLst/>
          </a:prstGeom>
          <a:noFill/>
        </p:spPr>
        <p:txBody>
          <a:bodyPr wrap="none" rtlCol="0">
            <a:spAutoFit/>
          </a:bodyPr>
          <a:lstStyle/>
          <a:p>
            <a:r>
              <a:rPr lang="en-US" sz="1200" i="1" dirty="0">
                <a:solidFill>
                  <a:schemeClr val="bg2"/>
                </a:solidFill>
                <a:latin typeface="Century Gothic" panose="020B0502020202020204" pitchFamily="34" charset="0"/>
              </a:rPr>
              <a:t>[CAEVO] Chambers et al. TACL2014. Dense event ordering with a multi-pass architecture.</a:t>
            </a:r>
          </a:p>
        </p:txBody>
      </p:sp>
      <p:sp>
        <p:nvSpPr>
          <p:cNvPr id="9" name="TextBox 8">
            <a:extLst>
              <a:ext uri="{FF2B5EF4-FFF2-40B4-BE49-F238E27FC236}">
                <a16:creationId xmlns="" xmlns:a16="http://schemas.microsoft.com/office/drawing/2014/main" id="{B2FFE208-46CD-2C47-A94D-28B82AECD583}"/>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
        <p:nvSpPr>
          <p:cNvPr id="10" name="TextBox 9">
            <a:extLst>
              <a:ext uri="{FF2B5EF4-FFF2-40B4-BE49-F238E27FC236}">
                <a16:creationId xmlns="" xmlns:a16="http://schemas.microsoft.com/office/drawing/2014/main" id="{C3D4EF6B-8C15-8D46-B0D2-EC6DB09E80DC}"/>
              </a:ext>
            </a:extLst>
          </p:cNvPr>
          <p:cNvSpPr txBox="1"/>
          <p:nvPr/>
        </p:nvSpPr>
        <p:spPr>
          <a:xfrm>
            <a:off x="1549517" y="2383895"/>
            <a:ext cx="2335377" cy="923330"/>
          </a:xfrm>
          <a:prstGeom prst="rect">
            <a:avLst/>
          </a:prstGeom>
          <a:noFill/>
        </p:spPr>
        <p:txBody>
          <a:bodyPr wrap="square" rtlCol="0">
            <a:spAutoFit/>
          </a:bodyPr>
          <a:lstStyle/>
          <a:p>
            <a:pPr algn="ctr"/>
            <a:r>
              <a:rPr lang="en-US" dirty="0">
                <a:solidFill>
                  <a:schemeClr val="bg2"/>
                </a:solidFill>
                <a:latin typeface="Century Gothic" panose="020B0502020202020204" pitchFamily="34" charset="0"/>
              </a:rPr>
              <a:t>Local learning</a:t>
            </a:r>
          </a:p>
          <a:p>
            <a:pPr algn="ctr"/>
            <a:r>
              <a:rPr lang="en-US" dirty="0">
                <a:solidFill>
                  <a:schemeClr val="bg2"/>
                </a:solidFill>
                <a:latin typeface="Century Gothic" panose="020B0502020202020204" pitchFamily="34" charset="0"/>
              </a:rPr>
              <a:t>&amp;</a:t>
            </a:r>
          </a:p>
          <a:p>
            <a:pPr algn="ctr"/>
            <a:r>
              <a:rPr lang="en-US" dirty="0">
                <a:solidFill>
                  <a:schemeClr val="bg2"/>
                </a:solidFill>
                <a:latin typeface="Century Gothic" panose="020B0502020202020204" pitchFamily="34" charset="0"/>
              </a:rPr>
              <a:t>Global inference</a:t>
            </a:r>
          </a:p>
        </p:txBody>
      </p:sp>
    </p:spTree>
    <p:extLst>
      <p:ext uri="{BB962C8B-B14F-4D97-AF65-F5344CB8AC3E}">
        <p14:creationId xmlns:p14="http://schemas.microsoft.com/office/powerpoint/2010/main" val="1067953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graphicFrame>
        <p:nvGraphicFramePr>
          <p:cNvPr id="4" name="Chart 3"/>
          <p:cNvGraphicFramePr/>
          <p:nvPr>
            <p:extLst/>
          </p:nvPr>
        </p:nvGraphicFramePr>
        <p:xfrm>
          <a:off x="914400" y="990600"/>
          <a:ext cx="7761849" cy="5174566"/>
        </p:xfrm>
        <a:graphic>
          <a:graphicData uri="http://schemas.openxmlformats.org/drawingml/2006/chart">
            <c:chart xmlns:c="http://schemas.openxmlformats.org/drawingml/2006/chart" xmlns:r="http://schemas.openxmlformats.org/officeDocument/2006/relationships" r:id="rId3"/>
          </a:graphicData>
        </a:graphic>
      </p:graphicFrame>
      <p:grpSp>
        <p:nvGrpSpPr>
          <p:cNvPr id="15" name="Group 14"/>
          <p:cNvGrpSpPr/>
          <p:nvPr/>
        </p:nvGrpSpPr>
        <p:grpSpPr>
          <a:xfrm>
            <a:off x="7255184" y="2287277"/>
            <a:ext cx="1737976" cy="760723"/>
            <a:chOff x="7197620" y="2629054"/>
            <a:chExt cx="1737976" cy="760723"/>
          </a:xfrm>
        </p:grpSpPr>
        <p:cxnSp>
          <p:nvCxnSpPr>
            <p:cNvPr id="6" name="Straight Arrow Connector 5"/>
            <p:cNvCxnSpPr>
              <a:cxnSpLocks/>
            </p:cNvCxnSpPr>
            <p:nvPr/>
          </p:nvCxnSpPr>
          <p:spPr>
            <a:xfrm flipV="1">
              <a:off x="7848600" y="3008777"/>
              <a:ext cx="0" cy="381000"/>
            </a:xfrm>
            <a:prstGeom prst="straightConnector1">
              <a:avLst/>
            </a:prstGeom>
            <a:ln w="38100">
              <a:solidFill>
                <a:schemeClr val="bg2">
                  <a:lumMod val="95000"/>
                  <a:lumOff val="5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197620" y="2629054"/>
              <a:ext cx="1737976"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TemProb</a:t>
              </a:r>
              <a:r>
                <a:rPr lang="en-US" dirty="0">
                  <a:solidFill>
                    <a:schemeClr val="bg2"/>
                  </a:solidFill>
                  <a:latin typeface="Century Gothic" panose="020B0502020202020204" pitchFamily="34" charset="0"/>
                </a:rPr>
                <a:t>: +4%</a:t>
              </a:r>
            </a:p>
          </p:txBody>
        </p:sp>
      </p:grpSp>
      <p:sp>
        <p:nvSpPr>
          <p:cNvPr id="14" name="Rectangle 13"/>
          <p:cNvSpPr/>
          <p:nvPr/>
        </p:nvSpPr>
        <p:spPr>
          <a:xfrm>
            <a:off x="3581400" y="5715000"/>
            <a:ext cx="1295400" cy="304800"/>
          </a:xfrm>
          <a:prstGeom prst="rect">
            <a:avLst/>
          </a:prstGeom>
          <a:noFill/>
          <a:ln w="38100">
            <a:solidFill>
              <a:srgbClr val="7792C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382077" y="3276600"/>
            <a:ext cx="2723823" cy="369332"/>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Structure learning: +2%</a:t>
            </a:r>
          </a:p>
        </p:txBody>
      </p:sp>
      <p:sp>
        <p:nvSpPr>
          <p:cNvPr id="3" name="TextBox 2"/>
          <p:cNvSpPr txBox="1"/>
          <p:nvPr/>
        </p:nvSpPr>
        <p:spPr>
          <a:xfrm>
            <a:off x="1377243" y="6185948"/>
            <a:ext cx="6832320" cy="276999"/>
          </a:xfrm>
          <a:prstGeom prst="rect">
            <a:avLst/>
          </a:prstGeom>
          <a:noFill/>
        </p:spPr>
        <p:txBody>
          <a:bodyPr wrap="none" rtlCol="0">
            <a:spAutoFit/>
          </a:bodyPr>
          <a:lstStyle/>
          <a:p>
            <a:r>
              <a:rPr lang="en-US" sz="1200" i="1" dirty="0">
                <a:solidFill>
                  <a:schemeClr val="bg2"/>
                </a:solidFill>
                <a:latin typeface="Century Gothic" panose="020B0502020202020204" pitchFamily="34" charset="0"/>
              </a:rPr>
              <a:t>[CAEVO] Chambers et al. TACL2014. Dense event ordering with a multi-pass architecture.</a:t>
            </a:r>
          </a:p>
        </p:txBody>
      </p:sp>
      <p:sp>
        <p:nvSpPr>
          <p:cNvPr id="13" name="TextBox 12">
            <a:extLst>
              <a:ext uri="{FF2B5EF4-FFF2-40B4-BE49-F238E27FC236}">
                <a16:creationId xmlns="" xmlns:a16="http://schemas.microsoft.com/office/drawing/2014/main" id="{3E50800D-049C-7848-B226-955C78D74449}"/>
              </a:ext>
            </a:extLst>
          </p:cNvPr>
          <p:cNvSpPr txBox="1"/>
          <p:nvPr/>
        </p:nvSpPr>
        <p:spPr>
          <a:xfrm>
            <a:off x="-205107" y="6519446"/>
            <a:ext cx="5462907"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 Common sense acquisition</a:t>
            </a:r>
          </a:p>
        </p:txBody>
      </p:sp>
    </p:spTree>
    <p:extLst>
      <p:ext uri="{BB962C8B-B14F-4D97-AF65-F5344CB8AC3E}">
        <p14:creationId xmlns:p14="http://schemas.microsoft.com/office/powerpoint/2010/main" val="21314548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1040285"/>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 Common sense</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1255728"/>
          </a:xfrm>
          <a:prstGeom prst="rect">
            <a:avLst/>
          </a:prstGeom>
          <a:noFill/>
        </p:spPr>
        <p:txBody>
          <a:bodyPr wrap="square" rtlCol="0">
            <a:spAutoFit/>
          </a:bodyPr>
          <a:lstStyle/>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[EMNLP’17]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[NAACL’18]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H. Peng, and D. Roth. Improving Temporal Relation Extraction with a Globally Acquired Statistical Resource</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 xmlns:a16="http://schemas.microsoft.com/office/drawing/2014/main" id="{D3EF9F4B-0FD8-BE45-8D5C-1064FEDBBE05}"/>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20543483-FFA3-354F-A168-32F26C4B335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B905B0C0-8385-FB48-84E0-8A1EB42145FC}"/>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0B107DC4-0CAD-5E4A-8253-8011615CCA2E}"/>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 xmlns:a16="http://schemas.microsoft.com/office/drawing/2014/main" id="{2803CF2D-ABB1-6D47-A209-3FA3C2C8560B}"/>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7" name="Freeform 36">
            <a:extLst>
              <a:ext uri="{FF2B5EF4-FFF2-40B4-BE49-F238E27FC236}">
                <a16:creationId xmlns="" xmlns:a16="http://schemas.microsoft.com/office/drawing/2014/main" id="{32FEC271-8D98-1643-866E-527F2AE271D5}"/>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 xmlns:a16="http://schemas.microsoft.com/office/drawing/2014/main" id="{C122E7F4-2C82-E044-83F5-613636E29680}"/>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 xmlns:a16="http://schemas.microsoft.com/office/drawing/2014/main" id="{78EAD8AC-F660-6D4F-8CAD-E1914E78953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 xmlns:a16="http://schemas.microsoft.com/office/drawing/2014/main" id="{84393B74-A1C2-384A-BA9C-EDF64095B913}"/>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 xmlns:a16="http://schemas.microsoft.com/office/drawing/2014/main" id="{E0A508D1-0AC6-AD49-896F-58EFA6EA448C}"/>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27386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80">
                                          <p:stCondLst>
                                            <p:cond delay="0"/>
                                          </p:stCondLst>
                                        </p:cTn>
                                        <p:tgtEl>
                                          <p:spTgt spid="39"/>
                                        </p:tgtEl>
                                      </p:cBhvr>
                                    </p:animEffect>
                                    <p:anim calcmode="lin" valueType="num">
                                      <p:cBhvr>
                                        <p:cTn id="8" dur="1822" tmFilter="0,0; 0.14,0.36; 0.43,0.73; 0.71,0.91; 1.0,1.0">
                                          <p:stCondLst>
                                            <p:cond delay="0"/>
                                          </p:stCondLst>
                                        </p:cTn>
                                        <p:tgtEl>
                                          <p:spTgt spid="3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9"/>
                                        </p:tgtEl>
                                        <p:attrNameLst>
                                          <p:attrName>ppt_y</p:attrName>
                                        </p:attrNameLst>
                                      </p:cBhvr>
                                      <p:tavLst>
                                        <p:tav tm="0" fmla="#ppt_y-sin(pi*$)/81">
                                          <p:val>
                                            <p:fltVal val="0"/>
                                          </p:val>
                                        </p:tav>
                                        <p:tav tm="100000">
                                          <p:val>
                                            <p:fltVal val="1"/>
                                          </p:val>
                                        </p:tav>
                                      </p:tavLst>
                                    </p:anim>
                                    <p:animScale>
                                      <p:cBhvr>
                                        <p:cTn id="13" dur="26">
                                          <p:stCondLst>
                                            <p:cond delay="650"/>
                                          </p:stCondLst>
                                        </p:cTn>
                                        <p:tgtEl>
                                          <p:spTgt spid="39"/>
                                        </p:tgtEl>
                                      </p:cBhvr>
                                      <p:to x="100000" y="60000"/>
                                    </p:animScale>
                                    <p:animScale>
                                      <p:cBhvr>
                                        <p:cTn id="14" dur="166" decel="50000">
                                          <p:stCondLst>
                                            <p:cond delay="676"/>
                                          </p:stCondLst>
                                        </p:cTn>
                                        <p:tgtEl>
                                          <p:spTgt spid="39"/>
                                        </p:tgtEl>
                                      </p:cBhvr>
                                      <p:to x="100000" y="100000"/>
                                    </p:animScale>
                                    <p:animScale>
                                      <p:cBhvr>
                                        <p:cTn id="15" dur="26">
                                          <p:stCondLst>
                                            <p:cond delay="1312"/>
                                          </p:stCondLst>
                                        </p:cTn>
                                        <p:tgtEl>
                                          <p:spTgt spid="39"/>
                                        </p:tgtEl>
                                      </p:cBhvr>
                                      <p:to x="100000" y="80000"/>
                                    </p:animScale>
                                    <p:animScale>
                                      <p:cBhvr>
                                        <p:cTn id="16" dur="166" decel="50000">
                                          <p:stCondLst>
                                            <p:cond delay="1338"/>
                                          </p:stCondLst>
                                        </p:cTn>
                                        <p:tgtEl>
                                          <p:spTgt spid="39"/>
                                        </p:tgtEl>
                                      </p:cBhvr>
                                      <p:to x="100000" y="100000"/>
                                    </p:animScale>
                                    <p:animScale>
                                      <p:cBhvr>
                                        <p:cTn id="17" dur="26">
                                          <p:stCondLst>
                                            <p:cond delay="1642"/>
                                          </p:stCondLst>
                                        </p:cTn>
                                        <p:tgtEl>
                                          <p:spTgt spid="39"/>
                                        </p:tgtEl>
                                      </p:cBhvr>
                                      <p:to x="100000" y="90000"/>
                                    </p:animScale>
                                    <p:animScale>
                                      <p:cBhvr>
                                        <p:cTn id="18" dur="166" decel="50000">
                                          <p:stCondLst>
                                            <p:cond delay="1668"/>
                                          </p:stCondLst>
                                        </p:cTn>
                                        <p:tgtEl>
                                          <p:spTgt spid="39"/>
                                        </p:tgtEl>
                                      </p:cBhvr>
                                      <p:to x="100000" y="100000"/>
                                    </p:animScale>
                                    <p:animScale>
                                      <p:cBhvr>
                                        <p:cTn id="19" dur="26">
                                          <p:stCondLst>
                                            <p:cond delay="1808"/>
                                          </p:stCondLst>
                                        </p:cTn>
                                        <p:tgtEl>
                                          <p:spTgt spid="39"/>
                                        </p:tgtEl>
                                      </p:cBhvr>
                                      <p:to x="100000" y="95000"/>
                                    </p:animScale>
                                    <p:animScale>
                                      <p:cBhvr>
                                        <p:cTn id="20" dur="166" decel="50000">
                                          <p:stCondLst>
                                            <p:cond delay="1834"/>
                                          </p:stCondLst>
                                        </p:cTn>
                                        <p:tgtEl>
                                          <p:spTgt spid="3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1557349"/>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II: Common sense</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III: Data annotation</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1865126"/>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and D. Roth. A Multi-Axis Annotation Scheme for Event Temporal Relations.</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 xmlns:a16="http://schemas.microsoft.com/office/drawing/2014/main" id="{7D2431B0-C777-4D49-9983-DE4819603D2A}"/>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1F78A952-05AC-B349-BFE5-7F50A6869E9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8010E7A2-F5C1-FC41-ADAC-0080563972DB}"/>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E9A8AA00-853D-1248-8FD6-F8CA09817C53}"/>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 xmlns:a16="http://schemas.microsoft.com/office/drawing/2014/main" id="{8D63F9A4-21DB-A340-9C79-D3CD61423B60}"/>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 xmlns:a16="http://schemas.microsoft.com/office/drawing/2014/main" id="{35E75A3C-D457-E644-86E6-28ACC18FC8D7}"/>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 xmlns:a16="http://schemas.microsoft.com/office/drawing/2014/main" id="{50DEB409-B758-2B4B-AC56-902EA1726CE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 xmlns:a16="http://schemas.microsoft.com/office/drawing/2014/main" id="{DA2F62AF-563C-D94C-98C3-1C873C7DF50A}"/>
              </a:ext>
            </a:extLst>
          </p:cNvPr>
          <p:cNvPicPr>
            <a:picLocks noChangeAspect="1"/>
          </p:cNvPicPr>
          <p:nvPr/>
        </p:nvPicPr>
        <p:blipFill rotWithShape="1">
          <a:blip r:embed="rId2"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 xmlns:a16="http://schemas.microsoft.com/office/drawing/2014/main" id="{DEB47B5F-6CA0-A443-BAAA-0CE4D55DD0DB}"/>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 xmlns:a16="http://schemas.microsoft.com/office/drawing/2014/main" id="{E07324D3-0FA7-5045-AC26-64B8031B3E41}"/>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36727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“Houston, we’ve had a problem here”</a:t>
            </a:r>
            <a:endParaRPr lang="en-US" dirty="0"/>
          </a:p>
        </p:txBody>
      </p:sp>
      <p:sp>
        <p:nvSpPr>
          <p:cNvPr id="3" name="Content Placeholder 2"/>
          <p:cNvSpPr>
            <a:spLocks noGrp="1"/>
          </p:cNvSpPr>
          <p:nvPr>
            <p:ph idx="1"/>
          </p:nvPr>
        </p:nvSpPr>
        <p:spPr/>
        <p:txBody>
          <a:bodyPr/>
          <a:lstStyle/>
          <a:p>
            <a:pPr marL="0" indent="0">
              <a:spcBef>
                <a:spcPts val="0"/>
              </a:spcBef>
              <a:spcAft>
                <a:spcPts val="600"/>
              </a:spcAft>
              <a:buNone/>
            </a:pPr>
            <a:r>
              <a:rPr lang="en-US" sz="2400" dirty="0"/>
              <a:t>The performance of temporal relation systems has come to a </a:t>
            </a:r>
            <a:r>
              <a:rPr lang="en-US" sz="2400" dirty="0">
                <a:solidFill>
                  <a:srgbClr val="C17A90"/>
                </a:solidFill>
              </a:rPr>
              <a:t>bottleneck</a:t>
            </a:r>
            <a:r>
              <a:rPr lang="en-US" sz="2400" dirty="0"/>
              <a:t>. Even if we address this problem from </a:t>
            </a:r>
            <a:r>
              <a:rPr lang="en-US" sz="2400" dirty="0">
                <a:solidFill>
                  <a:srgbClr val="92D050"/>
                </a:solidFill>
              </a:rPr>
              <a:t>structured learning </a:t>
            </a:r>
            <a:r>
              <a:rPr lang="en-US" sz="2400" dirty="0"/>
              <a:t>and </a:t>
            </a:r>
            <a:r>
              <a:rPr lang="en-US" sz="2400" dirty="0">
                <a:solidFill>
                  <a:srgbClr val="6881B4"/>
                </a:solidFill>
              </a:rPr>
              <a:t>common sense</a:t>
            </a:r>
            <a:r>
              <a:rPr lang="en-US" sz="2400" dirty="0"/>
              <a:t>, it’s still very low.</a:t>
            </a:r>
          </a:p>
          <a:p>
            <a:pPr marL="0" indent="0">
              <a:buNone/>
            </a:pPr>
            <a:r>
              <a:rPr lang="en-US" sz="2400" dirty="0" smtClean="0"/>
              <a:t>Bottleneck: </a:t>
            </a:r>
            <a:r>
              <a:rPr lang="en-US" sz="2400" dirty="0"/>
              <a:t>size and quality of datasets</a:t>
            </a:r>
          </a:p>
          <a:p>
            <a:pPr lvl="1"/>
            <a:r>
              <a:rPr lang="en-US" sz="2000" dirty="0"/>
              <a:t>Not scalable: requirement for expertise on this task (honestly, only the authors of those papers know how)</a:t>
            </a:r>
          </a:p>
          <a:p>
            <a:pPr lvl="1"/>
            <a:r>
              <a:rPr lang="en-US" sz="2000" dirty="0"/>
              <a:t>Low inter-annotator agreement (IAA): low chance of agreement when people work on it without discussion</a:t>
            </a:r>
          </a:p>
          <a:p>
            <a:pPr lvl="2"/>
            <a:r>
              <a:rPr lang="en-US" sz="1600" dirty="0"/>
              <a:t>TB-Dense: Cohen’s Kappa 56%~64%</a:t>
            </a:r>
          </a:p>
          <a:p>
            <a:pPr lvl="2"/>
            <a:r>
              <a:rPr lang="en-US" sz="1600" dirty="0"/>
              <a:t>RED: F1&lt;60%</a:t>
            </a:r>
          </a:p>
          <a:p>
            <a:pPr lvl="2">
              <a:spcBef>
                <a:spcPts val="0"/>
              </a:spcBef>
              <a:spcAft>
                <a:spcPts val="600"/>
              </a:spcAft>
            </a:pPr>
            <a:r>
              <a:rPr lang="en-US" sz="1600" dirty="0" err="1"/>
              <a:t>EventTimeCorpus</a:t>
            </a:r>
            <a:r>
              <a:rPr lang="en-US" sz="1600" dirty="0"/>
              <a:t>: </a:t>
            </a:r>
            <a:r>
              <a:rPr lang="en-US" sz="1600" dirty="0" err="1"/>
              <a:t>Krippendorff’s</a:t>
            </a:r>
            <a:r>
              <a:rPr lang="en-US" sz="1600" dirty="0"/>
              <a:t> Alpha~60%</a:t>
            </a:r>
          </a:p>
          <a:p>
            <a:pPr marL="0" indent="0">
              <a:buNone/>
            </a:pPr>
            <a:r>
              <a:rPr lang="en-US" sz="2400" dirty="0"/>
              <a:t>The annotation task was difficult even for the researchers who designed the annotation guidelines.</a:t>
            </a:r>
          </a:p>
        </p:txBody>
      </p:sp>
      <p:sp>
        <p:nvSpPr>
          <p:cNvPr id="4" name="TextBox 3">
            <a:extLst>
              <a:ext uri="{FF2B5EF4-FFF2-40B4-BE49-F238E27FC236}">
                <a16:creationId xmlns="" xmlns:a16="http://schemas.microsoft.com/office/drawing/2014/main" id="{0B27CBA3-79BE-A847-8226-18495346F6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
        <p:nvSpPr>
          <p:cNvPr id="5" name="Up Ribbon 4">
            <a:extLst>
              <a:ext uri="{FF2B5EF4-FFF2-40B4-BE49-F238E27FC236}">
                <a16:creationId xmlns="" xmlns:a16="http://schemas.microsoft.com/office/drawing/2014/main" id="{2CAEFB98-52D5-1249-958C-E21FF1910CE0}"/>
              </a:ext>
            </a:extLst>
          </p:cNvPr>
          <p:cNvSpPr/>
          <p:nvPr/>
        </p:nvSpPr>
        <p:spPr>
          <a:xfrm rot="19800000">
            <a:off x="3931823" y="3898228"/>
            <a:ext cx="3300289" cy="762000"/>
          </a:xfrm>
          <a:prstGeom prst="ribbon2">
            <a:avLst/>
          </a:prstGeom>
          <a:solidFill>
            <a:srgbClr val="C2799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entury Gothic" panose="020B0502020202020204" pitchFamily="34" charset="0"/>
              </a:rPr>
              <a:t>No more than 60%</a:t>
            </a:r>
          </a:p>
        </p:txBody>
      </p:sp>
    </p:spTree>
    <p:extLst>
      <p:ext uri="{BB962C8B-B14F-4D97-AF65-F5344CB8AC3E}">
        <p14:creationId xmlns:p14="http://schemas.microsoft.com/office/powerpoint/2010/main" val="3402038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2"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Scale>
                                      <p:cBhvr>
                                        <p:cTn id="36"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5"/>
                                        </p:tgtEl>
                                        <p:attrNameLst>
                                          <p:attrName>ppt_x</p:attrName>
                                          <p:attrName>ppt_y</p:attrName>
                                        </p:attrNameLst>
                                      </p:cBhvr>
                                    </p:animMotion>
                                    <p:animEffect transition="in" filter="fade">
                                      <p:cBhvr>
                                        <p:cTn id="38" dur="10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i="1" dirty="0" smtClean="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r>
              <a:rPr lang="en-US" sz="2400" i="1" dirty="0" smtClean="0"/>
              <a:t>.</a:t>
            </a:r>
            <a:endParaRPr lang="en-US" sz="2400" i="1" dirty="0"/>
          </a:p>
          <a:p>
            <a:r>
              <a:rPr lang="en-US" altLang="zh-CN" sz="2400" dirty="0" smtClean="0"/>
              <a:t>Annotation task</a:t>
            </a:r>
            <a:r>
              <a:rPr lang="en-US" altLang="zh-CN" sz="2400" dirty="0"/>
              <a:t>: to</a:t>
            </a:r>
            <a:r>
              <a:rPr lang="zh-CN" altLang="en-US" sz="2400" dirty="0"/>
              <a:t> </a:t>
            </a:r>
            <a:r>
              <a:rPr lang="en-US" altLang="zh-CN" sz="2400" dirty="0" smtClean="0"/>
              <a:t>label the</a:t>
            </a:r>
            <a:r>
              <a:rPr lang="zh-CN" altLang="en-US" sz="2400" dirty="0" smtClean="0"/>
              <a:t> </a:t>
            </a:r>
            <a:r>
              <a:rPr lang="en-US" altLang="zh-CN" sz="2400" dirty="0" err="1"/>
              <a:t>TempRels</a:t>
            </a:r>
            <a:r>
              <a:rPr lang="zh-CN" altLang="en-US" sz="2400" dirty="0"/>
              <a:t> </a:t>
            </a:r>
            <a:r>
              <a:rPr lang="en-US" altLang="zh-CN" sz="2400" dirty="0"/>
              <a:t>between</a:t>
            </a:r>
            <a:r>
              <a:rPr lang="zh-CN" altLang="en-US" sz="2400" dirty="0"/>
              <a:t> </a:t>
            </a:r>
            <a:r>
              <a:rPr lang="en-US" altLang="zh-CN" sz="2400" dirty="0"/>
              <a:t>the </a:t>
            </a:r>
            <a:r>
              <a:rPr lang="en-US" altLang="zh-CN" sz="2400" b="1" dirty="0"/>
              <a:t>bold</a:t>
            </a:r>
            <a:r>
              <a:rPr lang="zh-CN" altLang="en-US" sz="2400" dirty="0"/>
              <a:t> </a:t>
            </a:r>
            <a:r>
              <a:rPr lang="en-US" altLang="zh-CN" sz="2400" dirty="0"/>
              <a:t>faced</a:t>
            </a:r>
            <a:r>
              <a:rPr lang="zh-CN" altLang="en-US" sz="2400" dirty="0"/>
              <a:t> </a:t>
            </a:r>
            <a:r>
              <a:rPr lang="en-US" altLang="zh-CN" sz="2400" dirty="0"/>
              <a:t>events</a:t>
            </a:r>
            <a:endParaRPr lang="en-US" sz="2400" dirty="0"/>
          </a:p>
          <a:p>
            <a:endParaRPr lang="en-US" sz="2400" b="1" i="1" dirty="0"/>
          </a:p>
          <a:p>
            <a:r>
              <a:rPr lang="en-US" sz="2400" dirty="0"/>
              <a:t>Existing Scheme 1: </a:t>
            </a:r>
            <a:r>
              <a:rPr lang="en-US" sz="2400" dirty="0" err="1"/>
              <a:t>TimeBank</a:t>
            </a:r>
            <a:r>
              <a:rPr lang="zh-CN" altLang="en-US" sz="2400" dirty="0"/>
              <a:t> </a:t>
            </a:r>
            <a:r>
              <a:rPr lang="en-US" altLang="zh-CN" sz="1600" i="1" dirty="0"/>
              <a:t>[</a:t>
            </a:r>
            <a:r>
              <a:rPr lang="en-US" sz="1600" i="1" dirty="0" err="1"/>
              <a:t>Pustejovsky</a:t>
            </a:r>
            <a:r>
              <a:rPr lang="en-US" sz="1600" i="1" dirty="0"/>
              <a:t> et al., 2003]</a:t>
            </a:r>
            <a:endParaRPr lang="en-US" sz="2400" dirty="0"/>
          </a:p>
          <a:p>
            <a:pPr lvl="1"/>
            <a:r>
              <a:rPr lang="en-US" sz="2000" dirty="0"/>
              <a:t>Annotators </a:t>
            </a:r>
            <a:r>
              <a:rPr lang="en-US" altLang="zh-CN" sz="2000" i="1" u="sng" dirty="0"/>
              <a:t>freely</a:t>
            </a:r>
            <a:r>
              <a:rPr lang="zh-CN" altLang="en-US" sz="2000" dirty="0"/>
              <a:t> </a:t>
            </a:r>
            <a:r>
              <a:rPr lang="en-US" altLang="zh-CN" sz="2000" dirty="0"/>
              <a:t>add</a:t>
            </a:r>
            <a:r>
              <a:rPr lang="zh-CN" altLang="en-US" sz="2000" dirty="0"/>
              <a:t> </a:t>
            </a:r>
            <a:r>
              <a:rPr lang="en-US" sz="2000" dirty="0" err="1"/>
              <a:t>TempRels</a:t>
            </a:r>
            <a:r>
              <a:rPr lang="en-US" sz="2000" dirty="0"/>
              <a:t> </a:t>
            </a:r>
            <a:r>
              <a:rPr lang="en-US" altLang="zh-CN" sz="2000" dirty="0"/>
              <a:t>between</a:t>
            </a:r>
            <a:r>
              <a:rPr lang="zh-CN" altLang="en-US" sz="2000" dirty="0"/>
              <a:t> </a:t>
            </a:r>
            <a:r>
              <a:rPr lang="en-US" altLang="zh-CN" sz="2000" dirty="0"/>
              <a:t>those</a:t>
            </a:r>
            <a:r>
              <a:rPr lang="zh-CN" altLang="en-US" sz="2000" dirty="0"/>
              <a:t> </a:t>
            </a:r>
            <a:r>
              <a:rPr lang="en-US" altLang="zh-CN" sz="2000" dirty="0"/>
              <a:t>events</a:t>
            </a:r>
            <a:r>
              <a:rPr lang="en-US" sz="2000" dirty="0"/>
              <a:t>.</a:t>
            </a:r>
          </a:p>
          <a:p>
            <a:pPr lvl="1"/>
            <a:r>
              <a:rPr lang="en-US" sz="2000" dirty="0"/>
              <a:t>It’s </a:t>
            </a:r>
            <a:r>
              <a:rPr lang="en-US" sz="2000" i="1" u="sng" dirty="0"/>
              <a:t>inevitable</a:t>
            </a:r>
            <a:r>
              <a:rPr lang="en-US" sz="2000" dirty="0"/>
              <a:t> that some </a:t>
            </a:r>
            <a:r>
              <a:rPr lang="en-US" sz="2000" dirty="0" err="1"/>
              <a:t>TempRels</a:t>
            </a:r>
            <a:r>
              <a:rPr lang="en-US" sz="2000" dirty="0"/>
              <a:t> will be missed.</a:t>
            </a:r>
          </a:p>
          <a:p>
            <a:pPr lvl="1"/>
            <a:r>
              <a:rPr lang="en-US" sz="2000" dirty="0"/>
              <a:t>E.g., only one relation between “</a:t>
            </a:r>
            <a:r>
              <a:rPr lang="en-US" sz="2000" b="1" dirty="0"/>
              <a:t>eliminate</a:t>
            </a:r>
            <a:r>
              <a:rPr lang="en-US" sz="2000" dirty="0"/>
              <a:t>” and “</a:t>
            </a:r>
            <a:r>
              <a:rPr lang="en-US" sz="2000" b="1" dirty="0"/>
              <a:t>restore</a:t>
            </a:r>
            <a:r>
              <a:rPr lang="en-US" sz="2000" dirty="0"/>
              <a:t>” is annotated in </a:t>
            </a:r>
            <a:r>
              <a:rPr lang="en-US" sz="2000" dirty="0" err="1"/>
              <a:t>TimeBank</a:t>
            </a:r>
            <a:r>
              <a:rPr lang="en-US" sz="2000" dirty="0"/>
              <a:t>, while other relations such as “</a:t>
            </a:r>
            <a:r>
              <a:rPr lang="en-US" sz="2000" b="1" dirty="0"/>
              <a:t>tried</a:t>
            </a:r>
            <a:r>
              <a:rPr lang="en-US" sz="2000" dirty="0"/>
              <a:t>” is before “</a:t>
            </a:r>
            <a:r>
              <a:rPr lang="en-US" sz="2000" b="1" dirty="0"/>
              <a:t>eliminate</a:t>
            </a:r>
            <a:r>
              <a:rPr lang="en-US" sz="2000" dirty="0"/>
              <a:t>” and “</a:t>
            </a:r>
            <a:r>
              <a:rPr lang="en-US" sz="2000" b="1" dirty="0"/>
              <a:t>tried</a:t>
            </a:r>
            <a:r>
              <a:rPr lang="en-US" sz="2000" dirty="0"/>
              <a:t>” is also before “</a:t>
            </a:r>
            <a:r>
              <a:rPr lang="en-US" sz="2000" b="1" dirty="0"/>
              <a:t>killed</a:t>
            </a:r>
            <a:r>
              <a:rPr lang="en-US" sz="2000" dirty="0"/>
              <a:t>” are missed.</a:t>
            </a:r>
          </a:p>
        </p:txBody>
      </p:sp>
      <p:sp>
        <p:nvSpPr>
          <p:cNvPr id="2" name="Title 1"/>
          <p:cNvSpPr>
            <a:spLocks noGrp="1"/>
          </p:cNvSpPr>
          <p:nvPr>
            <p:ph type="title"/>
          </p:nvPr>
        </p:nvSpPr>
        <p:spPr/>
        <p:txBody>
          <a:bodyPr/>
          <a:lstStyle/>
          <a:p>
            <a:r>
              <a:rPr lang="en-US" altLang="zh-CN" dirty="0" smtClean="0"/>
              <a:t>Existing annotation schemes</a:t>
            </a:r>
            <a:endParaRPr lang="en-US" dirty="0"/>
          </a:p>
        </p:txBody>
      </p:sp>
      <p:cxnSp>
        <p:nvCxnSpPr>
          <p:cNvPr id="5" name="Straight Connector 4"/>
          <p:cNvCxnSpPr>
            <a:cxnSpLocks/>
          </p:cNvCxnSpPr>
          <p:nvPr/>
        </p:nvCxnSpPr>
        <p:spPr>
          <a:xfrm>
            <a:off x="2667000" y="1600200"/>
            <a:ext cx="14478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66800" y="1997826"/>
            <a:ext cx="11430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01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left)">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left)">
                                      <p:cBhvr>
                                        <p:cTn id="27" dur="500"/>
                                        <p:tgtEl>
                                          <p:spTgt spid="3">
                                            <p:txEl>
                                              <p:pRg st="6" end="6"/>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par>
                                <p:cTn id="31" presetID="22" presetClass="entr" presetSubtype="8"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400" i="1" dirty="0" smtClean="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r>
              <a:rPr lang="en-US" sz="2400" i="1" dirty="0" smtClean="0"/>
              <a:t>.</a:t>
            </a:r>
            <a:endParaRPr lang="en-US" sz="2400" i="1" dirty="0"/>
          </a:p>
          <a:p>
            <a:endParaRPr lang="en-US" sz="2400" dirty="0"/>
          </a:p>
          <a:p>
            <a:r>
              <a:rPr lang="en-US" sz="2400" dirty="0"/>
              <a:t>Existing Scheme 2: </a:t>
            </a:r>
            <a:r>
              <a:rPr lang="en-US" sz="2400" dirty="0" err="1"/>
              <a:t>TimeBank</a:t>
            </a:r>
            <a:r>
              <a:rPr lang="en-US" sz="2400" dirty="0"/>
              <a:t>-Dense </a:t>
            </a:r>
            <a:r>
              <a:rPr lang="en-US" sz="1600" i="1" dirty="0"/>
              <a:t>[Cassidy et al., 2014]</a:t>
            </a:r>
          </a:p>
          <a:p>
            <a:pPr marL="457200" lvl="1" indent="0">
              <a:buNone/>
            </a:pPr>
            <a:r>
              <a:rPr lang="en-US" sz="2000" b="1" i="1" dirty="0"/>
              <a:t>“All”</a:t>
            </a:r>
            <a:r>
              <a:rPr lang="en-US" sz="2000" dirty="0"/>
              <a:t> – all event pairs are presented, one-by-one, and an annotator </a:t>
            </a:r>
            <a:r>
              <a:rPr lang="en-US" sz="2000" i="1" u="sng" dirty="0"/>
              <a:t>must</a:t>
            </a:r>
            <a:r>
              <a:rPr lang="en-US" sz="2000" dirty="0"/>
              <a:t> provide a response  for each of them.</a:t>
            </a:r>
          </a:p>
          <a:p>
            <a:pPr marL="457200" lvl="1" indent="0">
              <a:buNone/>
            </a:pPr>
            <a:r>
              <a:rPr lang="en-US" sz="2000" b="1" i="1" dirty="0"/>
              <a:t>“1” </a:t>
            </a:r>
            <a:r>
              <a:rPr lang="en-US" sz="2000" i="1" dirty="0"/>
              <a:t>–</a:t>
            </a:r>
            <a:r>
              <a:rPr lang="en-US" sz="2000" dirty="0"/>
              <a:t> In the physical world, time is one dimensional.</a:t>
            </a:r>
          </a:p>
          <a:p>
            <a:pPr marL="457200" lvl="1" indent="0">
              <a:buNone/>
            </a:pPr>
            <a:r>
              <a:rPr lang="en-US" sz="2000" b="1" i="1" dirty="0"/>
              <a:t>“0”</a:t>
            </a:r>
            <a:r>
              <a:rPr lang="en-US" sz="2000" dirty="0"/>
              <a:t> – missing relations anymore.</a:t>
            </a:r>
          </a:p>
          <a:p>
            <a:pPr marL="457200" lvl="1" indent="0">
              <a:buNone/>
            </a:pPr>
            <a:r>
              <a:rPr lang="en-US" sz="2000" b="1" i="1" dirty="0"/>
              <a:t>“?”</a:t>
            </a:r>
            <a:r>
              <a:rPr lang="en-US" sz="2000" i="1" dirty="0"/>
              <a:t> –</a:t>
            </a:r>
            <a:r>
              <a:rPr lang="en-US" sz="2000" b="1" i="1" dirty="0"/>
              <a:t> </a:t>
            </a:r>
            <a:r>
              <a:rPr lang="en-US" sz="2000" i="1" dirty="0"/>
              <a:t>However</a:t>
            </a:r>
            <a:r>
              <a:rPr lang="en-US" sz="2000" dirty="0"/>
              <a:t>, some pairs of events are very </a:t>
            </a:r>
            <a:r>
              <a:rPr lang="en-US" sz="2000" i="1" u="sng" dirty="0"/>
              <a:t>confusing</a:t>
            </a:r>
            <a:r>
              <a:rPr lang="en-US" sz="2000" dirty="0"/>
              <a:t>, resulting in disagreement.</a:t>
            </a:r>
          </a:p>
        </p:txBody>
      </p:sp>
      <p:sp>
        <p:nvSpPr>
          <p:cNvPr id="2" name="Title 1"/>
          <p:cNvSpPr>
            <a:spLocks noGrp="1"/>
          </p:cNvSpPr>
          <p:nvPr>
            <p:ph type="title"/>
          </p:nvPr>
        </p:nvSpPr>
        <p:spPr/>
        <p:txBody>
          <a:bodyPr/>
          <a:lstStyle/>
          <a:p>
            <a:r>
              <a:rPr lang="en-US" altLang="zh-CN" dirty="0"/>
              <a:t>Existing annotation schemes</a:t>
            </a:r>
            <a:endParaRPr lang="en-US" dirty="0"/>
          </a:p>
        </p:txBody>
      </p:sp>
      <p:sp>
        <p:nvSpPr>
          <p:cNvPr id="4" name="Freeform 3"/>
          <p:cNvSpPr/>
          <p:nvPr/>
        </p:nvSpPr>
        <p:spPr>
          <a:xfrm>
            <a:off x="2085975" y="1000026"/>
            <a:ext cx="1371600" cy="357287"/>
          </a:xfrm>
          <a:custGeom>
            <a:avLst/>
            <a:gdLst>
              <a:gd name="connsiteX0" fmla="*/ 0 w 1371600"/>
              <a:gd name="connsiteY0" fmla="*/ 328712 h 357287"/>
              <a:gd name="connsiteX1" fmla="*/ 671513 w 1371600"/>
              <a:gd name="connsiteY1" fmla="*/ 99 h 357287"/>
              <a:gd name="connsiteX2" fmla="*/ 1371600 w 1371600"/>
              <a:gd name="connsiteY2" fmla="*/ 357287 h 357287"/>
            </a:gdLst>
            <a:ahLst/>
            <a:cxnLst>
              <a:cxn ang="0">
                <a:pos x="connsiteX0" y="connsiteY0"/>
              </a:cxn>
              <a:cxn ang="0">
                <a:pos x="connsiteX1" y="connsiteY1"/>
              </a:cxn>
              <a:cxn ang="0">
                <a:pos x="connsiteX2" y="connsiteY2"/>
              </a:cxn>
            </a:cxnLst>
            <a:rect l="l" t="t" r="r" b="b"/>
            <a:pathLst>
              <a:path w="1371600" h="357287">
                <a:moveTo>
                  <a:pt x="0" y="328712"/>
                </a:moveTo>
                <a:cubicBezTo>
                  <a:pt x="221456" y="162024"/>
                  <a:pt x="442913" y="-4663"/>
                  <a:pt x="671513" y="99"/>
                </a:cubicBezTo>
                <a:cubicBezTo>
                  <a:pt x="900113" y="4861"/>
                  <a:pt x="1371600" y="357287"/>
                  <a:pt x="1371600" y="357287"/>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1600200" y="1000807"/>
            <a:ext cx="609599" cy="770843"/>
          </a:xfrm>
          <a:custGeom>
            <a:avLst/>
            <a:gdLst>
              <a:gd name="connsiteX0" fmla="*/ 857250 w 857250"/>
              <a:gd name="connsiteY0" fmla="*/ 356506 h 770843"/>
              <a:gd name="connsiteX1" fmla="*/ 328613 w 857250"/>
              <a:gd name="connsiteY1" fmla="*/ 13606 h 770843"/>
              <a:gd name="connsiteX2" fmla="*/ 0 w 857250"/>
              <a:gd name="connsiteY2" fmla="*/ 770843 h 770843"/>
            </a:gdLst>
            <a:ahLst/>
            <a:cxnLst>
              <a:cxn ang="0">
                <a:pos x="connsiteX0" y="connsiteY0"/>
              </a:cxn>
              <a:cxn ang="0">
                <a:pos x="connsiteX1" y="connsiteY1"/>
              </a:cxn>
              <a:cxn ang="0">
                <a:pos x="connsiteX2" y="connsiteY2"/>
              </a:cxn>
            </a:cxnLst>
            <a:rect l="l" t="t" r="r" b="b"/>
            <a:pathLst>
              <a:path w="857250" h="770843">
                <a:moveTo>
                  <a:pt x="857250" y="356506"/>
                </a:moveTo>
                <a:cubicBezTo>
                  <a:pt x="664369" y="150528"/>
                  <a:pt x="471488" y="-55450"/>
                  <a:pt x="328613" y="13606"/>
                </a:cubicBezTo>
                <a:cubicBezTo>
                  <a:pt x="185738" y="82662"/>
                  <a:pt x="0" y="770843"/>
                  <a:pt x="0" y="77084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p:cNvSpPr/>
          <p:nvPr/>
        </p:nvSpPr>
        <p:spPr>
          <a:xfrm>
            <a:off x="2043112" y="931118"/>
            <a:ext cx="5424487" cy="797670"/>
          </a:xfrm>
          <a:custGeom>
            <a:avLst/>
            <a:gdLst>
              <a:gd name="connsiteX0" fmla="*/ 0 w 3757612"/>
              <a:gd name="connsiteY0" fmla="*/ 397620 h 797670"/>
              <a:gd name="connsiteX1" fmla="*/ 2200275 w 3757612"/>
              <a:gd name="connsiteY1" fmla="*/ 11857 h 797670"/>
              <a:gd name="connsiteX2" fmla="*/ 3757612 w 3757612"/>
              <a:gd name="connsiteY2" fmla="*/ 797670 h 797670"/>
            </a:gdLst>
            <a:ahLst/>
            <a:cxnLst>
              <a:cxn ang="0">
                <a:pos x="connsiteX0" y="connsiteY0"/>
              </a:cxn>
              <a:cxn ang="0">
                <a:pos x="connsiteX1" y="connsiteY1"/>
              </a:cxn>
              <a:cxn ang="0">
                <a:pos x="connsiteX2" y="connsiteY2"/>
              </a:cxn>
            </a:cxnLst>
            <a:rect l="l" t="t" r="r" b="b"/>
            <a:pathLst>
              <a:path w="3757612" h="797670">
                <a:moveTo>
                  <a:pt x="0" y="397620"/>
                </a:moveTo>
                <a:cubicBezTo>
                  <a:pt x="787003" y="171401"/>
                  <a:pt x="1574006" y="-54818"/>
                  <a:pt x="2200275" y="11857"/>
                </a:cubicBezTo>
                <a:cubicBezTo>
                  <a:pt x="2826544" y="78532"/>
                  <a:pt x="3757612" y="797670"/>
                  <a:pt x="3757612" y="79767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1600199" y="760865"/>
            <a:ext cx="1857375" cy="967923"/>
          </a:xfrm>
          <a:custGeom>
            <a:avLst/>
            <a:gdLst>
              <a:gd name="connsiteX0" fmla="*/ 2214562 w 2214562"/>
              <a:gd name="connsiteY0" fmla="*/ 539298 h 967923"/>
              <a:gd name="connsiteX1" fmla="*/ 857250 w 2214562"/>
              <a:gd name="connsiteY1" fmla="*/ 10660 h 967923"/>
              <a:gd name="connsiteX2" fmla="*/ 0 w 2214562"/>
              <a:gd name="connsiteY2" fmla="*/ 967923 h 967923"/>
            </a:gdLst>
            <a:ahLst/>
            <a:cxnLst>
              <a:cxn ang="0">
                <a:pos x="connsiteX0" y="connsiteY0"/>
              </a:cxn>
              <a:cxn ang="0">
                <a:pos x="connsiteX1" y="connsiteY1"/>
              </a:cxn>
              <a:cxn ang="0">
                <a:pos x="connsiteX2" y="connsiteY2"/>
              </a:cxn>
            </a:cxnLst>
            <a:rect l="l" t="t" r="r" b="b"/>
            <a:pathLst>
              <a:path w="2214562" h="967923">
                <a:moveTo>
                  <a:pt x="2214562" y="539298"/>
                </a:moveTo>
                <a:cubicBezTo>
                  <a:pt x="1720453" y="239260"/>
                  <a:pt x="1226344" y="-60778"/>
                  <a:pt x="857250" y="10660"/>
                </a:cubicBezTo>
                <a:cubicBezTo>
                  <a:pt x="488156" y="82097"/>
                  <a:pt x="0" y="967923"/>
                  <a:pt x="0" y="96792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429000" y="862494"/>
            <a:ext cx="4114800" cy="852006"/>
          </a:xfrm>
          <a:custGeom>
            <a:avLst/>
            <a:gdLst>
              <a:gd name="connsiteX0" fmla="*/ 0 w 2443163"/>
              <a:gd name="connsiteY0" fmla="*/ 480531 h 852006"/>
              <a:gd name="connsiteX1" fmla="*/ 1571625 w 2443163"/>
              <a:gd name="connsiteY1" fmla="*/ 9044 h 852006"/>
              <a:gd name="connsiteX2" fmla="*/ 2443163 w 2443163"/>
              <a:gd name="connsiteY2" fmla="*/ 852006 h 852006"/>
            </a:gdLst>
            <a:ahLst/>
            <a:cxnLst>
              <a:cxn ang="0">
                <a:pos x="connsiteX0" y="connsiteY0"/>
              </a:cxn>
              <a:cxn ang="0">
                <a:pos x="connsiteX1" y="connsiteY1"/>
              </a:cxn>
              <a:cxn ang="0">
                <a:pos x="connsiteX2" y="connsiteY2"/>
              </a:cxn>
            </a:cxnLst>
            <a:rect l="l" t="t" r="r" b="b"/>
            <a:pathLst>
              <a:path w="2443163" h="852006">
                <a:moveTo>
                  <a:pt x="0" y="480531"/>
                </a:moveTo>
                <a:cubicBezTo>
                  <a:pt x="582215" y="213831"/>
                  <a:pt x="1164431" y="-52869"/>
                  <a:pt x="1571625" y="9044"/>
                </a:cubicBezTo>
                <a:cubicBezTo>
                  <a:pt x="1978819" y="70956"/>
                  <a:pt x="2443163" y="852006"/>
                  <a:pt x="2443163" y="852006"/>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05000" y="1943100"/>
            <a:ext cx="5257800" cy="514429"/>
          </a:xfrm>
          <a:custGeom>
            <a:avLst/>
            <a:gdLst>
              <a:gd name="connsiteX0" fmla="*/ 0 w 4572000"/>
              <a:gd name="connsiteY0" fmla="*/ 0 h 514429"/>
              <a:gd name="connsiteX1" fmla="*/ 2528887 w 4572000"/>
              <a:gd name="connsiteY1" fmla="*/ 514350 h 514429"/>
              <a:gd name="connsiteX2" fmla="*/ 4572000 w 4572000"/>
              <a:gd name="connsiteY2" fmla="*/ 42863 h 514429"/>
            </a:gdLst>
            <a:ahLst/>
            <a:cxnLst>
              <a:cxn ang="0">
                <a:pos x="connsiteX0" y="connsiteY0"/>
              </a:cxn>
              <a:cxn ang="0">
                <a:pos x="connsiteX1" y="connsiteY1"/>
              </a:cxn>
              <a:cxn ang="0">
                <a:pos x="connsiteX2" y="connsiteY2"/>
              </a:cxn>
            </a:cxnLst>
            <a:rect l="l" t="t" r="r" b="b"/>
            <a:pathLst>
              <a:path w="4572000" h="514429">
                <a:moveTo>
                  <a:pt x="0" y="0"/>
                </a:moveTo>
                <a:cubicBezTo>
                  <a:pt x="883443" y="253603"/>
                  <a:pt x="1766887" y="507206"/>
                  <a:pt x="2528887" y="514350"/>
                </a:cubicBezTo>
                <a:cubicBezTo>
                  <a:pt x="3290887" y="521494"/>
                  <a:pt x="4572000" y="42863"/>
                  <a:pt x="4572000" y="4286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7409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250"/>
                                        <p:tgtEl>
                                          <p:spTgt spid="5"/>
                                        </p:tgtEl>
                                      </p:cBhvr>
                                    </p:animEffect>
                                  </p:childTnLst>
                                </p:cTn>
                              </p:par>
                            </p:childTnLst>
                          </p:cTn>
                        </p:par>
                        <p:par>
                          <p:cTn id="11" fill="hold">
                            <p:stCondLst>
                              <p:cond delay="500"/>
                            </p:stCondLst>
                            <p:childTnLst>
                              <p:par>
                                <p:cTn id="12" presetID="9" presetClass="entr" presetSubtype="0" fill="hold" grpId="0" nodeType="afterEffect">
                                  <p:stCondLst>
                                    <p:cond delay="500"/>
                                  </p:stCondLst>
                                  <p:childTnLst>
                                    <p:set>
                                      <p:cBhvr>
                                        <p:cTn id="13" dur="1" fill="hold">
                                          <p:stCondLst>
                                            <p:cond delay="0"/>
                                          </p:stCondLst>
                                        </p:cTn>
                                        <p:tgtEl>
                                          <p:spTgt spid="4"/>
                                        </p:tgtEl>
                                        <p:attrNameLst>
                                          <p:attrName>style.visibility</p:attrName>
                                        </p:attrNameLst>
                                      </p:cBhvr>
                                      <p:to>
                                        <p:strVal val="visible"/>
                                      </p:to>
                                    </p:set>
                                    <p:animEffect transition="in" filter="dissolve">
                                      <p:cBhvr>
                                        <p:cTn id="14" dur="250"/>
                                        <p:tgtEl>
                                          <p:spTgt spid="4"/>
                                        </p:tgtEl>
                                      </p:cBhvr>
                                    </p:animEffect>
                                  </p:childTnLst>
                                </p:cTn>
                              </p:par>
                            </p:childTnLst>
                          </p:cTn>
                        </p:par>
                        <p:par>
                          <p:cTn id="15" fill="hold">
                            <p:stCondLst>
                              <p:cond delay="1250"/>
                            </p:stCondLst>
                            <p:childTnLst>
                              <p:par>
                                <p:cTn id="16" presetID="9" presetClass="entr" presetSubtype="0" fill="hold" grpId="0" nodeType="afterEffect">
                                  <p:stCondLst>
                                    <p:cond delay="50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250"/>
                                        <p:tgtEl>
                                          <p:spTgt spid="6"/>
                                        </p:tgtEl>
                                      </p:cBhvr>
                                    </p:animEffect>
                                  </p:childTnLst>
                                </p:cTn>
                              </p:par>
                            </p:childTnLst>
                          </p:cTn>
                        </p:par>
                        <p:par>
                          <p:cTn id="19" fill="hold">
                            <p:stCondLst>
                              <p:cond delay="2000"/>
                            </p:stCondLst>
                            <p:childTnLst>
                              <p:par>
                                <p:cTn id="20" presetID="9" presetClass="entr" presetSubtype="0" fill="hold" grpId="0" nodeType="afterEffect">
                                  <p:stCondLst>
                                    <p:cond delay="50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250"/>
                                        <p:tgtEl>
                                          <p:spTgt spid="7"/>
                                        </p:tgtEl>
                                      </p:cBhvr>
                                    </p:animEffect>
                                  </p:childTnLst>
                                </p:cTn>
                              </p:par>
                            </p:childTnLst>
                          </p:cTn>
                        </p:par>
                        <p:par>
                          <p:cTn id="23" fill="hold">
                            <p:stCondLst>
                              <p:cond delay="2750"/>
                            </p:stCondLst>
                            <p:childTnLst>
                              <p:par>
                                <p:cTn id="24" presetID="9" presetClass="entr" presetSubtype="0" fill="hold" grpId="0" nodeType="afterEffect">
                                  <p:stCondLst>
                                    <p:cond delay="50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250"/>
                                        <p:tgtEl>
                                          <p:spTgt spid="8"/>
                                        </p:tgtEl>
                                      </p:cBhvr>
                                    </p:animEffect>
                                  </p:childTnLst>
                                </p:cTn>
                              </p:par>
                            </p:childTnLst>
                          </p:cTn>
                        </p:par>
                        <p:par>
                          <p:cTn id="27" fill="hold">
                            <p:stCondLst>
                              <p:cond delay="3500"/>
                            </p:stCondLst>
                            <p:childTnLst>
                              <p:par>
                                <p:cTn id="28" presetID="9" presetClass="entr" presetSubtype="0" fill="hold" grpId="0" nodeType="afterEffect">
                                  <p:stCondLst>
                                    <p:cond delay="500"/>
                                  </p:stCondLst>
                                  <p:childTnLst>
                                    <p:set>
                                      <p:cBhvr>
                                        <p:cTn id="29" dur="1" fill="hold">
                                          <p:stCondLst>
                                            <p:cond delay="0"/>
                                          </p:stCondLst>
                                        </p:cTn>
                                        <p:tgtEl>
                                          <p:spTgt spid="9"/>
                                        </p:tgtEl>
                                        <p:attrNameLst>
                                          <p:attrName>style.visibility</p:attrName>
                                        </p:attrNameLst>
                                      </p:cBhvr>
                                      <p:to>
                                        <p:strVal val="visible"/>
                                      </p:to>
                                    </p:set>
                                    <p:animEffect transition="in" filter="dissolve">
                                      <p:cBhvr>
                                        <p:cTn id="30" dur="25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dissolve">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dissolve">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dissolve">
                                      <p:cBhvr>
                                        <p:cTn id="4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4" grpId="0" uiExpand="1" animBg="1"/>
      <p:bldP spid="5" grpId="0" uiExpand="1" animBg="1"/>
      <p:bldP spid="6" grpId="0" uiExpand="1" animBg="1"/>
      <p:bldP spid="7" grpId="0" uiExpand="1" animBg="1"/>
      <p:bldP spid="8" grpId="0" uiExpand="1" animBg="1"/>
      <p:bldP spid="9" grpId="0" uiExpan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Existing annotation schemes</a:t>
            </a:r>
            <a:endParaRPr lang="en-US" dirty="0"/>
          </a:p>
        </p:txBody>
      </p:sp>
      <p:sp>
        <p:nvSpPr>
          <p:cNvPr id="3" name="Content Placeholder 2"/>
          <p:cNvSpPr>
            <a:spLocks noGrp="1"/>
          </p:cNvSpPr>
          <p:nvPr>
            <p:ph idx="1"/>
          </p:nvPr>
        </p:nvSpPr>
        <p:spPr/>
        <p:txBody>
          <a:bodyPr/>
          <a:lstStyle/>
          <a:p>
            <a:pPr marL="0" indent="0">
              <a:buNone/>
            </a:pPr>
            <a:r>
              <a:rPr lang="en-US" sz="2400" i="1" dirty="0" smtClean="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r>
              <a:rPr lang="en-US" sz="2400" i="1" dirty="0" smtClean="0"/>
              <a:t>.</a:t>
            </a:r>
            <a:endParaRPr lang="en-US" sz="2400" i="1" dirty="0"/>
          </a:p>
          <a:p>
            <a:pPr lvl="1"/>
            <a:endParaRPr lang="en-US" sz="2000" dirty="0"/>
          </a:p>
          <a:p>
            <a:r>
              <a:rPr lang="en-US" sz="2400" dirty="0"/>
              <a:t>E.g., what’s the relation between </a:t>
            </a:r>
            <a:r>
              <a:rPr lang="en-US" sz="2400" b="1" i="1" dirty="0"/>
              <a:t>restore </a:t>
            </a:r>
            <a:r>
              <a:rPr lang="en-US" sz="2400" dirty="0"/>
              <a:t>and </a:t>
            </a:r>
            <a:r>
              <a:rPr lang="en-US" sz="2400" b="1" i="1" dirty="0"/>
              <a:t>killed</a:t>
            </a:r>
            <a:r>
              <a:rPr lang="en-US" sz="2400" dirty="0"/>
              <a:t>?</a:t>
            </a:r>
          </a:p>
          <a:p>
            <a:pPr lvl="1"/>
            <a:r>
              <a:rPr lang="en-US" sz="2000" dirty="0"/>
              <a:t>restore </a:t>
            </a:r>
            <a:r>
              <a:rPr lang="en-US" sz="2000" dirty="0">
                <a:latin typeface="Courier" charset="0"/>
                <a:ea typeface="Courier" charset="0"/>
                <a:cs typeface="Courier" charset="0"/>
              </a:rPr>
              <a:t>BEFORE</a:t>
            </a:r>
            <a:r>
              <a:rPr lang="en-US" sz="2000" dirty="0">
                <a:latin typeface="Calibri" charset="0"/>
                <a:ea typeface="Calibri" charset="0"/>
                <a:cs typeface="Calibri" charset="0"/>
              </a:rPr>
              <a:t> </a:t>
            </a:r>
            <a:r>
              <a:rPr lang="en-US" sz="2000" dirty="0"/>
              <a:t>killed?</a:t>
            </a:r>
          </a:p>
          <a:p>
            <a:pPr lvl="1"/>
            <a:r>
              <a:rPr lang="en-US" sz="2000" dirty="0"/>
              <a:t>restore </a:t>
            </a:r>
            <a:r>
              <a:rPr lang="en-US" sz="2000" dirty="0">
                <a:latin typeface="Courier" charset="0"/>
                <a:ea typeface="Courier" charset="0"/>
                <a:cs typeface="Courier" charset="0"/>
              </a:rPr>
              <a:t>INCLUDES</a:t>
            </a:r>
            <a:r>
              <a:rPr lang="en-US" sz="2000" dirty="0"/>
              <a:t> killed?</a:t>
            </a:r>
          </a:p>
          <a:p>
            <a:pPr lvl="1"/>
            <a:r>
              <a:rPr lang="en-US" sz="2000" dirty="0"/>
              <a:t>restore </a:t>
            </a:r>
            <a:r>
              <a:rPr lang="en-US" sz="2000" dirty="0">
                <a:latin typeface="Courier" charset="0"/>
                <a:ea typeface="Courier" charset="0"/>
                <a:cs typeface="Courier" charset="0"/>
              </a:rPr>
              <a:t>AFTER</a:t>
            </a:r>
            <a:r>
              <a:rPr lang="en-US" sz="2000" dirty="0"/>
              <a:t> killed?</a:t>
            </a:r>
          </a:p>
          <a:p>
            <a:endParaRPr lang="en-US" sz="2400" dirty="0"/>
          </a:p>
          <a:p>
            <a:endParaRPr lang="en-US" sz="2400" dirty="0"/>
          </a:p>
          <a:p>
            <a:endParaRPr lang="en-US" sz="2400" dirty="0"/>
          </a:p>
        </p:txBody>
      </p:sp>
      <p:sp>
        <p:nvSpPr>
          <p:cNvPr id="8" name="TextBox 7">
            <a:extLst>
              <a:ext uri="{FF2B5EF4-FFF2-40B4-BE49-F238E27FC236}">
                <a16:creationId xmlns="" xmlns:a16="http://schemas.microsoft.com/office/drawing/2014/main" id="{213C7945-6BDA-1544-9CA8-67583719AD2A}"/>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cxnSp>
        <p:nvCxnSpPr>
          <p:cNvPr id="9" name="Straight Connector 8"/>
          <p:cNvCxnSpPr>
            <a:cxnSpLocks/>
          </p:cNvCxnSpPr>
          <p:nvPr/>
        </p:nvCxnSpPr>
        <p:spPr>
          <a:xfrm>
            <a:off x="990600" y="1981200"/>
            <a:ext cx="1219199"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757987" y="1943100"/>
            <a:ext cx="914400" cy="0"/>
          </a:xfrm>
          <a:prstGeom prst="line">
            <a:avLst/>
          </a:prstGeom>
          <a:ln w="38100">
            <a:solidFill>
              <a:srgbClr val="FF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055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dissolve">
                                      <p:cBhvr>
                                        <p:cTn id="13" dur="500"/>
                                        <p:tgtEl>
                                          <p:spTgt spid="3">
                                            <p:txEl>
                                              <p:pRg st="4" end="4"/>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dissolve">
                                      <p:cBhvr>
                                        <p:cTn id="16" dur="500"/>
                                        <p:tgtEl>
                                          <p:spTgt spid="3">
                                            <p:txEl>
                                              <p:pRg st="5" end="5"/>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4094417" y="4087597"/>
            <a:ext cx="1556084" cy="1860884"/>
            <a:chOff x="3850105" y="3914274"/>
            <a:chExt cx="1556084" cy="1860884"/>
          </a:xfrm>
        </p:grpSpPr>
        <p:sp>
          <p:nvSpPr>
            <p:cNvPr id="26" name="Freeform 25"/>
            <p:cNvSpPr/>
            <p:nvPr/>
          </p:nvSpPr>
          <p:spPr>
            <a:xfrm>
              <a:off x="3882189" y="4876800"/>
              <a:ext cx="1491916" cy="898358"/>
            </a:xfrm>
            <a:custGeom>
              <a:avLst/>
              <a:gdLst>
                <a:gd name="connsiteX0" fmla="*/ 0 w 1491916"/>
                <a:gd name="connsiteY0" fmla="*/ 0 h 898358"/>
                <a:gd name="connsiteX1" fmla="*/ 1090864 w 1491916"/>
                <a:gd name="connsiteY1" fmla="*/ 433137 h 898358"/>
                <a:gd name="connsiteX2" fmla="*/ 1491916 w 1491916"/>
                <a:gd name="connsiteY2" fmla="*/ 898358 h 898358"/>
              </a:gdLst>
              <a:ahLst/>
              <a:cxnLst>
                <a:cxn ang="0">
                  <a:pos x="connsiteX0" y="connsiteY0"/>
                </a:cxn>
                <a:cxn ang="0">
                  <a:pos x="connsiteX1" y="connsiteY1"/>
                </a:cxn>
                <a:cxn ang="0">
                  <a:pos x="connsiteX2" y="connsiteY2"/>
                </a:cxn>
              </a:cxnLst>
              <a:rect l="l" t="t" r="r" b="b"/>
              <a:pathLst>
                <a:path w="1491916" h="898358">
                  <a:moveTo>
                    <a:pt x="0" y="0"/>
                  </a:moveTo>
                  <a:cubicBezTo>
                    <a:pt x="421105" y="141705"/>
                    <a:pt x="842211" y="283411"/>
                    <a:pt x="1090864" y="433137"/>
                  </a:cubicBezTo>
                  <a:cubicBezTo>
                    <a:pt x="1339517" y="582863"/>
                    <a:pt x="1491916" y="898358"/>
                    <a:pt x="1491916" y="898358"/>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3850105" y="3914274"/>
              <a:ext cx="1556084" cy="1780673"/>
            </a:xfrm>
            <a:custGeom>
              <a:avLst/>
              <a:gdLst>
                <a:gd name="connsiteX0" fmla="*/ 0 w 1556084"/>
                <a:gd name="connsiteY0" fmla="*/ 0 h 1780673"/>
                <a:gd name="connsiteX1" fmla="*/ 1042737 w 1556084"/>
                <a:gd name="connsiteY1" fmla="*/ 545431 h 1780673"/>
                <a:gd name="connsiteX2" fmla="*/ 1556084 w 1556084"/>
                <a:gd name="connsiteY2" fmla="*/ 1780673 h 1780673"/>
              </a:gdLst>
              <a:ahLst/>
              <a:cxnLst>
                <a:cxn ang="0">
                  <a:pos x="connsiteX0" y="connsiteY0"/>
                </a:cxn>
                <a:cxn ang="0">
                  <a:pos x="connsiteX1" y="connsiteY1"/>
                </a:cxn>
                <a:cxn ang="0">
                  <a:pos x="connsiteX2" y="connsiteY2"/>
                </a:cxn>
              </a:cxnLst>
              <a:rect l="l" t="t" r="r" b="b"/>
              <a:pathLst>
                <a:path w="1556084" h="1780673">
                  <a:moveTo>
                    <a:pt x="0" y="0"/>
                  </a:moveTo>
                  <a:cubicBezTo>
                    <a:pt x="391695" y="124326"/>
                    <a:pt x="783390" y="248652"/>
                    <a:pt x="1042737" y="545431"/>
                  </a:cubicBezTo>
                  <a:cubicBezTo>
                    <a:pt x="1302084" y="842210"/>
                    <a:pt x="1556084" y="1780673"/>
                    <a:pt x="1556084" y="1780673"/>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a:t>Proposed </a:t>
            </a:r>
            <a:r>
              <a:rPr lang="en-US" dirty="0" smtClean="0"/>
              <a:t>solution: </a:t>
            </a:r>
            <a:r>
              <a:rPr lang="en-US" dirty="0"/>
              <a:t>multi-axis</a:t>
            </a:r>
          </a:p>
        </p:txBody>
      </p:sp>
      <p:sp>
        <p:nvSpPr>
          <p:cNvPr id="3" name="Content Placeholder 2"/>
          <p:cNvSpPr>
            <a:spLocks noGrp="1"/>
          </p:cNvSpPr>
          <p:nvPr>
            <p:ph idx="1"/>
          </p:nvPr>
        </p:nvSpPr>
        <p:spPr/>
        <p:txBody>
          <a:bodyPr/>
          <a:lstStyle/>
          <a:p>
            <a:pPr marL="0" indent="0">
              <a:buNone/>
            </a:pPr>
            <a:r>
              <a:rPr lang="en-US" sz="2400" i="1" dirty="0" smtClean="0"/>
              <a:t>Police </a:t>
            </a:r>
            <a:r>
              <a:rPr lang="en-US" sz="2400" b="1" i="1" dirty="0"/>
              <a:t>tried</a:t>
            </a:r>
            <a:r>
              <a:rPr lang="en-US" sz="2400" i="1" dirty="0"/>
              <a:t> to </a:t>
            </a:r>
            <a:r>
              <a:rPr lang="en-US" sz="2400" b="1" i="1" dirty="0"/>
              <a:t>eliminate</a:t>
            </a:r>
            <a:r>
              <a:rPr lang="en-US" sz="2400" i="1" dirty="0"/>
              <a:t> the pro-independence army and </a:t>
            </a:r>
            <a:r>
              <a:rPr lang="en-US" sz="2400" b="1" i="1" dirty="0"/>
              <a:t>restore</a:t>
            </a:r>
            <a:r>
              <a:rPr lang="en-US" sz="2400" i="1" dirty="0"/>
              <a:t> order. At least 51 people were </a:t>
            </a:r>
            <a:r>
              <a:rPr lang="en-US" sz="2400" b="1" i="1" dirty="0"/>
              <a:t>killed</a:t>
            </a:r>
            <a:r>
              <a:rPr lang="en-US" sz="2400" i="1" dirty="0"/>
              <a:t> in clashes between police and citizens in the troubled region</a:t>
            </a:r>
            <a:r>
              <a:rPr lang="en-US" sz="2400" i="1" dirty="0" smtClean="0"/>
              <a:t>.</a:t>
            </a:r>
            <a:endParaRPr lang="en-US" sz="2400" i="1" dirty="0"/>
          </a:p>
          <a:p>
            <a:r>
              <a:rPr lang="en-US" sz="2400" dirty="0"/>
              <a:t>We suggest that </a:t>
            </a:r>
            <a:r>
              <a:rPr lang="en-US" sz="2400" b="1" dirty="0"/>
              <a:t>multiple time axes may exist in natural language</a:t>
            </a:r>
            <a:r>
              <a:rPr lang="en-US" sz="2400" dirty="0"/>
              <a:t>.</a:t>
            </a:r>
          </a:p>
          <a:p>
            <a:endParaRPr lang="en-US" sz="2400" dirty="0"/>
          </a:p>
        </p:txBody>
      </p:sp>
      <p:grpSp>
        <p:nvGrpSpPr>
          <p:cNvPr id="4" name="Group 3"/>
          <p:cNvGrpSpPr/>
          <p:nvPr/>
        </p:nvGrpSpPr>
        <p:grpSpPr>
          <a:xfrm>
            <a:off x="2133600" y="3602323"/>
            <a:ext cx="4596817" cy="2733665"/>
            <a:chOff x="2265173" y="-47460"/>
            <a:chExt cx="4596817" cy="2733665"/>
          </a:xfrm>
        </p:grpSpPr>
        <p:grpSp>
          <p:nvGrpSpPr>
            <p:cNvPr id="9" name="Group 8"/>
            <p:cNvGrpSpPr/>
            <p:nvPr/>
          </p:nvGrpSpPr>
          <p:grpSpPr>
            <a:xfrm>
              <a:off x="2265173" y="-47460"/>
              <a:ext cx="4596817" cy="2733665"/>
              <a:chOff x="3569311" y="1831175"/>
              <a:chExt cx="4596817" cy="2733665"/>
            </a:xfrm>
          </p:grpSpPr>
          <p:cxnSp>
            <p:nvCxnSpPr>
              <p:cNvPr id="12" name="Straight Connector 11"/>
              <p:cNvCxnSpPr/>
              <p:nvPr/>
            </p:nvCxnSpPr>
            <p:spPr>
              <a:xfrm>
                <a:off x="4454620" y="4246080"/>
                <a:ext cx="3711508" cy="0"/>
              </a:xfrm>
              <a:prstGeom prst="line">
                <a:avLst/>
              </a:prstGeom>
              <a:ln w="38100">
                <a:solidFill>
                  <a:schemeClr val="bg2"/>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5505161" y="1831175"/>
                <a:ext cx="0" cy="2526134"/>
              </a:xfrm>
              <a:prstGeom prst="line">
                <a:avLst/>
              </a:prstGeom>
              <a:ln w="38100">
                <a:solidFill>
                  <a:schemeClr val="bg2"/>
                </a:solidFill>
                <a:prstDash val="soli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366087" y="4257063"/>
                <a:ext cx="1175322"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police </a:t>
                </a:r>
                <a:r>
                  <a:rPr lang="en-US" sz="1400" b="1" u="sng" dirty="0">
                    <a:solidFill>
                      <a:schemeClr val="bg2"/>
                    </a:solidFill>
                    <a:latin typeface="Century Gothic" panose="020B0502020202020204" pitchFamily="34" charset="0"/>
                    <a:ea typeface="Times New Roman" charset="0"/>
                    <a:cs typeface="Times New Roman" charset="0"/>
                  </a:rPr>
                  <a:t>tried</a:t>
                </a:r>
              </a:p>
            </p:txBody>
          </p:sp>
          <p:sp>
            <p:nvSpPr>
              <p:cNvPr id="15" name="TextBox 14"/>
              <p:cNvSpPr txBox="1"/>
              <p:nvPr/>
            </p:nvSpPr>
            <p:spPr>
              <a:xfrm>
                <a:off x="6355510" y="4243106"/>
                <a:ext cx="1580882"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51 people </a:t>
                </a:r>
                <a:r>
                  <a:rPr lang="en-US" sz="1400" b="1" u="sng" dirty="0">
                    <a:solidFill>
                      <a:schemeClr val="bg2"/>
                    </a:solidFill>
                    <a:latin typeface="Century Gothic" panose="020B0502020202020204" pitchFamily="34" charset="0"/>
                    <a:ea typeface="Times New Roman" charset="0"/>
                    <a:cs typeface="Times New Roman" charset="0"/>
                  </a:rPr>
                  <a:t>killed</a:t>
                </a:r>
              </a:p>
            </p:txBody>
          </p:sp>
          <p:sp>
            <p:nvSpPr>
              <p:cNvPr id="16" name="TextBox 15"/>
              <p:cNvSpPr txBox="1"/>
              <p:nvPr/>
            </p:nvSpPr>
            <p:spPr>
              <a:xfrm>
                <a:off x="3569311" y="2920187"/>
                <a:ext cx="1712328" cy="307777"/>
              </a:xfrm>
              <a:prstGeom prst="rect">
                <a:avLst/>
              </a:prstGeom>
              <a:noFill/>
              <a:ln>
                <a:noFill/>
              </a:ln>
            </p:spPr>
            <p:txBody>
              <a:bodyPr wrap="none" rtlCol="0">
                <a:spAutoFit/>
              </a:bodyPr>
              <a:lstStyle/>
              <a:p>
                <a:r>
                  <a:rPr lang="en-US" sz="1400" b="1" dirty="0">
                    <a:solidFill>
                      <a:schemeClr val="bg2"/>
                    </a:solidFill>
                    <a:latin typeface="Century Gothic" panose="020B0502020202020204" pitchFamily="34" charset="0"/>
                    <a:ea typeface="Times New Roman" charset="0"/>
                    <a:cs typeface="Times New Roman" charset="0"/>
                  </a:rPr>
                  <a:t>to </a:t>
                </a:r>
                <a:r>
                  <a:rPr lang="en-US" sz="1400" b="1" u="sng" dirty="0">
                    <a:solidFill>
                      <a:schemeClr val="bg2"/>
                    </a:solidFill>
                    <a:latin typeface="Century Gothic" panose="020B0502020202020204" pitchFamily="34" charset="0"/>
                    <a:ea typeface="Times New Roman" charset="0"/>
                    <a:cs typeface="Times New Roman" charset="0"/>
                  </a:rPr>
                  <a:t>eliminate</a:t>
                </a:r>
                <a:r>
                  <a:rPr lang="en-US" sz="1400" b="1" dirty="0">
                    <a:solidFill>
                      <a:schemeClr val="bg2"/>
                    </a:solidFill>
                    <a:latin typeface="Century Gothic" panose="020B0502020202020204" pitchFamily="34" charset="0"/>
                    <a:ea typeface="Times New Roman" charset="0"/>
                    <a:cs typeface="Times New Roman" charset="0"/>
                  </a:rPr>
                  <a:t> army</a:t>
                </a:r>
              </a:p>
            </p:txBody>
          </p:sp>
          <p:sp>
            <p:nvSpPr>
              <p:cNvPr id="21" name="TextBox 20"/>
              <p:cNvSpPr txBox="1"/>
              <p:nvPr/>
            </p:nvSpPr>
            <p:spPr>
              <a:xfrm>
                <a:off x="3976602" y="2095938"/>
                <a:ext cx="1293944" cy="307777"/>
              </a:xfrm>
              <a:prstGeom prst="rect">
                <a:avLst/>
              </a:prstGeom>
              <a:noFill/>
              <a:ln>
                <a:noFill/>
              </a:ln>
            </p:spPr>
            <p:txBody>
              <a:bodyPr wrap="none" rtlCol="0">
                <a:spAutoFit/>
              </a:bodyPr>
              <a:lstStyle/>
              <a:p>
                <a:r>
                  <a:rPr lang="en-US" sz="1400" b="1" u="sng" dirty="0">
                    <a:solidFill>
                      <a:schemeClr val="bg2"/>
                    </a:solidFill>
                    <a:latin typeface="Century Gothic" panose="020B0502020202020204" pitchFamily="34" charset="0"/>
                    <a:ea typeface="Times New Roman" charset="0"/>
                    <a:cs typeface="Times New Roman" charset="0"/>
                  </a:rPr>
                  <a:t>restore</a:t>
                </a:r>
                <a:r>
                  <a:rPr lang="en-US" sz="1400" b="1" dirty="0">
                    <a:solidFill>
                      <a:schemeClr val="bg2"/>
                    </a:solidFill>
                    <a:latin typeface="Century Gothic" panose="020B0502020202020204" pitchFamily="34" charset="0"/>
                    <a:ea typeface="Times New Roman" charset="0"/>
                    <a:cs typeface="Times New Roman" charset="0"/>
                  </a:rPr>
                  <a:t> order</a:t>
                </a:r>
              </a:p>
            </p:txBody>
          </p:sp>
        </p:grpSp>
        <p:sp>
          <p:nvSpPr>
            <p:cNvPr id="6" name="Oval 5"/>
            <p:cNvSpPr/>
            <p:nvPr/>
          </p:nvSpPr>
          <p:spPr>
            <a:xfrm>
              <a:off x="4113545" y="2293769"/>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7" name="Oval 6"/>
            <p:cNvSpPr/>
            <p:nvPr/>
          </p:nvSpPr>
          <p:spPr>
            <a:xfrm>
              <a:off x="4113545" y="1352255"/>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8" name="Oval 7"/>
            <p:cNvSpPr/>
            <p:nvPr/>
          </p:nvSpPr>
          <p:spPr>
            <a:xfrm>
              <a:off x="5670759" y="2293769"/>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sp>
          <p:nvSpPr>
            <p:cNvPr id="22" name="Oval 21"/>
            <p:cNvSpPr/>
            <p:nvPr/>
          </p:nvSpPr>
          <p:spPr>
            <a:xfrm>
              <a:off x="4113545" y="383648"/>
              <a:ext cx="166255" cy="166255"/>
            </a:xfrm>
            <a:prstGeom prst="ellipse">
              <a:avLst/>
            </a:prstGeom>
            <a:solidFill>
              <a:srgbClr val="665E8A"/>
            </a:solidFill>
            <a:ln w="38100">
              <a:no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solidFill>
              </a:endParaRPr>
            </a:p>
          </p:txBody>
        </p:sp>
      </p:grpSp>
      <p:grpSp>
        <p:nvGrpSpPr>
          <p:cNvPr id="32" name="Group 31"/>
          <p:cNvGrpSpPr/>
          <p:nvPr/>
        </p:nvGrpSpPr>
        <p:grpSpPr>
          <a:xfrm>
            <a:off x="4874663" y="4421433"/>
            <a:ext cx="524665" cy="1295138"/>
            <a:chOff x="4648200" y="4248110"/>
            <a:chExt cx="524665" cy="1295138"/>
          </a:xfrm>
        </p:grpSpPr>
        <p:sp>
          <p:nvSpPr>
            <p:cNvPr id="24" name="Multiply 23"/>
            <p:cNvSpPr/>
            <p:nvPr/>
          </p:nvSpPr>
          <p:spPr>
            <a:xfrm>
              <a:off x="4648200" y="5018583"/>
              <a:ext cx="524665" cy="524665"/>
            </a:xfrm>
            <a:prstGeom prst="mathMultiply">
              <a:avLst/>
            </a:prstGeom>
            <a:solidFill>
              <a:srgbClr val="FF0000"/>
            </a:solidFill>
            <a:ln w="3175">
              <a:solidFill>
                <a:srgbClr val="FF0000"/>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Multiply 29"/>
            <p:cNvSpPr/>
            <p:nvPr/>
          </p:nvSpPr>
          <p:spPr>
            <a:xfrm>
              <a:off x="4648200" y="4248110"/>
              <a:ext cx="524665" cy="524665"/>
            </a:xfrm>
            <a:prstGeom prst="mathMultiply">
              <a:avLst/>
            </a:prstGeom>
            <a:solidFill>
              <a:srgbClr val="FF0000"/>
            </a:solidFill>
            <a:ln w="3175">
              <a:solidFill>
                <a:srgbClr val="FF0000"/>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9" name="Group 38"/>
          <p:cNvGrpSpPr/>
          <p:nvPr/>
        </p:nvGrpSpPr>
        <p:grpSpPr>
          <a:xfrm>
            <a:off x="3097966" y="4121149"/>
            <a:ext cx="2099862" cy="2776139"/>
            <a:chOff x="2871503" y="3947826"/>
            <a:chExt cx="2099862" cy="2776139"/>
          </a:xfrm>
        </p:grpSpPr>
        <p:sp>
          <p:nvSpPr>
            <p:cNvPr id="37" name="TextBox 36"/>
            <p:cNvSpPr txBox="1"/>
            <p:nvPr/>
          </p:nvSpPr>
          <p:spPr>
            <a:xfrm>
              <a:off x="2871503" y="3947826"/>
              <a:ext cx="646331" cy="646331"/>
            </a:xfrm>
            <a:prstGeom prst="rect">
              <a:avLst/>
            </a:prstGeom>
            <a:noFill/>
          </p:spPr>
          <p:txBody>
            <a:bodyPr wrap="none" rtlCol="0">
              <a:spAutoFit/>
            </a:bodyPr>
            <a:lstStyle/>
            <a:p>
              <a:r>
                <a:rPr lang="en-US" sz="3600" dirty="0">
                  <a:solidFill>
                    <a:srgbClr val="00B050"/>
                  </a:solidFill>
                </a:rPr>
                <a:t>✓</a:t>
              </a:r>
            </a:p>
          </p:txBody>
        </p:sp>
        <p:sp>
          <p:nvSpPr>
            <p:cNvPr id="38" name="TextBox 37"/>
            <p:cNvSpPr txBox="1"/>
            <p:nvPr/>
          </p:nvSpPr>
          <p:spPr>
            <a:xfrm>
              <a:off x="2871503" y="4994970"/>
              <a:ext cx="646331" cy="646331"/>
            </a:xfrm>
            <a:prstGeom prst="rect">
              <a:avLst/>
            </a:prstGeom>
            <a:noFill/>
          </p:spPr>
          <p:txBody>
            <a:bodyPr wrap="none" rtlCol="0">
              <a:spAutoFit/>
            </a:bodyPr>
            <a:lstStyle/>
            <a:p>
              <a:r>
                <a:rPr lang="en-US" sz="3600" dirty="0">
                  <a:solidFill>
                    <a:srgbClr val="00B050"/>
                  </a:solidFill>
                </a:rPr>
                <a:t>✓</a:t>
              </a:r>
            </a:p>
          </p:txBody>
        </p:sp>
        <p:sp>
          <p:nvSpPr>
            <p:cNvPr id="41" name="TextBox 40"/>
            <p:cNvSpPr txBox="1"/>
            <p:nvPr/>
          </p:nvSpPr>
          <p:spPr>
            <a:xfrm>
              <a:off x="4325034" y="6077634"/>
              <a:ext cx="646331" cy="646331"/>
            </a:xfrm>
            <a:prstGeom prst="rect">
              <a:avLst/>
            </a:prstGeom>
            <a:noFill/>
          </p:spPr>
          <p:txBody>
            <a:bodyPr wrap="none" rtlCol="0">
              <a:spAutoFit/>
            </a:bodyPr>
            <a:lstStyle/>
            <a:p>
              <a:r>
                <a:rPr lang="en-US" sz="3600" dirty="0">
                  <a:solidFill>
                    <a:srgbClr val="00B050"/>
                  </a:solidFill>
                </a:rPr>
                <a:t>✓</a:t>
              </a:r>
            </a:p>
          </p:txBody>
        </p:sp>
      </p:grpSp>
      <p:grpSp>
        <p:nvGrpSpPr>
          <p:cNvPr id="42" name="Group 41"/>
          <p:cNvGrpSpPr/>
          <p:nvPr/>
        </p:nvGrpSpPr>
        <p:grpSpPr>
          <a:xfrm>
            <a:off x="3499052" y="4128444"/>
            <a:ext cx="2101516" cy="2301365"/>
            <a:chOff x="3272589" y="3955121"/>
            <a:chExt cx="2101516" cy="2301365"/>
          </a:xfrm>
        </p:grpSpPr>
        <p:grpSp>
          <p:nvGrpSpPr>
            <p:cNvPr id="36" name="Group 35"/>
            <p:cNvGrpSpPr/>
            <p:nvPr/>
          </p:nvGrpSpPr>
          <p:grpSpPr>
            <a:xfrm>
              <a:off x="3272589" y="3955121"/>
              <a:ext cx="497306" cy="1884205"/>
              <a:chOff x="3272589" y="3955121"/>
              <a:chExt cx="497306" cy="1884205"/>
            </a:xfrm>
          </p:grpSpPr>
          <p:sp>
            <p:nvSpPr>
              <p:cNvPr id="33" name="Freeform 32"/>
              <p:cNvSpPr/>
              <p:nvPr/>
            </p:nvSpPr>
            <p:spPr>
              <a:xfrm>
                <a:off x="3272589" y="4940968"/>
                <a:ext cx="497306" cy="898358"/>
              </a:xfrm>
              <a:custGeom>
                <a:avLst/>
                <a:gdLst>
                  <a:gd name="connsiteX0" fmla="*/ 497306 w 497306"/>
                  <a:gd name="connsiteY0" fmla="*/ 898358 h 898358"/>
                  <a:gd name="connsiteX1" fmla="*/ 0 w 497306"/>
                  <a:gd name="connsiteY1" fmla="*/ 417095 h 898358"/>
                  <a:gd name="connsiteX2" fmla="*/ 497306 w 497306"/>
                  <a:gd name="connsiteY2" fmla="*/ 0 h 898358"/>
                </a:gdLst>
                <a:ahLst/>
                <a:cxnLst>
                  <a:cxn ang="0">
                    <a:pos x="connsiteX0" y="connsiteY0"/>
                  </a:cxn>
                  <a:cxn ang="0">
                    <a:pos x="connsiteX1" y="connsiteY1"/>
                  </a:cxn>
                  <a:cxn ang="0">
                    <a:pos x="connsiteX2" y="connsiteY2"/>
                  </a:cxn>
                </a:cxnLst>
                <a:rect l="l" t="t" r="r" b="b"/>
                <a:pathLst>
                  <a:path w="497306" h="898358">
                    <a:moveTo>
                      <a:pt x="497306" y="898358"/>
                    </a:moveTo>
                    <a:cubicBezTo>
                      <a:pt x="248653" y="732589"/>
                      <a:pt x="0" y="566821"/>
                      <a:pt x="0" y="417095"/>
                    </a:cubicBezTo>
                    <a:cubicBezTo>
                      <a:pt x="0" y="267369"/>
                      <a:pt x="497306" y="0"/>
                      <a:pt x="497306" y="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3272589" y="3955121"/>
                <a:ext cx="497306" cy="898358"/>
              </a:xfrm>
              <a:custGeom>
                <a:avLst/>
                <a:gdLst>
                  <a:gd name="connsiteX0" fmla="*/ 497306 w 497306"/>
                  <a:gd name="connsiteY0" fmla="*/ 898358 h 898358"/>
                  <a:gd name="connsiteX1" fmla="*/ 0 w 497306"/>
                  <a:gd name="connsiteY1" fmla="*/ 417095 h 898358"/>
                  <a:gd name="connsiteX2" fmla="*/ 497306 w 497306"/>
                  <a:gd name="connsiteY2" fmla="*/ 0 h 898358"/>
                </a:gdLst>
                <a:ahLst/>
                <a:cxnLst>
                  <a:cxn ang="0">
                    <a:pos x="connsiteX0" y="connsiteY0"/>
                  </a:cxn>
                  <a:cxn ang="0">
                    <a:pos x="connsiteX1" y="connsiteY1"/>
                  </a:cxn>
                  <a:cxn ang="0">
                    <a:pos x="connsiteX2" y="connsiteY2"/>
                  </a:cxn>
                </a:cxnLst>
                <a:rect l="l" t="t" r="r" b="b"/>
                <a:pathLst>
                  <a:path w="497306" h="898358">
                    <a:moveTo>
                      <a:pt x="497306" y="898358"/>
                    </a:moveTo>
                    <a:cubicBezTo>
                      <a:pt x="248653" y="732589"/>
                      <a:pt x="0" y="566821"/>
                      <a:pt x="0" y="417095"/>
                    </a:cubicBezTo>
                    <a:cubicBezTo>
                      <a:pt x="0" y="267369"/>
                      <a:pt x="497306" y="0"/>
                      <a:pt x="497306" y="0"/>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Freeform 39"/>
            <p:cNvSpPr/>
            <p:nvPr/>
          </p:nvSpPr>
          <p:spPr>
            <a:xfrm>
              <a:off x="3818021" y="5903495"/>
              <a:ext cx="1556084" cy="352991"/>
            </a:xfrm>
            <a:custGeom>
              <a:avLst/>
              <a:gdLst>
                <a:gd name="connsiteX0" fmla="*/ 0 w 1556084"/>
                <a:gd name="connsiteY0" fmla="*/ 0 h 352991"/>
                <a:gd name="connsiteX1" fmla="*/ 850232 w 1556084"/>
                <a:gd name="connsiteY1" fmla="*/ 352926 h 352991"/>
                <a:gd name="connsiteX2" fmla="*/ 1556084 w 1556084"/>
                <a:gd name="connsiteY2" fmla="*/ 32084 h 352991"/>
              </a:gdLst>
              <a:ahLst/>
              <a:cxnLst>
                <a:cxn ang="0">
                  <a:pos x="connsiteX0" y="connsiteY0"/>
                </a:cxn>
                <a:cxn ang="0">
                  <a:pos x="connsiteX1" y="connsiteY1"/>
                </a:cxn>
                <a:cxn ang="0">
                  <a:pos x="connsiteX2" y="connsiteY2"/>
                </a:cxn>
              </a:cxnLst>
              <a:rect l="l" t="t" r="r" b="b"/>
              <a:pathLst>
                <a:path w="1556084" h="352991">
                  <a:moveTo>
                    <a:pt x="0" y="0"/>
                  </a:moveTo>
                  <a:cubicBezTo>
                    <a:pt x="295442" y="173789"/>
                    <a:pt x="590885" y="347579"/>
                    <a:pt x="850232" y="352926"/>
                  </a:cubicBezTo>
                  <a:cubicBezTo>
                    <a:pt x="1109579" y="358273"/>
                    <a:pt x="1556084" y="32084"/>
                    <a:pt x="1556084" y="32084"/>
                  </a:cubicBezTo>
                </a:path>
              </a:pathLst>
            </a:custGeom>
            <a:noFill/>
            <a:ln w="28575">
              <a:solidFill>
                <a:schemeClr val="bg2"/>
              </a:solidFill>
              <a:prstDash val="lg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TextBox 33"/>
          <p:cNvSpPr txBox="1"/>
          <p:nvPr/>
        </p:nvSpPr>
        <p:spPr>
          <a:xfrm>
            <a:off x="4254941" y="3452446"/>
            <a:ext cx="1330814" cy="307777"/>
          </a:xfrm>
          <a:prstGeom prst="rect">
            <a:avLst/>
          </a:prstGeom>
          <a:noFill/>
        </p:spPr>
        <p:txBody>
          <a:bodyPr wrap="none" rtlCol="0">
            <a:spAutoFit/>
          </a:bodyPr>
          <a:lstStyle/>
          <a:p>
            <a:r>
              <a:rPr lang="en-US" sz="1400" b="1" i="1" dirty="0">
                <a:solidFill>
                  <a:srgbClr val="C27990"/>
                </a:solidFill>
                <a:latin typeface="Century Gothic" panose="020B0502020202020204" pitchFamily="34" charset="0"/>
              </a:rPr>
              <a:t>Intention axis</a:t>
            </a:r>
          </a:p>
        </p:txBody>
      </p:sp>
      <p:sp>
        <p:nvSpPr>
          <p:cNvPr id="43" name="TextBox 42"/>
          <p:cNvSpPr txBox="1"/>
          <p:nvPr/>
        </p:nvSpPr>
        <p:spPr>
          <a:xfrm>
            <a:off x="6911717" y="5943180"/>
            <a:ext cx="1007007" cy="307777"/>
          </a:xfrm>
          <a:prstGeom prst="rect">
            <a:avLst/>
          </a:prstGeom>
          <a:noFill/>
        </p:spPr>
        <p:txBody>
          <a:bodyPr wrap="none" rtlCol="0">
            <a:spAutoFit/>
          </a:bodyPr>
          <a:lstStyle/>
          <a:p>
            <a:r>
              <a:rPr lang="en-US" sz="1400" b="1" i="1" dirty="0">
                <a:solidFill>
                  <a:srgbClr val="C27990"/>
                </a:solidFill>
                <a:latin typeface="Century Gothic" panose="020B0502020202020204" pitchFamily="34" charset="0"/>
              </a:rPr>
              <a:t>Main axis</a:t>
            </a:r>
          </a:p>
        </p:txBody>
      </p:sp>
      <p:sp>
        <p:nvSpPr>
          <p:cNvPr id="44" name="TextBox 43">
            <a:extLst>
              <a:ext uri="{FF2B5EF4-FFF2-40B4-BE49-F238E27FC236}">
                <a16:creationId xmlns="" xmlns:a16="http://schemas.microsoft.com/office/drawing/2014/main" id="{BD667938-435A-9042-B386-E0FEC45553B1}"/>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11736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par>
                                <p:cTn id="28" presetID="9" presetClass="entr" presetSubtype="0" fill="hold"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dissolve">
                                      <p:cBhvr>
                                        <p:cTn id="35" dur="500"/>
                                        <p:tgtEl>
                                          <p:spTgt spid="31"/>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dissolve">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4" grpId="0"/>
      <p:bldP spid="4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solution: multi-axis</a:t>
            </a:r>
          </a:p>
        </p:txBody>
      </p:sp>
      <p:sp>
        <p:nvSpPr>
          <p:cNvPr id="3" name="Content Placeholder 2"/>
          <p:cNvSpPr>
            <a:spLocks noGrp="1"/>
          </p:cNvSpPr>
          <p:nvPr>
            <p:ph idx="1"/>
          </p:nvPr>
        </p:nvSpPr>
        <p:spPr/>
        <p:txBody>
          <a:bodyPr/>
          <a:lstStyle/>
          <a:p>
            <a:pPr marL="0" indent="0">
              <a:buNone/>
            </a:pPr>
            <a:r>
              <a:rPr lang="en-US" dirty="0"/>
              <a:t>We complete </a:t>
            </a:r>
            <a:r>
              <a:rPr lang="en-US" dirty="0" smtClean="0"/>
              <a:t>a set of definitions for axes</a:t>
            </a:r>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 xmlns:a16="http://schemas.microsoft.com/office/drawing/2014/main" id="{9117A306-8441-D440-8856-11BA4F8B32F1}"/>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graphicFrame>
        <p:nvGraphicFramePr>
          <p:cNvPr id="6" name="Table 5">
            <a:extLst>
              <a:ext uri="{FF2B5EF4-FFF2-40B4-BE49-F238E27FC236}">
                <a16:creationId xmlns="" xmlns:a16="http://schemas.microsoft.com/office/drawing/2014/main" id="{4AA603B3-74DC-7C48-9160-1E5B32C000D2}"/>
              </a:ext>
            </a:extLst>
          </p:cNvPr>
          <p:cNvGraphicFramePr>
            <a:graphicFrameLocks noGrp="1"/>
          </p:cNvGraphicFramePr>
          <p:nvPr>
            <p:extLst>
              <p:ext uri="{D42A27DB-BD31-4B8C-83A1-F6EECF244321}">
                <p14:modId xmlns:p14="http://schemas.microsoft.com/office/powerpoint/2010/main" val="569857473"/>
              </p:ext>
            </p:extLst>
          </p:nvPr>
        </p:nvGraphicFramePr>
        <p:xfrm>
          <a:off x="576261" y="2418637"/>
          <a:ext cx="7972426" cy="3182004"/>
        </p:xfrm>
        <a:graphic>
          <a:graphicData uri="http://schemas.openxmlformats.org/drawingml/2006/table">
            <a:tbl>
              <a:tblPr firstRow="1" bandRow="1">
                <a:tableStyleId>{5940675A-B579-460E-94D1-54222C63F5DA}</a:tableStyleId>
              </a:tblPr>
              <a:tblGrid>
                <a:gridCol w="3356811">
                  <a:extLst>
                    <a:ext uri="{9D8B030D-6E8A-4147-A177-3AD203B41FA5}">
                      <a16:colId xmlns="" xmlns:a16="http://schemas.microsoft.com/office/drawing/2014/main" val="4032749486"/>
                    </a:ext>
                  </a:extLst>
                </a:gridCol>
                <a:gridCol w="3776412">
                  <a:extLst>
                    <a:ext uri="{9D8B030D-6E8A-4147-A177-3AD203B41FA5}">
                      <a16:colId xmlns="" xmlns:a16="http://schemas.microsoft.com/office/drawing/2014/main" val="1662114478"/>
                    </a:ext>
                  </a:extLst>
                </a:gridCol>
                <a:gridCol w="839203">
                  <a:extLst>
                    <a:ext uri="{9D8B030D-6E8A-4147-A177-3AD203B41FA5}">
                      <a16:colId xmlns="" xmlns:a16="http://schemas.microsoft.com/office/drawing/2014/main" val="118045171"/>
                    </a:ext>
                  </a:extLst>
                </a:gridCol>
              </a:tblGrid>
              <a:tr h="370840">
                <a:tc>
                  <a:txBody>
                    <a:bodyPr/>
                    <a:lstStyle/>
                    <a:p>
                      <a:pPr algn="ctr"/>
                      <a:r>
                        <a:rPr lang="en-US" sz="3200" i="1" dirty="0">
                          <a:solidFill>
                            <a:schemeClr val="bg2"/>
                          </a:solidFill>
                          <a:latin typeface="Century Gothic" panose="020B0502020202020204" pitchFamily="34" charset="0"/>
                        </a:rPr>
                        <a:t>Event Type</a:t>
                      </a: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sz="3200" i="1" dirty="0" smtClean="0">
                          <a:solidFill>
                            <a:schemeClr val="bg2"/>
                          </a:solidFill>
                          <a:latin typeface="Century Gothic" panose="020B0502020202020204" pitchFamily="34" charset="0"/>
                        </a:rPr>
                        <a:t>Axis Type</a:t>
                      </a:r>
                      <a:endParaRPr lang="en-US" sz="3200" i="1" dirty="0">
                        <a:solidFill>
                          <a:schemeClr val="bg2"/>
                        </a:solidFill>
                        <a:latin typeface="Century Gothic" panose="020B0502020202020204" pitchFamily="34" charset="0"/>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tc>
                  <a:txBody>
                    <a:bodyPr/>
                    <a:lstStyle/>
                    <a:p>
                      <a:pPr algn="ctr"/>
                      <a:r>
                        <a:rPr lang="en-US" sz="3200" dirty="0">
                          <a:solidFill>
                            <a:sysClr val="windowText" lastClr="000000"/>
                          </a:solidFill>
                          <a:latin typeface="Century Gothic" panose="020B0502020202020204" pitchFamily="34" charset="0"/>
                        </a:rPr>
                        <a:t>%</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rgbClr val="E6E5CF">
                        <a:alpha val="74118"/>
                      </a:srgbClr>
                    </a:solidFill>
                  </a:tcPr>
                </a:tc>
                <a:extLst>
                  <a:ext uri="{0D108BD9-81ED-4DB2-BD59-A6C34878D82A}">
                    <a16:rowId xmlns="" xmlns:a16="http://schemas.microsoft.com/office/drawing/2014/main" val="831685165"/>
                  </a:ext>
                </a:extLst>
              </a:tr>
              <a:tr h="370840">
                <a:tc>
                  <a:txBody>
                    <a:bodyPr/>
                    <a:lstStyle/>
                    <a:p>
                      <a:r>
                        <a:rPr lang="en-US" sz="2400" dirty="0">
                          <a:solidFill>
                            <a:sysClr val="windowText" lastClr="000000"/>
                          </a:solidFill>
                          <a:latin typeface="Century Gothic" panose="020B0502020202020204" pitchFamily="34" charset="0"/>
                        </a:rPr>
                        <a:t>intention, opinion</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orthogonal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~20</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4049109764"/>
                  </a:ext>
                </a:extLst>
              </a:tr>
              <a:tr h="370840">
                <a:tc>
                  <a:txBody>
                    <a:bodyPr/>
                    <a:lstStyle/>
                    <a:p>
                      <a:r>
                        <a:rPr lang="en-US" sz="2400" dirty="0">
                          <a:solidFill>
                            <a:sysClr val="windowText" lastClr="000000"/>
                          </a:solidFill>
                          <a:latin typeface="Century Gothic" panose="020B0502020202020204" pitchFamily="34" charset="0"/>
                        </a:rPr>
                        <a:t>hypothesis, generic</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parallel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rowSpan="3">
                  <a:txBody>
                    <a:bodyPr/>
                    <a:lstStyle/>
                    <a:p>
                      <a:r>
                        <a:rPr lang="en-US" sz="2400" dirty="0">
                          <a:solidFill>
                            <a:sysClr val="windowText" lastClr="000000"/>
                          </a:solidFill>
                          <a:latin typeface="Century Gothic" panose="020B0502020202020204" pitchFamily="34" charset="0"/>
                        </a:rPr>
                        <a:t>~10</a:t>
                      </a:r>
                    </a:p>
                  </a:txBody>
                  <a:tcPr marL="144254" marR="144254" marT="72127" marB="72127"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3722957401"/>
                  </a:ext>
                </a:extLst>
              </a:tr>
              <a:tr h="370840">
                <a:tc>
                  <a:txBody>
                    <a:bodyPr/>
                    <a:lstStyle/>
                    <a:p>
                      <a:r>
                        <a:rPr lang="en-US" sz="2400" dirty="0">
                          <a:solidFill>
                            <a:sysClr val="windowText" lastClr="000000"/>
                          </a:solidFill>
                          <a:latin typeface="Century Gothic" panose="020B0502020202020204" pitchFamily="34" charset="0"/>
                        </a:rPr>
                        <a:t>negation</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not on any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vMerge="1">
                  <a:txBody>
                    <a:bodyPr/>
                    <a:lstStyle/>
                    <a:p>
                      <a:endParaRPr lang="en-US" sz="1600" dirty="0">
                        <a:solidFill>
                          <a:sysClr val="windowText" lastClr="000000"/>
                        </a:solidFill>
                      </a:endParaRPr>
                    </a:p>
                  </a:txBody>
                  <a:tcPr marL="96702" marR="96702" marT="48351" marB="48351">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3582377463"/>
                  </a:ext>
                </a:extLst>
              </a:tr>
              <a:tr h="370840">
                <a:tc>
                  <a:txBody>
                    <a:bodyPr/>
                    <a:lstStyle/>
                    <a:p>
                      <a:r>
                        <a:rPr lang="en-US" sz="2400" dirty="0">
                          <a:solidFill>
                            <a:sysClr val="windowText" lastClr="000000"/>
                          </a:solidFill>
                          <a:latin typeface="Century Gothic" panose="020B0502020202020204" pitchFamily="34" charset="0"/>
                        </a:rPr>
                        <a:t>static,</a:t>
                      </a:r>
                      <a:r>
                        <a:rPr lang="en-US" sz="2400" baseline="0" dirty="0">
                          <a:solidFill>
                            <a:sysClr val="windowText" lastClr="000000"/>
                          </a:solidFill>
                          <a:latin typeface="Century Gothic" panose="020B0502020202020204" pitchFamily="34" charset="0"/>
                        </a:rPr>
                        <a:t> recurrent</a:t>
                      </a:r>
                      <a:endParaRPr lang="en-US" sz="2400" dirty="0">
                        <a:solidFill>
                          <a:sysClr val="windowText" lastClr="000000"/>
                        </a:solidFill>
                        <a:latin typeface="Century Gothic" panose="020B0502020202020204" pitchFamily="34" charset="0"/>
                      </a:endParaRP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not considered</a:t>
                      </a:r>
                      <a:r>
                        <a:rPr lang="en-US" sz="2400" baseline="0" dirty="0">
                          <a:solidFill>
                            <a:sysClr val="windowText" lastClr="000000"/>
                          </a:solidFill>
                          <a:latin typeface="Century Gothic" panose="020B0502020202020204" pitchFamily="34" charset="0"/>
                        </a:rPr>
                        <a:t> now</a:t>
                      </a:r>
                      <a:endParaRPr lang="en-US" sz="2400" dirty="0">
                        <a:solidFill>
                          <a:sysClr val="windowText" lastClr="000000"/>
                        </a:solidFill>
                        <a:latin typeface="Century Gothic" panose="020B0502020202020204" pitchFamily="34" charset="0"/>
                      </a:endParaRP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vMerge="1">
                  <a:txBody>
                    <a:bodyPr/>
                    <a:lstStyle/>
                    <a:p>
                      <a:endParaRPr lang="en-US" sz="1600" dirty="0">
                        <a:solidFill>
                          <a:sysClr val="windowText" lastClr="000000"/>
                        </a:solidFill>
                      </a:endParaRPr>
                    </a:p>
                  </a:txBody>
                  <a:tcPr marL="96702" marR="96702" marT="48351" marB="48351">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1228930219"/>
                  </a:ext>
                </a:extLst>
              </a:tr>
              <a:tr h="370840">
                <a:tc>
                  <a:txBody>
                    <a:bodyPr/>
                    <a:lstStyle/>
                    <a:p>
                      <a:r>
                        <a:rPr lang="en-US" sz="2400" dirty="0" smtClean="0">
                          <a:solidFill>
                            <a:sysClr val="windowText" lastClr="000000"/>
                          </a:solidFill>
                          <a:latin typeface="Century Gothic" panose="020B0502020202020204" pitchFamily="34" charset="0"/>
                        </a:rPr>
                        <a:t>main</a:t>
                      </a:r>
                      <a:endParaRPr lang="en-US" sz="2400" dirty="0">
                        <a:solidFill>
                          <a:sysClr val="windowText" lastClr="000000"/>
                        </a:solidFill>
                        <a:latin typeface="Century Gothic" panose="020B0502020202020204" pitchFamily="34" charset="0"/>
                      </a:endParaRP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main axis</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2400" dirty="0">
                          <a:solidFill>
                            <a:sysClr val="windowText" lastClr="000000"/>
                          </a:solidFill>
                          <a:latin typeface="Century Gothic" panose="020B0502020202020204" pitchFamily="34" charset="0"/>
                        </a:rPr>
                        <a:t>~70</a:t>
                      </a:r>
                    </a:p>
                  </a:txBody>
                  <a:tcPr marL="144254" marR="144254" marT="72127" marB="72127">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 xmlns:a16="http://schemas.microsoft.com/office/drawing/2014/main" val="2393312665"/>
                  </a:ext>
                </a:extLst>
              </a:tr>
            </a:tbl>
          </a:graphicData>
        </a:graphic>
      </p:graphicFrame>
    </p:spTree>
    <p:extLst>
      <p:ext uri="{BB962C8B-B14F-4D97-AF65-F5344CB8AC3E}">
        <p14:creationId xmlns:p14="http://schemas.microsoft.com/office/powerpoint/2010/main" val="1972853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zh-CN" sz="3200" b="1" dirty="0"/>
              <a:t>20k:</a:t>
            </a:r>
            <a:r>
              <a:rPr lang="zh-CN" altLang="en-US" sz="3200" dirty="0"/>
              <a:t> </a:t>
            </a:r>
            <a:r>
              <a:rPr lang="en-US" sz="3200" dirty="0"/>
              <a:t>Annotated the </a:t>
            </a:r>
            <a:r>
              <a:rPr lang="en-US" altLang="zh-CN" sz="3200" dirty="0"/>
              <a:t>20k </a:t>
            </a:r>
            <a:r>
              <a:rPr lang="en-US" altLang="zh-CN" sz="3200" dirty="0" smtClean="0"/>
              <a:t>relations</a:t>
            </a:r>
          </a:p>
          <a:p>
            <a:pPr marL="0" indent="0">
              <a:buNone/>
            </a:pPr>
            <a:endParaRPr lang="en-US" sz="3200" dirty="0"/>
          </a:p>
          <a:p>
            <a:pPr marL="0" indent="0">
              <a:buNone/>
            </a:pPr>
            <a:r>
              <a:rPr lang="en-US" altLang="zh-CN" sz="3200" b="1" dirty="0"/>
              <a:t>1</a:t>
            </a:r>
            <a:r>
              <a:rPr lang="zh-CN" altLang="en-US" sz="3200" b="1" dirty="0"/>
              <a:t> </a:t>
            </a:r>
            <a:r>
              <a:rPr lang="en-US" altLang="zh-CN" sz="3200" b="1" dirty="0"/>
              <a:t>week:</a:t>
            </a:r>
            <a:r>
              <a:rPr lang="zh-CN" altLang="en-US" sz="3200" dirty="0"/>
              <a:t> </a:t>
            </a:r>
            <a:r>
              <a:rPr lang="en-US" sz="3200" dirty="0"/>
              <a:t>Finished in about one week </a:t>
            </a:r>
            <a:r>
              <a:rPr lang="en-US" sz="3200" dirty="0" smtClean="0"/>
              <a:t>using </a:t>
            </a:r>
            <a:r>
              <a:rPr lang="en-US" sz="3200" dirty="0" smtClean="0">
                <a:solidFill>
                  <a:srgbClr val="C17A90"/>
                </a:solidFill>
              </a:rPr>
              <a:t>crowdsourcing</a:t>
            </a:r>
            <a:r>
              <a:rPr lang="en-US" sz="3200" dirty="0"/>
              <a:t> </a:t>
            </a:r>
            <a:r>
              <a:rPr lang="en-US" sz="3200" dirty="0" smtClean="0"/>
              <a:t>(actual time much shorter)</a:t>
            </a:r>
          </a:p>
          <a:p>
            <a:pPr marL="0" indent="0">
              <a:buNone/>
            </a:pPr>
            <a:endParaRPr lang="en-US" sz="3200" dirty="0"/>
          </a:p>
          <a:p>
            <a:pPr marL="0" indent="0">
              <a:buNone/>
            </a:pPr>
            <a:r>
              <a:rPr lang="en-US" altLang="zh-CN" sz="3200" b="1" dirty="0"/>
              <a:t>80%:</a:t>
            </a:r>
            <a:r>
              <a:rPr lang="zh-CN" altLang="en-US" sz="3200" dirty="0"/>
              <a:t> </a:t>
            </a:r>
            <a:r>
              <a:rPr lang="en-US" sz="3200" dirty="0"/>
              <a:t>IAA improved </a:t>
            </a:r>
            <a:r>
              <a:rPr lang="en-US" sz="3200" dirty="0">
                <a:solidFill>
                  <a:srgbClr val="C17A90"/>
                </a:solidFill>
              </a:rPr>
              <a:t>from literature’s 60% to 80</a:t>
            </a:r>
            <a:r>
              <a:rPr lang="en-US" sz="3200" dirty="0" smtClean="0">
                <a:solidFill>
                  <a:srgbClr val="C17A90"/>
                </a:solidFill>
              </a:rPr>
              <a:t>%</a:t>
            </a:r>
            <a:r>
              <a:rPr lang="en-US" sz="3200" dirty="0" smtClean="0"/>
              <a:t>, although those </a:t>
            </a:r>
            <a:r>
              <a:rPr lang="en-US" sz="3200" dirty="0" err="1" smtClean="0"/>
              <a:t>crowdsourcers</a:t>
            </a:r>
            <a:r>
              <a:rPr lang="en-US" sz="3200" dirty="0" smtClean="0"/>
              <a:t> are laymen in NLP</a:t>
            </a:r>
            <a:endParaRPr lang="en-US" sz="3200" dirty="0"/>
          </a:p>
        </p:txBody>
      </p:sp>
      <p:sp>
        <p:nvSpPr>
          <p:cNvPr id="2" name="Title 1"/>
          <p:cNvSpPr>
            <a:spLocks noGrp="1"/>
          </p:cNvSpPr>
          <p:nvPr>
            <p:ph type="title"/>
          </p:nvPr>
        </p:nvSpPr>
        <p:spPr/>
        <p:txBody>
          <a:bodyPr/>
          <a:lstStyle/>
          <a:p>
            <a:r>
              <a:rPr lang="en-US" dirty="0" smtClean="0"/>
              <a:t>What we achieved</a:t>
            </a:r>
            <a:endParaRPr lang="en-US" dirty="0"/>
          </a:p>
        </p:txBody>
      </p:sp>
      <p:sp>
        <p:nvSpPr>
          <p:cNvPr id="5" name="TextBox 4">
            <a:extLst>
              <a:ext uri="{FF2B5EF4-FFF2-40B4-BE49-F238E27FC236}">
                <a16:creationId xmlns="" xmlns:a16="http://schemas.microsoft.com/office/drawing/2014/main" id="{0B27CBA3-79BE-A847-8226-18495346F699}"/>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12032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scheme: multi-axis</a:t>
            </a:r>
          </a:p>
        </p:txBody>
      </p:sp>
      <p:pic>
        <p:nvPicPr>
          <p:cNvPr id="4" name="Content Placeholder 3"/>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1447800" y="1066800"/>
            <a:ext cx="6457981" cy="5181600"/>
          </a:xfrm>
          <a:prstGeom prst="rect">
            <a:avLst/>
          </a:prstGeom>
        </p:spPr>
      </p:pic>
      <p:sp>
        <p:nvSpPr>
          <p:cNvPr id="5" name="TextBox 4">
            <a:extLst>
              <a:ext uri="{FF2B5EF4-FFF2-40B4-BE49-F238E27FC236}">
                <a16:creationId xmlns="" xmlns:a16="http://schemas.microsoft.com/office/drawing/2014/main" id="{CED0AFE5-EA30-6346-8FAE-9E0BEBB8B43C}"/>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Tree>
    <p:extLst>
      <p:ext uri="{BB962C8B-B14F-4D97-AF65-F5344CB8AC3E}">
        <p14:creationId xmlns:p14="http://schemas.microsoft.com/office/powerpoint/2010/main" val="8173480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7">
            <a:extLst>
              <a:ext uri="{FF2B5EF4-FFF2-40B4-BE49-F238E27FC236}">
                <a16:creationId xmlns="" xmlns:a16="http://schemas.microsoft.com/office/drawing/2014/main" id="{60E1B2AE-F89F-3544-912B-BA63A56A1035}"/>
              </a:ext>
            </a:extLst>
          </p:cNvPr>
          <p:cNvSpPr>
            <a:spLocks noGrp="1"/>
          </p:cNvSpPr>
          <p:nvPr>
            <p:ph idx="1"/>
          </p:nvPr>
        </p:nvSpPr>
        <p:spPr>
          <a:xfrm>
            <a:off x="381000" y="958166"/>
            <a:ext cx="8534400" cy="5181600"/>
          </a:xfrm>
        </p:spPr>
        <p:txBody>
          <a:bodyPr/>
          <a:lstStyle/>
          <a:p>
            <a:pPr marL="0" indent="0">
              <a:buNone/>
            </a:pPr>
            <a:r>
              <a:rPr lang="en-US" sz="2400" dirty="0"/>
              <a:t>The </a:t>
            </a:r>
            <a:r>
              <a:rPr lang="en-US" sz="2400" dirty="0" smtClean="0"/>
              <a:t>performance of a </a:t>
            </a:r>
            <a:r>
              <a:rPr lang="en-US" sz="2400" b="1" dirty="0" smtClean="0"/>
              <a:t>baseline</a:t>
            </a:r>
            <a:r>
              <a:rPr lang="en-US" sz="2400" dirty="0" smtClean="0"/>
              <a:t> system on </a:t>
            </a:r>
            <a:r>
              <a:rPr lang="en-US" sz="2400" dirty="0"/>
              <a:t>our new dataset is </a:t>
            </a:r>
            <a:r>
              <a:rPr lang="en-US" sz="2400" b="1" dirty="0"/>
              <a:t>much better </a:t>
            </a:r>
            <a:r>
              <a:rPr lang="en-US" sz="2400" dirty="0"/>
              <a:t>than </a:t>
            </a:r>
            <a:r>
              <a:rPr lang="en-US" sz="2400" dirty="0" smtClean="0"/>
              <a:t>one on the old dataset</a:t>
            </a:r>
            <a:endParaRPr lang="en-US" sz="2400" dirty="0"/>
          </a:p>
        </p:txBody>
      </p:sp>
      <p:sp>
        <p:nvSpPr>
          <p:cNvPr id="2" name="Title 1"/>
          <p:cNvSpPr>
            <a:spLocks noGrp="1"/>
          </p:cNvSpPr>
          <p:nvPr>
            <p:ph type="title"/>
          </p:nvPr>
        </p:nvSpPr>
        <p:spPr/>
        <p:txBody>
          <a:bodyPr/>
          <a:lstStyle/>
          <a:p>
            <a:r>
              <a:rPr lang="en-US" dirty="0"/>
              <a:t>With a better IAA (&gt;80%)</a:t>
            </a:r>
          </a:p>
        </p:txBody>
      </p:sp>
      <p:graphicFrame>
        <p:nvGraphicFramePr>
          <p:cNvPr id="4" name="Chart 3"/>
          <p:cNvGraphicFramePr/>
          <p:nvPr>
            <p:extLst>
              <p:ext uri="{D42A27DB-BD31-4B8C-83A1-F6EECF244321}">
                <p14:modId xmlns:p14="http://schemas.microsoft.com/office/powerpoint/2010/main" val="3940202016"/>
              </p:ext>
            </p:extLst>
          </p:nvPr>
        </p:nvGraphicFramePr>
        <p:xfrm>
          <a:off x="914400" y="2133600"/>
          <a:ext cx="7761849" cy="4031566"/>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 xmlns:a16="http://schemas.microsoft.com/office/drawing/2014/main" id="{8C1F8133-DD70-2947-AC41-ED1AA81B1E7C}"/>
              </a:ext>
            </a:extLst>
          </p:cNvPr>
          <p:cNvSpPr txBox="1"/>
          <p:nvPr/>
        </p:nvSpPr>
        <p:spPr>
          <a:xfrm>
            <a:off x="786209" y="6393766"/>
            <a:ext cx="7723982" cy="276999"/>
          </a:xfrm>
          <a:prstGeom prst="rect">
            <a:avLst/>
          </a:prstGeom>
          <a:noFill/>
        </p:spPr>
        <p:txBody>
          <a:bodyPr wrap="square" rtlCol="0">
            <a:spAutoFit/>
          </a:bodyPr>
          <a:lstStyle/>
          <a:p>
            <a:r>
              <a:rPr lang="en-US" sz="1200" i="1" dirty="0" smtClean="0">
                <a:solidFill>
                  <a:schemeClr val="bg2"/>
                </a:solidFill>
                <a:latin typeface="Century Gothic" panose="020B0502020202020204" pitchFamily="34" charset="0"/>
              </a:rPr>
              <a:t>[Old dataset] Cassidy et al. ACL’14. An </a:t>
            </a:r>
            <a:r>
              <a:rPr lang="en-US" sz="1200" i="1" dirty="0">
                <a:solidFill>
                  <a:schemeClr val="bg2"/>
                </a:solidFill>
                <a:latin typeface="Century Gothic" panose="020B0502020202020204" pitchFamily="34" charset="0"/>
              </a:rPr>
              <a:t>annotation framework for dense event ordering</a:t>
            </a:r>
            <a:r>
              <a:rPr lang="en-US" sz="1200" i="1" dirty="0" smtClean="0">
                <a:solidFill>
                  <a:schemeClr val="bg2"/>
                </a:solidFill>
                <a:latin typeface="Century Gothic" panose="020B0502020202020204" pitchFamily="34" charset="0"/>
              </a:rPr>
              <a:t>.</a:t>
            </a:r>
            <a:endParaRPr lang="en-US" sz="1200" i="1" dirty="0">
              <a:solidFill>
                <a:schemeClr val="bg2"/>
              </a:solidFill>
              <a:latin typeface="Century Gothic" panose="020B0502020202020204" pitchFamily="34" charset="0"/>
            </a:endParaRPr>
          </a:p>
        </p:txBody>
      </p:sp>
      <p:sp>
        <p:nvSpPr>
          <p:cNvPr id="8" name="TextBox 7">
            <a:extLst>
              <a:ext uri="{FF2B5EF4-FFF2-40B4-BE49-F238E27FC236}">
                <a16:creationId xmlns="" xmlns:a16="http://schemas.microsoft.com/office/drawing/2014/main" id="{8B63114D-DFE6-5746-919B-974508E163D4}"/>
              </a:ext>
            </a:extLst>
          </p:cNvPr>
          <p:cNvSpPr txBox="1"/>
          <p:nvPr/>
        </p:nvSpPr>
        <p:spPr>
          <a:xfrm>
            <a:off x="6858000" y="3364300"/>
            <a:ext cx="760144" cy="369332"/>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+21%</a:t>
            </a:r>
          </a:p>
        </p:txBody>
      </p:sp>
      <p:sp>
        <p:nvSpPr>
          <p:cNvPr id="11" name="TextBox 10">
            <a:extLst>
              <a:ext uri="{FF2B5EF4-FFF2-40B4-BE49-F238E27FC236}">
                <a16:creationId xmlns="" xmlns:a16="http://schemas.microsoft.com/office/drawing/2014/main" id="{E2C469A8-DD6A-5546-ABC4-FBB4DF2EB8EE}"/>
              </a:ext>
            </a:extLst>
          </p:cNvPr>
          <p:cNvSpPr txBox="1"/>
          <p:nvPr/>
        </p:nvSpPr>
        <p:spPr>
          <a:xfrm>
            <a:off x="3391827" y="2895600"/>
            <a:ext cx="760144" cy="369332"/>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+22%</a:t>
            </a:r>
          </a:p>
        </p:txBody>
      </p:sp>
    </p:spTree>
    <p:extLst>
      <p:ext uri="{BB962C8B-B14F-4D97-AF65-F5344CB8AC3E}">
        <p14:creationId xmlns:p14="http://schemas.microsoft.com/office/powerpoint/2010/main" val="160591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8" grpId="0"/>
      <p:bldP spid="1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Discussion</a:t>
            </a:r>
          </a:p>
        </p:txBody>
      </p:sp>
      <p:sp>
        <p:nvSpPr>
          <p:cNvPr id="9" name="TextBox 8">
            <a:extLst>
              <a:ext uri="{FF2B5EF4-FFF2-40B4-BE49-F238E27FC236}">
                <a16:creationId xmlns="" xmlns:a16="http://schemas.microsoft.com/office/drawing/2014/main" id="{15B668C4-2071-C943-ABB3-C3BF9FD33F9B}"/>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Part III: Data annotation</a:t>
            </a:r>
          </a:p>
        </p:txBody>
      </p:sp>
      <p:sp>
        <p:nvSpPr>
          <p:cNvPr id="11" name="Content Placeholder 7">
            <a:extLst>
              <a:ext uri="{FF2B5EF4-FFF2-40B4-BE49-F238E27FC236}">
                <a16:creationId xmlns="" xmlns:a16="http://schemas.microsoft.com/office/drawing/2014/main" id="{FFA022B9-35A6-6543-999D-1D2CA8C48742}"/>
              </a:ext>
            </a:extLst>
          </p:cNvPr>
          <p:cNvSpPr>
            <a:spLocks noGrp="1"/>
          </p:cNvSpPr>
          <p:nvPr>
            <p:ph idx="1"/>
          </p:nvPr>
        </p:nvSpPr>
        <p:spPr>
          <a:xfrm>
            <a:off x="381000" y="958166"/>
            <a:ext cx="8534400" cy="5181600"/>
          </a:xfrm>
        </p:spPr>
        <p:txBody>
          <a:bodyPr/>
          <a:lstStyle/>
          <a:p>
            <a:pPr marL="0" indent="0">
              <a:buNone/>
            </a:pPr>
            <a:r>
              <a:rPr lang="en-US" sz="2400" dirty="0"/>
              <a:t>With a better IAA, the overall performance on our new dataset is much better than those in the literature</a:t>
            </a:r>
          </a:p>
          <a:p>
            <a:endParaRPr lang="en-US" sz="2400" dirty="0"/>
          </a:p>
          <a:p>
            <a:r>
              <a:rPr lang="en-US" sz="2400" dirty="0" smtClean="0"/>
              <a:t>The </a:t>
            </a:r>
            <a:r>
              <a:rPr lang="en-US" sz="2400" b="1" dirty="0" smtClean="0"/>
              <a:t>learning task is defined in a better way </a:t>
            </a:r>
            <a:r>
              <a:rPr lang="en-US" sz="2400" dirty="0" smtClean="0"/>
              <a:t>by the </a:t>
            </a:r>
            <a:r>
              <a:rPr lang="en-US" sz="2400" dirty="0"/>
              <a:t>new annotation </a:t>
            </a:r>
            <a:r>
              <a:rPr lang="en-US" sz="2400" dirty="0" smtClean="0"/>
              <a:t>scheme</a:t>
            </a:r>
            <a:endParaRPr lang="en-US" sz="2400" dirty="0"/>
          </a:p>
          <a:p>
            <a:r>
              <a:rPr lang="en-US" sz="2400" dirty="0"/>
              <a:t>It represents </a:t>
            </a:r>
            <a:r>
              <a:rPr lang="en-US" sz="2400" b="1" dirty="0"/>
              <a:t>a deeper understanding</a:t>
            </a:r>
            <a:r>
              <a:rPr lang="en-US" sz="2400" dirty="0"/>
              <a:t> of how time is expressed in language</a:t>
            </a:r>
          </a:p>
        </p:txBody>
      </p:sp>
      <p:pic>
        <p:nvPicPr>
          <p:cNvPr id="5" name="Picture 4">
            <a:extLst>
              <a:ext uri="{FF2B5EF4-FFF2-40B4-BE49-F238E27FC236}">
                <a16:creationId xmlns="" xmlns:a16="http://schemas.microsoft.com/office/drawing/2014/main" id="{749FED99-BDD7-9944-A1AE-360C8682D83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38200" y="4199776"/>
            <a:ext cx="1742506" cy="1939990"/>
          </a:xfrm>
          <a:prstGeom prst="rect">
            <a:avLst/>
          </a:prstGeom>
          <a:effectLst>
            <a:softEdge rad="0"/>
          </a:effectLst>
        </p:spPr>
      </p:pic>
      <p:sp>
        <p:nvSpPr>
          <p:cNvPr id="2" name="TextBox 1">
            <a:extLst>
              <a:ext uri="{FF2B5EF4-FFF2-40B4-BE49-F238E27FC236}">
                <a16:creationId xmlns="" xmlns:a16="http://schemas.microsoft.com/office/drawing/2014/main" id="{50272A97-EFBA-9C49-941F-2E3BC3A7A941}"/>
              </a:ext>
            </a:extLst>
          </p:cNvPr>
          <p:cNvSpPr txBox="1"/>
          <p:nvPr/>
        </p:nvSpPr>
        <p:spPr>
          <a:xfrm>
            <a:off x="3033203" y="4038692"/>
            <a:ext cx="6110797" cy="2616101"/>
          </a:xfrm>
          <a:prstGeom prst="rect">
            <a:avLst/>
          </a:prstGeom>
          <a:noFill/>
        </p:spPr>
        <p:txBody>
          <a:bodyPr wrap="square" rtlCol="0">
            <a:spAutoFit/>
          </a:bodyPr>
          <a:lstStyle/>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“Language distinguishes us from other </a:t>
            </a:r>
            <a:r>
              <a:rPr lang="en-US" dirty="0" smtClean="0">
                <a:solidFill>
                  <a:schemeClr val="bg2"/>
                </a:solidFill>
                <a:latin typeface="Century Gothic" panose="020B0502020202020204" pitchFamily="34" charset="0"/>
              </a:rPr>
              <a:t>species”</a:t>
            </a:r>
            <a:endParaRPr lang="en-US" dirty="0">
              <a:solidFill>
                <a:schemeClr val="bg2"/>
              </a:solidFill>
              <a:latin typeface="Century Gothic" panose="020B0502020202020204" pitchFamily="34" charset="0"/>
            </a:endParaRP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Wait…Animals also have language</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Well, more precisely, we’re the only species that can express our </a:t>
            </a:r>
            <a:r>
              <a:rPr lang="en-US" b="1" dirty="0" smtClean="0">
                <a:solidFill>
                  <a:schemeClr val="bg2"/>
                </a:solidFill>
                <a:latin typeface="Century Gothic" panose="020B0502020202020204" pitchFamily="34" charset="0"/>
              </a:rPr>
              <a:t>imaginations </a:t>
            </a:r>
            <a:r>
              <a:rPr lang="en-US" dirty="0" smtClean="0">
                <a:solidFill>
                  <a:schemeClr val="bg2"/>
                </a:solidFill>
                <a:latin typeface="Century Gothic" panose="020B0502020202020204" pitchFamily="34" charset="0"/>
              </a:rPr>
              <a:t>via language</a:t>
            </a:r>
            <a:endParaRPr lang="en-US" dirty="0">
              <a:solidFill>
                <a:schemeClr val="bg2"/>
              </a:solidFill>
              <a:latin typeface="Century Gothic" panose="020B0502020202020204" pitchFamily="34" charset="0"/>
            </a:endParaRP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Banks get our money by promising us more in the future, but </a:t>
            </a:r>
            <a:r>
              <a:rPr lang="en-US" b="1" dirty="0">
                <a:solidFill>
                  <a:schemeClr val="bg2"/>
                </a:solidFill>
                <a:latin typeface="Century Gothic" panose="020B0502020202020204" pitchFamily="34" charset="0"/>
              </a:rPr>
              <a:t>we cannot get a banana by promising a monkey two bananas in ten minutes</a:t>
            </a:r>
          </a:p>
          <a:p>
            <a:pPr marL="285750" indent="-285750">
              <a:spcAft>
                <a:spcPts val="600"/>
              </a:spcAft>
              <a:buSzPct val="65000"/>
              <a:buFont typeface="Wingdings" pitchFamily="2" charset="2"/>
              <a:buChar char="q"/>
            </a:pPr>
            <a:r>
              <a:rPr lang="en-US" dirty="0">
                <a:solidFill>
                  <a:schemeClr val="bg2"/>
                </a:solidFill>
                <a:latin typeface="Century Gothic" panose="020B0502020202020204" pitchFamily="34" charset="0"/>
              </a:rPr>
              <a:t>Intention, Opinion, Hypothesis, Negation, etc.</a:t>
            </a:r>
          </a:p>
        </p:txBody>
      </p:sp>
    </p:spTree>
    <p:extLst>
      <p:ext uri="{BB962C8B-B14F-4D97-AF65-F5344CB8AC3E}">
        <p14:creationId xmlns:p14="http://schemas.microsoft.com/office/powerpoint/2010/main" val="1639084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animEffect transition="in" filter="wipe(left)">
                                      <p:cBhvr>
                                        <p:cTn id="7" dur="500"/>
                                        <p:tgtEl>
                                          <p:spTgt spid="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3" end="3"/>
                                            </p:txEl>
                                          </p:spTgt>
                                        </p:tgtEl>
                                        <p:attrNameLst>
                                          <p:attrName>style.visibility</p:attrName>
                                        </p:attrNameLst>
                                      </p:cBhvr>
                                      <p:to>
                                        <p:strVal val="visible"/>
                                      </p:to>
                                    </p:set>
                                    <p:animEffect transition="in" filter="wipe(left)">
                                      <p:cBhvr>
                                        <p:cTn id="12" dur="500"/>
                                        <p:tgtEl>
                                          <p:spTgt spid="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wipe(left)">
                                      <p:cBhvr>
                                        <p:cTn id="21" dur="500"/>
                                        <p:tgtEl>
                                          <p:spTgt spid="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xEl>
                                              <p:pRg st="1" end="1"/>
                                            </p:txEl>
                                          </p:spTgt>
                                        </p:tgtEl>
                                        <p:attrNameLst>
                                          <p:attrName>style.visibility</p:attrName>
                                        </p:attrNameLst>
                                      </p:cBhvr>
                                      <p:to>
                                        <p:strVal val="visible"/>
                                      </p:to>
                                    </p:set>
                                    <p:animEffect transition="in" filter="wipe(left)">
                                      <p:cBhvr>
                                        <p:cTn id="26" dur="500"/>
                                        <p:tgtEl>
                                          <p:spTgt spid="2">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animEffect transition="in" filter="wipe(left)">
                                      <p:cBhvr>
                                        <p:cTn id="31" dur="500"/>
                                        <p:tgtEl>
                                          <p:spTgt spid="2">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txEl>
                                              <p:pRg st="3" end="3"/>
                                            </p:txEl>
                                          </p:spTgt>
                                        </p:tgtEl>
                                        <p:attrNameLst>
                                          <p:attrName>style.visibility</p:attrName>
                                        </p:attrNameLst>
                                      </p:cBhvr>
                                      <p:to>
                                        <p:strVal val="visible"/>
                                      </p:to>
                                    </p:set>
                                    <p:animEffect transition="in" filter="wipe(left)">
                                      <p:cBhvr>
                                        <p:cTn id="36" dur="500"/>
                                        <p:tgtEl>
                                          <p:spTgt spid="2">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wipe(left)">
                                      <p:cBhvr>
                                        <p:cTn id="41"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P spid="2"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2493117"/>
            <a:ext cx="8534400" cy="1557349"/>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 Structured learning</a:t>
            </a:r>
          </a:p>
          <a:p>
            <a:pPr lvl="1">
              <a:spcBef>
                <a:spcPct val="20000"/>
              </a:spcBef>
              <a:buClr>
                <a:srgbClr val="400080"/>
              </a:buClr>
              <a:buSzPct val="65000"/>
            </a:pPr>
            <a:r>
              <a:rPr lang="en-US" sz="2800" i="1" dirty="0">
                <a:solidFill>
                  <a:schemeClr val="bg2">
                    <a:alpha val="50000"/>
                  </a:schemeClr>
                </a:solidFill>
                <a:latin typeface="Century Gothic" charset="0"/>
                <a:ea typeface="Century Gothic" charset="0"/>
                <a:cs typeface="Century Gothic" charset="0"/>
              </a:rPr>
              <a:t>Part II: Common sense</a:t>
            </a:r>
          </a:p>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Part III: Data annotation</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1865126"/>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[ACL’18]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H. Wu, and D. Roth. A Multi-Axis Annotation Scheme for Event Temporal Relations.</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 xmlns:a16="http://schemas.microsoft.com/office/drawing/2014/main" id="{7D2431B0-C777-4D49-9983-DE4819603D2A}"/>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1F78A952-05AC-B349-BFE5-7F50A6869E9D}"/>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8010E7A2-F5C1-FC41-ADAC-0080563972DB}"/>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E9A8AA00-853D-1248-8FD6-F8CA09817C53}"/>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 xmlns:a16="http://schemas.microsoft.com/office/drawing/2014/main" id="{8D63F9A4-21DB-A340-9C79-D3CD61423B60}"/>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 xmlns:a16="http://schemas.microsoft.com/office/drawing/2014/main" id="{35E75A3C-D457-E644-86E6-28ACC18FC8D7}"/>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 xmlns:a16="http://schemas.microsoft.com/office/drawing/2014/main" id="{50DEB409-B758-2B4B-AC56-902EA1726CE1}"/>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pic>
        <p:nvPicPr>
          <p:cNvPr id="39" name="Picture 38" descr="A close up of a logo&#10;&#10;Description automatically generated">
            <a:extLst>
              <a:ext uri="{FF2B5EF4-FFF2-40B4-BE49-F238E27FC236}">
                <a16:creationId xmlns="" xmlns:a16="http://schemas.microsoft.com/office/drawing/2014/main" id="{DA2F62AF-563C-D94C-98C3-1C873C7DF50A}"/>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pic>
        <p:nvPicPr>
          <p:cNvPr id="40" name="Picture 39" descr="A close up of a logo&#10;&#10;Description automatically generated">
            <a:extLst>
              <a:ext uri="{FF2B5EF4-FFF2-40B4-BE49-F238E27FC236}">
                <a16:creationId xmlns="" xmlns:a16="http://schemas.microsoft.com/office/drawing/2014/main" id="{DEB47B5F-6CA0-A443-BAAA-0CE4D55DD0DB}"/>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 xmlns:a16="http://schemas.microsoft.com/office/drawing/2014/main" id="{E07324D3-0FA7-5045-AC26-64B8031B3E41}"/>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spTree>
    <p:extLst>
      <p:ext uri="{BB962C8B-B14F-4D97-AF65-F5344CB8AC3E}">
        <p14:creationId xmlns:p14="http://schemas.microsoft.com/office/powerpoint/2010/main" val="174614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80">
                                          <p:stCondLst>
                                            <p:cond delay="0"/>
                                          </p:stCondLst>
                                        </p:cTn>
                                        <p:tgtEl>
                                          <p:spTgt spid="40"/>
                                        </p:tgtEl>
                                      </p:cBhvr>
                                    </p:animEffect>
                                    <p:anim calcmode="lin" valueType="num">
                                      <p:cBhvr>
                                        <p:cTn id="8" dur="1822" tmFilter="0,0; 0.14,0.36; 0.43,0.73; 0.71,0.91; 1.0,1.0">
                                          <p:stCondLst>
                                            <p:cond delay="0"/>
                                          </p:stCondLst>
                                        </p:cTn>
                                        <p:tgtEl>
                                          <p:spTgt spid="4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0"/>
                                        </p:tgtEl>
                                        <p:attrNameLst>
                                          <p:attrName>ppt_y</p:attrName>
                                        </p:attrNameLst>
                                      </p:cBhvr>
                                      <p:tavLst>
                                        <p:tav tm="0" fmla="#ppt_y-sin(pi*$)/81">
                                          <p:val>
                                            <p:fltVal val="0"/>
                                          </p:val>
                                        </p:tav>
                                        <p:tav tm="100000">
                                          <p:val>
                                            <p:fltVal val="1"/>
                                          </p:val>
                                        </p:tav>
                                      </p:tavLst>
                                    </p:anim>
                                    <p:animScale>
                                      <p:cBhvr>
                                        <p:cTn id="13" dur="26">
                                          <p:stCondLst>
                                            <p:cond delay="650"/>
                                          </p:stCondLst>
                                        </p:cTn>
                                        <p:tgtEl>
                                          <p:spTgt spid="40"/>
                                        </p:tgtEl>
                                      </p:cBhvr>
                                      <p:to x="100000" y="60000"/>
                                    </p:animScale>
                                    <p:animScale>
                                      <p:cBhvr>
                                        <p:cTn id="14" dur="166" decel="50000">
                                          <p:stCondLst>
                                            <p:cond delay="676"/>
                                          </p:stCondLst>
                                        </p:cTn>
                                        <p:tgtEl>
                                          <p:spTgt spid="40"/>
                                        </p:tgtEl>
                                      </p:cBhvr>
                                      <p:to x="100000" y="100000"/>
                                    </p:animScale>
                                    <p:animScale>
                                      <p:cBhvr>
                                        <p:cTn id="15" dur="26">
                                          <p:stCondLst>
                                            <p:cond delay="1312"/>
                                          </p:stCondLst>
                                        </p:cTn>
                                        <p:tgtEl>
                                          <p:spTgt spid="40"/>
                                        </p:tgtEl>
                                      </p:cBhvr>
                                      <p:to x="100000" y="80000"/>
                                    </p:animScale>
                                    <p:animScale>
                                      <p:cBhvr>
                                        <p:cTn id="16" dur="166" decel="50000">
                                          <p:stCondLst>
                                            <p:cond delay="1338"/>
                                          </p:stCondLst>
                                        </p:cTn>
                                        <p:tgtEl>
                                          <p:spTgt spid="40"/>
                                        </p:tgtEl>
                                      </p:cBhvr>
                                      <p:to x="100000" y="100000"/>
                                    </p:animScale>
                                    <p:animScale>
                                      <p:cBhvr>
                                        <p:cTn id="17" dur="26">
                                          <p:stCondLst>
                                            <p:cond delay="1642"/>
                                          </p:stCondLst>
                                        </p:cTn>
                                        <p:tgtEl>
                                          <p:spTgt spid="40"/>
                                        </p:tgtEl>
                                      </p:cBhvr>
                                      <p:to x="100000" y="90000"/>
                                    </p:animScale>
                                    <p:animScale>
                                      <p:cBhvr>
                                        <p:cTn id="18" dur="166" decel="50000">
                                          <p:stCondLst>
                                            <p:cond delay="1668"/>
                                          </p:stCondLst>
                                        </p:cTn>
                                        <p:tgtEl>
                                          <p:spTgt spid="40"/>
                                        </p:tgtEl>
                                      </p:cBhvr>
                                      <p:to x="100000" y="100000"/>
                                    </p:animScale>
                                    <p:animScale>
                                      <p:cBhvr>
                                        <p:cTn id="19" dur="26">
                                          <p:stCondLst>
                                            <p:cond delay="1808"/>
                                          </p:stCondLst>
                                        </p:cTn>
                                        <p:tgtEl>
                                          <p:spTgt spid="40"/>
                                        </p:tgtEl>
                                      </p:cBhvr>
                                      <p:to x="100000" y="95000"/>
                                    </p:animScale>
                                    <p:animScale>
                                      <p:cBhvr>
                                        <p:cTn id="20" dur="166" decel="50000">
                                          <p:stCondLst>
                                            <p:cond delay="1834"/>
                                          </p:stCondLst>
                                        </p:cTn>
                                        <p:tgtEl>
                                          <p:spTgt spid="4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 xmlns:a16="http://schemas.microsoft.com/office/drawing/2014/main" id="{E722C95D-5972-134C-B56C-148F3C45A894}"/>
              </a:ext>
            </a:extLst>
          </p:cNvPr>
          <p:cNvSpPr txBox="1"/>
          <p:nvPr/>
        </p:nvSpPr>
        <p:spPr>
          <a:xfrm>
            <a:off x="228600" y="3044861"/>
            <a:ext cx="8534400" cy="523220"/>
          </a:xfrm>
          <a:prstGeom prst="rect">
            <a:avLst/>
          </a:prstGeom>
          <a:noFill/>
        </p:spPr>
        <p:txBody>
          <a:bodyPr wrap="square" rtlCol="0">
            <a:spAutoFit/>
          </a:bodyPr>
          <a:lstStyle/>
          <a:p>
            <a:pPr lvl="1">
              <a:spcBef>
                <a:spcPct val="20000"/>
              </a:spcBef>
              <a:buClr>
                <a:srgbClr val="400080"/>
              </a:buClr>
              <a:buSzPct val="65000"/>
            </a:pPr>
            <a:r>
              <a:rPr lang="en-US" sz="2800" i="1" dirty="0">
                <a:solidFill>
                  <a:schemeClr val="bg2"/>
                </a:solidFill>
                <a:latin typeface="Century Gothic" charset="0"/>
                <a:ea typeface="Century Gothic" charset="0"/>
                <a:cs typeface="Century Gothic" charset="0"/>
              </a:rPr>
              <a:t>Put all pieces together</a:t>
            </a:r>
          </a:p>
        </p:txBody>
      </p:sp>
      <p:sp>
        <p:nvSpPr>
          <p:cNvPr id="16" name="TextBox 15">
            <a:extLst>
              <a:ext uri="{FF2B5EF4-FFF2-40B4-BE49-F238E27FC236}">
                <a16:creationId xmlns="" xmlns:a16="http://schemas.microsoft.com/office/drawing/2014/main" id="{1CD47D7E-E500-CD47-A35C-95027F29B79A}"/>
              </a:ext>
            </a:extLst>
          </p:cNvPr>
          <p:cNvSpPr txBox="1"/>
          <p:nvPr/>
        </p:nvSpPr>
        <p:spPr>
          <a:xfrm>
            <a:off x="-228600" y="4343400"/>
            <a:ext cx="9186864" cy="2474524"/>
          </a:xfrm>
          <a:prstGeom prst="rect">
            <a:avLst/>
          </a:prstGeom>
          <a:noFill/>
        </p:spPr>
        <p:txBody>
          <a:bodyPr wrap="square" rtlCol="0">
            <a:spAutoFit/>
          </a:bodyPr>
          <a:lstStyle/>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[EMNLP’17]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Z. Feng, and D. Roth. A Structured Learning Approach to Temporal Relation Extraction</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[NAACL’18]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H. Peng, and D. Roth. Improving Temporal Relation Extraction with a Globally Acquired Statistical Resource</a:t>
            </a:r>
          </a:p>
          <a:p>
            <a:pPr lvl="2">
              <a:spcBef>
                <a:spcPct val="20000"/>
              </a:spcBef>
              <a:buClr>
                <a:schemeClr val="bg2"/>
              </a:buClr>
              <a:buSzPct val="65000"/>
            </a:pPr>
            <a:r>
              <a:rPr lang="en-US" dirty="0">
                <a:solidFill>
                  <a:schemeClr val="bg2">
                    <a:alpha val="50000"/>
                  </a:schemeClr>
                </a:solidFill>
                <a:latin typeface="Century Gothic" charset="0"/>
                <a:ea typeface="Century Gothic" charset="0"/>
                <a:cs typeface="Century Gothic" charset="0"/>
              </a:rPr>
              <a:t>[ACL’18] </a:t>
            </a:r>
            <a:r>
              <a:rPr lang="en-US" u="sng" dirty="0">
                <a:solidFill>
                  <a:schemeClr val="bg2">
                    <a:alpha val="50000"/>
                  </a:schemeClr>
                </a:solidFill>
                <a:latin typeface="Century Gothic" charset="0"/>
                <a:ea typeface="Century Gothic" charset="0"/>
                <a:cs typeface="Century Gothic" charset="0"/>
              </a:rPr>
              <a:t>Q. Ning</a:t>
            </a:r>
            <a:r>
              <a:rPr lang="en-US" dirty="0">
                <a:solidFill>
                  <a:schemeClr val="bg2">
                    <a:alpha val="50000"/>
                  </a:schemeClr>
                </a:solidFill>
                <a:latin typeface="Century Gothic" charset="0"/>
                <a:ea typeface="Century Gothic" charset="0"/>
                <a:cs typeface="Century Gothic" charset="0"/>
              </a:rPr>
              <a:t>, H. Wu, and D. Roth. A Multi-Axis Annotation Scheme for Event Temporal Relations.</a:t>
            </a:r>
          </a:p>
          <a:p>
            <a:pPr lvl="2">
              <a:spcBef>
                <a:spcPct val="20000"/>
              </a:spcBef>
              <a:buClr>
                <a:schemeClr val="bg2"/>
              </a:buClr>
              <a:buSzPct val="65000"/>
            </a:pPr>
            <a:r>
              <a:rPr lang="en-US" dirty="0">
                <a:solidFill>
                  <a:schemeClr val="bg2"/>
                </a:solidFill>
                <a:latin typeface="Century Gothic" charset="0"/>
                <a:ea typeface="Century Gothic" charset="0"/>
                <a:cs typeface="Century Gothic" charset="0"/>
              </a:rPr>
              <a:t>[In submission] </a:t>
            </a:r>
            <a:r>
              <a:rPr lang="en-US" u="sng" dirty="0">
                <a:solidFill>
                  <a:schemeClr val="bg2"/>
                </a:solidFill>
                <a:latin typeface="Century Gothic" charset="0"/>
                <a:ea typeface="Century Gothic" charset="0"/>
                <a:cs typeface="Century Gothic" charset="0"/>
              </a:rPr>
              <a:t>Q. Ning</a:t>
            </a:r>
            <a:r>
              <a:rPr lang="en-US" dirty="0">
                <a:solidFill>
                  <a:schemeClr val="bg2"/>
                </a:solidFill>
                <a:latin typeface="Century Gothic" charset="0"/>
                <a:ea typeface="Century Gothic" charset="0"/>
                <a:cs typeface="Century Gothic" charset="0"/>
              </a:rPr>
              <a:t>, S. Subramanian, and D. Roth. An improved neural approach for temporal relation extraction</a:t>
            </a:r>
          </a:p>
        </p:txBody>
      </p:sp>
      <p:cxnSp>
        <p:nvCxnSpPr>
          <p:cNvPr id="4" name="Straight Connector 3">
            <a:extLst>
              <a:ext uri="{FF2B5EF4-FFF2-40B4-BE49-F238E27FC236}">
                <a16:creationId xmlns="" xmlns:a16="http://schemas.microsoft.com/office/drawing/2014/main" id="{05DACFE0-B225-C448-A3CC-A862D4CEDCB5}"/>
              </a:ext>
            </a:extLst>
          </p:cNvPr>
          <p:cNvCxnSpPr/>
          <p:nvPr/>
        </p:nvCxnSpPr>
        <p:spPr>
          <a:xfrm>
            <a:off x="762000" y="2493117"/>
            <a:ext cx="2590800" cy="0"/>
          </a:xfrm>
          <a:prstGeom prst="line">
            <a:avLst/>
          </a:prstGeom>
          <a:ln w="1905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2C1F0397-1BBB-EF4C-838D-EF49DEC002D7}"/>
              </a:ext>
            </a:extLst>
          </p:cNvPr>
          <p:cNvSpPr txBox="1"/>
          <p:nvPr/>
        </p:nvSpPr>
        <p:spPr>
          <a:xfrm>
            <a:off x="228600" y="1475447"/>
            <a:ext cx="8534400" cy="584775"/>
          </a:xfrm>
          <a:prstGeom prst="rect">
            <a:avLst/>
          </a:prstGeom>
          <a:noFill/>
        </p:spPr>
        <p:txBody>
          <a:bodyPr wrap="square" rtlCol="0">
            <a:spAutoFit/>
          </a:bodyPr>
          <a:lstStyle/>
          <a:p>
            <a:pPr lvl="1">
              <a:spcBef>
                <a:spcPct val="20000"/>
              </a:spcBef>
              <a:buClr>
                <a:srgbClr val="400080"/>
              </a:buClr>
              <a:buSzPct val="65000"/>
            </a:pPr>
            <a:r>
              <a:rPr lang="en-US" sz="3200" dirty="0">
                <a:solidFill>
                  <a:schemeClr val="bg2"/>
                </a:solidFill>
                <a:latin typeface="Century Gothic" charset="0"/>
                <a:ea typeface="Century Gothic" charset="0"/>
                <a:cs typeface="Century Gothic" charset="0"/>
              </a:rPr>
              <a:t>Understanding time for events</a:t>
            </a:r>
          </a:p>
        </p:txBody>
      </p:sp>
      <p:sp>
        <p:nvSpPr>
          <p:cNvPr id="32" name="Freeform 31">
            <a:extLst>
              <a:ext uri="{FF2B5EF4-FFF2-40B4-BE49-F238E27FC236}">
                <a16:creationId xmlns="" xmlns:a16="http://schemas.microsoft.com/office/drawing/2014/main" id="{FABD47A7-B8F4-B743-BF55-7CF588D55F18}"/>
              </a:ext>
            </a:extLst>
          </p:cNvPr>
          <p:cNvSpPr/>
          <p:nvPr/>
        </p:nvSpPr>
        <p:spPr>
          <a:xfrm>
            <a:off x="6500196" y="2758251"/>
            <a:ext cx="698903" cy="659934"/>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260B581B-5F6E-BC48-BB21-EA3D5C717A62}"/>
              </a:ext>
            </a:extLst>
          </p:cNvPr>
          <p:cNvSpPr/>
          <p:nvPr/>
        </p:nvSpPr>
        <p:spPr>
          <a:xfrm>
            <a:off x="7199099" y="2758250"/>
            <a:ext cx="693202" cy="657848"/>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7B6FCA6E-ADB9-C84E-A91C-590FE2DC7D34}"/>
              </a:ext>
            </a:extLst>
          </p:cNvPr>
          <p:cNvSpPr/>
          <p:nvPr/>
        </p:nvSpPr>
        <p:spPr>
          <a:xfrm>
            <a:off x="6968357" y="3416098"/>
            <a:ext cx="461483" cy="557660"/>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E54B8F61-0D1B-554E-B513-F5E9DD1E8D04}"/>
              </a:ext>
            </a:extLst>
          </p:cNvPr>
          <p:cNvSpPr/>
          <p:nvPr/>
        </p:nvSpPr>
        <p:spPr>
          <a:xfrm>
            <a:off x="6498167" y="2060222"/>
            <a:ext cx="1396058" cy="87858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alpha val="50196"/>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6" name="Freeform 35">
            <a:extLst>
              <a:ext uri="{FF2B5EF4-FFF2-40B4-BE49-F238E27FC236}">
                <a16:creationId xmlns="" xmlns:a16="http://schemas.microsoft.com/office/drawing/2014/main" id="{EB73D38B-16CB-1043-B42A-F2A44DF6D54B}"/>
              </a:ext>
            </a:extLst>
          </p:cNvPr>
          <p:cNvSpPr/>
          <p:nvPr/>
        </p:nvSpPr>
        <p:spPr>
          <a:xfrm>
            <a:off x="7199099" y="2796346"/>
            <a:ext cx="1165316" cy="1357962"/>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latin typeface="Century Gothic" charset="0"/>
              <a:ea typeface="Century Gothic" charset="0"/>
              <a:cs typeface="Century Gothic" charset="0"/>
            </a:endParaRPr>
          </a:p>
        </p:txBody>
      </p:sp>
      <p:sp>
        <p:nvSpPr>
          <p:cNvPr id="37" name="Freeform 36">
            <a:extLst>
              <a:ext uri="{FF2B5EF4-FFF2-40B4-BE49-F238E27FC236}">
                <a16:creationId xmlns="" xmlns:a16="http://schemas.microsoft.com/office/drawing/2014/main" id="{26CB7F31-535A-9944-B427-F34891E83683}"/>
              </a:ext>
            </a:extLst>
          </p:cNvPr>
          <p:cNvSpPr/>
          <p:nvPr/>
        </p:nvSpPr>
        <p:spPr>
          <a:xfrm>
            <a:off x="6033782" y="2798432"/>
            <a:ext cx="1165317" cy="135587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alpha val="50000"/>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sp>
        <p:nvSpPr>
          <p:cNvPr id="38" name="Freeform 37">
            <a:extLst>
              <a:ext uri="{FF2B5EF4-FFF2-40B4-BE49-F238E27FC236}">
                <a16:creationId xmlns="" xmlns:a16="http://schemas.microsoft.com/office/drawing/2014/main" id="{16B74714-AD11-2746-A770-75CA2E5EAB00}"/>
              </a:ext>
            </a:extLst>
          </p:cNvPr>
          <p:cNvSpPr/>
          <p:nvPr/>
        </p:nvSpPr>
        <p:spPr>
          <a:xfrm>
            <a:off x="6970281" y="2938802"/>
            <a:ext cx="457530" cy="517478"/>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Century Gothic" charset="0"/>
              <a:ea typeface="Century Gothic" charset="0"/>
              <a:cs typeface="Century Gothic" charset="0"/>
            </a:endParaRPr>
          </a:p>
        </p:txBody>
      </p:sp>
      <p:pic>
        <p:nvPicPr>
          <p:cNvPr id="40" name="Picture 39" descr="A close up of a logo&#10;&#10;Description automatically generated">
            <a:extLst>
              <a:ext uri="{FF2B5EF4-FFF2-40B4-BE49-F238E27FC236}">
                <a16:creationId xmlns="" xmlns:a16="http://schemas.microsoft.com/office/drawing/2014/main" id="{7E781EDA-212F-8547-9FF1-DE6466D882EF}"/>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Lst>
          </a:blip>
          <a:srcRect/>
          <a:stretch/>
        </p:blipFill>
        <p:spPr>
          <a:xfrm flipH="1">
            <a:off x="7556225" y="3699726"/>
            <a:ext cx="290278" cy="241898"/>
          </a:xfrm>
          <a:prstGeom prst="rect">
            <a:avLst/>
          </a:prstGeom>
        </p:spPr>
      </p:pic>
      <p:pic>
        <p:nvPicPr>
          <p:cNvPr id="41" name="Picture 40" descr="A close up of a logo&#10;&#10;Description automatically generated">
            <a:extLst>
              <a:ext uri="{FF2B5EF4-FFF2-40B4-BE49-F238E27FC236}">
                <a16:creationId xmlns="" xmlns:a16="http://schemas.microsoft.com/office/drawing/2014/main" id="{BC3416AA-A695-FE42-9EB6-02EA4EDBC7EA}"/>
              </a:ext>
            </a:extLst>
          </p:cNvPr>
          <p:cNvPicPr>
            <a:picLocks noChangeAspect="1"/>
          </p:cNvPicPr>
          <p:nvPr/>
        </p:nvPicPr>
        <p:blipFill rotWithShape="1">
          <a:blip r:embed="rId4" cstate="email">
            <a:alphaModFix amt="50000"/>
            <a:extLst>
              <a:ext uri="{28A0092B-C50C-407E-A947-70E740481C1C}">
                <a14:useLocalDpi xmlns:a14="http://schemas.microsoft.com/office/drawing/2010/main"/>
              </a:ext>
            </a:extLst>
          </a:blip>
          <a:srcRect/>
          <a:stretch/>
        </p:blipFill>
        <p:spPr>
          <a:xfrm>
            <a:off x="7023646" y="2280954"/>
            <a:ext cx="345100" cy="264119"/>
          </a:xfrm>
          <a:prstGeom prst="rect">
            <a:avLst/>
          </a:prstGeom>
        </p:spPr>
      </p:pic>
      <p:pic>
        <p:nvPicPr>
          <p:cNvPr id="39" name="Picture 38" descr="A close up of a logo&#10;&#10;Description automatically generated">
            <a:extLst>
              <a:ext uri="{FF2B5EF4-FFF2-40B4-BE49-F238E27FC236}">
                <a16:creationId xmlns="" xmlns:a16="http://schemas.microsoft.com/office/drawing/2014/main" id="{70DEA86B-45FF-C94B-8322-F5D8C07E7026}"/>
              </a:ext>
            </a:extLst>
          </p:cNvPr>
          <p:cNvPicPr>
            <a:picLocks noChangeAspect="1"/>
          </p:cNvPicPr>
          <p:nvPr/>
        </p:nvPicPr>
        <p:blipFill rotWithShape="1">
          <a:blip r:embed="rId5" cstate="email">
            <a:alphaModFix amt="50000"/>
            <a:extLst>
              <a:ext uri="{28A0092B-C50C-407E-A947-70E740481C1C}">
                <a14:useLocalDpi xmlns:a14="http://schemas.microsoft.com/office/drawing/2010/main"/>
              </a:ext>
            </a:extLst>
          </a:blip>
          <a:srcRect/>
          <a:stretch/>
        </p:blipFill>
        <p:spPr>
          <a:xfrm>
            <a:off x="6475458" y="3608299"/>
            <a:ext cx="468738" cy="333325"/>
          </a:xfrm>
          <a:prstGeom prst="rect">
            <a:avLst/>
          </a:prstGeom>
        </p:spPr>
      </p:pic>
    </p:spTree>
    <p:extLst>
      <p:ext uri="{BB962C8B-B14F-4D97-AF65-F5344CB8AC3E}">
        <p14:creationId xmlns:p14="http://schemas.microsoft.com/office/powerpoint/2010/main" val="17142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240">
            <a:extLst>
              <a:ext uri="{FF2B5EF4-FFF2-40B4-BE49-F238E27FC236}">
                <a16:creationId xmlns="" xmlns:a16="http://schemas.microsoft.com/office/drawing/2014/main" id="{5790CE86-06B3-0640-85F8-123ADF285DA2}"/>
              </a:ext>
            </a:extLst>
          </p:cNvPr>
          <p:cNvSpPr txBox="1">
            <a:spLocks/>
          </p:cNvSpPr>
          <p:nvPr/>
        </p:nvSpPr>
        <p:spPr>
          <a:xfrm>
            <a:off x="4435924" y="228600"/>
            <a:ext cx="4127049"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pPr lvl="0"/>
            <a:r>
              <a:rPr lang="en-US" sz="2800" dirty="0"/>
              <a:t>: </a:t>
            </a:r>
            <a:r>
              <a:rPr lang="en-US" sz="2800" dirty="0" err="1" smtClean="0"/>
              <a:t>CogCompTime</a:t>
            </a:r>
            <a:r>
              <a:rPr lang="en-US" sz="2800" dirty="0"/>
              <a:t> </a:t>
            </a:r>
            <a:r>
              <a:rPr lang="en-US" sz="1400" i="1" dirty="0" smtClean="0">
                <a:solidFill>
                  <a:srgbClr val="000000"/>
                </a:solidFill>
                <a:cs typeface=""/>
              </a:rPr>
              <a:t>[EMNLP’18]</a:t>
            </a:r>
            <a:endParaRPr lang="en-US" sz="1400" i="1" dirty="0">
              <a:solidFill>
                <a:srgbClr val="000000"/>
              </a:solidFill>
              <a:cs typeface=""/>
            </a:endParaRPr>
          </a:p>
        </p:txBody>
      </p:sp>
      <p:sp>
        <p:nvSpPr>
          <p:cNvPr id="11" name="TextBox 10">
            <a:extLst>
              <a:ext uri="{FF2B5EF4-FFF2-40B4-BE49-F238E27FC236}">
                <a16:creationId xmlns="" xmlns:a16="http://schemas.microsoft.com/office/drawing/2014/main" id="{D5A5EAD6-AFD7-8343-93D8-AF16AB54D323}"/>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aphicFrame>
        <p:nvGraphicFramePr>
          <p:cNvPr id="12" name="Chart 11">
            <a:extLst>
              <a:ext uri="{FF2B5EF4-FFF2-40B4-BE49-F238E27FC236}">
                <a16:creationId xmlns="" xmlns:a16="http://schemas.microsoft.com/office/drawing/2014/main" id="{278FC97D-E638-7E41-AB57-FB6A9CE22C67}"/>
              </a:ext>
            </a:extLst>
          </p:cNvPr>
          <p:cNvGraphicFramePr/>
          <p:nvPr>
            <p:extLst>
              <p:ext uri="{D42A27DB-BD31-4B8C-83A1-F6EECF244321}">
                <p14:modId xmlns:p14="http://schemas.microsoft.com/office/powerpoint/2010/main" val="1493163218"/>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 xmlns:a16="http://schemas.microsoft.com/office/drawing/2014/main" id="{42629E23-9D5D-7E42-BA83-D68498125D5B}"/>
              </a:ext>
            </a:extLst>
          </p:cNvPr>
          <p:cNvSpPr/>
          <p:nvPr/>
        </p:nvSpPr>
        <p:spPr>
          <a:xfrm>
            <a:off x="990600" y="5943600"/>
            <a:ext cx="5029200" cy="228600"/>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 xmlns:a16="http://schemas.microsoft.com/office/drawing/2014/main"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15" name="TextBox 14">
            <a:extLst>
              <a:ext uri="{FF2B5EF4-FFF2-40B4-BE49-F238E27FC236}">
                <a16:creationId xmlns="" xmlns:a16="http://schemas.microsoft.com/office/drawing/2014/main" id="{CAEAA90C-A302-024A-987A-56A1B29B31AA}"/>
              </a:ext>
            </a:extLst>
          </p:cNvPr>
          <p:cNvSpPr txBox="1"/>
          <p:nvPr/>
        </p:nvSpPr>
        <p:spPr>
          <a:xfrm>
            <a:off x="5638800" y="4430260"/>
            <a:ext cx="2743199" cy="523220"/>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*Not a fair comparison because test set is re-labeled</a:t>
            </a:r>
          </a:p>
        </p:txBody>
      </p:sp>
      <p:sp>
        <p:nvSpPr>
          <p:cNvPr id="18" name="TextBox 17">
            <a:extLst>
              <a:ext uri="{FF2B5EF4-FFF2-40B4-BE49-F238E27FC236}">
                <a16:creationId xmlns="" xmlns:a16="http://schemas.microsoft.com/office/drawing/2014/main" id="{AE08A418-7767-454A-8A5D-8DCBEACE0E88}"/>
              </a:ext>
            </a:extLst>
          </p:cNvPr>
          <p:cNvSpPr txBox="1"/>
          <p:nvPr/>
        </p:nvSpPr>
        <p:spPr>
          <a:xfrm>
            <a:off x="4191000" y="1819682"/>
            <a:ext cx="1321196" cy="523220"/>
          </a:xfrm>
          <a:prstGeom prst="rect">
            <a:avLst/>
          </a:prstGeom>
          <a:noFill/>
        </p:spPr>
        <p:txBody>
          <a:bodyPr wrap="none" rtlCol="0">
            <a:spAutoFit/>
          </a:bodyPr>
          <a:lstStyle/>
          <a:p>
            <a:r>
              <a:rPr lang="en-US" sz="1400" dirty="0">
                <a:solidFill>
                  <a:schemeClr val="bg2"/>
                </a:solidFill>
                <a:latin typeface="Century Gothic" panose="020B0502020202020204" pitchFamily="34" charset="0"/>
              </a:rPr>
              <a:t>New Dataset</a:t>
            </a:r>
          </a:p>
          <a:p>
            <a:pPr algn="ctr"/>
            <a:r>
              <a:rPr lang="en-US" sz="1400" dirty="0">
                <a:solidFill>
                  <a:schemeClr val="bg2"/>
                </a:solidFill>
                <a:latin typeface="Century Gothic" panose="020B0502020202020204" pitchFamily="34" charset="0"/>
              </a:rPr>
              <a:t>+11.1%*</a:t>
            </a:r>
          </a:p>
        </p:txBody>
      </p:sp>
      <p:sp>
        <p:nvSpPr>
          <p:cNvPr id="21" name="TextBox 20">
            <a:extLst>
              <a:ext uri="{FF2B5EF4-FFF2-40B4-BE49-F238E27FC236}">
                <a16:creationId xmlns="" xmlns:a16="http://schemas.microsoft.com/office/drawing/2014/main" id="{7DF72AD5-9AAE-AB4D-A2F4-76503FA217EA}"/>
              </a:ext>
            </a:extLst>
          </p:cNvPr>
          <p:cNvSpPr txBox="1"/>
          <p:nvPr/>
        </p:nvSpPr>
        <p:spPr>
          <a:xfrm>
            <a:off x="3148518" y="2837962"/>
            <a:ext cx="1540807" cy="523220"/>
          </a:xfrm>
          <a:prstGeom prst="rect">
            <a:avLst/>
          </a:prstGeom>
          <a:noFill/>
        </p:spPr>
        <p:txBody>
          <a:bodyPr wrap="none" rtlCol="0">
            <a:spAutoFit/>
          </a:bodyPr>
          <a:lstStyle/>
          <a:p>
            <a:pPr algn="ctr"/>
            <a:r>
              <a:rPr lang="en-US" sz="1400" dirty="0">
                <a:solidFill>
                  <a:schemeClr val="bg2"/>
                </a:solidFill>
                <a:latin typeface="Century Gothic" panose="020B0502020202020204" pitchFamily="34" charset="0"/>
              </a:rPr>
              <a:t>Common sense</a:t>
            </a:r>
          </a:p>
          <a:p>
            <a:pPr algn="ctr"/>
            <a:r>
              <a:rPr lang="en-US" sz="1400" dirty="0">
                <a:solidFill>
                  <a:schemeClr val="bg2"/>
                </a:solidFill>
                <a:latin typeface="Century Gothic" panose="020B0502020202020204" pitchFamily="34" charset="0"/>
              </a:rPr>
              <a:t>+4%</a:t>
            </a:r>
          </a:p>
        </p:txBody>
      </p:sp>
      <p:sp>
        <p:nvSpPr>
          <p:cNvPr id="22" name="TextBox 21">
            <a:extLst>
              <a:ext uri="{FF2B5EF4-FFF2-40B4-BE49-F238E27FC236}">
                <a16:creationId xmlns="" xmlns:a16="http://schemas.microsoft.com/office/drawing/2014/main" id="{5B5029EC-3408-7044-AF7C-6DCDA514C3EA}"/>
              </a:ext>
            </a:extLst>
          </p:cNvPr>
          <p:cNvSpPr txBox="1"/>
          <p:nvPr/>
        </p:nvSpPr>
        <p:spPr>
          <a:xfrm>
            <a:off x="2209800" y="3429000"/>
            <a:ext cx="1709122" cy="523220"/>
          </a:xfrm>
          <a:prstGeom prst="rect">
            <a:avLst/>
          </a:prstGeom>
          <a:noFill/>
        </p:spPr>
        <p:txBody>
          <a:bodyPr wrap="none" rtlCol="0">
            <a:spAutoFit/>
          </a:bodyPr>
          <a:lstStyle/>
          <a:p>
            <a:pPr algn="ctr"/>
            <a:r>
              <a:rPr lang="en-US" sz="1400" dirty="0">
                <a:solidFill>
                  <a:schemeClr val="bg2"/>
                </a:solidFill>
                <a:latin typeface="Century Gothic" panose="020B0502020202020204" pitchFamily="34" charset="0"/>
              </a:rPr>
              <a:t>Structure learning</a:t>
            </a:r>
          </a:p>
          <a:p>
            <a:pPr algn="ctr"/>
            <a:r>
              <a:rPr lang="en-US" sz="1400" dirty="0">
                <a:solidFill>
                  <a:schemeClr val="bg2"/>
                </a:solidFill>
                <a:latin typeface="Century Gothic" panose="020B0502020202020204" pitchFamily="34" charset="0"/>
              </a:rPr>
              <a:t>+2%</a:t>
            </a:r>
          </a:p>
        </p:txBody>
      </p:sp>
    </p:spTree>
    <p:extLst>
      <p:ext uri="{BB962C8B-B14F-4D97-AF65-F5344CB8AC3E}">
        <p14:creationId xmlns:p14="http://schemas.microsoft.com/office/powerpoint/2010/main" val="1040950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Title 240">
            <a:extLst>
              <a:ext uri="{FF2B5EF4-FFF2-40B4-BE49-F238E27FC236}">
                <a16:creationId xmlns="" xmlns:a16="http://schemas.microsoft.com/office/drawing/2014/main" id="{C000E2B7-26F9-E54F-92E1-30BB4A3FF193}"/>
              </a:ext>
            </a:extLst>
          </p:cNvPr>
          <p:cNvSpPr>
            <a:spLocks noGrp="1"/>
          </p:cNvSpPr>
          <p:nvPr>
            <p:ph type="title"/>
          </p:nvPr>
        </p:nvSpPr>
        <p:spPr>
          <a:xfrm>
            <a:off x="4435925" y="228600"/>
            <a:ext cx="3857374" cy="533400"/>
          </a:xfrm>
        </p:spPr>
        <p:txBody>
          <a:bodyPr/>
          <a:lstStyle/>
          <a:p>
            <a:r>
              <a:rPr lang="en-US" sz="2800" dirty="0"/>
              <a:t>: a neural approach</a:t>
            </a:r>
          </a:p>
        </p:txBody>
      </p:sp>
      <p:grpSp>
        <p:nvGrpSpPr>
          <p:cNvPr id="5" name="Group 4">
            <a:extLst>
              <a:ext uri="{FF2B5EF4-FFF2-40B4-BE49-F238E27FC236}">
                <a16:creationId xmlns="" xmlns:a16="http://schemas.microsoft.com/office/drawing/2014/main" id="{081E340B-34B3-0045-8A2F-DA6DF6341388}"/>
              </a:ext>
            </a:extLst>
          </p:cNvPr>
          <p:cNvGrpSpPr/>
          <p:nvPr/>
        </p:nvGrpSpPr>
        <p:grpSpPr>
          <a:xfrm>
            <a:off x="6085302" y="1473960"/>
            <a:ext cx="2597303" cy="1486783"/>
            <a:chOff x="6085302" y="1473960"/>
            <a:chExt cx="2597303" cy="1486783"/>
          </a:xfrm>
        </p:grpSpPr>
        <p:sp>
          <p:nvSpPr>
            <p:cNvPr id="148" name="Rectangle 147">
              <a:extLst>
                <a:ext uri="{FF2B5EF4-FFF2-40B4-BE49-F238E27FC236}">
                  <a16:creationId xmlns="" xmlns:a16="http://schemas.microsoft.com/office/drawing/2014/main"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 xmlns:a16="http://schemas.microsoft.com/office/drawing/2014/main" id="{6F555E23-F6C4-6B4C-B2F9-2391258E661B}"/>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grpSp>
        <p:nvGrpSpPr>
          <p:cNvPr id="3" name="Group 2">
            <a:extLst>
              <a:ext uri="{FF2B5EF4-FFF2-40B4-BE49-F238E27FC236}">
                <a16:creationId xmlns="" xmlns:a16="http://schemas.microsoft.com/office/drawing/2014/main" id="{41D386EA-41F2-7B4F-AB93-A31415AEF531}"/>
              </a:ext>
            </a:extLst>
          </p:cNvPr>
          <p:cNvGrpSpPr/>
          <p:nvPr/>
        </p:nvGrpSpPr>
        <p:grpSpPr>
          <a:xfrm>
            <a:off x="266700" y="3750327"/>
            <a:ext cx="4722256" cy="2087398"/>
            <a:chOff x="266700" y="3750327"/>
            <a:chExt cx="4722256" cy="2087398"/>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 xmlns:a16="http://schemas.microsoft.com/office/drawing/2014/main" id="{39EF388D-A3E7-B74F-A5C3-3EE2D02DCAC2}"/>
                </a:ext>
              </a:extLst>
            </p:cNvPr>
            <p:cNvSpPr txBox="1"/>
            <p:nvPr/>
          </p:nvSpPr>
          <p:spPr>
            <a:xfrm>
              <a:off x="714918" y="4560737"/>
              <a:ext cx="3876382"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Long short-term memory network</a:t>
              </a:r>
            </a:p>
            <a:p>
              <a:pPr algn="ctr"/>
              <a:r>
                <a:rPr lang="en-US" b="1" dirty="0">
                  <a:solidFill>
                    <a:schemeClr val="bg2"/>
                  </a:solidFill>
                  <a:latin typeface="Century Gothic" panose="020B0502020202020204" pitchFamily="34" charset="0"/>
                </a:rPr>
                <a:t>Structured learning</a:t>
              </a:r>
            </a:p>
          </p:txBody>
        </p:sp>
      </p:grpSp>
      <p:grpSp>
        <p:nvGrpSpPr>
          <p:cNvPr id="4" name="Group 3">
            <a:extLst>
              <a:ext uri="{FF2B5EF4-FFF2-40B4-BE49-F238E27FC236}">
                <a16:creationId xmlns="" xmlns:a16="http://schemas.microsoft.com/office/drawing/2014/main" id="{BC004482-2F70-5445-AA88-B4125076ADF6}"/>
              </a:ext>
            </a:extLst>
          </p:cNvPr>
          <p:cNvGrpSpPr/>
          <p:nvPr/>
        </p:nvGrpSpPr>
        <p:grpSpPr>
          <a:xfrm>
            <a:off x="6085302" y="3594646"/>
            <a:ext cx="2624823" cy="2243079"/>
            <a:chOff x="6085302" y="3594646"/>
            <a:chExt cx="2624823" cy="2243079"/>
          </a:xfrm>
        </p:grpSpPr>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 xmlns:a16="http://schemas.microsoft.com/office/drawing/2014/main" id="{F8E6E6CE-233C-FB4A-9FDE-3D002893DA1C}"/>
                </a:ext>
              </a:extLst>
            </p:cNvPr>
            <p:cNvSpPr txBox="1"/>
            <p:nvPr/>
          </p:nvSpPr>
          <p:spPr>
            <a:xfrm>
              <a:off x="6122558" y="4531519"/>
              <a:ext cx="2587567"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Feedforward network</a:t>
              </a:r>
            </a:p>
            <a:p>
              <a:pPr algn="ctr"/>
              <a:r>
                <a:rPr lang="en-US" b="1" dirty="0">
                  <a:solidFill>
                    <a:schemeClr val="bg2"/>
                  </a:solidFill>
                  <a:latin typeface="Century Gothic" panose="020B0502020202020204" pitchFamily="34" charset="0"/>
                </a:rPr>
                <a:t>Trained on new data</a:t>
              </a:r>
            </a:p>
          </p:txBody>
        </p:sp>
      </p:grpSp>
      <p:cxnSp>
        <p:nvCxnSpPr>
          <p:cNvPr id="12" name="Straight Arrow Connector 11">
            <a:extLst>
              <a:ext uri="{FF2B5EF4-FFF2-40B4-BE49-F238E27FC236}">
                <a16:creationId xmlns="" xmlns:a16="http://schemas.microsoft.com/office/drawing/2014/main" id="{2428F8EC-B6AB-7243-B549-B1DF8ACEFBA2}"/>
              </a:ext>
            </a:extLst>
          </p:cNvPr>
          <p:cNvCxnSpPr>
            <a:stCxn id="147" idx="3"/>
          </p:cNvCxnSpPr>
          <p:nvPr/>
        </p:nvCxnSpPr>
        <p:spPr>
          <a:xfrm>
            <a:off x="4988956" y="4794026"/>
            <a:ext cx="1096346" cy="0"/>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 xmlns:a16="http://schemas.microsoft.com/office/drawing/2014/main"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A57CE848-7C61-9240-8373-57CBCB7D7B5C}"/>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sp>
        <p:nvSpPr>
          <p:cNvPr id="18" name="TextBox 17">
            <a:extLst>
              <a:ext uri="{FF2B5EF4-FFF2-40B4-BE49-F238E27FC236}">
                <a16:creationId xmlns="" xmlns:a16="http://schemas.microsoft.com/office/drawing/2014/main" id="{3DF212FA-13DF-964C-BB67-954846C1294A}"/>
              </a:ext>
            </a:extLst>
          </p:cNvPr>
          <p:cNvSpPr txBox="1"/>
          <p:nvPr/>
        </p:nvSpPr>
        <p:spPr>
          <a:xfrm>
            <a:off x="975140" y="1406130"/>
            <a:ext cx="2973891" cy="1938992"/>
          </a:xfrm>
          <a:prstGeom prst="rect">
            <a:avLst/>
          </a:prstGeom>
          <a:noFill/>
        </p:spPr>
        <p:txBody>
          <a:bodyPr wrap="none" rtlCol="0">
            <a:spAutoFit/>
          </a:bodyPr>
          <a:lstStyle/>
          <a:p>
            <a:pPr algn="ctr"/>
            <a:r>
              <a:rPr lang="en-US" sz="2400" dirty="0">
                <a:solidFill>
                  <a:schemeClr val="bg2"/>
                </a:solidFill>
                <a:latin typeface="Century Gothic" panose="020B0502020202020204" pitchFamily="34" charset="0"/>
              </a:rPr>
              <a:t>LSTM </a:t>
            </a:r>
          </a:p>
          <a:p>
            <a:pPr algn="ctr"/>
            <a:r>
              <a:rPr lang="en-US" sz="2400" dirty="0">
                <a:solidFill>
                  <a:schemeClr val="bg2"/>
                </a:solidFill>
                <a:latin typeface="Century Gothic" panose="020B0502020202020204" pitchFamily="34" charset="0"/>
              </a:rPr>
              <a:t>+</a:t>
            </a:r>
          </a:p>
          <a:p>
            <a:pPr algn="ctr"/>
            <a:r>
              <a:rPr lang="en-US" sz="2400" dirty="0">
                <a:solidFill>
                  <a:schemeClr val="bg2"/>
                </a:solidFill>
                <a:latin typeface="Century Gothic" panose="020B0502020202020204" pitchFamily="34" charset="0"/>
              </a:rPr>
              <a:t> Feed-Forward NN </a:t>
            </a:r>
          </a:p>
          <a:p>
            <a:pPr algn="ctr"/>
            <a:r>
              <a:rPr lang="en-US" sz="2400" dirty="0">
                <a:solidFill>
                  <a:schemeClr val="bg2"/>
                </a:solidFill>
                <a:latin typeface="Century Gothic" panose="020B0502020202020204" pitchFamily="34" charset="0"/>
              </a:rPr>
              <a:t>+</a:t>
            </a:r>
          </a:p>
          <a:p>
            <a:pPr algn="ctr"/>
            <a:r>
              <a:rPr lang="en-US" sz="2400" dirty="0">
                <a:solidFill>
                  <a:schemeClr val="bg2"/>
                </a:solidFill>
                <a:latin typeface="Century Gothic" panose="020B0502020202020204" pitchFamily="34" charset="0"/>
              </a:rPr>
              <a:t> Siamese</a:t>
            </a:r>
          </a:p>
        </p:txBody>
      </p:sp>
      <p:sp>
        <p:nvSpPr>
          <p:cNvPr id="16" name="TextBox 15">
            <a:extLst>
              <a:ext uri="{FF2B5EF4-FFF2-40B4-BE49-F238E27FC236}">
                <a16:creationId xmlns="" xmlns:a16="http://schemas.microsoft.com/office/drawing/2014/main" id="{1C06C5B6-9CC4-D54B-A238-7B05FFB54FB2}"/>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209951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6"/>
                                        </p:tgtEl>
                                        <p:attrNameLst>
                                          <p:attrName>style.visibility</p:attrName>
                                        </p:attrNameLst>
                                      </p:cBhvr>
                                      <p:to>
                                        <p:strVal val="visible"/>
                                      </p:to>
                                    </p:set>
                                    <p:animEffect transition="in" filter="wipe(up)">
                                      <p:cBhvr>
                                        <p:cTn id="23"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 xmlns:a16="http://schemas.microsoft.com/office/drawing/2014/main"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 xmlns:a16="http://schemas.microsoft.com/office/drawing/2014/main" id="{2428F8EC-B6AB-7243-B549-B1DF8ACEFBA2}"/>
              </a:ext>
            </a:extLst>
          </p:cNvPr>
          <p:cNvCxnSpPr>
            <a:stCxn id="147" idx="3"/>
          </p:cNvCxnSpPr>
          <p:nvPr/>
        </p:nvCxnSpPr>
        <p:spPr>
          <a:xfrm>
            <a:off x="4988956" y="4794026"/>
            <a:ext cx="1096346" cy="0"/>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 xmlns:a16="http://schemas.microsoft.com/office/drawing/2014/main"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 xmlns:a16="http://schemas.microsoft.com/office/drawing/2014/main"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 xmlns:a16="http://schemas.microsoft.com/office/drawing/2014/main"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 xmlns:a16="http://schemas.microsoft.com/office/drawing/2014/main"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 xmlns:a16="http://schemas.microsoft.com/office/drawing/2014/main"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 xmlns:a16="http://schemas.microsoft.com/office/drawing/2014/main"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 xmlns:a16="http://schemas.microsoft.com/office/drawing/2014/main"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 xmlns:a16="http://schemas.microsoft.com/office/drawing/2014/main"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 xmlns:a16="http://schemas.microsoft.com/office/drawing/2014/main"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 xmlns:a16="http://schemas.microsoft.com/office/drawing/2014/main"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 xmlns:a16="http://schemas.microsoft.com/office/drawing/2014/main"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 xmlns:a16="http://schemas.microsoft.com/office/drawing/2014/main"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 xmlns:a16="http://schemas.microsoft.com/office/drawing/2014/main"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sp>
        <p:nvSpPr>
          <p:cNvPr id="28" name="TextBox 27">
            <a:extLst>
              <a:ext uri="{FF2B5EF4-FFF2-40B4-BE49-F238E27FC236}">
                <a16:creationId xmlns="" xmlns:a16="http://schemas.microsoft.com/office/drawing/2014/main" id="{C0B4805D-9F54-8340-8F65-CD4209531321}"/>
              </a:ext>
            </a:extLst>
          </p:cNvPr>
          <p:cNvSpPr txBox="1"/>
          <p:nvPr/>
        </p:nvSpPr>
        <p:spPr>
          <a:xfrm>
            <a:off x="6062445" y="4531519"/>
            <a:ext cx="2707793"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Feedforward network</a:t>
            </a:r>
          </a:p>
          <a:p>
            <a:pPr algn="ctr"/>
            <a:r>
              <a:rPr lang="en-US" b="1" dirty="0">
                <a:solidFill>
                  <a:schemeClr val="bg2"/>
                </a:solidFill>
                <a:latin typeface="Century Gothic" panose="020B0502020202020204" pitchFamily="34" charset="0"/>
              </a:rPr>
              <a:t>(Trained on new data)</a:t>
            </a:r>
          </a:p>
        </p:txBody>
      </p:sp>
      <p:grpSp>
        <p:nvGrpSpPr>
          <p:cNvPr id="6" name="Group 5">
            <a:extLst>
              <a:ext uri="{FF2B5EF4-FFF2-40B4-BE49-F238E27FC236}">
                <a16:creationId xmlns="" xmlns:a16="http://schemas.microsoft.com/office/drawing/2014/main"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 xmlns:a16="http://schemas.microsoft.com/office/drawing/2014/main"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 xmlns:a16="http://schemas.microsoft.com/office/drawing/2014/main"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33" name="TextBox 32">
            <a:extLst>
              <a:ext uri="{FF2B5EF4-FFF2-40B4-BE49-F238E27FC236}">
                <a16:creationId xmlns="" xmlns:a16="http://schemas.microsoft.com/office/drawing/2014/main" id="{E977AB19-A005-7F40-AEDD-4F04247AF22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b="1"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36" name="TextBox 35">
            <a:extLst>
              <a:ext uri="{FF2B5EF4-FFF2-40B4-BE49-F238E27FC236}">
                <a16:creationId xmlns="" xmlns:a16="http://schemas.microsoft.com/office/drawing/2014/main" id="{C5019D54-9E17-1846-B03C-2A2579A9F8D2}"/>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26" name="TextBox 25">
            <a:extLst>
              <a:ext uri="{FF2B5EF4-FFF2-40B4-BE49-F238E27FC236}">
                <a16:creationId xmlns="" xmlns:a16="http://schemas.microsoft.com/office/drawing/2014/main" id="{AED0303F-D013-1C4F-A057-55F54B361363}"/>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169519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1000"/>
                                        <p:tgtEl>
                                          <p:spTgt spid="36"/>
                                        </p:tgtEl>
                                      </p:cBhvr>
                                    </p:animEffect>
                                    <p:anim calcmode="lin" valueType="num">
                                      <p:cBhvr>
                                        <p:cTn id="13" dur="1000" fill="hold"/>
                                        <p:tgtEl>
                                          <p:spTgt spid="36"/>
                                        </p:tgtEl>
                                        <p:attrNameLst>
                                          <p:attrName>ppt_x</p:attrName>
                                        </p:attrNameLst>
                                      </p:cBhvr>
                                      <p:tavLst>
                                        <p:tav tm="0">
                                          <p:val>
                                            <p:strVal val="#ppt_x"/>
                                          </p:val>
                                        </p:tav>
                                        <p:tav tm="100000">
                                          <p:val>
                                            <p:strVal val="#ppt_x"/>
                                          </p:val>
                                        </p:tav>
                                      </p:tavLst>
                                    </p:anim>
                                    <p:anim calcmode="lin" valueType="num">
                                      <p:cBhvr>
                                        <p:cTn id="1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 xmlns:a16="http://schemas.microsoft.com/office/drawing/2014/main"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 xmlns:a16="http://schemas.microsoft.com/office/drawing/2014/main"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 xmlns:a16="http://schemas.microsoft.com/office/drawing/2014/main"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 xmlns:a16="http://schemas.microsoft.com/office/drawing/2014/main"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 xmlns:a16="http://schemas.microsoft.com/office/drawing/2014/main"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 xmlns:a16="http://schemas.microsoft.com/office/drawing/2014/main"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 xmlns:a16="http://schemas.microsoft.com/office/drawing/2014/main"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 xmlns:a16="http://schemas.microsoft.com/office/drawing/2014/main"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 xmlns:a16="http://schemas.microsoft.com/office/drawing/2014/main"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 xmlns:a16="http://schemas.microsoft.com/office/drawing/2014/main"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 xmlns:a16="http://schemas.microsoft.com/office/drawing/2014/main"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 xmlns:a16="http://schemas.microsoft.com/office/drawing/2014/main"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 xmlns:a16="http://schemas.microsoft.com/office/drawing/2014/main"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 xmlns:a16="http://schemas.microsoft.com/office/drawing/2014/main"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nvGrpSpPr>
          <p:cNvPr id="6" name="Group 5">
            <a:extLst>
              <a:ext uri="{FF2B5EF4-FFF2-40B4-BE49-F238E27FC236}">
                <a16:creationId xmlns="" xmlns:a16="http://schemas.microsoft.com/office/drawing/2014/main"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 xmlns:a16="http://schemas.microsoft.com/office/drawing/2014/main"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 xmlns:a16="http://schemas.microsoft.com/office/drawing/2014/main"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 xmlns:a16="http://schemas.microsoft.com/office/drawing/2014/main"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 xmlns:a16="http://schemas.microsoft.com/office/drawing/2014/main"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 xmlns:a16="http://schemas.microsoft.com/office/drawing/2014/main"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 xmlns:a16="http://schemas.microsoft.com/office/drawing/2014/main"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 xmlns:a16="http://schemas.microsoft.com/office/drawing/2014/main"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 xmlns:a16="http://schemas.microsoft.com/office/drawing/2014/main"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 xmlns:a16="http://schemas.microsoft.com/office/drawing/2014/main"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 xmlns:a16="http://schemas.microsoft.com/office/drawing/2014/main"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 xmlns:a16="http://schemas.microsoft.com/office/drawing/2014/main"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 xmlns:a16="http://schemas.microsoft.com/office/drawing/2014/main"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 xmlns:a16="http://schemas.microsoft.com/office/drawing/2014/main"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 xmlns:a16="http://schemas.microsoft.com/office/drawing/2014/main"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 xmlns:a16="http://schemas.microsoft.com/office/drawing/2014/main"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sp>
        <p:nvSpPr>
          <p:cNvPr id="47" name="TextBox 46">
            <a:extLst>
              <a:ext uri="{FF2B5EF4-FFF2-40B4-BE49-F238E27FC236}">
                <a16:creationId xmlns="" xmlns:a16="http://schemas.microsoft.com/office/drawing/2014/main" id="{7A1C6EAD-06FC-0545-945D-58A34A9350FA}"/>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48" name="TextBox 47">
            <a:extLst>
              <a:ext uri="{FF2B5EF4-FFF2-40B4-BE49-F238E27FC236}">
                <a16:creationId xmlns="" xmlns:a16="http://schemas.microsoft.com/office/drawing/2014/main" id="{CE463C90-B1AD-F947-BCC3-5458BEC992E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44" name="TextBox 43">
            <a:extLst>
              <a:ext uri="{FF2B5EF4-FFF2-40B4-BE49-F238E27FC236}">
                <a16:creationId xmlns="" xmlns:a16="http://schemas.microsoft.com/office/drawing/2014/main" id="{730B30E4-44CD-8D47-8709-82784D0E73E4}"/>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94289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 xmlns:a16="http://schemas.microsoft.com/office/drawing/2014/main" id="{D92D59EF-973B-804F-962F-B078BE109ADE}"/>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 xmlns:a16="http://schemas.microsoft.com/office/drawing/2014/main" id="{66C9234D-0753-EC42-BBBB-0A689AB90467}"/>
              </a:ext>
            </a:extLst>
          </p:cNvPr>
          <p:cNvCxnSpPr>
            <a:cxnSpLocks/>
            <a:stCxn id="148" idx="2"/>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 xmlns:a16="http://schemas.microsoft.com/office/drawing/2014/main"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 xmlns:a16="http://schemas.microsoft.com/office/drawing/2014/main"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 xmlns:a16="http://schemas.microsoft.com/office/drawing/2014/main"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 xmlns:a16="http://schemas.microsoft.com/office/drawing/2014/main"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 xmlns:a16="http://schemas.microsoft.com/office/drawing/2014/main"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 xmlns:a16="http://schemas.microsoft.com/office/drawing/2014/main"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 xmlns:a16="http://schemas.microsoft.com/office/drawing/2014/main"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 xmlns:a16="http://schemas.microsoft.com/office/drawing/2014/main"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 xmlns:a16="http://schemas.microsoft.com/office/drawing/2014/main"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 xmlns:a16="http://schemas.microsoft.com/office/drawing/2014/main"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 xmlns:a16="http://schemas.microsoft.com/office/drawing/2014/main"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sp>
        <p:nvSpPr>
          <p:cNvPr id="27" name="TextBox 26">
            <a:extLst>
              <a:ext uri="{FF2B5EF4-FFF2-40B4-BE49-F238E27FC236}">
                <a16:creationId xmlns="" xmlns:a16="http://schemas.microsoft.com/office/drawing/2014/main" id="{80B1D00D-1AA4-6840-8931-CC4B40767130}"/>
              </a:ext>
            </a:extLst>
          </p:cNvPr>
          <p:cNvSpPr txBox="1"/>
          <p:nvPr/>
        </p:nvSpPr>
        <p:spPr>
          <a:xfrm>
            <a:off x="6364612" y="1839762"/>
            <a:ext cx="2103461"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Siamese network</a:t>
            </a:r>
          </a:p>
          <a:p>
            <a:pPr algn="ctr"/>
            <a:r>
              <a:rPr lang="en-US" b="1" dirty="0">
                <a:solidFill>
                  <a:schemeClr val="bg2"/>
                </a:solidFill>
                <a:latin typeface="Century Gothic" panose="020B0502020202020204" pitchFamily="34" charset="0"/>
              </a:rPr>
              <a:t>(Common sense)</a:t>
            </a:r>
          </a:p>
        </p:txBody>
      </p:sp>
      <p:grpSp>
        <p:nvGrpSpPr>
          <p:cNvPr id="6" name="Group 5">
            <a:extLst>
              <a:ext uri="{FF2B5EF4-FFF2-40B4-BE49-F238E27FC236}">
                <a16:creationId xmlns="" xmlns:a16="http://schemas.microsoft.com/office/drawing/2014/main"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 xmlns:a16="http://schemas.microsoft.com/office/drawing/2014/main"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 xmlns:a16="http://schemas.microsoft.com/office/drawing/2014/main"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 xmlns:a16="http://schemas.microsoft.com/office/drawing/2014/main"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 xmlns:a16="http://schemas.microsoft.com/office/drawing/2014/main"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 xmlns:a16="http://schemas.microsoft.com/office/drawing/2014/main"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 xmlns:a16="http://schemas.microsoft.com/office/drawing/2014/main"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 xmlns:a16="http://schemas.microsoft.com/office/drawing/2014/main"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 xmlns:a16="http://schemas.microsoft.com/office/drawing/2014/main"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 xmlns:a16="http://schemas.microsoft.com/office/drawing/2014/main"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 xmlns:a16="http://schemas.microsoft.com/office/drawing/2014/main"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 xmlns:a16="http://schemas.microsoft.com/office/drawing/2014/main"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 xmlns:a16="http://schemas.microsoft.com/office/drawing/2014/main"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 xmlns:a16="http://schemas.microsoft.com/office/drawing/2014/main"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 xmlns:a16="http://schemas.microsoft.com/office/drawing/2014/main"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 xmlns:a16="http://schemas.microsoft.com/office/drawing/2014/main"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 xmlns:a16="http://schemas.microsoft.com/office/drawing/2014/main"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 xmlns:a16="http://schemas.microsoft.com/office/drawing/2014/main"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 xmlns:a16="http://schemas.microsoft.com/office/drawing/2014/main"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 xmlns:a16="http://schemas.microsoft.com/office/drawing/2014/main"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 xmlns:a16="http://schemas.microsoft.com/office/drawing/2014/main"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 xmlns:a16="http://schemas.microsoft.com/office/drawing/2014/main"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 xmlns:a16="http://schemas.microsoft.com/office/drawing/2014/main"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 xmlns:a16="http://schemas.microsoft.com/office/drawing/2014/main"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 xmlns:a16="http://schemas.microsoft.com/office/drawing/2014/main"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 xmlns:a16="http://schemas.microsoft.com/office/drawing/2014/main"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 xmlns:a16="http://schemas.microsoft.com/office/drawing/2014/main"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 xmlns:a16="http://schemas.microsoft.com/office/drawing/2014/main"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 xmlns:a16="http://schemas.microsoft.com/office/drawing/2014/main"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 xmlns:a16="http://schemas.microsoft.com/office/drawing/2014/main"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 xmlns:a16="http://schemas.microsoft.com/office/drawing/2014/main"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 xmlns:a16="http://schemas.microsoft.com/office/drawing/2014/main"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 xmlns:a16="http://schemas.microsoft.com/office/drawing/2014/main"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 xmlns:a16="http://schemas.microsoft.com/office/drawing/2014/main"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utput</a:t>
            </a:r>
            <a:r>
              <a:rPr kumimoji="0" lang="en-US" sz="1050" b="0" i="0" u="none" strike="noStrike" kern="0" cap="none" spc="0" normalizeH="0" noProof="0" dirty="0">
                <a:ln>
                  <a:noFill/>
                </a:ln>
                <a:solidFill>
                  <a:prstClr val="black"/>
                </a:solidFill>
                <a:effectLst/>
                <a:uLnTx/>
                <a:uFillTx/>
                <a:latin typeface="Courier" charset="0"/>
                <a:ea typeface="Courier" charset="0"/>
                <a:cs typeface="Courier" charset="0"/>
              </a:rPr>
              <a:t> confidence scores</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64" name="TextBox 63">
            <a:extLst>
              <a:ext uri="{FF2B5EF4-FFF2-40B4-BE49-F238E27FC236}">
                <a16:creationId xmlns="" xmlns:a16="http://schemas.microsoft.com/office/drawing/2014/main" id="{E7A9DC38-EB69-7843-A435-672B98D754B9}"/>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65" name="TextBox 64">
            <a:extLst>
              <a:ext uri="{FF2B5EF4-FFF2-40B4-BE49-F238E27FC236}">
                <a16:creationId xmlns="" xmlns:a16="http://schemas.microsoft.com/office/drawing/2014/main" id="{7DCF150D-3938-E843-85DD-C391704A17B9}"/>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Siamese network is a generalized </a:t>
            </a:r>
            <a:r>
              <a:rPr lang="en-US" sz="2000" dirty="0" err="1">
                <a:solidFill>
                  <a:schemeClr val="bg2"/>
                </a:solidFill>
                <a:latin typeface="Century Gothic" panose="020B0502020202020204" pitchFamily="34" charset="0"/>
              </a:rPr>
              <a:t>TemProb</a:t>
            </a:r>
            <a:endParaRPr lang="en-US" sz="2000" dirty="0">
              <a:solidFill>
                <a:schemeClr val="bg2"/>
              </a:solidFill>
              <a:latin typeface="Century Gothic" panose="020B0502020202020204" pitchFamily="34" charset="0"/>
            </a:endParaRPr>
          </a:p>
        </p:txBody>
      </p:sp>
      <p:sp>
        <p:nvSpPr>
          <p:cNvPr id="61" name="TextBox 60">
            <a:extLst>
              <a:ext uri="{FF2B5EF4-FFF2-40B4-BE49-F238E27FC236}">
                <a16:creationId xmlns="" xmlns:a16="http://schemas.microsoft.com/office/drawing/2014/main" id="{ABAC4B62-41A5-7E40-BEE2-0ABA2917EC03}"/>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135514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0"/>
                                        </p:tgtEl>
                                        <p:attrNameLst>
                                          <p:attrName>style.visibility</p:attrName>
                                        </p:attrNameLst>
                                      </p:cBhvr>
                                      <p:to>
                                        <p:strVal val="visible"/>
                                      </p:to>
                                    </p:set>
                                    <p:animEffect transition="in" filter="wipe(left)">
                                      <p:cBhvr>
                                        <p:cTn id="1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6" name="Straight Arrow Connector 95">
            <a:extLst>
              <a:ext uri="{FF2B5EF4-FFF2-40B4-BE49-F238E27FC236}">
                <a16:creationId xmlns="" xmlns:a16="http://schemas.microsoft.com/office/drawing/2014/main" id="{66C9234D-0753-EC42-BBBB-0A689AB90467}"/>
              </a:ext>
            </a:extLst>
          </p:cNvPr>
          <p:cNvCxnSpPr>
            <a:cxnSpLocks/>
            <a:endCxn id="149" idx="0"/>
          </p:cNvCxnSpPr>
          <p:nvPr/>
        </p:nvCxnSpPr>
        <p:spPr>
          <a:xfrm>
            <a:off x="7383954" y="2960743"/>
            <a:ext cx="0" cy="633903"/>
          </a:xfrm>
          <a:prstGeom prst="straightConnector1">
            <a:avLst/>
          </a:prstGeom>
          <a:ln w="38100">
            <a:solidFill>
              <a:schemeClr val="tx1">
                <a:lumMod val="50000"/>
              </a:schemeClr>
            </a:solidFill>
            <a:prstDash val="dash"/>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 xmlns:a16="http://schemas.microsoft.com/office/drawing/2014/main"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 xmlns:a16="http://schemas.microsoft.com/office/drawing/2014/main"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 xmlns:a16="http://schemas.microsoft.com/office/drawing/2014/main"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 xmlns:a16="http://schemas.microsoft.com/office/drawing/2014/main"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 xmlns:a16="http://schemas.microsoft.com/office/drawing/2014/main"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 xmlns:a16="http://schemas.microsoft.com/office/drawing/2014/main"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 xmlns:a16="http://schemas.microsoft.com/office/drawing/2014/main"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 xmlns:a16="http://schemas.microsoft.com/office/drawing/2014/main"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 xmlns:a16="http://schemas.microsoft.com/office/drawing/2014/main"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 xmlns:a16="http://schemas.microsoft.com/office/drawing/2014/main"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 xmlns:a16="http://schemas.microsoft.com/office/drawing/2014/main"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grpSp>
        <p:nvGrpSpPr>
          <p:cNvPr id="6" name="Group 5">
            <a:extLst>
              <a:ext uri="{FF2B5EF4-FFF2-40B4-BE49-F238E27FC236}">
                <a16:creationId xmlns="" xmlns:a16="http://schemas.microsoft.com/office/drawing/2014/main"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 xmlns:a16="http://schemas.microsoft.com/office/drawing/2014/main"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32" name="TextBox 31">
              <a:extLst>
                <a:ext uri="{FF2B5EF4-FFF2-40B4-BE49-F238E27FC236}">
                  <a16:creationId xmlns="" xmlns:a16="http://schemas.microsoft.com/office/drawing/2014/main"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 xmlns:a16="http://schemas.microsoft.com/office/drawing/2014/main"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 xmlns:a16="http://schemas.microsoft.com/office/drawing/2014/main"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 xmlns:a16="http://schemas.microsoft.com/office/drawing/2014/main"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 xmlns:a16="http://schemas.microsoft.com/office/drawing/2014/main"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 xmlns:a16="http://schemas.microsoft.com/office/drawing/2014/main"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 xmlns:a16="http://schemas.microsoft.com/office/drawing/2014/main"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 xmlns:a16="http://schemas.microsoft.com/office/drawing/2014/main"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 xmlns:a16="http://schemas.microsoft.com/office/drawing/2014/main"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 xmlns:a16="http://schemas.microsoft.com/office/drawing/2014/main"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 xmlns:a16="http://schemas.microsoft.com/office/drawing/2014/main"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 xmlns:a16="http://schemas.microsoft.com/office/drawing/2014/main"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 xmlns:a16="http://schemas.microsoft.com/office/drawing/2014/main"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 xmlns:a16="http://schemas.microsoft.com/office/drawing/2014/main"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 xmlns:a16="http://schemas.microsoft.com/office/drawing/2014/main"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 xmlns:a16="http://schemas.microsoft.com/office/drawing/2014/main"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 xmlns:a16="http://schemas.microsoft.com/office/drawing/2014/main"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 xmlns:a16="http://schemas.microsoft.com/office/drawing/2014/main"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 xmlns:a16="http://schemas.microsoft.com/office/drawing/2014/main"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 xmlns:a16="http://schemas.microsoft.com/office/drawing/2014/main"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 xmlns:a16="http://schemas.microsoft.com/office/drawing/2014/main"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 xmlns:a16="http://schemas.microsoft.com/office/drawing/2014/main"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 xmlns:a16="http://schemas.microsoft.com/office/drawing/2014/main"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 xmlns:a16="http://schemas.microsoft.com/office/drawing/2014/main"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 xmlns:a16="http://schemas.microsoft.com/office/drawing/2014/main"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 xmlns:a16="http://schemas.microsoft.com/office/drawing/2014/main"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 xmlns:a16="http://schemas.microsoft.com/office/drawing/2014/main"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 xmlns:a16="http://schemas.microsoft.com/office/drawing/2014/main"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 xmlns:a16="http://schemas.microsoft.com/office/drawing/2014/main"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 xmlns:a16="http://schemas.microsoft.com/office/drawing/2014/main"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 xmlns:a16="http://schemas.microsoft.com/office/drawing/2014/main"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 xmlns:a16="http://schemas.microsoft.com/office/drawing/2014/main"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Output confidence scores</a:t>
            </a:r>
          </a:p>
        </p:txBody>
      </p:sp>
      <p:sp>
        <p:nvSpPr>
          <p:cNvPr id="66" name="Rectangle 65">
            <a:extLst>
              <a:ext uri="{FF2B5EF4-FFF2-40B4-BE49-F238E27FC236}">
                <a16:creationId xmlns="" xmlns:a16="http://schemas.microsoft.com/office/drawing/2014/main" id="{7540B02E-F3CA-7A41-B9F1-90F0B20C34E8}"/>
              </a:ext>
            </a:extLst>
          </p:cNvPr>
          <p:cNvSpPr>
            <a:spLocks noChangeAspect="1"/>
          </p:cNvSpPr>
          <p:nvPr/>
        </p:nvSpPr>
        <p:spPr>
          <a:xfrm flipH="1">
            <a:off x="7289835" y="2857499"/>
            <a:ext cx="203894" cy="81144"/>
          </a:xfrm>
          <a:prstGeom prst="rect">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 xmlns:a16="http://schemas.microsoft.com/office/drawing/2014/main" id="{E1A2BF7F-5EF1-A841-BBFD-CD34B062BD4F}"/>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 xmlns:a16="http://schemas.microsoft.com/office/drawing/2014/main" id="{D33EED2F-F4EA-A64D-BD20-7ACF261822AE}"/>
              </a:ext>
            </a:extLst>
          </p:cNvPr>
          <p:cNvGrpSpPr/>
          <p:nvPr/>
        </p:nvGrpSpPr>
        <p:grpSpPr>
          <a:xfrm>
            <a:off x="6052335" y="1528708"/>
            <a:ext cx="2630270" cy="1321671"/>
            <a:chOff x="6052335" y="1528708"/>
            <a:chExt cx="2630270" cy="1321671"/>
          </a:xfrm>
        </p:grpSpPr>
        <p:sp>
          <p:nvSpPr>
            <p:cNvPr id="62" name="Rectangle 61">
              <a:extLst>
                <a:ext uri="{FF2B5EF4-FFF2-40B4-BE49-F238E27FC236}">
                  <a16:creationId xmlns="" xmlns:a16="http://schemas.microsoft.com/office/drawing/2014/main" id="{1A09AF94-106D-3645-9CD9-E3AA368D1FF5}"/>
                </a:ext>
              </a:extLst>
            </p:cNvPr>
            <p:cNvSpPr/>
            <p:nvPr/>
          </p:nvSpPr>
          <p:spPr>
            <a:xfrm flipH="1">
              <a:off x="6461826"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 xmlns:a16="http://schemas.microsoft.com/office/drawing/2014/main" id="{C6AD86B0-8EAF-C44C-8627-D218DCE32B1D}"/>
                </a:ext>
              </a:extLst>
            </p:cNvPr>
            <p:cNvSpPr/>
            <p:nvPr/>
          </p:nvSpPr>
          <p:spPr>
            <a:xfrm flipH="1">
              <a:off x="7528953"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 xmlns:a16="http://schemas.microsoft.com/office/drawing/2014/main" id="{292AE01C-82B8-0040-BD13-A4F2CFDFB70F}"/>
                </a:ext>
              </a:extLst>
            </p:cNvPr>
            <p:cNvSpPr/>
            <p:nvPr/>
          </p:nvSpPr>
          <p:spPr>
            <a:xfrm flipH="1">
              <a:off x="6787849" y="2384271"/>
              <a:ext cx="1248377" cy="94493"/>
            </a:xfrm>
            <a:prstGeom prst="rect">
              <a:avLst/>
            </a:prstGeom>
            <a:solidFill>
              <a:srgbClr val="E7E6E6">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 xmlns:a16="http://schemas.microsoft.com/office/drawing/2014/main" id="{C887EF61-D8E1-3740-9DBE-D1D1727FBC9E}"/>
                </a:ext>
              </a:extLst>
            </p:cNvPr>
            <p:cNvSpPr/>
            <p:nvPr/>
          </p:nvSpPr>
          <p:spPr>
            <a:xfrm flipH="1">
              <a:off x="7099943" y="2621167"/>
              <a:ext cx="624188" cy="94493"/>
            </a:xfrm>
            <a:prstGeom prst="rect">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TextBox 66">
              <a:extLst>
                <a:ext uri="{FF2B5EF4-FFF2-40B4-BE49-F238E27FC236}">
                  <a16:creationId xmlns="" xmlns:a16="http://schemas.microsoft.com/office/drawing/2014/main" id="{2B65061E-9681-254B-9BCB-98DFD97B0802}"/>
                </a:ext>
              </a:extLst>
            </p:cNvPr>
            <p:cNvSpPr txBox="1"/>
            <p:nvPr/>
          </p:nvSpPr>
          <p:spPr>
            <a:xfrm>
              <a:off x="6303851"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p>
          </p:txBody>
        </p:sp>
        <p:sp>
          <p:nvSpPr>
            <p:cNvPr id="68" name="TextBox 67">
              <a:extLst>
                <a:ext uri="{FF2B5EF4-FFF2-40B4-BE49-F238E27FC236}">
                  <a16:creationId xmlns="" xmlns:a16="http://schemas.microsoft.com/office/drawing/2014/main" id="{AC79644C-43D0-784C-81C5-4CBE84AE6DE9}"/>
                </a:ext>
              </a:extLst>
            </p:cNvPr>
            <p:cNvSpPr txBox="1"/>
            <p:nvPr/>
          </p:nvSpPr>
          <p:spPr>
            <a:xfrm>
              <a:off x="7369699"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cxnSp>
          <p:nvCxnSpPr>
            <p:cNvPr id="69" name="Straight Arrow Connector 68">
              <a:extLst>
                <a:ext uri="{FF2B5EF4-FFF2-40B4-BE49-F238E27FC236}">
                  <a16:creationId xmlns="" xmlns:a16="http://schemas.microsoft.com/office/drawing/2014/main" id="{8992F45C-566E-844D-9E2F-0B5A79E77E60}"/>
                </a:ext>
              </a:extLst>
            </p:cNvPr>
            <p:cNvCxnSpPr/>
            <p:nvPr/>
          </p:nvCxnSpPr>
          <p:spPr>
            <a:xfrm flipH="1">
              <a:off x="7392711" y="2182098"/>
              <a:ext cx="290644" cy="202179"/>
            </a:xfrm>
            <a:prstGeom prst="straightConnector1">
              <a:avLst/>
            </a:prstGeom>
            <a:noFill/>
            <a:ln w="6350" cap="flat" cmpd="sng" algn="ctr">
              <a:solidFill>
                <a:sysClr val="windowText" lastClr="000000"/>
              </a:solidFill>
              <a:prstDash val="solid"/>
              <a:miter lim="800000"/>
              <a:tailEnd type="triangle"/>
            </a:ln>
            <a:effectLst/>
          </p:spPr>
        </p:cxnSp>
        <p:cxnSp>
          <p:nvCxnSpPr>
            <p:cNvPr id="70" name="Straight Arrow Connector 69">
              <a:extLst>
                <a:ext uri="{FF2B5EF4-FFF2-40B4-BE49-F238E27FC236}">
                  <a16:creationId xmlns="" xmlns:a16="http://schemas.microsoft.com/office/drawing/2014/main" id="{D1931E52-799B-F847-BF13-D0D97F1C9C31}"/>
                </a:ext>
              </a:extLst>
            </p:cNvPr>
            <p:cNvCxnSpPr>
              <a:stCxn id="63" idx="2"/>
            </p:cNvCxnSpPr>
            <p:nvPr/>
          </p:nvCxnSpPr>
          <p:spPr>
            <a:xfrm flipH="1">
              <a:off x="7392711" y="2174978"/>
              <a:ext cx="546044" cy="209299"/>
            </a:xfrm>
            <a:prstGeom prst="straightConnector1">
              <a:avLst/>
            </a:prstGeom>
            <a:noFill/>
            <a:ln w="6350" cap="flat" cmpd="sng" algn="ctr">
              <a:solidFill>
                <a:sysClr val="windowText" lastClr="000000"/>
              </a:solidFill>
              <a:prstDash val="solid"/>
              <a:miter lim="800000"/>
              <a:tailEnd type="triangle"/>
            </a:ln>
            <a:effectLst/>
          </p:spPr>
        </p:cxnSp>
        <p:grpSp>
          <p:nvGrpSpPr>
            <p:cNvPr id="71" name="Group 70">
              <a:extLst>
                <a:ext uri="{FF2B5EF4-FFF2-40B4-BE49-F238E27FC236}">
                  <a16:creationId xmlns="" xmlns:a16="http://schemas.microsoft.com/office/drawing/2014/main" id="{A7C3D8DD-6021-5F44-B776-C5566A1AC939}"/>
                </a:ext>
              </a:extLst>
            </p:cNvPr>
            <p:cNvGrpSpPr/>
            <p:nvPr/>
          </p:nvGrpSpPr>
          <p:grpSpPr>
            <a:xfrm rot="5400000" flipV="1">
              <a:off x="7027519" y="2019084"/>
              <a:ext cx="209302" cy="521085"/>
              <a:chOff x="4885023" y="1789674"/>
              <a:chExt cx="803023" cy="763359"/>
            </a:xfrm>
          </p:grpSpPr>
          <p:cxnSp>
            <p:nvCxnSpPr>
              <p:cNvPr id="91" name="Straight Arrow Connector 90">
                <a:extLst>
                  <a:ext uri="{FF2B5EF4-FFF2-40B4-BE49-F238E27FC236}">
                    <a16:creationId xmlns="" xmlns:a16="http://schemas.microsoft.com/office/drawing/2014/main" id="{253FDEF4-3636-8443-A5FC-1868FD26D728}"/>
                  </a:ext>
                </a:extLst>
              </p:cNvPr>
              <p:cNvCxnSpPr/>
              <p:nvPr/>
            </p:nvCxnSpPr>
            <p:spPr>
              <a:xfrm rot="5400000" flipV="1">
                <a:off x="5073605" y="1938591"/>
                <a:ext cx="435490" cy="793393"/>
              </a:xfrm>
              <a:prstGeom prst="straightConnector1">
                <a:avLst/>
              </a:prstGeom>
              <a:noFill/>
              <a:ln w="6350" cap="flat" cmpd="sng" algn="ctr">
                <a:solidFill>
                  <a:sysClr val="windowText" lastClr="000000"/>
                </a:solidFill>
                <a:prstDash val="solid"/>
                <a:miter lim="800000"/>
                <a:tailEnd type="triangle"/>
              </a:ln>
              <a:effectLst/>
            </p:spPr>
          </p:cxnSp>
          <p:cxnSp>
            <p:nvCxnSpPr>
              <p:cNvPr id="92" name="Straight Arrow Connector 91">
                <a:extLst>
                  <a:ext uri="{FF2B5EF4-FFF2-40B4-BE49-F238E27FC236}">
                    <a16:creationId xmlns="" xmlns:a16="http://schemas.microsoft.com/office/drawing/2014/main" id="{AE28A4C5-9018-4D48-9F13-89E1C597D870}"/>
                  </a:ext>
                </a:extLst>
              </p:cNvPr>
              <p:cNvCxnSpPr>
                <a:stCxn id="62" idx="2"/>
              </p:cNvCxnSpPr>
              <p:nvPr/>
            </p:nvCxnSpPr>
            <p:spPr>
              <a:xfrm rot="5400000" flipV="1">
                <a:off x="4904855" y="1769842"/>
                <a:ext cx="763357" cy="803021"/>
              </a:xfrm>
              <a:prstGeom prst="straightConnector1">
                <a:avLst/>
              </a:prstGeom>
              <a:noFill/>
              <a:ln w="6350" cap="flat" cmpd="sng" algn="ctr">
                <a:solidFill>
                  <a:sysClr val="windowText" lastClr="000000"/>
                </a:solidFill>
                <a:prstDash val="solid"/>
                <a:miter lim="800000"/>
                <a:tailEnd type="triangle"/>
              </a:ln>
              <a:effectLst/>
            </p:spPr>
          </p:cxnSp>
        </p:grpSp>
        <p:cxnSp>
          <p:nvCxnSpPr>
            <p:cNvPr id="72" name="Straight Arrow Connector 71">
              <a:extLst>
                <a:ext uri="{FF2B5EF4-FFF2-40B4-BE49-F238E27FC236}">
                  <a16:creationId xmlns="" xmlns:a16="http://schemas.microsoft.com/office/drawing/2014/main" id="{E38EE8DD-9DC6-054E-B51B-7B144FAC75BC}"/>
                </a:ext>
              </a:extLst>
            </p:cNvPr>
            <p:cNvCxnSpPr/>
            <p:nvPr/>
          </p:nvCxnSpPr>
          <p:spPr>
            <a:xfrm rot="5400000">
              <a:off x="7309774" y="2554749"/>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3" name="Straight Arrow Connector 72">
              <a:extLst>
                <a:ext uri="{FF2B5EF4-FFF2-40B4-BE49-F238E27FC236}">
                  <a16:creationId xmlns="" xmlns:a16="http://schemas.microsoft.com/office/drawing/2014/main" id="{1CA23853-3FA5-AE4D-9FAC-9D46059F5686}"/>
                </a:ext>
              </a:extLst>
            </p:cNvPr>
            <p:cNvCxnSpPr/>
            <p:nvPr/>
          </p:nvCxnSpPr>
          <p:spPr>
            <a:xfrm rot="5400000">
              <a:off x="7419007" y="2445516"/>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4" name="Straight Arrow Connector 73">
              <a:extLst>
                <a:ext uri="{FF2B5EF4-FFF2-40B4-BE49-F238E27FC236}">
                  <a16:creationId xmlns="" xmlns:a16="http://schemas.microsoft.com/office/drawing/2014/main" id="{750BB14E-018A-9E44-8FE6-5394B72F7038}"/>
                </a:ext>
              </a:extLst>
            </p:cNvPr>
            <p:cNvCxnSpPr/>
            <p:nvPr/>
          </p:nvCxnSpPr>
          <p:spPr>
            <a:xfrm rot="5400000">
              <a:off x="7502386" y="2362136"/>
              <a:ext cx="151970" cy="385225"/>
            </a:xfrm>
            <a:prstGeom prst="straightConnector1">
              <a:avLst/>
            </a:prstGeom>
            <a:noFill/>
            <a:ln w="6350" cap="flat" cmpd="sng" algn="ctr">
              <a:solidFill>
                <a:sysClr val="windowText" lastClr="000000"/>
              </a:solidFill>
              <a:prstDash val="solid"/>
              <a:miter lim="800000"/>
              <a:tailEnd type="triangle"/>
            </a:ln>
            <a:effectLst/>
          </p:spPr>
        </p:cxnSp>
        <p:grpSp>
          <p:nvGrpSpPr>
            <p:cNvPr id="75" name="Group 74">
              <a:extLst>
                <a:ext uri="{FF2B5EF4-FFF2-40B4-BE49-F238E27FC236}">
                  <a16:creationId xmlns="" xmlns:a16="http://schemas.microsoft.com/office/drawing/2014/main" id="{A76988D8-AD9D-A847-99C0-A44F52D7B0AB}"/>
                </a:ext>
              </a:extLst>
            </p:cNvPr>
            <p:cNvGrpSpPr/>
            <p:nvPr/>
          </p:nvGrpSpPr>
          <p:grpSpPr>
            <a:xfrm rot="5400000" flipV="1">
              <a:off x="7117162" y="2362136"/>
              <a:ext cx="151970" cy="385225"/>
              <a:chOff x="5104983" y="1988699"/>
              <a:chExt cx="583063" cy="564332"/>
            </a:xfrm>
          </p:grpSpPr>
          <p:cxnSp>
            <p:nvCxnSpPr>
              <p:cNvPr id="89" name="Straight Arrow Connector 88">
                <a:extLst>
                  <a:ext uri="{FF2B5EF4-FFF2-40B4-BE49-F238E27FC236}">
                    <a16:creationId xmlns="" xmlns:a16="http://schemas.microsoft.com/office/drawing/2014/main" id="{1B7F84BD-39B2-F441-8D4C-6FEECE6DE29D}"/>
                  </a:ext>
                </a:extLst>
              </p:cNvPr>
              <p:cNvCxnSpPr/>
              <p:nvPr/>
            </p:nvCxnSpPr>
            <p:spPr>
              <a:xfrm>
                <a:off x="5104983" y="2232991"/>
                <a:ext cx="583063" cy="320040"/>
              </a:xfrm>
              <a:prstGeom prst="straightConnector1">
                <a:avLst/>
              </a:prstGeom>
              <a:noFill/>
              <a:ln w="6350" cap="flat" cmpd="sng" algn="ctr">
                <a:solidFill>
                  <a:sysClr val="windowText" lastClr="000000"/>
                </a:solidFill>
                <a:prstDash val="solid"/>
                <a:miter lim="800000"/>
                <a:tailEnd type="triangle"/>
              </a:ln>
              <a:effectLst/>
            </p:spPr>
          </p:cxnSp>
          <p:cxnSp>
            <p:nvCxnSpPr>
              <p:cNvPr id="90" name="Straight Arrow Connector 89">
                <a:extLst>
                  <a:ext uri="{FF2B5EF4-FFF2-40B4-BE49-F238E27FC236}">
                    <a16:creationId xmlns="" xmlns:a16="http://schemas.microsoft.com/office/drawing/2014/main" id="{8E5E5DB8-E4C8-1F4D-B23A-B67BC3A0F43B}"/>
                  </a:ext>
                </a:extLst>
              </p:cNvPr>
              <p:cNvCxnSpPr/>
              <p:nvPr/>
            </p:nvCxnSpPr>
            <p:spPr>
              <a:xfrm>
                <a:off x="5104983" y="1988699"/>
                <a:ext cx="583063" cy="564332"/>
              </a:xfrm>
              <a:prstGeom prst="straightConnector1">
                <a:avLst/>
              </a:prstGeom>
              <a:noFill/>
              <a:ln w="6350" cap="flat" cmpd="sng" algn="ctr">
                <a:solidFill>
                  <a:sysClr val="windowText" lastClr="000000"/>
                </a:solidFill>
                <a:prstDash val="solid"/>
                <a:miter lim="800000"/>
                <a:tailEnd type="triangle"/>
              </a:ln>
              <a:effectLst/>
            </p:spPr>
          </p:cxnSp>
        </p:grpSp>
        <p:cxnSp>
          <p:nvCxnSpPr>
            <p:cNvPr id="76" name="Straight Arrow Connector 75">
              <a:extLst>
                <a:ext uri="{FF2B5EF4-FFF2-40B4-BE49-F238E27FC236}">
                  <a16:creationId xmlns="" xmlns:a16="http://schemas.microsoft.com/office/drawing/2014/main" id="{5DEF899B-626E-874D-BB5F-C612E83AFD69}"/>
                </a:ext>
              </a:extLst>
            </p:cNvPr>
            <p:cNvCxnSpPr/>
            <p:nvPr/>
          </p:nvCxnSpPr>
          <p:spPr>
            <a:xfrm rot="5400000">
              <a:off x="7309774" y="2774394"/>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7" name="Straight Arrow Connector 76">
              <a:extLst>
                <a:ext uri="{FF2B5EF4-FFF2-40B4-BE49-F238E27FC236}">
                  <a16:creationId xmlns="" xmlns:a16="http://schemas.microsoft.com/office/drawing/2014/main" id="{F5A8D19C-FC95-744F-A270-35563EB30860}"/>
                </a:ext>
              </a:extLst>
            </p:cNvPr>
            <p:cNvCxnSpPr/>
            <p:nvPr/>
          </p:nvCxnSpPr>
          <p:spPr>
            <a:xfrm rot="5400000">
              <a:off x="7419007"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8" name="Straight Arrow Connector 77">
              <a:extLst>
                <a:ext uri="{FF2B5EF4-FFF2-40B4-BE49-F238E27FC236}">
                  <a16:creationId xmlns="" xmlns:a16="http://schemas.microsoft.com/office/drawing/2014/main" id="{B92E2B80-5FBB-674D-83D0-E3EA266865AC}"/>
                </a:ext>
              </a:extLst>
            </p:cNvPr>
            <p:cNvCxnSpPr/>
            <p:nvPr/>
          </p:nvCxnSpPr>
          <p:spPr>
            <a:xfrm rot="5400000" flipV="1">
              <a:off x="7200541"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9" name="Straight Arrow Connector 78">
              <a:extLst>
                <a:ext uri="{FF2B5EF4-FFF2-40B4-BE49-F238E27FC236}">
                  <a16:creationId xmlns="" xmlns:a16="http://schemas.microsoft.com/office/drawing/2014/main" id="{4D31B2A3-9CD3-924A-843A-468472D79C23}"/>
                </a:ext>
              </a:extLst>
            </p:cNvPr>
            <p:cNvCxnSpPr/>
            <p:nvPr/>
          </p:nvCxnSpPr>
          <p:spPr>
            <a:xfrm flipH="1">
              <a:off x="7406586" y="2184856"/>
              <a:ext cx="780427" cy="196323"/>
            </a:xfrm>
            <a:prstGeom prst="straightConnector1">
              <a:avLst/>
            </a:prstGeom>
            <a:noFill/>
            <a:ln w="6350" cap="flat" cmpd="sng" algn="ctr">
              <a:solidFill>
                <a:sysClr val="windowText" lastClr="000000"/>
              </a:solidFill>
              <a:prstDash val="solid"/>
              <a:miter lim="800000"/>
              <a:tailEnd type="triangle"/>
            </a:ln>
            <a:effectLst/>
          </p:spPr>
        </p:cxnSp>
        <p:sp>
          <p:nvSpPr>
            <p:cNvPr id="80" name="TextBox 79">
              <a:extLst>
                <a:ext uri="{FF2B5EF4-FFF2-40B4-BE49-F238E27FC236}">
                  <a16:creationId xmlns="" xmlns:a16="http://schemas.microsoft.com/office/drawing/2014/main" id="{95CF6EF2-0C49-DF4C-8BE9-65A4876943F8}"/>
                </a:ext>
              </a:extLst>
            </p:cNvPr>
            <p:cNvSpPr txBox="1"/>
            <p:nvPr/>
          </p:nvSpPr>
          <p:spPr>
            <a:xfrm>
              <a:off x="6052335" y="1996059"/>
              <a:ext cx="417386"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1" name="TextBox 80">
              <a:extLst>
                <a:ext uri="{FF2B5EF4-FFF2-40B4-BE49-F238E27FC236}">
                  <a16:creationId xmlns="" xmlns:a16="http://schemas.microsoft.com/office/drawing/2014/main" id="{E63D9937-0727-A84B-AF8A-8E321AF0CA6A}"/>
                </a:ext>
              </a:extLst>
            </p:cNvPr>
            <p:cNvSpPr txBox="1"/>
            <p:nvPr/>
          </p:nvSpPr>
          <p:spPr>
            <a:xfrm>
              <a:off x="6236397" y="2323492"/>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150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2" name="TextBox 81">
              <a:extLst>
                <a:ext uri="{FF2B5EF4-FFF2-40B4-BE49-F238E27FC236}">
                  <a16:creationId xmlns="" xmlns:a16="http://schemas.microsoft.com/office/drawing/2014/main" id="{87B045AE-4DDB-3148-8C46-360466075ADF}"/>
                </a:ext>
              </a:extLst>
            </p:cNvPr>
            <p:cNvSpPr txBox="1"/>
            <p:nvPr/>
          </p:nvSpPr>
          <p:spPr>
            <a:xfrm>
              <a:off x="8265838" y="1994270"/>
              <a:ext cx="41676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3" name="TextBox 82">
              <a:extLst>
                <a:ext uri="{FF2B5EF4-FFF2-40B4-BE49-F238E27FC236}">
                  <a16:creationId xmlns="" xmlns:a16="http://schemas.microsoft.com/office/drawing/2014/main" id="{E51141DA-68BD-CC41-88C3-E8337AB63830}"/>
                </a:ext>
              </a:extLst>
            </p:cNvPr>
            <p:cNvSpPr txBox="1"/>
            <p:nvPr/>
          </p:nvSpPr>
          <p:spPr>
            <a:xfrm>
              <a:off x="6535802" y="2562365"/>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45</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4" name="TextBox 83">
              <a:extLst>
                <a:ext uri="{FF2B5EF4-FFF2-40B4-BE49-F238E27FC236}">
                  <a16:creationId xmlns="" xmlns:a16="http://schemas.microsoft.com/office/drawing/2014/main" id="{C9EFB4BC-8C4E-A24E-835E-F6516B2468E9}"/>
                </a:ext>
              </a:extLst>
            </p:cNvPr>
            <p:cNvSpPr txBox="1"/>
            <p:nvPr/>
          </p:nvSpPr>
          <p:spPr>
            <a:xfrm>
              <a:off x="6447163" y="1528708"/>
              <a:ext cx="1954921"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Siamese network trained on </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TemProb</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86" name="TextBox 85">
              <a:extLst>
                <a:ext uri="{FF2B5EF4-FFF2-40B4-BE49-F238E27FC236}">
                  <a16:creationId xmlns="" xmlns:a16="http://schemas.microsoft.com/office/drawing/2014/main" id="{D384117C-7C05-E84C-990C-039044BE48DB}"/>
                </a:ext>
              </a:extLst>
            </p:cNvPr>
            <p:cNvSpPr txBox="1"/>
            <p:nvPr/>
          </p:nvSpPr>
          <p:spPr>
            <a:xfrm>
              <a:off x="7694098" y="2210184"/>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sp>
          <p:nvSpPr>
            <p:cNvPr id="87" name="TextBox 86">
              <a:extLst>
                <a:ext uri="{FF2B5EF4-FFF2-40B4-BE49-F238E27FC236}">
                  <a16:creationId xmlns="" xmlns:a16="http://schemas.microsoft.com/office/drawing/2014/main" id="{ADE0FB66-27C1-1941-B7A5-821FE19BB2C4}"/>
                </a:ext>
              </a:extLst>
            </p:cNvPr>
            <p:cNvSpPr txBox="1"/>
            <p:nvPr/>
          </p:nvSpPr>
          <p:spPr>
            <a:xfrm>
              <a:off x="7582284" y="2454827"/>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cxnSp>
          <p:nvCxnSpPr>
            <p:cNvPr id="88" name="Straight Arrow Connector 87">
              <a:extLst>
                <a:ext uri="{FF2B5EF4-FFF2-40B4-BE49-F238E27FC236}">
                  <a16:creationId xmlns="" xmlns:a16="http://schemas.microsoft.com/office/drawing/2014/main" id="{6D7772DF-2D47-2944-826A-669549E2F806}"/>
                </a:ext>
              </a:extLst>
            </p:cNvPr>
            <p:cNvCxnSpPr/>
            <p:nvPr/>
          </p:nvCxnSpPr>
          <p:spPr>
            <a:xfrm>
              <a:off x="6539013" y="2173346"/>
              <a:ext cx="835052" cy="210064"/>
            </a:xfrm>
            <a:prstGeom prst="straightConnector1">
              <a:avLst/>
            </a:prstGeom>
            <a:noFill/>
            <a:ln w="6350" cap="flat" cmpd="sng" algn="ctr">
              <a:solidFill>
                <a:sysClr val="windowText" lastClr="000000"/>
              </a:solidFill>
              <a:prstDash val="solid"/>
              <a:miter lim="800000"/>
              <a:tailEnd type="triangle"/>
            </a:ln>
            <a:effectLst/>
          </p:spPr>
        </p:cxnSp>
      </p:grpSp>
      <p:sp>
        <p:nvSpPr>
          <p:cNvPr id="97" name="TextBox 96">
            <a:extLst>
              <a:ext uri="{FF2B5EF4-FFF2-40B4-BE49-F238E27FC236}">
                <a16:creationId xmlns="" xmlns:a16="http://schemas.microsoft.com/office/drawing/2014/main" id="{4D4C5454-AA8D-2345-9F7C-7EAC764BABD7}"/>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98" name="TextBox 97">
            <a:extLst>
              <a:ext uri="{FF2B5EF4-FFF2-40B4-BE49-F238E27FC236}">
                <a16:creationId xmlns="" xmlns:a16="http://schemas.microsoft.com/office/drawing/2014/main" id="{6DD65844-F3A1-7F41-858B-5DD543918C2E}"/>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Siamese network is a generalized </a:t>
            </a:r>
            <a:r>
              <a:rPr lang="en-US" sz="2000" b="1" dirty="0" err="1">
                <a:solidFill>
                  <a:schemeClr val="bg2"/>
                </a:solidFill>
                <a:latin typeface="Century Gothic" panose="020B0502020202020204" pitchFamily="34" charset="0"/>
              </a:rPr>
              <a:t>TemProb</a:t>
            </a:r>
            <a:endParaRPr lang="en-US" sz="2000" b="1" dirty="0">
              <a:solidFill>
                <a:schemeClr val="bg2"/>
              </a:solidFill>
              <a:latin typeface="Century Gothic" panose="020B0502020202020204" pitchFamily="34" charset="0"/>
            </a:endParaRPr>
          </a:p>
        </p:txBody>
      </p:sp>
      <p:sp>
        <p:nvSpPr>
          <p:cNvPr id="93" name="TextBox 92">
            <a:extLst>
              <a:ext uri="{FF2B5EF4-FFF2-40B4-BE49-F238E27FC236}">
                <a16:creationId xmlns="" xmlns:a16="http://schemas.microsoft.com/office/drawing/2014/main" id="{7A918F35-1946-1E41-BC79-7251CE85C63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765417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a:extLst>
              <a:ext uri="{FF2B5EF4-FFF2-40B4-BE49-F238E27FC236}">
                <a16:creationId xmlns="" xmlns:a16="http://schemas.microsoft.com/office/drawing/2014/main" id="{7DC20B6A-F75D-1148-8BC0-C100E4FA2229}"/>
              </a:ext>
            </a:extLst>
          </p:cNvPr>
          <p:cNvSpPr/>
          <p:nvPr/>
        </p:nvSpPr>
        <p:spPr>
          <a:xfrm>
            <a:off x="266700" y="3750327"/>
            <a:ext cx="4722256" cy="2087398"/>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49" name="Rectangle 148">
            <a:extLst>
              <a:ext uri="{FF2B5EF4-FFF2-40B4-BE49-F238E27FC236}">
                <a16:creationId xmlns="" xmlns:a16="http://schemas.microsoft.com/office/drawing/2014/main" id="{8B1E2EAE-5545-5640-8516-928AFDAE73FD}"/>
              </a:ext>
            </a:extLst>
          </p:cNvPr>
          <p:cNvSpPr/>
          <p:nvPr/>
        </p:nvSpPr>
        <p:spPr>
          <a:xfrm>
            <a:off x="6085302" y="3594646"/>
            <a:ext cx="2597303" cy="2243079"/>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2" name="Group 1"/>
          <p:cNvGrpSpPr/>
          <p:nvPr/>
        </p:nvGrpSpPr>
        <p:grpSpPr>
          <a:xfrm>
            <a:off x="364410" y="4133475"/>
            <a:ext cx="4626667" cy="1678639"/>
            <a:chOff x="364410" y="4133475"/>
            <a:chExt cx="4626667" cy="1678639"/>
          </a:xfrm>
        </p:grpSpPr>
        <p:sp>
          <p:nvSpPr>
            <p:cNvPr id="13" name="TextBox 12">
              <a:extLst>
                <a:ext uri="{FF2B5EF4-FFF2-40B4-BE49-F238E27FC236}">
                  <a16:creationId xmlns="" xmlns:a16="http://schemas.microsoft.com/office/drawing/2014/main" id="{57FAABF5-FCFF-FD47-889B-36412271B4D9}"/>
                </a:ext>
              </a:extLst>
            </p:cNvPr>
            <p:cNvSpPr txBox="1"/>
            <p:nvPr/>
          </p:nvSpPr>
          <p:spPr>
            <a:xfrm>
              <a:off x="364410" y="5550504"/>
              <a:ext cx="462666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LSTM w/ concatenations of two hidden states</a:t>
              </a:r>
            </a:p>
          </p:txBody>
        </p:sp>
        <p:sp>
          <p:nvSpPr>
            <p:cNvPr id="14" name="Rectangle 13">
              <a:extLst>
                <a:ext uri="{FF2B5EF4-FFF2-40B4-BE49-F238E27FC236}">
                  <a16:creationId xmlns="" xmlns:a16="http://schemas.microsoft.com/office/drawing/2014/main" id="{71505336-B73F-ED4D-9DB9-3F6F4E958A0E}"/>
                </a:ext>
              </a:extLst>
            </p:cNvPr>
            <p:cNvSpPr/>
            <p:nvPr/>
          </p:nvSpPr>
          <p:spPr>
            <a:xfrm>
              <a:off x="1644998" y="4133475"/>
              <a:ext cx="2150931" cy="551983"/>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ourier" charset="0"/>
                  <a:ea typeface="Courier" charset="0"/>
                  <a:cs typeface="Courier" charset="0"/>
                </a:rPr>
                <a:t>LSTM</a:t>
              </a:r>
            </a:p>
          </p:txBody>
        </p:sp>
        <p:sp>
          <p:nvSpPr>
            <p:cNvPr id="15" name="Rectangle 14">
              <a:extLst>
                <a:ext uri="{FF2B5EF4-FFF2-40B4-BE49-F238E27FC236}">
                  <a16:creationId xmlns="" xmlns:a16="http://schemas.microsoft.com/office/drawing/2014/main" id="{37EE7DC9-402A-E649-8450-ADB67AE946ED}"/>
                </a:ext>
              </a:extLst>
            </p:cNvPr>
            <p:cNvSpPr/>
            <p:nvPr/>
          </p:nvSpPr>
          <p:spPr>
            <a:xfrm flipH="1">
              <a:off x="179510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 xmlns:a16="http://schemas.microsoft.com/office/drawing/2014/main" id="{A5BE672E-97BB-DB4A-B9AA-A00EC9D2D12A}"/>
                </a:ext>
              </a:extLst>
            </p:cNvPr>
            <p:cNvCxnSpPr>
              <a:stCxn id="15" idx="0"/>
            </p:cNvCxnSpPr>
            <p:nvPr/>
          </p:nvCxnSpPr>
          <p:spPr>
            <a:xfrm flipV="1">
              <a:off x="1832316"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7" name="Rectangle 16">
              <a:extLst>
                <a:ext uri="{FF2B5EF4-FFF2-40B4-BE49-F238E27FC236}">
                  <a16:creationId xmlns="" xmlns:a16="http://schemas.microsoft.com/office/drawing/2014/main" id="{A638AB4B-8D15-6E49-AC1F-8094368CC28C}"/>
                </a:ext>
              </a:extLst>
            </p:cNvPr>
            <p:cNvSpPr/>
            <p:nvPr/>
          </p:nvSpPr>
          <p:spPr>
            <a:xfrm flipH="1">
              <a:off x="2085824"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 xmlns:a16="http://schemas.microsoft.com/office/drawing/2014/main" id="{AA8F34D5-FD04-AA46-84E4-F521D9AD2E58}"/>
                </a:ext>
              </a:extLst>
            </p:cNvPr>
            <p:cNvCxnSpPr>
              <a:stCxn id="17" idx="0"/>
            </p:cNvCxnSpPr>
            <p:nvPr/>
          </p:nvCxnSpPr>
          <p:spPr>
            <a:xfrm flipV="1">
              <a:off x="2123034"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19" name="Rectangle 18">
              <a:extLst>
                <a:ext uri="{FF2B5EF4-FFF2-40B4-BE49-F238E27FC236}">
                  <a16:creationId xmlns="" xmlns:a16="http://schemas.microsoft.com/office/drawing/2014/main" id="{0CBCAED4-EC87-334B-8A0F-372205831836}"/>
                </a:ext>
              </a:extLst>
            </p:cNvPr>
            <p:cNvSpPr/>
            <p:nvPr/>
          </p:nvSpPr>
          <p:spPr>
            <a:xfrm flipH="1">
              <a:off x="2367991"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 xmlns:a16="http://schemas.microsoft.com/office/drawing/2014/main" id="{433F8AF9-C877-D14C-9693-2041753C6D14}"/>
                </a:ext>
              </a:extLst>
            </p:cNvPr>
            <p:cNvCxnSpPr>
              <a:stCxn id="19" idx="0"/>
            </p:cNvCxnSpPr>
            <p:nvPr/>
          </p:nvCxnSpPr>
          <p:spPr>
            <a:xfrm flipV="1">
              <a:off x="2405202"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1" name="Rectangle 20">
              <a:extLst>
                <a:ext uri="{FF2B5EF4-FFF2-40B4-BE49-F238E27FC236}">
                  <a16:creationId xmlns="" xmlns:a16="http://schemas.microsoft.com/office/drawing/2014/main" id="{2FCB6297-337C-CE4E-AD03-C52E209019D6}"/>
                </a:ext>
              </a:extLst>
            </p:cNvPr>
            <p:cNvSpPr/>
            <p:nvPr/>
          </p:nvSpPr>
          <p:spPr>
            <a:xfrm flipH="1">
              <a:off x="3590716" y="4913948"/>
              <a:ext cx="74421" cy="499351"/>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Arrow Connector 21">
              <a:extLst>
                <a:ext uri="{FF2B5EF4-FFF2-40B4-BE49-F238E27FC236}">
                  <a16:creationId xmlns="" xmlns:a16="http://schemas.microsoft.com/office/drawing/2014/main" id="{830D6567-A8F6-6248-97CF-49F1B93FE54F}"/>
                </a:ext>
              </a:extLst>
            </p:cNvPr>
            <p:cNvCxnSpPr>
              <a:stCxn id="21" idx="0"/>
            </p:cNvCxnSpPr>
            <p:nvPr/>
          </p:nvCxnSpPr>
          <p:spPr>
            <a:xfrm flipV="1">
              <a:off x="3627927" y="4682773"/>
              <a:ext cx="0" cy="231175"/>
            </a:xfrm>
            <a:prstGeom prst="straightConnector1">
              <a:avLst/>
            </a:prstGeom>
            <a:noFill/>
            <a:ln w="6350" cap="flat" cmpd="sng" algn="ctr">
              <a:solidFill>
                <a:sysClr val="windowText" lastClr="000000"/>
              </a:solidFill>
              <a:prstDash val="solid"/>
              <a:miter lim="800000"/>
              <a:tailEnd type="triangle"/>
            </a:ln>
            <a:effectLst/>
          </p:spPr>
        </p:cxnSp>
        <p:sp>
          <p:nvSpPr>
            <p:cNvPr id="23" name="TextBox 22">
              <a:extLst>
                <a:ext uri="{FF2B5EF4-FFF2-40B4-BE49-F238E27FC236}">
                  <a16:creationId xmlns="" xmlns:a16="http://schemas.microsoft.com/office/drawing/2014/main" id="{E4E50330-C745-154D-B316-011EFB5E0319}"/>
                </a:ext>
              </a:extLst>
            </p:cNvPr>
            <p:cNvSpPr txBox="1"/>
            <p:nvPr/>
          </p:nvSpPr>
          <p:spPr>
            <a:xfrm>
              <a:off x="1728588" y="5358199"/>
              <a:ext cx="2117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0  </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t</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t</a:t>
              </a:r>
              <a:r>
                <a:rPr kumimoji="0" lang="en-US" sz="900" b="0" i="0" u="none" strike="noStrike" kern="0" cap="none" spc="0" normalizeH="0" baseline="-25000" noProof="0" dirty="0" err="1">
                  <a:ln>
                    <a:noFill/>
                  </a:ln>
                  <a:solidFill>
                    <a:prstClr val="black"/>
                  </a:solidFill>
                  <a:effectLst/>
                  <a:uLnTx/>
                  <a:uFillTx/>
                  <a:latin typeface="Courier" charset="0"/>
                  <a:ea typeface="Courier" charset="0"/>
                  <a:cs typeface="Courier" charset="0"/>
                </a:rPr>
                <a:t>n</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grpSp>
        <p:nvGrpSpPr>
          <p:cNvPr id="6" name="Group 5">
            <a:extLst>
              <a:ext uri="{FF2B5EF4-FFF2-40B4-BE49-F238E27FC236}">
                <a16:creationId xmlns="" xmlns:a16="http://schemas.microsoft.com/office/drawing/2014/main" id="{26D87E97-3BAE-7B41-B4F9-069C739F3649}"/>
              </a:ext>
            </a:extLst>
          </p:cNvPr>
          <p:cNvGrpSpPr/>
          <p:nvPr/>
        </p:nvGrpSpPr>
        <p:grpSpPr>
          <a:xfrm>
            <a:off x="25167" y="228600"/>
            <a:ext cx="8268132" cy="533400"/>
            <a:chOff x="25167" y="228600"/>
            <a:chExt cx="8268132" cy="533400"/>
          </a:xfrm>
        </p:grpSpPr>
        <p:sp>
          <p:nvSpPr>
            <p:cNvPr id="31" name="Title 240">
              <a:extLst>
                <a:ext uri="{FF2B5EF4-FFF2-40B4-BE49-F238E27FC236}">
                  <a16:creationId xmlns="" xmlns:a16="http://schemas.microsoft.com/office/drawing/2014/main" id="{AA93E823-DA84-874F-B363-44CB4E9BEBEB}"/>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32" name="TextBox 31">
              <a:extLst>
                <a:ext uri="{FF2B5EF4-FFF2-40B4-BE49-F238E27FC236}">
                  <a16:creationId xmlns="" xmlns:a16="http://schemas.microsoft.com/office/drawing/2014/main" id="{5B99ECFE-A883-EB43-A634-E217003C5621}"/>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grpSp>
        <p:nvGrpSpPr>
          <p:cNvPr id="26" name="Group 25">
            <a:extLst>
              <a:ext uri="{FF2B5EF4-FFF2-40B4-BE49-F238E27FC236}">
                <a16:creationId xmlns="" xmlns:a16="http://schemas.microsoft.com/office/drawing/2014/main" id="{B2EA2C41-6AF5-3C48-9C9E-8CA8347D0572}"/>
              </a:ext>
            </a:extLst>
          </p:cNvPr>
          <p:cNvGrpSpPr/>
          <p:nvPr/>
        </p:nvGrpSpPr>
        <p:grpSpPr>
          <a:xfrm>
            <a:off x="2057545" y="3610478"/>
            <a:ext cx="5367078" cy="1941686"/>
            <a:chOff x="2057545" y="3610478"/>
            <a:chExt cx="5367078" cy="1941686"/>
          </a:xfrm>
        </p:grpSpPr>
        <p:sp>
          <p:nvSpPr>
            <p:cNvPr id="29" name="TextBox 28">
              <a:extLst>
                <a:ext uri="{FF2B5EF4-FFF2-40B4-BE49-F238E27FC236}">
                  <a16:creationId xmlns="" xmlns:a16="http://schemas.microsoft.com/office/drawing/2014/main" id="{1BEC9E07-A852-BA4B-8E8B-338457D1F3D8}"/>
                </a:ext>
              </a:extLst>
            </p:cNvPr>
            <p:cNvSpPr txBox="1"/>
            <p:nvPr/>
          </p:nvSpPr>
          <p:spPr>
            <a:xfrm>
              <a:off x="6760755" y="4836033"/>
              <a:ext cx="419602"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e2</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33" name="TextBox 32">
              <a:extLst>
                <a:ext uri="{FF2B5EF4-FFF2-40B4-BE49-F238E27FC236}">
                  <a16:creationId xmlns="" xmlns:a16="http://schemas.microsoft.com/office/drawing/2014/main" id="{DE29157F-628A-FF42-9411-894779B8745A}"/>
                </a:ext>
              </a:extLst>
            </p:cNvPr>
            <p:cNvSpPr txBox="1"/>
            <p:nvPr/>
          </p:nvSpPr>
          <p:spPr>
            <a:xfrm>
              <a:off x="6694541" y="3610478"/>
              <a:ext cx="504663" cy="276999"/>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rPr>
                <a:t>h</a:t>
              </a:r>
              <a:r>
                <a:rPr kumimoji="0" lang="en-US" sz="1200" b="0" i="0" u="none" strike="noStrike" kern="0" cap="none" spc="0" normalizeH="0" baseline="-25000" noProof="0" dirty="0">
                  <a:ln>
                    <a:noFill/>
                  </a:ln>
                  <a:solidFill>
                    <a:prstClr val="black"/>
                  </a:solidFill>
                  <a:effectLst/>
                  <a:uLnTx/>
                  <a:uFillTx/>
                  <a:latin typeface="Courier" charset="0"/>
                  <a:ea typeface="Courier" charset="0"/>
                  <a:cs typeface="Courier" charset="0"/>
                </a:rPr>
                <a:t>e1</a:t>
              </a:r>
              <a:endParaRPr kumimoji="0" lang="en-US" sz="12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grpSp>
          <p:nvGrpSpPr>
            <p:cNvPr id="34" name="Group 33">
              <a:extLst>
                <a:ext uri="{FF2B5EF4-FFF2-40B4-BE49-F238E27FC236}">
                  <a16:creationId xmlns="" xmlns:a16="http://schemas.microsoft.com/office/drawing/2014/main" id="{A0302575-CEDA-9349-A079-636F7474C069}"/>
                </a:ext>
              </a:extLst>
            </p:cNvPr>
            <p:cNvGrpSpPr/>
            <p:nvPr/>
          </p:nvGrpSpPr>
          <p:grpSpPr>
            <a:xfrm>
              <a:off x="2057545" y="3849696"/>
              <a:ext cx="5367078" cy="1702468"/>
              <a:chOff x="2057545" y="3849696"/>
              <a:chExt cx="5367078" cy="1702468"/>
            </a:xfrm>
          </p:grpSpPr>
          <p:grpSp>
            <p:nvGrpSpPr>
              <p:cNvPr id="35" name="Group 34">
                <a:extLst>
                  <a:ext uri="{FF2B5EF4-FFF2-40B4-BE49-F238E27FC236}">
                    <a16:creationId xmlns="" xmlns:a16="http://schemas.microsoft.com/office/drawing/2014/main" id="{AB9776E4-A930-2446-A717-466A63D170EF}"/>
                  </a:ext>
                </a:extLst>
              </p:cNvPr>
              <p:cNvGrpSpPr/>
              <p:nvPr/>
            </p:nvGrpSpPr>
            <p:grpSpPr>
              <a:xfrm>
                <a:off x="2057545" y="3898229"/>
                <a:ext cx="5235488" cy="1230841"/>
                <a:chOff x="2057545" y="3898229"/>
                <a:chExt cx="5235488" cy="1230841"/>
              </a:xfrm>
            </p:grpSpPr>
            <p:sp>
              <p:nvSpPr>
                <p:cNvPr id="40" name="Bent-Up Arrow 39">
                  <a:extLst>
                    <a:ext uri="{FF2B5EF4-FFF2-40B4-BE49-F238E27FC236}">
                      <a16:creationId xmlns="" xmlns:a16="http://schemas.microsoft.com/office/drawing/2014/main" id="{749B142F-A334-F24A-BD28-5CDEB0D3E081}"/>
                    </a:ext>
                  </a:extLst>
                </p:cNvPr>
                <p:cNvSpPr/>
                <p:nvPr/>
              </p:nvSpPr>
              <p:spPr>
                <a:xfrm rot="5400000" flipH="1">
                  <a:off x="4552793" y="1402981"/>
                  <a:ext cx="233389" cy="5223885"/>
                </a:xfrm>
                <a:prstGeom prst="bentUpArrow">
                  <a:avLst>
                    <a:gd name="adj1" fmla="val 0"/>
                    <a:gd name="adj2" fmla="val 6756"/>
                    <a:gd name="adj3" fmla="val 20135"/>
                  </a:avLst>
                </a:prstGeom>
                <a:solidFill>
                  <a:sysClr val="windowText" lastClr="000000"/>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1" name="Group 40">
                  <a:extLst>
                    <a:ext uri="{FF2B5EF4-FFF2-40B4-BE49-F238E27FC236}">
                      <a16:creationId xmlns="" xmlns:a16="http://schemas.microsoft.com/office/drawing/2014/main" id="{7B085608-A053-AB45-8FF0-99A30FAA0AAC}"/>
                    </a:ext>
                  </a:extLst>
                </p:cNvPr>
                <p:cNvGrpSpPr/>
                <p:nvPr/>
              </p:nvGrpSpPr>
              <p:grpSpPr>
                <a:xfrm>
                  <a:off x="3132702" y="4071242"/>
                  <a:ext cx="4160331" cy="1057828"/>
                  <a:chOff x="4427129" y="4129048"/>
                  <a:chExt cx="2314332" cy="1597344"/>
                </a:xfrm>
              </p:grpSpPr>
              <p:cxnSp>
                <p:nvCxnSpPr>
                  <p:cNvPr id="42" name="Elbow Connector 41">
                    <a:extLst>
                      <a:ext uri="{FF2B5EF4-FFF2-40B4-BE49-F238E27FC236}">
                        <a16:creationId xmlns="" xmlns:a16="http://schemas.microsoft.com/office/drawing/2014/main" id="{C01802C8-6206-BC4C-A5A9-203286F39FE6}"/>
                      </a:ext>
                    </a:extLst>
                  </p:cNvPr>
                  <p:cNvCxnSpPr>
                    <a:endCxn id="36" idx="3"/>
                  </p:cNvCxnSpPr>
                  <p:nvPr/>
                </p:nvCxnSpPr>
                <p:spPr>
                  <a:xfrm>
                    <a:off x="4427134" y="4129048"/>
                    <a:ext cx="2314327" cy="1597344"/>
                  </a:xfrm>
                  <a:prstGeom prst="bentConnector3">
                    <a:avLst>
                      <a:gd name="adj1" fmla="val 50000"/>
                    </a:avLst>
                  </a:prstGeom>
                  <a:noFill/>
                  <a:ln w="6350" cap="flat" cmpd="sng" algn="ctr">
                    <a:solidFill>
                      <a:sysClr val="windowText" lastClr="000000"/>
                    </a:solidFill>
                    <a:prstDash val="solid"/>
                    <a:miter lim="800000"/>
                    <a:tailEnd type="triangle"/>
                  </a:ln>
                  <a:effectLst/>
                </p:spPr>
              </p:cxnSp>
              <p:cxnSp>
                <p:nvCxnSpPr>
                  <p:cNvPr id="43" name="Straight Arrow Connector 42">
                    <a:extLst>
                      <a:ext uri="{FF2B5EF4-FFF2-40B4-BE49-F238E27FC236}">
                        <a16:creationId xmlns="" xmlns:a16="http://schemas.microsoft.com/office/drawing/2014/main" id="{B92FE208-41D5-5D4A-BAB8-40C2E2771D8B}"/>
                      </a:ext>
                    </a:extLst>
                  </p:cNvPr>
                  <p:cNvCxnSpPr/>
                  <p:nvPr/>
                </p:nvCxnSpPr>
                <p:spPr>
                  <a:xfrm flipH="1">
                    <a:off x="4427129" y="4129049"/>
                    <a:ext cx="1" cy="91140"/>
                  </a:xfrm>
                  <a:prstGeom prst="straightConnector1">
                    <a:avLst/>
                  </a:prstGeom>
                  <a:noFill/>
                  <a:ln w="6350" cap="flat" cmpd="sng" algn="ctr">
                    <a:solidFill>
                      <a:sysClr val="windowText" lastClr="000000"/>
                    </a:solidFill>
                    <a:prstDash val="solid"/>
                    <a:miter lim="800000"/>
                    <a:headEnd type="none" w="med" len="med"/>
                    <a:tailEnd type="none" w="med" len="med"/>
                  </a:ln>
                  <a:effectLst/>
                </p:spPr>
              </p:cxnSp>
            </p:grpSp>
          </p:grpSp>
          <p:sp>
            <p:nvSpPr>
              <p:cNvPr id="36" name="Rectangle 35">
                <a:extLst>
                  <a:ext uri="{FF2B5EF4-FFF2-40B4-BE49-F238E27FC236}">
                    <a16:creationId xmlns="" xmlns:a16="http://schemas.microsoft.com/office/drawing/2014/main" id="{0B3BECAF-7BD3-5D4B-9177-97F9B0A52872}"/>
                  </a:ext>
                </a:extLst>
              </p:cNvPr>
              <p:cNvSpPr/>
              <p:nvPr/>
            </p:nvSpPr>
            <p:spPr>
              <a:xfrm flipH="1">
                <a:off x="7293026" y="4705974"/>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 xmlns:a16="http://schemas.microsoft.com/office/drawing/2014/main" id="{47010FEE-D80A-FA4A-B4BE-9CD20B7A1982}"/>
                  </a:ext>
                </a:extLst>
              </p:cNvPr>
              <p:cNvSpPr/>
              <p:nvPr/>
            </p:nvSpPr>
            <p:spPr>
              <a:xfrm flipH="1">
                <a:off x="7293026" y="3849696"/>
                <a:ext cx="74421" cy="846190"/>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8" name="TextBox 37">
                <a:extLst>
                  <a:ext uri="{FF2B5EF4-FFF2-40B4-BE49-F238E27FC236}">
                    <a16:creationId xmlns="" xmlns:a16="http://schemas.microsoft.com/office/drawing/2014/main" id="{6AD0BF0A-16AB-484F-AD99-790A9004BEC1}"/>
                  </a:ext>
                </a:extLst>
              </p:cNvPr>
              <p:cNvSpPr txBox="1"/>
              <p:nvPr/>
            </p:nvSpPr>
            <p:spPr>
              <a:xfrm>
                <a:off x="6909405" y="4057607"/>
                <a:ext cx="45852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39" name="TextBox 38">
                <a:extLst>
                  <a:ext uri="{FF2B5EF4-FFF2-40B4-BE49-F238E27FC236}">
                    <a16:creationId xmlns="" xmlns:a16="http://schemas.microsoft.com/office/drawing/2014/main" id="{3314052D-A997-F24F-BF1C-AE0FE3EFBBB6}"/>
                  </a:ext>
                </a:extLst>
              </p:cNvPr>
              <p:cNvSpPr txBox="1"/>
              <p:nvPr/>
            </p:nvSpPr>
            <p:spPr>
              <a:xfrm>
                <a:off x="6870296" y="5186806"/>
                <a:ext cx="55432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128</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grpSp>
      <p:grpSp>
        <p:nvGrpSpPr>
          <p:cNvPr id="3" name="Group 2">
            <a:extLst>
              <a:ext uri="{FF2B5EF4-FFF2-40B4-BE49-F238E27FC236}">
                <a16:creationId xmlns="" xmlns:a16="http://schemas.microsoft.com/office/drawing/2014/main" id="{DEC33DAE-30F8-A04B-8EF4-B1D608A85D13}"/>
              </a:ext>
            </a:extLst>
          </p:cNvPr>
          <p:cNvGrpSpPr/>
          <p:nvPr/>
        </p:nvGrpSpPr>
        <p:grpSpPr>
          <a:xfrm>
            <a:off x="7371689" y="4132189"/>
            <a:ext cx="1374279" cy="1321620"/>
            <a:chOff x="7371689" y="4132189"/>
            <a:chExt cx="1374279" cy="1321620"/>
          </a:xfrm>
        </p:grpSpPr>
        <p:sp>
          <p:nvSpPr>
            <p:cNvPr id="44" name="Rectangle 43">
              <a:extLst>
                <a:ext uri="{FF2B5EF4-FFF2-40B4-BE49-F238E27FC236}">
                  <a16:creationId xmlns="" xmlns:a16="http://schemas.microsoft.com/office/drawing/2014/main" id="{4912E571-EF04-BA48-AC5B-4190A38E37DF}"/>
                </a:ext>
              </a:extLst>
            </p:cNvPr>
            <p:cNvSpPr/>
            <p:nvPr/>
          </p:nvSpPr>
          <p:spPr>
            <a:xfrm flipH="1">
              <a:off x="7769699" y="4535844"/>
              <a:ext cx="81145" cy="436932"/>
            </a:xfrm>
            <a:prstGeom prst="rect">
              <a:avLst/>
            </a:prstGeom>
            <a:solidFill>
              <a:srgbClr val="FFC000">
                <a:lumMod val="60000"/>
                <a:lumOff val="4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 xmlns:a16="http://schemas.microsoft.com/office/drawing/2014/main" id="{E711711B-62C7-0542-9FBC-FB81C8C9D01D}"/>
                </a:ext>
              </a:extLst>
            </p:cNvPr>
            <p:cNvSpPr>
              <a:spLocks/>
            </p:cNvSpPr>
            <p:nvPr/>
          </p:nvSpPr>
          <p:spPr>
            <a:xfrm flipH="1">
              <a:off x="8247848" y="4607761"/>
              <a:ext cx="69066" cy="317429"/>
            </a:xfrm>
            <a:prstGeom prst="rect">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6" name="Straight Arrow Connector 45">
              <a:extLst>
                <a:ext uri="{FF2B5EF4-FFF2-40B4-BE49-F238E27FC236}">
                  <a16:creationId xmlns="" xmlns:a16="http://schemas.microsoft.com/office/drawing/2014/main" id="{AF419D41-88D0-EE4A-AFCB-1027DD05071D}"/>
                </a:ext>
              </a:extLst>
            </p:cNvPr>
            <p:cNvCxnSpPr/>
            <p:nvPr/>
          </p:nvCxnSpPr>
          <p:spPr>
            <a:xfrm>
              <a:off x="7849238" y="4764357"/>
              <a:ext cx="398613" cy="0"/>
            </a:xfrm>
            <a:prstGeom prst="straightConnector1">
              <a:avLst/>
            </a:prstGeom>
            <a:noFill/>
            <a:ln w="6350" cap="flat" cmpd="sng" algn="ctr">
              <a:solidFill>
                <a:sysClr val="windowText" lastClr="000000"/>
              </a:solidFill>
              <a:prstDash val="solid"/>
              <a:miter lim="800000"/>
              <a:tailEnd type="triangle"/>
            </a:ln>
            <a:effectLst/>
          </p:spPr>
        </p:cxnSp>
        <p:cxnSp>
          <p:nvCxnSpPr>
            <p:cNvPr id="47" name="Straight Arrow Connector 46">
              <a:extLst>
                <a:ext uri="{FF2B5EF4-FFF2-40B4-BE49-F238E27FC236}">
                  <a16:creationId xmlns="" xmlns:a16="http://schemas.microsoft.com/office/drawing/2014/main" id="{34504C94-7403-FB40-AD9B-B6EC34AA22FD}"/>
                </a:ext>
              </a:extLst>
            </p:cNvPr>
            <p:cNvCxnSpPr>
              <a:endCxn id="44" idx="3"/>
            </p:cNvCxnSpPr>
            <p:nvPr/>
          </p:nvCxnSpPr>
          <p:spPr>
            <a:xfrm>
              <a:off x="7371689" y="4535844"/>
              <a:ext cx="39801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48" name="Straight Arrow Connector 47">
              <a:extLst>
                <a:ext uri="{FF2B5EF4-FFF2-40B4-BE49-F238E27FC236}">
                  <a16:creationId xmlns="" xmlns:a16="http://schemas.microsoft.com/office/drawing/2014/main" id="{B689A6C0-9A68-B54B-9BB5-37FF5D0FB441}"/>
                </a:ext>
              </a:extLst>
            </p:cNvPr>
            <p:cNvCxnSpPr>
              <a:endCxn id="44" idx="3"/>
            </p:cNvCxnSpPr>
            <p:nvPr/>
          </p:nvCxnSpPr>
          <p:spPr>
            <a:xfrm>
              <a:off x="7371689" y="4369085"/>
              <a:ext cx="398010" cy="385225"/>
            </a:xfrm>
            <a:prstGeom prst="straightConnector1">
              <a:avLst/>
            </a:prstGeom>
            <a:noFill/>
            <a:ln w="6350" cap="flat" cmpd="sng" algn="ctr">
              <a:solidFill>
                <a:sysClr val="windowText" lastClr="000000"/>
              </a:solidFill>
              <a:prstDash val="solid"/>
              <a:miter lim="800000"/>
              <a:tailEnd type="triangle"/>
            </a:ln>
            <a:effectLst/>
          </p:spPr>
        </p:cxnSp>
        <p:cxnSp>
          <p:nvCxnSpPr>
            <p:cNvPr id="49" name="Straight Arrow Connector 48">
              <a:extLst>
                <a:ext uri="{FF2B5EF4-FFF2-40B4-BE49-F238E27FC236}">
                  <a16:creationId xmlns="" xmlns:a16="http://schemas.microsoft.com/office/drawing/2014/main" id="{7788E35A-8643-4C43-BEDD-ACDFDDD55BFF}"/>
                </a:ext>
              </a:extLst>
            </p:cNvPr>
            <p:cNvCxnSpPr/>
            <p:nvPr/>
          </p:nvCxnSpPr>
          <p:spPr>
            <a:xfrm flipV="1">
              <a:off x="7376805" y="4773072"/>
              <a:ext cx="398011" cy="218466"/>
            </a:xfrm>
            <a:prstGeom prst="straightConnector1">
              <a:avLst/>
            </a:prstGeom>
            <a:noFill/>
            <a:ln w="6350" cap="flat" cmpd="sng" algn="ctr">
              <a:solidFill>
                <a:sysClr val="windowText" lastClr="000000"/>
              </a:solidFill>
              <a:prstDash val="solid"/>
              <a:miter lim="800000"/>
              <a:tailEnd type="triangle"/>
            </a:ln>
            <a:effectLst/>
          </p:spPr>
        </p:cxnSp>
        <p:cxnSp>
          <p:nvCxnSpPr>
            <p:cNvPr id="50" name="Straight Arrow Connector 49">
              <a:extLst>
                <a:ext uri="{FF2B5EF4-FFF2-40B4-BE49-F238E27FC236}">
                  <a16:creationId xmlns="" xmlns:a16="http://schemas.microsoft.com/office/drawing/2014/main" id="{524B3F39-9250-FB4C-9EB5-6EB5DDD296AF}"/>
                </a:ext>
              </a:extLst>
            </p:cNvPr>
            <p:cNvCxnSpPr/>
            <p:nvPr/>
          </p:nvCxnSpPr>
          <p:spPr>
            <a:xfrm flipV="1">
              <a:off x="7376805" y="4773072"/>
              <a:ext cx="398011" cy="385225"/>
            </a:xfrm>
            <a:prstGeom prst="straightConnector1">
              <a:avLst/>
            </a:prstGeom>
            <a:noFill/>
            <a:ln w="6350" cap="flat" cmpd="sng" algn="ctr">
              <a:solidFill>
                <a:sysClr val="windowText" lastClr="000000"/>
              </a:solidFill>
              <a:prstDash val="solid"/>
              <a:miter lim="800000"/>
              <a:tailEnd type="triangle"/>
            </a:ln>
            <a:effectLst/>
          </p:spPr>
        </p:cxnSp>
        <p:cxnSp>
          <p:nvCxnSpPr>
            <p:cNvPr id="51" name="Straight Arrow Connector 50">
              <a:extLst>
                <a:ext uri="{FF2B5EF4-FFF2-40B4-BE49-F238E27FC236}">
                  <a16:creationId xmlns="" xmlns:a16="http://schemas.microsoft.com/office/drawing/2014/main" id="{E774F0FD-827D-C64D-BC34-B67E322DD6F4}"/>
                </a:ext>
              </a:extLst>
            </p:cNvPr>
            <p:cNvCxnSpPr/>
            <p:nvPr/>
          </p:nvCxnSpPr>
          <p:spPr>
            <a:xfrm>
              <a:off x="7846861" y="4639383"/>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2" name="Straight Arrow Connector 51">
              <a:extLst>
                <a:ext uri="{FF2B5EF4-FFF2-40B4-BE49-F238E27FC236}">
                  <a16:creationId xmlns="" xmlns:a16="http://schemas.microsoft.com/office/drawing/2014/main" id="{4C4E45AB-3A8E-3D42-8594-FF4F1633F4F5}"/>
                </a:ext>
              </a:extLst>
            </p:cNvPr>
            <p:cNvCxnSpPr/>
            <p:nvPr/>
          </p:nvCxnSpPr>
          <p:spPr>
            <a:xfrm>
              <a:off x="7846861" y="4549111"/>
              <a:ext cx="398011" cy="208537"/>
            </a:xfrm>
            <a:prstGeom prst="straightConnector1">
              <a:avLst/>
            </a:prstGeom>
            <a:noFill/>
            <a:ln w="6350" cap="flat" cmpd="sng" algn="ctr">
              <a:solidFill>
                <a:sysClr val="windowText" lastClr="000000"/>
              </a:solidFill>
              <a:prstDash val="solid"/>
              <a:miter lim="800000"/>
              <a:tailEnd type="triangle"/>
            </a:ln>
            <a:effectLst/>
          </p:spPr>
        </p:cxnSp>
        <p:cxnSp>
          <p:nvCxnSpPr>
            <p:cNvPr id="53" name="Straight Arrow Connector 52">
              <a:extLst>
                <a:ext uri="{FF2B5EF4-FFF2-40B4-BE49-F238E27FC236}">
                  <a16:creationId xmlns="" xmlns:a16="http://schemas.microsoft.com/office/drawing/2014/main" id="{42BD8F8E-EB0D-5746-83E4-D3AFCB948505}"/>
                </a:ext>
              </a:extLst>
            </p:cNvPr>
            <p:cNvCxnSpPr/>
            <p:nvPr/>
          </p:nvCxnSpPr>
          <p:spPr>
            <a:xfrm flipV="1">
              <a:off x="7846861" y="4757647"/>
              <a:ext cx="398011" cy="118264"/>
            </a:xfrm>
            <a:prstGeom prst="straightConnector1">
              <a:avLst/>
            </a:prstGeom>
            <a:noFill/>
            <a:ln w="6350" cap="flat" cmpd="sng" algn="ctr">
              <a:solidFill>
                <a:sysClr val="windowText" lastClr="000000"/>
              </a:solidFill>
              <a:prstDash val="solid"/>
              <a:miter lim="800000"/>
              <a:tailEnd type="triangle"/>
            </a:ln>
            <a:effectLst/>
          </p:spPr>
        </p:cxnSp>
        <p:cxnSp>
          <p:nvCxnSpPr>
            <p:cNvPr id="54" name="Straight Arrow Connector 53">
              <a:extLst>
                <a:ext uri="{FF2B5EF4-FFF2-40B4-BE49-F238E27FC236}">
                  <a16:creationId xmlns="" xmlns:a16="http://schemas.microsoft.com/office/drawing/2014/main" id="{4E614E47-321F-4F4E-97FA-5D83D0C5C2C9}"/>
                </a:ext>
              </a:extLst>
            </p:cNvPr>
            <p:cNvCxnSpPr/>
            <p:nvPr/>
          </p:nvCxnSpPr>
          <p:spPr>
            <a:xfrm flipV="1">
              <a:off x="7846861" y="4757647"/>
              <a:ext cx="398011" cy="208537"/>
            </a:xfrm>
            <a:prstGeom prst="straightConnector1">
              <a:avLst/>
            </a:prstGeom>
            <a:noFill/>
            <a:ln w="6350" cap="flat" cmpd="sng" algn="ctr">
              <a:solidFill>
                <a:sysClr val="windowText" lastClr="000000"/>
              </a:solidFill>
              <a:prstDash val="solid"/>
              <a:miter lim="800000"/>
              <a:tailEnd type="triangle"/>
            </a:ln>
            <a:effectLst/>
          </p:spPr>
        </p:cxnSp>
        <p:sp>
          <p:nvSpPr>
            <p:cNvPr id="55" name="TextBox 54">
              <a:extLst>
                <a:ext uri="{FF2B5EF4-FFF2-40B4-BE49-F238E27FC236}">
                  <a16:creationId xmlns="" xmlns:a16="http://schemas.microsoft.com/office/drawing/2014/main" id="{8D6B5939-95A0-D64B-913C-80EFD529819C}"/>
                </a:ext>
              </a:extLst>
            </p:cNvPr>
            <p:cNvSpPr txBox="1"/>
            <p:nvPr/>
          </p:nvSpPr>
          <p:spPr>
            <a:xfrm>
              <a:off x="8282380" y="4579960"/>
              <a:ext cx="463588" cy="553998"/>
            </a:xfrm>
            <a:prstGeom prst="rect">
              <a:avLst/>
            </a:prstGeom>
            <a:noFill/>
          </p:spPr>
          <p:txBody>
            <a:bodyPr wrap="none" rtlCol="0">
              <a:spAutoFit/>
            </a:bodyPr>
            <a:lstStyle/>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before</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after</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equal</a:t>
              </a:r>
            </a:p>
            <a:p>
              <a:pPr marL="0" marR="0" lvl="0" indent="0" defTabSz="914400" eaLnBrk="1" fontAlgn="auto" latinLnBrk="0" hangingPunct="1">
                <a:lnSpc>
                  <a:spcPts val="94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panose="020F0502020204030204"/>
                </a:rPr>
                <a:t>vague</a:t>
              </a:r>
            </a:p>
          </p:txBody>
        </p:sp>
        <p:cxnSp>
          <p:nvCxnSpPr>
            <p:cNvPr id="56" name="Straight Arrow Connector 55">
              <a:extLst>
                <a:ext uri="{FF2B5EF4-FFF2-40B4-BE49-F238E27FC236}">
                  <a16:creationId xmlns="" xmlns:a16="http://schemas.microsoft.com/office/drawing/2014/main" id="{6A52DD67-121C-EE40-ADA3-E8A5B50BDF99}"/>
                </a:ext>
              </a:extLst>
            </p:cNvPr>
            <p:cNvCxnSpPr>
              <a:endCxn id="44" idx="3"/>
            </p:cNvCxnSpPr>
            <p:nvPr/>
          </p:nvCxnSpPr>
          <p:spPr>
            <a:xfrm>
              <a:off x="7374065" y="4132189"/>
              <a:ext cx="395635" cy="622121"/>
            </a:xfrm>
            <a:prstGeom prst="straightConnector1">
              <a:avLst/>
            </a:prstGeom>
            <a:noFill/>
            <a:ln w="6350" cap="flat" cmpd="sng" algn="ctr">
              <a:solidFill>
                <a:sysClr val="windowText" lastClr="000000"/>
              </a:solidFill>
              <a:prstDash val="solid"/>
              <a:miter lim="800000"/>
              <a:tailEnd type="triangle"/>
            </a:ln>
            <a:effectLst/>
          </p:spPr>
        </p:cxnSp>
        <p:cxnSp>
          <p:nvCxnSpPr>
            <p:cNvPr id="57" name="Straight Arrow Connector 56">
              <a:extLst>
                <a:ext uri="{FF2B5EF4-FFF2-40B4-BE49-F238E27FC236}">
                  <a16:creationId xmlns="" xmlns:a16="http://schemas.microsoft.com/office/drawing/2014/main" id="{DE8AD148-0BF7-B44B-852A-2D59D153519F}"/>
                </a:ext>
              </a:extLst>
            </p:cNvPr>
            <p:cNvCxnSpPr/>
            <p:nvPr/>
          </p:nvCxnSpPr>
          <p:spPr>
            <a:xfrm flipV="1">
              <a:off x="7372025" y="4831688"/>
              <a:ext cx="395635" cy="622121"/>
            </a:xfrm>
            <a:prstGeom prst="straightConnector1">
              <a:avLst/>
            </a:prstGeom>
            <a:noFill/>
            <a:ln w="6350" cap="flat" cmpd="sng" algn="ctr">
              <a:solidFill>
                <a:sysClr val="windowText" lastClr="000000"/>
              </a:solidFill>
              <a:prstDash val="solid"/>
              <a:miter lim="800000"/>
              <a:tailEnd type="triangle"/>
            </a:ln>
            <a:effectLst/>
          </p:spPr>
        </p:cxnSp>
        <p:sp>
          <p:nvSpPr>
            <p:cNvPr id="58" name="TextBox 57">
              <a:extLst>
                <a:ext uri="{FF2B5EF4-FFF2-40B4-BE49-F238E27FC236}">
                  <a16:creationId xmlns="" xmlns:a16="http://schemas.microsoft.com/office/drawing/2014/main" id="{33AD5490-6C98-0C42-9E21-D2A1C1BD134A}"/>
                </a:ext>
              </a:extLst>
            </p:cNvPr>
            <p:cNvSpPr txBox="1"/>
            <p:nvPr/>
          </p:nvSpPr>
          <p:spPr>
            <a:xfrm>
              <a:off x="7957296" y="4386573"/>
              <a:ext cx="639934"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output</a:t>
              </a:r>
            </a:p>
          </p:txBody>
        </p:sp>
        <p:sp>
          <p:nvSpPr>
            <p:cNvPr id="59" name="TextBox 58">
              <a:extLst>
                <a:ext uri="{FF2B5EF4-FFF2-40B4-BE49-F238E27FC236}">
                  <a16:creationId xmlns="" xmlns:a16="http://schemas.microsoft.com/office/drawing/2014/main" id="{AE8FF3FD-FF60-2F40-9709-0642924CEB23}"/>
                </a:ext>
              </a:extLst>
            </p:cNvPr>
            <p:cNvSpPr txBox="1"/>
            <p:nvPr/>
          </p:nvSpPr>
          <p:spPr>
            <a:xfrm>
              <a:off x="7607290" y="5024021"/>
              <a:ext cx="407098"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64</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grpSp>
      <p:sp>
        <p:nvSpPr>
          <p:cNvPr id="60" name="TextBox 59">
            <a:extLst>
              <a:ext uri="{FF2B5EF4-FFF2-40B4-BE49-F238E27FC236}">
                <a16:creationId xmlns="" xmlns:a16="http://schemas.microsoft.com/office/drawing/2014/main" id="{F740E140-21E5-C944-B719-A7A1EB5860BE}"/>
              </a:ext>
            </a:extLst>
          </p:cNvPr>
          <p:cNvSpPr txBox="1"/>
          <p:nvPr/>
        </p:nvSpPr>
        <p:spPr>
          <a:xfrm>
            <a:off x="6085303" y="5585612"/>
            <a:ext cx="2377847"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50" kern="0" dirty="0">
                <a:solidFill>
                  <a:prstClr val="black"/>
                </a:solidFill>
                <a:latin typeface="Courier" charset="0"/>
                <a:ea typeface="Courier" charset="0"/>
                <a:cs typeface="Courier" charset="0"/>
              </a:rPr>
              <a:t>Output confidence scores</a:t>
            </a:r>
          </a:p>
        </p:txBody>
      </p:sp>
      <p:sp>
        <p:nvSpPr>
          <p:cNvPr id="66" name="Rectangle 65">
            <a:extLst>
              <a:ext uri="{FF2B5EF4-FFF2-40B4-BE49-F238E27FC236}">
                <a16:creationId xmlns="" xmlns:a16="http://schemas.microsoft.com/office/drawing/2014/main" id="{7540B02E-F3CA-7A41-B9F1-90F0B20C34E8}"/>
              </a:ext>
            </a:extLst>
          </p:cNvPr>
          <p:cNvSpPr>
            <a:spLocks noChangeAspect="1"/>
          </p:cNvSpPr>
          <p:nvPr/>
        </p:nvSpPr>
        <p:spPr>
          <a:xfrm flipH="1">
            <a:off x="7289835" y="2857499"/>
            <a:ext cx="203894" cy="81144"/>
          </a:xfrm>
          <a:prstGeom prst="rect">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 xmlns:a16="http://schemas.microsoft.com/office/drawing/2014/main" id="{E1A2BF7F-5EF1-A841-BBFD-CD34B062BD4F}"/>
              </a:ext>
            </a:extLst>
          </p:cNvPr>
          <p:cNvSpPr/>
          <p:nvPr/>
        </p:nvSpPr>
        <p:spPr>
          <a:xfrm>
            <a:off x="6085302" y="1473960"/>
            <a:ext cx="2597303" cy="1486783"/>
          </a:xfrm>
          <a:prstGeom prst="rect">
            <a:avLst/>
          </a:prstGeom>
          <a:noFill/>
          <a:ln w="12700" cap="flat" cmpd="sng" algn="ctr">
            <a:solidFill>
              <a:sysClr val="windowText" lastClr="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 xmlns:a16="http://schemas.microsoft.com/office/drawing/2014/main" id="{D33EED2F-F4EA-A64D-BD20-7ACF261822AE}"/>
              </a:ext>
            </a:extLst>
          </p:cNvPr>
          <p:cNvGrpSpPr/>
          <p:nvPr/>
        </p:nvGrpSpPr>
        <p:grpSpPr>
          <a:xfrm>
            <a:off x="6052335" y="1528708"/>
            <a:ext cx="2630270" cy="1321671"/>
            <a:chOff x="6052335" y="1528708"/>
            <a:chExt cx="2630270" cy="1321671"/>
          </a:xfrm>
        </p:grpSpPr>
        <p:sp>
          <p:nvSpPr>
            <p:cNvPr id="62" name="Rectangle 61">
              <a:extLst>
                <a:ext uri="{FF2B5EF4-FFF2-40B4-BE49-F238E27FC236}">
                  <a16:creationId xmlns="" xmlns:a16="http://schemas.microsoft.com/office/drawing/2014/main" id="{1A09AF94-106D-3645-9CD9-E3AA368D1FF5}"/>
                </a:ext>
              </a:extLst>
            </p:cNvPr>
            <p:cNvSpPr/>
            <p:nvPr/>
          </p:nvSpPr>
          <p:spPr>
            <a:xfrm flipH="1">
              <a:off x="6461826"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3" name="Rectangle 62">
              <a:extLst>
                <a:ext uri="{FF2B5EF4-FFF2-40B4-BE49-F238E27FC236}">
                  <a16:creationId xmlns="" xmlns:a16="http://schemas.microsoft.com/office/drawing/2014/main" id="{C6AD86B0-8EAF-C44C-8627-D218DCE32B1D}"/>
                </a:ext>
              </a:extLst>
            </p:cNvPr>
            <p:cNvSpPr/>
            <p:nvPr/>
          </p:nvSpPr>
          <p:spPr>
            <a:xfrm flipH="1">
              <a:off x="7528953" y="2080485"/>
              <a:ext cx="819604" cy="94493"/>
            </a:xfrm>
            <a:prstGeom prst="rect">
              <a:avLst/>
            </a:prstGeom>
            <a:solidFill>
              <a:srgbClr val="00B0F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4" name="Rectangle 63">
              <a:extLst>
                <a:ext uri="{FF2B5EF4-FFF2-40B4-BE49-F238E27FC236}">
                  <a16:creationId xmlns="" xmlns:a16="http://schemas.microsoft.com/office/drawing/2014/main" id="{292AE01C-82B8-0040-BD13-A4F2CFDFB70F}"/>
                </a:ext>
              </a:extLst>
            </p:cNvPr>
            <p:cNvSpPr/>
            <p:nvPr/>
          </p:nvSpPr>
          <p:spPr>
            <a:xfrm flipH="1">
              <a:off x="6787849" y="2384271"/>
              <a:ext cx="1248377" cy="94493"/>
            </a:xfrm>
            <a:prstGeom prst="rect">
              <a:avLst/>
            </a:prstGeom>
            <a:solidFill>
              <a:srgbClr val="E7E6E6">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5" name="Rectangle 64">
              <a:extLst>
                <a:ext uri="{FF2B5EF4-FFF2-40B4-BE49-F238E27FC236}">
                  <a16:creationId xmlns="" xmlns:a16="http://schemas.microsoft.com/office/drawing/2014/main" id="{C887EF61-D8E1-3740-9DBE-D1D1727FBC9E}"/>
                </a:ext>
              </a:extLst>
            </p:cNvPr>
            <p:cNvSpPr/>
            <p:nvPr/>
          </p:nvSpPr>
          <p:spPr>
            <a:xfrm flipH="1">
              <a:off x="7099943" y="2621167"/>
              <a:ext cx="624188" cy="94493"/>
            </a:xfrm>
            <a:prstGeom prst="rect">
              <a:avLst/>
            </a:prstGeom>
            <a:solidFill>
              <a:srgbClr val="E7E6E6">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7" name="TextBox 66">
              <a:extLst>
                <a:ext uri="{FF2B5EF4-FFF2-40B4-BE49-F238E27FC236}">
                  <a16:creationId xmlns="" xmlns:a16="http://schemas.microsoft.com/office/drawing/2014/main" id="{2B65061E-9681-254B-9BCB-98DFD97B0802}"/>
                </a:ext>
              </a:extLst>
            </p:cNvPr>
            <p:cNvSpPr txBox="1"/>
            <p:nvPr/>
          </p:nvSpPr>
          <p:spPr>
            <a:xfrm>
              <a:off x="6303851"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1</a:t>
              </a:r>
            </a:p>
          </p:txBody>
        </p:sp>
        <p:sp>
          <p:nvSpPr>
            <p:cNvPr id="68" name="TextBox 67">
              <a:extLst>
                <a:ext uri="{FF2B5EF4-FFF2-40B4-BE49-F238E27FC236}">
                  <a16:creationId xmlns="" xmlns:a16="http://schemas.microsoft.com/office/drawing/2014/main" id="{AC79644C-43D0-784C-81C5-4CBE84AE6DE9}"/>
                </a:ext>
              </a:extLst>
            </p:cNvPr>
            <p:cNvSpPr txBox="1"/>
            <p:nvPr/>
          </p:nvSpPr>
          <p:spPr>
            <a:xfrm>
              <a:off x="7369699" y="1874975"/>
              <a:ext cx="1120773"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v</a:t>
              </a:r>
              <a:r>
                <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rPr>
                <a:t>2</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cxnSp>
          <p:nvCxnSpPr>
            <p:cNvPr id="69" name="Straight Arrow Connector 68">
              <a:extLst>
                <a:ext uri="{FF2B5EF4-FFF2-40B4-BE49-F238E27FC236}">
                  <a16:creationId xmlns="" xmlns:a16="http://schemas.microsoft.com/office/drawing/2014/main" id="{8992F45C-566E-844D-9E2F-0B5A79E77E60}"/>
                </a:ext>
              </a:extLst>
            </p:cNvPr>
            <p:cNvCxnSpPr/>
            <p:nvPr/>
          </p:nvCxnSpPr>
          <p:spPr>
            <a:xfrm flipH="1">
              <a:off x="7392711" y="2182098"/>
              <a:ext cx="290644" cy="202179"/>
            </a:xfrm>
            <a:prstGeom prst="straightConnector1">
              <a:avLst/>
            </a:prstGeom>
            <a:noFill/>
            <a:ln w="6350" cap="flat" cmpd="sng" algn="ctr">
              <a:solidFill>
                <a:sysClr val="windowText" lastClr="000000"/>
              </a:solidFill>
              <a:prstDash val="solid"/>
              <a:miter lim="800000"/>
              <a:tailEnd type="triangle"/>
            </a:ln>
            <a:effectLst/>
          </p:spPr>
        </p:cxnSp>
        <p:cxnSp>
          <p:nvCxnSpPr>
            <p:cNvPr id="70" name="Straight Arrow Connector 69">
              <a:extLst>
                <a:ext uri="{FF2B5EF4-FFF2-40B4-BE49-F238E27FC236}">
                  <a16:creationId xmlns="" xmlns:a16="http://schemas.microsoft.com/office/drawing/2014/main" id="{D1931E52-799B-F847-BF13-D0D97F1C9C31}"/>
                </a:ext>
              </a:extLst>
            </p:cNvPr>
            <p:cNvCxnSpPr>
              <a:stCxn id="63" idx="2"/>
            </p:cNvCxnSpPr>
            <p:nvPr/>
          </p:nvCxnSpPr>
          <p:spPr>
            <a:xfrm flipH="1">
              <a:off x="7392711" y="2174978"/>
              <a:ext cx="546044" cy="209299"/>
            </a:xfrm>
            <a:prstGeom prst="straightConnector1">
              <a:avLst/>
            </a:prstGeom>
            <a:noFill/>
            <a:ln w="6350" cap="flat" cmpd="sng" algn="ctr">
              <a:solidFill>
                <a:sysClr val="windowText" lastClr="000000"/>
              </a:solidFill>
              <a:prstDash val="solid"/>
              <a:miter lim="800000"/>
              <a:tailEnd type="triangle"/>
            </a:ln>
            <a:effectLst/>
          </p:spPr>
        </p:cxnSp>
        <p:grpSp>
          <p:nvGrpSpPr>
            <p:cNvPr id="71" name="Group 70">
              <a:extLst>
                <a:ext uri="{FF2B5EF4-FFF2-40B4-BE49-F238E27FC236}">
                  <a16:creationId xmlns="" xmlns:a16="http://schemas.microsoft.com/office/drawing/2014/main" id="{A7C3D8DD-6021-5F44-B776-C5566A1AC939}"/>
                </a:ext>
              </a:extLst>
            </p:cNvPr>
            <p:cNvGrpSpPr/>
            <p:nvPr/>
          </p:nvGrpSpPr>
          <p:grpSpPr>
            <a:xfrm rot="5400000" flipV="1">
              <a:off x="7027519" y="2019084"/>
              <a:ext cx="209302" cy="521085"/>
              <a:chOff x="4885023" y="1789674"/>
              <a:chExt cx="803023" cy="763359"/>
            </a:xfrm>
          </p:grpSpPr>
          <p:cxnSp>
            <p:nvCxnSpPr>
              <p:cNvPr id="91" name="Straight Arrow Connector 90">
                <a:extLst>
                  <a:ext uri="{FF2B5EF4-FFF2-40B4-BE49-F238E27FC236}">
                    <a16:creationId xmlns="" xmlns:a16="http://schemas.microsoft.com/office/drawing/2014/main" id="{253FDEF4-3636-8443-A5FC-1868FD26D728}"/>
                  </a:ext>
                </a:extLst>
              </p:cNvPr>
              <p:cNvCxnSpPr/>
              <p:nvPr/>
            </p:nvCxnSpPr>
            <p:spPr>
              <a:xfrm rot="5400000" flipV="1">
                <a:off x="5073605" y="1938591"/>
                <a:ext cx="435490" cy="793393"/>
              </a:xfrm>
              <a:prstGeom prst="straightConnector1">
                <a:avLst/>
              </a:prstGeom>
              <a:noFill/>
              <a:ln w="6350" cap="flat" cmpd="sng" algn="ctr">
                <a:solidFill>
                  <a:sysClr val="windowText" lastClr="000000"/>
                </a:solidFill>
                <a:prstDash val="solid"/>
                <a:miter lim="800000"/>
                <a:tailEnd type="triangle"/>
              </a:ln>
              <a:effectLst/>
            </p:spPr>
          </p:cxnSp>
          <p:cxnSp>
            <p:nvCxnSpPr>
              <p:cNvPr id="92" name="Straight Arrow Connector 91">
                <a:extLst>
                  <a:ext uri="{FF2B5EF4-FFF2-40B4-BE49-F238E27FC236}">
                    <a16:creationId xmlns="" xmlns:a16="http://schemas.microsoft.com/office/drawing/2014/main" id="{AE28A4C5-9018-4D48-9F13-89E1C597D870}"/>
                  </a:ext>
                </a:extLst>
              </p:cNvPr>
              <p:cNvCxnSpPr>
                <a:stCxn id="62" idx="2"/>
              </p:cNvCxnSpPr>
              <p:nvPr/>
            </p:nvCxnSpPr>
            <p:spPr>
              <a:xfrm rot="5400000" flipV="1">
                <a:off x="4904855" y="1769842"/>
                <a:ext cx="763357" cy="803021"/>
              </a:xfrm>
              <a:prstGeom prst="straightConnector1">
                <a:avLst/>
              </a:prstGeom>
              <a:noFill/>
              <a:ln w="6350" cap="flat" cmpd="sng" algn="ctr">
                <a:solidFill>
                  <a:sysClr val="windowText" lastClr="000000"/>
                </a:solidFill>
                <a:prstDash val="solid"/>
                <a:miter lim="800000"/>
                <a:tailEnd type="triangle"/>
              </a:ln>
              <a:effectLst/>
            </p:spPr>
          </p:cxnSp>
        </p:grpSp>
        <p:cxnSp>
          <p:nvCxnSpPr>
            <p:cNvPr id="72" name="Straight Arrow Connector 71">
              <a:extLst>
                <a:ext uri="{FF2B5EF4-FFF2-40B4-BE49-F238E27FC236}">
                  <a16:creationId xmlns="" xmlns:a16="http://schemas.microsoft.com/office/drawing/2014/main" id="{E38EE8DD-9DC6-054E-B51B-7B144FAC75BC}"/>
                </a:ext>
              </a:extLst>
            </p:cNvPr>
            <p:cNvCxnSpPr/>
            <p:nvPr/>
          </p:nvCxnSpPr>
          <p:spPr>
            <a:xfrm rot="5400000">
              <a:off x="7309774" y="2554749"/>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3" name="Straight Arrow Connector 72">
              <a:extLst>
                <a:ext uri="{FF2B5EF4-FFF2-40B4-BE49-F238E27FC236}">
                  <a16:creationId xmlns="" xmlns:a16="http://schemas.microsoft.com/office/drawing/2014/main" id="{1CA23853-3FA5-AE4D-9FAC-9D46059F5686}"/>
                </a:ext>
              </a:extLst>
            </p:cNvPr>
            <p:cNvCxnSpPr/>
            <p:nvPr/>
          </p:nvCxnSpPr>
          <p:spPr>
            <a:xfrm rot="5400000">
              <a:off x="7419007" y="2445516"/>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4" name="Straight Arrow Connector 73">
              <a:extLst>
                <a:ext uri="{FF2B5EF4-FFF2-40B4-BE49-F238E27FC236}">
                  <a16:creationId xmlns="" xmlns:a16="http://schemas.microsoft.com/office/drawing/2014/main" id="{750BB14E-018A-9E44-8FE6-5394B72F7038}"/>
                </a:ext>
              </a:extLst>
            </p:cNvPr>
            <p:cNvCxnSpPr/>
            <p:nvPr/>
          </p:nvCxnSpPr>
          <p:spPr>
            <a:xfrm rot="5400000">
              <a:off x="7502386" y="2362136"/>
              <a:ext cx="151970" cy="385225"/>
            </a:xfrm>
            <a:prstGeom prst="straightConnector1">
              <a:avLst/>
            </a:prstGeom>
            <a:noFill/>
            <a:ln w="6350" cap="flat" cmpd="sng" algn="ctr">
              <a:solidFill>
                <a:sysClr val="windowText" lastClr="000000"/>
              </a:solidFill>
              <a:prstDash val="solid"/>
              <a:miter lim="800000"/>
              <a:tailEnd type="triangle"/>
            </a:ln>
            <a:effectLst/>
          </p:spPr>
        </p:cxnSp>
        <p:grpSp>
          <p:nvGrpSpPr>
            <p:cNvPr id="75" name="Group 74">
              <a:extLst>
                <a:ext uri="{FF2B5EF4-FFF2-40B4-BE49-F238E27FC236}">
                  <a16:creationId xmlns="" xmlns:a16="http://schemas.microsoft.com/office/drawing/2014/main" id="{A76988D8-AD9D-A847-99C0-A44F52D7B0AB}"/>
                </a:ext>
              </a:extLst>
            </p:cNvPr>
            <p:cNvGrpSpPr/>
            <p:nvPr/>
          </p:nvGrpSpPr>
          <p:grpSpPr>
            <a:xfrm rot="5400000" flipV="1">
              <a:off x="7117162" y="2362136"/>
              <a:ext cx="151970" cy="385225"/>
              <a:chOff x="5104983" y="1988699"/>
              <a:chExt cx="583063" cy="564332"/>
            </a:xfrm>
          </p:grpSpPr>
          <p:cxnSp>
            <p:nvCxnSpPr>
              <p:cNvPr id="89" name="Straight Arrow Connector 88">
                <a:extLst>
                  <a:ext uri="{FF2B5EF4-FFF2-40B4-BE49-F238E27FC236}">
                    <a16:creationId xmlns="" xmlns:a16="http://schemas.microsoft.com/office/drawing/2014/main" id="{1B7F84BD-39B2-F441-8D4C-6FEECE6DE29D}"/>
                  </a:ext>
                </a:extLst>
              </p:cNvPr>
              <p:cNvCxnSpPr/>
              <p:nvPr/>
            </p:nvCxnSpPr>
            <p:spPr>
              <a:xfrm>
                <a:off x="5104983" y="2232991"/>
                <a:ext cx="583063" cy="320040"/>
              </a:xfrm>
              <a:prstGeom prst="straightConnector1">
                <a:avLst/>
              </a:prstGeom>
              <a:noFill/>
              <a:ln w="6350" cap="flat" cmpd="sng" algn="ctr">
                <a:solidFill>
                  <a:sysClr val="windowText" lastClr="000000"/>
                </a:solidFill>
                <a:prstDash val="solid"/>
                <a:miter lim="800000"/>
                <a:tailEnd type="triangle"/>
              </a:ln>
              <a:effectLst/>
            </p:spPr>
          </p:cxnSp>
          <p:cxnSp>
            <p:nvCxnSpPr>
              <p:cNvPr id="90" name="Straight Arrow Connector 89">
                <a:extLst>
                  <a:ext uri="{FF2B5EF4-FFF2-40B4-BE49-F238E27FC236}">
                    <a16:creationId xmlns="" xmlns:a16="http://schemas.microsoft.com/office/drawing/2014/main" id="{8E5E5DB8-E4C8-1F4D-B23A-B67BC3A0F43B}"/>
                  </a:ext>
                </a:extLst>
              </p:cNvPr>
              <p:cNvCxnSpPr/>
              <p:nvPr/>
            </p:nvCxnSpPr>
            <p:spPr>
              <a:xfrm>
                <a:off x="5104983" y="1988699"/>
                <a:ext cx="583063" cy="564332"/>
              </a:xfrm>
              <a:prstGeom prst="straightConnector1">
                <a:avLst/>
              </a:prstGeom>
              <a:noFill/>
              <a:ln w="6350" cap="flat" cmpd="sng" algn="ctr">
                <a:solidFill>
                  <a:sysClr val="windowText" lastClr="000000"/>
                </a:solidFill>
                <a:prstDash val="solid"/>
                <a:miter lim="800000"/>
                <a:tailEnd type="triangle"/>
              </a:ln>
              <a:effectLst/>
            </p:spPr>
          </p:cxnSp>
        </p:grpSp>
        <p:cxnSp>
          <p:nvCxnSpPr>
            <p:cNvPr id="76" name="Straight Arrow Connector 75">
              <a:extLst>
                <a:ext uri="{FF2B5EF4-FFF2-40B4-BE49-F238E27FC236}">
                  <a16:creationId xmlns="" xmlns:a16="http://schemas.microsoft.com/office/drawing/2014/main" id="{5DEF899B-626E-874D-BB5F-C612E83AFD69}"/>
                </a:ext>
              </a:extLst>
            </p:cNvPr>
            <p:cNvCxnSpPr/>
            <p:nvPr/>
          </p:nvCxnSpPr>
          <p:spPr>
            <a:xfrm rot="5400000">
              <a:off x="7309774" y="2774394"/>
              <a:ext cx="151970" cy="0"/>
            </a:xfrm>
            <a:prstGeom prst="straightConnector1">
              <a:avLst/>
            </a:prstGeom>
            <a:noFill/>
            <a:ln w="6350" cap="flat" cmpd="sng" algn="ctr">
              <a:solidFill>
                <a:sysClr val="windowText" lastClr="000000"/>
              </a:solidFill>
              <a:prstDash val="solid"/>
              <a:miter lim="800000"/>
              <a:tailEnd type="triangle"/>
            </a:ln>
            <a:effectLst/>
          </p:spPr>
        </p:cxnSp>
        <p:cxnSp>
          <p:nvCxnSpPr>
            <p:cNvPr id="77" name="Straight Arrow Connector 76">
              <a:extLst>
                <a:ext uri="{FF2B5EF4-FFF2-40B4-BE49-F238E27FC236}">
                  <a16:creationId xmlns="" xmlns:a16="http://schemas.microsoft.com/office/drawing/2014/main" id="{F5A8D19C-FC95-744F-A270-35563EB30860}"/>
                </a:ext>
              </a:extLst>
            </p:cNvPr>
            <p:cNvCxnSpPr/>
            <p:nvPr/>
          </p:nvCxnSpPr>
          <p:spPr>
            <a:xfrm rot="5400000">
              <a:off x="7419007"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8" name="Straight Arrow Connector 77">
              <a:extLst>
                <a:ext uri="{FF2B5EF4-FFF2-40B4-BE49-F238E27FC236}">
                  <a16:creationId xmlns="" xmlns:a16="http://schemas.microsoft.com/office/drawing/2014/main" id="{B92E2B80-5FBB-674D-83D0-E3EA266865AC}"/>
                </a:ext>
              </a:extLst>
            </p:cNvPr>
            <p:cNvCxnSpPr/>
            <p:nvPr/>
          </p:nvCxnSpPr>
          <p:spPr>
            <a:xfrm rot="5400000" flipV="1">
              <a:off x="7200541" y="2665161"/>
              <a:ext cx="151970" cy="218466"/>
            </a:xfrm>
            <a:prstGeom prst="straightConnector1">
              <a:avLst/>
            </a:prstGeom>
            <a:noFill/>
            <a:ln w="6350" cap="flat" cmpd="sng" algn="ctr">
              <a:solidFill>
                <a:sysClr val="windowText" lastClr="000000"/>
              </a:solidFill>
              <a:prstDash val="solid"/>
              <a:miter lim="800000"/>
              <a:tailEnd type="triangle"/>
            </a:ln>
            <a:effectLst/>
          </p:spPr>
        </p:cxnSp>
        <p:cxnSp>
          <p:nvCxnSpPr>
            <p:cNvPr id="79" name="Straight Arrow Connector 78">
              <a:extLst>
                <a:ext uri="{FF2B5EF4-FFF2-40B4-BE49-F238E27FC236}">
                  <a16:creationId xmlns="" xmlns:a16="http://schemas.microsoft.com/office/drawing/2014/main" id="{4D31B2A3-9CD3-924A-843A-468472D79C23}"/>
                </a:ext>
              </a:extLst>
            </p:cNvPr>
            <p:cNvCxnSpPr/>
            <p:nvPr/>
          </p:nvCxnSpPr>
          <p:spPr>
            <a:xfrm flipH="1">
              <a:off x="7406586" y="2184856"/>
              <a:ext cx="780427" cy="196323"/>
            </a:xfrm>
            <a:prstGeom prst="straightConnector1">
              <a:avLst/>
            </a:prstGeom>
            <a:noFill/>
            <a:ln w="6350" cap="flat" cmpd="sng" algn="ctr">
              <a:solidFill>
                <a:sysClr val="windowText" lastClr="000000"/>
              </a:solidFill>
              <a:prstDash val="solid"/>
              <a:miter lim="800000"/>
              <a:tailEnd type="triangle"/>
            </a:ln>
            <a:effectLst/>
          </p:spPr>
        </p:cxnSp>
        <p:sp>
          <p:nvSpPr>
            <p:cNvPr id="80" name="TextBox 79">
              <a:extLst>
                <a:ext uri="{FF2B5EF4-FFF2-40B4-BE49-F238E27FC236}">
                  <a16:creationId xmlns="" xmlns:a16="http://schemas.microsoft.com/office/drawing/2014/main" id="{95CF6EF2-0C49-DF4C-8BE9-65A4876943F8}"/>
                </a:ext>
              </a:extLst>
            </p:cNvPr>
            <p:cNvSpPr txBox="1"/>
            <p:nvPr/>
          </p:nvSpPr>
          <p:spPr>
            <a:xfrm>
              <a:off x="6052335" y="1996059"/>
              <a:ext cx="417386"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1" name="TextBox 80">
              <a:extLst>
                <a:ext uri="{FF2B5EF4-FFF2-40B4-BE49-F238E27FC236}">
                  <a16:creationId xmlns="" xmlns:a16="http://schemas.microsoft.com/office/drawing/2014/main" id="{E63D9937-0727-A84B-AF8A-8E321AF0CA6A}"/>
                </a:ext>
              </a:extLst>
            </p:cNvPr>
            <p:cNvSpPr txBox="1"/>
            <p:nvPr/>
          </p:nvSpPr>
          <p:spPr>
            <a:xfrm>
              <a:off x="6236397" y="2323492"/>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150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2" name="TextBox 81">
              <a:extLst>
                <a:ext uri="{FF2B5EF4-FFF2-40B4-BE49-F238E27FC236}">
                  <a16:creationId xmlns="" xmlns:a16="http://schemas.microsoft.com/office/drawing/2014/main" id="{87B045AE-4DDB-3148-8C46-360466075ADF}"/>
                </a:ext>
              </a:extLst>
            </p:cNvPr>
            <p:cNvSpPr txBox="1"/>
            <p:nvPr/>
          </p:nvSpPr>
          <p:spPr>
            <a:xfrm>
              <a:off x="8265838" y="1994270"/>
              <a:ext cx="416767"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500</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3" name="TextBox 82">
              <a:extLst>
                <a:ext uri="{FF2B5EF4-FFF2-40B4-BE49-F238E27FC236}">
                  <a16:creationId xmlns="" xmlns:a16="http://schemas.microsoft.com/office/drawing/2014/main" id="{E51141DA-68BD-CC41-88C3-E8337AB63830}"/>
                </a:ext>
              </a:extLst>
            </p:cNvPr>
            <p:cNvSpPr txBox="1"/>
            <p:nvPr/>
          </p:nvSpPr>
          <p:spPr>
            <a:xfrm>
              <a:off x="6535802" y="2562365"/>
              <a:ext cx="794435" cy="2308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ourier" charset="0"/>
                  <a:ea typeface="Courier" charset="0"/>
                  <a:cs typeface="Courier" charset="0"/>
                </a:rPr>
                <a:t>45</a:t>
              </a:r>
              <a:endParaRPr kumimoji="0" lang="en-US" sz="900" b="0" i="0" u="none" strike="noStrike" kern="0" cap="none" spc="0" normalizeH="0" baseline="-25000" noProof="0" dirty="0">
                <a:ln>
                  <a:noFill/>
                </a:ln>
                <a:solidFill>
                  <a:prstClr val="black"/>
                </a:solidFill>
                <a:effectLst/>
                <a:uLnTx/>
                <a:uFillTx/>
                <a:latin typeface="Courier" charset="0"/>
                <a:ea typeface="Courier" charset="0"/>
                <a:cs typeface="Courier" charset="0"/>
              </a:endParaRPr>
            </a:p>
          </p:txBody>
        </p:sp>
        <p:sp>
          <p:nvSpPr>
            <p:cNvPr id="84" name="TextBox 83">
              <a:extLst>
                <a:ext uri="{FF2B5EF4-FFF2-40B4-BE49-F238E27FC236}">
                  <a16:creationId xmlns="" xmlns:a16="http://schemas.microsoft.com/office/drawing/2014/main" id="{C9EFB4BC-8C4E-A24E-835E-F6516B2468E9}"/>
                </a:ext>
              </a:extLst>
            </p:cNvPr>
            <p:cNvSpPr txBox="1"/>
            <p:nvPr/>
          </p:nvSpPr>
          <p:spPr>
            <a:xfrm>
              <a:off x="6447163" y="1528708"/>
              <a:ext cx="1954921" cy="43088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rPr>
                <a:t>Siamese network trained on </a:t>
              </a:r>
              <a:r>
                <a:rPr kumimoji="0" lang="en-US" sz="1050" b="0" i="0" u="none" strike="noStrike" kern="0" cap="none" spc="0" normalizeH="0" baseline="0" noProof="0" dirty="0" err="1">
                  <a:ln>
                    <a:noFill/>
                  </a:ln>
                  <a:solidFill>
                    <a:prstClr val="black"/>
                  </a:solidFill>
                  <a:effectLst/>
                  <a:uLnTx/>
                  <a:uFillTx/>
                  <a:latin typeface="Courier" charset="0"/>
                  <a:ea typeface="Courier" charset="0"/>
                  <a:cs typeface="Courier" charset="0"/>
                </a:rPr>
                <a:t>TemProb</a:t>
              </a:r>
              <a:endParaRPr kumimoji="0" lang="en-US" sz="105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86" name="TextBox 85">
              <a:extLst>
                <a:ext uri="{FF2B5EF4-FFF2-40B4-BE49-F238E27FC236}">
                  <a16:creationId xmlns="" xmlns:a16="http://schemas.microsoft.com/office/drawing/2014/main" id="{D384117C-7C05-E84C-990C-039044BE48DB}"/>
                </a:ext>
              </a:extLst>
            </p:cNvPr>
            <p:cNvSpPr txBox="1"/>
            <p:nvPr/>
          </p:nvSpPr>
          <p:spPr>
            <a:xfrm>
              <a:off x="7694098" y="2210184"/>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sp>
          <p:nvSpPr>
            <p:cNvPr id="87" name="TextBox 86">
              <a:extLst>
                <a:ext uri="{FF2B5EF4-FFF2-40B4-BE49-F238E27FC236}">
                  <a16:creationId xmlns="" xmlns:a16="http://schemas.microsoft.com/office/drawing/2014/main" id="{ADE0FB66-27C1-1941-B7A5-821FE19BB2C4}"/>
                </a:ext>
              </a:extLst>
            </p:cNvPr>
            <p:cNvSpPr txBox="1"/>
            <p:nvPr/>
          </p:nvSpPr>
          <p:spPr>
            <a:xfrm>
              <a:off x="7582284" y="2454827"/>
              <a:ext cx="942887" cy="2308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dropout 0.3</a:t>
              </a:r>
            </a:p>
          </p:txBody>
        </p:sp>
        <p:cxnSp>
          <p:nvCxnSpPr>
            <p:cNvPr id="88" name="Straight Arrow Connector 87">
              <a:extLst>
                <a:ext uri="{FF2B5EF4-FFF2-40B4-BE49-F238E27FC236}">
                  <a16:creationId xmlns="" xmlns:a16="http://schemas.microsoft.com/office/drawing/2014/main" id="{6D7772DF-2D47-2944-826A-669549E2F806}"/>
                </a:ext>
              </a:extLst>
            </p:cNvPr>
            <p:cNvCxnSpPr/>
            <p:nvPr/>
          </p:nvCxnSpPr>
          <p:spPr>
            <a:xfrm>
              <a:off x="6539013" y="2173346"/>
              <a:ext cx="835052" cy="210064"/>
            </a:xfrm>
            <a:prstGeom prst="straightConnector1">
              <a:avLst/>
            </a:prstGeom>
            <a:noFill/>
            <a:ln w="6350" cap="flat" cmpd="sng" algn="ctr">
              <a:solidFill>
                <a:sysClr val="windowText" lastClr="000000"/>
              </a:solidFill>
              <a:prstDash val="solid"/>
              <a:miter lim="800000"/>
              <a:tailEnd type="triangle"/>
            </a:ln>
            <a:effectLst/>
          </p:spPr>
        </p:cxnSp>
      </p:grpSp>
      <p:grpSp>
        <p:nvGrpSpPr>
          <p:cNvPr id="93" name="Group 92">
            <a:extLst>
              <a:ext uri="{FF2B5EF4-FFF2-40B4-BE49-F238E27FC236}">
                <a16:creationId xmlns="" xmlns:a16="http://schemas.microsoft.com/office/drawing/2014/main" id="{797B45D5-D351-674E-96A2-6E1F3B01E0D0}"/>
              </a:ext>
            </a:extLst>
          </p:cNvPr>
          <p:cNvGrpSpPr/>
          <p:nvPr/>
        </p:nvGrpSpPr>
        <p:grpSpPr>
          <a:xfrm>
            <a:off x="7290880" y="2938643"/>
            <a:ext cx="557925" cy="1597202"/>
            <a:chOff x="7290880" y="2938643"/>
            <a:chExt cx="557925" cy="1597202"/>
          </a:xfrm>
        </p:grpSpPr>
        <p:cxnSp>
          <p:nvCxnSpPr>
            <p:cNvPr id="94" name="Straight Arrow Connector 93">
              <a:extLst>
                <a:ext uri="{FF2B5EF4-FFF2-40B4-BE49-F238E27FC236}">
                  <a16:creationId xmlns="" xmlns:a16="http://schemas.microsoft.com/office/drawing/2014/main" id="{712BA1C8-54D6-E641-8013-3ADECBE0C9C1}"/>
                </a:ext>
              </a:extLst>
            </p:cNvPr>
            <p:cNvCxnSpPr>
              <a:cxnSpLocks/>
              <a:endCxn id="97" idx="1"/>
            </p:cNvCxnSpPr>
            <p:nvPr/>
          </p:nvCxnSpPr>
          <p:spPr>
            <a:xfrm flipH="1">
              <a:off x="7331454" y="2938643"/>
              <a:ext cx="60328" cy="711919"/>
            </a:xfrm>
            <a:prstGeom prst="straightConnector1">
              <a:avLst/>
            </a:prstGeom>
            <a:noFill/>
            <a:ln w="6350" cap="flat" cmpd="sng" algn="ctr">
              <a:solidFill>
                <a:sysClr val="windowText" lastClr="000000"/>
              </a:solidFill>
              <a:prstDash val="solid"/>
              <a:miter lim="800000"/>
              <a:headEnd type="none" w="med" len="med"/>
              <a:tailEnd type="triangle" w="med" len="med"/>
            </a:ln>
            <a:effectLst/>
          </p:spPr>
        </p:cxnSp>
        <p:grpSp>
          <p:nvGrpSpPr>
            <p:cNvPr id="95" name="Group 94">
              <a:extLst>
                <a:ext uri="{FF2B5EF4-FFF2-40B4-BE49-F238E27FC236}">
                  <a16:creationId xmlns="" xmlns:a16="http://schemas.microsoft.com/office/drawing/2014/main" id="{5005506E-7316-2C49-ADBF-EF612C849652}"/>
                </a:ext>
              </a:extLst>
            </p:cNvPr>
            <p:cNvGrpSpPr/>
            <p:nvPr/>
          </p:nvGrpSpPr>
          <p:grpSpPr>
            <a:xfrm>
              <a:off x="7290880" y="2938643"/>
              <a:ext cx="557925" cy="1597202"/>
              <a:chOff x="7290880" y="2938643"/>
              <a:chExt cx="557925" cy="1597202"/>
            </a:xfrm>
          </p:grpSpPr>
          <p:sp>
            <p:nvSpPr>
              <p:cNvPr id="97" name="Rectangle 96">
                <a:extLst>
                  <a:ext uri="{FF2B5EF4-FFF2-40B4-BE49-F238E27FC236}">
                    <a16:creationId xmlns="" xmlns:a16="http://schemas.microsoft.com/office/drawing/2014/main" id="{5875A255-6C91-E04C-94C3-2A11797934E3}"/>
                  </a:ext>
                </a:extLst>
              </p:cNvPr>
              <p:cNvSpPr>
                <a:spLocks noChangeAspect="1"/>
              </p:cNvSpPr>
              <p:nvPr/>
            </p:nvSpPr>
            <p:spPr>
              <a:xfrm rot="16200000" flipH="1">
                <a:off x="7229506" y="3711936"/>
                <a:ext cx="203894" cy="81145"/>
              </a:xfrm>
              <a:prstGeom prst="rect">
                <a:avLst/>
              </a:prstGeom>
              <a:solidFill>
                <a:srgbClr val="7030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 xmlns:a16="http://schemas.microsoft.com/office/drawing/2014/main" id="{3C135CF0-5311-384D-9292-298CC78DB682}"/>
                  </a:ext>
                </a:extLst>
              </p:cNvPr>
              <p:cNvSpPr>
                <a:spLocks noChangeAspect="1"/>
              </p:cNvSpPr>
              <p:nvPr/>
            </p:nvSpPr>
            <p:spPr>
              <a:xfrm rot="16200000" flipH="1">
                <a:off x="7706286" y="4393325"/>
                <a:ext cx="203894" cy="81145"/>
              </a:xfrm>
              <a:prstGeom prst="rect">
                <a:avLst/>
              </a:prstGeom>
              <a:solidFill>
                <a:srgbClr val="7030A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9" name="Straight Arrow Connector 98">
                <a:extLst>
                  <a:ext uri="{FF2B5EF4-FFF2-40B4-BE49-F238E27FC236}">
                    <a16:creationId xmlns="" xmlns:a16="http://schemas.microsoft.com/office/drawing/2014/main" id="{1EE79A6D-37D9-9E40-BD94-897DD400809E}"/>
                  </a:ext>
                </a:extLst>
              </p:cNvPr>
              <p:cNvCxnSpPr>
                <a:endCxn id="98" idx="1"/>
              </p:cNvCxnSpPr>
              <p:nvPr/>
            </p:nvCxnSpPr>
            <p:spPr>
              <a:xfrm>
                <a:off x="7391781" y="2938643"/>
                <a:ext cx="416452" cy="1393308"/>
              </a:xfrm>
              <a:prstGeom prst="straightConnector1">
                <a:avLst/>
              </a:prstGeom>
              <a:noFill/>
              <a:ln w="6350" cap="flat" cmpd="sng" algn="ctr">
                <a:solidFill>
                  <a:sysClr val="windowText" lastClr="000000"/>
                </a:solidFill>
                <a:prstDash val="solid"/>
                <a:miter lim="800000"/>
                <a:headEnd type="none" w="med" len="med"/>
                <a:tailEnd type="triangle" w="med" len="med"/>
              </a:ln>
              <a:effectLst/>
            </p:spPr>
          </p:cxnSp>
        </p:grpSp>
      </p:grpSp>
      <p:sp>
        <p:nvSpPr>
          <p:cNvPr id="96" name="TextBox 95">
            <a:extLst>
              <a:ext uri="{FF2B5EF4-FFF2-40B4-BE49-F238E27FC236}">
                <a16:creationId xmlns="" xmlns:a16="http://schemas.microsoft.com/office/drawing/2014/main" id="{24BCA9D2-4E4C-074E-8449-AFDB37D2FA2F}"/>
              </a:ext>
            </a:extLst>
          </p:cNvPr>
          <p:cNvSpPr txBox="1"/>
          <p:nvPr/>
        </p:nvSpPr>
        <p:spPr>
          <a:xfrm>
            <a:off x="508497" y="4756068"/>
            <a:ext cx="112077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rPr>
              <a:t>word </a:t>
            </a:r>
            <a:r>
              <a:rPr kumimoji="0" lang="en-US" sz="900" b="0" i="0" u="none" strike="noStrike" kern="0" cap="none" spc="0" normalizeH="0" baseline="0" noProof="0" dirty="0" err="1">
                <a:ln>
                  <a:noFill/>
                </a:ln>
                <a:solidFill>
                  <a:prstClr val="black"/>
                </a:solidFill>
                <a:effectLst/>
                <a:uLnTx/>
                <a:uFillTx/>
                <a:latin typeface="Courier" charset="0"/>
                <a:ea typeface="Courier" charset="0"/>
                <a:cs typeface="Courier" charset="0"/>
              </a:rPr>
              <a:t>embeddings</a:t>
            </a:r>
            <a:endParaRPr kumimoji="0" lang="en-US" sz="900" b="0" i="0" u="none" strike="noStrike" kern="0" cap="none" spc="0" normalizeH="0" baseline="0" noProof="0" dirty="0">
              <a:ln>
                <a:noFill/>
              </a:ln>
              <a:solidFill>
                <a:prstClr val="black"/>
              </a:solidFill>
              <a:effectLst/>
              <a:uLnTx/>
              <a:uFillTx/>
              <a:latin typeface="Courier" charset="0"/>
              <a:ea typeface="Courier" charset="0"/>
              <a:cs typeface="Courier" charset="0"/>
            </a:endParaRPr>
          </a:p>
        </p:txBody>
      </p:sp>
      <p:sp>
        <p:nvSpPr>
          <p:cNvPr id="103" name="TextBox 102">
            <a:extLst>
              <a:ext uri="{FF2B5EF4-FFF2-40B4-BE49-F238E27FC236}">
                <a16:creationId xmlns="" xmlns:a16="http://schemas.microsoft.com/office/drawing/2014/main" id="{8D7FCFBF-E833-2741-BAF4-EF926B2F034F}"/>
              </a:ext>
            </a:extLst>
          </p:cNvPr>
          <p:cNvSpPr txBox="1"/>
          <p:nvPr/>
        </p:nvSpPr>
        <p:spPr>
          <a:xfrm>
            <a:off x="266700" y="1338702"/>
            <a:ext cx="5412377" cy="1938992"/>
          </a:xfrm>
          <a:prstGeom prst="rect">
            <a:avLst/>
          </a:prstGeom>
          <a:noFill/>
        </p:spPr>
        <p:txBody>
          <a:bodyPr wrap="square" rtlCol="0">
            <a:spAutoFit/>
          </a:bodyPr>
          <a:lstStyle/>
          <a:p>
            <a:pPr marL="342900" indent="-342900">
              <a:buSzPct val="65000"/>
              <a:buFont typeface="Wingdings" pitchFamily="2" charset="2"/>
              <a:buChar char="q"/>
            </a:pPr>
            <a:r>
              <a:rPr lang="en-US" sz="2000" dirty="0">
                <a:solidFill>
                  <a:schemeClr val="bg2"/>
                </a:solidFill>
                <a:latin typeface="Century Gothic" panose="020B0502020202020204" pitchFamily="34" charset="0"/>
              </a:rPr>
              <a:t>LSTM takes word embeddings as input</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Hidden vectors represent events</a:t>
            </a:r>
          </a:p>
          <a:p>
            <a:pPr marL="342900" indent="-342900">
              <a:buSzPct val="65000"/>
              <a:buFont typeface="Wingdings" pitchFamily="2" charset="2"/>
              <a:buChar char="q"/>
            </a:pPr>
            <a:r>
              <a:rPr lang="en-US" sz="2000" dirty="0">
                <a:solidFill>
                  <a:schemeClr val="bg2"/>
                </a:solidFill>
                <a:latin typeface="Century Gothic" panose="020B0502020202020204" pitchFamily="34" charset="0"/>
              </a:rPr>
              <a:t>FFNN predicts the labels of temporal relations (followed by ILP inference)</a:t>
            </a:r>
          </a:p>
          <a:p>
            <a:pPr marL="342900" indent="-342900">
              <a:buSzPct val="65000"/>
              <a:buFont typeface="Wingdings" pitchFamily="2" charset="2"/>
              <a:buChar char="q"/>
            </a:pPr>
            <a:r>
              <a:rPr lang="en-US" sz="2000" b="1" dirty="0">
                <a:solidFill>
                  <a:schemeClr val="bg2"/>
                </a:solidFill>
                <a:latin typeface="Century Gothic" panose="020B0502020202020204" pitchFamily="34" charset="0"/>
              </a:rPr>
              <a:t>Siamese network is a generalized </a:t>
            </a:r>
            <a:r>
              <a:rPr lang="en-US" sz="2000" b="1" dirty="0" err="1">
                <a:solidFill>
                  <a:schemeClr val="bg2"/>
                </a:solidFill>
                <a:latin typeface="Century Gothic" panose="020B0502020202020204" pitchFamily="34" charset="0"/>
              </a:rPr>
              <a:t>TemProb</a:t>
            </a:r>
            <a:endParaRPr lang="en-US" sz="2000" b="1" dirty="0">
              <a:solidFill>
                <a:schemeClr val="bg2"/>
              </a:solidFill>
              <a:latin typeface="Century Gothic" panose="020B0502020202020204" pitchFamily="34" charset="0"/>
            </a:endParaRPr>
          </a:p>
        </p:txBody>
      </p:sp>
      <p:sp>
        <p:nvSpPr>
          <p:cNvPr id="100" name="TextBox 99">
            <a:extLst>
              <a:ext uri="{FF2B5EF4-FFF2-40B4-BE49-F238E27FC236}">
                <a16:creationId xmlns="" xmlns:a16="http://schemas.microsoft.com/office/drawing/2014/main" id="{F49080EB-E0D9-F745-A2AD-A7F146E82F6E}"/>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Tree>
    <p:extLst>
      <p:ext uri="{BB962C8B-B14F-4D97-AF65-F5344CB8AC3E}">
        <p14:creationId xmlns:p14="http://schemas.microsoft.com/office/powerpoint/2010/main" val="27623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up)">
                                      <p:cBhvr>
                                        <p:cTn id="7"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 xmlns:a16="http://schemas.microsoft.com/office/drawing/2014/main" id="{278FC97D-E638-7E41-AB57-FB6A9CE22C67}"/>
              </a:ext>
            </a:extLst>
          </p:cNvPr>
          <p:cNvGraphicFramePr/>
          <p:nvPr>
            <p:extLst>
              <p:ext uri="{D42A27DB-BD31-4B8C-83A1-F6EECF244321}">
                <p14:modId xmlns:p14="http://schemas.microsoft.com/office/powerpoint/2010/main" val="2399807769"/>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 xmlns:a16="http://schemas.microsoft.com/office/drawing/2014/main"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 xmlns:a16="http://schemas.microsoft.com/office/drawing/2014/main"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 xmlns:a16="http://schemas.microsoft.com/office/drawing/2014/main"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 xmlns:a16="http://schemas.microsoft.com/office/drawing/2014/main"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 xmlns:a16="http://schemas.microsoft.com/office/drawing/2014/main"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 xmlns:a16="http://schemas.microsoft.com/office/drawing/2014/main"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 xmlns:a16="http://schemas.microsoft.com/office/drawing/2014/main"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 xmlns:a16="http://schemas.microsoft.com/office/drawing/2014/main"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 xmlns:a16="http://schemas.microsoft.com/office/drawing/2014/main"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+2%</a:t>
              </a:r>
            </a:p>
          </p:txBody>
        </p:sp>
      </p:grpSp>
      <p:grpSp>
        <p:nvGrpSpPr>
          <p:cNvPr id="4" name="Group 3">
            <a:extLst>
              <a:ext uri="{FF2B5EF4-FFF2-40B4-BE49-F238E27FC236}">
                <a16:creationId xmlns="" xmlns:a16="http://schemas.microsoft.com/office/drawing/2014/main"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 xmlns:a16="http://schemas.microsoft.com/office/drawing/2014/main"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 xmlns:a16="http://schemas.microsoft.com/office/drawing/2014/main"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 xmlns:a16="http://schemas.microsoft.com/office/drawing/2014/main"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 xmlns:a16="http://schemas.microsoft.com/office/drawing/2014/main"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 xmlns:a16="http://schemas.microsoft.com/office/drawing/2014/main"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 xmlns:a16="http://schemas.microsoft.com/office/drawing/2014/main"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 xmlns:a16="http://schemas.microsoft.com/office/drawing/2014/main"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 xmlns:a16="http://schemas.microsoft.com/office/drawing/2014/main"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 xmlns:a16="http://schemas.microsoft.com/office/drawing/2014/main"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 xmlns:a16="http://schemas.microsoft.com/office/drawing/2014/main"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 xmlns:a16="http://schemas.microsoft.com/office/drawing/2014/main"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 xmlns:a16="http://schemas.microsoft.com/office/drawing/2014/main"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 xmlns:a16="http://schemas.microsoft.com/office/drawing/2014/main"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 xmlns:a16="http://schemas.microsoft.com/office/drawing/2014/main"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 xmlns:a16="http://schemas.microsoft.com/office/drawing/2014/main"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Tree>
    <p:extLst>
      <p:ext uri="{BB962C8B-B14F-4D97-AF65-F5344CB8AC3E}">
        <p14:creationId xmlns:p14="http://schemas.microsoft.com/office/powerpoint/2010/main" val="418294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 xmlns:a16="http://schemas.microsoft.com/office/drawing/2014/main" id="{278FC97D-E638-7E41-AB57-FB6A9CE22C67}"/>
              </a:ext>
            </a:extLst>
          </p:cNvPr>
          <p:cNvGraphicFramePr/>
          <p:nvPr>
            <p:extLst>
              <p:ext uri="{D42A27DB-BD31-4B8C-83A1-F6EECF244321}">
                <p14:modId xmlns:p14="http://schemas.microsoft.com/office/powerpoint/2010/main" val="1101628252"/>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 xmlns:a16="http://schemas.microsoft.com/office/drawing/2014/main"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 xmlns:a16="http://schemas.microsoft.com/office/drawing/2014/main"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 xmlns:a16="http://schemas.microsoft.com/office/drawing/2014/main"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 xmlns:a16="http://schemas.microsoft.com/office/drawing/2014/main"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 xmlns:a16="http://schemas.microsoft.com/office/drawing/2014/main"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 xmlns:a16="http://schemas.microsoft.com/office/drawing/2014/main"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 xmlns:a16="http://schemas.microsoft.com/office/drawing/2014/main"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 xmlns:a16="http://schemas.microsoft.com/office/drawing/2014/main"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 xmlns:a16="http://schemas.microsoft.com/office/drawing/2014/main"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+2%</a:t>
              </a:r>
            </a:p>
          </p:txBody>
        </p:sp>
      </p:grpSp>
      <p:grpSp>
        <p:nvGrpSpPr>
          <p:cNvPr id="4" name="Group 3">
            <a:extLst>
              <a:ext uri="{FF2B5EF4-FFF2-40B4-BE49-F238E27FC236}">
                <a16:creationId xmlns="" xmlns:a16="http://schemas.microsoft.com/office/drawing/2014/main"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 xmlns:a16="http://schemas.microsoft.com/office/drawing/2014/main"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 xmlns:a16="http://schemas.microsoft.com/office/drawing/2014/main"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 xmlns:a16="http://schemas.microsoft.com/office/drawing/2014/main"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 xmlns:a16="http://schemas.microsoft.com/office/drawing/2014/main"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 xmlns:a16="http://schemas.microsoft.com/office/drawing/2014/main"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 xmlns:a16="http://schemas.microsoft.com/office/drawing/2014/main"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 xmlns:a16="http://schemas.microsoft.com/office/drawing/2014/main"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 xmlns:a16="http://schemas.microsoft.com/office/drawing/2014/main"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 xmlns:a16="http://schemas.microsoft.com/office/drawing/2014/main"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 xmlns:a16="http://schemas.microsoft.com/office/drawing/2014/main"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 xmlns:a16="http://schemas.microsoft.com/office/drawing/2014/main"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 xmlns:a16="http://schemas.microsoft.com/office/drawing/2014/main"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 xmlns:a16="http://schemas.microsoft.com/office/drawing/2014/main"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 xmlns:a16="http://schemas.microsoft.com/office/drawing/2014/main"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 xmlns:a16="http://schemas.microsoft.com/office/drawing/2014/main"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
        <p:nvSpPr>
          <p:cNvPr id="3" name="Rectangle 2">
            <a:extLst>
              <a:ext uri="{FF2B5EF4-FFF2-40B4-BE49-F238E27FC236}">
                <a16:creationId xmlns="" xmlns:a16="http://schemas.microsoft.com/office/drawing/2014/main" id="{3BBEBC59-3B0B-3444-9CE9-14BB599E3BDF}"/>
              </a:ext>
            </a:extLst>
          </p:cNvPr>
          <p:cNvSpPr/>
          <p:nvPr/>
        </p:nvSpPr>
        <p:spPr>
          <a:xfrm>
            <a:off x="152400" y="756910"/>
            <a:ext cx="8686800" cy="5567690"/>
          </a:xfrm>
          <a:prstGeom prst="rect">
            <a:avLst/>
          </a:prstGeom>
          <a:solidFill>
            <a:schemeClr val="tx1">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2"/>
                </a:solidFill>
                <a:latin typeface="Century Gothic" panose="020B0502020202020204" pitchFamily="34" charset="0"/>
              </a:rPr>
              <a:t>Move fast!</a:t>
            </a:r>
          </a:p>
        </p:txBody>
      </p:sp>
    </p:spTree>
    <p:extLst>
      <p:ext uri="{BB962C8B-B14F-4D97-AF65-F5344CB8AC3E}">
        <p14:creationId xmlns:p14="http://schemas.microsoft.com/office/powerpoint/2010/main" val="150725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 xmlns:a16="http://schemas.microsoft.com/office/drawing/2014/main" id="{278FC97D-E638-7E41-AB57-FB6A9CE22C67}"/>
              </a:ext>
            </a:extLst>
          </p:cNvPr>
          <p:cNvGraphicFramePr/>
          <p:nvPr>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 xmlns:a16="http://schemas.microsoft.com/office/drawing/2014/main" id="{83D49199-1C85-434F-A859-D17886F4BA0F}"/>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sp>
        <p:nvSpPr>
          <p:cNvPr id="8" name="Freeform 7">
            <a:extLst>
              <a:ext uri="{FF2B5EF4-FFF2-40B4-BE49-F238E27FC236}">
                <a16:creationId xmlns="" xmlns:a16="http://schemas.microsoft.com/office/drawing/2014/main" id="{0DE2B601-8943-F34E-A685-651E19560A19}"/>
              </a:ext>
            </a:extLst>
          </p:cNvPr>
          <p:cNvSpPr/>
          <p:nvPr/>
        </p:nvSpPr>
        <p:spPr>
          <a:xfrm>
            <a:off x="1883224" y="1143000"/>
            <a:ext cx="5521111" cy="2667000"/>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nvGrpSpPr>
          <p:cNvPr id="9" name="Group 8">
            <a:extLst>
              <a:ext uri="{FF2B5EF4-FFF2-40B4-BE49-F238E27FC236}">
                <a16:creationId xmlns="" xmlns:a16="http://schemas.microsoft.com/office/drawing/2014/main" id="{D1C7B116-0149-0C4E-83F5-AF7325903742}"/>
              </a:ext>
            </a:extLst>
          </p:cNvPr>
          <p:cNvGrpSpPr/>
          <p:nvPr/>
        </p:nvGrpSpPr>
        <p:grpSpPr>
          <a:xfrm>
            <a:off x="25167" y="228600"/>
            <a:ext cx="8268132" cy="533400"/>
            <a:chOff x="25167" y="228600"/>
            <a:chExt cx="8268132" cy="533400"/>
          </a:xfrm>
        </p:grpSpPr>
        <p:sp>
          <p:nvSpPr>
            <p:cNvPr id="15" name="Title 240">
              <a:extLst>
                <a:ext uri="{FF2B5EF4-FFF2-40B4-BE49-F238E27FC236}">
                  <a16:creationId xmlns="" xmlns:a16="http://schemas.microsoft.com/office/drawing/2014/main" id="{0F806D1B-113D-DC4B-8A80-44D2BF4AADA3}"/>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dirty="0"/>
                <a:t>: a neural approach</a:t>
              </a:r>
            </a:p>
          </p:txBody>
        </p:sp>
        <p:sp>
          <p:nvSpPr>
            <p:cNvPr id="16" name="TextBox 15">
              <a:extLst>
                <a:ext uri="{FF2B5EF4-FFF2-40B4-BE49-F238E27FC236}">
                  <a16:creationId xmlns="" xmlns:a16="http://schemas.microsoft.com/office/drawing/2014/main" id="{3C223C7E-9FC4-2B44-8746-D11CD4DA0A14}"/>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
        <p:nvSpPr>
          <p:cNvPr id="18" name="TextBox 17">
            <a:extLst>
              <a:ext uri="{FF2B5EF4-FFF2-40B4-BE49-F238E27FC236}">
                <a16:creationId xmlns="" xmlns:a16="http://schemas.microsoft.com/office/drawing/2014/main" id="{1FAD4134-EE94-5746-AF3F-8ECE5D8B674F}"/>
              </a:ext>
            </a:extLst>
          </p:cNvPr>
          <p:cNvSpPr txBox="1"/>
          <p:nvPr/>
        </p:nvSpPr>
        <p:spPr>
          <a:xfrm>
            <a:off x="1739664" y="3167390"/>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Previous SOTA</a:t>
            </a:r>
          </a:p>
        </p:txBody>
      </p:sp>
      <p:grpSp>
        <p:nvGrpSpPr>
          <p:cNvPr id="2" name="Group 1">
            <a:extLst>
              <a:ext uri="{FF2B5EF4-FFF2-40B4-BE49-F238E27FC236}">
                <a16:creationId xmlns="" xmlns:a16="http://schemas.microsoft.com/office/drawing/2014/main" id="{E529B9F9-73CC-D646-AA6D-E9AB877092D9}"/>
              </a:ext>
            </a:extLst>
          </p:cNvPr>
          <p:cNvGrpSpPr/>
          <p:nvPr/>
        </p:nvGrpSpPr>
        <p:grpSpPr>
          <a:xfrm>
            <a:off x="2590800" y="2817552"/>
            <a:ext cx="1143000" cy="1311904"/>
            <a:chOff x="2590800" y="2817552"/>
            <a:chExt cx="1143000" cy="1311904"/>
          </a:xfrm>
        </p:grpSpPr>
        <p:sp>
          <p:nvSpPr>
            <p:cNvPr id="17" name="TextBox 16">
              <a:extLst>
                <a:ext uri="{FF2B5EF4-FFF2-40B4-BE49-F238E27FC236}">
                  <a16:creationId xmlns="" xmlns:a16="http://schemas.microsoft.com/office/drawing/2014/main" id="{32F66C12-074B-9F47-A822-300AD9B70BB4}"/>
                </a:ext>
              </a:extLst>
            </p:cNvPr>
            <p:cNvSpPr txBox="1"/>
            <p:nvPr/>
          </p:nvSpPr>
          <p:spPr>
            <a:xfrm>
              <a:off x="2590800" y="281755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Structured learning</a:t>
              </a:r>
            </a:p>
          </p:txBody>
        </p:sp>
        <p:sp>
          <p:nvSpPr>
            <p:cNvPr id="24" name="TextBox 23">
              <a:extLst>
                <a:ext uri="{FF2B5EF4-FFF2-40B4-BE49-F238E27FC236}">
                  <a16:creationId xmlns="" xmlns:a16="http://schemas.microsoft.com/office/drawing/2014/main" id="{1E333C95-5200-C940-B0FE-1AE301728476}"/>
                </a:ext>
              </a:extLst>
            </p:cNvPr>
            <p:cNvSpPr txBox="1"/>
            <p:nvPr/>
          </p:nvSpPr>
          <p:spPr>
            <a:xfrm>
              <a:off x="2590800" y="3821679"/>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+2%</a:t>
              </a:r>
            </a:p>
          </p:txBody>
        </p:sp>
      </p:grpSp>
      <p:grpSp>
        <p:nvGrpSpPr>
          <p:cNvPr id="4" name="Group 3">
            <a:extLst>
              <a:ext uri="{FF2B5EF4-FFF2-40B4-BE49-F238E27FC236}">
                <a16:creationId xmlns="" xmlns:a16="http://schemas.microsoft.com/office/drawing/2014/main" id="{E63FF029-45F1-2644-87FA-75FEF3FE0BCB}"/>
              </a:ext>
            </a:extLst>
          </p:cNvPr>
          <p:cNvGrpSpPr/>
          <p:nvPr/>
        </p:nvGrpSpPr>
        <p:grpSpPr>
          <a:xfrm>
            <a:off x="3377974" y="2327342"/>
            <a:ext cx="1166054" cy="1408575"/>
            <a:chOff x="3377974" y="2327342"/>
            <a:chExt cx="1166054" cy="1408575"/>
          </a:xfrm>
        </p:grpSpPr>
        <p:sp>
          <p:nvSpPr>
            <p:cNvPr id="19" name="TextBox 18">
              <a:extLst>
                <a:ext uri="{FF2B5EF4-FFF2-40B4-BE49-F238E27FC236}">
                  <a16:creationId xmlns="" xmlns:a16="http://schemas.microsoft.com/office/drawing/2014/main" id="{EDFB77F9-647F-DE49-87AF-C6BBB0CFA713}"/>
                </a:ext>
              </a:extLst>
            </p:cNvPr>
            <p:cNvSpPr txBox="1"/>
            <p:nvPr/>
          </p:nvSpPr>
          <p:spPr>
            <a:xfrm>
              <a:off x="3377974" y="2327342"/>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Common sense</a:t>
              </a:r>
            </a:p>
          </p:txBody>
        </p:sp>
        <p:sp>
          <p:nvSpPr>
            <p:cNvPr id="25" name="TextBox 24">
              <a:extLst>
                <a:ext uri="{FF2B5EF4-FFF2-40B4-BE49-F238E27FC236}">
                  <a16:creationId xmlns="" xmlns:a16="http://schemas.microsoft.com/office/drawing/2014/main" id="{213E4235-4EA4-6C41-B3C5-46BD6BC0D866}"/>
                </a:ext>
              </a:extLst>
            </p:cNvPr>
            <p:cNvSpPr txBox="1"/>
            <p:nvPr/>
          </p:nvSpPr>
          <p:spPr>
            <a:xfrm>
              <a:off x="3401028" y="3428140"/>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6" name="Group 5">
            <a:extLst>
              <a:ext uri="{FF2B5EF4-FFF2-40B4-BE49-F238E27FC236}">
                <a16:creationId xmlns="" xmlns:a16="http://schemas.microsoft.com/office/drawing/2014/main" id="{C9515CC4-7B13-BC44-BFD5-F665D33C05BC}"/>
              </a:ext>
            </a:extLst>
          </p:cNvPr>
          <p:cNvGrpSpPr/>
          <p:nvPr/>
        </p:nvGrpSpPr>
        <p:grpSpPr>
          <a:xfrm>
            <a:off x="4257555" y="1871507"/>
            <a:ext cx="1152645" cy="1204654"/>
            <a:chOff x="4257555" y="1871507"/>
            <a:chExt cx="1152645" cy="1204654"/>
          </a:xfrm>
        </p:grpSpPr>
        <p:sp>
          <p:nvSpPr>
            <p:cNvPr id="20" name="TextBox 19">
              <a:extLst>
                <a:ext uri="{FF2B5EF4-FFF2-40B4-BE49-F238E27FC236}">
                  <a16:creationId xmlns="" xmlns:a16="http://schemas.microsoft.com/office/drawing/2014/main" id="{7837CF35-9881-7E44-8272-BED47F44BBC2}"/>
                </a:ext>
              </a:extLst>
            </p:cNvPr>
            <p:cNvSpPr txBox="1"/>
            <p:nvPr/>
          </p:nvSpPr>
          <p:spPr>
            <a:xfrm>
              <a:off x="4267200" y="1871507"/>
              <a:ext cx="1143000" cy="523220"/>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New dataset</a:t>
              </a:r>
            </a:p>
          </p:txBody>
        </p:sp>
        <p:sp>
          <p:nvSpPr>
            <p:cNvPr id="26" name="TextBox 25">
              <a:extLst>
                <a:ext uri="{FF2B5EF4-FFF2-40B4-BE49-F238E27FC236}">
                  <a16:creationId xmlns="" xmlns:a16="http://schemas.microsoft.com/office/drawing/2014/main" id="{7FB541D6-BF19-DB42-B2CC-23B7544C8B9B}"/>
                </a:ext>
              </a:extLst>
            </p:cNvPr>
            <p:cNvSpPr txBox="1"/>
            <p:nvPr/>
          </p:nvSpPr>
          <p:spPr>
            <a:xfrm>
              <a:off x="4257555" y="276838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+11%*</a:t>
              </a:r>
            </a:p>
          </p:txBody>
        </p:sp>
      </p:grpSp>
      <p:grpSp>
        <p:nvGrpSpPr>
          <p:cNvPr id="5" name="Group 4">
            <a:extLst>
              <a:ext uri="{FF2B5EF4-FFF2-40B4-BE49-F238E27FC236}">
                <a16:creationId xmlns="" xmlns:a16="http://schemas.microsoft.com/office/drawing/2014/main" id="{F62E5451-C6C2-B44C-9019-B8A771319685}"/>
              </a:ext>
            </a:extLst>
          </p:cNvPr>
          <p:cNvGrpSpPr/>
          <p:nvPr/>
        </p:nvGrpSpPr>
        <p:grpSpPr>
          <a:xfrm>
            <a:off x="5067783" y="1753567"/>
            <a:ext cx="1154278" cy="975353"/>
            <a:chOff x="5067783" y="1753567"/>
            <a:chExt cx="1154278" cy="975353"/>
          </a:xfrm>
        </p:grpSpPr>
        <p:sp>
          <p:nvSpPr>
            <p:cNvPr id="21" name="TextBox 20">
              <a:extLst>
                <a:ext uri="{FF2B5EF4-FFF2-40B4-BE49-F238E27FC236}">
                  <a16:creationId xmlns="" xmlns:a16="http://schemas.microsoft.com/office/drawing/2014/main" id="{96011672-7A74-B54A-B263-2383A0352054}"/>
                </a:ext>
              </a:extLst>
            </p:cNvPr>
            <p:cNvSpPr txBox="1"/>
            <p:nvPr/>
          </p:nvSpPr>
          <p:spPr>
            <a:xfrm>
              <a:off x="5079061" y="1753567"/>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Neural</a:t>
              </a:r>
            </a:p>
          </p:txBody>
        </p:sp>
        <p:sp>
          <p:nvSpPr>
            <p:cNvPr id="27" name="TextBox 26">
              <a:extLst>
                <a:ext uri="{FF2B5EF4-FFF2-40B4-BE49-F238E27FC236}">
                  <a16:creationId xmlns="" xmlns:a16="http://schemas.microsoft.com/office/drawing/2014/main" id="{A1078CDE-E1CF-5B40-9522-0375E83425B8}"/>
                </a:ext>
              </a:extLst>
            </p:cNvPr>
            <p:cNvSpPr txBox="1"/>
            <p:nvPr/>
          </p:nvSpPr>
          <p:spPr>
            <a:xfrm>
              <a:off x="5067783" y="24211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grpSp>
        <p:nvGrpSpPr>
          <p:cNvPr id="7" name="Group 6">
            <a:extLst>
              <a:ext uri="{FF2B5EF4-FFF2-40B4-BE49-F238E27FC236}">
                <a16:creationId xmlns="" xmlns:a16="http://schemas.microsoft.com/office/drawing/2014/main" id="{B9F2C1D6-882C-6B4F-B3C0-D444939A70D7}"/>
              </a:ext>
            </a:extLst>
          </p:cNvPr>
          <p:cNvGrpSpPr/>
          <p:nvPr/>
        </p:nvGrpSpPr>
        <p:grpSpPr>
          <a:xfrm>
            <a:off x="5886591" y="1301978"/>
            <a:ext cx="1180719" cy="836633"/>
            <a:chOff x="5886591" y="1301978"/>
            <a:chExt cx="1180719" cy="836633"/>
          </a:xfrm>
        </p:grpSpPr>
        <p:sp>
          <p:nvSpPr>
            <p:cNvPr id="22" name="TextBox 21">
              <a:extLst>
                <a:ext uri="{FF2B5EF4-FFF2-40B4-BE49-F238E27FC236}">
                  <a16:creationId xmlns="" xmlns:a16="http://schemas.microsoft.com/office/drawing/2014/main" id="{DE2F08E5-4801-3542-964A-0F79D7872602}"/>
                </a:ext>
              </a:extLst>
            </p:cNvPr>
            <p:cNvSpPr txBox="1"/>
            <p:nvPr/>
          </p:nvSpPr>
          <p:spPr>
            <a:xfrm>
              <a:off x="5886591" y="1301978"/>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BERT</a:t>
              </a:r>
            </a:p>
          </p:txBody>
        </p:sp>
        <p:sp>
          <p:nvSpPr>
            <p:cNvPr id="28" name="TextBox 27">
              <a:extLst>
                <a:ext uri="{FF2B5EF4-FFF2-40B4-BE49-F238E27FC236}">
                  <a16:creationId xmlns="" xmlns:a16="http://schemas.microsoft.com/office/drawing/2014/main" id="{1ECE3DC5-4644-A74B-9303-6333C2511D32}"/>
                </a:ext>
              </a:extLst>
            </p:cNvPr>
            <p:cNvSpPr txBox="1"/>
            <p:nvPr/>
          </p:nvSpPr>
          <p:spPr>
            <a:xfrm>
              <a:off x="5924310" y="18308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+4%</a:t>
              </a:r>
            </a:p>
          </p:txBody>
        </p:sp>
      </p:grpSp>
      <p:grpSp>
        <p:nvGrpSpPr>
          <p:cNvPr id="31" name="Group 30">
            <a:extLst>
              <a:ext uri="{FF2B5EF4-FFF2-40B4-BE49-F238E27FC236}">
                <a16:creationId xmlns="" xmlns:a16="http://schemas.microsoft.com/office/drawing/2014/main" id="{A5DEDB0D-B526-DA4A-955D-809BEDE43482}"/>
              </a:ext>
            </a:extLst>
          </p:cNvPr>
          <p:cNvGrpSpPr/>
          <p:nvPr/>
        </p:nvGrpSpPr>
        <p:grpSpPr>
          <a:xfrm>
            <a:off x="6757687" y="882134"/>
            <a:ext cx="1187372" cy="932386"/>
            <a:chOff x="6757687" y="882134"/>
            <a:chExt cx="1187372" cy="932386"/>
          </a:xfrm>
        </p:grpSpPr>
        <p:sp>
          <p:nvSpPr>
            <p:cNvPr id="23" name="TextBox 22">
              <a:extLst>
                <a:ext uri="{FF2B5EF4-FFF2-40B4-BE49-F238E27FC236}">
                  <a16:creationId xmlns="" xmlns:a16="http://schemas.microsoft.com/office/drawing/2014/main" id="{7E3CA28F-D866-104B-B7AF-33839E47CF8F}"/>
                </a:ext>
              </a:extLst>
            </p:cNvPr>
            <p:cNvSpPr txBox="1"/>
            <p:nvPr/>
          </p:nvSpPr>
          <p:spPr>
            <a:xfrm>
              <a:off x="6802059" y="882134"/>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Siamese</a:t>
              </a:r>
            </a:p>
          </p:txBody>
        </p:sp>
        <p:sp>
          <p:nvSpPr>
            <p:cNvPr id="29" name="TextBox 28">
              <a:extLst>
                <a:ext uri="{FF2B5EF4-FFF2-40B4-BE49-F238E27FC236}">
                  <a16:creationId xmlns="" xmlns:a16="http://schemas.microsoft.com/office/drawing/2014/main" id="{3D571F23-DB2E-8243-B051-CAEC8F8E88DC}"/>
                </a:ext>
              </a:extLst>
            </p:cNvPr>
            <p:cNvSpPr txBox="1"/>
            <p:nvPr/>
          </p:nvSpPr>
          <p:spPr>
            <a:xfrm>
              <a:off x="6757687" y="1506743"/>
              <a:ext cx="1143000" cy="307777"/>
            </a:xfrm>
            <a:prstGeom prst="rect">
              <a:avLst/>
            </a:prstGeom>
            <a:noFill/>
          </p:spPr>
          <p:txBody>
            <a:bodyPr wrap="square" rtlCol="0">
              <a:spAutoFit/>
            </a:bodyPr>
            <a:lstStyle/>
            <a:p>
              <a:pPr algn="ctr"/>
              <a:r>
                <a:rPr lang="en-US" sz="1400" i="1" dirty="0">
                  <a:solidFill>
                    <a:schemeClr val="bg2"/>
                  </a:solidFill>
                  <a:latin typeface="Century Gothic" panose="020B0502020202020204" pitchFamily="34" charset="0"/>
                </a:rPr>
                <a:t>+3%</a:t>
              </a:r>
            </a:p>
          </p:txBody>
        </p:sp>
      </p:grpSp>
      <p:sp>
        <p:nvSpPr>
          <p:cNvPr id="30" name="TextBox 29">
            <a:extLst>
              <a:ext uri="{FF2B5EF4-FFF2-40B4-BE49-F238E27FC236}">
                <a16:creationId xmlns="" xmlns:a16="http://schemas.microsoft.com/office/drawing/2014/main" id="{28B25C81-246C-EC43-BBB1-59915AC8BA87}"/>
              </a:ext>
            </a:extLst>
          </p:cNvPr>
          <p:cNvSpPr txBox="1"/>
          <p:nvPr/>
        </p:nvSpPr>
        <p:spPr>
          <a:xfrm>
            <a:off x="5624815" y="5019298"/>
            <a:ext cx="2743199" cy="307777"/>
          </a:xfrm>
          <a:prstGeom prst="rect">
            <a:avLst/>
          </a:prstGeom>
          <a:noFill/>
        </p:spPr>
        <p:txBody>
          <a:bodyPr wrap="square" rtlCol="0">
            <a:spAutoFit/>
          </a:bodyPr>
          <a:lstStyle/>
          <a:p>
            <a:r>
              <a:rPr lang="en-US" sz="1400" i="1" dirty="0">
                <a:solidFill>
                  <a:schemeClr val="bg2"/>
                </a:solidFill>
                <a:latin typeface="Century Gothic" panose="020B0502020202020204" pitchFamily="34" charset="0"/>
              </a:rPr>
              <a:t>*Test set is re-labeled</a:t>
            </a:r>
          </a:p>
        </p:txBody>
      </p:sp>
      <p:sp>
        <p:nvSpPr>
          <p:cNvPr id="3" name="Rectangle 2">
            <a:extLst>
              <a:ext uri="{FF2B5EF4-FFF2-40B4-BE49-F238E27FC236}">
                <a16:creationId xmlns="" xmlns:a16="http://schemas.microsoft.com/office/drawing/2014/main" id="{3BBEBC59-3B0B-3444-9CE9-14BB599E3BDF}"/>
              </a:ext>
            </a:extLst>
          </p:cNvPr>
          <p:cNvSpPr/>
          <p:nvPr/>
        </p:nvSpPr>
        <p:spPr>
          <a:xfrm>
            <a:off x="152400" y="756910"/>
            <a:ext cx="8686800" cy="5567690"/>
          </a:xfrm>
          <a:prstGeom prst="rect">
            <a:avLst/>
          </a:prstGeom>
          <a:solidFill>
            <a:schemeClr val="tx1">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2"/>
                </a:solidFill>
                <a:latin typeface="Century Gothic" panose="020B0502020202020204" pitchFamily="34" charset="0"/>
              </a:rPr>
              <a:t>Move slow to move fast!</a:t>
            </a:r>
          </a:p>
        </p:txBody>
      </p:sp>
    </p:spTree>
    <p:extLst>
      <p:ext uri="{BB962C8B-B14F-4D97-AF65-F5344CB8AC3E}">
        <p14:creationId xmlns:p14="http://schemas.microsoft.com/office/powerpoint/2010/main" val="25859976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 name="Chart 2"/>
          <p:cNvGraphicFramePr/>
          <p:nvPr>
            <p:extLst>
              <p:ext uri="{D42A27DB-BD31-4B8C-83A1-F6EECF244321}">
                <p14:modId xmlns:p14="http://schemas.microsoft.com/office/powerpoint/2010/main" val="3600982783"/>
              </p:ext>
            </p:extLst>
          </p:nvPr>
        </p:nvGraphicFramePr>
        <p:xfrm>
          <a:off x="561974" y="914400"/>
          <a:ext cx="8001000" cy="5334000"/>
        </p:xfrm>
        <a:graphic>
          <a:graphicData uri="http://schemas.openxmlformats.org/drawingml/2006/chart">
            <c:chart xmlns:c="http://schemas.openxmlformats.org/drawingml/2006/chart" xmlns:r="http://schemas.openxmlformats.org/officeDocument/2006/relationships" r:id="rId2"/>
          </a:graphicData>
        </a:graphic>
      </p:graphicFrame>
      <p:grpSp>
        <p:nvGrpSpPr>
          <p:cNvPr id="4" name="Group 3"/>
          <p:cNvGrpSpPr/>
          <p:nvPr/>
        </p:nvGrpSpPr>
        <p:grpSpPr>
          <a:xfrm>
            <a:off x="1459107" y="1669991"/>
            <a:ext cx="6276109" cy="2036618"/>
            <a:chOff x="962026" y="914400"/>
            <a:chExt cx="6276109" cy="2036618"/>
          </a:xfrm>
        </p:grpSpPr>
        <p:grpSp>
          <p:nvGrpSpPr>
            <p:cNvPr id="5" name="Group 4"/>
            <p:cNvGrpSpPr/>
            <p:nvPr/>
          </p:nvGrpSpPr>
          <p:grpSpPr>
            <a:xfrm>
              <a:off x="962026" y="914400"/>
              <a:ext cx="3738128" cy="1780309"/>
              <a:chOff x="962026" y="914400"/>
              <a:chExt cx="3738128" cy="1780309"/>
            </a:xfrm>
          </p:grpSpPr>
          <p:sp>
            <p:nvSpPr>
              <p:cNvPr id="7" name="Freeform 6"/>
              <p:cNvSpPr/>
              <p:nvPr/>
            </p:nvSpPr>
            <p:spPr>
              <a:xfrm>
                <a:off x="962026" y="1496291"/>
                <a:ext cx="1399309" cy="1198418"/>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sp>
            <p:nvSpPr>
              <p:cNvPr id="8" name="Freeform 7"/>
              <p:cNvSpPr/>
              <p:nvPr/>
            </p:nvSpPr>
            <p:spPr>
              <a:xfrm>
                <a:off x="3300845" y="914400"/>
                <a:ext cx="1399309" cy="1198418"/>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sp>
          <p:nvSpPr>
            <p:cNvPr id="6" name="Freeform 5"/>
            <p:cNvSpPr/>
            <p:nvPr/>
          </p:nvSpPr>
          <p:spPr>
            <a:xfrm>
              <a:off x="5838826" y="2133600"/>
              <a:ext cx="1399309" cy="817418"/>
            </a:xfrm>
            <a:custGeom>
              <a:avLst/>
              <a:gdLst>
                <a:gd name="connsiteX0" fmla="*/ 0 w 1482436"/>
                <a:gd name="connsiteY0" fmla="*/ 1108363 h 1108363"/>
                <a:gd name="connsiteX1" fmla="*/ 692727 w 1482436"/>
                <a:gd name="connsiteY1" fmla="*/ 720436 h 1108363"/>
                <a:gd name="connsiteX2" fmla="*/ 1482436 w 1482436"/>
                <a:gd name="connsiteY2" fmla="*/ 0 h 1108363"/>
              </a:gdLst>
              <a:ahLst/>
              <a:cxnLst>
                <a:cxn ang="0">
                  <a:pos x="connsiteX0" y="connsiteY0"/>
                </a:cxn>
                <a:cxn ang="0">
                  <a:pos x="connsiteX1" y="connsiteY1"/>
                </a:cxn>
                <a:cxn ang="0">
                  <a:pos x="connsiteX2" y="connsiteY2"/>
                </a:cxn>
              </a:cxnLst>
              <a:rect l="l" t="t" r="r" b="b"/>
              <a:pathLst>
                <a:path w="1482436" h="1108363">
                  <a:moveTo>
                    <a:pt x="0" y="1108363"/>
                  </a:moveTo>
                  <a:cubicBezTo>
                    <a:pt x="222827" y="1006763"/>
                    <a:pt x="445654" y="905163"/>
                    <a:pt x="692727" y="720436"/>
                  </a:cubicBezTo>
                  <a:cubicBezTo>
                    <a:pt x="939800" y="535709"/>
                    <a:pt x="1482436" y="0"/>
                    <a:pt x="1482436" y="0"/>
                  </a:cubicBezTo>
                </a:path>
              </a:pathLst>
            </a:custGeom>
            <a:noFill/>
            <a:ln w="38100">
              <a:solidFill>
                <a:srgbClr val="A7001B"/>
              </a:solidFill>
              <a:prstDash val="sys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US"/>
            </a:p>
          </p:txBody>
        </p:sp>
      </p:grpSp>
      <p:grpSp>
        <p:nvGrpSpPr>
          <p:cNvPr id="11" name="Group 10">
            <a:extLst>
              <a:ext uri="{FF2B5EF4-FFF2-40B4-BE49-F238E27FC236}">
                <a16:creationId xmlns="" xmlns:a16="http://schemas.microsoft.com/office/drawing/2014/main" id="{FA143F7B-2CF6-3449-9DB7-9754DB1D6AD6}"/>
              </a:ext>
            </a:extLst>
          </p:cNvPr>
          <p:cNvGrpSpPr/>
          <p:nvPr/>
        </p:nvGrpSpPr>
        <p:grpSpPr>
          <a:xfrm>
            <a:off x="-22669" y="4934634"/>
            <a:ext cx="4366069" cy="780366"/>
            <a:chOff x="-22669" y="4934634"/>
            <a:chExt cx="4366069" cy="780366"/>
          </a:xfrm>
        </p:grpSpPr>
        <p:sp>
          <p:nvSpPr>
            <p:cNvPr id="9" name="TextBox 8">
              <a:extLst>
                <a:ext uri="{FF2B5EF4-FFF2-40B4-BE49-F238E27FC236}">
                  <a16:creationId xmlns="" xmlns:a16="http://schemas.microsoft.com/office/drawing/2014/main" id="{17B381C1-81A3-6D41-8ABF-45D8F4B351E1}"/>
                </a:ext>
              </a:extLst>
            </p:cNvPr>
            <p:cNvSpPr txBox="1"/>
            <p:nvPr/>
          </p:nvSpPr>
          <p:spPr>
            <a:xfrm>
              <a:off x="-22669" y="4934634"/>
              <a:ext cx="2146742" cy="646331"/>
            </a:xfrm>
            <a:prstGeom prst="rect">
              <a:avLst/>
            </a:prstGeom>
            <a:noFill/>
          </p:spPr>
          <p:txBody>
            <a:bodyPr wrap="none" rtlCol="0">
              <a:spAutoFit/>
            </a:bodyPr>
            <a:lstStyle/>
            <a:p>
              <a:pPr algn="ctr"/>
              <a:r>
                <a:rPr lang="en-US" dirty="0">
                  <a:solidFill>
                    <a:schemeClr val="bg2"/>
                  </a:solidFill>
                  <a:latin typeface="Century Gothic" panose="020B0502020202020204" pitchFamily="34" charset="0"/>
                </a:rPr>
                <a:t>Our own baseline</a:t>
              </a:r>
            </a:p>
            <a:p>
              <a:pPr algn="ctr"/>
              <a:r>
                <a:rPr lang="en-US" dirty="0">
                  <a:solidFill>
                    <a:schemeClr val="bg2"/>
                  </a:solidFill>
                  <a:latin typeface="Century Gothic" panose="020B0502020202020204" pitchFamily="34" charset="0"/>
                </a:rPr>
                <a:t>[EMNLP’18]</a:t>
              </a:r>
            </a:p>
          </p:txBody>
        </p:sp>
        <p:sp>
          <p:nvSpPr>
            <p:cNvPr id="10" name="Rounded Rectangle 9">
              <a:extLst>
                <a:ext uri="{FF2B5EF4-FFF2-40B4-BE49-F238E27FC236}">
                  <a16:creationId xmlns="" xmlns:a16="http://schemas.microsoft.com/office/drawing/2014/main" id="{DAA0A5BA-D232-6A4C-AD2E-92841CE2B6FE}"/>
                </a:ext>
              </a:extLst>
            </p:cNvPr>
            <p:cNvSpPr/>
            <p:nvPr/>
          </p:nvSpPr>
          <p:spPr>
            <a:xfrm>
              <a:off x="1828800" y="5257800"/>
              <a:ext cx="2514600" cy="457200"/>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 xmlns:a16="http://schemas.microsoft.com/office/drawing/2014/main" id="{604EEA16-4D66-FE4A-9E74-1575810ABAC8}"/>
              </a:ext>
            </a:extLst>
          </p:cNvPr>
          <p:cNvSpPr txBox="1"/>
          <p:nvPr/>
        </p:nvSpPr>
        <p:spPr>
          <a:xfrm>
            <a:off x="2810446" y="1925517"/>
            <a:ext cx="76014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+10%</a:t>
            </a:r>
          </a:p>
        </p:txBody>
      </p:sp>
      <p:sp>
        <p:nvSpPr>
          <p:cNvPr id="13" name="TextBox 12">
            <a:extLst>
              <a:ext uri="{FF2B5EF4-FFF2-40B4-BE49-F238E27FC236}">
                <a16:creationId xmlns="" xmlns:a16="http://schemas.microsoft.com/office/drawing/2014/main" id="{2CD9C049-9308-0144-815F-72DCC1B6382D}"/>
              </a:ext>
            </a:extLst>
          </p:cNvPr>
          <p:cNvSpPr txBox="1"/>
          <p:nvPr/>
        </p:nvSpPr>
        <p:spPr>
          <a:xfrm>
            <a:off x="5197235" y="1300659"/>
            <a:ext cx="76014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+10%</a:t>
            </a:r>
          </a:p>
        </p:txBody>
      </p:sp>
      <p:sp>
        <p:nvSpPr>
          <p:cNvPr id="14" name="TextBox 13">
            <a:extLst>
              <a:ext uri="{FF2B5EF4-FFF2-40B4-BE49-F238E27FC236}">
                <a16:creationId xmlns="" xmlns:a16="http://schemas.microsoft.com/office/drawing/2014/main" id="{6A69B354-A1A9-594A-85F7-CDDCE7467C05}"/>
              </a:ext>
            </a:extLst>
          </p:cNvPr>
          <p:cNvSpPr txBox="1"/>
          <p:nvPr/>
        </p:nvSpPr>
        <p:spPr>
          <a:xfrm>
            <a:off x="7646793" y="2519859"/>
            <a:ext cx="63190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+6%</a:t>
            </a:r>
          </a:p>
        </p:txBody>
      </p:sp>
      <p:sp>
        <p:nvSpPr>
          <p:cNvPr id="15" name="TextBox 14">
            <a:extLst>
              <a:ext uri="{FF2B5EF4-FFF2-40B4-BE49-F238E27FC236}">
                <a16:creationId xmlns="" xmlns:a16="http://schemas.microsoft.com/office/drawing/2014/main" id="{71D12C6E-9796-4343-BDDB-C260CA1B545A}"/>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Put all pieces together</a:t>
            </a:r>
          </a:p>
        </p:txBody>
      </p:sp>
      <p:grpSp>
        <p:nvGrpSpPr>
          <p:cNvPr id="18" name="Group 17">
            <a:extLst>
              <a:ext uri="{FF2B5EF4-FFF2-40B4-BE49-F238E27FC236}">
                <a16:creationId xmlns="" xmlns:a16="http://schemas.microsoft.com/office/drawing/2014/main" id="{28212DBB-C488-2045-B2D2-911CAECFBE0F}"/>
              </a:ext>
            </a:extLst>
          </p:cNvPr>
          <p:cNvGrpSpPr/>
          <p:nvPr/>
        </p:nvGrpSpPr>
        <p:grpSpPr>
          <a:xfrm>
            <a:off x="25167" y="228600"/>
            <a:ext cx="8268132" cy="533400"/>
            <a:chOff x="25167" y="228600"/>
            <a:chExt cx="8268132" cy="533400"/>
          </a:xfrm>
        </p:grpSpPr>
        <p:sp>
          <p:nvSpPr>
            <p:cNvPr id="19" name="Title 240">
              <a:extLst>
                <a:ext uri="{FF2B5EF4-FFF2-40B4-BE49-F238E27FC236}">
                  <a16:creationId xmlns="" xmlns:a16="http://schemas.microsoft.com/office/drawing/2014/main" id="{E663B446-33A8-6147-BD91-EF8800C4B0F7}"/>
                </a:ext>
              </a:extLst>
            </p:cNvPr>
            <p:cNvSpPr txBox="1">
              <a:spLocks/>
            </p:cNvSpPr>
            <p:nvPr/>
          </p:nvSpPr>
          <p:spPr>
            <a:xfrm>
              <a:off x="4435925" y="228600"/>
              <a:ext cx="3857374" cy="533400"/>
            </a:xfrm>
            <a:prstGeom prst="rect">
              <a:avLst/>
            </a:prstGeom>
          </p:spPr>
          <p:txBody>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sz="2800"/>
                <a:t>: a neural approach</a:t>
              </a:r>
              <a:endParaRPr lang="en-US" sz="2800" dirty="0"/>
            </a:p>
          </p:txBody>
        </p:sp>
        <p:sp>
          <p:nvSpPr>
            <p:cNvPr id="20" name="TextBox 19">
              <a:extLst>
                <a:ext uri="{FF2B5EF4-FFF2-40B4-BE49-F238E27FC236}">
                  <a16:creationId xmlns="" xmlns:a16="http://schemas.microsoft.com/office/drawing/2014/main" id="{3B8331EB-9227-624F-AD8D-83108504591A}"/>
                </a:ext>
              </a:extLst>
            </p:cNvPr>
            <p:cNvSpPr txBox="1"/>
            <p:nvPr/>
          </p:nvSpPr>
          <p:spPr>
            <a:xfrm>
              <a:off x="25167" y="233690"/>
              <a:ext cx="4571995" cy="523220"/>
            </a:xfrm>
            <a:prstGeom prst="rect">
              <a:avLst/>
            </a:prstGeom>
            <a:noFill/>
          </p:spPr>
          <p:txBody>
            <a:bodyPr wrap="square" rtlCol="0">
              <a:spAutoFit/>
            </a:bodyPr>
            <a:lstStyle/>
            <a:p>
              <a:pPr lvl="1">
                <a:spcBef>
                  <a:spcPct val="20000"/>
                </a:spcBef>
                <a:buClr>
                  <a:srgbClr val="400080"/>
                </a:buClr>
                <a:buSzPct val="65000"/>
              </a:pPr>
              <a:r>
                <a:rPr lang="en-US" sz="2800" dirty="0">
                  <a:solidFill>
                    <a:schemeClr val="bg2"/>
                  </a:solidFill>
                  <a:latin typeface="Century Gothic" charset="0"/>
                  <a:ea typeface="Century Gothic" charset="0"/>
                  <a:cs typeface="Century Gothic" charset="0"/>
                </a:rPr>
                <a:t>Put all pieces together</a:t>
              </a:r>
            </a:p>
          </p:txBody>
        </p:sp>
      </p:grpSp>
    </p:spTree>
    <p:extLst>
      <p:ext uri="{BB962C8B-B14F-4D97-AF65-F5344CB8AC3E}">
        <p14:creationId xmlns:p14="http://schemas.microsoft.com/office/powerpoint/2010/main" val="14098859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AE3F3C-FDB2-A740-B4C9-BE5658E9F5B7}"/>
              </a:ext>
            </a:extLst>
          </p:cNvPr>
          <p:cNvSpPr>
            <a:spLocks noGrp="1"/>
          </p:cNvSpPr>
          <p:nvPr>
            <p:ph type="title"/>
          </p:nvPr>
        </p:nvSpPr>
        <p:spPr/>
        <p:txBody>
          <a:bodyPr/>
          <a:lstStyle/>
          <a:p>
            <a:r>
              <a:rPr lang="en-US" dirty="0"/>
              <a:t>Further Investigation: Neural Method</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255C0C56-7A7C-3C45-9A38-E5A41612F233}"/>
                  </a:ext>
                </a:extLst>
              </p:cNvPr>
              <p:cNvGraphicFramePr>
                <a:graphicFrameLocks noGrp="1"/>
              </p:cNvGraphicFramePr>
              <p:nvPr>
                <p:extLst>
                  <p:ext uri="{D42A27DB-BD31-4B8C-83A1-F6EECF244321}">
                    <p14:modId xmlns:p14="http://schemas.microsoft.com/office/powerpoint/2010/main" val="1024341560"/>
                  </p:ext>
                </p:extLst>
              </p:nvPr>
            </p:nvGraphicFramePr>
            <p:xfrm>
              <a:off x="523874" y="1524000"/>
              <a:ext cx="8077200" cy="3708400"/>
            </p:xfrm>
            <a:graphic>
              <a:graphicData uri="http://schemas.openxmlformats.org/drawingml/2006/table">
                <a:tbl>
                  <a:tblPr firstRow="1" bandRow="1">
                    <a:tableStyleId>{F5AB1C69-6EDB-4FF4-983F-18BD219EF322}</a:tableStyleId>
                  </a:tblPr>
                  <a:tblGrid>
                    <a:gridCol w="1615440">
                      <a:extLst>
                        <a:ext uri="{9D8B030D-6E8A-4147-A177-3AD203B41FA5}">
                          <a16:colId xmlns="" xmlns:a16="http://schemas.microsoft.com/office/drawing/2014/main" val="2073229304"/>
                        </a:ext>
                      </a:extLst>
                    </a:gridCol>
                    <a:gridCol w="1615440">
                      <a:extLst>
                        <a:ext uri="{9D8B030D-6E8A-4147-A177-3AD203B41FA5}">
                          <a16:colId xmlns="" xmlns:a16="http://schemas.microsoft.com/office/drawing/2014/main" val="2598823753"/>
                        </a:ext>
                      </a:extLst>
                    </a:gridCol>
                    <a:gridCol w="1615440">
                      <a:extLst>
                        <a:ext uri="{9D8B030D-6E8A-4147-A177-3AD203B41FA5}">
                          <a16:colId xmlns="" xmlns:a16="http://schemas.microsoft.com/office/drawing/2014/main" val="3318679334"/>
                        </a:ext>
                      </a:extLst>
                    </a:gridCol>
                    <a:gridCol w="1615440">
                      <a:extLst>
                        <a:ext uri="{9D8B030D-6E8A-4147-A177-3AD203B41FA5}">
                          <a16:colId xmlns="" xmlns:a16="http://schemas.microsoft.com/office/drawing/2014/main" val="73025412"/>
                        </a:ext>
                      </a:extLst>
                    </a:gridCol>
                    <a:gridCol w="1615440">
                      <a:extLst>
                        <a:ext uri="{9D8B030D-6E8A-4147-A177-3AD203B41FA5}">
                          <a16:colId xmlns="" xmlns:a16="http://schemas.microsoft.com/office/drawing/2014/main" val="1565358946"/>
                        </a:ext>
                      </a:extLst>
                    </a:gridCol>
                  </a:tblGrid>
                  <a:tr h="370840">
                    <a:tc>
                      <a:txBody>
                        <a:bodyPr/>
                        <a:lstStyle/>
                        <a:p>
                          <a:r>
                            <a:rPr lang="en-US" dirty="0"/>
                            <a:t>System</a:t>
                          </a:r>
                        </a:p>
                      </a:txBody>
                      <a:tcPr/>
                    </a:tc>
                    <a:tc>
                      <a:txBody>
                        <a:bodyPr/>
                        <a:lstStyle/>
                        <a:p>
                          <a:r>
                            <a:rPr lang="en-US" dirty="0"/>
                            <a:t>Embeddings</a:t>
                          </a:r>
                        </a:p>
                      </a:txBody>
                      <a:tcPr/>
                    </a:tc>
                    <a:tc>
                      <a:txBody>
                        <a:bodyPr/>
                        <a:lstStyle/>
                        <a:p>
                          <a:r>
                            <a:rPr lang="en-US" dirty="0"/>
                            <a:t>Acc.</a:t>
                          </a:r>
                        </a:p>
                      </a:txBody>
                      <a:tcPr/>
                    </a:tc>
                    <a:tc>
                      <a:txBody>
                        <a:bodyPr/>
                        <a:lstStyle/>
                        <a:p>
                          <a:r>
                            <a:rPr lang="en-US" dirty="0"/>
                            <a:t>F</a:t>
                          </a:r>
                          <a:r>
                            <a:rPr lang="en-US" baseline="-25000" dirty="0"/>
                            <a:t>1</a:t>
                          </a:r>
                        </a:p>
                      </a:txBody>
                      <a:tcPr/>
                    </a:tc>
                    <a:tc>
                      <a:txBody>
                        <a:bodyPr/>
                        <a:lstStyle/>
                        <a:p>
                          <a:r>
                            <a:rPr lang="en-US" dirty="0" err="1"/>
                            <a:t>F</a:t>
                          </a:r>
                          <a:r>
                            <a:rPr lang="en-US" baseline="-25000" dirty="0" err="1"/>
                            <a:t>aware</a:t>
                          </a:r>
                          <a:endParaRPr lang="en-US" dirty="0"/>
                        </a:p>
                      </a:txBody>
                      <a:tcPr/>
                    </a:tc>
                    <a:extLst>
                      <a:ext uri="{0D108BD9-81ED-4DB2-BD59-A6C34878D82A}">
                        <a16:rowId xmlns="" xmlns:a16="http://schemas.microsoft.com/office/drawing/2014/main" val="2990775077"/>
                      </a:ext>
                    </a:extLst>
                  </a:tr>
                  <a:tr h="370840">
                    <a:tc>
                      <a:txBody>
                        <a:bodyPr/>
                        <a:lstStyle/>
                        <a:p>
                          <a:r>
                            <a:rPr lang="en-US" dirty="0" err="1"/>
                            <a:t>CogCompTime</a:t>
                          </a:r>
                          <a:endParaRPr lang="en-US" dirty="0"/>
                        </a:p>
                      </a:txBody>
                      <a:tcPr/>
                    </a:tc>
                    <a:tc>
                      <a:txBody>
                        <a:bodyPr/>
                        <a:lstStyle/>
                        <a:p>
                          <a:r>
                            <a:rPr lang="en-US" dirty="0"/>
                            <a:t>None</a:t>
                          </a:r>
                        </a:p>
                      </a:txBody>
                      <a:tcPr/>
                    </a:tc>
                    <a:tc>
                      <a:txBody>
                        <a:bodyPr/>
                        <a:lstStyle/>
                        <a:p>
                          <a:r>
                            <a:rPr lang="en-US" dirty="0">
                              <a:solidFill>
                                <a:srgbClr val="FF0000"/>
                              </a:solidFill>
                            </a:rPr>
                            <a:t>61.6</a:t>
                          </a:r>
                        </a:p>
                      </a:txBody>
                      <a:tcPr/>
                    </a:tc>
                    <a:tc>
                      <a:txBody>
                        <a:bodyPr/>
                        <a:lstStyle/>
                        <a:p>
                          <a:r>
                            <a:rPr lang="en-US" dirty="0">
                              <a:solidFill>
                                <a:srgbClr val="FF0000"/>
                              </a:solidFill>
                            </a:rPr>
                            <a:t>66.6</a:t>
                          </a:r>
                        </a:p>
                      </a:txBody>
                      <a:tcPr/>
                    </a:tc>
                    <a:tc>
                      <a:txBody>
                        <a:bodyPr/>
                        <a:lstStyle/>
                        <a:p>
                          <a:r>
                            <a:rPr lang="en-US" dirty="0">
                              <a:solidFill>
                                <a:srgbClr val="FF0000"/>
                              </a:solidFill>
                            </a:rPr>
                            <a:t>60.8</a:t>
                          </a:r>
                        </a:p>
                      </a:txBody>
                      <a:tcPr/>
                    </a:tc>
                    <a:extLst>
                      <a:ext uri="{0D108BD9-81ED-4DB2-BD59-A6C34878D82A}">
                        <a16:rowId xmlns="" xmlns:a16="http://schemas.microsoft.com/office/drawing/2014/main" val="427924283"/>
                      </a:ext>
                    </a:extLst>
                  </a:tr>
                  <a:tr h="370840">
                    <a:tc rowSpan="5">
                      <a:txBody>
                        <a:bodyPr/>
                        <a:lstStyle/>
                        <a:p>
                          <a:r>
                            <a:rPr lang="en-US" dirty="0"/>
                            <a:t>LSTM</a:t>
                          </a:r>
                        </a:p>
                      </a:txBody>
                      <a:tcPr anchor="ctr"/>
                    </a:tc>
                    <a:tc>
                      <a:txBody>
                        <a:bodyPr/>
                        <a:lstStyle/>
                        <a:p>
                          <a:r>
                            <a:rPr lang="en-US" dirty="0"/>
                            <a:t>word2vec</a:t>
                          </a:r>
                        </a:p>
                      </a:txBody>
                      <a:tcPr/>
                    </a:tc>
                    <a:tc>
                      <a:txBody>
                        <a:bodyPr/>
                        <a:lstStyle/>
                        <a:p>
                          <a:r>
                            <a:rPr lang="en-US" dirty="0"/>
                            <a:t>64.5</a:t>
                          </a:r>
                        </a:p>
                      </a:txBody>
                      <a:tcPr/>
                    </a:tc>
                    <a:tc>
                      <a:txBody>
                        <a:bodyPr/>
                        <a:lstStyle/>
                        <a:p>
                          <a:r>
                            <a:rPr lang="en-US" dirty="0"/>
                            <a:t>69.0</a:t>
                          </a:r>
                        </a:p>
                      </a:txBody>
                      <a:tcPr/>
                    </a:tc>
                    <a:tc>
                      <a:txBody>
                        <a:bodyPr/>
                        <a:lstStyle/>
                        <a:p>
                          <a:r>
                            <a:rPr lang="en-US" dirty="0"/>
                            <a:t>61.1</a:t>
                          </a:r>
                        </a:p>
                      </a:txBody>
                      <a:tcPr/>
                    </a:tc>
                    <a:extLst>
                      <a:ext uri="{0D108BD9-81ED-4DB2-BD59-A6C34878D82A}">
                        <a16:rowId xmlns="" xmlns:a16="http://schemas.microsoft.com/office/drawing/2014/main" val="2404949165"/>
                      </a:ext>
                    </a:extLst>
                  </a:tr>
                  <a:tr h="370840">
                    <a:tc vMerge="1">
                      <a:txBody>
                        <a:bodyPr/>
                        <a:lstStyle/>
                        <a:p>
                          <a:endParaRPr lang="en-US" dirty="0"/>
                        </a:p>
                      </a:txBody>
                      <a:tcPr/>
                    </a:tc>
                    <a:tc>
                      <a:txBody>
                        <a:bodyPr/>
                        <a:lstStyle/>
                        <a:p>
                          <a:r>
                            <a:rPr lang="en-US" dirty="0" err="1"/>
                            <a:t>GloVe</a:t>
                          </a:r>
                          <a:endParaRPr lang="en-US" dirty="0"/>
                        </a:p>
                      </a:txBody>
                      <a:tcPr/>
                    </a:tc>
                    <a:tc>
                      <a:txBody>
                        <a:bodyPr/>
                        <a:lstStyle/>
                        <a:p>
                          <a:r>
                            <a:rPr lang="en-US" dirty="0"/>
                            <a:t>60.5</a:t>
                          </a:r>
                        </a:p>
                      </a:txBody>
                      <a:tcPr/>
                    </a:tc>
                    <a:tc>
                      <a:txBody>
                        <a:bodyPr/>
                        <a:lstStyle/>
                        <a:p>
                          <a:r>
                            <a:rPr lang="en-US" dirty="0"/>
                            <a:t>64.7</a:t>
                          </a:r>
                        </a:p>
                      </a:txBody>
                      <a:tcPr/>
                    </a:tc>
                    <a:tc>
                      <a:txBody>
                        <a:bodyPr/>
                        <a:lstStyle/>
                        <a:p>
                          <a:r>
                            <a:rPr lang="en-US" dirty="0"/>
                            <a:t>59.5</a:t>
                          </a:r>
                        </a:p>
                      </a:txBody>
                      <a:tcPr/>
                    </a:tc>
                    <a:extLst>
                      <a:ext uri="{0D108BD9-81ED-4DB2-BD59-A6C34878D82A}">
                        <a16:rowId xmlns="" xmlns:a16="http://schemas.microsoft.com/office/drawing/2014/main" val="1552143675"/>
                      </a:ext>
                    </a:extLst>
                  </a:tr>
                  <a:tr h="370840">
                    <a:tc vMerge="1">
                      <a:txBody>
                        <a:bodyPr/>
                        <a:lstStyle/>
                        <a:p>
                          <a:endParaRPr lang="en-US" dirty="0"/>
                        </a:p>
                      </a:txBody>
                      <a:tcPr/>
                    </a:tc>
                    <a:tc>
                      <a:txBody>
                        <a:bodyPr/>
                        <a:lstStyle/>
                        <a:p>
                          <a:r>
                            <a:rPr lang="en-US" dirty="0" err="1"/>
                            <a:t>FastText</a:t>
                          </a:r>
                          <a:endParaRPr lang="en-US" dirty="0"/>
                        </a:p>
                      </a:txBody>
                      <a:tcPr/>
                    </a:tc>
                    <a:tc>
                      <a:txBody>
                        <a:bodyPr/>
                        <a:lstStyle/>
                        <a:p>
                          <a:r>
                            <a:rPr lang="en-US" dirty="0"/>
                            <a:t>63.2</a:t>
                          </a:r>
                        </a:p>
                      </a:txBody>
                      <a:tcPr/>
                    </a:tc>
                    <a:tc>
                      <a:txBody>
                        <a:bodyPr/>
                        <a:lstStyle/>
                        <a:p>
                          <a:r>
                            <a:rPr lang="en-US" dirty="0"/>
                            <a:t>67.6</a:t>
                          </a:r>
                        </a:p>
                      </a:txBody>
                      <a:tcPr/>
                    </a:tc>
                    <a:tc>
                      <a:txBody>
                        <a:bodyPr/>
                        <a:lstStyle/>
                        <a:p>
                          <a:r>
                            <a:rPr lang="en-US" dirty="0"/>
                            <a:t>60.5</a:t>
                          </a:r>
                        </a:p>
                      </a:txBody>
                      <a:tcPr/>
                    </a:tc>
                    <a:extLst>
                      <a:ext uri="{0D108BD9-81ED-4DB2-BD59-A6C34878D82A}">
                        <a16:rowId xmlns="" xmlns:a16="http://schemas.microsoft.com/office/drawing/2014/main" val="2742390724"/>
                      </a:ext>
                    </a:extLst>
                  </a:tr>
                  <a:tr h="370840">
                    <a:tc vMerge="1">
                      <a:txBody>
                        <a:bodyPr/>
                        <a:lstStyle/>
                        <a:p>
                          <a:endParaRPr lang="en-US" dirty="0"/>
                        </a:p>
                      </a:txBody>
                      <a:tcPr/>
                    </a:tc>
                    <a:tc>
                      <a:txBody>
                        <a:bodyPr/>
                        <a:lstStyle/>
                        <a:p>
                          <a:r>
                            <a:rPr lang="en-US" dirty="0" err="1">
                              <a:solidFill>
                                <a:srgbClr val="00B050"/>
                              </a:solidFill>
                            </a:rPr>
                            <a:t>ELMo</a:t>
                          </a:r>
                          <a:endParaRPr lang="en-US" dirty="0">
                            <a:solidFill>
                              <a:srgbClr val="00B050"/>
                            </a:solidFill>
                          </a:endParaRPr>
                        </a:p>
                      </a:txBody>
                      <a:tcPr/>
                    </a:tc>
                    <a:tc>
                      <a:txBody>
                        <a:bodyPr/>
                        <a:lstStyle/>
                        <a:p>
                          <a:r>
                            <a:rPr lang="en-US" dirty="0">
                              <a:solidFill>
                                <a:srgbClr val="00B050"/>
                              </a:solidFill>
                            </a:rPr>
                            <a:t>67.5</a:t>
                          </a:r>
                        </a:p>
                      </a:txBody>
                      <a:tcPr/>
                    </a:tc>
                    <a:tc>
                      <a:txBody>
                        <a:bodyPr/>
                        <a:lstStyle/>
                        <a:p>
                          <a:r>
                            <a:rPr lang="en-US" dirty="0">
                              <a:solidFill>
                                <a:srgbClr val="00B050"/>
                              </a:solidFill>
                            </a:rPr>
                            <a:t>73.9</a:t>
                          </a:r>
                        </a:p>
                      </a:txBody>
                      <a:tcPr/>
                    </a:tc>
                    <a:tc>
                      <a:txBody>
                        <a:bodyPr/>
                        <a:lstStyle/>
                        <a:p>
                          <a:r>
                            <a:rPr lang="en-US" dirty="0">
                              <a:solidFill>
                                <a:srgbClr val="00B050"/>
                              </a:solidFill>
                            </a:rPr>
                            <a:t>63.0</a:t>
                          </a:r>
                        </a:p>
                      </a:txBody>
                      <a:tcPr/>
                    </a:tc>
                    <a:extLst>
                      <a:ext uri="{0D108BD9-81ED-4DB2-BD59-A6C34878D82A}">
                        <a16:rowId xmlns="" xmlns:a16="http://schemas.microsoft.com/office/drawing/2014/main" val="3349845434"/>
                      </a:ext>
                    </a:extLst>
                  </a:tr>
                  <a:tr h="370840">
                    <a:tc vMerge="1">
                      <a:txBody>
                        <a:bodyPr/>
                        <a:lstStyle/>
                        <a:p>
                          <a:endParaRPr lang="en-US" dirty="0"/>
                        </a:p>
                      </a:txBody>
                      <a:tcPr/>
                    </a:tc>
                    <a:tc>
                      <a:txBody>
                        <a:bodyPr/>
                        <a:lstStyle/>
                        <a:p>
                          <a:r>
                            <a:rPr lang="en-US" dirty="0">
                              <a:solidFill>
                                <a:srgbClr val="FFC000"/>
                              </a:solidFill>
                            </a:rPr>
                            <a:t>BERT</a:t>
                          </a:r>
                        </a:p>
                      </a:txBody>
                      <a:tcPr/>
                    </a:tc>
                    <a:tc>
                      <a:txBody>
                        <a:bodyPr/>
                        <a:lstStyle/>
                        <a:p>
                          <a:r>
                            <a:rPr lang="en-US" dirty="0">
                              <a:solidFill>
                                <a:srgbClr val="FFC000"/>
                              </a:solidFill>
                            </a:rPr>
                            <a:t>68.8</a:t>
                          </a:r>
                        </a:p>
                      </a:txBody>
                      <a:tcPr/>
                    </a:tc>
                    <a:tc>
                      <a:txBody>
                        <a:bodyPr/>
                        <a:lstStyle/>
                        <a:p>
                          <a:r>
                            <a:rPr lang="en-US" dirty="0">
                              <a:solidFill>
                                <a:srgbClr val="FFC000"/>
                              </a:solidFill>
                            </a:rPr>
                            <a:t>73.6</a:t>
                          </a:r>
                        </a:p>
                      </a:txBody>
                      <a:tcPr/>
                    </a:tc>
                    <a:tc>
                      <a:txBody>
                        <a:bodyPr/>
                        <a:lstStyle/>
                        <a:p>
                          <a:r>
                            <a:rPr lang="en-US" dirty="0">
                              <a:solidFill>
                                <a:srgbClr val="FFC000"/>
                              </a:solidFill>
                            </a:rPr>
                            <a:t>61.7</a:t>
                          </a:r>
                        </a:p>
                      </a:txBody>
                      <a:tcPr/>
                    </a:tc>
                    <a:extLst>
                      <a:ext uri="{0D108BD9-81ED-4DB2-BD59-A6C34878D82A}">
                        <a16:rowId xmlns="" xmlns:a16="http://schemas.microsoft.com/office/drawing/2014/main" val="2067050793"/>
                      </a:ext>
                    </a:extLst>
                  </a:tr>
                  <a:tr h="370840">
                    <a:tc rowSpan="2">
                      <a:txBody>
                        <a:bodyPr/>
                        <a:lstStyle/>
                        <a:p>
                          <a:r>
                            <a:rPr lang="en-US" dirty="0" err="1"/>
                            <a:t>LSTM+Siamese</a:t>
                          </a:r>
                          <a:endParaRPr lang="en-US" dirty="0"/>
                        </a:p>
                      </a:txBody>
                      <a:tcPr anchor="ctr"/>
                    </a:tc>
                    <a:tc>
                      <a:txBody>
                        <a:bodyPr/>
                        <a:lstStyle/>
                        <a:p>
                          <a:r>
                            <a:rPr lang="en-US" dirty="0" err="1">
                              <a:solidFill>
                                <a:srgbClr val="00B050"/>
                              </a:solidFill>
                            </a:rPr>
                            <a:t>ELMo</a:t>
                          </a:r>
                          <a:endParaRPr lang="en-US" dirty="0">
                            <a:solidFill>
                              <a:srgbClr val="00B050"/>
                            </a:solidFill>
                          </a:endParaRPr>
                        </a:p>
                      </a:txBody>
                      <a:tcPr/>
                    </a:tc>
                    <a:tc>
                      <a:txBody>
                        <a:bodyPr/>
                        <a:lstStyle/>
                        <a:p>
                          <a:r>
                            <a:rPr lang="en-US" b="1" u="sng" dirty="0">
                              <a:solidFill>
                                <a:srgbClr val="00B050"/>
                              </a:solidFill>
                            </a:rPr>
                            <a:t>71.7</a:t>
                          </a:r>
                        </a:p>
                      </a:txBody>
                      <a:tcPr/>
                    </a:tc>
                    <a:tc>
                      <a:txBody>
                        <a:bodyPr/>
                        <a:lstStyle/>
                        <a:p>
                          <a:r>
                            <a:rPr lang="en-US" b="1" u="sng" dirty="0">
                              <a:solidFill>
                                <a:srgbClr val="00B050"/>
                              </a:solidFill>
                            </a:rPr>
                            <a:t>76.7</a:t>
                          </a:r>
                        </a:p>
                      </a:txBody>
                      <a:tcPr/>
                    </a:tc>
                    <a:tc>
                      <a:txBody>
                        <a:bodyPr/>
                        <a:lstStyle/>
                        <a:p>
                          <a:r>
                            <a:rPr lang="en-US" dirty="0">
                              <a:solidFill>
                                <a:srgbClr val="00B050"/>
                              </a:solidFill>
                            </a:rPr>
                            <a:t>66.0</a:t>
                          </a:r>
                        </a:p>
                      </a:txBody>
                      <a:tcPr/>
                    </a:tc>
                    <a:extLst>
                      <a:ext uri="{0D108BD9-81ED-4DB2-BD59-A6C34878D82A}">
                        <a16:rowId xmlns="" xmlns:a16="http://schemas.microsoft.com/office/drawing/2014/main" val="1384833740"/>
                      </a:ext>
                    </a:extLst>
                  </a:tr>
                  <a:tr h="370840">
                    <a:tc vMerge="1">
                      <a:txBody>
                        <a:bodyPr/>
                        <a:lstStyle/>
                        <a:p>
                          <a:endParaRPr lang="en-US" dirty="0"/>
                        </a:p>
                      </a:txBody>
                      <a:tcPr/>
                    </a:tc>
                    <a:tc>
                      <a:txBody>
                        <a:bodyPr/>
                        <a:lstStyle/>
                        <a:p>
                          <a:r>
                            <a:rPr lang="en-US" dirty="0">
                              <a:solidFill>
                                <a:srgbClr val="FFC000"/>
                              </a:solidFill>
                            </a:rPr>
                            <a:t>BERT</a:t>
                          </a:r>
                        </a:p>
                      </a:txBody>
                      <a:tcPr/>
                    </a:tc>
                    <a:tc>
                      <a:txBody>
                        <a:bodyPr/>
                        <a:lstStyle/>
                        <a:p>
                          <a:r>
                            <a:rPr lang="en-US" dirty="0">
                              <a:solidFill>
                                <a:srgbClr val="FFC000"/>
                              </a:solidFill>
                            </a:rPr>
                            <a:t>71.3</a:t>
                          </a:r>
                        </a:p>
                      </a:txBody>
                      <a:tcPr/>
                    </a:tc>
                    <a:tc>
                      <a:txBody>
                        <a:bodyPr/>
                        <a:lstStyle/>
                        <a:p>
                          <a:r>
                            <a:rPr lang="en-US" dirty="0">
                              <a:solidFill>
                                <a:srgbClr val="FFC000"/>
                              </a:solidFill>
                            </a:rPr>
                            <a:t>76.3</a:t>
                          </a:r>
                        </a:p>
                      </a:txBody>
                      <a:tcPr/>
                    </a:tc>
                    <a:tc>
                      <a:txBody>
                        <a:bodyPr/>
                        <a:lstStyle/>
                        <a:p>
                          <a:r>
                            <a:rPr lang="en-US" b="1" u="sng" dirty="0">
                              <a:solidFill>
                                <a:srgbClr val="FFC000"/>
                              </a:solidFill>
                            </a:rPr>
                            <a:t>66.5</a:t>
                          </a:r>
                        </a:p>
                      </a:txBody>
                      <a:tcPr/>
                    </a:tc>
                    <a:extLst>
                      <a:ext uri="{0D108BD9-81ED-4DB2-BD59-A6C34878D82A}">
                        <a16:rowId xmlns="" xmlns:a16="http://schemas.microsoft.com/office/drawing/2014/main" val="91222694"/>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ea typeface="Cambria Math" panose="02040503050406030204" pitchFamily="18" charset="0"/>
                                  </a:rPr>
                                  <m:t>∆</m:t>
                                </m:r>
                              </m:oMath>
                            </m:oMathPara>
                          </a14:m>
                          <a:endParaRPr lang="en-US" b="0" dirty="0">
                            <a:solidFill>
                              <a:srgbClr val="FF0000"/>
                            </a:solidFill>
                          </a:endParaRPr>
                        </a:p>
                      </a:txBody>
                      <a:tcPr anchor="ctr"/>
                    </a:tc>
                    <a:tc>
                      <a:txBody>
                        <a:bodyPr/>
                        <a:lstStyle/>
                        <a:p>
                          <a:endParaRPr lang="en-US" b="0" dirty="0">
                            <a:solidFill>
                              <a:srgbClr val="FF0000"/>
                            </a:solidFill>
                          </a:endParaRPr>
                        </a:p>
                      </a:txBody>
                      <a:tcPr/>
                    </a:tc>
                    <a:tc>
                      <a:txBody>
                        <a:bodyPr/>
                        <a:lstStyle/>
                        <a:p>
                          <a:r>
                            <a:rPr lang="en-US" b="0" dirty="0">
                              <a:solidFill>
                                <a:srgbClr val="FF0000"/>
                              </a:solidFill>
                            </a:rPr>
                            <a:t>+10</a:t>
                          </a:r>
                        </a:p>
                      </a:txBody>
                      <a:tcPr/>
                    </a:tc>
                    <a:tc>
                      <a:txBody>
                        <a:bodyPr/>
                        <a:lstStyle/>
                        <a:p>
                          <a:r>
                            <a:rPr lang="en-US" b="0" dirty="0">
                              <a:solidFill>
                                <a:srgbClr val="FF0000"/>
                              </a:solidFill>
                            </a:rPr>
                            <a:t>+10</a:t>
                          </a:r>
                        </a:p>
                      </a:txBody>
                      <a:tcPr/>
                    </a:tc>
                    <a:tc>
                      <a:txBody>
                        <a:bodyPr/>
                        <a:lstStyle/>
                        <a:p>
                          <a:r>
                            <a:rPr lang="en-US" b="0" u="none" dirty="0">
                              <a:solidFill>
                                <a:srgbClr val="FF0000"/>
                              </a:solidFill>
                            </a:rPr>
                            <a:t>+6</a:t>
                          </a:r>
                        </a:p>
                      </a:txBody>
                      <a:tcPr/>
                    </a:tc>
                    <a:extLst>
                      <a:ext uri="{0D108BD9-81ED-4DB2-BD59-A6C34878D82A}">
                        <a16:rowId xmlns="" xmlns:a16="http://schemas.microsoft.com/office/drawing/2014/main" val="2479518557"/>
                      </a:ext>
                    </a:extLst>
                  </a:tr>
                </a:tbl>
              </a:graphicData>
            </a:graphic>
          </p:graphicFrame>
        </mc:Choice>
        <mc:Fallback xmlns="">
          <p:graphicFrame>
            <p:nvGraphicFramePr>
              <p:cNvPr id="3" name="Table 2">
                <a:extLst>
                  <a:ext uri="{FF2B5EF4-FFF2-40B4-BE49-F238E27FC236}">
                    <a16:creationId xmlns="" xmlns:a16="http://schemas.microsoft.com/office/drawing/2014/main" xmlns:a14="http://schemas.microsoft.com/office/drawing/2010/main" id="{255C0C56-7A7C-3C45-9A38-E5A41612F233}"/>
                  </a:ext>
                </a:extLst>
              </p:cNvPr>
              <p:cNvGraphicFramePr>
                <a:graphicFrameLocks noGrp="1"/>
              </p:cNvGraphicFramePr>
              <p:nvPr>
                <p:extLst>
                  <p:ext uri="{D42A27DB-BD31-4B8C-83A1-F6EECF244321}">
                    <p14:modId xmlns:p14="http://schemas.microsoft.com/office/powerpoint/2010/main" val="1024341560"/>
                  </p:ext>
                </p:extLst>
              </p:nvPr>
            </p:nvGraphicFramePr>
            <p:xfrm>
              <a:off x="523874" y="1524000"/>
              <a:ext cx="8077200" cy="3708400"/>
            </p:xfrm>
            <a:graphic>
              <a:graphicData uri="http://schemas.openxmlformats.org/drawingml/2006/table">
                <a:tbl>
                  <a:tblPr firstRow="1" bandRow="1">
                    <a:tableStyleId>{F5AB1C69-6EDB-4FF4-983F-18BD219EF322}</a:tableStyleId>
                  </a:tblPr>
                  <a:tblGrid>
                    <a:gridCol w="1615440">
                      <a:extLst>
                        <a:ext uri="{9D8B030D-6E8A-4147-A177-3AD203B41FA5}">
                          <a16:colId xmlns="" xmlns:a16="http://schemas.microsoft.com/office/drawing/2014/main" xmlns:a14="http://schemas.microsoft.com/office/drawing/2010/main" val="2073229304"/>
                        </a:ext>
                      </a:extLst>
                    </a:gridCol>
                    <a:gridCol w="1615440">
                      <a:extLst>
                        <a:ext uri="{9D8B030D-6E8A-4147-A177-3AD203B41FA5}">
                          <a16:colId xmlns="" xmlns:a16="http://schemas.microsoft.com/office/drawing/2014/main" xmlns:a14="http://schemas.microsoft.com/office/drawing/2010/main" val="2598823753"/>
                        </a:ext>
                      </a:extLst>
                    </a:gridCol>
                    <a:gridCol w="1615440">
                      <a:extLst>
                        <a:ext uri="{9D8B030D-6E8A-4147-A177-3AD203B41FA5}">
                          <a16:colId xmlns="" xmlns:a16="http://schemas.microsoft.com/office/drawing/2014/main" xmlns:a14="http://schemas.microsoft.com/office/drawing/2010/main" val="3318679334"/>
                        </a:ext>
                      </a:extLst>
                    </a:gridCol>
                    <a:gridCol w="1615440">
                      <a:extLst>
                        <a:ext uri="{9D8B030D-6E8A-4147-A177-3AD203B41FA5}">
                          <a16:colId xmlns="" xmlns:a16="http://schemas.microsoft.com/office/drawing/2014/main" xmlns:a14="http://schemas.microsoft.com/office/drawing/2010/main" val="73025412"/>
                        </a:ext>
                      </a:extLst>
                    </a:gridCol>
                    <a:gridCol w="1615440">
                      <a:extLst>
                        <a:ext uri="{9D8B030D-6E8A-4147-A177-3AD203B41FA5}">
                          <a16:colId xmlns="" xmlns:a16="http://schemas.microsoft.com/office/drawing/2014/main" xmlns:a14="http://schemas.microsoft.com/office/drawing/2010/main" val="1565358946"/>
                        </a:ext>
                      </a:extLst>
                    </a:gridCol>
                  </a:tblGrid>
                  <a:tr h="370840">
                    <a:tc>
                      <a:txBody>
                        <a:bodyPr/>
                        <a:lstStyle/>
                        <a:p>
                          <a:r>
                            <a:rPr lang="en-US" dirty="0"/>
                            <a:t>System</a:t>
                          </a:r>
                        </a:p>
                      </a:txBody>
                      <a:tcPr/>
                    </a:tc>
                    <a:tc>
                      <a:txBody>
                        <a:bodyPr/>
                        <a:lstStyle/>
                        <a:p>
                          <a:r>
                            <a:rPr lang="en-US" dirty="0"/>
                            <a:t>Embeddings</a:t>
                          </a:r>
                        </a:p>
                      </a:txBody>
                      <a:tcPr/>
                    </a:tc>
                    <a:tc>
                      <a:txBody>
                        <a:bodyPr/>
                        <a:lstStyle/>
                        <a:p>
                          <a:r>
                            <a:rPr lang="en-US" dirty="0"/>
                            <a:t>Acc.</a:t>
                          </a:r>
                        </a:p>
                      </a:txBody>
                      <a:tcPr/>
                    </a:tc>
                    <a:tc>
                      <a:txBody>
                        <a:bodyPr/>
                        <a:lstStyle/>
                        <a:p>
                          <a:r>
                            <a:rPr lang="en-US" dirty="0"/>
                            <a:t>F</a:t>
                          </a:r>
                          <a:r>
                            <a:rPr lang="en-US" baseline="-25000" dirty="0"/>
                            <a:t>1</a:t>
                          </a:r>
                        </a:p>
                      </a:txBody>
                      <a:tcPr/>
                    </a:tc>
                    <a:tc>
                      <a:txBody>
                        <a:bodyPr/>
                        <a:lstStyle/>
                        <a:p>
                          <a:r>
                            <a:rPr lang="en-US" dirty="0" err="1"/>
                            <a:t>F</a:t>
                          </a:r>
                          <a:r>
                            <a:rPr lang="en-US" baseline="-25000" dirty="0" err="1"/>
                            <a:t>aware</a:t>
                          </a:r>
                          <a:endParaRPr lang="en-US" dirty="0"/>
                        </a:p>
                      </a:txBody>
                      <a:tcPr/>
                    </a:tc>
                    <a:extLst>
                      <a:ext uri="{0D108BD9-81ED-4DB2-BD59-A6C34878D82A}">
                        <a16:rowId xmlns="" xmlns:a16="http://schemas.microsoft.com/office/drawing/2014/main" xmlns:a14="http://schemas.microsoft.com/office/drawing/2010/main" val="2990775077"/>
                      </a:ext>
                    </a:extLst>
                  </a:tr>
                  <a:tr h="370840">
                    <a:tc>
                      <a:txBody>
                        <a:bodyPr/>
                        <a:lstStyle/>
                        <a:p>
                          <a:r>
                            <a:rPr lang="en-US" dirty="0" err="1"/>
                            <a:t>CogCompTime</a:t>
                          </a:r>
                          <a:endParaRPr lang="en-US" dirty="0"/>
                        </a:p>
                      </a:txBody>
                      <a:tcPr/>
                    </a:tc>
                    <a:tc>
                      <a:txBody>
                        <a:bodyPr/>
                        <a:lstStyle/>
                        <a:p>
                          <a:r>
                            <a:rPr lang="en-US" dirty="0"/>
                            <a:t>None</a:t>
                          </a:r>
                        </a:p>
                      </a:txBody>
                      <a:tcPr/>
                    </a:tc>
                    <a:tc>
                      <a:txBody>
                        <a:bodyPr/>
                        <a:lstStyle/>
                        <a:p>
                          <a:r>
                            <a:rPr lang="en-US" dirty="0">
                              <a:solidFill>
                                <a:srgbClr val="FF0000"/>
                              </a:solidFill>
                            </a:rPr>
                            <a:t>61.6</a:t>
                          </a:r>
                        </a:p>
                      </a:txBody>
                      <a:tcPr/>
                    </a:tc>
                    <a:tc>
                      <a:txBody>
                        <a:bodyPr/>
                        <a:lstStyle/>
                        <a:p>
                          <a:r>
                            <a:rPr lang="en-US" dirty="0">
                              <a:solidFill>
                                <a:srgbClr val="FF0000"/>
                              </a:solidFill>
                            </a:rPr>
                            <a:t>66.6</a:t>
                          </a:r>
                        </a:p>
                      </a:txBody>
                      <a:tcPr/>
                    </a:tc>
                    <a:tc>
                      <a:txBody>
                        <a:bodyPr/>
                        <a:lstStyle/>
                        <a:p>
                          <a:r>
                            <a:rPr lang="en-US" dirty="0">
                              <a:solidFill>
                                <a:srgbClr val="FF0000"/>
                              </a:solidFill>
                            </a:rPr>
                            <a:t>60.8</a:t>
                          </a:r>
                        </a:p>
                      </a:txBody>
                      <a:tcPr/>
                    </a:tc>
                    <a:extLst>
                      <a:ext uri="{0D108BD9-81ED-4DB2-BD59-A6C34878D82A}">
                        <a16:rowId xmlns="" xmlns:a16="http://schemas.microsoft.com/office/drawing/2014/main" xmlns:a14="http://schemas.microsoft.com/office/drawing/2010/main" val="427924283"/>
                      </a:ext>
                    </a:extLst>
                  </a:tr>
                  <a:tr h="370840">
                    <a:tc rowSpan="5">
                      <a:txBody>
                        <a:bodyPr/>
                        <a:lstStyle/>
                        <a:p>
                          <a:r>
                            <a:rPr lang="en-US" dirty="0"/>
                            <a:t>LSTM</a:t>
                          </a:r>
                        </a:p>
                      </a:txBody>
                      <a:tcPr anchor="ctr"/>
                    </a:tc>
                    <a:tc>
                      <a:txBody>
                        <a:bodyPr/>
                        <a:lstStyle/>
                        <a:p>
                          <a:r>
                            <a:rPr lang="en-US" dirty="0"/>
                            <a:t>word2vec</a:t>
                          </a:r>
                        </a:p>
                      </a:txBody>
                      <a:tcPr/>
                    </a:tc>
                    <a:tc>
                      <a:txBody>
                        <a:bodyPr/>
                        <a:lstStyle/>
                        <a:p>
                          <a:r>
                            <a:rPr lang="en-US" dirty="0"/>
                            <a:t>64.5</a:t>
                          </a:r>
                        </a:p>
                      </a:txBody>
                      <a:tcPr/>
                    </a:tc>
                    <a:tc>
                      <a:txBody>
                        <a:bodyPr/>
                        <a:lstStyle/>
                        <a:p>
                          <a:r>
                            <a:rPr lang="en-US" dirty="0"/>
                            <a:t>69.0</a:t>
                          </a:r>
                        </a:p>
                      </a:txBody>
                      <a:tcPr/>
                    </a:tc>
                    <a:tc>
                      <a:txBody>
                        <a:bodyPr/>
                        <a:lstStyle/>
                        <a:p>
                          <a:r>
                            <a:rPr lang="en-US" dirty="0"/>
                            <a:t>61.1</a:t>
                          </a:r>
                        </a:p>
                      </a:txBody>
                      <a:tcPr/>
                    </a:tc>
                    <a:extLst>
                      <a:ext uri="{0D108BD9-81ED-4DB2-BD59-A6C34878D82A}">
                        <a16:rowId xmlns="" xmlns:a16="http://schemas.microsoft.com/office/drawing/2014/main" xmlns:a14="http://schemas.microsoft.com/office/drawing/2010/main" val="2404949165"/>
                      </a:ext>
                    </a:extLst>
                  </a:tr>
                  <a:tr h="370840">
                    <a:tc vMerge="1">
                      <a:txBody>
                        <a:bodyPr/>
                        <a:lstStyle/>
                        <a:p>
                          <a:endParaRPr lang="en-US" dirty="0"/>
                        </a:p>
                      </a:txBody>
                      <a:tcPr/>
                    </a:tc>
                    <a:tc>
                      <a:txBody>
                        <a:bodyPr/>
                        <a:lstStyle/>
                        <a:p>
                          <a:r>
                            <a:rPr lang="en-US" dirty="0" err="1"/>
                            <a:t>GloVe</a:t>
                          </a:r>
                          <a:endParaRPr lang="en-US" dirty="0"/>
                        </a:p>
                      </a:txBody>
                      <a:tcPr/>
                    </a:tc>
                    <a:tc>
                      <a:txBody>
                        <a:bodyPr/>
                        <a:lstStyle/>
                        <a:p>
                          <a:r>
                            <a:rPr lang="en-US" dirty="0"/>
                            <a:t>60.5</a:t>
                          </a:r>
                        </a:p>
                      </a:txBody>
                      <a:tcPr/>
                    </a:tc>
                    <a:tc>
                      <a:txBody>
                        <a:bodyPr/>
                        <a:lstStyle/>
                        <a:p>
                          <a:r>
                            <a:rPr lang="en-US" dirty="0"/>
                            <a:t>64.7</a:t>
                          </a:r>
                        </a:p>
                      </a:txBody>
                      <a:tcPr/>
                    </a:tc>
                    <a:tc>
                      <a:txBody>
                        <a:bodyPr/>
                        <a:lstStyle/>
                        <a:p>
                          <a:r>
                            <a:rPr lang="en-US" dirty="0"/>
                            <a:t>59.5</a:t>
                          </a:r>
                        </a:p>
                      </a:txBody>
                      <a:tcPr/>
                    </a:tc>
                    <a:extLst>
                      <a:ext uri="{0D108BD9-81ED-4DB2-BD59-A6C34878D82A}">
                        <a16:rowId xmlns="" xmlns:a16="http://schemas.microsoft.com/office/drawing/2014/main" xmlns:a14="http://schemas.microsoft.com/office/drawing/2010/main" val="1552143675"/>
                      </a:ext>
                    </a:extLst>
                  </a:tr>
                  <a:tr h="370840">
                    <a:tc vMerge="1">
                      <a:txBody>
                        <a:bodyPr/>
                        <a:lstStyle/>
                        <a:p>
                          <a:endParaRPr lang="en-US" dirty="0"/>
                        </a:p>
                      </a:txBody>
                      <a:tcPr/>
                    </a:tc>
                    <a:tc>
                      <a:txBody>
                        <a:bodyPr/>
                        <a:lstStyle/>
                        <a:p>
                          <a:r>
                            <a:rPr lang="en-US" dirty="0" err="1"/>
                            <a:t>FastText</a:t>
                          </a:r>
                          <a:endParaRPr lang="en-US" dirty="0"/>
                        </a:p>
                      </a:txBody>
                      <a:tcPr/>
                    </a:tc>
                    <a:tc>
                      <a:txBody>
                        <a:bodyPr/>
                        <a:lstStyle/>
                        <a:p>
                          <a:r>
                            <a:rPr lang="en-US" dirty="0"/>
                            <a:t>63.2</a:t>
                          </a:r>
                        </a:p>
                      </a:txBody>
                      <a:tcPr/>
                    </a:tc>
                    <a:tc>
                      <a:txBody>
                        <a:bodyPr/>
                        <a:lstStyle/>
                        <a:p>
                          <a:r>
                            <a:rPr lang="en-US" dirty="0"/>
                            <a:t>67.6</a:t>
                          </a:r>
                        </a:p>
                      </a:txBody>
                      <a:tcPr/>
                    </a:tc>
                    <a:tc>
                      <a:txBody>
                        <a:bodyPr/>
                        <a:lstStyle/>
                        <a:p>
                          <a:r>
                            <a:rPr lang="en-US" dirty="0"/>
                            <a:t>60.5</a:t>
                          </a:r>
                        </a:p>
                      </a:txBody>
                      <a:tcPr/>
                    </a:tc>
                    <a:extLst>
                      <a:ext uri="{0D108BD9-81ED-4DB2-BD59-A6C34878D82A}">
                        <a16:rowId xmlns="" xmlns:a16="http://schemas.microsoft.com/office/drawing/2014/main" xmlns:a14="http://schemas.microsoft.com/office/drawing/2010/main" val="2742390724"/>
                      </a:ext>
                    </a:extLst>
                  </a:tr>
                  <a:tr h="370840">
                    <a:tc vMerge="1">
                      <a:txBody>
                        <a:bodyPr/>
                        <a:lstStyle/>
                        <a:p>
                          <a:endParaRPr lang="en-US" dirty="0"/>
                        </a:p>
                      </a:txBody>
                      <a:tcPr/>
                    </a:tc>
                    <a:tc>
                      <a:txBody>
                        <a:bodyPr/>
                        <a:lstStyle/>
                        <a:p>
                          <a:r>
                            <a:rPr lang="en-US" dirty="0" err="1">
                              <a:solidFill>
                                <a:srgbClr val="00B050"/>
                              </a:solidFill>
                            </a:rPr>
                            <a:t>ELMo</a:t>
                          </a:r>
                          <a:endParaRPr lang="en-US" dirty="0">
                            <a:solidFill>
                              <a:srgbClr val="00B050"/>
                            </a:solidFill>
                          </a:endParaRPr>
                        </a:p>
                      </a:txBody>
                      <a:tcPr/>
                    </a:tc>
                    <a:tc>
                      <a:txBody>
                        <a:bodyPr/>
                        <a:lstStyle/>
                        <a:p>
                          <a:r>
                            <a:rPr lang="en-US" dirty="0">
                              <a:solidFill>
                                <a:srgbClr val="00B050"/>
                              </a:solidFill>
                            </a:rPr>
                            <a:t>67.5</a:t>
                          </a:r>
                        </a:p>
                      </a:txBody>
                      <a:tcPr/>
                    </a:tc>
                    <a:tc>
                      <a:txBody>
                        <a:bodyPr/>
                        <a:lstStyle/>
                        <a:p>
                          <a:r>
                            <a:rPr lang="en-US" dirty="0">
                              <a:solidFill>
                                <a:srgbClr val="00B050"/>
                              </a:solidFill>
                            </a:rPr>
                            <a:t>73.9</a:t>
                          </a:r>
                        </a:p>
                      </a:txBody>
                      <a:tcPr/>
                    </a:tc>
                    <a:tc>
                      <a:txBody>
                        <a:bodyPr/>
                        <a:lstStyle/>
                        <a:p>
                          <a:r>
                            <a:rPr lang="en-US" dirty="0">
                              <a:solidFill>
                                <a:srgbClr val="00B050"/>
                              </a:solidFill>
                            </a:rPr>
                            <a:t>63.0</a:t>
                          </a:r>
                        </a:p>
                      </a:txBody>
                      <a:tcPr/>
                    </a:tc>
                    <a:extLst>
                      <a:ext uri="{0D108BD9-81ED-4DB2-BD59-A6C34878D82A}">
                        <a16:rowId xmlns="" xmlns:a16="http://schemas.microsoft.com/office/drawing/2014/main" xmlns:a14="http://schemas.microsoft.com/office/drawing/2010/main" val="3349845434"/>
                      </a:ext>
                    </a:extLst>
                  </a:tr>
                  <a:tr h="370840">
                    <a:tc vMerge="1">
                      <a:txBody>
                        <a:bodyPr/>
                        <a:lstStyle/>
                        <a:p>
                          <a:endParaRPr lang="en-US" dirty="0"/>
                        </a:p>
                      </a:txBody>
                      <a:tcPr/>
                    </a:tc>
                    <a:tc>
                      <a:txBody>
                        <a:bodyPr/>
                        <a:lstStyle/>
                        <a:p>
                          <a:r>
                            <a:rPr lang="en-US" dirty="0">
                              <a:solidFill>
                                <a:srgbClr val="FFC000"/>
                              </a:solidFill>
                            </a:rPr>
                            <a:t>BERT</a:t>
                          </a:r>
                        </a:p>
                      </a:txBody>
                      <a:tcPr/>
                    </a:tc>
                    <a:tc>
                      <a:txBody>
                        <a:bodyPr/>
                        <a:lstStyle/>
                        <a:p>
                          <a:r>
                            <a:rPr lang="en-US" dirty="0">
                              <a:solidFill>
                                <a:srgbClr val="FFC000"/>
                              </a:solidFill>
                            </a:rPr>
                            <a:t>6</a:t>
                          </a:r>
                          <a:r>
                            <a:rPr lang="en-US" dirty="0" smtClean="0">
                              <a:solidFill>
                                <a:srgbClr val="FFC000"/>
                              </a:solidFill>
                            </a:rPr>
                            <a:t>8.8</a:t>
                          </a:r>
                          <a:endParaRPr lang="en-US" dirty="0">
                            <a:solidFill>
                              <a:srgbClr val="FFC000"/>
                            </a:solidFill>
                          </a:endParaRPr>
                        </a:p>
                      </a:txBody>
                      <a:tcPr/>
                    </a:tc>
                    <a:tc>
                      <a:txBody>
                        <a:bodyPr/>
                        <a:lstStyle/>
                        <a:p>
                          <a:r>
                            <a:rPr lang="en-US" dirty="0">
                              <a:solidFill>
                                <a:srgbClr val="FFC000"/>
                              </a:solidFill>
                            </a:rPr>
                            <a:t>73.6</a:t>
                          </a:r>
                        </a:p>
                      </a:txBody>
                      <a:tcPr/>
                    </a:tc>
                    <a:tc>
                      <a:txBody>
                        <a:bodyPr/>
                        <a:lstStyle/>
                        <a:p>
                          <a:r>
                            <a:rPr lang="en-US" dirty="0">
                              <a:solidFill>
                                <a:srgbClr val="FFC000"/>
                              </a:solidFill>
                            </a:rPr>
                            <a:t>61.7</a:t>
                          </a:r>
                        </a:p>
                      </a:txBody>
                      <a:tcPr/>
                    </a:tc>
                    <a:extLst>
                      <a:ext uri="{0D108BD9-81ED-4DB2-BD59-A6C34878D82A}">
                        <a16:rowId xmlns="" xmlns:a16="http://schemas.microsoft.com/office/drawing/2014/main" xmlns:a14="http://schemas.microsoft.com/office/drawing/2010/main" val="2067050793"/>
                      </a:ext>
                    </a:extLst>
                  </a:tr>
                  <a:tr h="370840">
                    <a:tc rowSpan="2">
                      <a:txBody>
                        <a:bodyPr/>
                        <a:lstStyle/>
                        <a:p>
                          <a:r>
                            <a:rPr lang="en-US" dirty="0" err="1"/>
                            <a:t>LSTM+Siamese</a:t>
                          </a:r>
                          <a:endParaRPr lang="en-US" dirty="0"/>
                        </a:p>
                      </a:txBody>
                      <a:tcPr anchor="ctr"/>
                    </a:tc>
                    <a:tc>
                      <a:txBody>
                        <a:bodyPr/>
                        <a:lstStyle/>
                        <a:p>
                          <a:r>
                            <a:rPr lang="en-US" dirty="0" err="1">
                              <a:solidFill>
                                <a:srgbClr val="00B050"/>
                              </a:solidFill>
                            </a:rPr>
                            <a:t>ELMo</a:t>
                          </a:r>
                          <a:endParaRPr lang="en-US" dirty="0">
                            <a:solidFill>
                              <a:srgbClr val="00B050"/>
                            </a:solidFill>
                          </a:endParaRPr>
                        </a:p>
                      </a:txBody>
                      <a:tcPr/>
                    </a:tc>
                    <a:tc>
                      <a:txBody>
                        <a:bodyPr/>
                        <a:lstStyle/>
                        <a:p>
                          <a:r>
                            <a:rPr lang="en-US" b="1" u="sng" dirty="0">
                              <a:solidFill>
                                <a:srgbClr val="00B050"/>
                              </a:solidFill>
                            </a:rPr>
                            <a:t>71.7</a:t>
                          </a:r>
                        </a:p>
                      </a:txBody>
                      <a:tcPr/>
                    </a:tc>
                    <a:tc>
                      <a:txBody>
                        <a:bodyPr/>
                        <a:lstStyle/>
                        <a:p>
                          <a:r>
                            <a:rPr lang="en-US" b="1" u="sng" dirty="0">
                              <a:solidFill>
                                <a:srgbClr val="00B050"/>
                              </a:solidFill>
                            </a:rPr>
                            <a:t>76.7</a:t>
                          </a:r>
                        </a:p>
                      </a:txBody>
                      <a:tcPr/>
                    </a:tc>
                    <a:tc>
                      <a:txBody>
                        <a:bodyPr/>
                        <a:lstStyle/>
                        <a:p>
                          <a:r>
                            <a:rPr lang="en-US" dirty="0">
                              <a:solidFill>
                                <a:srgbClr val="00B050"/>
                              </a:solidFill>
                            </a:rPr>
                            <a:t>66.0</a:t>
                          </a:r>
                        </a:p>
                      </a:txBody>
                      <a:tcPr/>
                    </a:tc>
                    <a:extLst>
                      <a:ext uri="{0D108BD9-81ED-4DB2-BD59-A6C34878D82A}">
                        <a16:rowId xmlns="" xmlns:a16="http://schemas.microsoft.com/office/drawing/2014/main" xmlns:a14="http://schemas.microsoft.com/office/drawing/2010/main" val="1384833740"/>
                      </a:ext>
                    </a:extLst>
                  </a:tr>
                  <a:tr h="370840">
                    <a:tc vMerge="1">
                      <a:txBody>
                        <a:bodyPr/>
                        <a:lstStyle/>
                        <a:p>
                          <a:endParaRPr lang="en-US" dirty="0"/>
                        </a:p>
                      </a:txBody>
                      <a:tcPr/>
                    </a:tc>
                    <a:tc>
                      <a:txBody>
                        <a:bodyPr/>
                        <a:lstStyle/>
                        <a:p>
                          <a:r>
                            <a:rPr lang="en-US" dirty="0">
                              <a:solidFill>
                                <a:srgbClr val="FFC000"/>
                              </a:solidFill>
                            </a:rPr>
                            <a:t>BERT</a:t>
                          </a:r>
                        </a:p>
                      </a:txBody>
                      <a:tcPr/>
                    </a:tc>
                    <a:tc>
                      <a:txBody>
                        <a:bodyPr/>
                        <a:lstStyle/>
                        <a:p>
                          <a:r>
                            <a:rPr lang="en-US" dirty="0">
                              <a:solidFill>
                                <a:srgbClr val="FFC000"/>
                              </a:solidFill>
                            </a:rPr>
                            <a:t>71.3</a:t>
                          </a:r>
                        </a:p>
                      </a:txBody>
                      <a:tcPr/>
                    </a:tc>
                    <a:tc>
                      <a:txBody>
                        <a:bodyPr/>
                        <a:lstStyle/>
                        <a:p>
                          <a:r>
                            <a:rPr lang="en-US" dirty="0">
                              <a:solidFill>
                                <a:srgbClr val="FFC000"/>
                              </a:solidFill>
                            </a:rPr>
                            <a:t>76.3</a:t>
                          </a:r>
                        </a:p>
                      </a:txBody>
                      <a:tcPr/>
                    </a:tc>
                    <a:tc>
                      <a:txBody>
                        <a:bodyPr/>
                        <a:lstStyle/>
                        <a:p>
                          <a:r>
                            <a:rPr lang="en-US" b="1" u="sng" dirty="0">
                              <a:solidFill>
                                <a:srgbClr val="FFC000"/>
                              </a:solidFill>
                            </a:rPr>
                            <a:t>66.5</a:t>
                          </a:r>
                        </a:p>
                      </a:txBody>
                      <a:tcPr/>
                    </a:tc>
                    <a:extLst>
                      <a:ext uri="{0D108BD9-81ED-4DB2-BD59-A6C34878D82A}">
                        <a16:rowId xmlns="" xmlns:a16="http://schemas.microsoft.com/office/drawing/2014/main" xmlns:a14="http://schemas.microsoft.com/office/drawing/2010/main" val="91222694"/>
                      </a:ext>
                    </a:extLst>
                  </a:tr>
                  <a:tr h="370840">
                    <a:tc>
                      <a:txBody>
                        <a:bodyPr/>
                        <a:lstStyle/>
                        <a:p>
                          <a:endParaRPr lang="en-US"/>
                        </a:p>
                      </a:txBody>
                      <a:tcPr anchor="ctr">
                        <a:blipFill rotWithShape="0">
                          <a:blip r:embed="rId3"/>
                          <a:stretch>
                            <a:fillRect l="-377" t="-906557" r="-402264" b="-22951"/>
                          </a:stretch>
                        </a:blipFill>
                      </a:tcPr>
                    </a:tc>
                    <a:tc>
                      <a:txBody>
                        <a:bodyPr/>
                        <a:lstStyle/>
                        <a:p>
                          <a:endParaRPr lang="en-US" b="0" dirty="0">
                            <a:solidFill>
                              <a:srgbClr val="FF0000"/>
                            </a:solidFill>
                          </a:endParaRPr>
                        </a:p>
                      </a:txBody>
                      <a:tcPr/>
                    </a:tc>
                    <a:tc>
                      <a:txBody>
                        <a:bodyPr/>
                        <a:lstStyle/>
                        <a:p>
                          <a:r>
                            <a:rPr lang="en-US" b="0" dirty="0">
                              <a:solidFill>
                                <a:srgbClr val="FF0000"/>
                              </a:solidFill>
                            </a:rPr>
                            <a:t>+10</a:t>
                          </a:r>
                        </a:p>
                      </a:txBody>
                      <a:tcPr/>
                    </a:tc>
                    <a:tc>
                      <a:txBody>
                        <a:bodyPr/>
                        <a:lstStyle/>
                        <a:p>
                          <a:r>
                            <a:rPr lang="en-US" b="0" dirty="0">
                              <a:solidFill>
                                <a:srgbClr val="FF0000"/>
                              </a:solidFill>
                            </a:rPr>
                            <a:t>+10</a:t>
                          </a:r>
                        </a:p>
                      </a:txBody>
                      <a:tcPr/>
                    </a:tc>
                    <a:tc>
                      <a:txBody>
                        <a:bodyPr/>
                        <a:lstStyle/>
                        <a:p>
                          <a:r>
                            <a:rPr lang="en-US" b="0" u="none" dirty="0">
                              <a:solidFill>
                                <a:srgbClr val="FF0000"/>
                              </a:solidFill>
                            </a:rPr>
                            <a:t>+6</a:t>
                          </a:r>
                        </a:p>
                      </a:txBody>
                      <a:tcPr/>
                    </a:tc>
                    <a:extLst>
                      <a:ext uri="{0D108BD9-81ED-4DB2-BD59-A6C34878D82A}">
                        <a16:rowId xmlns="" xmlns:a16="http://schemas.microsoft.com/office/drawing/2014/main" xmlns:a14="http://schemas.microsoft.com/office/drawing/2010/main" val="2479518557"/>
                      </a:ext>
                    </a:extLst>
                  </a:tr>
                </a:tbl>
              </a:graphicData>
            </a:graphic>
          </p:graphicFrame>
        </mc:Fallback>
      </mc:AlternateContent>
    </p:spTree>
    <p:extLst>
      <p:ext uri="{BB962C8B-B14F-4D97-AF65-F5344CB8AC3E}">
        <p14:creationId xmlns:p14="http://schemas.microsoft.com/office/powerpoint/2010/main" val="38544646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 xmlns:a16="http://schemas.microsoft.com/office/drawing/2014/main"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 xmlns:a16="http://schemas.microsoft.com/office/drawing/2014/main"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 xmlns:a16="http://schemas.microsoft.com/office/drawing/2014/main"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 xmlns:a16="http://schemas.microsoft.com/office/drawing/2014/main"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 xmlns:a16="http://schemas.microsoft.com/office/drawing/2014/main"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 xmlns:a16="http://schemas.microsoft.com/office/drawing/2014/main"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 xmlns:a16="http://schemas.microsoft.com/office/drawing/2014/main"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 xmlns:a16="http://schemas.microsoft.com/office/drawing/2014/main"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 xmlns:a16="http://schemas.microsoft.com/office/drawing/2014/main"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 xmlns:a16="http://schemas.microsoft.com/office/drawing/2014/main"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52" name="TextBox 51">
            <a:extLst>
              <a:ext uri="{FF2B5EF4-FFF2-40B4-BE49-F238E27FC236}">
                <a16:creationId xmlns="" xmlns:a16="http://schemas.microsoft.com/office/drawing/2014/main" id="{C296BD0D-5CD9-A046-B6C5-DA03534CC236}"/>
              </a:ext>
            </a:extLst>
          </p:cNvPr>
          <p:cNvSpPr txBox="1"/>
          <p:nvPr/>
        </p:nvSpPr>
        <p:spPr>
          <a:xfrm>
            <a:off x="4966392" y="2828863"/>
            <a:ext cx="1303562" cy="369332"/>
          </a:xfrm>
          <a:prstGeom prst="rect">
            <a:avLst/>
          </a:prstGeom>
          <a:noFill/>
        </p:spPr>
        <p:txBody>
          <a:bodyPr wrap="none" rtlCol="0">
            <a:spAutoFit/>
          </a:bodyPr>
          <a:lstStyle/>
          <a:p>
            <a:r>
              <a:rPr lang="en-US" b="1" dirty="0" smtClean="0">
                <a:solidFill>
                  <a:schemeClr val="bg2"/>
                </a:solidFill>
                <a:latin typeface="Century Gothic" panose="020B0502020202020204" pitchFamily="34" charset="0"/>
              </a:rPr>
              <a:t>NAACL’19</a:t>
            </a:r>
            <a:endParaRPr lang="en-US" dirty="0"/>
          </a:p>
        </p:txBody>
      </p:sp>
      <p:sp>
        <p:nvSpPr>
          <p:cNvPr id="19" name="TextBox 18">
            <a:extLst>
              <a:ext uri="{FF2B5EF4-FFF2-40B4-BE49-F238E27FC236}">
                <a16:creationId xmlns:a16="http://schemas.microsoft.com/office/drawing/2014/main" xmlns=""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smtClean="0">
                <a:solidFill>
                  <a:schemeClr val="bg2"/>
                </a:solidFill>
                <a:latin typeface="Century Gothic" charset="0"/>
                <a:ea typeface="Century Gothic" charset="0"/>
                <a:cs typeface="Century Gothic" charset="0"/>
              </a:rPr>
              <a:t>EMNLP’17</a:t>
            </a:r>
            <a:endParaRPr lang="en-US" sz="2000" b="1" i="1" dirty="0">
              <a:solidFill>
                <a:schemeClr val="bg2"/>
              </a:solidFill>
              <a:latin typeface="Century Gothic" charset="0"/>
              <a:ea typeface="Century Gothic" charset="0"/>
              <a:cs typeface="Century Gothic" charset="0"/>
            </a:endParaRPr>
          </a:p>
        </p:txBody>
      </p:sp>
      <p:sp>
        <p:nvSpPr>
          <p:cNvPr id="20" name="TextBox 19">
            <a:extLst>
              <a:ext uri="{FF2B5EF4-FFF2-40B4-BE49-F238E27FC236}">
                <a16:creationId xmlns:a16="http://schemas.microsoft.com/office/drawing/2014/main" xmlns="" id="{C7C5F252-B7A8-654D-B626-DAB47965C335}"/>
              </a:ext>
            </a:extLst>
          </p:cNvPr>
          <p:cNvSpPr txBox="1"/>
          <p:nvPr/>
        </p:nvSpPr>
        <p:spPr>
          <a:xfrm>
            <a:off x="1431326" y="4254077"/>
            <a:ext cx="2393525" cy="400110"/>
          </a:xfrm>
          <a:prstGeom prst="rect">
            <a:avLst/>
          </a:prstGeom>
          <a:noFill/>
        </p:spPr>
        <p:txBody>
          <a:bodyPr wrap="square" rtlCol="0">
            <a:spAutoFit/>
          </a:bodyPr>
          <a:lstStyle/>
          <a:p>
            <a:r>
              <a:rPr lang="en-US" sz="2000" b="1" i="1" smtClean="0">
                <a:solidFill>
                  <a:schemeClr val="bg2"/>
                </a:solidFill>
                <a:latin typeface="Century Gothic" charset="0"/>
                <a:ea typeface="Century Gothic" charset="0"/>
                <a:cs typeface="Century Gothic" charset="0"/>
              </a:rPr>
              <a:t>NAACL’18</a:t>
            </a:r>
            <a:endParaRPr lang="en-US" sz="2000" b="1" i="1" dirty="0">
              <a:solidFill>
                <a:schemeClr val="bg2"/>
              </a:solidFill>
              <a:latin typeface="Century Gothic" charset="0"/>
              <a:ea typeface="Century Gothic" charset="0"/>
              <a:cs typeface="Century Gothic" charset="0"/>
            </a:endParaRPr>
          </a:p>
        </p:txBody>
      </p:sp>
      <p:sp>
        <p:nvSpPr>
          <p:cNvPr id="21" name="TextBox 20">
            <a:extLst>
              <a:ext uri="{FF2B5EF4-FFF2-40B4-BE49-F238E27FC236}">
                <a16:creationId xmlns:a16="http://schemas.microsoft.com/office/drawing/2014/main" xmlns="" id="{152E3D12-708D-1045-A3D0-C2E3342C900B}"/>
              </a:ext>
            </a:extLst>
          </p:cNvPr>
          <p:cNvSpPr txBox="1"/>
          <p:nvPr/>
        </p:nvSpPr>
        <p:spPr>
          <a:xfrm>
            <a:off x="6116870" y="4208480"/>
            <a:ext cx="1630616" cy="400110"/>
          </a:xfrm>
          <a:prstGeom prst="rect">
            <a:avLst/>
          </a:prstGeom>
          <a:noFill/>
        </p:spPr>
        <p:txBody>
          <a:bodyPr wrap="square" rtlCol="0">
            <a:spAutoFit/>
          </a:bodyPr>
          <a:lstStyle/>
          <a:p>
            <a:r>
              <a:rPr lang="en-US" sz="2000" b="1" i="1" smtClean="0">
                <a:solidFill>
                  <a:schemeClr val="bg2"/>
                </a:solidFill>
                <a:latin typeface="Century Gothic" charset="0"/>
                <a:ea typeface="Century Gothic" charset="0"/>
                <a:cs typeface="Century Gothic" charset="0"/>
              </a:rPr>
              <a:t>ACL’18</a:t>
            </a:r>
            <a:endParaRPr lang="en-US" sz="2000" b="1" i="1" dirty="0">
              <a:solidFill>
                <a:schemeClr val="bg2"/>
              </a:solidFill>
              <a:latin typeface="Century Gothic" charset="0"/>
              <a:ea typeface="Century Gothic" charset="0"/>
              <a:cs typeface="Century Gothic" charset="0"/>
            </a:endParaRPr>
          </a:p>
        </p:txBody>
      </p:sp>
      <p:sp>
        <p:nvSpPr>
          <p:cNvPr id="22" name="TextBox 21">
            <a:extLst>
              <a:ext uri="{FF2B5EF4-FFF2-40B4-BE49-F238E27FC236}">
                <a16:creationId xmlns:a16="http://schemas.microsoft.com/office/drawing/2014/main" xmlns=""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 name="Title 1"/>
          <p:cNvSpPr>
            <a:spLocks noGrp="1"/>
          </p:cNvSpPr>
          <p:nvPr>
            <p:ph type="title"/>
          </p:nvPr>
        </p:nvSpPr>
        <p:spPr/>
        <p:txBody>
          <a:bodyPr/>
          <a:lstStyle/>
          <a:p>
            <a:r>
              <a:rPr lang="en-US" dirty="0" smtClean="0"/>
              <a:t>Recap</a:t>
            </a:r>
            <a:endParaRPr lang="en-US" dirty="0"/>
          </a:p>
        </p:txBody>
      </p:sp>
      <p:sp>
        <p:nvSpPr>
          <p:cNvPr id="24" name="TextBox 23">
            <a:extLst>
              <a:ext uri="{FF2B5EF4-FFF2-40B4-BE49-F238E27FC236}">
                <a16:creationId xmlns="" xmlns:a16="http://schemas.microsoft.com/office/drawing/2014/main" id="{BDBF7124-1D5D-2345-A306-6ADAB4F9B6CF}"/>
              </a:ext>
            </a:extLst>
          </p:cNvPr>
          <p:cNvSpPr txBox="1"/>
          <p:nvPr/>
        </p:nvSpPr>
        <p:spPr>
          <a:xfrm rot="900000">
            <a:off x="5620746" y="1987644"/>
            <a:ext cx="3357009" cy="461665"/>
          </a:xfrm>
          <a:prstGeom prst="rect">
            <a:avLst/>
          </a:prstGeom>
          <a:solidFill>
            <a:srgbClr val="F2CEC2"/>
          </a:solidFill>
          <a:ln>
            <a:noFill/>
          </a:ln>
        </p:spPr>
        <p:txBody>
          <a:bodyPr wrap="none" rtlCol="0">
            <a:spAutoFit/>
          </a:bodyPr>
          <a:lstStyle/>
          <a:p>
            <a:r>
              <a:rPr lang="en-US" sz="2400" i="1" dirty="0" smtClean="0">
                <a:solidFill>
                  <a:schemeClr val="bg2"/>
                </a:solidFill>
                <a:latin typeface="Century Gothic" panose="020B0502020202020204" pitchFamily="34" charset="0"/>
              </a:rPr>
              <a:t>Annotating structures</a:t>
            </a:r>
            <a:endParaRPr lang="en-US" sz="2400" i="1" dirty="0">
              <a:solidFill>
                <a:schemeClr val="bg2"/>
              </a:solidFill>
              <a:latin typeface="Century Gothic" panose="020B0502020202020204" pitchFamily="34" charset="0"/>
            </a:endParaRPr>
          </a:p>
        </p:txBody>
      </p:sp>
    </p:spTree>
    <p:extLst>
      <p:ext uri="{BB962C8B-B14F-4D97-AF65-F5344CB8AC3E}">
        <p14:creationId xmlns:p14="http://schemas.microsoft.com/office/powerpoint/2010/main" val="2708702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1000"/>
                                        <p:tgtEl>
                                          <p:spTgt spid="22"/>
                                        </p:tgtEl>
                                      </p:cBhvr>
                                    </p:animEffect>
                                    <p:anim calcmode="lin" valueType="num">
                                      <p:cBhvr>
                                        <p:cTn id="23" dur="1000" fill="hold"/>
                                        <p:tgtEl>
                                          <p:spTgt spid="22"/>
                                        </p:tgtEl>
                                        <p:attrNameLst>
                                          <p:attrName>ppt_x</p:attrName>
                                        </p:attrNameLst>
                                      </p:cBhvr>
                                      <p:tavLst>
                                        <p:tav tm="0">
                                          <p:val>
                                            <p:strVal val="#ppt_x"/>
                                          </p:val>
                                        </p:tav>
                                        <p:tav tm="100000">
                                          <p:val>
                                            <p:strVal val="#ppt_x"/>
                                          </p:val>
                                        </p:tav>
                                      </p:tavLst>
                                    </p:anim>
                                    <p:anim calcmode="lin" valueType="num">
                                      <p:cBhvr>
                                        <p:cTn id="2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mph" presetSubtype="0" grpId="0" nodeType="clickEffect">
                                  <p:stCondLst>
                                    <p:cond delay="0"/>
                                  </p:stCondLst>
                                  <p:childTnLst>
                                    <p:set>
                                      <p:cBhvr>
                                        <p:cTn id="28" dur="indefinite"/>
                                        <p:tgtEl>
                                          <p:spTgt spid="32"/>
                                        </p:tgtEl>
                                        <p:attrNameLst>
                                          <p:attrName>style.opacity</p:attrName>
                                        </p:attrNameLst>
                                      </p:cBhvr>
                                      <p:to>
                                        <p:strVal val="0.5"/>
                                      </p:to>
                                    </p:set>
                                    <p:animEffect filter="image" prLst="opacity: 0.5">
                                      <p:cBhvr rctx="IE">
                                        <p:cTn id="29" dur="indefinite"/>
                                        <p:tgtEl>
                                          <p:spTgt spid="32"/>
                                        </p:tgtEl>
                                      </p:cBhvr>
                                    </p:animEffect>
                                  </p:childTnLst>
                                </p:cTn>
                              </p:par>
                              <p:par>
                                <p:cTn id="30" presetID="9" presetClass="emph" presetSubtype="0" grpId="0" nodeType="withEffect">
                                  <p:stCondLst>
                                    <p:cond delay="0"/>
                                  </p:stCondLst>
                                  <p:childTnLst>
                                    <p:set>
                                      <p:cBhvr>
                                        <p:cTn id="31" dur="indefinite"/>
                                        <p:tgtEl>
                                          <p:spTgt spid="29"/>
                                        </p:tgtEl>
                                        <p:attrNameLst>
                                          <p:attrName>style.opacity</p:attrName>
                                        </p:attrNameLst>
                                      </p:cBhvr>
                                      <p:to>
                                        <p:strVal val="0.5"/>
                                      </p:to>
                                    </p:set>
                                    <p:animEffect filter="image" prLst="opacity: 0.5">
                                      <p:cBhvr rctx="IE">
                                        <p:cTn id="32" dur="indefinite"/>
                                        <p:tgtEl>
                                          <p:spTgt spid="29"/>
                                        </p:tgtEl>
                                      </p:cBhvr>
                                    </p:animEffect>
                                  </p:childTnLst>
                                </p:cTn>
                              </p:par>
                              <p:par>
                                <p:cTn id="33" presetID="9" presetClass="emph" presetSubtype="0" grpId="0" nodeType="withEffect">
                                  <p:stCondLst>
                                    <p:cond delay="0"/>
                                  </p:stCondLst>
                                  <p:childTnLst>
                                    <p:set>
                                      <p:cBhvr>
                                        <p:cTn id="34" dur="indefinite"/>
                                        <p:tgtEl>
                                          <p:spTgt spid="34"/>
                                        </p:tgtEl>
                                        <p:attrNameLst>
                                          <p:attrName>style.opacity</p:attrName>
                                        </p:attrNameLst>
                                      </p:cBhvr>
                                      <p:to>
                                        <p:strVal val="0.5"/>
                                      </p:to>
                                    </p:set>
                                    <p:animEffect filter="image" prLst="opacity: 0.5">
                                      <p:cBhvr rctx="IE">
                                        <p:cTn id="35" dur="indefinite"/>
                                        <p:tgtEl>
                                          <p:spTgt spid="34"/>
                                        </p:tgtEl>
                                      </p:cBhvr>
                                    </p:animEffect>
                                  </p:childTnLst>
                                </p:cTn>
                              </p:par>
                              <p:par>
                                <p:cTn id="36" presetID="9" presetClass="emph" presetSubtype="0" grpId="0" nodeType="withEffect">
                                  <p:stCondLst>
                                    <p:cond delay="0"/>
                                  </p:stCondLst>
                                  <p:childTnLst>
                                    <p:set>
                                      <p:cBhvr>
                                        <p:cTn id="37" dur="indefinite"/>
                                        <p:tgtEl>
                                          <p:spTgt spid="35"/>
                                        </p:tgtEl>
                                        <p:attrNameLst>
                                          <p:attrName>style.opacity</p:attrName>
                                        </p:attrNameLst>
                                      </p:cBhvr>
                                      <p:to>
                                        <p:strVal val="0.5"/>
                                      </p:to>
                                    </p:set>
                                    <p:animEffect filter="image" prLst="opacity: 0.5">
                                      <p:cBhvr rctx="IE">
                                        <p:cTn id="38" dur="indefinite"/>
                                        <p:tgtEl>
                                          <p:spTgt spid="35"/>
                                        </p:tgtEl>
                                      </p:cBhvr>
                                    </p:animEffect>
                                  </p:childTnLst>
                                </p:cTn>
                              </p:par>
                              <p:par>
                                <p:cTn id="39" presetID="9" presetClass="emph" presetSubtype="0" grpId="0" nodeType="withEffect">
                                  <p:stCondLst>
                                    <p:cond delay="0"/>
                                  </p:stCondLst>
                                  <p:childTnLst>
                                    <p:set>
                                      <p:cBhvr>
                                        <p:cTn id="40" dur="indefinite"/>
                                        <p:tgtEl>
                                          <p:spTgt spid="31"/>
                                        </p:tgtEl>
                                        <p:attrNameLst>
                                          <p:attrName>style.opacity</p:attrName>
                                        </p:attrNameLst>
                                      </p:cBhvr>
                                      <p:to>
                                        <p:strVal val="0.5"/>
                                      </p:to>
                                    </p:set>
                                    <p:animEffect filter="image" prLst="opacity: 0.5">
                                      <p:cBhvr rctx="IE">
                                        <p:cTn id="41" dur="indefinite"/>
                                        <p:tgtEl>
                                          <p:spTgt spid="31"/>
                                        </p:tgtEl>
                                      </p:cBhvr>
                                    </p:animEffect>
                                  </p:childTnLst>
                                </p:cTn>
                              </p:par>
                              <p:par>
                                <p:cTn id="42" presetID="9" presetClass="emph" presetSubtype="0" grpId="0" nodeType="withEffect">
                                  <p:stCondLst>
                                    <p:cond delay="0"/>
                                  </p:stCondLst>
                                  <p:childTnLst>
                                    <p:set>
                                      <p:cBhvr>
                                        <p:cTn id="43" dur="indefinite"/>
                                        <p:tgtEl>
                                          <p:spTgt spid="33"/>
                                        </p:tgtEl>
                                        <p:attrNameLst>
                                          <p:attrName>style.opacity</p:attrName>
                                        </p:attrNameLst>
                                      </p:cBhvr>
                                      <p:to>
                                        <p:strVal val="0.5"/>
                                      </p:to>
                                    </p:set>
                                    <p:animEffect filter="image" prLst="opacity: 0.5">
                                      <p:cBhvr rctx="IE">
                                        <p:cTn id="44" dur="indefinite"/>
                                        <p:tgtEl>
                                          <p:spTgt spid="33"/>
                                        </p:tgtEl>
                                      </p:cBhvr>
                                    </p:animEffect>
                                  </p:childTnLst>
                                </p:cTn>
                              </p:par>
                              <p:par>
                                <p:cTn id="45" presetID="9" presetClass="emph" presetSubtype="0" grpId="0" nodeType="withEffect">
                                  <p:stCondLst>
                                    <p:cond delay="0"/>
                                  </p:stCondLst>
                                  <p:childTnLst>
                                    <p:set>
                                      <p:cBhvr>
                                        <p:cTn id="46" dur="indefinite"/>
                                        <p:tgtEl>
                                          <p:spTgt spid="39"/>
                                        </p:tgtEl>
                                        <p:attrNameLst>
                                          <p:attrName>style.opacity</p:attrName>
                                        </p:attrNameLst>
                                      </p:cBhvr>
                                      <p:to>
                                        <p:strVal val="0.5"/>
                                      </p:to>
                                    </p:set>
                                    <p:animEffect filter="image" prLst="opacity: 0.5">
                                      <p:cBhvr rctx="IE">
                                        <p:cTn id="47" dur="indefinite"/>
                                        <p:tgtEl>
                                          <p:spTgt spid="39"/>
                                        </p:tgtEl>
                                      </p:cBhvr>
                                    </p:animEffect>
                                  </p:childTnLst>
                                </p:cTn>
                              </p:par>
                              <p:par>
                                <p:cTn id="48" presetID="9" presetClass="emph" presetSubtype="0" nodeType="withEffect">
                                  <p:stCondLst>
                                    <p:cond delay="0"/>
                                  </p:stCondLst>
                                  <p:childTnLst>
                                    <p:set>
                                      <p:cBhvr>
                                        <p:cTn id="49" dur="indefinite"/>
                                        <p:tgtEl>
                                          <p:spTgt spid="38"/>
                                        </p:tgtEl>
                                        <p:attrNameLst>
                                          <p:attrName>style.opacity</p:attrName>
                                        </p:attrNameLst>
                                      </p:cBhvr>
                                      <p:to>
                                        <p:strVal val="0.5"/>
                                      </p:to>
                                    </p:set>
                                    <p:animEffect filter="image" prLst="opacity: 0.5">
                                      <p:cBhvr rctx="IE">
                                        <p:cTn id="50" dur="indefinite"/>
                                        <p:tgtEl>
                                          <p:spTgt spid="38"/>
                                        </p:tgtEl>
                                      </p:cBhvr>
                                    </p:animEffect>
                                  </p:childTnLst>
                                </p:cTn>
                              </p:par>
                              <p:par>
                                <p:cTn id="51" presetID="8" presetClass="emph" presetSubtype="0" fill="hold" grpId="0" nodeType="withEffect">
                                  <p:stCondLst>
                                    <p:cond delay="0"/>
                                  </p:stCondLst>
                                  <p:childTnLst>
                                    <p:animRot by="21600000">
                                      <p:cBhvr>
                                        <p:cTn id="52" dur="1000" fill="hold"/>
                                        <p:tgtEl>
                                          <p:spTgt spid="30"/>
                                        </p:tgtEl>
                                        <p:attrNameLst>
                                          <p:attrName>r</p:attrName>
                                        </p:attrNameLst>
                                      </p:cBhvr>
                                    </p:animRot>
                                  </p:childTnLst>
                                </p:cTn>
                              </p:par>
                              <p:par>
                                <p:cTn id="53" presetID="9" presetClass="emph" presetSubtype="0" grpId="1" nodeType="withEffect">
                                  <p:stCondLst>
                                    <p:cond delay="0"/>
                                  </p:stCondLst>
                                  <p:childTnLst>
                                    <p:set>
                                      <p:cBhvr rctx="PPT">
                                        <p:cTn id="54" dur="indefinite"/>
                                        <p:tgtEl>
                                          <p:spTgt spid="19"/>
                                        </p:tgtEl>
                                        <p:attrNameLst>
                                          <p:attrName>style.opacity</p:attrName>
                                        </p:attrNameLst>
                                      </p:cBhvr>
                                      <p:to>
                                        <p:strVal val="0.5"/>
                                      </p:to>
                                    </p:set>
                                    <p:animEffect filter="image" prLst="opacity: 0.5">
                                      <p:cBhvr rctx="IE">
                                        <p:cTn id="55" dur="indefinite"/>
                                        <p:tgtEl>
                                          <p:spTgt spid="19"/>
                                        </p:tgtEl>
                                      </p:cBhvr>
                                    </p:animEffect>
                                  </p:childTnLst>
                                </p:cTn>
                              </p:par>
                              <p:par>
                                <p:cTn id="56" presetID="9" presetClass="emph" presetSubtype="0" grpId="1" nodeType="withEffect">
                                  <p:stCondLst>
                                    <p:cond delay="0"/>
                                  </p:stCondLst>
                                  <p:childTnLst>
                                    <p:set>
                                      <p:cBhvr rctx="PPT">
                                        <p:cTn id="57" dur="indefinite"/>
                                        <p:tgtEl>
                                          <p:spTgt spid="20"/>
                                        </p:tgtEl>
                                        <p:attrNameLst>
                                          <p:attrName>style.opacity</p:attrName>
                                        </p:attrNameLst>
                                      </p:cBhvr>
                                      <p:to>
                                        <p:strVal val="0.5"/>
                                      </p:to>
                                    </p:set>
                                    <p:animEffect filter="image" prLst="opacity: 0.5">
                                      <p:cBhvr rctx="IE">
                                        <p:cTn id="58" dur="indefinite"/>
                                        <p:tgtEl>
                                          <p:spTgt spid="20"/>
                                        </p:tgtEl>
                                      </p:cBhvr>
                                    </p:animEffect>
                                  </p:childTnLst>
                                </p:cTn>
                              </p:par>
                              <p:par>
                                <p:cTn id="59" presetID="9" presetClass="emph" presetSubtype="0" grpId="1" nodeType="withEffect">
                                  <p:stCondLst>
                                    <p:cond delay="0"/>
                                  </p:stCondLst>
                                  <p:childTnLst>
                                    <p:set>
                                      <p:cBhvr rctx="PPT">
                                        <p:cTn id="60" dur="indefinite"/>
                                        <p:tgtEl>
                                          <p:spTgt spid="22"/>
                                        </p:tgtEl>
                                        <p:attrNameLst>
                                          <p:attrName>style.opacity</p:attrName>
                                        </p:attrNameLst>
                                      </p:cBhvr>
                                      <p:to>
                                        <p:strVal val="0.5"/>
                                      </p:to>
                                    </p:set>
                                    <p:animEffect filter="image" prLst="opacity: 0.5">
                                      <p:cBhvr rctx="IE">
                                        <p:cTn id="61" dur="indefinite"/>
                                        <p:tgtEl>
                                          <p:spTgt spid="22"/>
                                        </p:tgtEl>
                                      </p:cBhvr>
                                    </p:animEffect>
                                  </p:childTnLst>
                                </p:cTn>
                              </p:par>
                              <p:par>
                                <p:cTn id="62" presetID="9" presetClass="emph" presetSubtype="0" grpId="1" nodeType="withEffect">
                                  <p:stCondLst>
                                    <p:cond delay="0"/>
                                  </p:stCondLst>
                                  <p:childTnLst>
                                    <p:set>
                                      <p:cBhvr rctx="PPT">
                                        <p:cTn id="63" dur="indefinite"/>
                                        <p:tgtEl>
                                          <p:spTgt spid="21"/>
                                        </p:tgtEl>
                                        <p:attrNameLst>
                                          <p:attrName>style.opacity</p:attrName>
                                        </p:attrNameLst>
                                      </p:cBhvr>
                                      <p:to>
                                        <p:strVal val="0.5"/>
                                      </p:to>
                                    </p:set>
                                    <p:animEffect filter="image" prLst="opacity: 0.5">
                                      <p:cBhvr rctx="IE">
                                        <p:cTn id="64" dur="indefinite"/>
                                        <p:tgtEl>
                                          <p:spTgt spid="21"/>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animEffect transition="in" filter="wipe(left)">
                                      <p:cBhvr>
                                        <p:cTn id="67" dur="500"/>
                                        <p:tgtEl>
                                          <p:spTgt spid="52"/>
                                        </p:tgtEl>
                                      </p:cBhvr>
                                    </p:animEffect>
                                  </p:childTnLst>
                                </p:cTn>
                              </p:par>
                            </p:childTnLst>
                          </p:cTn>
                        </p:par>
                        <p:par>
                          <p:cTn id="68" fill="hold">
                            <p:stCondLst>
                              <p:cond delay="1000"/>
                            </p:stCondLst>
                            <p:childTnLst>
                              <p:par>
                                <p:cTn id="69" presetID="9"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dissolve">
                                      <p:cBhvr>
                                        <p:cTn id="7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1" grpId="0" animBg="1"/>
      <p:bldP spid="32" grpId="0" animBg="1"/>
      <p:bldP spid="33" grpId="0" animBg="1"/>
      <p:bldP spid="34" grpId="0" animBg="1"/>
      <p:bldP spid="35" grpId="0" animBg="1"/>
      <p:bldP spid="39" grpId="0"/>
      <p:bldP spid="30" grpId="0" animBg="1"/>
      <p:bldP spid="52" grpId="0"/>
      <p:bldP spid="19" grpId="0"/>
      <p:bldP spid="19" grpId="1"/>
      <p:bldP spid="20" grpId="0"/>
      <p:bldP spid="20" grpId="1"/>
      <p:bldP spid="21" grpId="0"/>
      <p:bldP spid="21" grpId="1"/>
      <p:bldP spid="22" grpId="0"/>
      <p:bldP spid="22" grpId="1"/>
      <p:bldP spid="2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1422" y="3805047"/>
            <a:ext cx="7303602" cy="461665"/>
          </a:xfrm>
          <a:prstGeom prst="rect">
            <a:avLst/>
          </a:prstGeom>
          <a:noFill/>
        </p:spPr>
        <p:txBody>
          <a:bodyPr wrap="none" rtlCol="0">
            <a:spAutoFit/>
          </a:bodyPr>
          <a:lstStyle/>
          <a:p>
            <a:pPr lvl="0">
              <a:spcBef>
                <a:spcPct val="20000"/>
              </a:spcBef>
              <a:buClr>
                <a:srgbClr val="545164"/>
              </a:buClr>
              <a:buSzPct val="65000"/>
            </a:pPr>
            <a:r>
              <a:rPr lang="en-US" sz="2400">
                <a:latin typeface="Century Gothic" panose="020B0502020202020204" pitchFamily="34" charset="0"/>
                <a:cs typeface="Calibri" panose="020F0502020204030204" pitchFamily="34" charset="0"/>
              </a:rPr>
              <a:t>How should we </a:t>
            </a:r>
            <a:r>
              <a:rPr lang="en-US" sz="2400" b="1">
                <a:latin typeface="Century Gothic" panose="020B0502020202020204" pitchFamily="34" charset="0"/>
                <a:cs typeface="Calibri" panose="020F0502020204030204" pitchFamily="34" charset="0"/>
              </a:rPr>
              <a:t>quantify</a:t>
            </a:r>
            <a:r>
              <a:rPr lang="en-US" sz="2400">
                <a:latin typeface="Century Gothic" panose="020B0502020202020204" pitchFamily="34" charset="0"/>
                <a:cs typeface="Calibri" panose="020F0502020204030204" pitchFamily="34" charset="0"/>
              </a:rPr>
              <a:t> the quality of “partial</a:t>
            </a:r>
            <a:r>
              <a:rPr lang="en-US" sz="2400" smtClean="0">
                <a:latin typeface="Century Gothic" panose="020B0502020202020204" pitchFamily="34" charset="0"/>
                <a:cs typeface="Calibri" panose="020F0502020204030204" pitchFamily="34" charset="0"/>
              </a:rPr>
              <a:t>”?</a:t>
            </a:r>
            <a:endParaRPr lang="en-US" sz="2000">
              <a:latin typeface="Century Gothic" panose="020B0502020202020204" pitchFamily="34" charset="0"/>
              <a:cs typeface="Calibri" panose="020F0502020204030204" pitchFamily="34" charset="0"/>
            </a:endParaRPr>
          </a:p>
        </p:txBody>
      </p:sp>
      <p:sp>
        <p:nvSpPr>
          <p:cNvPr id="5" name="Content Placeholder 4">
            <a:extLst>
              <a:ext uri="{FF2B5EF4-FFF2-40B4-BE49-F238E27FC236}">
                <a16:creationId xmlns="" xmlns:a16="http://schemas.microsoft.com/office/drawing/2014/main" id="{741720F8-2F48-544B-9662-305E5C2AB97E}"/>
              </a:ext>
            </a:extLst>
          </p:cNvPr>
          <p:cNvSpPr>
            <a:spLocks noGrp="1"/>
          </p:cNvSpPr>
          <p:nvPr>
            <p:ph idx="1"/>
          </p:nvPr>
        </p:nvSpPr>
        <p:spPr>
          <a:xfrm>
            <a:off x="381000" y="780702"/>
            <a:ext cx="8534400" cy="5620098"/>
          </a:xfrm>
          <a:prstGeom prst="roundRect">
            <a:avLst/>
          </a:prstGeom>
        </p:spPr>
        <p:txBody>
          <a:bodyPr/>
          <a:lstStyle/>
          <a:p>
            <a:pPr marL="0" indent="0">
              <a:buNone/>
            </a:pPr>
            <a:r>
              <a:rPr lang="en-US" sz="2400" b="1" dirty="0"/>
              <a:t>Most NLP tasks are structured</a:t>
            </a:r>
            <a:r>
              <a:rPr lang="en-US" sz="2400" dirty="0"/>
              <a:t>: Syntactic parsing </a:t>
            </a:r>
            <a:r>
              <a:rPr lang="en-US" sz="2400" dirty="0">
                <a:sym typeface="Wingdings" pitchFamily="2" charset="2"/>
              </a:rPr>
              <a:t>(tree), s</a:t>
            </a:r>
            <a:r>
              <a:rPr lang="en-US" sz="2400" dirty="0"/>
              <a:t>emantic role labeling (</a:t>
            </a:r>
            <a:r>
              <a:rPr lang="en-US" sz="2400" dirty="0">
                <a:sym typeface="Wingdings" pitchFamily="2" charset="2"/>
              </a:rPr>
              <a:t>assignment), temporal relation extraction (no loops</a:t>
            </a:r>
            <a:r>
              <a:rPr lang="en-US" sz="2400" dirty="0" smtClean="0">
                <a:sym typeface="Wingdings" pitchFamily="2" charset="2"/>
              </a:rPr>
              <a:t>)</a:t>
            </a:r>
          </a:p>
          <a:p>
            <a:pPr marL="0" indent="0">
              <a:buNone/>
            </a:pPr>
            <a:endParaRPr lang="en-US" sz="2000" dirty="0">
              <a:sym typeface="Wingdings" pitchFamily="2" charset="2"/>
            </a:endParaRPr>
          </a:p>
          <a:p>
            <a:pPr marL="0" indent="0">
              <a:buNone/>
            </a:pPr>
            <a:r>
              <a:rPr lang="en-US" sz="2400" dirty="0"/>
              <a:t>A </a:t>
            </a:r>
            <a:r>
              <a:rPr lang="en-US" sz="2400" b="1" dirty="0"/>
              <a:t>common perception </a:t>
            </a:r>
            <a:r>
              <a:rPr lang="en-US" sz="2400" dirty="0"/>
              <a:t>is: “partial” data are of low quality and should be </a:t>
            </a:r>
            <a:r>
              <a:rPr lang="en-US" sz="2400" dirty="0" smtClean="0"/>
              <a:t>avoided</a:t>
            </a:r>
          </a:p>
          <a:p>
            <a:pPr marL="0" indent="0">
              <a:buNone/>
            </a:pPr>
            <a:endParaRPr lang="en-US" sz="2400" dirty="0"/>
          </a:p>
          <a:p>
            <a:pPr marL="0" indent="0">
              <a:buNone/>
            </a:pPr>
            <a:r>
              <a:rPr lang="en-US" sz="2400" dirty="0" smtClean="0"/>
              <a:t>How should we </a:t>
            </a:r>
            <a:r>
              <a:rPr lang="en-US" sz="2400" b="1" dirty="0" smtClean="0"/>
              <a:t>quantify</a:t>
            </a:r>
            <a:r>
              <a:rPr lang="en-US" sz="2400" dirty="0" smtClean="0"/>
              <a:t> the quality of “partial”?</a:t>
            </a:r>
            <a:endParaRPr lang="en-US" sz="2000" dirty="0"/>
          </a:p>
        </p:txBody>
      </p:sp>
      <p:sp>
        <p:nvSpPr>
          <p:cNvPr id="2" name="TextBox 1">
            <a:extLst>
              <a:ext uri="{FF2B5EF4-FFF2-40B4-BE49-F238E27FC236}">
                <a16:creationId xmlns="" xmlns:a16="http://schemas.microsoft.com/office/drawing/2014/main" id="{BDBF7124-1D5D-2345-A306-6ADAB4F9B6CF}"/>
              </a:ext>
            </a:extLst>
          </p:cNvPr>
          <p:cNvSpPr txBox="1"/>
          <p:nvPr/>
        </p:nvSpPr>
        <p:spPr>
          <a:xfrm>
            <a:off x="641422" y="126440"/>
            <a:ext cx="4413388" cy="584775"/>
          </a:xfrm>
          <a:prstGeom prst="rect">
            <a:avLst/>
          </a:prstGeom>
          <a:noFill/>
        </p:spPr>
        <p:txBody>
          <a:bodyPr wrap="none" rtlCol="0">
            <a:spAutoFit/>
          </a:bodyPr>
          <a:lstStyle/>
          <a:p>
            <a:r>
              <a:rPr lang="en-US" sz="3200" dirty="0" smtClean="0">
                <a:solidFill>
                  <a:schemeClr val="bg2"/>
                </a:solidFill>
                <a:latin typeface="Century Gothic" panose="020B0502020202020204" pitchFamily="34" charset="0"/>
              </a:rPr>
              <a:t>Annotating structures</a:t>
            </a:r>
            <a:endParaRPr lang="en-US" sz="3200" dirty="0">
              <a:solidFill>
                <a:schemeClr val="bg2"/>
              </a:solidFill>
              <a:latin typeface="Century Gothic" panose="020B0502020202020204" pitchFamily="34" charset="0"/>
            </a:endParaRPr>
          </a:p>
        </p:txBody>
      </p:sp>
      <p:grpSp>
        <p:nvGrpSpPr>
          <p:cNvPr id="6" name="Group 5">
            <a:extLst>
              <a:ext uri="{FF2B5EF4-FFF2-40B4-BE49-F238E27FC236}">
                <a16:creationId xmlns="" xmlns:a16="http://schemas.microsoft.com/office/drawing/2014/main" id="{E9F66B4B-1C38-1C4D-99CD-8197BCA56565}"/>
              </a:ext>
            </a:extLst>
          </p:cNvPr>
          <p:cNvGrpSpPr/>
          <p:nvPr/>
        </p:nvGrpSpPr>
        <p:grpSpPr>
          <a:xfrm>
            <a:off x="842992" y="4368939"/>
            <a:ext cx="4545074" cy="2336661"/>
            <a:chOff x="3312194" y="1491409"/>
            <a:chExt cx="6060098" cy="3115549"/>
          </a:xfrm>
        </p:grpSpPr>
        <p:grpSp>
          <p:nvGrpSpPr>
            <p:cNvPr id="7" name="Group 6">
              <a:extLst>
                <a:ext uri="{FF2B5EF4-FFF2-40B4-BE49-F238E27FC236}">
                  <a16:creationId xmlns="" xmlns:a16="http://schemas.microsoft.com/office/drawing/2014/main" id="{EDECB90A-6798-8F48-80F0-BAC575C07A83}"/>
                </a:ext>
              </a:extLst>
            </p:cNvPr>
            <p:cNvGrpSpPr/>
            <p:nvPr/>
          </p:nvGrpSpPr>
          <p:grpSpPr>
            <a:xfrm>
              <a:off x="3312194" y="1491409"/>
              <a:ext cx="6060098" cy="3115549"/>
              <a:chOff x="3312194" y="1491409"/>
              <a:chExt cx="6060098" cy="3115549"/>
            </a:xfrm>
          </p:grpSpPr>
          <p:grpSp>
            <p:nvGrpSpPr>
              <p:cNvPr id="9" name="Group 8">
                <a:extLst>
                  <a:ext uri="{FF2B5EF4-FFF2-40B4-BE49-F238E27FC236}">
                    <a16:creationId xmlns="" xmlns:a16="http://schemas.microsoft.com/office/drawing/2014/main" id="{8040B5AD-45EF-3641-8534-1F74BBE939C9}"/>
                  </a:ext>
                </a:extLst>
              </p:cNvPr>
              <p:cNvGrpSpPr/>
              <p:nvPr/>
            </p:nvGrpSpPr>
            <p:grpSpPr>
              <a:xfrm>
                <a:off x="3312194" y="1491409"/>
                <a:ext cx="6060098" cy="2542680"/>
                <a:chOff x="2974846" y="1491409"/>
                <a:chExt cx="6060098" cy="2542680"/>
              </a:xfrm>
            </p:grpSpPr>
            <p:sp>
              <p:nvSpPr>
                <p:cNvPr id="15" name="TextBox 14">
                  <a:extLst>
                    <a:ext uri="{FF2B5EF4-FFF2-40B4-BE49-F238E27FC236}">
                      <a16:creationId xmlns="" xmlns:a16="http://schemas.microsoft.com/office/drawing/2014/main"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16" name="TextBox 15">
                  <a:extLst>
                    <a:ext uri="{FF2B5EF4-FFF2-40B4-BE49-F238E27FC236}">
                      <a16:creationId xmlns="" xmlns:a16="http://schemas.microsoft.com/office/drawing/2014/main"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17" name="TextBox 16">
                  <a:extLst>
                    <a:ext uri="{FF2B5EF4-FFF2-40B4-BE49-F238E27FC236}">
                      <a16:creationId xmlns="" xmlns:a16="http://schemas.microsoft.com/office/drawing/2014/main"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18" name="TextBox 17">
                  <a:extLst>
                    <a:ext uri="{FF2B5EF4-FFF2-40B4-BE49-F238E27FC236}">
                      <a16:creationId xmlns="" xmlns:a16="http://schemas.microsoft.com/office/drawing/2014/main"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19" name="Straight Arrow Connector 18">
                  <a:extLst>
                    <a:ext uri="{FF2B5EF4-FFF2-40B4-BE49-F238E27FC236}">
                      <a16:creationId xmlns="" xmlns:a16="http://schemas.microsoft.com/office/drawing/2014/main"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 xmlns:a16="http://schemas.microsoft.com/office/drawing/2014/main"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 xmlns:a16="http://schemas.microsoft.com/office/drawing/2014/main"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 xmlns:a16="http://schemas.microsoft.com/office/drawing/2014/main"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25" name="Straight Connector 24">
                  <a:extLst>
                    <a:ext uri="{FF2B5EF4-FFF2-40B4-BE49-F238E27FC236}">
                      <a16:creationId xmlns="" xmlns:a16="http://schemas.microsoft.com/office/drawing/2014/main"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 xmlns:a16="http://schemas.microsoft.com/office/drawing/2014/main" id="{523B3C13-81E5-0441-87CB-59BDD22611C5}"/>
                  </a:ext>
                </a:extLst>
              </p:cNvPr>
              <p:cNvGrpSpPr/>
              <p:nvPr/>
            </p:nvGrpSpPr>
            <p:grpSpPr>
              <a:xfrm>
                <a:off x="4851183" y="4268403"/>
                <a:ext cx="3254802" cy="338555"/>
                <a:chOff x="2403791" y="4308587"/>
                <a:chExt cx="3254802" cy="338555"/>
              </a:xfrm>
            </p:grpSpPr>
            <p:cxnSp>
              <p:nvCxnSpPr>
                <p:cNvPr id="11" name="Straight Arrow Connector 10">
                  <a:extLst>
                    <a:ext uri="{FF2B5EF4-FFF2-40B4-BE49-F238E27FC236}">
                      <a16:creationId xmlns="" xmlns:a16="http://schemas.microsoft.com/office/drawing/2014/main"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 xmlns:a16="http://schemas.microsoft.com/office/drawing/2014/main"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13" name="Straight Arrow Connector 12">
                  <a:extLst>
                    <a:ext uri="{FF2B5EF4-FFF2-40B4-BE49-F238E27FC236}">
                      <a16:creationId xmlns="" xmlns:a16="http://schemas.microsoft.com/office/drawing/2014/main"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 xmlns:a16="http://schemas.microsoft.com/office/drawing/2014/main"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8" name="Straight Connector 7">
              <a:extLst>
                <a:ext uri="{FF2B5EF4-FFF2-40B4-BE49-F238E27FC236}">
                  <a16:creationId xmlns="" xmlns:a16="http://schemas.microsoft.com/office/drawing/2014/main"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 xmlns:a16="http://schemas.microsoft.com/office/drawing/2014/main" id="{BDBF7124-1D5D-2345-A306-6ADAB4F9B6CF}"/>
              </a:ext>
            </a:extLst>
          </p:cNvPr>
          <p:cNvSpPr txBox="1"/>
          <p:nvPr/>
        </p:nvSpPr>
        <p:spPr>
          <a:xfrm>
            <a:off x="4972012" y="126440"/>
            <a:ext cx="2488182" cy="584775"/>
          </a:xfrm>
          <a:prstGeom prst="rect">
            <a:avLst/>
          </a:prstGeom>
          <a:noFill/>
        </p:spPr>
        <p:txBody>
          <a:bodyPr wrap="none" rtlCol="0">
            <a:spAutoFit/>
          </a:bodyPr>
          <a:lstStyle/>
          <a:p>
            <a:r>
              <a:rPr lang="en-US" sz="3200" smtClean="0">
                <a:solidFill>
                  <a:schemeClr val="bg2"/>
                </a:solidFill>
                <a:latin typeface="Century Gothic" panose="020B0502020202020204" pitchFamily="34" charset="0"/>
              </a:rPr>
              <a:t>is important</a:t>
            </a:r>
            <a:endParaRPr lang="en-US" sz="3200" dirty="0">
              <a:solidFill>
                <a:schemeClr val="bg2"/>
              </a:solidFill>
              <a:latin typeface="Century Gothic" panose="020B0502020202020204" pitchFamily="34" charset="0"/>
            </a:endParaRPr>
          </a:p>
        </p:txBody>
      </p:sp>
      <p:sp>
        <p:nvSpPr>
          <p:cNvPr id="3" name="TextBox 2"/>
          <p:cNvSpPr txBox="1"/>
          <p:nvPr/>
        </p:nvSpPr>
        <p:spPr>
          <a:xfrm>
            <a:off x="5655728" y="5022567"/>
            <a:ext cx="2932213" cy="523220"/>
          </a:xfrm>
          <a:prstGeom prst="rect">
            <a:avLst/>
          </a:prstGeom>
          <a:noFill/>
        </p:spPr>
        <p:txBody>
          <a:bodyPr wrap="none" rtlCol="0">
            <a:spAutoFit/>
          </a:bodyPr>
          <a:lstStyle/>
          <a:p>
            <a:r>
              <a:rPr lang="en-US" sz="2800" smtClean="0">
                <a:solidFill>
                  <a:srgbClr val="C27990"/>
                </a:solidFill>
                <a:latin typeface="Century Gothic" charset="0"/>
                <a:ea typeface="Century Gothic" charset="0"/>
                <a:cs typeface="Century Gothic" charset="0"/>
              </a:rPr>
              <a:t>quality = 2 / 10?</a:t>
            </a:r>
            <a:endParaRPr lang="en-US" sz="2800" dirty="0">
              <a:solidFill>
                <a:srgbClr val="C2799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408506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9" grpId="0"/>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3646618" y="4077366"/>
            <a:ext cx="1218250" cy="378478"/>
            <a:chOff x="3761477" y="4110538"/>
            <a:chExt cx="1218250" cy="378478"/>
          </a:xfrm>
        </p:grpSpPr>
        <p:sp>
          <p:nvSpPr>
            <p:cNvPr id="15" name="Rounded Rectangle 14">
              <a:extLst>
                <a:ext uri="{FF2B5EF4-FFF2-40B4-BE49-F238E27FC236}">
                  <a16:creationId xmlns="" xmlns:a16="http://schemas.microsoft.com/office/drawing/2014/main" id="{6D42E12D-9BC5-C24A-B8B5-20FFD3C21D2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6" name="TextBox 15">
              <a:extLst>
                <a:ext uri="{FF2B5EF4-FFF2-40B4-BE49-F238E27FC236}">
                  <a16:creationId xmlns="" xmlns:a16="http://schemas.microsoft.com/office/drawing/2014/main" id="{81CEE728-6FC1-804D-A4B5-97737DED2809}"/>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grpSp>
        <p:nvGrpSpPr>
          <p:cNvPr id="36" name="Group 35"/>
          <p:cNvGrpSpPr/>
          <p:nvPr/>
        </p:nvGrpSpPr>
        <p:grpSpPr>
          <a:xfrm>
            <a:off x="1843337" y="4057590"/>
            <a:ext cx="5282328" cy="1436529"/>
            <a:chOff x="1883443" y="4224578"/>
            <a:chExt cx="5282328" cy="1436529"/>
          </a:xfrm>
        </p:grpSpPr>
        <p:sp>
          <p:nvSpPr>
            <p:cNvPr id="17" name="Rounded Rectangle 16">
              <a:extLst>
                <a:ext uri="{FF2B5EF4-FFF2-40B4-BE49-F238E27FC236}">
                  <a16:creationId xmlns="" xmlns:a16="http://schemas.microsoft.com/office/drawing/2014/main" id="{81D05AEC-6B85-114C-BC80-1E607C22BFFF}"/>
                </a:ext>
              </a:extLst>
            </p:cNvPr>
            <p:cNvSpPr/>
            <p:nvPr/>
          </p:nvSpPr>
          <p:spPr>
            <a:xfrm>
              <a:off x="2247737" y="4241186"/>
              <a:ext cx="1188417" cy="376655"/>
            </a:xfrm>
            <a:prstGeom prst="roundRect">
              <a:avLst>
                <a:gd name="adj" fmla="val 50000"/>
              </a:avLst>
            </a:prstGeom>
            <a:solidFill>
              <a:srgbClr val="95A28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8" name="TextBox 17">
              <a:extLst>
                <a:ext uri="{FF2B5EF4-FFF2-40B4-BE49-F238E27FC236}">
                  <a16:creationId xmlns="" xmlns:a16="http://schemas.microsoft.com/office/drawing/2014/main" id="{5B39CEF9-B375-6640-896B-A9016FD0B456}"/>
                </a:ext>
              </a:extLst>
            </p:cNvPr>
            <p:cNvSpPr txBox="1"/>
            <p:nvPr/>
          </p:nvSpPr>
          <p:spPr>
            <a:xfrm>
              <a:off x="2336838" y="4224578"/>
              <a:ext cx="1099018"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ripping</a:t>
              </a:r>
            </a:p>
          </p:txBody>
        </p:sp>
        <p:sp>
          <p:nvSpPr>
            <p:cNvPr id="21" name="Rounded Rectangle 20">
              <a:extLst>
                <a:ext uri="{FF2B5EF4-FFF2-40B4-BE49-F238E27FC236}">
                  <a16:creationId xmlns="" xmlns:a16="http://schemas.microsoft.com/office/drawing/2014/main" id="{2727E4D9-6B17-AE45-943C-6636DD668254}"/>
                </a:ext>
              </a:extLst>
            </p:cNvPr>
            <p:cNvSpPr/>
            <p:nvPr/>
          </p:nvSpPr>
          <p:spPr>
            <a:xfrm>
              <a:off x="2150687" y="4731017"/>
              <a:ext cx="3017523" cy="376655"/>
            </a:xfrm>
            <a:prstGeom prst="roundRect">
              <a:avLst>
                <a:gd name="adj" fmla="val 50000"/>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22" name="TextBox 21">
              <a:extLst>
                <a:ext uri="{FF2B5EF4-FFF2-40B4-BE49-F238E27FC236}">
                  <a16:creationId xmlns="" xmlns:a16="http://schemas.microsoft.com/office/drawing/2014/main" id="{6E560D01-34F5-3F4E-9B34-441586CC3FEF}"/>
                </a:ext>
              </a:extLst>
            </p:cNvPr>
            <p:cNvSpPr txBox="1"/>
            <p:nvPr/>
          </p:nvSpPr>
          <p:spPr>
            <a:xfrm>
              <a:off x="2940991" y="4722489"/>
              <a:ext cx="1354858" cy="369332"/>
            </a:xfrm>
            <a:prstGeom prst="rect">
              <a:avLst/>
            </a:prstGeom>
            <a:noFill/>
            <a:ln>
              <a:noFill/>
            </a:ln>
          </p:spPr>
          <p:txBody>
            <a:bodyPr wrap="none" rtlCol="0">
              <a:spAutoFit/>
            </a:bodyPr>
            <a:lstStyle/>
            <a:p>
              <a:r>
                <a:rPr lang="en-US" dirty="0">
                  <a:latin typeface="Century Gothic" panose="020B0502020202020204" pitchFamily="34" charset="0"/>
                  <a:ea typeface="Times New Roman" charset="0"/>
                  <a:cs typeface="Times New Roman" charset="0"/>
                </a:rPr>
                <a:t>cascaded</a:t>
              </a:r>
            </a:p>
          </p:txBody>
        </p:sp>
        <p:cxnSp>
          <p:nvCxnSpPr>
            <p:cNvPr id="23" name="Straight Arrow Connector 22">
              <a:extLst>
                <a:ext uri="{FF2B5EF4-FFF2-40B4-BE49-F238E27FC236}">
                  <a16:creationId xmlns="" xmlns:a16="http://schemas.microsoft.com/office/drawing/2014/main" id="{3DA8FC01-BB24-0940-9EC6-43421E5128A1}"/>
                </a:ext>
              </a:extLst>
            </p:cNvPr>
            <p:cNvCxnSpPr>
              <a:cxnSpLocks/>
            </p:cNvCxnSpPr>
            <p:nvPr/>
          </p:nvCxnSpPr>
          <p:spPr>
            <a:xfrm>
              <a:off x="1883443" y="5198849"/>
              <a:ext cx="5082834" cy="0"/>
            </a:xfrm>
            <a:prstGeom prst="straightConnector1">
              <a:avLst/>
            </a:prstGeom>
            <a:ln w="3175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 xmlns:a16="http://schemas.microsoft.com/office/drawing/2014/main" id="{D23433C5-B1AE-CA4A-BEA3-A63039CE9EB4}"/>
                </a:ext>
              </a:extLst>
            </p:cNvPr>
            <p:cNvSpPr txBox="1"/>
            <p:nvPr/>
          </p:nvSpPr>
          <p:spPr>
            <a:xfrm>
              <a:off x="6413642" y="5260997"/>
              <a:ext cx="752129" cy="400110"/>
            </a:xfrm>
            <a:prstGeom prst="rect">
              <a:avLst/>
            </a:prstGeom>
            <a:noFill/>
            <a:ln>
              <a:noFill/>
            </a:ln>
          </p:spPr>
          <p:txBody>
            <a:bodyPr wrap="none" rtlCol="0">
              <a:spAutoFit/>
            </a:bodyPr>
            <a:lstStyle/>
            <a:p>
              <a:r>
                <a:rPr lang="en-US" sz="2000" dirty="0">
                  <a:solidFill>
                    <a:schemeClr val="bg2"/>
                  </a:solidFill>
                  <a:latin typeface="Century Gothic" panose="020B0502020202020204" pitchFamily="34" charset="0"/>
                  <a:ea typeface="Times New Roman" charset="0"/>
                  <a:cs typeface="Times New Roman" charset="0"/>
                </a:rPr>
                <a:t>Time</a:t>
              </a:r>
            </a:p>
          </p:txBody>
        </p:sp>
      </p:grpSp>
      <p:sp>
        <p:nvSpPr>
          <p:cNvPr id="39" name="TextBox 38">
            <a:extLst>
              <a:ext uri="{FF2B5EF4-FFF2-40B4-BE49-F238E27FC236}">
                <a16:creationId xmlns="" xmlns:a16="http://schemas.microsoft.com/office/drawing/2014/main" id="{B5A4310E-1218-984E-989E-A2F8EB81C565}"/>
              </a:ext>
            </a:extLst>
          </p:cNvPr>
          <p:cNvSpPr txBox="1"/>
          <p:nvPr/>
        </p:nvSpPr>
        <p:spPr>
          <a:xfrm>
            <a:off x="5417249" y="3744574"/>
            <a:ext cx="686406"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AFTER</a:t>
            </a:r>
          </a:p>
        </p:txBody>
      </p:sp>
      <p:sp>
        <p:nvSpPr>
          <p:cNvPr id="7" name="TextBox 6">
            <a:extLst>
              <a:ext uri="{FF2B5EF4-FFF2-40B4-BE49-F238E27FC236}">
                <a16:creationId xmlns="" xmlns:a16="http://schemas.microsoft.com/office/drawing/2014/main" id="{B935279C-8AC3-8349-857F-01A50581E1E6}"/>
              </a:ext>
            </a:extLst>
          </p:cNvPr>
          <p:cNvSpPr txBox="1"/>
          <p:nvPr/>
        </p:nvSpPr>
        <p:spPr>
          <a:xfrm>
            <a:off x="596559" y="5665472"/>
            <a:ext cx="8098692" cy="461665"/>
          </a:xfrm>
          <a:prstGeom prst="rect">
            <a:avLst/>
          </a:prstGeom>
          <a:noFill/>
        </p:spPr>
        <p:txBody>
          <a:bodyPr wrap="none" rtlCol="0">
            <a:spAutoFit/>
          </a:bodyPr>
          <a:lstStyle/>
          <a:p>
            <a:pPr algn="ctr">
              <a:spcAft>
                <a:spcPts val="600"/>
              </a:spcAft>
            </a:pPr>
            <a:r>
              <a:rPr lang="en-US" sz="2400" i="1" dirty="0">
                <a:solidFill>
                  <a:schemeClr val="bg2"/>
                </a:solidFill>
                <a:latin typeface="Century Gothic" panose="020B0502020202020204" pitchFamily="34" charset="0"/>
              </a:rPr>
              <a:t>The existing two links has partly explained the </a:t>
            </a:r>
            <a:r>
              <a:rPr lang="en-US" sz="2400" i="1" dirty="0" smtClean="0">
                <a:solidFill>
                  <a:srgbClr val="FF0000"/>
                </a:solidFill>
                <a:latin typeface="Century Gothic" panose="020B0502020202020204" pitchFamily="34" charset="0"/>
              </a:rPr>
              <a:t>red </a:t>
            </a:r>
            <a:r>
              <a:rPr lang="en-US" sz="2400" i="1" dirty="0" smtClean="0">
                <a:solidFill>
                  <a:schemeClr val="bg2"/>
                </a:solidFill>
                <a:latin typeface="Century Gothic" panose="020B0502020202020204" pitchFamily="34" charset="0"/>
              </a:rPr>
              <a:t>link.</a:t>
            </a:r>
          </a:p>
        </p:txBody>
      </p:sp>
      <p:sp>
        <p:nvSpPr>
          <p:cNvPr id="41" name="TextBox 40">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
        <p:nvSpPr>
          <p:cNvPr id="3" name="TextBox 2">
            <a:extLst>
              <a:ext uri="{FF2B5EF4-FFF2-40B4-BE49-F238E27FC236}">
                <a16:creationId xmlns="" xmlns:a16="http://schemas.microsoft.com/office/drawing/2014/main" id="{037F92EB-8447-424E-9A6B-8A1D98B6E1EE}"/>
              </a:ext>
            </a:extLst>
          </p:cNvPr>
          <p:cNvSpPr txBox="1"/>
          <p:nvPr/>
        </p:nvSpPr>
        <p:spPr>
          <a:xfrm>
            <a:off x="7405768" y="3899532"/>
            <a:ext cx="1265090" cy="923330"/>
          </a:xfrm>
          <a:prstGeom prst="rect">
            <a:avLst/>
          </a:prstGeom>
          <a:noFill/>
        </p:spPr>
        <p:txBody>
          <a:bodyPr wrap="none" rtlCol="0">
            <a:spAutoFit/>
          </a:bodyPr>
          <a:lstStyle/>
          <a:p>
            <a:r>
              <a:rPr lang="en-US" dirty="0">
                <a:solidFill>
                  <a:schemeClr val="bg2"/>
                </a:solidFill>
                <a:latin typeface="Century Gothic" panose="020B0502020202020204" pitchFamily="34" charset="0"/>
              </a:rPr>
              <a:t>BEFORE</a:t>
            </a:r>
          </a:p>
          <a:p>
            <a:r>
              <a:rPr lang="en-US" dirty="0">
                <a:solidFill>
                  <a:schemeClr val="bg2"/>
                </a:solidFill>
                <a:latin typeface="Century Gothic" panose="020B0502020202020204" pitchFamily="34" charset="0"/>
              </a:rPr>
              <a:t>INCLUDES</a:t>
            </a:r>
          </a:p>
          <a:p>
            <a:r>
              <a:rPr lang="en-US" dirty="0">
                <a:solidFill>
                  <a:schemeClr val="bg2"/>
                </a:solidFill>
                <a:latin typeface="Century Gothic" panose="020B0502020202020204" pitchFamily="34" charset="0"/>
              </a:rPr>
              <a:t>EQUAL</a:t>
            </a:r>
          </a:p>
        </p:txBody>
      </p:sp>
      <p:sp>
        <p:nvSpPr>
          <p:cNvPr id="4" name="Multiply 3">
            <a:extLst>
              <a:ext uri="{FF2B5EF4-FFF2-40B4-BE49-F238E27FC236}">
                <a16:creationId xmlns="" xmlns:a16="http://schemas.microsoft.com/office/drawing/2014/main" id="{95747F8A-7331-9B42-A8AA-2393B9A1FC7F}"/>
              </a:ext>
            </a:extLst>
          </p:cNvPr>
          <p:cNvSpPr/>
          <p:nvPr/>
        </p:nvSpPr>
        <p:spPr>
          <a:xfrm>
            <a:off x="6868683" y="3149427"/>
            <a:ext cx="1969999" cy="2359682"/>
          </a:xfrm>
          <a:prstGeom prst="mathMultiply">
            <a:avLst>
              <a:gd name="adj1" fmla="val 5756"/>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 xmlns:a16="http://schemas.microsoft.com/office/drawing/2014/main" id="{068D38B4-D63E-D745-A124-71358FA8565B}"/>
              </a:ext>
            </a:extLst>
          </p:cNvPr>
          <p:cNvGrpSpPr/>
          <p:nvPr/>
        </p:nvGrpSpPr>
        <p:grpSpPr>
          <a:xfrm>
            <a:off x="5151327" y="4077366"/>
            <a:ext cx="1218250" cy="378478"/>
            <a:chOff x="3761477" y="4110538"/>
            <a:chExt cx="1218250" cy="378478"/>
          </a:xfrm>
        </p:grpSpPr>
        <p:sp>
          <p:nvSpPr>
            <p:cNvPr id="52" name="Rounded Rectangle 51">
              <a:extLst>
                <a:ext uri="{FF2B5EF4-FFF2-40B4-BE49-F238E27FC236}">
                  <a16:creationId xmlns="" xmlns:a16="http://schemas.microsoft.com/office/drawing/2014/main" id="{88F5BA75-3757-6547-A0C3-B522CFEEBBD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53" name="TextBox 52">
              <a:extLst>
                <a:ext uri="{FF2B5EF4-FFF2-40B4-BE49-F238E27FC236}">
                  <a16:creationId xmlns="" xmlns:a16="http://schemas.microsoft.com/office/drawing/2014/main" id="{01FFAE97-5181-3B4F-ABD3-F5C86F09C47E}"/>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sp>
        <p:nvSpPr>
          <p:cNvPr id="54" name="TextBox 53">
            <a:extLst>
              <a:ext uri="{FF2B5EF4-FFF2-40B4-BE49-F238E27FC236}">
                <a16:creationId xmlns="" xmlns:a16="http://schemas.microsoft.com/office/drawing/2014/main" id="{C8115BAD-1921-1C4C-A008-06176BA7E78A}"/>
              </a:ext>
            </a:extLst>
          </p:cNvPr>
          <p:cNvSpPr txBox="1"/>
          <p:nvPr/>
        </p:nvSpPr>
        <p:spPr>
          <a:xfrm>
            <a:off x="3594918" y="3744574"/>
            <a:ext cx="1354858"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BE_INCLUDED</a:t>
            </a:r>
          </a:p>
        </p:txBody>
      </p:sp>
      <p:grpSp>
        <p:nvGrpSpPr>
          <p:cNvPr id="45" name="Group 44">
            <a:extLst>
              <a:ext uri="{FF2B5EF4-FFF2-40B4-BE49-F238E27FC236}">
                <a16:creationId xmlns="" xmlns:a16="http://schemas.microsoft.com/office/drawing/2014/main" id="{E9F66B4B-1C38-1C4D-99CD-8197BCA56565}"/>
              </a:ext>
            </a:extLst>
          </p:cNvPr>
          <p:cNvGrpSpPr/>
          <p:nvPr/>
        </p:nvGrpSpPr>
        <p:grpSpPr>
          <a:xfrm>
            <a:off x="877717" y="896235"/>
            <a:ext cx="4545074" cy="2336661"/>
            <a:chOff x="3312194" y="1491409"/>
            <a:chExt cx="6060098" cy="3115549"/>
          </a:xfrm>
        </p:grpSpPr>
        <p:grpSp>
          <p:nvGrpSpPr>
            <p:cNvPr id="46" name="Group 45">
              <a:extLst>
                <a:ext uri="{FF2B5EF4-FFF2-40B4-BE49-F238E27FC236}">
                  <a16:creationId xmlns="" xmlns:a16="http://schemas.microsoft.com/office/drawing/2014/main" id="{EDECB90A-6798-8F48-80F0-BAC575C07A83}"/>
                </a:ext>
              </a:extLst>
            </p:cNvPr>
            <p:cNvGrpSpPr/>
            <p:nvPr/>
          </p:nvGrpSpPr>
          <p:grpSpPr>
            <a:xfrm>
              <a:off x="3312194" y="1491409"/>
              <a:ext cx="6060098" cy="3115549"/>
              <a:chOff x="3312194" y="1491409"/>
              <a:chExt cx="6060098" cy="3115549"/>
            </a:xfrm>
          </p:grpSpPr>
          <p:grpSp>
            <p:nvGrpSpPr>
              <p:cNvPr id="48" name="Group 47">
                <a:extLst>
                  <a:ext uri="{FF2B5EF4-FFF2-40B4-BE49-F238E27FC236}">
                    <a16:creationId xmlns="" xmlns:a16="http://schemas.microsoft.com/office/drawing/2014/main" id="{8040B5AD-45EF-3641-8534-1F74BBE939C9}"/>
                  </a:ext>
                </a:extLst>
              </p:cNvPr>
              <p:cNvGrpSpPr/>
              <p:nvPr/>
            </p:nvGrpSpPr>
            <p:grpSpPr>
              <a:xfrm>
                <a:off x="3312194" y="1491409"/>
                <a:ext cx="6060098" cy="2542680"/>
                <a:chOff x="2974846" y="1491409"/>
                <a:chExt cx="6060098" cy="2542680"/>
              </a:xfrm>
            </p:grpSpPr>
            <p:sp>
              <p:nvSpPr>
                <p:cNvPr id="78" name="TextBox 77">
                  <a:extLst>
                    <a:ext uri="{FF2B5EF4-FFF2-40B4-BE49-F238E27FC236}">
                      <a16:creationId xmlns="" xmlns:a16="http://schemas.microsoft.com/office/drawing/2014/main"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79" name="TextBox 78">
                  <a:extLst>
                    <a:ext uri="{FF2B5EF4-FFF2-40B4-BE49-F238E27FC236}">
                      <a16:creationId xmlns="" xmlns:a16="http://schemas.microsoft.com/office/drawing/2014/main"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80" name="TextBox 79">
                  <a:extLst>
                    <a:ext uri="{FF2B5EF4-FFF2-40B4-BE49-F238E27FC236}">
                      <a16:creationId xmlns="" xmlns:a16="http://schemas.microsoft.com/office/drawing/2014/main"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81" name="TextBox 80">
                  <a:extLst>
                    <a:ext uri="{FF2B5EF4-FFF2-40B4-BE49-F238E27FC236}">
                      <a16:creationId xmlns="" xmlns:a16="http://schemas.microsoft.com/office/drawing/2014/main"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82" name="Straight Arrow Connector 81">
                  <a:extLst>
                    <a:ext uri="{FF2B5EF4-FFF2-40B4-BE49-F238E27FC236}">
                      <a16:creationId xmlns="" xmlns:a16="http://schemas.microsoft.com/office/drawing/2014/main"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 xmlns:a16="http://schemas.microsoft.com/office/drawing/2014/main"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 xmlns:a16="http://schemas.microsoft.com/office/drawing/2014/main"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 xmlns:a16="http://schemas.microsoft.com/office/drawing/2014/main"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 xmlns:a16="http://schemas.microsoft.com/office/drawing/2014/main"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 xmlns:a16="http://schemas.microsoft.com/office/drawing/2014/main"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88" name="Straight Connector 87">
                  <a:extLst>
                    <a:ext uri="{FF2B5EF4-FFF2-40B4-BE49-F238E27FC236}">
                      <a16:creationId xmlns="" xmlns:a16="http://schemas.microsoft.com/office/drawing/2014/main"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 xmlns:a16="http://schemas.microsoft.com/office/drawing/2014/main"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 xmlns:a16="http://schemas.microsoft.com/office/drawing/2014/main" id="{523B3C13-81E5-0441-87CB-59BDD22611C5}"/>
                  </a:ext>
                </a:extLst>
              </p:cNvPr>
              <p:cNvGrpSpPr/>
              <p:nvPr/>
            </p:nvGrpSpPr>
            <p:grpSpPr>
              <a:xfrm>
                <a:off x="4851183" y="4268403"/>
                <a:ext cx="3254802" cy="338555"/>
                <a:chOff x="2403791" y="4308587"/>
                <a:chExt cx="3254802" cy="338555"/>
              </a:xfrm>
            </p:grpSpPr>
            <p:cxnSp>
              <p:nvCxnSpPr>
                <p:cNvPr id="50" name="Straight Arrow Connector 49">
                  <a:extLst>
                    <a:ext uri="{FF2B5EF4-FFF2-40B4-BE49-F238E27FC236}">
                      <a16:creationId xmlns="" xmlns:a16="http://schemas.microsoft.com/office/drawing/2014/main"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 xmlns:a16="http://schemas.microsoft.com/office/drawing/2014/main"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56" name="Straight Arrow Connector 55">
                  <a:extLst>
                    <a:ext uri="{FF2B5EF4-FFF2-40B4-BE49-F238E27FC236}">
                      <a16:creationId xmlns="" xmlns:a16="http://schemas.microsoft.com/office/drawing/2014/main"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 xmlns:a16="http://schemas.microsoft.com/office/drawing/2014/main"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47" name="Straight Connector 46">
              <a:extLst>
                <a:ext uri="{FF2B5EF4-FFF2-40B4-BE49-F238E27FC236}">
                  <a16:creationId xmlns="" xmlns:a16="http://schemas.microsoft.com/office/drawing/2014/main"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 xmlns:a16="http://schemas.microsoft.com/office/drawing/2014/main" id="{895AE16B-24B2-E74C-A39D-BEDB0521ABCF}"/>
              </a:ext>
            </a:extLst>
          </p:cNvPr>
          <p:cNvCxnSpPr/>
          <p:nvPr/>
        </p:nvCxnSpPr>
        <p:spPr>
          <a:xfrm flipH="1">
            <a:off x="2783914" y="1341354"/>
            <a:ext cx="2118871" cy="1087952"/>
          </a:xfrm>
          <a:prstGeom prst="line">
            <a:avLst/>
          </a:prstGeom>
          <a:ln w="34925">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5655728" y="1567028"/>
            <a:ext cx="2932213" cy="523220"/>
          </a:xfrm>
          <a:prstGeom prst="rect">
            <a:avLst/>
          </a:prstGeom>
          <a:noFill/>
        </p:spPr>
        <p:txBody>
          <a:bodyPr wrap="none" rtlCol="0">
            <a:spAutoFit/>
          </a:bodyPr>
          <a:lstStyle/>
          <a:p>
            <a:r>
              <a:rPr lang="en-US" sz="2800" smtClean="0">
                <a:solidFill>
                  <a:srgbClr val="C27990"/>
                </a:solidFill>
                <a:latin typeface="Century Gothic" charset="0"/>
                <a:ea typeface="Century Gothic" charset="0"/>
                <a:cs typeface="Century Gothic" charset="0"/>
              </a:rPr>
              <a:t>quality = 2 / 10?</a:t>
            </a:r>
            <a:endParaRPr lang="en-US" sz="2800" dirty="0">
              <a:solidFill>
                <a:srgbClr val="C27990"/>
              </a:solidFill>
              <a:latin typeface="Century Gothic" charset="0"/>
              <a:ea typeface="Century Gothic" charset="0"/>
              <a:cs typeface="Century Gothic" charset="0"/>
            </a:endParaRPr>
          </a:p>
        </p:txBody>
      </p:sp>
      <p:sp>
        <p:nvSpPr>
          <p:cNvPr id="94" name="TextBox 93"/>
          <p:cNvSpPr txBox="1"/>
          <p:nvPr/>
        </p:nvSpPr>
        <p:spPr>
          <a:xfrm>
            <a:off x="5655728" y="1568716"/>
            <a:ext cx="2826415" cy="523220"/>
          </a:xfrm>
          <a:prstGeom prst="rect">
            <a:avLst/>
          </a:prstGeom>
          <a:noFill/>
        </p:spPr>
        <p:txBody>
          <a:bodyPr wrap="none" rtlCol="0">
            <a:spAutoFit/>
          </a:bodyPr>
          <a:lstStyle/>
          <a:p>
            <a:r>
              <a:rPr lang="en-US" sz="2800" dirty="0" smtClean="0">
                <a:solidFill>
                  <a:srgbClr val="C27990"/>
                </a:solidFill>
                <a:latin typeface="Century Gothic" charset="0"/>
                <a:ea typeface="Century Gothic" charset="0"/>
                <a:cs typeface="Century Gothic" charset="0"/>
              </a:rPr>
              <a:t>quality &gt; 2 / 10!</a:t>
            </a:r>
            <a:endParaRPr lang="en-US" sz="2800" dirty="0">
              <a:solidFill>
                <a:srgbClr val="C27990"/>
              </a:solidFill>
              <a:latin typeface="Century Gothic" charset="0"/>
              <a:ea typeface="Century Gothic" charset="0"/>
              <a:cs typeface="Century Gothic" charset="0"/>
            </a:endParaRPr>
          </a:p>
        </p:txBody>
      </p:sp>
      <p:sp>
        <p:nvSpPr>
          <p:cNvPr id="95" name="TextBox 94"/>
          <p:cNvSpPr txBox="1"/>
          <p:nvPr/>
        </p:nvSpPr>
        <p:spPr>
          <a:xfrm>
            <a:off x="455747" y="230050"/>
            <a:ext cx="8493031" cy="523220"/>
          </a:xfrm>
          <a:prstGeom prst="rect">
            <a:avLst/>
          </a:prstGeom>
          <a:noFill/>
        </p:spPr>
        <p:txBody>
          <a:bodyPr wrap="none" rtlCol="0">
            <a:spAutoFit/>
          </a:bodyPr>
          <a:lstStyle/>
          <a:p>
            <a:pPr lvl="0">
              <a:spcBef>
                <a:spcPct val="20000"/>
              </a:spcBef>
              <a:buClr>
                <a:srgbClr val="545164"/>
              </a:buClr>
              <a:buSzPct val="65000"/>
            </a:pPr>
            <a:r>
              <a:rPr lang="en-US" sz="2800">
                <a:solidFill>
                  <a:schemeClr val="bg2"/>
                </a:solidFill>
                <a:latin typeface="Century Gothic" panose="020B0502020202020204" pitchFamily="34" charset="0"/>
                <a:cs typeface="Calibri" panose="020F0502020204030204" pitchFamily="34" charset="0"/>
              </a:rPr>
              <a:t>How should we </a:t>
            </a:r>
            <a:r>
              <a:rPr lang="en-US" sz="2800" b="1">
                <a:solidFill>
                  <a:schemeClr val="bg2"/>
                </a:solidFill>
                <a:latin typeface="Century Gothic" panose="020B0502020202020204" pitchFamily="34" charset="0"/>
                <a:cs typeface="Calibri" panose="020F0502020204030204" pitchFamily="34" charset="0"/>
              </a:rPr>
              <a:t>quantify</a:t>
            </a:r>
            <a:r>
              <a:rPr lang="en-US" sz="2800">
                <a:solidFill>
                  <a:schemeClr val="bg2"/>
                </a:solidFill>
                <a:latin typeface="Century Gothic" panose="020B0502020202020204" pitchFamily="34" charset="0"/>
                <a:cs typeface="Calibri" panose="020F0502020204030204" pitchFamily="34" charset="0"/>
              </a:rPr>
              <a:t> the quality of “partial</a:t>
            </a:r>
            <a:r>
              <a:rPr lang="en-US" sz="2800" smtClean="0">
                <a:solidFill>
                  <a:schemeClr val="bg2"/>
                </a:solidFill>
                <a:latin typeface="Century Gothic" panose="020B0502020202020204" pitchFamily="34" charset="0"/>
                <a:cs typeface="Calibri" panose="020F0502020204030204" pitchFamily="34" charset="0"/>
              </a:rPr>
              <a:t>”?</a:t>
            </a:r>
            <a:endParaRPr lang="en-US" sz="2400">
              <a:solidFill>
                <a:schemeClr val="bg2"/>
              </a:solidFill>
              <a:latin typeface="Century Gothic" panose="020B0502020202020204" pitchFamily="34" charset="0"/>
              <a:cs typeface="Calibri" panose="020F0502020204030204" pitchFamily="34" charset="0"/>
            </a:endParaRPr>
          </a:p>
        </p:txBody>
      </p:sp>
    </p:spTree>
    <p:extLst>
      <p:ext uri="{BB962C8B-B14F-4D97-AF65-F5344CB8AC3E}">
        <p14:creationId xmlns:p14="http://schemas.microsoft.com/office/powerpoint/2010/main" val="79827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 calcmode="lin" valueType="num">
                                      <p:cBhvr>
                                        <p:cTn id="7" dur="1000" fill="hold"/>
                                        <p:tgtEl>
                                          <p:spTgt spid="92"/>
                                        </p:tgtEl>
                                        <p:attrNameLst>
                                          <p:attrName>ppt_w</p:attrName>
                                        </p:attrNameLst>
                                      </p:cBhvr>
                                      <p:tavLst>
                                        <p:tav tm="0">
                                          <p:val>
                                            <p:fltVal val="0"/>
                                          </p:val>
                                        </p:tav>
                                        <p:tav tm="100000">
                                          <p:val>
                                            <p:strVal val="#ppt_w"/>
                                          </p:val>
                                        </p:tav>
                                      </p:tavLst>
                                    </p:anim>
                                    <p:anim calcmode="lin" valueType="num">
                                      <p:cBhvr>
                                        <p:cTn id="8" dur="1000" fill="hold"/>
                                        <p:tgtEl>
                                          <p:spTgt spid="92"/>
                                        </p:tgtEl>
                                        <p:attrNameLst>
                                          <p:attrName>ppt_h</p:attrName>
                                        </p:attrNameLst>
                                      </p:cBhvr>
                                      <p:tavLst>
                                        <p:tav tm="0">
                                          <p:val>
                                            <p:fltVal val="0"/>
                                          </p:val>
                                        </p:tav>
                                        <p:tav tm="100000">
                                          <p:val>
                                            <p:strVal val="#ppt_h"/>
                                          </p:val>
                                        </p:tav>
                                      </p:tavLst>
                                    </p:anim>
                                    <p:anim calcmode="lin" valueType="num">
                                      <p:cBhvr>
                                        <p:cTn id="9" dur="1000" fill="hold"/>
                                        <p:tgtEl>
                                          <p:spTgt spid="92"/>
                                        </p:tgtEl>
                                        <p:attrNameLst>
                                          <p:attrName>style.rotation</p:attrName>
                                        </p:attrNameLst>
                                      </p:cBhvr>
                                      <p:tavLst>
                                        <p:tav tm="0">
                                          <p:val>
                                            <p:fltVal val="90"/>
                                          </p:val>
                                        </p:tav>
                                        <p:tav tm="100000">
                                          <p:val>
                                            <p:fltVal val="0"/>
                                          </p:val>
                                        </p:tav>
                                      </p:tavLst>
                                    </p:anim>
                                    <p:animEffect transition="in" filter="fade">
                                      <p:cBhvr>
                                        <p:cTn id="10" dur="1000"/>
                                        <p:tgtEl>
                                          <p:spTgt spid="9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dissolve">
                                      <p:cBhvr>
                                        <p:cTn id="20" dur="500"/>
                                        <p:tgtEl>
                                          <p:spTgt spid="38"/>
                                        </p:tgtEl>
                                      </p:cBhvr>
                                    </p:animEffect>
                                  </p:childTnLst>
                                </p:cTn>
                              </p:par>
                              <p:par>
                                <p:cTn id="21" presetID="9"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dissolve">
                                      <p:cBhvr>
                                        <p:cTn id="23" dur="5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dissolve">
                                      <p:cBhvr>
                                        <p:cTn id="28" dur="500"/>
                                        <p:tgtEl>
                                          <p:spTgt spid="5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dissolve">
                                      <p:cBhvr>
                                        <p:cTn id="31" dur="500"/>
                                        <p:tgtEl>
                                          <p:spTgt spid="39"/>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checkerboard(across)">
                                      <p:cBhvr>
                                        <p:cTn id="36" dur="500"/>
                                        <p:tgtEl>
                                          <p:spTgt spid="3"/>
                                        </p:tgtEl>
                                      </p:cBhvr>
                                    </p:animEffect>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
                                            <p:txEl>
                                              <p:pRg st="0" end="0"/>
                                            </p:txEl>
                                          </p:spTgt>
                                        </p:tgtEl>
                                        <p:attrNameLst>
                                          <p:attrName>style.visibility</p:attrName>
                                        </p:attrNameLst>
                                      </p:cBhvr>
                                      <p:to>
                                        <p:strVal val="visible"/>
                                      </p:to>
                                    </p:set>
                                    <p:animEffect transition="in" filter="wipe(left)">
                                      <p:cBhvr>
                                        <p:cTn id="46" dur="500"/>
                                        <p:tgtEl>
                                          <p:spTgt spid="7">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xit" presetSubtype="0" fill="hold" grpId="0" nodeType="clickEffect">
                                  <p:stCondLst>
                                    <p:cond delay="0"/>
                                  </p:stCondLst>
                                  <p:childTnLst>
                                    <p:animEffect transition="out" filter="fade">
                                      <p:cBhvr>
                                        <p:cTn id="50" dur="1000"/>
                                        <p:tgtEl>
                                          <p:spTgt spid="93"/>
                                        </p:tgtEl>
                                      </p:cBhvr>
                                    </p:animEffect>
                                    <p:anim calcmode="lin" valueType="num">
                                      <p:cBhvr>
                                        <p:cTn id="51" dur="1000"/>
                                        <p:tgtEl>
                                          <p:spTgt spid="93"/>
                                        </p:tgtEl>
                                        <p:attrNameLst>
                                          <p:attrName>ppt_x</p:attrName>
                                        </p:attrNameLst>
                                      </p:cBhvr>
                                      <p:tavLst>
                                        <p:tav tm="0">
                                          <p:val>
                                            <p:strVal val="ppt_x"/>
                                          </p:val>
                                        </p:tav>
                                        <p:tav tm="100000">
                                          <p:val>
                                            <p:strVal val="ppt_x"/>
                                          </p:val>
                                        </p:tav>
                                      </p:tavLst>
                                    </p:anim>
                                    <p:anim calcmode="lin" valueType="num">
                                      <p:cBhvr>
                                        <p:cTn id="52" dur="1000"/>
                                        <p:tgtEl>
                                          <p:spTgt spid="93"/>
                                        </p:tgtEl>
                                        <p:attrNameLst>
                                          <p:attrName>ppt_y</p:attrName>
                                        </p:attrNameLst>
                                      </p:cBhvr>
                                      <p:tavLst>
                                        <p:tav tm="0">
                                          <p:val>
                                            <p:strVal val="ppt_y"/>
                                          </p:val>
                                        </p:tav>
                                        <p:tav tm="100000">
                                          <p:val>
                                            <p:strVal val="ppt_y+.1"/>
                                          </p:val>
                                        </p:tav>
                                      </p:tavLst>
                                    </p:anim>
                                    <p:set>
                                      <p:cBhvr>
                                        <p:cTn id="53" dur="1" fill="hold">
                                          <p:stCondLst>
                                            <p:cond delay="999"/>
                                          </p:stCondLst>
                                        </p:cTn>
                                        <p:tgtEl>
                                          <p:spTgt spid="93"/>
                                        </p:tgtEl>
                                        <p:attrNameLst>
                                          <p:attrName>style.visibility</p:attrName>
                                        </p:attrNameLst>
                                      </p:cBhvr>
                                      <p:to>
                                        <p:strVal val="hidden"/>
                                      </p:to>
                                    </p:set>
                                  </p:childTnLst>
                                </p:cTn>
                              </p:par>
                              <p:par>
                                <p:cTn id="54" presetID="42" presetClass="entr" presetSubtype="0" fill="hold" grpId="0" nodeType="withEffect">
                                  <p:stCondLst>
                                    <p:cond delay="0"/>
                                  </p:stCondLst>
                                  <p:childTnLst>
                                    <p:set>
                                      <p:cBhvr>
                                        <p:cTn id="55" dur="1" fill="hold">
                                          <p:stCondLst>
                                            <p:cond delay="0"/>
                                          </p:stCondLst>
                                        </p:cTn>
                                        <p:tgtEl>
                                          <p:spTgt spid="94"/>
                                        </p:tgtEl>
                                        <p:attrNameLst>
                                          <p:attrName>style.visibility</p:attrName>
                                        </p:attrNameLst>
                                      </p:cBhvr>
                                      <p:to>
                                        <p:strVal val="visible"/>
                                      </p:to>
                                    </p:set>
                                    <p:animEffect transition="in" filter="fade">
                                      <p:cBhvr>
                                        <p:cTn id="56" dur="1000"/>
                                        <p:tgtEl>
                                          <p:spTgt spid="94"/>
                                        </p:tgtEl>
                                      </p:cBhvr>
                                    </p:animEffect>
                                    <p:anim calcmode="lin" valueType="num">
                                      <p:cBhvr>
                                        <p:cTn id="57" dur="1000" fill="hold"/>
                                        <p:tgtEl>
                                          <p:spTgt spid="94"/>
                                        </p:tgtEl>
                                        <p:attrNameLst>
                                          <p:attrName>ppt_x</p:attrName>
                                        </p:attrNameLst>
                                      </p:cBhvr>
                                      <p:tavLst>
                                        <p:tav tm="0">
                                          <p:val>
                                            <p:strVal val="#ppt_x"/>
                                          </p:val>
                                        </p:tav>
                                        <p:tav tm="100000">
                                          <p:val>
                                            <p:strVal val="#ppt_x"/>
                                          </p:val>
                                        </p:tav>
                                      </p:tavLst>
                                    </p:anim>
                                    <p:anim calcmode="lin" valueType="num">
                                      <p:cBhvr>
                                        <p:cTn id="58" dur="1000" fill="hold"/>
                                        <p:tgtEl>
                                          <p:spTgt spid="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7" grpId="0" uiExpand="1" build="p"/>
      <p:bldP spid="3" grpId="0"/>
      <p:bldP spid="4" grpId="0" animBg="1"/>
      <p:bldP spid="54" grpId="0"/>
      <p:bldP spid="93" grpId="0"/>
      <p:bldP spid="9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Silver lining of “partial”</a:t>
            </a:r>
          </a:p>
        </p:txBody>
      </p:sp>
      <p:grpSp>
        <p:nvGrpSpPr>
          <p:cNvPr id="38" name="Group 37"/>
          <p:cNvGrpSpPr/>
          <p:nvPr/>
        </p:nvGrpSpPr>
        <p:grpSpPr>
          <a:xfrm>
            <a:off x="3646618" y="4077366"/>
            <a:ext cx="1218250" cy="378478"/>
            <a:chOff x="3761477" y="4110538"/>
            <a:chExt cx="1218250" cy="378478"/>
          </a:xfrm>
        </p:grpSpPr>
        <p:sp>
          <p:nvSpPr>
            <p:cNvPr id="15" name="Rounded Rectangle 14">
              <a:extLst>
                <a:ext uri="{FF2B5EF4-FFF2-40B4-BE49-F238E27FC236}">
                  <a16:creationId xmlns="" xmlns:a16="http://schemas.microsoft.com/office/drawing/2014/main" id="{6D42E12D-9BC5-C24A-B8B5-20FFD3C21D2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6" name="TextBox 15">
              <a:extLst>
                <a:ext uri="{FF2B5EF4-FFF2-40B4-BE49-F238E27FC236}">
                  <a16:creationId xmlns="" xmlns:a16="http://schemas.microsoft.com/office/drawing/2014/main" id="{81CEE728-6FC1-804D-A4B5-97737DED2809}"/>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grpSp>
        <p:nvGrpSpPr>
          <p:cNvPr id="36" name="Group 35"/>
          <p:cNvGrpSpPr/>
          <p:nvPr/>
        </p:nvGrpSpPr>
        <p:grpSpPr>
          <a:xfrm>
            <a:off x="1843337" y="4057590"/>
            <a:ext cx="5282328" cy="1436529"/>
            <a:chOff x="1883443" y="4224578"/>
            <a:chExt cx="5282328" cy="1436529"/>
          </a:xfrm>
        </p:grpSpPr>
        <p:sp>
          <p:nvSpPr>
            <p:cNvPr id="17" name="Rounded Rectangle 16">
              <a:extLst>
                <a:ext uri="{FF2B5EF4-FFF2-40B4-BE49-F238E27FC236}">
                  <a16:creationId xmlns="" xmlns:a16="http://schemas.microsoft.com/office/drawing/2014/main" id="{81D05AEC-6B85-114C-BC80-1E607C22BFFF}"/>
                </a:ext>
              </a:extLst>
            </p:cNvPr>
            <p:cNvSpPr/>
            <p:nvPr/>
          </p:nvSpPr>
          <p:spPr>
            <a:xfrm>
              <a:off x="2247737" y="4241186"/>
              <a:ext cx="1188417" cy="376655"/>
            </a:xfrm>
            <a:prstGeom prst="roundRect">
              <a:avLst>
                <a:gd name="adj" fmla="val 50000"/>
              </a:avLst>
            </a:prstGeom>
            <a:solidFill>
              <a:srgbClr val="95A28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18" name="TextBox 17">
              <a:extLst>
                <a:ext uri="{FF2B5EF4-FFF2-40B4-BE49-F238E27FC236}">
                  <a16:creationId xmlns="" xmlns:a16="http://schemas.microsoft.com/office/drawing/2014/main" id="{5B39CEF9-B375-6640-896B-A9016FD0B456}"/>
                </a:ext>
              </a:extLst>
            </p:cNvPr>
            <p:cNvSpPr txBox="1"/>
            <p:nvPr/>
          </p:nvSpPr>
          <p:spPr>
            <a:xfrm>
              <a:off x="2336838" y="4224578"/>
              <a:ext cx="1099018"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ripping</a:t>
              </a:r>
            </a:p>
          </p:txBody>
        </p:sp>
        <p:sp>
          <p:nvSpPr>
            <p:cNvPr id="21" name="Rounded Rectangle 20">
              <a:extLst>
                <a:ext uri="{FF2B5EF4-FFF2-40B4-BE49-F238E27FC236}">
                  <a16:creationId xmlns="" xmlns:a16="http://schemas.microsoft.com/office/drawing/2014/main" id="{2727E4D9-6B17-AE45-943C-6636DD668254}"/>
                </a:ext>
              </a:extLst>
            </p:cNvPr>
            <p:cNvSpPr/>
            <p:nvPr/>
          </p:nvSpPr>
          <p:spPr>
            <a:xfrm>
              <a:off x="2150687" y="4731017"/>
              <a:ext cx="3017523" cy="376655"/>
            </a:xfrm>
            <a:prstGeom prst="roundRect">
              <a:avLst>
                <a:gd name="adj" fmla="val 50000"/>
              </a:avLst>
            </a:prstGeom>
            <a:solidFill>
              <a:srgbClr val="C17A9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22" name="TextBox 21">
              <a:extLst>
                <a:ext uri="{FF2B5EF4-FFF2-40B4-BE49-F238E27FC236}">
                  <a16:creationId xmlns="" xmlns:a16="http://schemas.microsoft.com/office/drawing/2014/main" id="{6E560D01-34F5-3F4E-9B34-441586CC3FEF}"/>
                </a:ext>
              </a:extLst>
            </p:cNvPr>
            <p:cNvSpPr txBox="1"/>
            <p:nvPr/>
          </p:nvSpPr>
          <p:spPr>
            <a:xfrm>
              <a:off x="2940991" y="4722489"/>
              <a:ext cx="1354858" cy="369332"/>
            </a:xfrm>
            <a:prstGeom prst="rect">
              <a:avLst/>
            </a:prstGeom>
            <a:noFill/>
            <a:ln>
              <a:noFill/>
            </a:ln>
          </p:spPr>
          <p:txBody>
            <a:bodyPr wrap="none" rtlCol="0">
              <a:spAutoFit/>
            </a:bodyPr>
            <a:lstStyle/>
            <a:p>
              <a:r>
                <a:rPr lang="en-US" dirty="0">
                  <a:latin typeface="Century Gothic" panose="020B0502020202020204" pitchFamily="34" charset="0"/>
                  <a:ea typeface="Times New Roman" charset="0"/>
                  <a:cs typeface="Times New Roman" charset="0"/>
                </a:rPr>
                <a:t>cascaded</a:t>
              </a:r>
            </a:p>
          </p:txBody>
        </p:sp>
        <p:cxnSp>
          <p:nvCxnSpPr>
            <p:cNvPr id="23" name="Straight Arrow Connector 22">
              <a:extLst>
                <a:ext uri="{FF2B5EF4-FFF2-40B4-BE49-F238E27FC236}">
                  <a16:creationId xmlns="" xmlns:a16="http://schemas.microsoft.com/office/drawing/2014/main" id="{3DA8FC01-BB24-0940-9EC6-43421E5128A1}"/>
                </a:ext>
              </a:extLst>
            </p:cNvPr>
            <p:cNvCxnSpPr>
              <a:cxnSpLocks/>
            </p:cNvCxnSpPr>
            <p:nvPr/>
          </p:nvCxnSpPr>
          <p:spPr>
            <a:xfrm>
              <a:off x="1883443" y="5198849"/>
              <a:ext cx="5082834" cy="0"/>
            </a:xfrm>
            <a:prstGeom prst="straightConnector1">
              <a:avLst/>
            </a:prstGeom>
            <a:ln w="3175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 xmlns:a16="http://schemas.microsoft.com/office/drawing/2014/main" id="{D23433C5-B1AE-CA4A-BEA3-A63039CE9EB4}"/>
                </a:ext>
              </a:extLst>
            </p:cNvPr>
            <p:cNvSpPr txBox="1"/>
            <p:nvPr/>
          </p:nvSpPr>
          <p:spPr>
            <a:xfrm>
              <a:off x="6413642" y="5260997"/>
              <a:ext cx="752129" cy="400110"/>
            </a:xfrm>
            <a:prstGeom prst="rect">
              <a:avLst/>
            </a:prstGeom>
            <a:noFill/>
            <a:ln>
              <a:noFill/>
            </a:ln>
          </p:spPr>
          <p:txBody>
            <a:bodyPr wrap="none" rtlCol="0">
              <a:spAutoFit/>
            </a:bodyPr>
            <a:lstStyle/>
            <a:p>
              <a:r>
                <a:rPr lang="en-US" sz="2000" dirty="0">
                  <a:solidFill>
                    <a:schemeClr val="bg2"/>
                  </a:solidFill>
                  <a:latin typeface="Century Gothic" panose="020B0502020202020204" pitchFamily="34" charset="0"/>
                  <a:ea typeface="Times New Roman" charset="0"/>
                  <a:cs typeface="Times New Roman" charset="0"/>
                </a:rPr>
                <a:t>Time</a:t>
              </a:r>
            </a:p>
          </p:txBody>
        </p:sp>
      </p:grpSp>
      <p:sp>
        <p:nvSpPr>
          <p:cNvPr id="39" name="TextBox 38">
            <a:extLst>
              <a:ext uri="{FF2B5EF4-FFF2-40B4-BE49-F238E27FC236}">
                <a16:creationId xmlns="" xmlns:a16="http://schemas.microsoft.com/office/drawing/2014/main" id="{B5A4310E-1218-984E-989E-A2F8EB81C565}"/>
              </a:ext>
            </a:extLst>
          </p:cNvPr>
          <p:cNvSpPr txBox="1"/>
          <p:nvPr/>
        </p:nvSpPr>
        <p:spPr>
          <a:xfrm>
            <a:off x="5417249" y="3744574"/>
            <a:ext cx="686406"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AFTER</a:t>
            </a:r>
          </a:p>
        </p:txBody>
      </p:sp>
      <p:sp>
        <p:nvSpPr>
          <p:cNvPr id="7" name="TextBox 6">
            <a:extLst>
              <a:ext uri="{FF2B5EF4-FFF2-40B4-BE49-F238E27FC236}">
                <a16:creationId xmlns="" xmlns:a16="http://schemas.microsoft.com/office/drawing/2014/main" id="{B935279C-8AC3-8349-857F-01A50581E1E6}"/>
              </a:ext>
            </a:extLst>
          </p:cNvPr>
          <p:cNvSpPr txBox="1"/>
          <p:nvPr/>
        </p:nvSpPr>
        <p:spPr>
          <a:xfrm>
            <a:off x="683923" y="5665472"/>
            <a:ext cx="7923965" cy="523220"/>
          </a:xfrm>
          <a:prstGeom prst="rect">
            <a:avLst/>
          </a:prstGeom>
          <a:noFill/>
        </p:spPr>
        <p:txBody>
          <a:bodyPr wrap="none" rtlCol="0">
            <a:spAutoFit/>
          </a:bodyPr>
          <a:lstStyle/>
          <a:p>
            <a:pPr algn="ctr">
              <a:spcAft>
                <a:spcPts val="600"/>
              </a:spcAft>
            </a:pPr>
            <a:r>
              <a:rPr lang="en-US" sz="2800" i="1" dirty="0" smtClean="0">
                <a:solidFill>
                  <a:schemeClr val="bg2"/>
                </a:solidFill>
                <a:latin typeface="Century Gothic" panose="020B0502020202020204" pitchFamily="34" charset="0"/>
              </a:rPr>
              <a:t>So, is ”partial” even better than “complete”?</a:t>
            </a:r>
            <a:endParaRPr lang="en-US" sz="2800" i="1" dirty="0">
              <a:solidFill>
                <a:schemeClr val="bg2"/>
              </a:solidFill>
              <a:latin typeface="Century Gothic" panose="020B0502020202020204" pitchFamily="34" charset="0"/>
            </a:endParaRPr>
          </a:p>
        </p:txBody>
      </p:sp>
      <p:sp>
        <p:nvSpPr>
          <p:cNvPr id="41" name="TextBox 40">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
        <p:nvSpPr>
          <p:cNvPr id="3" name="TextBox 2">
            <a:extLst>
              <a:ext uri="{FF2B5EF4-FFF2-40B4-BE49-F238E27FC236}">
                <a16:creationId xmlns="" xmlns:a16="http://schemas.microsoft.com/office/drawing/2014/main" id="{037F92EB-8447-424E-9A6B-8A1D98B6E1EE}"/>
              </a:ext>
            </a:extLst>
          </p:cNvPr>
          <p:cNvSpPr txBox="1"/>
          <p:nvPr/>
        </p:nvSpPr>
        <p:spPr>
          <a:xfrm>
            <a:off x="7405768" y="3899532"/>
            <a:ext cx="1265090" cy="923330"/>
          </a:xfrm>
          <a:prstGeom prst="rect">
            <a:avLst/>
          </a:prstGeom>
          <a:noFill/>
        </p:spPr>
        <p:txBody>
          <a:bodyPr wrap="none" rtlCol="0">
            <a:spAutoFit/>
          </a:bodyPr>
          <a:lstStyle/>
          <a:p>
            <a:r>
              <a:rPr lang="en-US" dirty="0">
                <a:solidFill>
                  <a:schemeClr val="bg2"/>
                </a:solidFill>
                <a:latin typeface="Century Gothic" panose="020B0502020202020204" pitchFamily="34" charset="0"/>
              </a:rPr>
              <a:t>BEFORE</a:t>
            </a:r>
          </a:p>
          <a:p>
            <a:r>
              <a:rPr lang="en-US" dirty="0">
                <a:solidFill>
                  <a:schemeClr val="bg2"/>
                </a:solidFill>
                <a:latin typeface="Century Gothic" panose="020B0502020202020204" pitchFamily="34" charset="0"/>
              </a:rPr>
              <a:t>INCLUDES</a:t>
            </a:r>
          </a:p>
          <a:p>
            <a:r>
              <a:rPr lang="en-US" dirty="0">
                <a:solidFill>
                  <a:schemeClr val="bg2"/>
                </a:solidFill>
                <a:latin typeface="Century Gothic" panose="020B0502020202020204" pitchFamily="34" charset="0"/>
              </a:rPr>
              <a:t>EQUAL</a:t>
            </a:r>
          </a:p>
        </p:txBody>
      </p:sp>
      <p:sp>
        <p:nvSpPr>
          <p:cNvPr id="4" name="Multiply 3">
            <a:extLst>
              <a:ext uri="{FF2B5EF4-FFF2-40B4-BE49-F238E27FC236}">
                <a16:creationId xmlns="" xmlns:a16="http://schemas.microsoft.com/office/drawing/2014/main" id="{95747F8A-7331-9B42-A8AA-2393B9A1FC7F}"/>
              </a:ext>
            </a:extLst>
          </p:cNvPr>
          <p:cNvSpPr/>
          <p:nvPr/>
        </p:nvSpPr>
        <p:spPr>
          <a:xfrm>
            <a:off x="6868683" y="3149427"/>
            <a:ext cx="1969999" cy="2359682"/>
          </a:xfrm>
          <a:prstGeom prst="mathMultiply">
            <a:avLst>
              <a:gd name="adj1" fmla="val 5756"/>
            </a:avLst>
          </a:prstGeom>
          <a:solidFill>
            <a:srgbClr val="FF0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 xmlns:a16="http://schemas.microsoft.com/office/drawing/2014/main" id="{068D38B4-D63E-D745-A124-71358FA8565B}"/>
              </a:ext>
            </a:extLst>
          </p:cNvPr>
          <p:cNvGrpSpPr/>
          <p:nvPr/>
        </p:nvGrpSpPr>
        <p:grpSpPr>
          <a:xfrm>
            <a:off x="5151327" y="4077366"/>
            <a:ext cx="1218250" cy="378478"/>
            <a:chOff x="3761477" y="4110538"/>
            <a:chExt cx="1218250" cy="378478"/>
          </a:xfrm>
        </p:grpSpPr>
        <p:sp>
          <p:nvSpPr>
            <p:cNvPr id="52" name="Rounded Rectangle 51">
              <a:extLst>
                <a:ext uri="{FF2B5EF4-FFF2-40B4-BE49-F238E27FC236}">
                  <a16:creationId xmlns="" xmlns:a16="http://schemas.microsoft.com/office/drawing/2014/main" id="{88F5BA75-3757-6547-A0C3-B522CFEEBBDA}"/>
                </a:ext>
              </a:extLst>
            </p:cNvPr>
            <p:cNvSpPr/>
            <p:nvPr/>
          </p:nvSpPr>
          <p:spPr>
            <a:xfrm>
              <a:off x="3761477" y="4112361"/>
              <a:ext cx="1218250" cy="376655"/>
            </a:xfrm>
            <a:prstGeom prst="roundRect">
              <a:avLst>
                <a:gd name="adj" fmla="val 50000"/>
              </a:avLst>
            </a:prstGeom>
            <a:solidFill>
              <a:srgbClr val="66608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rgbClr val="002060"/>
                </a:solidFill>
                <a:latin typeface="Century Gothic" panose="020B0502020202020204" pitchFamily="34" charset="0"/>
              </a:endParaRPr>
            </a:p>
          </p:txBody>
        </p:sp>
        <p:sp>
          <p:nvSpPr>
            <p:cNvPr id="53" name="TextBox 52">
              <a:extLst>
                <a:ext uri="{FF2B5EF4-FFF2-40B4-BE49-F238E27FC236}">
                  <a16:creationId xmlns="" xmlns:a16="http://schemas.microsoft.com/office/drawing/2014/main" id="{01FFAE97-5181-3B4F-ABD3-F5C86F09C47E}"/>
                </a:ext>
              </a:extLst>
            </p:cNvPr>
            <p:cNvSpPr txBox="1"/>
            <p:nvPr/>
          </p:nvSpPr>
          <p:spPr>
            <a:xfrm>
              <a:off x="3882155" y="4110538"/>
              <a:ext cx="1097572" cy="369332"/>
            </a:xfrm>
            <a:prstGeom prst="rect">
              <a:avLst/>
            </a:prstGeom>
            <a:noFill/>
            <a:ln>
              <a:noFill/>
            </a:ln>
          </p:spPr>
          <p:txBody>
            <a:bodyPr wrap="square" rtlCol="0">
              <a:spAutoFit/>
            </a:bodyPr>
            <a:lstStyle/>
            <a:p>
              <a:r>
                <a:rPr lang="en-US" dirty="0">
                  <a:latin typeface="Century Gothic" panose="020B0502020202020204" pitchFamily="34" charset="0"/>
                  <a:ea typeface="Times New Roman" charset="0"/>
                  <a:cs typeface="Times New Roman" charset="0"/>
                </a:rPr>
                <a:t>monitor</a:t>
              </a:r>
            </a:p>
          </p:txBody>
        </p:sp>
      </p:grpSp>
      <p:sp>
        <p:nvSpPr>
          <p:cNvPr id="54" name="TextBox 53">
            <a:extLst>
              <a:ext uri="{FF2B5EF4-FFF2-40B4-BE49-F238E27FC236}">
                <a16:creationId xmlns="" xmlns:a16="http://schemas.microsoft.com/office/drawing/2014/main" id="{C8115BAD-1921-1C4C-A008-06176BA7E78A}"/>
              </a:ext>
            </a:extLst>
          </p:cNvPr>
          <p:cNvSpPr txBox="1"/>
          <p:nvPr/>
        </p:nvSpPr>
        <p:spPr>
          <a:xfrm>
            <a:off x="3594918" y="3744574"/>
            <a:ext cx="1354858" cy="307777"/>
          </a:xfrm>
          <a:prstGeom prst="rect">
            <a:avLst/>
          </a:prstGeom>
          <a:noFill/>
          <a:ln>
            <a:noFill/>
          </a:ln>
        </p:spPr>
        <p:txBody>
          <a:bodyPr wrap="none" rtlCol="0">
            <a:spAutoFit/>
          </a:bodyPr>
          <a:lstStyle/>
          <a:p>
            <a:r>
              <a:rPr lang="en-US" sz="1400" dirty="0">
                <a:solidFill>
                  <a:srgbClr val="FF0000"/>
                </a:solidFill>
                <a:latin typeface="Century Gothic" panose="020B0502020202020204" pitchFamily="34" charset="0"/>
              </a:rPr>
              <a:t>BE_INCLUDED</a:t>
            </a:r>
          </a:p>
        </p:txBody>
      </p:sp>
      <p:grpSp>
        <p:nvGrpSpPr>
          <p:cNvPr id="45" name="Group 44">
            <a:extLst>
              <a:ext uri="{FF2B5EF4-FFF2-40B4-BE49-F238E27FC236}">
                <a16:creationId xmlns="" xmlns:a16="http://schemas.microsoft.com/office/drawing/2014/main" id="{E9F66B4B-1C38-1C4D-99CD-8197BCA56565}"/>
              </a:ext>
            </a:extLst>
          </p:cNvPr>
          <p:cNvGrpSpPr/>
          <p:nvPr/>
        </p:nvGrpSpPr>
        <p:grpSpPr>
          <a:xfrm>
            <a:off x="877717" y="896235"/>
            <a:ext cx="4545074" cy="2336661"/>
            <a:chOff x="3312194" y="1491409"/>
            <a:chExt cx="6060098" cy="3115549"/>
          </a:xfrm>
        </p:grpSpPr>
        <p:grpSp>
          <p:nvGrpSpPr>
            <p:cNvPr id="46" name="Group 45">
              <a:extLst>
                <a:ext uri="{FF2B5EF4-FFF2-40B4-BE49-F238E27FC236}">
                  <a16:creationId xmlns="" xmlns:a16="http://schemas.microsoft.com/office/drawing/2014/main" id="{EDECB90A-6798-8F48-80F0-BAC575C07A83}"/>
                </a:ext>
              </a:extLst>
            </p:cNvPr>
            <p:cNvGrpSpPr/>
            <p:nvPr/>
          </p:nvGrpSpPr>
          <p:grpSpPr>
            <a:xfrm>
              <a:off x="3312194" y="1491409"/>
              <a:ext cx="6060098" cy="3115549"/>
              <a:chOff x="3312194" y="1491409"/>
              <a:chExt cx="6060098" cy="3115549"/>
            </a:xfrm>
          </p:grpSpPr>
          <p:grpSp>
            <p:nvGrpSpPr>
              <p:cNvPr id="48" name="Group 47">
                <a:extLst>
                  <a:ext uri="{FF2B5EF4-FFF2-40B4-BE49-F238E27FC236}">
                    <a16:creationId xmlns="" xmlns:a16="http://schemas.microsoft.com/office/drawing/2014/main" id="{8040B5AD-45EF-3641-8534-1F74BBE939C9}"/>
                  </a:ext>
                </a:extLst>
              </p:cNvPr>
              <p:cNvGrpSpPr/>
              <p:nvPr/>
            </p:nvGrpSpPr>
            <p:grpSpPr>
              <a:xfrm>
                <a:off x="3312194" y="1491409"/>
                <a:ext cx="6060098" cy="2542680"/>
                <a:chOff x="2974846" y="1491409"/>
                <a:chExt cx="6060098" cy="2542680"/>
              </a:xfrm>
            </p:grpSpPr>
            <p:sp>
              <p:nvSpPr>
                <p:cNvPr id="78" name="TextBox 77">
                  <a:extLst>
                    <a:ext uri="{FF2B5EF4-FFF2-40B4-BE49-F238E27FC236}">
                      <a16:creationId xmlns="" xmlns:a16="http://schemas.microsoft.com/office/drawing/2014/main" id="{48376529-78E1-EB4F-B1AF-3434C17F9210}"/>
                    </a:ext>
                  </a:extLst>
                </p:cNvPr>
                <p:cNvSpPr txBox="1"/>
                <p:nvPr/>
              </p:nvSpPr>
              <p:spPr>
                <a:xfrm>
                  <a:off x="4541994" y="3526258"/>
                  <a:ext cx="1475191" cy="507831"/>
                </a:xfrm>
                <a:prstGeom prst="rect">
                  <a:avLst/>
                </a:prstGeom>
                <a:noFill/>
                <a:ln>
                  <a:noFill/>
                </a:ln>
              </p:spPr>
              <p:txBody>
                <a:bodyPr wrap="none" rtlCol="0">
                  <a:spAutoFit/>
                </a:bodyPr>
                <a:lstStyle/>
                <a:p>
                  <a:r>
                    <a:rPr lang="en-US" altLang="zh-CN" sz="1875" b="1" dirty="0">
                      <a:solidFill>
                        <a:srgbClr val="C17A90"/>
                      </a:solidFill>
                      <a:latin typeface="Times New Roman" charset="0"/>
                      <a:ea typeface="Times New Roman" charset="0"/>
                      <a:cs typeface="Times New Roman" charset="0"/>
                    </a:rPr>
                    <a:t>cascaded</a:t>
                  </a:r>
                  <a:endParaRPr lang="en-US" sz="1875" b="1" dirty="0">
                    <a:solidFill>
                      <a:srgbClr val="C17A90"/>
                    </a:solidFill>
                    <a:latin typeface="Times New Roman" charset="0"/>
                    <a:ea typeface="Times New Roman" charset="0"/>
                    <a:cs typeface="Times New Roman" charset="0"/>
                  </a:endParaRPr>
                </a:p>
              </p:txBody>
            </p:sp>
            <p:sp>
              <p:nvSpPr>
                <p:cNvPr id="79" name="TextBox 78">
                  <a:extLst>
                    <a:ext uri="{FF2B5EF4-FFF2-40B4-BE49-F238E27FC236}">
                      <a16:creationId xmlns="" xmlns:a16="http://schemas.microsoft.com/office/drawing/2014/main" id="{AD24678D-5FA5-9D46-924E-EBDD4CD5FE8B}"/>
                    </a:ext>
                  </a:extLst>
                </p:cNvPr>
                <p:cNvSpPr txBox="1"/>
                <p:nvPr/>
              </p:nvSpPr>
              <p:spPr>
                <a:xfrm>
                  <a:off x="2974846" y="2496086"/>
                  <a:ext cx="851088"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cs typeface="Times New Roman" charset="0"/>
                    </a:rPr>
                    <a:t>hurt</a:t>
                  </a:r>
                </a:p>
              </p:txBody>
            </p:sp>
            <p:sp>
              <p:nvSpPr>
                <p:cNvPr id="80" name="TextBox 79">
                  <a:extLst>
                    <a:ext uri="{FF2B5EF4-FFF2-40B4-BE49-F238E27FC236}">
                      <a16:creationId xmlns="" xmlns:a16="http://schemas.microsoft.com/office/drawing/2014/main" id="{A46C0573-21CF-DD4A-9857-87738446E43B}"/>
                    </a:ext>
                  </a:extLst>
                </p:cNvPr>
                <p:cNvSpPr txBox="1"/>
                <p:nvPr/>
              </p:nvSpPr>
              <p:spPr>
                <a:xfrm>
                  <a:off x="4652426" y="1491409"/>
                  <a:ext cx="1261457" cy="507831"/>
                </a:xfrm>
                <a:prstGeom prst="rect">
                  <a:avLst/>
                </a:prstGeom>
                <a:noFill/>
                <a:ln>
                  <a:noFill/>
                </a:ln>
              </p:spPr>
              <p:txBody>
                <a:bodyPr wrap="none" rtlCol="0">
                  <a:spAutoFit/>
                </a:bodyPr>
                <a:lstStyle/>
                <a:p>
                  <a:r>
                    <a:rPr lang="en-US" sz="1875" b="1" dirty="0">
                      <a:solidFill>
                        <a:srgbClr val="C17A90"/>
                      </a:solidFill>
                      <a:latin typeface="Times New Roman" charset="0"/>
                      <a:cs typeface="Times New Roman" charset="0"/>
                    </a:rPr>
                    <a:t>ripping</a:t>
                  </a:r>
                </a:p>
              </p:txBody>
            </p:sp>
            <p:sp>
              <p:nvSpPr>
                <p:cNvPr id="81" name="TextBox 80">
                  <a:extLst>
                    <a:ext uri="{FF2B5EF4-FFF2-40B4-BE49-F238E27FC236}">
                      <a16:creationId xmlns="" xmlns:a16="http://schemas.microsoft.com/office/drawing/2014/main" id="{EEBC2CC5-57C2-7849-8EE1-0D2B8697B875}"/>
                    </a:ext>
                  </a:extLst>
                </p:cNvPr>
                <p:cNvSpPr txBox="1"/>
                <p:nvPr/>
              </p:nvSpPr>
              <p:spPr>
                <a:xfrm>
                  <a:off x="7683716" y="3518755"/>
                  <a:ext cx="1328313" cy="507831"/>
                </a:xfrm>
                <a:prstGeom prst="rect">
                  <a:avLst/>
                </a:prstGeom>
                <a:noFill/>
                <a:ln>
                  <a:noFill/>
                </a:ln>
              </p:spPr>
              <p:txBody>
                <a:bodyPr wrap="none" rtlCol="0">
                  <a:spAutoFit/>
                </a:bodyPr>
                <a:lstStyle/>
                <a:p>
                  <a:r>
                    <a:rPr lang="en-US" sz="1875" b="1" dirty="0">
                      <a:solidFill>
                        <a:srgbClr val="C17A90">
                          <a:alpha val="50000"/>
                        </a:srgbClr>
                      </a:solidFill>
                      <a:latin typeface="Times New Roman" charset="0"/>
                      <a:ea typeface="Times New Roman" charset="0"/>
                      <a:cs typeface="Times New Roman" charset="0"/>
                    </a:rPr>
                    <a:t>ordered</a:t>
                  </a:r>
                </a:p>
              </p:txBody>
            </p:sp>
            <p:cxnSp>
              <p:nvCxnSpPr>
                <p:cNvPr id="82" name="Straight Arrow Connector 81">
                  <a:extLst>
                    <a:ext uri="{FF2B5EF4-FFF2-40B4-BE49-F238E27FC236}">
                      <a16:creationId xmlns="" xmlns:a16="http://schemas.microsoft.com/office/drawing/2014/main" id="{0E4A40E2-6621-3F4D-96DF-D165C777F4EF}"/>
                    </a:ext>
                  </a:extLst>
                </p:cNvPr>
                <p:cNvCxnSpPr/>
                <p:nvPr/>
              </p:nvCxnSpPr>
              <p:spPr>
                <a:xfrm flipH="1">
                  <a:off x="5249080" y="2090343"/>
                  <a:ext cx="3832" cy="1345297"/>
                </a:xfrm>
                <a:prstGeom prst="straightConnector1">
                  <a:avLst/>
                </a:prstGeom>
                <a:ln w="76200" cmpd="dbl">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 xmlns:a16="http://schemas.microsoft.com/office/drawing/2014/main" id="{7F51D4DC-6FC0-F949-82F6-442B5E573250}"/>
                    </a:ext>
                  </a:extLst>
                </p:cNvPr>
                <p:cNvCxnSpPr/>
                <p:nvPr/>
              </p:nvCxnSpPr>
              <p:spPr>
                <a:xfrm flipH="1">
                  <a:off x="3624993" y="1745325"/>
                  <a:ext cx="1027433" cy="740620"/>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 xmlns:a16="http://schemas.microsoft.com/office/drawing/2014/main" id="{F30EF415-264C-AC44-87D8-18EE54FBDABD}"/>
                    </a:ext>
                  </a:extLst>
                </p:cNvPr>
                <p:cNvCxnSpPr/>
                <p:nvPr/>
              </p:nvCxnSpPr>
              <p:spPr>
                <a:xfrm>
                  <a:off x="5507757" y="1984783"/>
                  <a:ext cx="2553980" cy="1517655"/>
                </a:xfrm>
                <a:prstGeom prst="straightConnector1">
                  <a:avLst/>
                </a:prstGeom>
                <a:ln w="25400" cmpd="sng">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 xmlns:a16="http://schemas.microsoft.com/office/drawing/2014/main" id="{6728AE4C-A558-444A-9B0A-5E56544791FD}"/>
                    </a:ext>
                  </a:extLst>
                </p:cNvPr>
                <p:cNvCxnSpPr/>
                <p:nvPr/>
              </p:nvCxnSpPr>
              <p:spPr>
                <a:xfrm flipV="1">
                  <a:off x="6017185" y="3772671"/>
                  <a:ext cx="1666532" cy="7503"/>
                </a:xfrm>
                <a:prstGeom prst="straightConnector1">
                  <a:avLst/>
                </a:prstGeom>
                <a:ln w="25400">
                  <a:solidFill>
                    <a:schemeClr val="bg2">
                      <a:alpha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 xmlns:a16="http://schemas.microsoft.com/office/drawing/2014/main" id="{24971B8B-14B8-184C-9DAA-63E6B915E098}"/>
                    </a:ext>
                  </a:extLst>
                </p:cNvPr>
                <p:cNvCxnSpPr/>
                <p:nvPr/>
              </p:nvCxnSpPr>
              <p:spPr>
                <a:xfrm flipH="1" flipV="1">
                  <a:off x="3624993" y="2995636"/>
                  <a:ext cx="917001" cy="784537"/>
                </a:xfrm>
                <a:prstGeom prst="straightConnector1">
                  <a:avLst/>
                </a:prstGeom>
                <a:ln w="25400" cmpd="sng">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 xmlns:a16="http://schemas.microsoft.com/office/drawing/2014/main" id="{381A3128-A861-474F-8FE7-ED3A4DB414EA}"/>
                    </a:ext>
                  </a:extLst>
                </p:cNvPr>
                <p:cNvSpPr txBox="1"/>
                <p:nvPr/>
              </p:nvSpPr>
              <p:spPr>
                <a:xfrm>
                  <a:off x="7683717" y="1491662"/>
                  <a:ext cx="1351227" cy="507831"/>
                </a:xfrm>
                <a:prstGeom prst="rect">
                  <a:avLst/>
                </a:prstGeom>
                <a:noFill/>
                <a:ln>
                  <a:noFill/>
                </a:ln>
              </p:spPr>
              <p:txBody>
                <a:bodyPr wrap="none" rtlCol="0">
                  <a:spAutoFit/>
                </a:bodyPr>
                <a:lstStyle/>
                <a:p>
                  <a:r>
                    <a:rPr lang="en-US" sz="1875" b="1" dirty="0">
                      <a:solidFill>
                        <a:srgbClr val="C17A90"/>
                      </a:solidFill>
                      <a:latin typeface="Times New Roman" charset="0"/>
                      <a:ea typeface="Times New Roman" charset="0"/>
                      <a:cs typeface="Times New Roman" charset="0"/>
                    </a:rPr>
                    <a:t>monitor</a:t>
                  </a:r>
                </a:p>
              </p:txBody>
            </p:sp>
            <p:cxnSp>
              <p:nvCxnSpPr>
                <p:cNvPr id="88" name="Straight Connector 87">
                  <a:extLst>
                    <a:ext uri="{FF2B5EF4-FFF2-40B4-BE49-F238E27FC236}">
                      <a16:creationId xmlns="" xmlns:a16="http://schemas.microsoft.com/office/drawing/2014/main" id="{C302FE63-EE4F-CC4E-95C1-A1C40B5F5E20}"/>
                    </a:ext>
                  </a:extLst>
                </p:cNvPr>
                <p:cNvCxnSpPr/>
                <p:nvPr/>
              </p:nvCxnSpPr>
              <p:spPr>
                <a:xfrm flipH="1" flipV="1">
                  <a:off x="5913885" y="1745325"/>
                  <a:ext cx="1769832" cy="253"/>
                </a:xfrm>
                <a:prstGeom prst="line">
                  <a:avLst/>
                </a:prstGeom>
                <a:ln w="31750">
                  <a:solidFill>
                    <a:schemeClr val="bg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 xmlns:a16="http://schemas.microsoft.com/office/drawing/2014/main" id="{264FE77D-D768-3342-A292-C8A6FE1330D9}"/>
                    </a:ext>
                  </a:extLst>
                </p:cNvPr>
                <p:cNvCxnSpPr/>
                <p:nvPr/>
              </p:nvCxnSpPr>
              <p:spPr>
                <a:xfrm flipH="1">
                  <a:off x="8316583" y="2090596"/>
                  <a:ext cx="12503" cy="1306282"/>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 xmlns:a16="http://schemas.microsoft.com/office/drawing/2014/main" id="{895AE16B-24B2-E74C-A39D-BEDB0521ABCF}"/>
                    </a:ext>
                  </a:extLst>
                </p:cNvPr>
                <p:cNvCxnSpPr/>
                <p:nvPr/>
              </p:nvCxnSpPr>
              <p:spPr>
                <a:xfrm flipH="1">
                  <a:off x="5503925" y="2090596"/>
                  <a:ext cx="2825161" cy="1450604"/>
                </a:xfrm>
                <a:prstGeom prst="line">
                  <a:avLst/>
                </a:prstGeom>
                <a:ln w="34925">
                  <a:solidFill>
                    <a:schemeClr val="bg2">
                      <a:alpha val="50000"/>
                    </a:schemeClr>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 xmlns:a16="http://schemas.microsoft.com/office/drawing/2014/main" id="{AFF8A524-C8F1-584A-A888-2B659023AF05}"/>
                    </a:ext>
                  </a:extLst>
                </p:cNvPr>
                <p:cNvCxnSpPr/>
                <p:nvPr/>
              </p:nvCxnSpPr>
              <p:spPr>
                <a:xfrm flipH="1">
                  <a:off x="3730553" y="1985036"/>
                  <a:ext cx="4343687" cy="75575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 xmlns:a16="http://schemas.microsoft.com/office/drawing/2014/main" id="{523B3C13-81E5-0441-87CB-59BDD22611C5}"/>
                  </a:ext>
                </a:extLst>
              </p:cNvPr>
              <p:cNvGrpSpPr/>
              <p:nvPr/>
            </p:nvGrpSpPr>
            <p:grpSpPr>
              <a:xfrm>
                <a:off x="4851183" y="4268403"/>
                <a:ext cx="3254802" cy="338555"/>
                <a:chOff x="2403791" y="4308587"/>
                <a:chExt cx="3254802" cy="338555"/>
              </a:xfrm>
            </p:grpSpPr>
            <p:cxnSp>
              <p:nvCxnSpPr>
                <p:cNvPr id="50" name="Straight Arrow Connector 49">
                  <a:extLst>
                    <a:ext uri="{FF2B5EF4-FFF2-40B4-BE49-F238E27FC236}">
                      <a16:creationId xmlns="" xmlns:a16="http://schemas.microsoft.com/office/drawing/2014/main" id="{E7EC924D-5512-4346-89FD-CD9BEE53F924}"/>
                    </a:ext>
                  </a:extLst>
                </p:cNvPr>
                <p:cNvCxnSpPr/>
                <p:nvPr/>
              </p:nvCxnSpPr>
              <p:spPr>
                <a:xfrm flipV="1">
                  <a:off x="2403791" y="4459632"/>
                  <a:ext cx="457200" cy="5687"/>
                </a:xfrm>
                <a:prstGeom prst="straightConnector1">
                  <a:avLst/>
                </a:prstGeom>
                <a:ln w="63500">
                  <a:solidFill>
                    <a:schemeClr val="bg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 xmlns:a16="http://schemas.microsoft.com/office/drawing/2014/main" id="{22A8AD3E-C72F-8544-B2DE-F4DC4902CB40}"/>
                    </a:ext>
                  </a:extLst>
                </p:cNvPr>
                <p:cNvSpPr txBox="1"/>
                <p:nvPr/>
              </p:nvSpPr>
              <p:spPr>
                <a:xfrm>
                  <a:off x="2806030" y="4308587"/>
                  <a:ext cx="887422"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BEFORE</a:t>
                  </a:r>
                  <a:endParaRPr lang="en-US" b="1" dirty="0">
                    <a:solidFill>
                      <a:srgbClr val="666089"/>
                    </a:solidFill>
                    <a:latin typeface="Courier" charset="0"/>
                    <a:ea typeface="Courier" charset="0"/>
                    <a:cs typeface="Courier" charset="0"/>
                  </a:endParaRPr>
                </a:p>
              </p:txBody>
            </p:sp>
            <p:cxnSp>
              <p:nvCxnSpPr>
                <p:cNvPr id="56" name="Straight Arrow Connector 55">
                  <a:extLst>
                    <a:ext uri="{FF2B5EF4-FFF2-40B4-BE49-F238E27FC236}">
                      <a16:creationId xmlns="" xmlns:a16="http://schemas.microsoft.com/office/drawing/2014/main" id="{A8982A64-BCBE-8249-A3F3-674C813F78DE}"/>
                    </a:ext>
                  </a:extLst>
                </p:cNvPr>
                <p:cNvCxnSpPr/>
                <p:nvPr/>
              </p:nvCxnSpPr>
              <p:spPr>
                <a:xfrm flipV="1">
                  <a:off x="3834597" y="4459632"/>
                  <a:ext cx="457200" cy="0"/>
                </a:xfrm>
                <a:prstGeom prst="straightConnector1">
                  <a:avLst/>
                </a:prstGeom>
                <a:ln w="88900" cmpd="dbl">
                  <a:solidFill>
                    <a:schemeClr val="bg2"/>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 xmlns:a16="http://schemas.microsoft.com/office/drawing/2014/main" id="{DC5ACF0B-1B7D-2241-A052-7F2DD003982A}"/>
                    </a:ext>
                  </a:extLst>
                </p:cNvPr>
                <p:cNvSpPr txBox="1"/>
                <p:nvPr/>
              </p:nvSpPr>
              <p:spPr>
                <a:xfrm>
                  <a:off x="4236836" y="4308587"/>
                  <a:ext cx="1421757" cy="338555"/>
                </a:xfrm>
                <a:prstGeom prst="rect">
                  <a:avLst/>
                </a:prstGeom>
                <a:noFill/>
                <a:ln>
                  <a:noFill/>
                </a:ln>
              </p:spPr>
              <p:txBody>
                <a:bodyPr wrap="none" rtlCol="0">
                  <a:spAutoFit/>
                </a:bodyPr>
                <a:lstStyle/>
                <a:p>
                  <a:r>
                    <a:rPr lang="en-US" sz="1050" b="1" dirty="0">
                      <a:solidFill>
                        <a:srgbClr val="666089"/>
                      </a:solidFill>
                      <a:latin typeface="Courier" charset="0"/>
                      <a:ea typeface="Courier" charset="0"/>
                      <a:cs typeface="Courier" charset="0"/>
                    </a:rPr>
                    <a:t>BE_INCLUDED</a:t>
                  </a:r>
                  <a:endParaRPr lang="en-US" b="1" dirty="0">
                    <a:solidFill>
                      <a:srgbClr val="666089"/>
                    </a:solidFill>
                    <a:latin typeface="Courier" charset="0"/>
                    <a:ea typeface="Courier" charset="0"/>
                    <a:cs typeface="Courier" charset="0"/>
                  </a:endParaRPr>
                </a:p>
              </p:txBody>
            </p:sp>
          </p:grpSp>
        </p:grpSp>
        <p:cxnSp>
          <p:nvCxnSpPr>
            <p:cNvPr id="47" name="Straight Connector 46">
              <a:extLst>
                <a:ext uri="{FF2B5EF4-FFF2-40B4-BE49-F238E27FC236}">
                  <a16:creationId xmlns="" xmlns:a16="http://schemas.microsoft.com/office/drawing/2014/main" id="{01020D9A-00D6-7F4C-8EA5-917F3B791272}"/>
                </a:ext>
              </a:extLst>
            </p:cNvPr>
            <p:cNvCxnSpPr/>
            <p:nvPr/>
          </p:nvCxnSpPr>
          <p:spPr>
            <a:xfrm flipH="1" flipV="1">
              <a:off x="4102797" y="2734614"/>
              <a:ext cx="4203231" cy="899235"/>
            </a:xfrm>
            <a:prstGeom prst="line">
              <a:avLst/>
            </a:prstGeom>
            <a:ln w="25400">
              <a:solidFill>
                <a:schemeClr val="bg2">
                  <a:alpha val="5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 xmlns:a16="http://schemas.microsoft.com/office/drawing/2014/main" id="{895AE16B-24B2-E74C-A39D-BEDB0521ABCF}"/>
              </a:ext>
            </a:extLst>
          </p:cNvPr>
          <p:cNvCxnSpPr/>
          <p:nvPr/>
        </p:nvCxnSpPr>
        <p:spPr>
          <a:xfrm flipH="1">
            <a:off x="2783914" y="1341354"/>
            <a:ext cx="2118871" cy="1087952"/>
          </a:xfrm>
          <a:prstGeom prst="line">
            <a:avLst/>
          </a:prstGeom>
          <a:ln w="34925">
            <a:solidFill>
              <a:srgbClr val="FF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5655728" y="1567028"/>
            <a:ext cx="2932213" cy="523220"/>
          </a:xfrm>
          <a:prstGeom prst="rect">
            <a:avLst/>
          </a:prstGeom>
          <a:noFill/>
        </p:spPr>
        <p:txBody>
          <a:bodyPr wrap="none" rtlCol="0">
            <a:spAutoFit/>
          </a:bodyPr>
          <a:lstStyle/>
          <a:p>
            <a:r>
              <a:rPr lang="en-US" sz="2800" dirty="0" smtClean="0">
                <a:solidFill>
                  <a:srgbClr val="C27990"/>
                </a:solidFill>
                <a:latin typeface="Century Gothic" charset="0"/>
                <a:ea typeface="Century Gothic" charset="0"/>
                <a:cs typeface="Century Gothic" charset="0"/>
              </a:rPr>
              <a:t>quality &gt; 2 / 10?</a:t>
            </a:r>
            <a:endParaRPr lang="en-US" sz="2800" dirty="0">
              <a:solidFill>
                <a:srgbClr val="C27990"/>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59237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8AF13A-E55F-A949-9C4F-614D8760730F}"/>
              </a:ext>
            </a:extLst>
          </p:cNvPr>
          <p:cNvSpPr>
            <a:spLocks noGrp="1"/>
          </p:cNvSpPr>
          <p:nvPr>
            <p:ph type="title"/>
          </p:nvPr>
        </p:nvSpPr>
        <p:spPr/>
        <p:txBody>
          <a:bodyPr/>
          <a:lstStyle/>
          <a:p>
            <a:r>
              <a:rPr lang="en-US" sz="2400" dirty="0" smtClean="0"/>
              <a:t>Partial or complete, that’s the question </a:t>
            </a:r>
            <a:r>
              <a:rPr lang="en-US" sz="1800" i="1" dirty="0" smtClean="0"/>
              <a:t>[NAACL’19]</a:t>
            </a:r>
            <a:endParaRPr lang="en-US" sz="2400" i="1" dirty="0"/>
          </a:p>
        </p:txBody>
      </p:sp>
      <p:grpSp>
        <p:nvGrpSpPr>
          <p:cNvPr id="21" name="Group 20"/>
          <p:cNvGrpSpPr/>
          <p:nvPr/>
        </p:nvGrpSpPr>
        <p:grpSpPr>
          <a:xfrm>
            <a:off x="4152186" y="1388741"/>
            <a:ext cx="1026591" cy="958712"/>
            <a:chOff x="3299081" y="2198810"/>
            <a:chExt cx="1026591" cy="958712"/>
          </a:xfrm>
        </p:grpSpPr>
        <p:grpSp>
          <p:nvGrpSpPr>
            <p:cNvPr id="58" name="Group 57"/>
            <p:cNvGrpSpPr/>
            <p:nvPr/>
          </p:nvGrpSpPr>
          <p:grpSpPr>
            <a:xfrm>
              <a:off x="3299081" y="2213447"/>
              <a:ext cx="999609" cy="944075"/>
              <a:chOff x="2226911" y="1490958"/>
              <a:chExt cx="999609" cy="944075"/>
            </a:xfrm>
          </p:grpSpPr>
          <p:sp>
            <p:nvSpPr>
              <p:cNvPr id="60" name="Oval 59">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1" name="Oval 60">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2" name="Oval 61">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3" name="Oval 62">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4" name="Oval 63">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65" name="Straight Arrow Connector 64">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grpSp>
        <p:sp>
          <p:nvSpPr>
            <p:cNvPr id="59" name="Rectangle 58"/>
            <p:cNvSpPr/>
            <p:nvPr/>
          </p:nvSpPr>
          <p:spPr>
            <a:xfrm>
              <a:off x="3299081" y="2198810"/>
              <a:ext cx="1026591" cy="958712"/>
            </a:xfrm>
            <a:prstGeom prst="rect">
              <a:avLst/>
            </a:prstGeom>
            <a:noFill/>
            <a:ln>
              <a:solidFill>
                <a:srgbClr val="3B81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3" name="Group 2">
            <a:extLst>
              <a:ext uri="{FF2B5EF4-FFF2-40B4-BE49-F238E27FC236}">
                <a16:creationId xmlns:a16="http://schemas.microsoft.com/office/drawing/2014/main" xmlns="" id="{E570505F-34DD-F346-9BB3-A4B6C9EDE8EB}"/>
              </a:ext>
            </a:extLst>
          </p:cNvPr>
          <p:cNvGrpSpPr/>
          <p:nvPr/>
        </p:nvGrpSpPr>
        <p:grpSpPr>
          <a:xfrm>
            <a:off x="2503117" y="1331106"/>
            <a:ext cx="1713931" cy="1276930"/>
            <a:chOff x="2731717" y="1331106"/>
            <a:chExt cx="1713931" cy="1276930"/>
          </a:xfrm>
        </p:grpSpPr>
        <p:sp>
          <p:nvSpPr>
            <p:cNvPr id="13" name="TextBox 12"/>
            <p:cNvSpPr txBox="1"/>
            <p:nvPr/>
          </p:nvSpPr>
          <p:spPr>
            <a:xfrm>
              <a:off x="2731717" y="1331106"/>
              <a:ext cx="1713931"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002060"/>
                  </a:solidFill>
                  <a:latin typeface="Century Gothic" panose="020B0502020202020204" pitchFamily="34" charset="0"/>
                </a:rPr>
                <a:t>(a) Complete</a:t>
              </a:r>
            </a:p>
          </p:txBody>
        </p:sp>
        <p:sp>
          <p:nvSpPr>
            <p:cNvPr id="23" name="Bent-Up Arrow 22"/>
            <p:cNvSpPr/>
            <p:nvPr/>
          </p:nvSpPr>
          <p:spPr>
            <a:xfrm rot="10800000">
              <a:off x="2786912"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4" name="TextBox 23"/>
            <p:cNvSpPr txBox="1"/>
            <p:nvPr/>
          </p:nvSpPr>
          <p:spPr>
            <a:xfrm>
              <a:off x="3005307" y="1670718"/>
              <a:ext cx="1385500" cy="307777"/>
            </a:xfrm>
            <a:prstGeom prst="rect">
              <a:avLst/>
            </a:prstGeom>
            <a:noFill/>
          </p:spPr>
          <p:txBody>
            <a:bodyPr wrap="square" rtlCol="0">
              <a:spAutoFit/>
            </a:bodyPr>
            <a:lstStyle/>
            <a:p>
              <a:pPr eaLnBrk="0" fontAlgn="base" hangingPunct="0">
                <a:spcBef>
                  <a:spcPct val="0"/>
                </a:spcBef>
                <a:spcAft>
                  <a:spcPct val="0"/>
                </a:spcAft>
              </a:pPr>
              <a:r>
                <a:rPr lang="en-US" sz="1400" dirty="0">
                  <a:solidFill>
                    <a:srgbClr val="002060"/>
                  </a:solidFill>
                  <a:latin typeface="Century Gothic" panose="020B0502020202020204" pitchFamily="34" charset="0"/>
                </a:rPr>
                <a:t>same budget</a:t>
              </a:r>
            </a:p>
          </p:txBody>
        </p:sp>
      </p:grpSp>
      <p:grpSp>
        <p:nvGrpSpPr>
          <p:cNvPr id="4" name="Group 3">
            <a:extLst>
              <a:ext uri="{FF2B5EF4-FFF2-40B4-BE49-F238E27FC236}">
                <a16:creationId xmlns:a16="http://schemas.microsoft.com/office/drawing/2014/main" xmlns="" id="{13DB67B1-F441-AC43-A2A0-62B86C9E84BD}"/>
              </a:ext>
            </a:extLst>
          </p:cNvPr>
          <p:cNvGrpSpPr/>
          <p:nvPr/>
        </p:nvGrpSpPr>
        <p:grpSpPr>
          <a:xfrm>
            <a:off x="5178777" y="1322812"/>
            <a:ext cx="1593552" cy="1285224"/>
            <a:chOff x="5407377" y="1322812"/>
            <a:chExt cx="1593552" cy="1285224"/>
          </a:xfrm>
        </p:grpSpPr>
        <p:sp>
          <p:nvSpPr>
            <p:cNvPr id="14" name="TextBox 13"/>
            <p:cNvSpPr txBox="1"/>
            <p:nvPr/>
          </p:nvSpPr>
          <p:spPr>
            <a:xfrm>
              <a:off x="5565122" y="1322812"/>
              <a:ext cx="1266693" cy="369332"/>
            </a:xfrm>
            <a:prstGeom prst="rect">
              <a:avLst/>
            </a:prstGeom>
            <a:noFill/>
          </p:spPr>
          <p:txBody>
            <a:bodyPr wrap="none" rtlCol="0">
              <a:spAutoFit/>
            </a:bodyPr>
            <a:lstStyle/>
            <a:p>
              <a:pPr eaLnBrk="0" fontAlgn="base" hangingPunct="0">
                <a:spcBef>
                  <a:spcPct val="0"/>
                </a:spcBef>
                <a:spcAft>
                  <a:spcPct val="0"/>
                </a:spcAft>
              </a:pPr>
              <a:r>
                <a:rPr lang="en-US" dirty="0">
                  <a:solidFill>
                    <a:srgbClr val="C0706A"/>
                  </a:solidFill>
                  <a:latin typeface="Century Gothic" panose="020B0502020202020204" pitchFamily="34" charset="0"/>
                </a:rPr>
                <a:t>(b) Partial</a:t>
              </a:r>
            </a:p>
          </p:txBody>
        </p:sp>
        <p:sp>
          <p:nvSpPr>
            <p:cNvPr id="25" name="TextBox 24"/>
            <p:cNvSpPr txBox="1"/>
            <p:nvPr/>
          </p:nvSpPr>
          <p:spPr>
            <a:xfrm>
              <a:off x="5508641" y="1659698"/>
              <a:ext cx="1492288" cy="307777"/>
            </a:xfrm>
            <a:prstGeom prst="rect">
              <a:avLst/>
            </a:prstGeom>
            <a:noFill/>
          </p:spPr>
          <p:txBody>
            <a:bodyPr wrap="square" rtlCol="0">
              <a:spAutoFit/>
            </a:bodyPr>
            <a:lstStyle/>
            <a:p>
              <a:pPr eaLnBrk="0" fontAlgn="base" hangingPunct="0">
                <a:spcBef>
                  <a:spcPct val="0"/>
                </a:spcBef>
                <a:spcAft>
                  <a:spcPct val="0"/>
                </a:spcAft>
              </a:pPr>
              <a:r>
                <a:rPr lang="en-US" sz="1400" dirty="0">
                  <a:solidFill>
                    <a:srgbClr val="002060"/>
                  </a:solidFill>
                  <a:latin typeface="Century Gothic" panose="020B0502020202020204" pitchFamily="34" charset="0"/>
                </a:rPr>
                <a:t>same budget</a:t>
              </a:r>
            </a:p>
          </p:txBody>
        </p:sp>
        <p:sp>
          <p:nvSpPr>
            <p:cNvPr id="30" name="Bent-Up Arrow 29"/>
            <p:cNvSpPr/>
            <p:nvPr/>
          </p:nvSpPr>
          <p:spPr>
            <a:xfrm rot="10800000" flipH="1">
              <a:off x="5407377"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31" name="Rounded Rectangle 30"/>
          <p:cNvSpPr/>
          <p:nvPr/>
        </p:nvSpPr>
        <p:spPr>
          <a:xfrm>
            <a:off x="1981200" y="774192"/>
            <a:ext cx="5339645" cy="3798976"/>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32" name="TextBox 31"/>
          <p:cNvSpPr txBox="1"/>
          <p:nvPr/>
        </p:nvSpPr>
        <p:spPr>
          <a:xfrm>
            <a:off x="2246068" y="885437"/>
            <a:ext cx="1778051" cy="3693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dirty="0">
                <a:solidFill>
                  <a:srgbClr val="FFFFFF"/>
                </a:solidFill>
                <a:latin typeface="Century Gothic" panose="020B0502020202020204" pitchFamily="34" charset="0"/>
              </a:rPr>
              <a:t>Training Phase</a:t>
            </a:r>
          </a:p>
        </p:txBody>
      </p:sp>
      <p:grpSp>
        <p:nvGrpSpPr>
          <p:cNvPr id="36" name="Group 35"/>
          <p:cNvGrpSpPr/>
          <p:nvPr/>
        </p:nvGrpSpPr>
        <p:grpSpPr>
          <a:xfrm>
            <a:off x="4152186" y="4716604"/>
            <a:ext cx="1026591" cy="1313408"/>
            <a:chOff x="4778719" y="4360811"/>
            <a:chExt cx="1026591" cy="1313408"/>
          </a:xfrm>
          <a:solidFill>
            <a:schemeClr val="bg2"/>
          </a:solidFill>
        </p:grpSpPr>
        <p:sp>
          <p:nvSpPr>
            <p:cNvPr id="41" name="Oval 40">
              <a:extLst>
                <a:ext uri="{FF2B5EF4-FFF2-40B4-BE49-F238E27FC236}">
                  <a16:creationId xmlns:a16="http://schemas.microsoft.com/office/drawing/2014/main" xmlns="" id="{02A9185F-17CD-430F-B765-DD03EB939117}"/>
                </a:ext>
              </a:extLst>
            </p:cNvPr>
            <p:cNvSpPr/>
            <p:nvPr/>
          </p:nvSpPr>
          <p:spPr>
            <a:xfrm>
              <a:off x="5185967" y="473014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2" name="Oval 41">
              <a:extLst>
                <a:ext uri="{FF2B5EF4-FFF2-40B4-BE49-F238E27FC236}">
                  <a16:creationId xmlns:a16="http://schemas.microsoft.com/office/drawing/2014/main" xmlns="" id="{67183840-CA5E-41AC-8BA4-676FBC67C282}"/>
                </a:ext>
              </a:extLst>
            </p:cNvPr>
            <p:cNvSpPr/>
            <p:nvPr/>
          </p:nvSpPr>
          <p:spPr>
            <a:xfrm>
              <a:off x="4778719"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3" name="Oval 42">
              <a:extLst>
                <a:ext uri="{FF2B5EF4-FFF2-40B4-BE49-F238E27FC236}">
                  <a16:creationId xmlns:a16="http://schemas.microsoft.com/office/drawing/2014/main" xmlns="" id="{A207EA9E-2A7E-4CA2-B13A-7956BC73097B}"/>
                </a:ext>
              </a:extLst>
            </p:cNvPr>
            <p:cNvSpPr/>
            <p:nvPr/>
          </p:nvSpPr>
          <p:spPr>
            <a:xfrm>
              <a:off x="5593215"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4" name="Oval 43">
              <a:extLst>
                <a:ext uri="{FF2B5EF4-FFF2-40B4-BE49-F238E27FC236}">
                  <a16:creationId xmlns:a16="http://schemas.microsoft.com/office/drawing/2014/main" xmlns="" id="{A68926DB-EC77-4FAF-8387-81160673330E}"/>
                </a:ext>
              </a:extLst>
            </p:cNvPr>
            <p:cNvSpPr/>
            <p:nvPr/>
          </p:nvSpPr>
          <p:spPr>
            <a:xfrm>
              <a:off x="496383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5" name="Oval 44">
              <a:extLst>
                <a:ext uri="{FF2B5EF4-FFF2-40B4-BE49-F238E27FC236}">
                  <a16:creationId xmlns:a16="http://schemas.microsoft.com/office/drawing/2014/main" xmlns="" id="{21DDF9FD-DCA9-4F7E-9E84-90C4E26D8618}"/>
                </a:ext>
              </a:extLst>
            </p:cNvPr>
            <p:cNvSpPr/>
            <p:nvPr/>
          </p:nvSpPr>
          <p:spPr>
            <a:xfrm>
              <a:off x="540810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46" name="Straight Arrow Connector 45">
              <a:extLst>
                <a:ext uri="{FF2B5EF4-FFF2-40B4-BE49-F238E27FC236}">
                  <a16:creationId xmlns:a16="http://schemas.microsoft.com/office/drawing/2014/main" xmlns="" id="{45A1FA9B-4B89-4B97-94B0-7BC340E2F4F0}"/>
                </a:ext>
              </a:extLst>
            </p:cNvPr>
            <p:cNvCxnSpPr/>
            <p:nvPr/>
          </p:nvCxnSpPr>
          <p:spPr>
            <a:xfrm>
              <a:off x="5343970"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xmlns="" id="{23ED6BEC-FDE7-441B-87F8-87C0EBBA45B7}"/>
                </a:ext>
              </a:extLst>
            </p:cNvPr>
            <p:cNvCxnSpPr/>
            <p:nvPr/>
          </p:nvCxnSpPr>
          <p:spPr>
            <a:xfrm flipH="1">
              <a:off x="4936723"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F8A4093E-82E2-4F9D-BFCA-FAD5164F088C}"/>
                </a:ext>
              </a:extLst>
            </p:cNvPr>
            <p:cNvCxnSpPr/>
            <p:nvPr/>
          </p:nvCxnSpPr>
          <p:spPr>
            <a:xfrm flipH="1">
              <a:off x="5056388"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xmlns="" id="{D80A2A72-AC93-4999-B7B0-0EAE4909DB6A}"/>
                </a:ext>
              </a:extLst>
            </p:cNvPr>
            <p:cNvCxnSpPr/>
            <p:nvPr/>
          </p:nvCxnSpPr>
          <p:spPr>
            <a:xfrm>
              <a:off x="5278523"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95257391-6E72-499A-94F0-49CEE4E82BF3}"/>
                </a:ext>
              </a:extLst>
            </p:cNvPr>
            <p:cNvCxnSpPr/>
            <p:nvPr/>
          </p:nvCxnSpPr>
          <p:spPr>
            <a:xfrm>
              <a:off x="487127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xmlns="" id="{A98374CB-906D-4DEC-8A6D-CD13264682A5}"/>
                </a:ext>
              </a:extLst>
            </p:cNvPr>
            <p:cNvCxnSpPr/>
            <p:nvPr/>
          </p:nvCxnSpPr>
          <p:spPr>
            <a:xfrm flipH="1">
              <a:off x="556610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xmlns="" id="{100E0B43-702D-473C-A222-4F2C370067D6}"/>
                </a:ext>
              </a:extLst>
            </p:cNvPr>
            <p:cNvCxnSpPr/>
            <p:nvPr/>
          </p:nvCxnSpPr>
          <p:spPr>
            <a:xfrm>
              <a:off x="4963832" y="5118881"/>
              <a:ext cx="629383"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xmlns="" id="{CA074040-3AAD-4D3B-8CA7-AA0F6FD9E0B4}"/>
                </a:ext>
              </a:extLst>
            </p:cNvPr>
            <p:cNvCxnSpPr/>
            <p:nvPr/>
          </p:nvCxnSpPr>
          <p:spPr>
            <a:xfrm>
              <a:off x="4963832" y="5118881"/>
              <a:ext cx="471379" cy="397335"/>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xmlns="" id="{5928CDD7-B129-4938-B5C2-75A1DA7C7B1D}"/>
                </a:ext>
              </a:extLst>
            </p:cNvPr>
            <p:cNvCxnSpPr/>
            <p:nvPr/>
          </p:nvCxnSpPr>
          <p:spPr>
            <a:xfrm flipH="1">
              <a:off x="5121835" y="5184328"/>
              <a:ext cx="498488" cy="331887"/>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xmlns="" id="{7DD5F5F7-BB90-45CB-A8F2-2C3F8E72DC27}"/>
                </a:ext>
              </a:extLst>
            </p:cNvPr>
            <p:cNvCxnSpPr/>
            <p:nvPr/>
          </p:nvCxnSpPr>
          <p:spPr>
            <a:xfrm>
              <a:off x="5148944" y="5581663"/>
              <a:ext cx="259158"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4778719" y="4715507"/>
              <a:ext cx="1026591" cy="95871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57" name="TextBox 56"/>
                <p:cNvSpPr txBox="1"/>
                <p:nvPr/>
              </p:nvSpPr>
              <p:spPr>
                <a:xfrm>
                  <a:off x="4992961" y="4360811"/>
                  <a:ext cx="680123" cy="369332"/>
                </a:xfrm>
                <a:prstGeom prst="rect">
                  <a:avLst/>
                </a:prstGeom>
                <a:noFill/>
                <a:ln>
                  <a:noFill/>
                </a:ln>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charset="0"/>
                              </a:rPr>
                            </m:ctrlPr>
                          </m:sSubPr>
                          <m:e>
                            <m:r>
                              <a:rPr lang="en-US" i="1" smtClean="0">
                                <a:solidFill>
                                  <a:srgbClr val="000000"/>
                                </a:solidFill>
                                <a:latin typeface="Cambria Math" charset="0"/>
                              </a:rPr>
                              <m:t>𝒯</m:t>
                            </m:r>
                          </m:e>
                          <m:sub>
                            <m:r>
                              <a:rPr lang="en-US" i="1" smtClean="0">
                                <a:solidFill>
                                  <a:srgbClr val="000000"/>
                                </a:solidFill>
                                <a:latin typeface="Cambria Math" charset="0"/>
                              </a:rPr>
                              <m:t>𝑡𝑒𝑠𝑡</m:t>
                            </m:r>
                          </m:sub>
                        </m:sSub>
                      </m:oMath>
                    </m:oMathPara>
                  </a14:m>
                  <a:endParaRPr lang="en-US" dirty="0">
                    <a:solidFill>
                      <a:srgbClr val="000000"/>
                    </a:solidFill>
                    <a:latin typeface="Century Gothic" panose="020B0502020202020204" pitchFamily="34" charset="0"/>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992961" y="4360811"/>
                  <a:ext cx="680123" cy="369332"/>
                </a:xfrm>
                <a:prstGeom prst="rect">
                  <a:avLst/>
                </a:prstGeom>
                <a:blipFill rotWithShape="0">
                  <a:blip r:embed="rId7"/>
                  <a:stretch>
                    <a:fillRect/>
                  </a:stretch>
                </a:blipFill>
                <a:ln>
                  <a:noFill/>
                </a:ln>
              </p:spPr>
              <p:txBody>
                <a:bodyPr/>
                <a:lstStyle/>
                <a:p>
                  <a:r>
                    <a:rPr lang="en-US">
                      <a:noFill/>
                    </a:rPr>
                    <a:t> </a:t>
                  </a:r>
                </a:p>
              </p:txBody>
            </p:sp>
          </mc:Fallback>
        </mc:AlternateContent>
      </p:grpSp>
      <p:sp>
        <p:nvSpPr>
          <p:cNvPr id="38" name="Rounded Rectangle 37"/>
          <p:cNvSpPr/>
          <p:nvPr/>
        </p:nvSpPr>
        <p:spPr>
          <a:xfrm>
            <a:off x="1981200" y="4758281"/>
            <a:ext cx="5339646" cy="153618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39" name="TextBox 38"/>
          <p:cNvSpPr txBox="1"/>
          <p:nvPr/>
        </p:nvSpPr>
        <p:spPr>
          <a:xfrm>
            <a:off x="5643558" y="5788540"/>
            <a:ext cx="1683474" cy="3693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dirty="0">
                <a:solidFill>
                  <a:srgbClr val="FFFFFF"/>
                </a:solidFill>
                <a:latin typeface="Century Gothic" panose="020B0502020202020204" pitchFamily="34" charset="0"/>
              </a:rPr>
              <a:t>Testing Phase</a:t>
            </a:r>
          </a:p>
        </p:txBody>
      </p:sp>
      <p:grpSp>
        <p:nvGrpSpPr>
          <p:cNvPr id="6" name="Group 5">
            <a:extLst>
              <a:ext uri="{FF2B5EF4-FFF2-40B4-BE49-F238E27FC236}">
                <a16:creationId xmlns:a16="http://schemas.microsoft.com/office/drawing/2014/main" xmlns="" id="{234A66C0-CCEC-2746-9E7C-B17EA18B3140}"/>
              </a:ext>
            </a:extLst>
          </p:cNvPr>
          <p:cNvGrpSpPr/>
          <p:nvPr/>
        </p:nvGrpSpPr>
        <p:grpSpPr>
          <a:xfrm>
            <a:off x="3231927" y="4114801"/>
            <a:ext cx="2869591" cy="1603934"/>
            <a:chOff x="3460527" y="4114801"/>
            <a:chExt cx="2869591" cy="1603934"/>
          </a:xfrm>
        </p:grpSpPr>
        <p:sp>
          <p:nvSpPr>
            <p:cNvPr id="37" name="Bent-Up Arrow 36"/>
            <p:cNvSpPr/>
            <p:nvPr/>
          </p:nvSpPr>
          <p:spPr>
            <a:xfrm rot="16200000" flipH="1" flipV="1">
              <a:off x="311652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0" name="Bent-Up Arrow 39"/>
            <p:cNvSpPr/>
            <p:nvPr/>
          </p:nvSpPr>
          <p:spPr>
            <a:xfrm rot="5400000" flipV="1">
              <a:off x="507019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5" name="Group 4">
            <a:extLst>
              <a:ext uri="{FF2B5EF4-FFF2-40B4-BE49-F238E27FC236}">
                <a16:creationId xmlns:a16="http://schemas.microsoft.com/office/drawing/2014/main" xmlns="" id="{83896762-4732-8C42-B6FA-D36812F47DC9}"/>
              </a:ext>
            </a:extLst>
          </p:cNvPr>
          <p:cNvGrpSpPr/>
          <p:nvPr/>
        </p:nvGrpSpPr>
        <p:grpSpPr>
          <a:xfrm>
            <a:off x="2301533" y="2652231"/>
            <a:ext cx="4702963" cy="1335968"/>
            <a:chOff x="2530133" y="2652231"/>
            <a:chExt cx="4702963" cy="1335968"/>
          </a:xfrm>
        </p:grpSpPr>
        <p:sp>
          <p:nvSpPr>
            <p:cNvPr id="15" name="Rectangle 14"/>
            <p:cNvSpPr/>
            <p:nvPr/>
          </p:nvSpPr>
          <p:spPr>
            <a:xfrm>
              <a:off x="4947096" y="2652231"/>
              <a:ext cx="2286000" cy="1335968"/>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6" name="Rectangle 15"/>
            <p:cNvSpPr/>
            <p:nvPr/>
          </p:nvSpPr>
          <p:spPr>
            <a:xfrm>
              <a:off x="2530133" y="2652231"/>
              <a:ext cx="2286000" cy="1335968"/>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nvGrpSpPr>
            <p:cNvPr id="17" name="Group 16"/>
            <p:cNvGrpSpPr/>
            <p:nvPr/>
          </p:nvGrpSpPr>
          <p:grpSpPr>
            <a:xfrm>
              <a:off x="2618926" y="2927844"/>
              <a:ext cx="1026591" cy="958712"/>
              <a:chOff x="3299081" y="2198810"/>
              <a:chExt cx="1026591" cy="958712"/>
            </a:xfrm>
          </p:grpSpPr>
          <p:grpSp>
            <p:nvGrpSpPr>
              <p:cNvPr id="108" name="Group 107"/>
              <p:cNvGrpSpPr/>
              <p:nvPr/>
            </p:nvGrpSpPr>
            <p:grpSpPr>
              <a:xfrm>
                <a:off x="3299081" y="2213447"/>
                <a:ext cx="999609" cy="944075"/>
                <a:chOff x="2226911" y="1490958"/>
                <a:chExt cx="999609" cy="944075"/>
              </a:xfrm>
            </p:grpSpPr>
            <p:sp>
              <p:nvSpPr>
                <p:cNvPr id="110" name="Oval 109">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1" name="Oval 110">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2" name="Oval 111">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3" name="Oval 112">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14" name="Oval 113">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115" name="Straight Arrow Connector 114">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grpSp>
          <p:sp>
            <p:nvSpPr>
              <p:cNvPr id="109" name="Rectangle 108"/>
              <p:cNvSpPr/>
              <p:nvPr/>
            </p:nvSpPr>
            <p:spPr>
              <a:xfrm>
                <a:off x="3299081" y="2198810"/>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18" name="Group 17"/>
            <p:cNvGrpSpPr/>
            <p:nvPr/>
          </p:nvGrpSpPr>
          <p:grpSpPr>
            <a:xfrm>
              <a:off x="3713734" y="2927844"/>
              <a:ext cx="1026591" cy="958712"/>
              <a:chOff x="4619667" y="3734099"/>
              <a:chExt cx="1026591" cy="958712"/>
            </a:xfrm>
          </p:grpSpPr>
          <p:grpSp>
            <p:nvGrpSpPr>
              <p:cNvPr id="101" name="Group 100"/>
              <p:cNvGrpSpPr/>
              <p:nvPr/>
            </p:nvGrpSpPr>
            <p:grpSpPr>
              <a:xfrm>
                <a:off x="4626938" y="3748736"/>
                <a:ext cx="999609" cy="944075"/>
                <a:chOff x="3498049" y="1490958"/>
                <a:chExt cx="999609" cy="944075"/>
              </a:xfrm>
            </p:grpSpPr>
            <p:sp>
              <p:nvSpPr>
                <p:cNvPr id="103" name="Oval 102">
                  <a:extLst>
                    <a:ext uri="{FF2B5EF4-FFF2-40B4-BE49-F238E27FC236}">
                      <a16:creationId xmlns:a16="http://schemas.microsoft.com/office/drawing/2014/main" xmlns="" id="{02A9185F-17CD-430F-B765-DD03EB939117}"/>
                    </a:ext>
                  </a:extLst>
                </p:cNvPr>
                <p:cNvSpPr/>
                <p:nvPr/>
              </p:nvSpPr>
              <p:spPr>
                <a:xfrm>
                  <a:off x="3905297"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4" name="Oval 103">
                  <a:extLst>
                    <a:ext uri="{FF2B5EF4-FFF2-40B4-BE49-F238E27FC236}">
                      <a16:creationId xmlns:a16="http://schemas.microsoft.com/office/drawing/2014/main" xmlns="" id="{67183840-CA5E-41AC-8BA4-676FBC67C282}"/>
                    </a:ext>
                  </a:extLst>
                </p:cNvPr>
                <p:cNvSpPr/>
                <p:nvPr/>
              </p:nvSpPr>
              <p:spPr>
                <a:xfrm>
                  <a:off x="3498049"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5" name="Oval 104">
                  <a:extLst>
                    <a:ext uri="{FF2B5EF4-FFF2-40B4-BE49-F238E27FC236}">
                      <a16:creationId xmlns:a16="http://schemas.microsoft.com/office/drawing/2014/main" xmlns="" id="{A207EA9E-2A7E-4CA2-B13A-7956BC73097B}"/>
                    </a:ext>
                  </a:extLst>
                </p:cNvPr>
                <p:cNvSpPr/>
                <p:nvPr/>
              </p:nvSpPr>
              <p:spPr>
                <a:xfrm>
                  <a:off x="4312545"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6" name="Oval 105">
                  <a:extLst>
                    <a:ext uri="{FF2B5EF4-FFF2-40B4-BE49-F238E27FC236}">
                      <a16:creationId xmlns:a16="http://schemas.microsoft.com/office/drawing/2014/main" xmlns="" id="{A68926DB-EC77-4FAF-8387-81160673330E}"/>
                    </a:ext>
                  </a:extLst>
                </p:cNvPr>
                <p:cNvSpPr/>
                <p:nvPr/>
              </p:nvSpPr>
              <p:spPr>
                <a:xfrm>
                  <a:off x="368316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107" name="Oval 106">
                  <a:extLst>
                    <a:ext uri="{FF2B5EF4-FFF2-40B4-BE49-F238E27FC236}">
                      <a16:creationId xmlns:a16="http://schemas.microsoft.com/office/drawing/2014/main" xmlns="" id="{21DDF9FD-DCA9-4F7E-9E84-90C4E26D8618}"/>
                    </a:ext>
                  </a:extLst>
                </p:cNvPr>
                <p:cNvSpPr/>
                <p:nvPr/>
              </p:nvSpPr>
              <p:spPr>
                <a:xfrm>
                  <a:off x="412743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102" name="Rectangle 101"/>
              <p:cNvSpPr/>
              <p:nvPr/>
            </p:nvSpPr>
            <p:spPr>
              <a:xfrm>
                <a:off x="4619667" y="3734099"/>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19" name="Group 18"/>
            <p:cNvGrpSpPr/>
            <p:nvPr/>
          </p:nvGrpSpPr>
          <p:grpSpPr>
            <a:xfrm>
              <a:off x="5045727" y="2927844"/>
              <a:ext cx="1026591" cy="958712"/>
              <a:chOff x="5951660" y="3474452"/>
              <a:chExt cx="1026591" cy="958712"/>
            </a:xfrm>
          </p:grpSpPr>
          <p:cxnSp>
            <p:nvCxnSpPr>
              <p:cNvPr id="88" name="Straight Arrow Connector 87">
                <a:extLst>
                  <a:ext uri="{FF2B5EF4-FFF2-40B4-BE49-F238E27FC236}">
                    <a16:creationId xmlns:a16="http://schemas.microsoft.com/office/drawing/2014/main" xmlns="" id="{6811DF0B-84E5-1342-9EFD-307D206E224B}"/>
                  </a:ext>
                </a:extLst>
              </p:cNvPr>
              <p:cNvCxnSpPr/>
              <p:nvPr/>
            </p:nvCxnSpPr>
            <p:spPr>
              <a:xfrm flipH="1">
                <a:off x="6731847" y="3980529"/>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89" name="Group 88"/>
              <p:cNvGrpSpPr/>
              <p:nvPr/>
            </p:nvGrpSpPr>
            <p:grpSpPr>
              <a:xfrm>
                <a:off x="5951660" y="3474452"/>
                <a:ext cx="1026591" cy="958712"/>
                <a:chOff x="5951660" y="3734099"/>
                <a:chExt cx="1026591" cy="958712"/>
              </a:xfrm>
            </p:grpSpPr>
            <p:grpSp>
              <p:nvGrpSpPr>
                <p:cNvPr id="90" name="Group 89">
                  <a:extLst>
                    <a:ext uri="{FF2B5EF4-FFF2-40B4-BE49-F238E27FC236}">
                      <a16:creationId xmlns:a16="http://schemas.microsoft.com/office/drawing/2014/main" xmlns="" id="{8BE54C6C-6981-4B81-9F8F-C21AE2C33F97}"/>
                    </a:ext>
                  </a:extLst>
                </p:cNvPr>
                <p:cNvGrpSpPr/>
                <p:nvPr/>
              </p:nvGrpSpPr>
              <p:grpSpPr>
                <a:xfrm>
                  <a:off x="5968863" y="3748736"/>
                  <a:ext cx="999608" cy="944075"/>
                  <a:chOff x="762000" y="4648200"/>
                  <a:chExt cx="2057400" cy="1943100"/>
                </a:xfrm>
                <a:solidFill>
                  <a:srgbClr val="FF0000"/>
                </a:solidFill>
              </p:grpSpPr>
              <p:sp>
                <p:nvSpPr>
                  <p:cNvPr id="92" name="Oval 91">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3" name="Oval 92">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4" name="Oval 93">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5" name="Oval 94">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96" name="Oval 95">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97" name="Straight Arrow Connector 96">
                    <a:extLst>
                      <a:ext uri="{FF2B5EF4-FFF2-40B4-BE49-F238E27FC236}">
                        <a16:creationId xmlns:a16="http://schemas.microsoft.com/office/drawing/2014/main" xmlns="" id="{923F6EA9-872C-444F-ADE5-4FC5C2491BDE}"/>
                      </a:ext>
                    </a:extLst>
                  </p:cNvPr>
                  <p:cNvCxnSpPr/>
                  <p:nvPr/>
                </p:nvCxnSpPr>
                <p:spPr>
                  <a:xfrm>
                    <a:off x="1925404" y="4973404"/>
                    <a:ext cx="568792" cy="340192"/>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xmlns="" id="{33DD37DD-6AD4-4B8A-B620-4B752A49B91A}"/>
                      </a:ext>
                    </a:extLst>
                  </p:cNvPr>
                  <p:cNvCxnSpPr/>
                  <p:nvPr/>
                </p:nvCxnSpPr>
                <p:spPr>
                  <a:xfrm>
                    <a:off x="1143000" y="5448300"/>
                    <a:ext cx="970196" cy="8177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Rectangle 90"/>
                <p:cNvSpPr/>
                <p:nvPr/>
              </p:nvSpPr>
              <p:spPr>
                <a:xfrm>
                  <a:off x="595166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grpSp>
          <p:nvGrpSpPr>
            <p:cNvPr id="20" name="Group 19"/>
            <p:cNvGrpSpPr/>
            <p:nvPr/>
          </p:nvGrpSpPr>
          <p:grpSpPr>
            <a:xfrm>
              <a:off x="6140757" y="2927844"/>
              <a:ext cx="1026591" cy="958712"/>
              <a:chOff x="7046690" y="3734099"/>
              <a:chExt cx="1026591" cy="958712"/>
            </a:xfrm>
          </p:grpSpPr>
          <p:grpSp>
            <p:nvGrpSpPr>
              <p:cNvPr id="75" name="Group 74"/>
              <p:cNvGrpSpPr/>
              <p:nvPr/>
            </p:nvGrpSpPr>
            <p:grpSpPr>
              <a:xfrm>
                <a:off x="7060183" y="3748736"/>
                <a:ext cx="999608" cy="944075"/>
                <a:chOff x="6181899" y="1490958"/>
                <a:chExt cx="999608" cy="944075"/>
              </a:xfrm>
            </p:grpSpPr>
            <p:cxnSp>
              <p:nvCxnSpPr>
                <p:cNvPr id="77" name="Straight Arrow Connector 76">
                  <a:extLst>
                    <a:ext uri="{FF2B5EF4-FFF2-40B4-BE49-F238E27FC236}">
                      <a16:creationId xmlns:a16="http://schemas.microsoft.com/office/drawing/2014/main" xmlns="" id="{3A02BEAB-59FF-9A44-8D7A-2D878506FEB7}"/>
                    </a:ext>
                  </a:extLst>
                </p:cNvPr>
                <p:cNvCxnSpPr/>
                <p:nvPr/>
              </p:nvCxnSpPr>
              <p:spPr>
                <a:xfrm flipH="1">
                  <a:off x="6949978" y="1972251"/>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78" name="Group 77">
                  <a:extLst>
                    <a:ext uri="{FF2B5EF4-FFF2-40B4-BE49-F238E27FC236}">
                      <a16:creationId xmlns:a16="http://schemas.microsoft.com/office/drawing/2014/main" xmlns="" id="{8BE54C6C-6981-4B81-9F8F-C21AE2C33F97}"/>
                    </a:ext>
                  </a:extLst>
                </p:cNvPr>
                <p:cNvGrpSpPr/>
                <p:nvPr/>
              </p:nvGrpSpPr>
              <p:grpSpPr>
                <a:xfrm>
                  <a:off x="6181899" y="1490958"/>
                  <a:ext cx="999608" cy="944075"/>
                  <a:chOff x="762000" y="4648200"/>
                  <a:chExt cx="2057400" cy="1943100"/>
                </a:xfrm>
                <a:solidFill>
                  <a:srgbClr val="FF0000"/>
                </a:solidFill>
              </p:grpSpPr>
              <p:sp>
                <p:nvSpPr>
                  <p:cNvPr id="81" name="Oval 80">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2" name="Oval 81">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3" name="Oval 82">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4" name="Oval 83">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85" name="Oval 84">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86" name="Straight Arrow Connector 85">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79" name="Straight Arrow Connector 78">
                  <a:extLst>
                    <a:ext uri="{FF2B5EF4-FFF2-40B4-BE49-F238E27FC236}">
                      <a16:creationId xmlns:a16="http://schemas.microsoft.com/office/drawing/2014/main" xmlns="" id="{29DE84B4-20D1-AA4C-A52E-23E1CC711439}"/>
                    </a:ext>
                  </a:extLst>
                </p:cNvPr>
                <p:cNvCxnSpPr>
                  <a:cxnSpLocks/>
                </p:cNvCxnSpPr>
                <p:nvPr/>
              </p:nvCxnSpPr>
              <p:spPr>
                <a:xfrm flipH="1">
                  <a:off x="6459569" y="1676071"/>
                  <a:ext cx="222135" cy="573849"/>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xmlns="" id="{438B59AB-FE5F-D64A-9821-D58468580957}"/>
                    </a:ext>
                  </a:extLst>
                </p:cNvPr>
                <p:cNvCxnSpPr/>
                <p:nvPr/>
              </p:nvCxnSpPr>
              <p:spPr>
                <a:xfrm>
                  <a:off x="6367012" y="1879695"/>
                  <a:ext cx="629382" cy="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76" name="Rectangle 75"/>
              <p:cNvSpPr/>
              <p:nvPr/>
            </p:nvSpPr>
            <p:spPr>
              <a:xfrm>
                <a:off x="704669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spTree>
    <p:extLst>
      <p:ext uri="{BB962C8B-B14F-4D97-AF65-F5344CB8AC3E}">
        <p14:creationId xmlns:p14="http://schemas.microsoft.com/office/powerpoint/2010/main" val="195780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up)">
                                      <p:cBhvr>
                                        <p:cTn id="10" dur="500"/>
                                        <p:tgtEl>
                                          <p:spTgt spid="31"/>
                                        </p:tgtEl>
                                      </p:cBhvr>
                                    </p:animEffect>
                                  </p:childTnLst>
                                </p:cTn>
                              </p:par>
                              <p:par>
                                <p:cTn id="11" presetID="9"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dissolve">
                                      <p:cBhvr>
                                        <p:cTn id="13" dur="500"/>
                                        <p:tgtEl>
                                          <p:spTgt spid="21"/>
                                        </p:tgtEl>
                                      </p:cBhvr>
                                    </p:animEffect>
                                  </p:childTnLst>
                                </p:cTn>
                              </p:par>
                              <p:par>
                                <p:cTn id="14" presetID="22" presetClass="entr" presetSubtype="2"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right)">
                                      <p:cBhvr>
                                        <p:cTn id="16" dur="500"/>
                                        <p:tgtEl>
                                          <p:spTgt spid="3"/>
                                        </p:tgtEl>
                                      </p:cBhvr>
                                    </p:animEffect>
                                  </p:childTnLst>
                                </p:cTn>
                              </p:par>
                              <p:par>
                                <p:cTn id="17" presetID="2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par>
                                <p:cTn id="20" presetID="9" presetClass="entr" presetSubtype="0"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up)">
                                      <p:cBhvr>
                                        <p:cTn id="27" dur="500"/>
                                        <p:tgtEl>
                                          <p:spTgt spid="38"/>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500"/>
                                        <p:tgtEl>
                                          <p:spTgt spid="39"/>
                                        </p:tgtEl>
                                      </p:cBhvr>
                                    </p:animEffect>
                                  </p:childTnLst>
                                </p:cTn>
                              </p:par>
                              <p:par>
                                <p:cTn id="31" presetID="9"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dissolve">
                                      <p:cBhvr>
                                        <p:cTn id="33" dur="500"/>
                                        <p:tgtEl>
                                          <p:spTgt spid="36"/>
                                        </p:tgtEl>
                                      </p:cBhvr>
                                    </p:animEffect>
                                  </p:childTnLst>
                                </p:cTn>
                              </p:par>
                              <p:par>
                                <p:cTn id="34" presetID="22" presetClass="entr" presetSubtype="1"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8" grpId="0" animBg="1"/>
      <p:bldP spid="3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CDEDAA8-C491-C04C-A9E5-A4D1C8187556}"/>
              </a:ext>
            </a:extLst>
          </p:cNvPr>
          <p:cNvSpPr txBox="1"/>
          <p:nvPr/>
        </p:nvSpPr>
        <p:spPr>
          <a:xfrm>
            <a:off x="447674" y="4689418"/>
            <a:ext cx="8696326" cy="1200329"/>
          </a:xfrm>
          <a:prstGeom prst="rect">
            <a:avLst/>
          </a:prstGeom>
          <a:noFill/>
        </p:spPr>
        <p:txBody>
          <a:bodyPr wrap="square" rtlCol="0">
            <a:spAutoFit/>
          </a:bodyPr>
          <a:lstStyle/>
          <a:p>
            <a:pPr marL="342900" indent="-342900" eaLnBrk="0" fontAlgn="base" hangingPunct="0">
              <a:spcBef>
                <a:spcPct val="0"/>
              </a:spcBef>
              <a:spcAft>
                <a:spcPct val="0"/>
              </a:spcAft>
              <a:buSzPct val="65000"/>
              <a:buFont typeface="Wingdings" charset="2"/>
              <a:buChar char="q"/>
            </a:pPr>
            <a:r>
              <a:rPr lang="en-US" sz="2400" i="1" dirty="0" smtClean="0">
                <a:solidFill>
                  <a:srgbClr val="000000"/>
                </a:solidFill>
                <a:latin typeface="Century Gothic" panose="020B0502020202020204" pitchFamily="34" charset="0"/>
              </a:rPr>
              <a:t>When we have a fixed budget, partial structures indeed lead </a:t>
            </a:r>
            <a:r>
              <a:rPr lang="en-US" sz="2400" i="1" dirty="0">
                <a:solidFill>
                  <a:srgbClr val="000000"/>
                </a:solidFill>
                <a:latin typeface="Century Gothic" panose="020B0502020202020204" pitchFamily="34" charset="0"/>
              </a:rPr>
              <a:t>to better </a:t>
            </a:r>
            <a:r>
              <a:rPr lang="en-US" sz="2400" i="1" dirty="0" smtClean="0">
                <a:solidFill>
                  <a:srgbClr val="000000"/>
                </a:solidFill>
                <a:latin typeface="Century Gothic" panose="020B0502020202020204" pitchFamily="34" charset="0"/>
              </a:rPr>
              <a:t>performance.</a:t>
            </a:r>
          </a:p>
          <a:p>
            <a:pPr marL="342900" indent="-342900" eaLnBrk="0" fontAlgn="base" hangingPunct="0">
              <a:spcBef>
                <a:spcPct val="0"/>
              </a:spcBef>
              <a:spcAft>
                <a:spcPct val="0"/>
              </a:spcAft>
              <a:buSzPct val="65000"/>
              <a:buFont typeface="Wingdings" charset="2"/>
              <a:buChar char="q"/>
            </a:pPr>
            <a:r>
              <a:rPr lang="en-US" sz="2400" i="1" dirty="0" smtClean="0">
                <a:solidFill>
                  <a:srgbClr val="000000"/>
                </a:solidFill>
                <a:latin typeface="Century Gothic" panose="020B0502020202020204" pitchFamily="34" charset="0"/>
              </a:rPr>
              <a:t>How </a:t>
            </a:r>
            <a:r>
              <a:rPr lang="en-US" sz="2400" i="1" dirty="0">
                <a:solidFill>
                  <a:srgbClr val="000000"/>
                </a:solidFill>
                <a:latin typeface="Century Gothic" panose="020B0502020202020204" pitchFamily="34" charset="0"/>
              </a:rPr>
              <a:t>should we </a:t>
            </a:r>
            <a:r>
              <a:rPr lang="en-US" sz="2400" b="1" i="1" dirty="0">
                <a:solidFill>
                  <a:srgbClr val="000000"/>
                </a:solidFill>
                <a:latin typeface="Century Gothic" panose="020B0502020202020204" pitchFamily="34" charset="0"/>
              </a:rPr>
              <a:t>quantify</a:t>
            </a:r>
            <a:r>
              <a:rPr lang="en-US" sz="2400" i="1" dirty="0">
                <a:solidFill>
                  <a:srgbClr val="000000"/>
                </a:solidFill>
                <a:latin typeface="Century Gothic" panose="020B0502020202020204" pitchFamily="34" charset="0"/>
              </a:rPr>
              <a:t> the quality of “partial</a:t>
            </a:r>
            <a:r>
              <a:rPr lang="en-US" sz="2400" i="1" dirty="0" smtClean="0">
                <a:solidFill>
                  <a:srgbClr val="000000"/>
                </a:solidFill>
                <a:latin typeface="Century Gothic" panose="020B0502020202020204" pitchFamily="34" charset="0"/>
              </a:rPr>
              <a:t>”?</a:t>
            </a:r>
            <a:endParaRPr lang="en-US" sz="2400" i="1" dirty="0">
              <a:solidFill>
                <a:srgbClr val="000000"/>
              </a:solidFill>
              <a:latin typeface="Century Gothic" panose="020B0502020202020204" pitchFamily="34" charset="0"/>
            </a:endParaRPr>
          </a:p>
        </p:txBody>
      </p:sp>
      <p:grpSp>
        <p:nvGrpSpPr>
          <p:cNvPr id="20" name="Group 19"/>
          <p:cNvGrpSpPr/>
          <p:nvPr/>
        </p:nvGrpSpPr>
        <p:grpSpPr>
          <a:xfrm>
            <a:off x="3884681" y="1363596"/>
            <a:ext cx="5224169" cy="2817342"/>
            <a:chOff x="3884681" y="1363596"/>
            <a:chExt cx="5224169" cy="2817342"/>
          </a:xfrm>
        </p:grpSpPr>
        <p:grpSp>
          <p:nvGrpSpPr>
            <p:cNvPr id="19" name="Group 18"/>
            <p:cNvGrpSpPr/>
            <p:nvPr/>
          </p:nvGrpSpPr>
          <p:grpSpPr>
            <a:xfrm>
              <a:off x="3884681" y="1363596"/>
              <a:ext cx="5061282" cy="2817342"/>
              <a:chOff x="3884681" y="1363596"/>
              <a:chExt cx="5061282" cy="2817342"/>
            </a:xfrm>
          </p:grpSpPr>
          <p:grpSp>
            <p:nvGrpSpPr>
              <p:cNvPr id="17" name="Group 16"/>
              <p:cNvGrpSpPr/>
              <p:nvPr/>
            </p:nvGrpSpPr>
            <p:grpSpPr>
              <a:xfrm>
                <a:off x="4279065" y="1363596"/>
                <a:ext cx="4454504" cy="2817342"/>
                <a:chOff x="4279065" y="1363596"/>
                <a:chExt cx="4454504" cy="2817342"/>
              </a:xfrm>
            </p:grpSpPr>
            <p:pic>
              <p:nvPicPr>
                <p:cNvPr id="139" name="Picture 138">
                  <a:extLst>
                    <a:ext uri="{FF2B5EF4-FFF2-40B4-BE49-F238E27FC236}">
                      <a16:creationId xmlns="" xmlns:a16="http://schemas.microsoft.com/office/drawing/2014/main" id="{56F55D64-D03E-E34D-B9A2-BA74189E4A33}"/>
                    </a:ext>
                  </a:extLst>
                </p:cNvPr>
                <p:cNvPicPr>
                  <a:picLocks noChangeAspect="1"/>
                </p:cNvPicPr>
                <p:nvPr/>
              </p:nvPicPr>
              <p:blipFill>
                <a:blip r:embed="rId3"/>
                <a:stretch>
                  <a:fillRect/>
                </a:stretch>
              </p:blipFill>
              <p:spPr>
                <a:xfrm>
                  <a:off x="4279065" y="1363596"/>
                  <a:ext cx="4454504" cy="2817342"/>
                </a:xfrm>
                <a:prstGeom prst="rect">
                  <a:avLst/>
                </a:prstGeom>
              </p:spPr>
            </p:pic>
            <p:sp>
              <p:nvSpPr>
                <p:cNvPr id="140" name="Rectangle 139">
                  <a:extLst>
                    <a:ext uri="{FF2B5EF4-FFF2-40B4-BE49-F238E27FC236}">
                      <a16:creationId xmlns="" xmlns:a16="http://schemas.microsoft.com/office/drawing/2014/main" id="{7E174746-82B6-AE4B-A018-3EFF9FF22F69}"/>
                    </a:ext>
                  </a:extLst>
                </p:cNvPr>
                <p:cNvSpPr/>
                <p:nvPr/>
              </p:nvSpPr>
              <p:spPr>
                <a:xfrm>
                  <a:off x="6983952" y="3088060"/>
                  <a:ext cx="1474248" cy="54055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0" name="Rounded Rectangle 129">
                <a:extLst>
                  <a:ext uri="{FF2B5EF4-FFF2-40B4-BE49-F238E27FC236}">
                    <a16:creationId xmlns="" xmlns:a16="http://schemas.microsoft.com/office/drawing/2014/main" id="{422BD2C3-45D8-8345-B35F-34F645BBB0CC}"/>
                  </a:ext>
                </a:extLst>
              </p:cNvPr>
              <p:cNvSpPr/>
              <p:nvPr/>
            </p:nvSpPr>
            <p:spPr>
              <a:xfrm>
                <a:off x="5117084" y="2518660"/>
                <a:ext cx="3828879" cy="459023"/>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complete</a:t>
                </a:r>
              </a:p>
            </p:txBody>
          </p:sp>
          <p:sp>
            <p:nvSpPr>
              <p:cNvPr id="131" name="Rounded Rectangle 130">
                <a:extLst>
                  <a:ext uri="{FF2B5EF4-FFF2-40B4-BE49-F238E27FC236}">
                    <a16:creationId xmlns="" xmlns:a16="http://schemas.microsoft.com/office/drawing/2014/main" id="{D7D2DAD8-55BD-B14E-A9BB-DDFA894DBF22}"/>
                  </a:ext>
                </a:extLst>
              </p:cNvPr>
              <p:cNvSpPr/>
              <p:nvPr/>
            </p:nvSpPr>
            <p:spPr>
              <a:xfrm>
                <a:off x="3884681" y="1710300"/>
                <a:ext cx="3828879" cy="459023"/>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partial</a:t>
                </a:r>
              </a:p>
            </p:txBody>
          </p:sp>
        </p:grpSp>
        <p:grpSp>
          <p:nvGrpSpPr>
            <p:cNvPr id="6" name="Group 5">
              <a:extLst>
                <a:ext uri="{FF2B5EF4-FFF2-40B4-BE49-F238E27FC236}">
                  <a16:creationId xmlns="" xmlns:a16="http://schemas.microsoft.com/office/drawing/2014/main" id="{D72F58BB-51FA-7849-A2FF-F0B5286DDD3C}"/>
                </a:ext>
              </a:extLst>
            </p:cNvPr>
            <p:cNvGrpSpPr/>
            <p:nvPr/>
          </p:nvGrpSpPr>
          <p:grpSpPr>
            <a:xfrm>
              <a:off x="4903577" y="3379337"/>
              <a:ext cx="3233726" cy="300082"/>
              <a:chOff x="4176346" y="4721470"/>
              <a:chExt cx="3979971" cy="369332"/>
            </a:xfrm>
          </p:grpSpPr>
          <p:sp>
            <p:nvSpPr>
              <p:cNvPr id="7" name="TextBox 6">
                <a:extLst>
                  <a:ext uri="{FF2B5EF4-FFF2-40B4-BE49-F238E27FC236}">
                    <a16:creationId xmlns="" xmlns:a16="http://schemas.microsoft.com/office/drawing/2014/main" id="{743AE5D1-F5A8-E944-B8D0-67F1AA73F280}"/>
                  </a:ext>
                </a:extLst>
              </p:cNvPr>
              <p:cNvSpPr txBox="1"/>
              <p:nvPr/>
            </p:nvSpPr>
            <p:spPr>
              <a:xfrm>
                <a:off x="4176346"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8" name="TextBox 7">
                <a:extLst>
                  <a:ext uri="{FF2B5EF4-FFF2-40B4-BE49-F238E27FC236}">
                    <a16:creationId xmlns="" xmlns:a16="http://schemas.microsoft.com/office/drawing/2014/main" id="{9E19CC3E-9859-6648-8463-2E09409239F3}"/>
                  </a:ext>
                </a:extLst>
              </p:cNvPr>
              <p:cNvSpPr txBox="1"/>
              <p:nvPr/>
            </p:nvSpPr>
            <p:spPr>
              <a:xfrm>
                <a:off x="46247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9" name="TextBox 8">
                <a:extLst>
                  <a:ext uri="{FF2B5EF4-FFF2-40B4-BE49-F238E27FC236}">
                    <a16:creationId xmlns="" xmlns:a16="http://schemas.microsoft.com/office/drawing/2014/main" id="{8417D14F-0DA1-954C-98B3-5A65A3109DFA}"/>
                  </a:ext>
                </a:extLst>
              </p:cNvPr>
              <p:cNvSpPr txBox="1"/>
              <p:nvPr/>
            </p:nvSpPr>
            <p:spPr>
              <a:xfrm>
                <a:off x="50819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0" name="TextBox 9">
                <a:extLst>
                  <a:ext uri="{FF2B5EF4-FFF2-40B4-BE49-F238E27FC236}">
                    <a16:creationId xmlns="" xmlns:a16="http://schemas.microsoft.com/office/drawing/2014/main" id="{38ABE982-BADA-EB40-AB3D-CF17583EEFFD}"/>
                  </a:ext>
                </a:extLst>
              </p:cNvPr>
              <p:cNvSpPr txBox="1"/>
              <p:nvPr/>
            </p:nvSpPr>
            <p:spPr>
              <a:xfrm>
                <a:off x="5539154"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1" name="TextBox 10">
                <a:extLst>
                  <a:ext uri="{FF2B5EF4-FFF2-40B4-BE49-F238E27FC236}">
                    <a16:creationId xmlns="" xmlns:a16="http://schemas.microsoft.com/office/drawing/2014/main" id="{0C27ACCA-CCB4-B54D-BA2D-FED21716B669}"/>
                  </a:ext>
                </a:extLst>
              </p:cNvPr>
              <p:cNvSpPr txBox="1"/>
              <p:nvPr/>
            </p:nvSpPr>
            <p:spPr>
              <a:xfrm>
                <a:off x="5987562"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2" name="TextBox 11">
                <a:extLst>
                  <a:ext uri="{FF2B5EF4-FFF2-40B4-BE49-F238E27FC236}">
                    <a16:creationId xmlns="" xmlns:a16="http://schemas.microsoft.com/office/drawing/2014/main" id="{3FC82353-2590-074D-A7BD-31BA3125FE00}"/>
                  </a:ext>
                </a:extLst>
              </p:cNvPr>
              <p:cNvSpPr txBox="1"/>
              <p:nvPr/>
            </p:nvSpPr>
            <p:spPr>
              <a:xfrm>
                <a:off x="6435970"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3" name="TextBox 12">
                <a:extLst>
                  <a:ext uri="{FF2B5EF4-FFF2-40B4-BE49-F238E27FC236}">
                    <a16:creationId xmlns="" xmlns:a16="http://schemas.microsoft.com/office/drawing/2014/main" id="{216C198E-CC55-9841-B61E-846AA69BB897}"/>
                  </a:ext>
                </a:extLst>
              </p:cNvPr>
              <p:cNvSpPr txBox="1"/>
              <p:nvPr/>
            </p:nvSpPr>
            <p:spPr>
              <a:xfrm>
                <a:off x="6875585"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4" name="TextBox 13">
                <a:extLst>
                  <a:ext uri="{FF2B5EF4-FFF2-40B4-BE49-F238E27FC236}">
                    <a16:creationId xmlns="" xmlns:a16="http://schemas.microsoft.com/office/drawing/2014/main" id="{DB090768-D7B6-8C40-9CFA-7B301FF85CDA}"/>
                  </a:ext>
                </a:extLst>
              </p:cNvPr>
              <p:cNvSpPr txBox="1"/>
              <p:nvPr/>
            </p:nvSpPr>
            <p:spPr>
              <a:xfrm>
                <a:off x="7341577" y="4721470"/>
                <a:ext cx="44435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sp>
            <p:nvSpPr>
              <p:cNvPr id="15" name="TextBox 14">
                <a:extLst>
                  <a:ext uri="{FF2B5EF4-FFF2-40B4-BE49-F238E27FC236}">
                    <a16:creationId xmlns="" xmlns:a16="http://schemas.microsoft.com/office/drawing/2014/main" id="{D679E805-0512-5C44-9B1A-6E3FB5BF51C4}"/>
                  </a:ext>
                </a:extLst>
              </p:cNvPr>
              <p:cNvSpPr txBox="1"/>
              <p:nvPr/>
            </p:nvSpPr>
            <p:spPr>
              <a:xfrm>
                <a:off x="7840205" y="4721470"/>
                <a:ext cx="316112" cy="369332"/>
              </a:xfrm>
              <a:prstGeom prst="rect">
                <a:avLst/>
              </a:prstGeom>
              <a:noFill/>
            </p:spPr>
            <p:txBody>
              <a:bodyPr wrap="none" rtlCol="0">
                <a:spAutoFit/>
              </a:bodyPr>
              <a:lstStyle/>
              <a:p>
                <a:pPr eaLnBrk="0" fontAlgn="base" hangingPunct="0">
                  <a:spcBef>
                    <a:spcPct val="0"/>
                  </a:spcBef>
                  <a:spcAft>
                    <a:spcPct val="0"/>
                  </a:spcAft>
                </a:pPr>
                <a:r>
                  <a:rPr lang="en-US" b="1" dirty="0">
                    <a:solidFill>
                      <a:srgbClr val="FF0000"/>
                    </a:solidFill>
                    <a:latin typeface="Times" pitchFamily="2" charset="0"/>
                  </a:rPr>
                  <a:t>+</a:t>
                </a:r>
              </a:p>
            </p:txBody>
          </p:sp>
        </p:grpSp>
        <p:sp>
          <p:nvSpPr>
            <p:cNvPr id="138" name="TextBox 137">
              <a:extLst>
                <a:ext uri="{FF2B5EF4-FFF2-40B4-BE49-F238E27FC236}">
                  <a16:creationId xmlns="" xmlns:a16="http://schemas.microsoft.com/office/drawing/2014/main" id="{3A260C60-B79C-854F-8970-7F6A2D78B40B}"/>
                </a:ext>
              </a:extLst>
            </p:cNvPr>
            <p:cNvSpPr txBox="1"/>
            <p:nvPr/>
          </p:nvSpPr>
          <p:spPr>
            <a:xfrm>
              <a:off x="8183597" y="3098025"/>
              <a:ext cx="925253" cy="523220"/>
            </a:xfrm>
            <a:prstGeom prst="rect">
              <a:avLst/>
            </a:prstGeom>
            <a:noFill/>
          </p:spPr>
          <p:txBody>
            <a:bodyPr wrap="none" rtlCol="0">
              <a:spAutoFit/>
            </a:bodyPr>
            <a:lstStyle/>
            <a:p>
              <a:pPr algn="ctr" eaLnBrk="0" fontAlgn="base" hangingPunct="0">
                <a:spcBef>
                  <a:spcPct val="0"/>
                </a:spcBef>
                <a:spcAft>
                  <a:spcPct val="0"/>
                </a:spcAft>
              </a:pPr>
              <a:r>
                <a:rPr lang="en-US" sz="1400" b="1" i="1" dirty="0">
                  <a:solidFill>
                    <a:srgbClr val="FF0000"/>
                  </a:solidFill>
                  <a:latin typeface="Times" pitchFamily="2" charset="0"/>
                </a:rPr>
                <a:t>+: p&lt;5%</a:t>
              </a:r>
            </a:p>
            <a:p>
              <a:pPr algn="ctr" eaLnBrk="0" fontAlgn="base" hangingPunct="0">
                <a:spcBef>
                  <a:spcPct val="0"/>
                </a:spcBef>
                <a:spcAft>
                  <a:spcPct val="0"/>
                </a:spcAft>
              </a:pPr>
              <a:r>
                <a:rPr lang="en-US" sz="1400" b="1" i="1" dirty="0">
                  <a:solidFill>
                    <a:srgbClr val="FF0000"/>
                  </a:solidFill>
                  <a:latin typeface="Times" pitchFamily="2" charset="0"/>
                </a:rPr>
                <a:t>++: p&lt;1%</a:t>
              </a:r>
            </a:p>
          </p:txBody>
        </p:sp>
      </p:grpSp>
      <p:grpSp>
        <p:nvGrpSpPr>
          <p:cNvPr id="224" name="Group 223"/>
          <p:cNvGrpSpPr/>
          <p:nvPr/>
        </p:nvGrpSpPr>
        <p:grpSpPr>
          <a:xfrm>
            <a:off x="1749360" y="1290320"/>
            <a:ext cx="601113" cy="561367"/>
            <a:chOff x="3299081" y="2198810"/>
            <a:chExt cx="1026591" cy="958712"/>
          </a:xfrm>
        </p:grpSpPr>
        <p:grpSp>
          <p:nvGrpSpPr>
            <p:cNvPr id="225" name="Group 224"/>
            <p:cNvGrpSpPr/>
            <p:nvPr/>
          </p:nvGrpSpPr>
          <p:grpSpPr>
            <a:xfrm>
              <a:off x="3299081" y="2213447"/>
              <a:ext cx="999609" cy="944075"/>
              <a:chOff x="2226911" y="1490958"/>
              <a:chExt cx="999609" cy="944075"/>
            </a:xfrm>
          </p:grpSpPr>
          <p:sp>
            <p:nvSpPr>
              <p:cNvPr id="227" name="Oval 226">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28" name="Oval 227">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29" name="Oval 228">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30" name="Oval 229">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31" name="Oval 230">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3B8149"/>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32" name="Straight Arrow Connector 231">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5" name="Straight Arrow Connector 234">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8" name="Straight Arrow Connector 237">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Straight Arrow Connector 238">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Straight Arrow Connector 240">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B050"/>
              </a:solidFill>
              <a:ln w="38100">
                <a:solidFill>
                  <a:srgbClr val="3B8149"/>
                </a:solidFill>
                <a:tailEnd type="triangle"/>
              </a:ln>
            </p:spPr>
            <p:style>
              <a:lnRef idx="1">
                <a:schemeClr val="accent1"/>
              </a:lnRef>
              <a:fillRef idx="0">
                <a:schemeClr val="accent1"/>
              </a:fillRef>
              <a:effectRef idx="0">
                <a:schemeClr val="accent1"/>
              </a:effectRef>
              <a:fontRef idx="minor">
                <a:schemeClr val="tx1"/>
              </a:fontRef>
            </p:style>
          </p:cxnSp>
        </p:grpSp>
        <p:sp>
          <p:nvSpPr>
            <p:cNvPr id="226" name="Rectangle 225"/>
            <p:cNvSpPr/>
            <p:nvPr/>
          </p:nvSpPr>
          <p:spPr>
            <a:xfrm>
              <a:off x="3299081" y="2198810"/>
              <a:ext cx="1026591" cy="958712"/>
            </a:xfrm>
            <a:prstGeom prst="rect">
              <a:avLst/>
            </a:prstGeom>
            <a:noFill/>
            <a:ln>
              <a:solidFill>
                <a:srgbClr val="3B81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42" name="Group 241">
            <a:extLst>
              <a:ext uri="{FF2B5EF4-FFF2-40B4-BE49-F238E27FC236}">
                <a16:creationId xmlns:a16="http://schemas.microsoft.com/office/drawing/2014/main" xmlns="" id="{E570505F-34DD-F346-9BB3-A4B6C9EDE8EB}"/>
              </a:ext>
            </a:extLst>
          </p:cNvPr>
          <p:cNvGrpSpPr/>
          <p:nvPr/>
        </p:nvGrpSpPr>
        <p:grpSpPr>
          <a:xfrm>
            <a:off x="783759" y="1256572"/>
            <a:ext cx="971468" cy="747698"/>
            <a:chOff x="2731717" y="1331106"/>
            <a:chExt cx="1659088" cy="1276930"/>
          </a:xfrm>
        </p:grpSpPr>
        <p:sp>
          <p:nvSpPr>
            <p:cNvPr id="243" name="TextBox 242"/>
            <p:cNvSpPr txBox="1"/>
            <p:nvPr/>
          </p:nvSpPr>
          <p:spPr>
            <a:xfrm>
              <a:off x="2731717" y="1331106"/>
              <a:ext cx="1623963" cy="394218"/>
            </a:xfrm>
            <a:prstGeom prst="rect">
              <a:avLst/>
            </a:prstGeom>
            <a:noFill/>
          </p:spPr>
          <p:txBody>
            <a:bodyPr wrap="none" rtlCol="0">
              <a:spAutoFit/>
            </a:bodyPr>
            <a:lstStyle/>
            <a:p>
              <a:pPr eaLnBrk="0" fontAlgn="base" hangingPunct="0">
                <a:spcBef>
                  <a:spcPct val="0"/>
                </a:spcBef>
                <a:spcAft>
                  <a:spcPct val="0"/>
                </a:spcAft>
              </a:pPr>
              <a:r>
                <a:rPr lang="en-US" sz="900" dirty="0">
                  <a:solidFill>
                    <a:srgbClr val="002060"/>
                  </a:solidFill>
                  <a:latin typeface="Century Gothic" panose="020B0502020202020204" pitchFamily="34" charset="0"/>
                </a:rPr>
                <a:t>(a) Complete</a:t>
              </a:r>
            </a:p>
          </p:txBody>
        </p:sp>
        <p:sp>
          <p:nvSpPr>
            <p:cNvPr id="244" name="Bent-Up Arrow 243"/>
            <p:cNvSpPr/>
            <p:nvPr/>
          </p:nvSpPr>
          <p:spPr>
            <a:xfrm rot="10800000">
              <a:off x="2786912"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45" name="TextBox 244"/>
            <p:cNvSpPr txBox="1"/>
            <p:nvPr/>
          </p:nvSpPr>
          <p:spPr>
            <a:xfrm>
              <a:off x="3005307" y="1670719"/>
              <a:ext cx="1385498" cy="341657"/>
            </a:xfrm>
            <a:prstGeom prst="rect">
              <a:avLst/>
            </a:prstGeom>
            <a:noFill/>
          </p:spPr>
          <p:txBody>
            <a:bodyPr wrap="square" rtlCol="0">
              <a:spAutoFit/>
            </a:bodyPr>
            <a:lstStyle/>
            <a:p>
              <a:pPr eaLnBrk="0" fontAlgn="base" hangingPunct="0">
                <a:spcBef>
                  <a:spcPct val="0"/>
                </a:spcBef>
                <a:spcAft>
                  <a:spcPct val="0"/>
                </a:spcAft>
              </a:pPr>
              <a:r>
                <a:rPr lang="en-US" sz="700" dirty="0">
                  <a:solidFill>
                    <a:srgbClr val="002060"/>
                  </a:solidFill>
                  <a:latin typeface="Century Gothic" panose="020B0502020202020204" pitchFamily="34" charset="0"/>
                </a:rPr>
                <a:t>same budget</a:t>
              </a:r>
            </a:p>
          </p:txBody>
        </p:sp>
      </p:grpSp>
      <p:grpSp>
        <p:nvGrpSpPr>
          <p:cNvPr id="246" name="Group 245">
            <a:extLst>
              <a:ext uri="{FF2B5EF4-FFF2-40B4-BE49-F238E27FC236}">
                <a16:creationId xmlns:a16="http://schemas.microsoft.com/office/drawing/2014/main" xmlns="" id="{13DB67B1-F441-AC43-A2A0-62B86C9E84BD}"/>
              </a:ext>
            </a:extLst>
          </p:cNvPr>
          <p:cNvGrpSpPr/>
          <p:nvPr/>
        </p:nvGrpSpPr>
        <p:grpSpPr>
          <a:xfrm>
            <a:off x="2350474" y="1251716"/>
            <a:ext cx="933094" cy="752554"/>
            <a:chOff x="5407377" y="1322812"/>
            <a:chExt cx="1593552" cy="1285224"/>
          </a:xfrm>
        </p:grpSpPr>
        <p:sp>
          <p:nvSpPr>
            <p:cNvPr id="247" name="TextBox 246"/>
            <p:cNvSpPr txBox="1"/>
            <p:nvPr/>
          </p:nvSpPr>
          <p:spPr>
            <a:xfrm>
              <a:off x="5565123" y="1322812"/>
              <a:ext cx="1240695" cy="394219"/>
            </a:xfrm>
            <a:prstGeom prst="rect">
              <a:avLst/>
            </a:prstGeom>
            <a:noFill/>
          </p:spPr>
          <p:txBody>
            <a:bodyPr wrap="none" rtlCol="0">
              <a:spAutoFit/>
            </a:bodyPr>
            <a:lstStyle/>
            <a:p>
              <a:pPr eaLnBrk="0" fontAlgn="base" hangingPunct="0">
                <a:spcBef>
                  <a:spcPct val="0"/>
                </a:spcBef>
                <a:spcAft>
                  <a:spcPct val="0"/>
                </a:spcAft>
              </a:pPr>
              <a:r>
                <a:rPr lang="en-US" sz="900" dirty="0">
                  <a:solidFill>
                    <a:srgbClr val="C0706A"/>
                  </a:solidFill>
                  <a:latin typeface="Century Gothic" panose="020B0502020202020204" pitchFamily="34" charset="0"/>
                </a:rPr>
                <a:t>(b) Partial</a:t>
              </a:r>
            </a:p>
          </p:txBody>
        </p:sp>
        <p:sp>
          <p:nvSpPr>
            <p:cNvPr id="248" name="TextBox 247"/>
            <p:cNvSpPr txBox="1"/>
            <p:nvPr/>
          </p:nvSpPr>
          <p:spPr>
            <a:xfrm>
              <a:off x="5508640" y="1659698"/>
              <a:ext cx="1492289" cy="341657"/>
            </a:xfrm>
            <a:prstGeom prst="rect">
              <a:avLst/>
            </a:prstGeom>
            <a:noFill/>
          </p:spPr>
          <p:txBody>
            <a:bodyPr wrap="square" rtlCol="0">
              <a:spAutoFit/>
            </a:bodyPr>
            <a:lstStyle/>
            <a:p>
              <a:pPr eaLnBrk="0" fontAlgn="base" hangingPunct="0">
                <a:spcBef>
                  <a:spcPct val="0"/>
                </a:spcBef>
                <a:spcAft>
                  <a:spcPct val="0"/>
                </a:spcAft>
              </a:pPr>
              <a:r>
                <a:rPr lang="en-US" sz="700" dirty="0">
                  <a:solidFill>
                    <a:srgbClr val="002060"/>
                  </a:solidFill>
                  <a:latin typeface="Century Gothic" panose="020B0502020202020204" pitchFamily="34" charset="0"/>
                </a:rPr>
                <a:t>same budget</a:t>
              </a:r>
            </a:p>
          </p:txBody>
        </p:sp>
        <p:sp>
          <p:nvSpPr>
            <p:cNvPr id="249" name="Bent-Up Arrow 248"/>
            <p:cNvSpPr/>
            <p:nvPr/>
          </p:nvSpPr>
          <p:spPr>
            <a:xfrm rot="10800000" flipH="1">
              <a:off x="5407377" y="1697399"/>
              <a:ext cx="1593552" cy="910637"/>
            </a:xfrm>
            <a:prstGeom prst="bentUpArrow">
              <a:avLst>
                <a:gd name="adj1" fmla="val 25060"/>
                <a:gd name="adj2" fmla="val 33353"/>
                <a:gd name="adj3" fmla="val 3175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sp>
        <p:nvSpPr>
          <p:cNvPr id="250" name="Rounded Rectangle 249"/>
          <p:cNvSpPr/>
          <p:nvPr/>
        </p:nvSpPr>
        <p:spPr>
          <a:xfrm>
            <a:off x="478154" y="930475"/>
            <a:ext cx="3126593" cy="2224465"/>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1" name="TextBox 250"/>
          <p:cNvSpPr txBox="1"/>
          <p:nvPr/>
        </p:nvSpPr>
        <p:spPr>
          <a:xfrm>
            <a:off x="633246" y="995614"/>
            <a:ext cx="981359" cy="2308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sz="900" dirty="0">
                <a:solidFill>
                  <a:srgbClr val="FFFFFF"/>
                </a:solidFill>
                <a:latin typeface="Century Gothic" panose="020B0502020202020204" pitchFamily="34" charset="0"/>
              </a:rPr>
              <a:t>Training Phase</a:t>
            </a:r>
          </a:p>
        </p:txBody>
      </p:sp>
      <p:grpSp>
        <p:nvGrpSpPr>
          <p:cNvPr id="252" name="Group 251"/>
          <p:cNvGrpSpPr/>
          <p:nvPr/>
        </p:nvGrpSpPr>
        <p:grpSpPr>
          <a:xfrm>
            <a:off x="1749360" y="3238928"/>
            <a:ext cx="601113" cy="769057"/>
            <a:chOff x="4778719" y="4360811"/>
            <a:chExt cx="1026591" cy="1313408"/>
          </a:xfrm>
          <a:solidFill>
            <a:schemeClr val="bg2"/>
          </a:solidFill>
        </p:grpSpPr>
        <p:sp>
          <p:nvSpPr>
            <p:cNvPr id="253" name="Oval 252">
              <a:extLst>
                <a:ext uri="{FF2B5EF4-FFF2-40B4-BE49-F238E27FC236}">
                  <a16:creationId xmlns:a16="http://schemas.microsoft.com/office/drawing/2014/main" xmlns="" id="{02A9185F-17CD-430F-B765-DD03EB939117}"/>
                </a:ext>
              </a:extLst>
            </p:cNvPr>
            <p:cNvSpPr/>
            <p:nvPr/>
          </p:nvSpPr>
          <p:spPr>
            <a:xfrm>
              <a:off x="5185967" y="473014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4" name="Oval 253">
              <a:extLst>
                <a:ext uri="{FF2B5EF4-FFF2-40B4-BE49-F238E27FC236}">
                  <a16:creationId xmlns:a16="http://schemas.microsoft.com/office/drawing/2014/main" xmlns="" id="{67183840-CA5E-41AC-8BA4-676FBC67C282}"/>
                </a:ext>
              </a:extLst>
            </p:cNvPr>
            <p:cNvSpPr/>
            <p:nvPr/>
          </p:nvSpPr>
          <p:spPr>
            <a:xfrm>
              <a:off x="4778719"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5" name="Oval 254">
              <a:extLst>
                <a:ext uri="{FF2B5EF4-FFF2-40B4-BE49-F238E27FC236}">
                  <a16:creationId xmlns:a16="http://schemas.microsoft.com/office/drawing/2014/main" xmlns="" id="{A207EA9E-2A7E-4CA2-B13A-7956BC73097B}"/>
                </a:ext>
              </a:extLst>
            </p:cNvPr>
            <p:cNvSpPr/>
            <p:nvPr/>
          </p:nvSpPr>
          <p:spPr>
            <a:xfrm>
              <a:off x="5593215" y="5026324"/>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6" name="Oval 255">
              <a:extLst>
                <a:ext uri="{FF2B5EF4-FFF2-40B4-BE49-F238E27FC236}">
                  <a16:creationId xmlns:a16="http://schemas.microsoft.com/office/drawing/2014/main" xmlns="" id="{A68926DB-EC77-4FAF-8387-81160673330E}"/>
                </a:ext>
              </a:extLst>
            </p:cNvPr>
            <p:cNvSpPr/>
            <p:nvPr/>
          </p:nvSpPr>
          <p:spPr>
            <a:xfrm>
              <a:off x="496383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57" name="Oval 256">
              <a:extLst>
                <a:ext uri="{FF2B5EF4-FFF2-40B4-BE49-F238E27FC236}">
                  <a16:creationId xmlns:a16="http://schemas.microsoft.com/office/drawing/2014/main" xmlns="" id="{21DDF9FD-DCA9-4F7E-9E84-90C4E26D8618}"/>
                </a:ext>
              </a:extLst>
            </p:cNvPr>
            <p:cNvSpPr/>
            <p:nvPr/>
          </p:nvSpPr>
          <p:spPr>
            <a:xfrm>
              <a:off x="5408102" y="5489106"/>
              <a:ext cx="185113" cy="185113"/>
            </a:xfrm>
            <a:prstGeom prst="ellipse">
              <a:avLst/>
            </a:prstGeom>
            <a:grp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58" name="Straight Arrow Connector 257">
              <a:extLst>
                <a:ext uri="{FF2B5EF4-FFF2-40B4-BE49-F238E27FC236}">
                  <a16:creationId xmlns:a16="http://schemas.microsoft.com/office/drawing/2014/main" xmlns="" id="{45A1FA9B-4B89-4B97-94B0-7BC340E2F4F0}"/>
                </a:ext>
              </a:extLst>
            </p:cNvPr>
            <p:cNvCxnSpPr/>
            <p:nvPr/>
          </p:nvCxnSpPr>
          <p:spPr>
            <a:xfrm>
              <a:off x="5343970"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xmlns="" id="{23ED6BEC-FDE7-441B-87F8-87C0EBBA45B7}"/>
                </a:ext>
              </a:extLst>
            </p:cNvPr>
            <p:cNvCxnSpPr/>
            <p:nvPr/>
          </p:nvCxnSpPr>
          <p:spPr>
            <a:xfrm flipH="1">
              <a:off x="4936723" y="4888148"/>
              <a:ext cx="276353" cy="165286"/>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xmlns="" id="{F8A4093E-82E2-4F9D-BFCA-FAD5164F088C}"/>
                </a:ext>
              </a:extLst>
            </p:cNvPr>
            <p:cNvCxnSpPr/>
            <p:nvPr/>
          </p:nvCxnSpPr>
          <p:spPr>
            <a:xfrm flipH="1">
              <a:off x="5056388"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Straight Arrow Connector 260">
              <a:extLst>
                <a:ext uri="{FF2B5EF4-FFF2-40B4-BE49-F238E27FC236}">
                  <a16:creationId xmlns:a16="http://schemas.microsoft.com/office/drawing/2014/main" xmlns="" id="{D80A2A72-AC93-4999-B7B0-0EAE4909DB6A}"/>
                </a:ext>
              </a:extLst>
            </p:cNvPr>
            <p:cNvCxnSpPr/>
            <p:nvPr/>
          </p:nvCxnSpPr>
          <p:spPr>
            <a:xfrm>
              <a:off x="5278523" y="4915257"/>
              <a:ext cx="222135" cy="57385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Straight Arrow Connector 261">
              <a:extLst>
                <a:ext uri="{FF2B5EF4-FFF2-40B4-BE49-F238E27FC236}">
                  <a16:creationId xmlns:a16="http://schemas.microsoft.com/office/drawing/2014/main" xmlns="" id="{95257391-6E72-499A-94F0-49CEE4E82BF3}"/>
                </a:ext>
              </a:extLst>
            </p:cNvPr>
            <p:cNvCxnSpPr/>
            <p:nvPr/>
          </p:nvCxnSpPr>
          <p:spPr>
            <a:xfrm>
              <a:off x="487127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Straight Arrow Connector 262">
              <a:extLst>
                <a:ext uri="{FF2B5EF4-FFF2-40B4-BE49-F238E27FC236}">
                  <a16:creationId xmlns:a16="http://schemas.microsoft.com/office/drawing/2014/main" xmlns="" id="{A98374CB-906D-4DEC-8A6D-CD13264682A5}"/>
                </a:ext>
              </a:extLst>
            </p:cNvPr>
            <p:cNvCxnSpPr/>
            <p:nvPr/>
          </p:nvCxnSpPr>
          <p:spPr>
            <a:xfrm flipH="1">
              <a:off x="5566105" y="5211437"/>
              <a:ext cx="119665" cy="304778"/>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xmlns="" id="{100E0B43-702D-473C-A222-4F2C370067D6}"/>
                </a:ext>
              </a:extLst>
            </p:cNvPr>
            <p:cNvCxnSpPr/>
            <p:nvPr/>
          </p:nvCxnSpPr>
          <p:spPr>
            <a:xfrm>
              <a:off x="4963832" y="5118881"/>
              <a:ext cx="629383"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Straight Arrow Connector 264">
              <a:extLst>
                <a:ext uri="{FF2B5EF4-FFF2-40B4-BE49-F238E27FC236}">
                  <a16:creationId xmlns:a16="http://schemas.microsoft.com/office/drawing/2014/main" xmlns="" id="{CA074040-3AAD-4D3B-8CA7-AA0F6FD9E0B4}"/>
                </a:ext>
              </a:extLst>
            </p:cNvPr>
            <p:cNvCxnSpPr/>
            <p:nvPr/>
          </p:nvCxnSpPr>
          <p:spPr>
            <a:xfrm>
              <a:off x="4963832" y="5118881"/>
              <a:ext cx="471379" cy="397335"/>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Straight Arrow Connector 265">
              <a:extLst>
                <a:ext uri="{FF2B5EF4-FFF2-40B4-BE49-F238E27FC236}">
                  <a16:creationId xmlns:a16="http://schemas.microsoft.com/office/drawing/2014/main" xmlns="" id="{5928CDD7-B129-4938-B5C2-75A1DA7C7B1D}"/>
                </a:ext>
              </a:extLst>
            </p:cNvPr>
            <p:cNvCxnSpPr/>
            <p:nvPr/>
          </p:nvCxnSpPr>
          <p:spPr>
            <a:xfrm flipH="1">
              <a:off x="5121835" y="5184328"/>
              <a:ext cx="498488" cy="331887"/>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xmlns="" id="{7DD5F5F7-BB90-45CB-A8F2-2C3F8E72DC27}"/>
                </a:ext>
              </a:extLst>
            </p:cNvPr>
            <p:cNvCxnSpPr/>
            <p:nvPr/>
          </p:nvCxnSpPr>
          <p:spPr>
            <a:xfrm>
              <a:off x="5148944" y="5581663"/>
              <a:ext cx="259158" cy="0"/>
            </a:xfrm>
            <a:prstGeom prst="straightConnector1">
              <a:avLst/>
            </a:prstGeom>
            <a:grpFill/>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68" name="Rectangle 267"/>
            <p:cNvSpPr/>
            <p:nvPr/>
          </p:nvSpPr>
          <p:spPr>
            <a:xfrm>
              <a:off x="4778719" y="4715507"/>
              <a:ext cx="1026591" cy="958712"/>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269" name="TextBox 268"/>
                <p:cNvSpPr txBox="1"/>
                <p:nvPr/>
              </p:nvSpPr>
              <p:spPr>
                <a:xfrm>
                  <a:off x="4992961" y="4360811"/>
                  <a:ext cx="742557" cy="394219"/>
                </a:xfrm>
                <a:prstGeom prst="rect">
                  <a:avLst/>
                </a:prstGeom>
                <a:noFill/>
                <a:ln>
                  <a:noFill/>
                </a:ln>
              </p:spPr>
              <p:txBody>
                <a:bodyPr wrap="none" rtlCol="0">
                  <a:spAutoFit/>
                </a:bodyPr>
                <a:lstStyle/>
                <a:p>
                  <a:pPr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sSub>
                          <m:sSubPr>
                            <m:ctrlPr>
                              <a:rPr lang="en-US" sz="900" i="1" smtClean="0">
                                <a:solidFill>
                                  <a:srgbClr val="000000"/>
                                </a:solidFill>
                                <a:latin typeface="Cambria Math" charset="0"/>
                              </a:rPr>
                            </m:ctrlPr>
                          </m:sSubPr>
                          <m:e>
                            <m:r>
                              <a:rPr lang="en-US" sz="900" i="1" smtClean="0">
                                <a:solidFill>
                                  <a:srgbClr val="000000"/>
                                </a:solidFill>
                                <a:latin typeface="Cambria Math" charset="0"/>
                              </a:rPr>
                              <m:t>𝒯</m:t>
                            </m:r>
                          </m:e>
                          <m:sub>
                            <m:r>
                              <a:rPr lang="en-US" sz="900" i="1" smtClean="0">
                                <a:solidFill>
                                  <a:srgbClr val="000000"/>
                                </a:solidFill>
                                <a:latin typeface="Cambria Math" charset="0"/>
                              </a:rPr>
                              <m:t>𝑡𝑒𝑠𝑡</m:t>
                            </m:r>
                          </m:sub>
                        </m:sSub>
                      </m:oMath>
                    </m:oMathPara>
                  </a14:m>
                  <a:endParaRPr lang="en-US" sz="900" dirty="0">
                    <a:solidFill>
                      <a:srgbClr val="000000"/>
                    </a:solidFill>
                    <a:latin typeface="Century Gothic" panose="020B0502020202020204" pitchFamily="34" charset="0"/>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4992961" y="4360811"/>
                  <a:ext cx="680123" cy="369332"/>
                </a:xfrm>
                <a:prstGeom prst="rect">
                  <a:avLst/>
                </a:prstGeom>
                <a:blipFill rotWithShape="0">
                  <a:blip r:embed="rId7"/>
                  <a:stretch>
                    <a:fillRect/>
                  </a:stretch>
                </a:blipFill>
                <a:ln>
                  <a:noFill/>
                </a:ln>
              </p:spPr>
              <p:txBody>
                <a:bodyPr/>
                <a:lstStyle/>
                <a:p>
                  <a:r>
                    <a:rPr lang="en-US">
                      <a:noFill/>
                    </a:rPr>
                    <a:t> </a:t>
                  </a:r>
                </a:p>
              </p:txBody>
            </p:sp>
          </mc:Fallback>
        </mc:AlternateContent>
      </p:grpSp>
      <p:sp>
        <p:nvSpPr>
          <p:cNvPr id="270" name="Rounded Rectangle 269"/>
          <p:cNvSpPr/>
          <p:nvPr/>
        </p:nvSpPr>
        <p:spPr>
          <a:xfrm>
            <a:off x="478154" y="3263331"/>
            <a:ext cx="3126594" cy="899500"/>
          </a:xfrm>
          <a:prstGeom prst="round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1" name="TextBox 270"/>
          <p:cNvSpPr txBox="1"/>
          <p:nvPr/>
        </p:nvSpPr>
        <p:spPr>
          <a:xfrm>
            <a:off x="2622623" y="3866592"/>
            <a:ext cx="933269" cy="230832"/>
          </a:xfrm>
          <a:prstGeom prst="rect">
            <a:avLst/>
          </a:prstGeom>
          <a:solidFill>
            <a:schemeClr val="tx1">
              <a:lumMod val="65000"/>
            </a:schemeClr>
          </a:solidFill>
          <a:ln>
            <a:noFill/>
          </a:ln>
        </p:spPr>
        <p:txBody>
          <a:bodyPr wrap="none" rtlCol="0">
            <a:spAutoFit/>
          </a:bodyPr>
          <a:lstStyle/>
          <a:p>
            <a:pPr eaLnBrk="0" fontAlgn="base" hangingPunct="0">
              <a:spcBef>
                <a:spcPct val="0"/>
              </a:spcBef>
              <a:spcAft>
                <a:spcPct val="0"/>
              </a:spcAft>
            </a:pPr>
            <a:r>
              <a:rPr lang="en-US" sz="900" dirty="0">
                <a:solidFill>
                  <a:srgbClr val="FFFFFF"/>
                </a:solidFill>
                <a:latin typeface="Century Gothic" panose="020B0502020202020204" pitchFamily="34" charset="0"/>
              </a:rPr>
              <a:t>Testing Phase</a:t>
            </a:r>
          </a:p>
        </p:txBody>
      </p:sp>
      <p:grpSp>
        <p:nvGrpSpPr>
          <p:cNvPr id="272" name="Group 271">
            <a:extLst>
              <a:ext uri="{FF2B5EF4-FFF2-40B4-BE49-F238E27FC236}">
                <a16:creationId xmlns:a16="http://schemas.microsoft.com/office/drawing/2014/main" xmlns="" id="{234A66C0-CCEC-2746-9E7C-B17EA18B3140}"/>
              </a:ext>
            </a:extLst>
          </p:cNvPr>
          <p:cNvGrpSpPr/>
          <p:nvPr/>
        </p:nvGrpSpPr>
        <p:grpSpPr>
          <a:xfrm>
            <a:off x="1210509" y="2886546"/>
            <a:ext cx="1680270" cy="939173"/>
            <a:chOff x="3460527" y="4114801"/>
            <a:chExt cx="2869591" cy="1603934"/>
          </a:xfrm>
        </p:grpSpPr>
        <p:sp>
          <p:nvSpPr>
            <p:cNvPr id="273" name="Bent-Up Arrow 272"/>
            <p:cNvSpPr/>
            <p:nvPr/>
          </p:nvSpPr>
          <p:spPr>
            <a:xfrm rot="16200000" flipH="1" flipV="1">
              <a:off x="311652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4" name="Bent-Up Arrow 273"/>
            <p:cNvSpPr/>
            <p:nvPr/>
          </p:nvSpPr>
          <p:spPr>
            <a:xfrm rot="5400000" flipV="1">
              <a:off x="5070191" y="4458807"/>
              <a:ext cx="1603934" cy="915921"/>
            </a:xfrm>
            <a:prstGeom prst="bentUpArrow">
              <a:avLst>
                <a:gd name="adj1" fmla="val 20041"/>
                <a:gd name="adj2" fmla="val 20982"/>
                <a:gd name="adj3" fmla="val 2527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75" name="Group 274">
            <a:extLst>
              <a:ext uri="{FF2B5EF4-FFF2-40B4-BE49-F238E27FC236}">
                <a16:creationId xmlns:a16="http://schemas.microsoft.com/office/drawing/2014/main" xmlns="" id="{83896762-4732-8C42-B6FA-D36812F47DC9}"/>
              </a:ext>
            </a:extLst>
          </p:cNvPr>
          <p:cNvGrpSpPr/>
          <p:nvPr/>
        </p:nvGrpSpPr>
        <p:grpSpPr>
          <a:xfrm>
            <a:off x="665723" y="2030148"/>
            <a:ext cx="2753789" cy="782267"/>
            <a:chOff x="2530133" y="2652231"/>
            <a:chExt cx="4702963" cy="1335968"/>
          </a:xfrm>
        </p:grpSpPr>
        <p:sp>
          <p:nvSpPr>
            <p:cNvPr id="276" name="Rectangle 275"/>
            <p:cNvSpPr/>
            <p:nvPr/>
          </p:nvSpPr>
          <p:spPr>
            <a:xfrm>
              <a:off x="4947096" y="2652231"/>
              <a:ext cx="2286000" cy="1335968"/>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77" name="Rectangle 276"/>
            <p:cNvSpPr/>
            <p:nvPr/>
          </p:nvSpPr>
          <p:spPr>
            <a:xfrm>
              <a:off x="2530133" y="2652231"/>
              <a:ext cx="2286000" cy="1335968"/>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nvGrpSpPr>
            <p:cNvPr id="278" name="Group 277"/>
            <p:cNvGrpSpPr/>
            <p:nvPr/>
          </p:nvGrpSpPr>
          <p:grpSpPr>
            <a:xfrm>
              <a:off x="2618926" y="2927844"/>
              <a:ext cx="1026591" cy="958712"/>
              <a:chOff x="3299081" y="2198810"/>
              <a:chExt cx="1026591" cy="958712"/>
            </a:xfrm>
          </p:grpSpPr>
          <p:grpSp>
            <p:nvGrpSpPr>
              <p:cNvPr id="315" name="Group 314"/>
              <p:cNvGrpSpPr/>
              <p:nvPr/>
            </p:nvGrpSpPr>
            <p:grpSpPr>
              <a:xfrm>
                <a:off x="3299081" y="2213447"/>
                <a:ext cx="999609" cy="944075"/>
                <a:chOff x="2226911" y="1490958"/>
                <a:chExt cx="999609" cy="944075"/>
              </a:xfrm>
            </p:grpSpPr>
            <p:sp>
              <p:nvSpPr>
                <p:cNvPr id="317" name="Oval 316">
                  <a:extLst>
                    <a:ext uri="{FF2B5EF4-FFF2-40B4-BE49-F238E27FC236}">
                      <a16:creationId xmlns:a16="http://schemas.microsoft.com/office/drawing/2014/main" xmlns="" id="{02A9185F-17CD-430F-B765-DD03EB939117}"/>
                    </a:ext>
                  </a:extLst>
                </p:cNvPr>
                <p:cNvSpPr/>
                <p:nvPr/>
              </p:nvSpPr>
              <p:spPr>
                <a:xfrm>
                  <a:off x="2634159"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8" name="Oval 317">
                  <a:extLst>
                    <a:ext uri="{FF2B5EF4-FFF2-40B4-BE49-F238E27FC236}">
                      <a16:creationId xmlns:a16="http://schemas.microsoft.com/office/drawing/2014/main" xmlns="" id="{67183840-CA5E-41AC-8BA4-676FBC67C282}"/>
                    </a:ext>
                  </a:extLst>
                </p:cNvPr>
                <p:cNvSpPr/>
                <p:nvPr/>
              </p:nvSpPr>
              <p:spPr>
                <a:xfrm>
                  <a:off x="2226911"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9" name="Oval 318">
                  <a:extLst>
                    <a:ext uri="{FF2B5EF4-FFF2-40B4-BE49-F238E27FC236}">
                      <a16:creationId xmlns:a16="http://schemas.microsoft.com/office/drawing/2014/main" xmlns="" id="{A207EA9E-2A7E-4CA2-B13A-7956BC73097B}"/>
                    </a:ext>
                  </a:extLst>
                </p:cNvPr>
                <p:cNvSpPr/>
                <p:nvPr/>
              </p:nvSpPr>
              <p:spPr>
                <a:xfrm>
                  <a:off x="3041407"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20" name="Oval 319">
                  <a:extLst>
                    <a:ext uri="{FF2B5EF4-FFF2-40B4-BE49-F238E27FC236}">
                      <a16:creationId xmlns:a16="http://schemas.microsoft.com/office/drawing/2014/main" xmlns="" id="{A68926DB-EC77-4FAF-8387-81160673330E}"/>
                    </a:ext>
                  </a:extLst>
                </p:cNvPr>
                <p:cNvSpPr/>
                <p:nvPr/>
              </p:nvSpPr>
              <p:spPr>
                <a:xfrm>
                  <a:off x="241202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21" name="Oval 320">
                  <a:extLst>
                    <a:ext uri="{FF2B5EF4-FFF2-40B4-BE49-F238E27FC236}">
                      <a16:creationId xmlns:a16="http://schemas.microsoft.com/office/drawing/2014/main" xmlns="" id="{21DDF9FD-DCA9-4F7E-9E84-90C4E26D8618}"/>
                    </a:ext>
                  </a:extLst>
                </p:cNvPr>
                <p:cNvSpPr/>
                <p:nvPr/>
              </p:nvSpPr>
              <p:spPr>
                <a:xfrm>
                  <a:off x="285629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322" name="Straight Arrow Connector 321">
                  <a:extLst>
                    <a:ext uri="{FF2B5EF4-FFF2-40B4-BE49-F238E27FC236}">
                      <a16:creationId xmlns:a16="http://schemas.microsoft.com/office/drawing/2014/main" xmlns="" id="{45A1FA9B-4B89-4B97-94B0-7BC340E2F4F0}"/>
                    </a:ext>
                  </a:extLst>
                </p:cNvPr>
                <p:cNvCxnSpPr/>
                <p:nvPr/>
              </p:nvCxnSpPr>
              <p:spPr>
                <a:xfrm>
                  <a:off x="2792162"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xmlns="" id="{23ED6BEC-FDE7-441B-87F8-87C0EBBA45B7}"/>
                    </a:ext>
                  </a:extLst>
                </p:cNvPr>
                <p:cNvCxnSpPr/>
                <p:nvPr/>
              </p:nvCxnSpPr>
              <p:spPr>
                <a:xfrm flipH="1">
                  <a:off x="2384915"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a:extLst>
                    <a:ext uri="{FF2B5EF4-FFF2-40B4-BE49-F238E27FC236}">
                      <a16:creationId xmlns:a16="http://schemas.microsoft.com/office/drawing/2014/main" xmlns="" id="{F8A4093E-82E2-4F9D-BFCA-FAD5164F088C}"/>
                    </a:ext>
                  </a:extLst>
                </p:cNvPr>
                <p:cNvCxnSpPr/>
                <p:nvPr/>
              </p:nvCxnSpPr>
              <p:spPr>
                <a:xfrm flipH="1">
                  <a:off x="2504580"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xmlns="" id="{D80A2A72-AC93-4999-B7B0-0EAE4909DB6A}"/>
                    </a:ext>
                  </a:extLst>
                </p:cNvPr>
                <p:cNvCxnSpPr/>
                <p:nvPr/>
              </p:nvCxnSpPr>
              <p:spPr>
                <a:xfrm>
                  <a:off x="2726715"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xmlns="" id="{95257391-6E72-499A-94F0-49CEE4E82BF3}"/>
                    </a:ext>
                  </a:extLst>
                </p:cNvPr>
                <p:cNvCxnSpPr/>
                <p:nvPr/>
              </p:nvCxnSpPr>
              <p:spPr>
                <a:xfrm>
                  <a:off x="231946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xmlns="" id="{A98374CB-906D-4DEC-8A6D-CD13264682A5}"/>
                    </a:ext>
                  </a:extLst>
                </p:cNvPr>
                <p:cNvCxnSpPr/>
                <p:nvPr/>
              </p:nvCxnSpPr>
              <p:spPr>
                <a:xfrm flipH="1">
                  <a:off x="301429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xmlns="" id="{100E0B43-702D-473C-A222-4F2C370067D6}"/>
                    </a:ext>
                  </a:extLst>
                </p:cNvPr>
                <p:cNvCxnSpPr/>
                <p:nvPr/>
              </p:nvCxnSpPr>
              <p:spPr>
                <a:xfrm>
                  <a:off x="2412024" y="1879695"/>
                  <a:ext cx="629383"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xmlns="" id="{CA074040-3AAD-4D3B-8CA7-AA0F6FD9E0B4}"/>
                    </a:ext>
                  </a:extLst>
                </p:cNvPr>
                <p:cNvCxnSpPr/>
                <p:nvPr/>
              </p:nvCxnSpPr>
              <p:spPr>
                <a:xfrm>
                  <a:off x="2412024" y="1879695"/>
                  <a:ext cx="471379" cy="397335"/>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xmlns="" id="{5928CDD7-B129-4938-B5C2-75A1DA7C7B1D}"/>
                    </a:ext>
                  </a:extLst>
                </p:cNvPr>
                <p:cNvCxnSpPr/>
                <p:nvPr/>
              </p:nvCxnSpPr>
              <p:spPr>
                <a:xfrm flipH="1">
                  <a:off x="2570027" y="1945142"/>
                  <a:ext cx="498488" cy="331887"/>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xmlns="" id="{7DD5F5F7-BB90-45CB-A8F2-2C3F8E72DC27}"/>
                    </a:ext>
                  </a:extLst>
                </p:cNvPr>
                <p:cNvCxnSpPr/>
                <p:nvPr/>
              </p:nvCxnSpPr>
              <p:spPr>
                <a:xfrm>
                  <a:off x="2597136" y="2342477"/>
                  <a:ext cx="259158"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grpSp>
          <p:sp>
            <p:nvSpPr>
              <p:cNvPr id="316" name="Rectangle 315"/>
              <p:cNvSpPr/>
              <p:nvPr/>
            </p:nvSpPr>
            <p:spPr>
              <a:xfrm>
                <a:off x="3299081" y="2198810"/>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79" name="Group 278"/>
            <p:cNvGrpSpPr/>
            <p:nvPr/>
          </p:nvGrpSpPr>
          <p:grpSpPr>
            <a:xfrm>
              <a:off x="3713734" y="2927844"/>
              <a:ext cx="1026591" cy="958712"/>
              <a:chOff x="4619667" y="3734099"/>
              <a:chExt cx="1026591" cy="958712"/>
            </a:xfrm>
          </p:grpSpPr>
          <p:grpSp>
            <p:nvGrpSpPr>
              <p:cNvPr id="308" name="Group 307"/>
              <p:cNvGrpSpPr/>
              <p:nvPr/>
            </p:nvGrpSpPr>
            <p:grpSpPr>
              <a:xfrm>
                <a:off x="4626938" y="3748736"/>
                <a:ext cx="999609" cy="944075"/>
                <a:chOff x="3498049" y="1490958"/>
                <a:chExt cx="999609" cy="944075"/>
              </a:xfrm>
            </p:grpSpPr>
            <p:sp>
              <p:nvSpPr>
                <p:cNvPr id="310" name="Oval 309">
                  <a:extLst>
                    <a:ext uri="{FF2B5EF4-FFF2-40B4-BE49-F238E27FC236}">
                      <a16:creationId xmlns:a16="http://schemas.microsoft.com/office/drawing/2014/main" xmlns="" id="{02A9185F-17CD-430F-B765-DD03EB939117}"/>
                    </a:ext>
                  </a:extLst>
                </p:cNvPr>
                <p:cNvSpPr/>
                <p:nvPr/>
              </p:nvSpPr>
              <p:spPr>
                <a:xfrm>
                  <a:off x="3905297"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1" name="Oval 310">
                  <a:extLst>
                    <a:ext uri="{FF2B5EF4-FFF2-40B4-BE49-F238E27FC236}">
                      <a16:creationId xmlns:a16="http://schemas.microsoft.com/office/drawing/2014/main" xmlns="" id="{67183840-CA5E-41AC-8BA4-676FBC67C282}"/>
                    </a:ext>
                  </a:extLst>
                </p:cNvPr>
                <p:cNvSpPr/>
                <p:nvPr/>
              </p:nvSpPr>
              <p:spPr>
                <a:xfrm>
                  <a:off x="3498049"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2" name="Oval 311">
                  <a:extLst>
                    <a:ext uri="{FF2B5EF4-FFF2-40B4-BE49-F238E27FC236}">
                      <a16:creationId xmlns:a16="http://schemas.microsoft.com/office/drawing/2014/main" xmlns="" id="{A207EA9E-2A7E-4CA2-B13A-7956BC73097B}"/>
                    </a:ext>
                  </a:extLst>
                </p:cNvPr>
                <p:cNvSpPr/>
                <p:nvPr/>
              </p:nvSpPr>
              <p:spPr>
                <a:xfrm>
                  <a:off x="4312545"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3" name="Oval 312">
                  <a:extLst>
                    <a:ext uri="{FF2B5EF4-FFF2-40B4-BE49-F238E27FC236}">
                      <a16:creationId xmlns:a16="http://schemas.microsoft.com/office/drawing/2014/main" xmlns="" id="{A68926DB-EC77-4FAF-8387-81160673330E}"/>
                    </a:ext>
                  </a:extLst>
                </p:cNvPr>
                <p:cNvSpPr/>
                <p:nvPr/>
              </p:nvSpPr>
              <p:spPr>
                <a:xfrm>
                  <a:off x="368316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14" name="Oval 313">
                  <a:extLst>
                    <a:ext uri="{FF2B5EF4-FFF2-40B4-BE49-F238E27FC236}">
                      <a16:creationId xmlns:a16="http://schemas.microsoft.com/office/drawing/2014/main" xmlns="" id="{21DDF9FD-DCA9-4F7E-9E84-90C4E26D8618}"/>
                    </a:ext>
                  </a:extLst>
                </p:cNvPr>
                <p:cNvSpPr/>
                <p:nvPr/>
              </p:nvSpPr>
              <p:spPr>
                <a:xfrm>
                  <a:off x="412743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sp>
            <p:nvSpPr>
              <p:cNvPr id="309" name="Rectangle 308"/>
              <p:cNvSpPr/>
              <p:nvPr/>
            </p:nvSpPr>
            <p:spPr>
              <a:xfrm>
                <a:off x="4619667" y="3734099"/>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nvGrpSpPr>
            <p:cNvPr id="280" name="Group 279"/>
            <p:cNvGrpSpPr/>
            <p:nvPr/>
          </p:nvGrpSpPr>
          <p:grpSpPr>
            <a:xfrm>
              <a:off x="5045727" y="2927844"/>
              <a:ext cx="1026591" cy="958712"/>
              <a:chOff x="5951660" y="3474452"/>
              <a:chExt cx="1026591" cy="958712"/>
            </a:xfrm>
          </p:grpSpPr>
          <p:cxnSp>
            <p:nvCxnSpPr>
              <p:cNvPr id="295" name="Straight Arrow Connector 294">
                <a:extLst>
                  <a:ext uri="{FF2B5EF4-FFF2-40B4-BE49-F238E27FC236}">
                    <a16:creationId xmlns:a16="http://schemas.microsoft.com/office/drawing/2014/main" xmlns="" id="{6811DF0B-84E5-1342-9EFD-307D206E224B}"/>
                  </a:ext>
                </a:extLst>
              </p:cNvPr>
              <p:cNvCxnSpPr/>
              <p:nvPr/>
            </p:nvCxnSpPr>
            <p:spPr>
              <a:xfrm flipH="1">
                <a:off x="6731847" y="3980529"/>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296" name="Group 295"/>
              <p:cNvGrpSpPr/>
              <p:nvPr/>
            </p:nvGrpSpPr>
            <p:grpSpPr>
              <a:xfrm>
                <a:off x="5951660" y="3474452"/>
                <a:ext cx="1026591" cy="958712"/>
                <a:chOff x="5951660" y="3734099"/>
                <a:chExt cx="1026591" cy="958712"/>
              </a:xfrm>
            </p:grpSpPr>
            <p:grpSp>
              <p:nvGrpSpPr>
                <p:cNvPr id="297" name="Group 296">
                  <a:extLst>
                    <a:ext uri="{FF2B5EF4-FFF2-40B4-BE49-F238E27FC236}">
                      <a16:creationId xmlns:a16="http://schemas.microsoft.com/office/drawing/2014/main" xmlns="" id="{8BE54C6C-6981-4B81-9F8F-C21AE2C33F97}"/>
                    </a:ext>
                  </a:extLst>
                </p:cNvPr>
                <p:cNvGrpSpPr/>
                <p:nvPr/>
              </p:nvGrpSpPr>
              <p:grpSpPr>
                <a:xfrm>
                  <a:off x="5968863" y="3748736"/>
                  <a:ext cx="999608" cy="944075"/>
                  <a:chOff x="762000" y="4648200"/>
                  <a:chExt cx="2057400" cy="1943100"/>
                </a:xfrm>
                <a:solidFill>
                  <a:srgbClr val="FF0000"/>
                </a:solidFill>
              </p:grpSpPr>
              <p:sp>
                <p:nvSpPr>
                  <p:cNvPr id="299" name="Oval 298">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0" name="Oval 299">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1" name="Oval 300">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2" name="Oval 301">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303" name="Oval 302">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304" name="Straight Arrow Connector 303">
                    <a:extLst>
                      <a:ext uri="{FF2B5EF4-FFF2-40B4-BE49-F238E27FC236}">
                        <a16:creationId xmlns:a16="http://schemas.microsoft.com/office/drawing/2014/main" xmlns="" id="{923F6EA9-872C-444F-ADE5-4FC5C2491BDE}"/>
                      </a:ext>
                    </a:extLst>
                  </p:cNvPr>
                  <p:cNvCxnSpPr/>
                  <p:nvPr/>
                </p:nvCxnSpPr>
                <p:spPr>
                  <a:xfrm>
                    <a:off x="1925404" y="4973404"/>
                    <a:ext cx="568792" cy="340192"/>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Straight Arrow Connector 305">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xmlns="" id="{33DD37DD-6AD4-4B8A-B620-4B752A49B91A}"/>
                      </a:ext>
                    </a:extLst>
                  </p:cNvPr>
                  <p:cNvCxnSpPr/>
                  <p:nvPr/>
                </p:nvCxnSpPr>
                <p:spPr>
                  <a:xfrm>
                    <a:off x="1143000" y="5448300"/>
                    <a:ext cx="970196" cy="8177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298" name="Rectangle 297"/>
                <p:cNvSpPr/>
                <p:nvPr/>
              </p:nvSpPr>
              <p:spPr>
                <a:xfrm>
                  <a:off x="595166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grpSp>
          <p:nvGrpSpPr>
            <p:cNvPr id="281" name="Group 280"/>
            <p:cNvGrpSpPr/>
            <p:nvPr/>
          </p:nvGrpSpPr>
          <p:grpSpPr>
            <a:xfrm>
              <a:off x="6140757" y="2927844"/>
              <a:ext cx="1026591" cy="958712"/>
              <a:chOff x="7046690" y="3734099"/>
              <a:chExt cx="1026591" cy="958712"/>
            </a:xfrm>
          </p:grpSpPr>
          <p:grpSp>
            <p:nvGrpSpPr>
              <p:cNvPr id="282" name="Group 281"/>
              <p:cNvGrpSpPr/>
              <p:nvPr/>
            </p:nvGrpSpPr>
            <p:grpSpPr>
              <a:xfrm>
                <a:off x="7060183" y="3748736"/>
                <a:ext cx="999608" cy="944075"/>
                <a:chOff x="6181899" y="1490958"/>
                <a:chExt cx="999608" cy="944075"/>
              </a:xfrm>
            </p:grpSpPr>
            <p:cxnSp>
              <p:nvCxnSpPr>
                <p:cNvPr id="284" name="Straight Arrow Connector 283">
                  <a:extLst>
                    <a:ext uri="{FF2B5EF4-FFF2-40B4-BE49-F238E27FC236}">
                      <a16:creationId xmlns:a16="http://schemas.microsoft.com/office/drawing/2014/main" xmlns="" id="{3A02BEAB-59FF-9A44-8D7A-2D878506FEB7}"/>
                    </a:ext>
                  </a:extLst>
                </p:cNvPr>
                <p:cNvCxnSpPr/>
                <p:nvPr/>
              </p:nvCxnSpPr>
              <p:spPr>
                <a:xfrm flipH="1">
                  <a:off x="6949978" y="1972251"/>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285" name="Group 284">
                  <a:extLst>
                    <a:ext uri="{FF2B5EF4-FFF2-40B4-BE49-F238E27FC236}">
                      <a16:creationId xmlns:a16="http://schemas.microsoft.com/office/drawing/2014/main" xmlns="" id="{8BE54C6C-6981-4B81-9F8F-C21AE2C33F97}"/>
                    </a:ext>
                  </a:extLst>
                </p:cNvPr>
                <p:cNvGrpSpPr/>
                <p:nvPr/>
              </p:nvGrpSpPr>
              <p:grpSpPr>
                <a:xfrm>
                  <a:off x="6181899" y="1490958"/>
                  <a:ext cx="999608" cy="944075"/>
                  <a:chOff x="762000" y="4648200"/>
                  <a:chExt cx="2057400" cy="1943100"/>
                </a:xfrm>
                <a:solidFill>
                  <a:srgbClr val="FF0000"/>
                </a:solidFill>
              </p:grpSpPr>
              <p:sp>
                <p:nvSpPr>
                  <p:cNvPr id="288" name="Oval 287">
                    <a:extLst>
                      <a:ext uri="{FF2B5EF4-FFF2-40B4-BE49-F238E27FC236}">
                        <a16:creationId xmlns:a16="http://schemas.microsoft.com/office/drawing/2014/main" xmlns="" id="{D25A5BC8-2F39-483F-9C54-C5797253DF53}"/>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89" name="Oval 288">
                    <a:extLst>
                      <a:ext uri="{FF2B5EF4-FFF2-40B4-BE49-F238E27FC236}">
                        <a16:creationId xmlns:a16="http://schemas.microsoft.com/office/drawing/2014/main" xmlns="" id="{379DC205-3F09-4511-820D-415EE3B1851D}"/>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0" name="Oval 289">
                    <a:extLst>
                      <a:ext uri="{FF2B5EF4-FFF2-40B4-BE49-F238E27FC236}">
                        <a16:creationId xmlns:a16="http://schemas.microsoft.com/office/drawing/2014/main" xmlns="" id="{0038798E-5C7B-42B4-903E-17CE0F788967}"/>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1" name="Oval 290">
                    <a:extLst>
                      <a:ext uri="{FF2B5EF4-FFF2-40B4-BE49-F238E27FC236}">
                        <a16:creationId xmlns:a16="http://schemas.microsoft.com/office/drawing/2014/main" xmlns="" id="{37064CCC-35FB-4514-826D-231F95B6BA0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sp>
                <p:nvSpPr>
                  <p:cNvPr id="292" name="Oval 291">
                    <a:extLst>
                      <a:ext uri="{FF2B5EF4-FFF2-40B4-BE49-F238E27FC236}">
                        <a16:creationId xmlns:a16="http://schemas.microsoft.com/office/drawing/2014/main" xmlns="" id="{426FEC5B-EE24-491D-BBF7-D3A8216522A6}"/>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cxnSp>
                <p:nvCxnSpPr>
                  <p:cNvPr id="293" name="Straight Arrow Connector 292">
                    <a:extLst>
                      <a:ext uri="{FF2B5EF4-FFF2-40B4-BE49-F238E27FC236}">
                        <a16:creationId xmlns:a16="http://schemas.microsoft.com/office/drawing/2014/main" xmlns="" id="{C47B41FF-CE2A-4183-A6CB-7EB310CFC618}"/>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294" name="Straight Arrow Connector 293">
                    <a:extLst>
                      <a:ext uri="{FF2B5EF4-FFF2-40B4-BE49-F238E27FC236}">
                        <a16:creationId xmlns:a16="http://schemas.microsoft.com/office/drawing/2014/main" xmlns="" id="{56B4B8DF-6B8A-4E6F-94C7-4B1FA997B9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6" name="Straight Arrow Connector 285">
                  <a:extLst>
                    <a:ext uri="{FF2B5EF4-FFF2-40B4-BE49-F238E27FC236}">
                      <a16:creationId xmlns:a16="http://schemas.microsoft.com/office/drawing/2014/main" xmlns="" id="{29DE84B4-20D1-AA4C-A52E-23E1CC711439}"/>
                    </a:ext>
                  </a:extLst>
                </p:cNvPr>
                <p:cNvCxnSpPr>
                  <a:cxnSpLocks/>
                </p:cNvCxnSpPr>
                <p:nvPr/>
              </p:nvCxnSpPr>
              <p:spPr>
                <a:xfrm flipH="1">
                  <a:off x="6459569" y="1676071"/>
                  <a:ext cx="222135" cy="573849"/>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xmlns="" id="{438B59AB-FE5F-D64A-9821-D58468580957}"/>
                    </a:ext>
                  </a:extLst>
                </p:cNvPr>
                <p:cNvCxnSpPr/>
                <p:nvPr/>
              </p:nvCxnSpPr>
              <p:spPr>
                <a:xfrm>
                  <a:off x="6367012" y="1879695"/>
                  <a:ext cx="629382" cy="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283" name="Rectangle 282"/>
              <p:cNvSpPr/>
              <p:nvPr/>
            </p:nvSpPr>
            <p:spPr>
              <a:xfrm>
                <a:off x="704669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sz="900">
                  <a:solidFill>
                    <a:srgbClr val="FFFFFF"/>
                  </a:solidFill>
                  <a:latin typeface="Century Gothic" panose="020B0502020202020204" pitchFamily="34" charset="0"/>
                </a:endParaRPr>
              </a:p>
            </p:txBody>
          </p:sp>
        </p:grpSp>
      </p:grpSp>
      <p:sp>
        <p:nvSpPr>
          <p:cNvPr id="3" name="Title 2"/>
          <p:cNvSpPr>
            <a:spLocks noGrp="1"/>
          </p:cNvSpPr>
          <p:nvPr>
            <p:ph type="title"/>
          </p:nvPr>
        </p:nvSpPr>
        <p:spPr/>
        <p:txBody>
          <a:bodyPr/>
          <a:lstStyle/>
          <a:p>
            <a:r>
              <a:rPr lang="en-US" sz="2400" dirty="0">
                <a:solidFill>
                  <a:srgbClr val="000000">
                    <a:lumMod val="95000"/>
                    <a:lumOff val="5000"/>
                  </a:srgbClr>
                </a:solidFill>
              </a:rPr>
              <a:t>Partial or complete, that’s the question </a:t>
            </a:r>
            <a:r>
              <a:rPr lang="en-US" sz="1800" i="1" dirty="0">
                <a:solidFill>
                  <a:srgbClr val="000000">
                    <a:lumMod val="95000"/>
                    <a:lumOff val="5000"/>
                  </a:srgbClr>
                </a:solidFill>
              </a:rPr>
              <a:t>[NAACL’19]</a:t>
            </a:r>
            <a:endParaRPr lang="en-US" dirty="0"/>
          </a:p>
        </p:txBody>
      </p:sp>
    </p:spTree>
    <p:extLst>
      <p:ext uri="{BB962C8B-B14F-4D97-AF65-F5344CB8AC3E}">
        <p14:creationId xmlns:p14="http://schemas.microsoft.com/office/powerpoint/2010/main" val="525591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bldLvl="2"/>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 xmlns:a16="http://schemas.microsoft.com/office/drawing/2014/main" id="{13580A41-5D3F-9B4A-A3A2-1BA92D356B46}"/>
              </a:ext>
            </a:extLst>
          </p:cNvPr>
          <p:cNvGrpSpPr/>
          <p:nvPr/>
        </p:nvGrpSpPr>
        <p:grpSpPr>
          <a:xfrm>
            <a:off x="1593025" y="4787169"/>
            <a:ext cx="5261930" cy="1527525"/>
            <a:chOff x="919649" y="3667414"/>
            <a:chExt cx="9231175" cy="2679788"/>
          </a:xfrm>
        </p:grpSpPr>
        <p:grpSp>
          <p:nvGrpSpPr>
            <p:cNvPr id="18" name="Group 17">
              <a:extLst>
                <a:ext uri="{FF2B5EF4-FFF2-40B4-BE49-F238E27FC236}">
                  <a16:creationId xmlns="" xmlns:a16="http://schemas.microsoft.com/office/drawing/2014/main" id="{0B58FBB2-EDA0-4F42-BC52-C9620B44AB98}"/>
                </a:ext>
              </a:extLst>
            </p:cNvPr>
            <p:cNvGrpSpPr/>
            <p:nvPr/>
          </p:nvGrpSpPr>
          <p:grpSpPr>
            <a:xfrm>
              <a:off x="2267747" y="3667414"/>
              <a:ext cx="2589480" cy="2651976"/>
              <a:chOff x="3116678" y="3433823"/>
              <a:chExt cx="2589480" cy="2651976"/>
            </a:xfrm>
          </p:grpSpPr>
          <p:sp>
            <p:nvSpPr>
              <p:cNvPr id="22" name="Oval 21">
                <a:extLst>
                  <a:ext uri="{FF2B5EF4-FFF2-40B4-BE49-F238E27FC236}">
                    <a16:creationId xmlns="" xmlns:a16="http://schemas.microsoft.com/office/drawing/2014/main" id="{495AFAE1-18F1-EC4C-90A9-1362BE599E27}"/>
                  </a:ext>
                </a:extLst>
              </p:cNvPr>
              <p:cNvSpPr/>
              <p:nvPr/>
            </p:nvSpPr>
            <p:spPr>
              <a:xfrm>
                <a:off x="4171651" y="3433823"/>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1</a:t>
                </a:r>
              </a:p>
            </p:txBody>
          </p:sp>
          <p:sp>
            <p:nvSpPr>
              <p:cNvPr id="23" name="Oval 22">
                <a:extLst>
                  <a:ext uri="{FF2B5EF4-FFF2-40B4-BE49-F238E27FC236}">
                    <a16:creationId xmlns="" xmlns:a16="http://schemas.microsoft.com/office/drawing/2014/main" id="{C0B62F5D-604E-DA4B-AA6E-6B1344314EED}"/>
                  </a:ext>
                </a:extLst>
              </p:cNvPr>
              <p:cNvSpPr/>
              <p:nvPr/>
            </p:nvSpPr>
            <p:spPr>
              <a:xfrm>
                <a:off x="3116678"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2</a:t>
                </a:r>
              </a:p>
            </p:txBody>
          </p:sp>
          <p:sp>
            <p:nvSpPr>
              <p:cNvPr id="24" name="Oval 23">
                <a:extLst>
                  <a:ext uri="{FF2B5EF4-FFF2-40B4-BE49-F238E27FC236}">
                    <a16:creationId xmlns="" xmlns:a16="http://schemas.microsoft.com/office/drawing/2014/main" id="{D8CD52FE-F062-3B4D-BEC7-269586F8B300}"/>
                  </a:ext>
                </a:extLst>
              </p:cNvPr>
              <p:cNvSpPr/>
              <p:nvPr/>
            </p:nvSpPr>
            <p:spPr>
              <a:xfrm>
                <a:off x="5226624"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3</a:t>
                </a:r>
              </a:p>
            </p:txBody>
          </p:sp>
          <p:sp>
            <p:nvSpPr>
              <p:cNvPr id="25" name="Oval 24">
                <a:extLst>
                  <a:ext uri="{FF2B5EF4-FFF2-40B4-BE49-F238E27FC236}">
                    <a16:creationId xmlns="" xmlns:a16="http://schemas.microsoft.com/office/drawing/2014/main" id="{87F216B9-501E-3049-A620-6D6160D635E7}"/>
                  </a:ext>
                </a:extLst>
              </p:cNvPr>
              <p:cNvSpPr/>
              <p:nvPr/>
            </p:nvSpPr>
            <p:spPr>
              <a:xfrm>
                <a:off x="4171651" y="5606265"/>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sz="1400" dirty="0">
                    <a:solidFill>
                      <a:srgbClr val="FFFFFF"/>
                    </a:solidFill>
                    <a:latin typeface="Century Gothic" panose="020B0502020202020204" pitchFamily="34" charset="0"/>
                  </a:rPr>
                  <a:t>4</a:t>
                </a:r>
              </a:p>
            </p:txBody>
          </p:sp>
          <p:cxnSp>
            <p:nvCxnSpPr>
              <p:cNvPr id="26" name="Straight Arrow Connector 25">
                <a:extLst>
                  <a:ext uri="{FF2B5EF4-FFF2-40B4-BE49-F238E27FC236}">
                    <a16:creationId xmlns="" xmlns:a16="http://schemas.microsoft.com/office/drawing/2014/main" id="{58B9F877-A889-B04E-87BD-FBEBCA049BFB}"/>
                  </a:ext>
                </a:extLst>
              </p:cNvPr>
              <p:cNvCxnSpPr>
                <a:cxnSpLocks/>
              </p:cNvCxnSpPr>
              <p:nvPr/>
            </p:nvCxnSpPr>
            <p:spPr>
              <a:xfrm flipH="1">
                <a:off x="3525986" y="3843131"/>
                <a:ext cx="715890"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 xmlns:a16="http://schemas.microsoft.com/office/drawing/2014/main" id="{5C7510E4-FCB3-3949-A742-7B847388A282}"/>
                  </a:ext>
                </a:extLst>
              </p:cNvPr>
              <p:cNvCxnSpPr>
                <a:cxnSpLocks/>
              </p:cNvCxnSpPr>
              <p:nvPr/>
            </p:nvCxnSpPr>
            <p:spPr>
              <a:xfrm>
                <a:off x="3525986" y="4970034"/>
                <a:ext cx="715891" cy="706457"/>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AEF67EC7-986C-8A44-B92A-8D98F4344827}"/>
                  </a:ext>
                </a:extLst>
              </p:cNvPr>
              <p:cNvCxnSpPr>
                <a:cxnSpLocks/>
              </p:cNvCxnSpPr>
              <p:nvPr/>
            </p:nvCxnSpPr>
            <p:spPr>
              <a:xfrm>
                <a:off x="4580959" y="3843131"/>
                <a:ext cx="715891"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 xmlns:a16="http://schemas.microsoft.com/office/drawing/2014/main" id="{18364F04-55CA-3A44-B2D8-C9B0482A3871}"/>
                  </a:ext>
                </a:extLst>
              </p:cNvPr>
              <p:cNvCxnSpPr>
                <a:cxnSpLocks/>
              </p:cNvCxnSpPr>
              <p:nvPr/>
            </p:nvCxnSpPr>
            <p:spPr>
              <a:xfrm flipV="1">
                <a:off x="4580959" y="4970034"/>
                <a:ext cx="715891" cy="706457"/>
              </a:xfrm>
              <a:prstGeom prst="straightConnector1">
                <a:avLst/>
              </a:prstGeom>
              <a:solidFill>
                <a:srgbClr val="C17A90"/>
              </a:solidFill>
              <a:ln w="38100">
                <a:solidFill>
                  <a:srgbClr val="C17A9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 xmlns:a16="http://schemas.microsoft.com/office/drawing/2014/main" id="{D81A8452-7F34-5B4F-B319-6B26B4F7F534}"/>
                </a:ext>
              </a:extLst>
            </p:cNvPr>
            <p:cNvSpPr txBox="1"/>
            <p:nvPr/>
          </p:nvSpPr>
          <p:spPr>
            <a:xfrm>
              <a:off x="5561629" y="4295420"/>
              <a:ext cx="1960667" cy="2051782"/>
            </a:xfrm>
            <a:prstGeom prst="rect">
              <a:avLst/>
            </a:prstGeom>
            <a:noFill/>
          </p:spPr>
          <p:txBody>
            <a:bodyPr wrap="none" rtlCol="0">
              <a:spAutoFit/>
            </a:bodyPr>
            <a:lstStyle/>
            <a:p>
              <a:pPr algn="ctr"/>
              <a:r>
                <a:rPr lang="en-US" sz="1400" b="1" dirty="0">
                  <a:solidFill>
                    <a:srgbClr val="C27990"/>
                  </a:solidFill>
                  <a:latin typeface="Century Gothic" panose="020B0502020202020204" pitchFamily="34" charset="0"/>
                </a:rPr>
                <a:t>1</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2</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3</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4</a:t>
              </a:r>
            </a:p>
            <a:p>
              <a:pPr algn="ctr"/>
              <a:endParaRPr lang="en-US" sz="1400" b="1" dirty="0">
                <a:solidFill>
                  <a:srgbClr val="C27990"/>
                </a:solidFill>
                <a:latin typeface="Century Gothic" panose="020B0502020202020204" pitchFamily="34" charset="0"/>
              </a:endParaRPr>
            </a:p>
            <a:p>
              <a:pPr algn="ctr"/>
              <a:r>
                <a:rPr lang="en-US" sz="1400" b="1" dirty="0">
                  <a:solidFill>
                    <a:srgbClr val="C27990"/>
                  </a:solidFill>
                  <a:latin typeface="Century Gothic" panose="020B0502020202020204" pitchFamily="34" charset="0"/>
                </a:rPr>
                <a:t>Or</a:t>
              </a:r>
            </a:p>
            <a:p>
              <a:pPr algn="ctr"/>
              <a:endParaRPr lang="en-US" sz="1400" b="1" dirty="0">
                <a:solidFill>
                  <a:srgbClr val="C27990"/>
                </a:solidFill>
                <a:latin typeface="Century Gothic" panose="020B0502020202020204" pitchFamily="34" charset="0"/>
              </a:endParaRPr>
            </a:p>
            <a:p>
              <a:pPr algn="ctr"/>
              <a:r>
                <a:rPr lang="en-US" sz="1400" b="1" dirty="0">
                  <a:solidFill>
                    <a:srgbClr val="C27990"/>
                  </a:solidFill>
                  <a:latin typeface="Century Gothic" panose="020B0502020202020204" pitchFamily="34" charset="0"/>
                </a:rPr>
                <a:t>1</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3</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2</a:t>
              </a:r>
              <a:r>
                <a:rPr lang="en-US" sz="1400" b="1" dirty="0">
                  <a:solidFill>
                    <a:srgbClr val="C27990"/>
                  </a:solidFill>
                  <a:latin typeface="Century Gothic" panose="020B0502020202020204" pitchFamily="34" charset="0"/>
                  <a:sym typeface="Wingdings" pitchFamily="2" charset="2"/>
                </a:rPr>
                <a:t></a:t>
              </a:r>
              <a:r>
                <a:rPr lang="en-US" sz="1400" b="1" dirty="0">
                  <a:solidFill>
                    <a:srgbClr val="C27990"/>
                  </a:solidFill>
                  <a:latin typeface="Century Gothic" panose="020B0502020202020204" pitchFamily="34" charset="0"/>
                </a:rPr>
                <a:t>4</a:t>
              </a:r>
            </a:p>
          </p:txBody>
        </p:sp>
        <p:sp>
          <p:nvSpPr>
            <p:cNvPr id="21" name="TextBox 20">
              <a:extLst>
                <a:ext uri="{FF2B5EF4-FFF2-40B4-BE49-F238E27FC236}">
                  <a16:creationId xmlns="" xmlns:a16="http://schemas.microsoft.com/office/drawing/2014/main" id="{D55442BF-A048-9446-A09E-944E386A3545}"/>
                </a:ext>
              </a:extLst>
            </p:cNvPr>
            <p:cNvSpPr txBox="1"/>
            <p:nvPr/>
          </p:nvSpPr>
          <p:spPr>
            <a:xfrm>
              <a:off x="919649" y="5615627"/>
              <a:ext cx="2168769" cy="539943"/>
            </a:xfrm>
            <a:prstGeom prst="rect">
              <a:avLst/>
            </a:prstGeom>
            <a:noFill/>
          </p:spPr>
          <p:txBody>
            <a:bodyPr wrap="none" rtlCol="0">
              <a:spAutoFit/>
            </a:bodyPr>
            <a:lstStyle/>
            <a:p>
              <a:pPr algn="ctr"/>
              <a:r>
                <a:rPr lang="en-US" sz="1400" b="1" dirty="0">
                  <a:solidFill>
                    <a:srgbClr val="C27990"/>
                  </a:solidFill>
                  <a:latin typeface="Century Gothic" panose="020B0502020202020204" pitchFamily="34" charset="0"/>
                </a:rPr>
                <a:t>Partial order</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 xmlns:a16="http://schemas.microsoft.com/office/drawing/2014/main" id="{D81A8452-7F34-5B4F-B319-6B26B4F7F534}"/>
                    </a:ext>
                  </a:extLst>
                </p:cNvPr>
                <p:cNvSpPr txBox="1"/>
                <p:nvPr/>
              </p:nvSpPr>
              <p:spPr>
                <a:xfrm>
                  <a:off x="8081608" y="4794317"/>
                  <a:ext cx="2069216" cy="809914"/>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27990"/>
                                </a:solidFill>
                                <a:latin typeface="Cambria Math" charset="0"/>
                              </a:rPr>
                            </m:ctrlPr>
                          </m:sSubPr>
                          <m:e>
                            <m:r>
                              <a:rPr lang="en-US" sz="2400" b="1" i="1">
                                <a:solidFill>
                                  <a:srgbClr val="C27990"/>
                                </a:solidFill>
                                <a:latin typeface="Cambria Math" charset="0"/>
                              </a:rPr>
                              <m:t>𝒇</m:t>
                            </m:r>
                          </m:e>
                          <m:sub>
                            <m:r>
                              <a:rPr lang="en-US" sz="2400" b="1" i="1" smtClean="0">
                                <a:solidFill>
                                  <a:srgbClr val="C27990"/>
                                </a:solidFill>
                                <a:latin typeface="Cambria Math" charset="0"/>
                              </a:rPr>
                              <m:t>𝒌</m:t>
                            </m:r>
                          </m:sub>
                        </m:sSub>
                        <m:r>
                          <a:rPr lang="en-US" sz="2400" b="1" i="1" smtClean="0">
                            <a:solidFill>
                              <a:srgbClr val="C27990"/>
                            </a:solidFill>
                            <a:latin typeface="Cambria Math" charset="0"/>
                          </a:rPr>
                          <m:t>=</m:t>
                        </m:r>
                        <m:r>
                          <a:rPr lang="en-US" sz="2400" b="1" i="1" smtClean="0">
                            <a:solidFill>
                              <a:srgbClr val="C27990"/>
                            </a:solidFill>
                            <a:latin typeface="Cambria Math" charset="0"/>
                          </a:rPr>
                          <m:t>𝟐</m:t>
                        </m:r>
                      </m:oMath>
                    </m:oMathPara>
                  </a14:m>
                  <a:endParaRPr lang="en-US" sz="2400" b="1" dirty="0">
                    <a:solidFill>
                      <a:srgbClr val="C27990"/>
                    </a:solidFill>
                    <a:latin typeface="Century Gothic" panose="020B0502020202020204" pitchFamily="34" charset="0"/>
                  </a:endParaRPr>
                </a:p>
              </p:txBody>
            </p:sp>
          </mc:Choice>
          <mc:Fallback xmlns="">
            <p:sp>
              <p:nvSpPr>
                <p:cNvPr id="31" name="TextBox 30">
                  <a:extLst>
                    <a:ext uri="{FF2B5EF4-FFF2-40B4-BE49-F238E27FC236}">
                      <a16:creationId xmlns:a16="http://schemas.microsoft.com/office/drawing/2014/main" xmlns="" xmlns:a14="http://schemas.microsoft.com/office/drawing/2010/main" id="{D81A8452-7F34-5B4F-B319-6B26B4F7F534}"/>
                    </a:ext>
                  </a:extLst>
                </p:cNvPr>
                <p:cNvSpPr txBox="1">
                  <a:spLocks noRot="1" noChangeAspect="1" noMove="1" noResize="1" noEditPoints="1" noAdjustHandles="1" noChangeArrowheads="1" noChangeShapeType="1" noTextEdit="1"/>
                </p:cNvSpPr>
                <p:nvPr/>
              </p:nvSpPr>
              <p:spPr>
                <a:xfrm>
                  <a:off x="8081608" y="4794317"/>
                  <a:ext cx="2069216" cy="809914"/>
                </a:xfrm>
                <a:prstGeom prst="rect">
                  <a:avLst/>
                </a:prstGeom>
                <a:blipFill rotWithShape="0">
                  <a:blip r:embed="rId3"/>
                  <a:stretch>
                    <a:fillRect l="-3608" b="-21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AAB92BC6-C40C-0B4F-901F-BA350F031A60}"/>
                  </a:ext>
                </a:extLst>
              </p:cNvPr>
              <p:cNvSpPr txBox="1"/>
              <p:nvPr/>
            </p:nvSpPr>
            <p:spPr>
              <a:xfrm>
                <a:off x="1573629" y="3663524"/>
                <a:ext cx="4094326"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charset="0"/>
                          </a:rPr>
                        </m:ctrlPr>
                      </m:sSubPr>
                      <m:e>
                        <m:r>
                          <a:rPr lang="en-US" b="1" i="1">
                            <a:solidFill>
                              <a:schemeClr val="tx1"/>
                            </a:solidFill>
                            <a:latin typeface="Cambria Math" charset="0"/>
                          </a:rPr>
                          <m:t>𝒇</m:t>
                        </m:r>
                      </m:e>
                      <m:sub>
                        <m:r>
                          <a:rPr lang="en-US" b="1" i="1">
                            <a:solidFill>
                              <a:schemeClr val="tx1"/>
                            </a:solidFill>
                            <a:latin typeface="Cambria Math" charset="0"/>
                          </a:rPr>
                          <m:t>𝒌</m:t>
                        </m:r>
                      </m:sub>
                    </m:sSub>
                  </m:oMath>
                </a14:m>
                <a:r>
                  <a:rPr lang="en-US" b="1" dirty="0">
                    <a:solidFill>
                      <a:schemeClr val="tx1"/>
                    </a:solidFill>
                  </a:rPr>
                  <a:t> be the size of the feasible subset</a:t>
                </a:r>
                <a:endParaRPr lang="en-US" dirty="0">
                  <a:solidFill>
                    <a:schemeClr val="tx1"/>
                  </a:solidFill>
                </a:endParaRPr>
              </a:p>
            </p:txBody>
          </p:sp>
        </mc:Choice>
        <mc:Fallback xmlns="">
          <p:sp>
            <p:nvSpPr>
              <p:cNvPr id="16" name="TextBox 15">
                <a:extLst>
                  <a:ext uri="{FF2B5EF4-FFF2-40B4-BE49-F238E27FC236}">
                    <a16:creationId xmlns:a16="http://schemas.microsoft.com/office/drawing/2014/main" id="{AAB92BC6-C40C-0B4F-901F-BA350F031A60}"/>
                  </a:ext>
                </a:extLst>
              </p:cNvPr>
              <p:cNvSpPr txBox="1">
                <a:spLocks noRot="1" noChangeAspect="1" noMove="1" noResize="1" noEditPoints="1" noAdjustHandles="1" noChangeArrowheads="1" noChangeShapeType="1" noTextEdit="1"/>
              </p:cNvSpPr>
              <p:nvPr/>
            </p:nvSpPr>
            <p:spPr>
              <a:xfrm>
                <a:off x="1573629" y="3663524"/>
                <a:ext cx="4094326" cy="369332"/>
              </a:xfrm>
              <a:prstGeom prst="rect">
                <a:avLst/>
              </a:prstGeom>
              <a:blipFill>
                <a:blip r:embed="rId4"/>
                <a:stretch>
                  <a:fillRect l="-310" t="-6667" r="-310" b="-23333"/>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sz="2800" dirty="0"/>
              <a:t>The </a:t>
            </a:r>
            <a:r>
              <a:rPr lang="en-US" sz="2800" dirty="0" smtClean="0"/>
              <a:t>quality of partially annotated </a:t>
            </a:r>
            <a:r>
              <a:rPr lang="en-US" sz="2800" dirty="0"/>
              <a:t>structures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000" b="1" dirty="0"/>
                  <a:t>Structure</a:t>
                </a:r>
                <a:r>
                  <a:rPr lang="en-US" sz="2000" dirty="0"/>
                  <a:t>: a vector of random variables: </a:t>
                </a:r>
                <a14:m>
                  <m:oMath xmlns:m="http://schemas.openxmlformats.org/officeDocument/2006/math">
                    <m:r>
                      <a:rPr lang="en-US" sz="1800" i="1">
                        <a:latin typeface="Cambria Math" charset="0"/>
                      </a:rPr>
                      <m:t>𝑌</m:t>
                    </m:r>
                    <m:r>
                      <a:rPr lang="en-US" sz="1800" i="1">
                        <a:latin typeface="Cambria Math" charset="0"/>
                      </a:rPr>
                      <m:t>=</m:t>
                    </m:r>
                    <m:d>
                      <m:dPr>
                        <m:begChr m:val="["/>
                        <m:endChr m:val="]"/>
                        <m:ctrlPr>
                          <a:rPr lang="en-US" sz="1800" i="1">
                            <a:latin typeface="Cambria Math" charset="0"/>
                          </a:rPr>
                        </m:ctrlPr>
                      </m:dPr>
                      <m:e>
                        <m:sSub>
                          <m:sSubPr>
                            <m:ctrlPr>
                              <a:rPr lang="en-US" sz="1800" i="1">
                                <a:latin typeface="Cambria Math" charset="0"/>
                              </a:rPr>
                            </m:ctrlPr>
                          </m:sSubPr>
                          <m:e>
                            <m:r>
                              <a:rPr lang="en-US" sz="1800" i="1">
                                <a:latin typeface="Cambria Math" charset="0"/>
                              </a:rPr>
                              <m:t>𝑌</m:t>
                            </m:r>
                          </m:e>
                          <m:sub>
                            <m:r>
                              <a:rPr lang="en-US" sz="1800" i="1">
                                <a:latin typeface="Cambria Math" charset="0"/>
                              </a:rPr>
                              <m:t>1</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2</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𝑑</m:t>
                            </m:r>
                          </m:sub>
                        </m:sSub>
                      </m:e>
                    </m:d>
                  </m:oMath>
                </a14:m>
                <a:endParaRPr lang="en-US" sz="1800" i="1" dirty="0">
                  <a:latin typeface="Cambria Math" charset="0"/>
                </a:endParaRPr>
              </a:p>
              <a:p>
                <a:pPr lvl="1"/>
                <a:r>
                  <a:rPr lang="en-US" sz="1800" dirty="0"/>
                  <a:t>Let </a:t>
                </a:r>
                <a14:m>
                  <m:oMath xmlns:m="http://schemas.openxmlformats.org/officeDocument/2006/math">
                    <m:r>
                      <a:rPr lang="en-US" sz="1800" i="1">
                        <a:latin typeface="Cambria Math" charset="0"/>
                      </a:rPr>
                      <m:t>ℒ</m:t>
                    </m:r>
                  </m:oMath>
                </a14:m>
                <a:r>
                  <a:rPr lang="en-US" sz="1800" dirty="0"/>
                  <a:t> be the label set</a:t>
                </a:r>
              </a:p>
              <a:p>
                <a:pPr marL="457200" lvl="1" indent="0">
                  <a:buNone/>
                </a:pPr>
                <a14:m>
                  <m:oMathPara xmlns:m="http://schemas.openxmlformats.org/officeDocument/2006/math">
                    <m:oMathParaPr>
                      <m:jc m:val="centerGroup"/>
                    </m:oMathParaPr>
                    <m:oMath xmlns:m="http://schemas.openxmlformats.org/officeDocument/2006/math">
                      <m:r>
                        <a:rPr lang="en-US" sz="1800" i="1">
                          <a:latin typeface="Cambria Math" charset="0"/>
                        </a:rPr>
                        <m:t>𝑌</m:t>
                      </m:r>
                      <m:r>
                        <a:rPr lang="en-US" sz="1800" i="1">
                          <a:latin typeface="Cambria Math" charset="0"/>
                        </a:rPr>
                        <m:t>∈</m:t>
                      </m:r>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r>
                        <a:rPr lang="en-US" sz="1800" i="1">
                          <a:latin typeface="Cambria Math" charset="0"/>
                        </a:rPr>
                        <m:t>⊆</m:t>
                      </m:r>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oMath>
                  </m:oMathPara>
                </a14:m>
                <a:endParaRPr lang="en-US" sz="1800" dirty="0"/>
              </a:p>
              <a:p>
                <a:pPr marL="0" indent="0">
                  <a:buNone/>
                </a:pPr>
                <a:endParaRPr lang="en-US" sz="2000" b="1" dirty="0"/>
              </a:p>
              <a:p>
                <a:pPr marL="0" indent="0">
                  <a:buNone/>
                </a:pPr>
                <a:endParaRPr lang="en-US" sz="2000" b="1" dirty="0"/>
              </a:p>
              <a:p>
                <a:pPr marL="0" indent="0">
                  <a:buNone/>
                </a:pPr>
                <a:r>
                  <a:rPr lang="en-US" sz="2000" b="1" dirty="0"/>
                  <a:t>(Generalized) Annotation</a:t>
                </a:r>
                <a:r>
                  <a:rPr lang="en-US" sz="2000" dirty="0"/>
                  <a:t>:  </a:t>
                </a:r>
              </a:p>
              <a:p>
                <a:pPr lvl="1"/>
                <a14:m>
                  <m:oMath xmlns:m="http://schemas.openxmlformats.org/officeDocument/2006/math">
                    <m:r>
                      <a:rPr lang="en-US" sz="1800" i="1">
                        <a:latin typeface="Cambria Math" charset="0"/>
                      </a:rPr>
                      <m:t>𝑘</m:t>
                    </m:r>
                  </m:oMath>
                </a14:m>
                <a:r>
                  <a:rPr lang="en-US" sz="1800" dirty="0"/>
                  <a:t> out of </a:t>
                </a:r>
                <a14:m>
                  <m:oMath xmlns:m="http://schemas.openxmlformats.org/officeDocument/2006/math">
                    <m:r>
                      <a:rPr lang="en-US" sz="1800" i="1">
                        <a:latin typeface="Cambria Math" charset="0"/>
                      </a:rPr>
                      <m:t>𝑑</m:t>
                    </m:r>
                  </m:oMath>
                </a14:m>
                <a:r>
                  <a:rPr lang="en-US" sz="1800" dirty="0"/>
                  <a:t> variables are labeled </a:t>
                </a:r>
                <a:r>
                  <a:rPr lang="en-US" sz="1800" dirty="0">
                    <a:sym typeface="Wingdings" pitchFamily="2" charset="2"/>
                  </a:rPr>
                  <a:t> </a:t>
                </a:r>
                <a:r>
                  <a:rPr lang="en-US" sz="1800" dirty="0"/>
                  <a:t>a subset of </a:t>
                </a:r>
                <a14:m>
                  <m:oMath xmlns:m="http://schemas.openxmlformats.org/officeDocument/2006/math">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oMath>
                </a14:m>
                <a:endParaRPr lang="en-US" sz="1800" dirty="0"/>
              </a:p>
              <a:p>
                <a:pPr lvl="1"/>
                <a:r>
                  <a:rPr lang="en-US" sz="1800" dirty="0"/>
                  <a:t>Let </a:t>
                </a:r>
                <a14:m>
                  <m:oMath xmlns:m="http://schemas.openxmlformats.org/officeDocument/2006/math">
                    <m:sSub>
                      <m:sSubPr>
                        <m:ctrlPr>
                          <a:rPr lang="en-US" sz="1800" b="1" i="1" smtClean="0">
                            <a:latin typeface="Cambria Math" charset="0"/>
                          </a:rPr>
                        </m:ctrlPr>
                      </m:sSubPr>
                      <m:e>
                        <m:r>
                          <a:rPr lang="en-US" sz="1800" b="1" i="1" smtClean="0">
                            <a:latin typeface="Cambria Math" charset="0"/>
                          </a:rPr>
                          <m:t>𝒇</m:t>
                        </m:r>
                      </m:e>
                      <m:sub>
                        <m:r>
                          <a:rPr lang="en-US" sz="1800" b="1" i="1" smtClean="0">
                            <a:latin typeface="Cambria Math" charset="0"/>
                          </a:rPr>
                          <m:t>𝒌</m:t>
                        </m:r>
                      </m:sub>
                    </m:sSub>
                  </m:oMath>
                </a14:m>
                <a:r>
                  <a:rPr lang="en-US" sz="1800" b="1" dirty="0"/>
                  <a:t> be the size of the feasible subset</a:t>
                </a:r>
                <a:endParaRPr lang="en-US" sz="1800" dirty="0"/>
              </a:p>
              <a:p>
                <a:pPr lvl="1"/>
                <a14:m>
                  <m:oMath xmlns:m="http://schemas.openxmlformats.org/officeDocument/2006/math">
                    <m:sSub>
                      <m:sSubPr>
                        <m:ctrlPr>
                          <a:rPr lang="en-US" sz="2000" i="1" smtClean="0">
                            <a:solidFill>
                              <a:srgbClr val="7792CB"/>
                            </a:solidFill>
                            <a:latin typeface="Cambria Math" charset="0"/>
                          </a:rPr>
                        </m:ctrlPr>
                      </m:sSubPr>
                      <m:e>
                        <m:r>
                          <a:rPr lang="en-US" sz="2000" i="1">
                            <a:solidFill>
                              <a:srgbClr val="7792CB"/>
                            </a:solidFill>
                            <a:latin typeface="Cambria Math" charset="0"/>
                          </a:rPr>
                          <m:t>𝑓</m:t>
                        </m:r>
                      </m:e>
                      <m:sub>
                        <m:r>
                          <a:rPr lang="en-US" sz="2000" b="0" i="1" smtClean="0">
                            <a:solidFill>
                              <a:srgbClr val="7792CB"/>
                            </a:solidFill>
                            <a:latin typeface="Cambria Math" charset="0"/>
                          </a:rPr>
                          <m:t>0</m:t>
                        </m:r>
                      </m:sub>
                    </m:sSub>
                    <m:r>
                      <a:rPr lang="en-US" sz="2000" b="0" i="1" smtClean="0">
                        <a:solidFill>
                          <a:srgbClr val="7792CB"/>
                        </a:solidFill>
                        <a:latin typeface="Cambria Math" charset="0"/>
                      </a:rPr>
                      <m:t>=</m:t>
                    </m:r>
                    <m:d>
                      <m:dPr>
                        <m:begChr m:val="|"/>
                        <m:endChr m:val="|"/>
                        <m:ctrlPr>
                          <a:rPr lang="en-US" sz="2000" b="0" i="1" smtClean="0">
                            <a:solidFill>
                              <a:srgbClr val="7792CB"/>
                            </a:solidFill>
                            <a:latin typeface="Cambria Math" charset="0"/>
                          </a:rPr>
                        </m:ctrlPr>
                      </m:dPr>
                      <m:e>
                        <m:r>
                          <a:rPr lang="en-US" sz="2000" b="0" i="1" smtClean="0">
                            <a:solidFill>
                              <a:srgbClr val="7792CB"/>
                            </a:solidFill>
                            <a:latin typeface="Cambria Math" charset="0"/>
                          </a:rPr>
                          <m:t>𝐶</m:t>
                        </m:r>
                        <m:d>
                          <m:dPr>
                            <m:ctrlPr>
                              <a:rPr lang="en-US" sz="2000" b="0" i="1" smtClean="0">
                                <a:solidFill>
                                  <a:srgbClr val="7792CB"/>
                                </a:solidFill>
                                <a:latin typeface="Cambria Math" charset="0"/>
                              </a:rPr>
                            </m:ctrlPr>
                          </m:dPr>
                          <m:e>
                            <m:sSup>
                              <m:sSupPr>
                                <m:ctrlPr>
                                  <a:rPr lang="en-US" sz="2000" b="0" i="1" smtClean="0">
                                    <a:solidFill>
                                      <a:srgbClr val="7792CB"/>
                                    </a:solidFill>
                                    <a:latin typeface="Cambria Math" charset="0"/>
                                  </a:rPr>
                                </m:ctrlPr>
                              </m:sSupPr>
                              <m:e>
                                <m:r>
                                  <a:rPr lang="en-US" sz="2000" b="0" i="1" smtClean="0">
                                    <a:solidFill>
                                      <a:srgbClr val="7792CB"/>
                                    </a:solidFill>
                                    <a:latin typeface="Cambria Math" charset="0"/>
                                  </a:rPr>
                                  <m:t>ℒ</m:t>
                                </m:r>
                              </m:e>
                              <m:sup>
                                <m:r>
                                  <a:rPr lang="en-US" sz="2000" b="0" i="1" smtClean="0">
                                    <a:solidFill>
                                      <a:srgbClr val="7792CB"/>
                                    </a:solidFill>
                                    <a:latin typeface="Cambria Math" charset="0"/>
                                  </a:rPr>
                                  <m:t>𝑑</m:t>
                                </m:r>
                              </m:sup>
                            </m:sSup>
                          </m:e>
                        </m:d>
                      </m:e>
                    </m:d>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1</m:t>
                        </m:r>
                      </m:sub>
                    </m:sSub>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2</m:t>
                        </m:r>
                      </m:sub>
                    </m:sSub>
                    <m:r>
                      <a:rPr lang="en-US" sz="2000" b="0" i="1" smtClean="0">
                        <a:solidFill>
                          <a:srgbClr val="666089"/>
                        </a:solidFill>
                        <a:latin typeface="Cambria Math" charset="0"/>
                      </a:rPr>
                      <m:t>≥⋯≥</m:t>
                    </m:r>
                    <m:sSub>
                      <m:sSubPr>
                        <m:ctrlPr>
                          <a:rPr lang="en-US" sz="2000" i="1" smtClean="0">
                            <a:solidFill>
                              <a:srgbClr val="C17A90"/>
                            </a:solidFill>
                            <a:latin typeface="Cambria Math" charset="0"/>
                          </a:rPr>
                        </m:ctrlPr>
                      </m:sSubPr>
                      <m:e>
                        <m:r>
                          <a:rPr lang="en-US" sz="2000" i="1">
                            <a:solidFill>
                              <a:srgbClr val="C17A90"/>
                            </a:solidFill>
                            <a:latin typeface="Cambria Math" charset="0"/>
                          </a:rPr>
                          <m:t>𝑓</m:t>
                        </m:r>
                      </m:e>
                      <m:sub>
                        <m:r>
                          <a:rPr lang="en-US" sz="2000" b="0" i="1" smtClean="0">
                            <a:solidFill>
                              <a:srgbClr val="C17A90"/>
                            </a:solidFill>
                            <a:latin typeface="Cambria Math" charset="0"/>
                          </a:rPr>
                          <m:t>𝑑</m:t>
                        </m:r>
                      </m:sub>
                    </m:sSub>
                    <m:r>
                      <a:rPr lang="en-US" sz="2000" b="0" i="1" smtClean="0">
                        <a:solidFill>
                          <a:srgbClr val="C17A90"/>
                        </a:solidFill>
                        <a:latin typeface="Cambria Math" charset="0"/>
                      </a:rPr>
                      <m:t>=1</m:t>
                    </m:r>
                  </m:oMath>
                </a14:m>
                <a:endParaRPr lang="en-US" sz="2000" b="0" dirty="0">
                  <a:solidFill>
                    <a:srgbClr val="C17A90"/>
                  </a:solidFill>
                </a:endParaRPr>
              </a:p>
              <a:p>
                <a:pPr marL="457200" lvl="1" indent="0">
                  <a:buNone/>
                </a:pPr>
                <a:endParaRPr lang="en-US" sz="2000" dirty="0"/>
              </a:p>
              <a:p>
                <a:pPr marL="457200" lvl="1"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5"/>
                <a:stretch>
                  <a:fillRect l="-786" t="-706"/>
                </a:stretch>
              </a:blipFill>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350C9050-1C1B-40E1-881B-62AC44FC5D1E}"/>
              </a:ext>
            </a:extLst>
          </p:cNvPr>
          <p:cNvSpPr>
            <a:spLocks noGrp="1"/>
          </p:cNvSpPr>
          <p:nvPr>
            <p:ph type="sldNum" sz="quarter" idx="11"/>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87</a:t>
            </a:fld>
            <a:endParaRPr lang="en-US"/>
          </a:p>
        </p:txBody>
      </p:sp>
      <p:sp>
        <p:nvSpPr>
          <p:cNvPr id="7" name="Rectangular Callout 6">
            <a:extLst>
              <a:ext uri="{FF2B5EF4-FFF2-40B4-BE49-F238E27FC236}">
                <a16:creationId xmlns="" xmlns:a16="http://schemas.microsoft.com/office/drawing/2014/main" id="{1976AC47-5A44-9E4A-B471-EDCD59DB89EA}"/>
              </a:ext>
            </a:extLst>
          </p:cNvPr>
          <p:cNvSpPr/>
          <p:nvPr/>
        </p:nvSpPr>
        <p:spPr>
          <a:xfrm>
            <a:off x="3869155" y="2590800"/>
            <a:ext cx="3031933" cy="609599"/>
          </a:xfrm>
          <a:prstGeom prst="wedgeRectCallout">
            <a:avLst>
              <a:gd name="adj1" fmla="val -24161"/>
              <a:gd name="adj2" fmla="val -119113"/>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Not all assignments are valid (e.g., no loops in time)</a:t>
            </a:r>
          </a:p>
        </p:txBody>
      </p:sp>
      <p:sp>
        <p:nvSpPr>
          <p:cNvPr id="12" name="Rectangular Callout 11">
            <a:extLst>
              <a:ext uri="{FF2B5EF4-FFF2-40B4-BE49-F238E27FC236}">
                <a16:creationId xmlns="" xmlns:a16="http://schemas.microsoft.com/office/drawing/2014/main" id="{177EF3CD-603F-E546-B8D4-B5E3D1138A8C}"/>
              </a:ext>
            </a:extLst>
          </p:cNvPr>
          <p:cNvSpPr/>
          <p:nvPr/>
        </p:nvSpPr>
        <p:spPr>
          <a:xfrm>
            <a:off x="4681312" y="4724400"/>
            <a:ext cx="2481488" cy="369333"/>
          </a:xfrm>
          <a:prstGeom prst="wedgeRectCallout">
            <a:avLst>
              <a:gd name="adj1" fmla="val -33443"/>
              <a:gd name="adj2" fmla="val -127959"/>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Complete annotation</a:t>
            </a:r>
          </a:p>
        </p:txBody>
      </p:sp>
      <p:sp>
        <p:nvSpPr>
          <p:cNvPr id="13" name="Rectangular Callout 12">
            <a:extLst>
              <a:ext uri="{FF2B5EF4-FFF2-40B4-BE49-F238E27FC236}">
                <a16:creationId xmlns="" xmlns:a16="http://schemas.microsoft.com/office/drawing/2014/main" id="{4094F290-32AA-D244-A8A9-6ED553DD77F8}"/>
              </a:ext>
            </a:extLst>
          </p:cNvPr>
          <p:cNvSpPr/>
          <p:nvPr/>
        </p:nvSpPr>
        <p:spPr>
          <a:xfrm>
            <a:off x="1532204" y="4724400"/>
            <a:ext cx="1680259" cy="369332"/>
          </a:xfrm>
          <a:prstGeom prst="wedgeRectCallout">
            <a:avLst>
              <a:gd name="adj1" fmla="val -51330"/>
              <a:gd name="adj2" fmla="val -138592"/>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 annotation</a:t>
            </a:r>
          </a:p>
        </p:txBody>
      </p:sp>
      <p:sp>
        <p:nvSpPr>
          <p:cNvPr id="30" name="TextBox 29">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55152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checkerboard(across)">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dissolve">
                                      <p:cBhvr>
                                        <p:cTn id="26" dur="500"/>
                                        <p:tgtEl>
                                          <p:spTgt spid="3">
                                            <p:txEl>
                                              <p:pRg st="6" end="6"/>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dissolve">
                                      <p:cBhvr>
                                        <p:cTn id="29" dur="500"/>
                                        <p:tgtEl>
                                          <p:spTgt spid="3">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dissolv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checkerboard(across)">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checkerboard(across)">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12" grpId="0" animBg="1"/>
      <p:bldP spid="1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AAB92BC6-C40C-0B4F-901F-BA350F031A60}"/>
                  </a:ext>
                </a:extLst>
              </p:cNvPr>
              <p:cNvSpPr txBox="1"/>
              <p:nvPr/>
            </p:nvSpPr>
            <p:spPr>
              <a:xfrm>
                <a:off x="1573629" y="3663524"/>
                <a:ext cx="4094326" cy="369332"/>
              </a:xfrm>
              <a:prstGeom prst="rect">
                <a:avLst/>
              </a:prstGeom>
              <a:noFill/>
            </p:spPr>
            <p:txBody>
              <a:bodyPr wrap="none" rtlCol="0">
                <a:spAutoFit/>
              </a:bodyPr>
              <a:lstStyle/>
              <a:p>
                <a14:m>
                  <m:oMath xmlns:m="http://schemas.openxmlformats.org/officeDocument/2006/math">
                    <m:sSub>
                      <m:sSubPr>
                        <m:ctrlPr>
                          <a:rPr lang="en-US" b="1" i="1" smtClean="0">
                            <a:solidFill>
                              <a:schemeClr val="tx1"/>
                            </a:solidFill>
                            <a:latin typeface="Cambria Math" charset="0"/>
                          </a:rPr>
                        </m:ctrlPr>
                      </m:sSubPr>
                      <m:e>
                        <m:r>
                          <a:rPr lang="en-US" b="1" i="1">
                            <a:solidFill>
                              <a:schemeClr val="tx1"/>
                            </a:solidFill>
                            <a:latin typeface="Cambria Math" charset="0"/>
                          </a:rPr>
                          <m:t>𝒇</m:t>
                        </m:r>
                      </m:e>
                      <m:sub>
                        <m:r>
                          <a:rPr lang="en-US" b="1" i="1">
                            <a:solidFill>
                              <a:schemeClr val="tx1"/>
                            </a:solidFill>
                            <a:latin typeface="Cambria Math" charset="0"/>
                          </a:rPr>
                          <m:t>𝒌</m:t>
                        </m:r>
                      </m:sub>
                    </m:sSub>
                  </m:oMath>
                </a14:m>
                <a:r>
                  <a:rPr lang="en-US" b="1" dirty="0">
                    <a:solidFill>
                      <a:schemeClr val="tx1"/>
                    </a:solidFill>
                  </a:rPr>
                  <a:t> be the size of the feasible subset</a:t>
                </a:r>
                <a:endParaRPr lang="en-US" dirty="0">
                  <a:solidFill>
                    <a:schemeClr val="tx1"/>
                  </a:solidFill>
                </a:endParaRPr>
              </a:p>
            </p:txBody>
          </p:sp>
        </mc:Choice>
        <mc:Fallback xmlns="">
          <p:sp>
            <p:nvSpPr>
              <p:cNvPr id="16" name="TextBox 15">
                <a:extLst>
                  <a:ext uri="{FF2B5EF4-FFF2-40B4-BE49-F238E27FC236}">
                    <a16:creationId xmlns:a16="http://schemas.microsoft.com/office/drawing/2014/main" id="{AAB92BC6-C40C-0B4F-901F-BA350F031A60}"/>
                  </a:ext>
                </a:extLst>
              </p:cNvPr>
              <p:cNvSpPr txBox="1">
                <a:spLocks noRot="1" noChangeAspect="1" noMove="1" noResize="1" noEditPoints="1" noAdjustHandles="1" noChangeArrowheads="1" noChangeShapeType="1" noTextEdit="1"/>
              </p:cNvSpPr>
              <p:nvPr/>
            </p:nvSpPr>
            <p:spPr>
              <a:xfrm>
                <a:off x="1573629" y="3663524"/>
                <a:ext cx="4094326" cy="369332"/>
              </a:xfrm>
              <a:prstGeom prst="rect">
                <a:avLst/>
              </a:prstGeom>
              <a:blipFill>
                <a:blip r:embed="rId3"/>
                <a:stretch>
                  <a:fillRect l="-310" t="-6667" r="-310"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9B5403CB-61BA-5746-94E0-506AE29A853C}"/>
                  </a:ext>
                </a:extLst>
              </p:cNvPr>
              <p:cNvSpPr txBox="1"/>
              <p:nvPr/>
            </p:nvSpPr>
            <p:spPr>
              <a:xfrm>
                <a:off x="5043126" y="5180153"/>
                <a:ext cx="3405548" cy="4121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chemeClr val="tx1"/>
                              </a:solidFill>
                              <a:latin typeface="Cambria Math" charset="0"/>
                            </a:rPr>
                          </m:ctrlPr>
                        </m:sSubPr>
                        <m:e>
                          <m:r>
                            <a:rPr lang="en-US" sz="2000" b="1" i="1">
                              <a:solidFill>
                                <a:schemeClr val="tx1"/>
                              </a:solidFill>
                              <a:latin typeface="Cambria Math" charset="0"/>
                            </a:rPr>
                            <m:t>𝑰</m:t>
                          </m:r>
                        </m:e>
                        <m:sub>
                          <m:r>
                            <a:rPr lang="en-US" sz="2000" b="1" i="1">
                              <a:solidFill>
                                <a:schemeClr val="tx1"/>
                              </a:solidFill>
                              <a:latin typeface="Cambria Math" charset="0"/>
                            </a:rPr>
                            <m:t>𝒌</m:t>
                          </m:r>
                        </m:sub>
                      </m:sSub>
                      <m:r>
                        <a:rPr lang="en-US" sz="2000" b="1" i="1">
                          <a:solidFill>
                            <a:schemeClr val="tx1"/>
                          </a:solidFill>
                          <a:latin typeface="Cambria Math" charset="0"/>
                          <a:ea typeface="Cambria Math" charset="0"/>
                          <a:cs typeface="Cambria Math" charset="0"/>
                        </a:rPr>
                        <m:t>≜</m:t>
                      </m:r>
                      <m:func>
                        <m:funcPr>
                          <m:ctrlPr>
                            <a:rPr lang="en-US" sz="2000" b="1" i="1">
                              <a:solidFill>
                                <a:schemeClr val="tx1"/>
                              </a:solidFill>
                              <a:latin typeface="Cambria Math" charset="0"/>
                            </a:rPr>
                          </m:ctrlPr>
                        </m:funcPr>
                        <m:fName>
                          <m:r>
                            <a:rPr lang="en-US" sz="2000" b="1">
                              <a:solidFill>
                                <a:schemeClr val="tx1"/>
                              </a:solidFill>
                              <a:latin typeface="Cambria Math" charset="0"/>
                            </a:rPr>
                            <m:t>𝐥𝐨𝐠</m:t>
                          </m:r>
                        </m:fName>
                        <m:e>
                          <m:r>
                            <a:rPr lang="en-US" sz="2000" b="1" i="1">
                              <a:solidFill>
                                <a:schemeClr val="tx1"/>
                              </a:solidFill>
                              <a:latin typeface="Cambria Math" charset="0"/>
                            </a:rPr>
                            <m:t>|</m:t>
                          </m:r>
                          <m:r>
                            <a:rPr lang="en-US" sz="2000" b="1" i="1">
                              <a:solidFill>
                                <a:schemeClr val="tx1"/>
                              </a:solidFill>
                              <a:latin typeface="Cambria Math" charset="0"/>
                            </a:rPr>
                            <m:t>𝑪</m:t>
                          </m:r>
                          <m:r>
                            <a:rPr lang="en-US" sz="2000" b="1" i="1">
                              <a:solidFill>
                                <a:schemeClr val="tx1"/>
                              </a:solidFill>
                              <a:latin typeface="Cambria Math" charset="0"/>
                            </a:rPr>
                            <m:t>(</m:t>
                          </m:r>
                          <m:sSup>
                            <m:sSupPr>
                              <m:ctrlPr>
                                <a:rPr lang="en-US" sz="2000" b="1" i="1">
                                  <a:solidFill>
                                    <a:schemeClr val="tx1"/>
                                  </a:solidFill>
                                  <a:latin typeface="Cambria Math" charset="0"/>
                                </a:rPr>
                              </m:ctrlPr>
                            </m:sSupPr>
                            <m:e>
                              <m:r>
                                <a:rPr lang="en-US" sz="2000" b="1" i="1">
                                  <a:solidFill>
                                    <a:schemeClr val="tx1"/>
                                  </a:solidFill>
                                  <a:latin typeface="Cambria Math" charset="0"/>
                                </a:rPr>
                                <m:t>𝓛</m:t>
                              </m:r>
                            </m:e>
                            <m:sup>
                              <m:r>
                                <a:rPr lang="en-US" sz="2000" b="1" i="1">
                                  <a:solidFill>
                                    <a:schemeClr val="tx1"/>
                                  </a:solidFill>
                                  <a:latin typeface="Cambria Math" charset="0"/>
                                </a:rPr>
                                <m:t>𝒅</m:t>
                              </m:r>
                            </m:sup>
                          </m:sSup>
                          <m:r>
                            <a:rPr lang="en-US" sz="2000" b="1" i="1">
                              <a:solidFill>
                                <a:schemeClr val="tx1"/>
                              </a:solidFill>
                              <a:latin typeface="Cambria Math" charset="0"/>
                            </a:rPr>
                            <m:t>)|</m:t>
                          </m:r>
                        </m:e>
                      </m:func>
                      <m:r>
                        <a:rPr lang="en-US" sz="2000" b="1" i="1">
                          <a:solidFill>
                            <a:schemeClr val="tx1"/>
                          </a:solidFill>
                          <a:latin typeface="Cambria Math" charset="0"/>
                        </a:rPr>
                        <m:t>−</m:t>
                      </m:r>
                      <m:r>
                        <a:rPr lang="en-US" sz="2000" b="1" i="1">
                          <a:solidFill>
                            <a:schemeClr val="tx1"/>
                          </a:solidFill>
                          <a:latin typeface="Cambria Math" charset="0"/>
                        </a:rPr>
                        <m:t>𝑬</m:t>
                      </m:r>
                      <m:r>
                        <a:rPr lang="en-US" sz="2000" b="1" i="1">
                          <a:solidFill>
                            <a:schemeClr val="tx1"/>
                          </a:solidFill>
                          <a:latin typeface="Cambria Math" charset="0"/>
                        </a:rPr>
                        <m:t>[</m:t>
                      </m:r>
                      <m:func>
                        <m:funcPr>
                          <m:ctrlPr>
                            <a:rPr lang="en-US" sz="2000" b="1" i="1">
                              <a:solidFill>
                                <a:schemeClr val="tx1"/>
                              </a:solidFill>
                              <a:latin typeface="Cambria Math" charset="0"/>
                            </a:rPr>
                          </m:ctrlPr>
                        </m:funcPr>
                        <m:fName>
                          <m:r>
                            <a:rPr lang="en-US" sz="2000" b="1">
                              <a:solidFill>
                                <a:schemeClr val="tx1"/>
                              </a:solidFill>
                              <a:latin typeface="Cambria Math" charset="0"/>
                            </a:rPr>
                            <m:t>𝐥𝐨𝐠</m:t>
                          </m:r>
                        </m:fName>
                        <m:e>
                          <m:sSub>
                            <m:sSubPr>
                              <m:ctrlPr>
                                <a:rPr lang="en-US" sz="2000" b="1" i="1">
                                  <a:solidFill>
                                    <a:schemeClr val="tx1"/>
                                  </a:solidFill>
                                  <a:latin typeface="Cambria Math" charset="0"/>
                                </a:rPr>
                              </m:ctrlPr>
                            </m:sSubPr>
                            <m:e>
                              <m:r>
                                <a:rPr lang="en-US" sz="2000" b="1" i="1">
                                  <a:solidFill>
                                    <a:schemeClr val="tx1"/>
                                  </a:solidFill>
                                  <a:latin typeface="Cambria Math" charset="0"/>
                                </a:rPr>
                                <m:t>𝒇</m:t>
                              </m:r>
                            </m:e>
                            <m:sub>
                              <m:r>
                                <a:rPr lang="en-US" sz="2000" b="1" i="1">
                                  <a:solidFill>
                                    <a:schemeClr val="tx1"/>
                                  </a:solidFill>
                                  <a:latin typeface="Cambria Math" charset="0"/>
                                </a:rPr>
                                <m:t>𝒌</m:t>
                              </m:r>
                            </m:sub>
                          </m:sSub>
                        </m:e>
                      </m:func>
                      <m:r>
                        <a:rPr lang="en-US" sz="2000" b="1" i="1">
                          <a:solidFill>
                            <a:schemeClr val="tx1"/>
                          </a:solidFill>
                          <a:latin typeface="Cambria Math" charset="0"/>
                        </a:rPr>
                        <m:t>]</m:t>
                      </m:r>
                    </m:oMath>
                  </m:oMathPara>
                </a14:m>
                <a:endParaRPr lang="en-US" sz="2000" dirty="0">
                  <a:solidFill>
                    <a:schemeClr val="tx1"/>
                  </a:solidFill>
                </a:endParaRPr>
              </a:p>
            </p:txBody>
          </p:sp>
        </mc:Choice>
        <mc:Fallback xmlns="">
          <p:sp>
            <p:nvSpPr>
              <p:cNvPr id="15" name="TextBox 14">
                <a:extLst>
                  <a:ext uri="{FF2B5EF4-FFF2-40B4-BE49-F238E27FC236}">
                    <a16:creationId xmlns:a16="http://schemas.microsoft.com/office/drawing/2014/main" id="{9B5403CB-61BA-5746-94E0-506AE29A853C}"/>
                  </a:ext>
                </a:extLst>
              </p:cNvPr>
              <p:cNvSpPr txBox="1">
                <a:spLocks noRot="1" noChangeAspect="1" noMove="1" noResize="1" noEditPoints="1" noAdjustHandles="1" noChangeArrowheads="1" noChangeShapeType="1" noTextEdit="1"/>
              </p:cNvSpPr>
              <p:nvPr/>
            </p:nvSpPr>
            <p:spPr>
              <a:xfrm>
                <a:off x="5043126" y="5180153"/>
                <a:ext cx="3405548" cy="412164"/>
              </a:xfrm>
              <a:prstGeom prst="rect">
                <a:avLst/>
              </a:prstGeom>
              <a:blipFill>
                <a:blip r:embed="rId4"/>
                <a:stretch>
                  <a:fillRect b="-12500"/>
                </a:stretch>
              </a:blipFill>
            </p:spPr>
            <p:txBody>
              <a:bodyPr/>
              <a:lstStyle/>
              <a:p>
                <a:r>
                  <a:rPr lang="en-US">
                    <a:noFill/>
                  </a:rPr>
                  <a:t> </a:t>
                </a:r>
              </a:p>
            </p:txBody>
          </p:sp>
        </mc:Fallback>
      </mc:AlternateContent>
      <p:sp>
        <p:nvSpPr>
          <p:cNvPr id="2" name="Title 1"/>
          <p:cNvSpPr>
            <a:spLocks noGrp="1"/>
          </p:cNvSpPr>
          <p:nvPr>
            <p:ph type="title"/>
          </p:nvPr>
        </p:nvSpPr>
        <p:spPr/>
        <p:txBody>
          <a:bodyPr/>
          <a:lstStyle/>
          <a:p>
            <a:r>
              <a:rPr lang="en-US" sz="2800" dirty="0"/>
              <a:t>The </a:t>
            </a:r>
            <a:r>
              <a:rPr lang="en-US" sz="2800" dirty="0" smtClean="0"/>
              <a:t>quality of partially annotated </a:t>
            </a:r>
            <a:r>
              <a:rPr lang="en-US" sz="2800" dirty="0"/>
              <a:t>structures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sz="2000" b="1" dirty="0"/>
                  <a:t>Structure</a:t>
                </a:r>
                <a:r>
                  <a:rPr lang="en-US" sz="2000" dirty="0"/>
                  <a:t>: a vector of random variables: </a:t>
                </a:r>
                <a14:m>
                  <m:oMath xmlns:m="http://schemas.openxmlformats.org/officeDocument/2006/math">
                    <m:r>
                      <a:rPr lang="en-US" sz="1800" i="1">
                        <a:latin typeface="Cambria Math" charset="0"/>
                      </a:rPr>
                      <m:t>𝑌</m:t>
                    </m:r>
                    <m:r>
                      <a:rPr lang="en-US" sz="1800" i="1">
                        <a:latin typeface="Cambria Math" charset="0"/>
                      </a:rPr>
                      <m:t>=</m:t>
                    </m:r>
                    <m:d>
                      <m:dPr>
                        <m:begChr m:val="["/>
                        <m:endChr m:val="]"/>
                        <m:ctrlPr>
                          <a:rPr lang="en-US" sz="1800" i="1">
                            <a:latin typeface="Cambria Math" charset="0"/>
                          </a:rPr>
                        </m:ctrlPr>
                      </m:dPr>
                      <m:e>
                        <m:sSub>
                          <m:sSubPr>
                            <m:ctrlPr>
                              <a:rPr lang="en-US" sz="1800" i="1">
                                <a:latin typeface="Cambria Math" charset="0"/>
                              </a:rPr>
                            </m:ctrlPr>
                          </m:sSubPr>
                          <m:e>
                            <m:r>
                              <a:rPr lang="en-US" sz="1800" i="1">
                                <a:latin typeface="Cambria Math" charset="0"/>
                              </a:rPr>
                              <m:t>𝑌</m:t>
                            </m:r>
                          </m:e>
                          <m:sub>
                            <m:r>
                              <a:rPr lang="en-US" sz="1800" i="1">
                                <a:latin typeface="Cambria Math" charset="0"/>
                              </a:rPr>
                              <m:t>1</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2</m:t>
                            </m:r>
                          </m:sub>
                        </m:sSub>
                        <m:r>
                          <a:rPr lang="en-US" sz="1800" i="1">
                            <a:latin typeface="Cambria Math" charset="0"/>
                          </a:rPr>
                          <m:t>,…,</m:t>
                        </m:r>
                        <m:sSub>
                          <m:sSubPr>
                            <m:ctrlPr>
                              <a:rPr lang="en-US" sz="1800" i="1">
                                <a:latin typeface="Cambria Math" charset="0"/>
                              </a:rPr>
                            </m:ctrlPr>
                          </m:sSubPr>
                          <m:e>
                            <m:r>
                              <a:rPr lang="en-US" sz="1800" i="1">
                                <a:latin typeface="Cambria Math" charset="0"/>
                              </a:rPr>
                              <m:t>𝑌</m:t>
                            </m:r>
                          </m:e>
                          <m:sub>
                            <m:r>
                              <a:rPr lang="en-US" sz="1800" i="1">
                                <a:latin typeface="Cambria Math" charset="0"/>
                              </a:rPr>
                              <m:t>𝑑</m:t>
                            </m:r>
                          </m:sub>
                        </m:sSub>
                      </m:e>
                    </m:d>
                  </m:oMath>
                </a14:m>
                <a:endParaRPr lang="en-US" sz="1800" i="1" dirty="0">
                  <a:latin typeface="Cambria Math" charset="0"/>
                </a:endParaRPr>
              </a:p>
              <a:p>
                <a:pPr lvl="1"/>
                <a:r>
                  <a:rPr lang="en-US" sz="1800" dirty="0"/>
                  <a:t>Let </a:t>
                </a:r>
                <a14:m>
                  <m:oMath xmlns:m="http://schemas.openxmlformats.org/officeDocument/2006/math">
                    <m:r>
                      <a:rPr lang="en-US" sz="1800" i="1">
                        <a:latin typeface="Cambria Math" charset="0"/>
                      </a:rPr>
                      <m:t>ℒ</m:t>
                    </m:r>
                  </m:oMath>
                </a14:m>
                <a:r>
                  <a:rPr lang="en-US" sz="1800" dirty="0"/>
                  <a:t> be the label set</a:t>
                </a:r>
              </a:p>
              <a:p>
                <a:pPr marL="457200" lvl="1" indent="0">
                  <a:buNone/>
                </a:pPr>
                <a14:m>
                  <m:oMathPara xmlns:m="http://schemas.openxmlformats.org/officeDocument/2006/math">
                    <m:oMathParaPr>
                      <m:jc m:val="centerGroup"/>
                    </m:oMathParaPr>
                    <m:oMath xmlns:m="http://schemas.openxmlformats.org/officeDocument/2006/math">
                      <m:r>
                        <a:rPr lang="en-US" sz="1800" i="1">
                          <a:latin typeface="Cambria Math" charset="0"/>
                        </a:rPr>
                        <m:t>𝑌</m:t>
                      </m:r>
                      <m:r>
                        <a:rPr lang="en-US" sz="1800" i="1">
                          <a:latin typeface="Cambria Math" charset="0"/>
                        </a:rPr>
                        <m:t>∈</m:t>
                      </m:r>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r>
                        <a:rPr lang="en-US" sz="1800" i="1">
                          <a:latin typeface="Cambria Math" charset="0"/>
                        </a:rPr>
                        <m:t>⊆</m:t>
                      </m:r>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oMath>
                  </m:oMathPara>
                </a14:m>
                <a:endParaRPr lang="en-US" sz="1800" dirty="0"/>
              </a:p>
              <a:p>
                <a:pPr marL="0" indent="0">
                  <a:buNone/>
                </a:pPr>
                <a:endParaRPr lang="en-US" sz="2000" b="1" dirty="0"/>
              </a:p>
              <a:p>
                <a:pPr marL="0" indent="0">
                  <a:buNone/>
                </a:pPr>
                <a:endParaRPr lang="en-US" sz="2000" b="1" dirty="0"/>
              </a:p>
              <a:p>
                <a:pPr marL="0" indent="0">
                  <a:buNone/>
                </a:pPr>
                <a:r>
                  <a:rPr lang="en-US" sz="2000" b="1" dirty="0"/>
                  <a:t>(Generalized) Annotation</a:t>
                </a:r>
                <a:r>
                  <a:rPr lang="en-US" sz="2000" dirty="0"/>
                  <a:t>:  </a:t>
                </a:r>
              </a:p>
              <a:p>
                <a:pPr lvl="1"/>
                <a14:m>
                  <m:oMath xmlns:m="http://schemas.openxmlformats.org/officeDocument/2006/math">
                    <m:r>
                      <a:rPr lang="en-US" sz="1800" i="1">
                        <a:latin typeface="Cambria Math" charset="0"/>
                      </a:rPr>
                      <m:t>𝑘</m:t>
                    </m:r>
                  </m:oMath>
                </a14:m>
                <a:r>
                  <a:rPr lang="en-US" sz="1800" dirty="0"/>
                  <a:t> out of </a:t>
                </a:r>
                <a14:m>
                  <m:oMath xmlns:m="http://schemas.openxmlformats.org/officeDocument/2006/math">
                    <m:r>
                      <a:rPr lang="en-US" sz="1800" i="1">
                        <a:latin typeface="Cambria Math" charset="0"/>
                      </a:rPr>
                      <m:t>𝑑</m:t>
                    </m:r>
                  </m:oMath>
                </a14:m>
                <a:r>
                  <a:rPr lang="en-US" sz="1800" dirty="0"/>
                  <a:t> variables are labeled </a:t>
                </a:r>
                <a:r>
                  <a:rPr lang="en-US" sz="1800" dirty="0">
                    <a:sym typeface="Wingdings" pitchFamily="2" charset="2"/>
                  </a:rPr>
                  <a:t> </a:t>
                </a:r>
                <a:r>
                  <a:rPr lang="en-US" sz="1800" dirty="0"/>
                  <a:t>a subset of </a:t>
                </a:r>
                <a14:m>
                  <m:oMath xmlns:m="http://schemas.openxmlformats.org/officeDocument/2006/math">
                    <m:r>
                      <a:rPr lang="en-US" sz="1800" i="1">
                        <a:latin typeface="Cambria Math" charset="0"/>
                      </a:rPr>
                      <m:t>𝐶</m:t>
                    </m:r>
                    <m:d>
                      <m:dPr>
                        <m:ctrlPr>
                          <a:rPr lang="en-US" sz="1800" i="1">
                            <a:latin typeface="Cambria Math" charset="0"/>
                          </a:rPr>
                        </m:ctrlPr>
                      </m:dPr>
                      <m:e>
                        <m:sSup>
                          <m:sSupPr>
                            <m:ctrlPr>
                              <a:rPr lang="en-US" sz="1800" i="1">
                                <a:latin typeface="Cambria Math" charset="0"/>
                              </a:rPr>
                            </m:ctrlPr>
                          </m:sSupPr>
                          <m:e>
                            <m:r>
                              <a:rPr lang="en-US" sz="1800" i="1">
                                <a:latin typeface="Cambria Math" charset="0"/>
                              </a:rPr>
                              <m:t>ℒ</m:t>
                            </m:r>
                          </m:e>
                          <m:sup>
                            <m:r>
                              <a:rPr lang="en-US" sz="1800" i="1">
                                <a:latin typeface="Cambria Math" charset="0"/>
                              </a:rPr>
                              <m:t>𝑑</m:t>
                            </m:r>
                          </m:sup>
                        </m:sSup>
                      </m:e>
                    </m:d>
                  </m:oMath>
                </a14:m>
                <a:endParaRPr lang="en-US" sz="1800" dirty="0"/>
              </a:p>
              <a:p>
                <a:pPr lvl="1"/>
                <a:r>
                  <a:rPr lang="en-US" sz="1800" dirty="0"/>
                  <a:t>Let </a:t>
                </a:r>
                <a14:m>
                  <m:oMath xmlns:m="http://schemas.openxmlformats.org/officeDocument/2006/math">
                    <m:sSub>
                      <m:sSubPr>
                        <m:ctrlPr>
                          <a:rPr lang="en-US" sz="1800" b="1" i="1" smtClean="0">
                            <a:latin typeface="Cambria Math" charset="0"/>
                          </a:rPr>
                        </m:ctrlPr>
                      </m:sSubPr>
                      <m:e>
                        <m:r>
                          <a:rPr lang="en-US" sz="1800" b="1" i="1" smtClean="0">
                            <a:latin typeface="Cambria Math" charset="0"/>
                          </a:rPr>
                          <m:t>𝒇</m:t>
                        </m:r>
                      </m:e>
                      <m:sub>
                        <m:r>
                          <a:rPr lang="en-US" sz="1800" b="1" i="1" smtClean="0">
                            <a:latin typeface="Cambria Math" charset="0"/>
                          </a:rPr>
                          <m:t>𝒌</m:t>
                        </m:r>
                      </m:sub>
                    </m:sSub>
                  </m:oMath>
                </a14:m>
                <a:r>
                  <a:rPr lang="en-US" sz="1800" b="1" dirty="0"/>
                  <a:t> be the size of the feasible subset</a:t>
                </a:r>
                <a:endParaRPr lang="en-US" sz="1800" dirty="0"/>
              </a:p>
              <a:p>
                <a:pPr lvl="1"/>
                <a14:m>
                  <m:oMath xmlns:m="http://schemas.openxmlformats.org/officeDocument/2006/math">
                    <m:sSub>
                      <m:sSubPr>
                        <m:ctrlPr>
                          <a:rPr lang="en-US" sz="2000" i="1" smtClean="0">
                            <a:solidFill>
                              <a:srgbClr val="7792CB"/>
                            </a:solidFill>
                            <a:latin typeface="Cambria Math" charset="0"/>
                          </a:rPr>
                        </m:ctrlPr>
                      </m:sSubPr>
                      <m:e>
                        <m:r>
                          <a:rPr lang="en-US" sz="2000" i="1">
                            <a:solidFill>
                              <a:srgbClr val="7792CB"/>
                            </a:solidFill>
                            <a:latin typeface="Cambria Math" charset="0"/>
                          </a:rPr>
                          <m:t>𝑓</m:t>
                        </m:r>
                      </m:e>
                      <m:sub>
                        <m:r>
                          <a:rPr lang="en-US" sz="2000" b="0" i="1" smtClean="0">
                            <a:solidFill>
                              <a:srgbClr val="7792CB"/>
                            </a:solidFill>
                            <a:latin typeface="Cambria Math" charset="0"/>
                          </a:rPr>
                          <m:t>0</m:t>
                        </m:r>
                      </m:sub>
                    </m:sSub>
                    <m:r>
                      <a:rPr lang="en-US" sz="2000" b="0" i="1" smtClean="0">
                        <a:solidFill>
                          <a:srgbClr val="7792CB"/>
                        </a:solidFill>
                        <a:latin typeface="Cambria Math" charset="0"/>
                      </a:rPr>
                      <m:t>=</m:t>
                    </m:r>
                    <m:d>
                      <m:dPr>
                        <m:begChr m:val="|"/>
                        <m:endChr m:val="|"/>
                        <m:ctrlPr>
                          <a:rPr lang="en-US" sz="2000" b="0" i="1" smtClean="0">
                            <a:solidFill>
                              <a:srgbClr val="7792CB"/>
                            </a:solidFill>
                            <a:latin typeface="Cambria Math" charset="0"/>
                          </a:rPr>
                        </m:ctrlPr>
                      </m:dPr>
                      <m:e>
                        <m:r>
                          <a:rPr lang="en-US" sz="2000" b="0" i="1" smtClean="0">
                            <a:solidFill>
                              <a:srgbClr val="7792CB"/>
                            </a:solidFill>
                            <a:latin typeface="Cambria Math" charset="0"/>
                          </a:rPr>
                          <m:t>𝐶</m:t>
                        </m:r>
                        <m:d>
                          <m:dPr>
                            <m:ctrlPr>
                              <a:rPr lang="en-US" sz="2000" b="0" i="1" smtClean="0">
                                <a:solidFill>
                                  <a:srgbClr val="7792CB"/>
                                </a:solidFill>
                                <a:latin typeface="Cambria Math" charset="0"/>
                              </a:rPr>
                            </m:ctrlPr>
                          </m:dPr>
                          <m:e>
                            <m:sSup>
                              <m:sSupPr>
                                <m:ctrlPr>
                                  <a:rPr lang="en-US" sz="2000" b="0" i="1" smtClean="0">
                                    <a:solidFill>
                                      <a:srgbClr val="7792CB"/>
                                    </a:solidFill>
                                    <a:latin typeface="Cambria Math" charset="0"/>
                                  </a:rPr>
                                </m:ctrlPr>
                              </m:sSupPr>
                              <m:e>
                                <m:r>
                                  <a:rPr lang="en-US" sz="2000" b="0" i="1" smtClean="0">
                                    <a:solidFill>
                                      <a:srgbClr val="7792CB"/>
                                    </a:solidFill>
                                    <a:latin typeface="Cambria Math" charset="0"/>
                                  </a:rPr>
                                  <m:t>ℒ</m:t>
                                </m:r>
                              </m:e>
                              <m:sup>
                                <m:r>
                                  <a:rPr lang="en-US" sz="2000" b="0" i="1" smtClean="0">
                                    <a:solidFill>
                                      <a:srgbClr val="7792CB"/>
                                    </a:solidFill>
                                    <a:latin typeface="Cambria Math" charset="0"/>
                                  </a:rPr>
                                  <m:t>𝑑</m:t>
                                </m:r>
                              </m:sup>
                            </m:sSup>
                          </m:e>
                        </m:d>
                      </m:e>
                    </m:d>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1</m:t>
                        </m:r>
                      </m:sub>
                    </m:sSub>
                    <m:r>
                      <a:rPr lang="en-US" sz="2000" b="0" i="1" smtClean="0">
                        <a:solidFill>
                          <a:srgbClr val="666089"/>
                        </a:solidFill>
                        <a:latin typeface="Cambria Math" charset="0"/>
                      </a:rPr>
                      <m:t>≥</m:t>
                    </m:r>
                    <m:sSub>
                      <m:sSubPr>
                        <m:ctrlPr>
                          <a:rPr lang="en-US" sz="2000" b="0" i="1" smtClean="0">
                            <a:solidFill>
                              <a:srgbClr val="666089"/>
                            </a:solidFill>
                            <a:latin typeface="Cambria Math" charset="0"/>
                          </a:rPr>
                        </m:ctrlPr>
                      </m:sSubPr>
                      <m:e>
                        <m:r>
                          <a:rPr lang="en-US" sz="2000" b="0" i="1" smtClean="0">
                            <a:solidFill>
                              <a:srgbClr val="666089"/>
                            </a:solidFill>
                            <a:latin typeface="Cambria Math" charset="0"/>
                          </a:rPr>
                          <m:t>𝑓</m:t>
                        </m:r>
                      </m:e>
                      <m:sub>
                        <m:r>
                          <a:rPr lang="en-US" sz="2000" b="0" i="1" smtClean="0">
                            <a:solidFill>
                              <a:srgbClr val="666089"/>
                            </a:solidFill>
                            <a:latin typeface="Cambria Math" charset="0"/>
                          </a:rPr>
                          <m:t>2</m:t>
                        </m:r>
                      </m:sub>
                    </m:sSub>
                    <m:r>
                      <a:rPr lang="en-US" sz="2000" b="0" i="1" smtClean="0">
                        <a:solidFill>
                          <a:srgbClr val="666089"/>
                        </a:solidFill>
                        <a:latin typeface="Cambria Math" charset="0"/>
                      </a:rPr>
                      <m:t>≥⋯≥</m:t>
                    </m:r>
                    <m:sSub>
                      <m:sSubPr>
                        <m:ctrlPr>
                          <a:rPr lang="en-US" sz="2000" i="1" smtClean="0">
                            <a:solidFill>
                              <a:srgbClr val="C17A90"/>
                            </a:solidFill>
                            <a:latin typeface="Cambria Math" charset="0"/>
                          </a:rPr>
                        </m:ctrlPr>
                      </m:sSubPr>
                      <m:e>
                        <m:r>
                          <a:rPr lang="en-US" sz="2000" i="1">
                            <a:solidFill>
                              <a:srgbClr val="C17A90"/>
                            </a:solidFill>
                            <a:latin typeface="Cambria Math" charset="0"/>
                          </a:rPr>
                          <m:t>𝑓</m:t>
                        </m:r>
                      </m:e>
                      <m:sub>
                        <m:r>
                          <a:rPr lang="en-US" sz="2000" b="0" i="1" smtClean="0">
                            <a:solidFill>
                              <a:srgbClr val="C17A90"/>
                            </a:solidFill>
                            <a:latin typeface="Cambria Math" charset="0"/>
                          </a:rPr>
                          <m:t>𝑑</m:t>
                        </m:r>
                      </m:sub>
                    </m:sSub>
                    <m:r>
                      <a:rPr lang="en-US" sz="2000" b="0" i="1" smtClean="0">
                        <a:solidFill>
                          <a:srgbClr val="C17A90"/>
                        </a:solidFill>
                        <a:latin typeface="Cambria Math" charset="0"/>
                      </a:rPr>
                      <m:t>=1</m:t>
                    </m:r>
                  </m:oMath>
                </a14:m>
                <a:endParaRPr lang="en-US" sz="2000" b="0" dirty="0">
                  <a:solidFill>
                    <a:srgbClr val="C17A90"/>
                  </a:solidFill>
                </a:endParaRPr>
              </a:p>
              <a:p>
                <a:pPr marL="457200" lvl="1" indent="0">
                  <a:buNone/>
                </a:pPr>
                <a:endParaRPr lang="en-US" sz="2000" dirty="0"/>
              </a:p>
              <a:p>
                <a:pPr marL="457200" lvl="1" indent="0">
                  <a:buNone/>
                </a:pPr>
                <a:endParaRPr lang="en-US" sz="2000" dirty="0"/>
              </a:p>
              <a:p>
                <a:pPr marL="0" indent="0">
                  <a:buNone/>
                </a:pPr>
                <a:r>
                  <a:rPr lang="en-US" sz="2000" b="1" dirty="0"/>
                  <a:t>Define the benefit of </a:t>
                </a:r>
                <a:r>
                  <a:rPr lang="en-US" sz="2000" b="1" dirty="0" smtClean="0"/>
                  <a:t>k labels: </a:t>
                </a:r>
                <a14:m>
                  <m:oMath xmlns:m="http://schemas.openxmlformats.org/officeDocument/2006/math">
                    <m:sSub>
                      <m:sSubPr>
                        <m:ctrlPr>
                          <a:rPr lang="en-US" sz="2000" b="1" i="1" smtClean="0">
                            <a:solidFill>
                              <a:schemeClr val="bg2"/>
                            </a:solidFill>
                            <a:latin typeface="Cambria Math" charset="0"/>
                          </a:rPr>
                        </m:ctrlPr>
                      </m:sSubPr>
                      <m:e>
                        <m:r>
                          <a:rPr lang="en-US" sz="2000" b="1" i="1" smtClean="0">
                            <a:solidFill>
                              <a:schemeClr val="bg2"/>
                            </a:solidFill>
                            <a:latin typeface="Cambria Math" charset="0"/>
                          </a:rPr>
                          <m:t>𝑰</m:t>
                        </m:r>
                      </m:e>
                      <m:sub>
                        <m:r>
                          <a:rPr lang="en-US" sz="2000" b="1" i="1" smtClean="0">
                            <a:solidFill>
                              <a:schemeClr val="bg2"/>
                            </a:solidFill>
                            <a:latin typeface="Cambria Math" charset="0"/>
                          </a:rPr>
                          <m:t>𝒌</m:t>
                        </m:r>
                      </m:sub>
                    </m:sSub>
                    <m:r>
                      <a:rPr lang="en-US" sz="2000" b="1" i="1">
                        <a:solidFill>
                          <a:schemeClr val="bg2"/>
                        </a:solidFill>
                        <a:latin typeface="Cambria Math" charset="0"/>
                        <a:ea typeface="Cambria Math" charset="0"/>
                        <a:cs typeface="Cambria Math" charset="0"/>
                      </a:rPr>
                      <m:t>≜</m:t>
                    </m:r>
                    <m:func>
                      <m:funcPr>
                        <m:ctrlPr>
                          <a:rPr lang="en-US" sz="2000" b="1" i="1" smtClean="0">
                            <a:solidFill>
                              <a:schemeClr val="bg2"/>
                            </a:solidFill>
                            <a:latin typeface="Cambria Math" charset="0"/>
                          </a:rPr>
                        </m:ctrlPr>
                      </m:funcPr>
                      <m:fName>
                        <m:r>
                          <a:rPr lang="en-US" sz="2000" b="1" i="0" smtClean="0">
                            <a:solidFill>
                              <a:schemeClr val="bg2"/>
                            </a:solidFill>
                            <a:latin typeface="Cambria Math" charset="0"/>
                          </a:rPr>
                          <m:t>𝐥𝐨𝐠</m:t>
                        </m:r>
                      </m:fName>
                      <m:e>
                        <m:r>
                          <a:rPr lang="en-US" sz="2000" b="1" i="1" smtClean="0">
                            <a:solidFill>
                              <a:schemeClr val="bg2"/>
                            </a:solidFill>
                            <a:latin typeface="Cambria Math" charset="0"/>
                          </a:rPr>
                          <m:t>|</m:t>
                        </m:r>
                        <m:r>
                          <a:rPr lang="en-US" sz="2000" b="1" i="1" smtClean="0">
                            <a:solidFill>
                              <a:schemeClr val="bg2"/>
                            </a:solidFill>
                            <a:latin typeface="Cambria Math" charset="0"/>
                          </a:rPr>
                          <m:t>𝑪</m:t>
                        </m:r>
                        <m:r>
                          <a:rPr lang="en-US" sz="2000" b="1" i="1" smtClean="0">
                            <a:solidFill>
                              <a:schemeClr val="bg2"/>
                            </a:solidFill>
                            <a:latin typeface="Cambria Math" charset="0"/>
                          </a:rPr>
                          <m:t>(</m:t>
                        </m:r>
                        <m:sSup>
                          <m:sSupPr>
                            <m:ctrlPr>
                              <a:rPr lang="en-US" sz="2000" b="1" i="1" smtClean="0">
                                <a:solidFill>
                                  <a:schemeClr val="bg2"/>
                                </a:solidFill>
                                <a:latin typeface="Cambria Math" charset="0"/>
                              </a:rPr>
                            </m:ctrlPr>
                          </m:sSupPr>
                          <m:e>
                            <m:r>
                              <a:rPr lang="en-US" sz="2000" b="1" i="1" smtClean="0">
                                <a:solidFill>
                                  <a:schemeClr val="bg2"/>
                                </a:solidFill>
                                <a:latin typeface="Cambria Math" charset="0"/>
                              </a:rPr>
                              <m:t>𝓛</m:t>
                            </m:r>
                          </m:e>
                          <m:sup>
                            <m:r>
                              <a:rPr lang="en-US" sz="2000" b="1" i="1" smtClean="0">
                                <a:solidFill>
                                  <a:schemeClr val="bg2"/>
                                </a:solidFill>
                                <a:latin typeface="Cambria Math" charset="0"/>
                              </a:rPr>
                              <m:t>𝒅</m:t>
                            </m:r>
                          </m:sup>
                        </m:sSup>
                        <m:r>
                          <a:rPr lang="en-US" sz="2000" b="1" i="1" smtClean="0">
                            <a:solidFill>
                              <a:schemeClr val="bg2"/>
                            </a:solidFill>
                            <a:latin typeface="Cambria Math" charset="0"/>
                          </a:rPr>
                          <m:t>)|</m:t>
                        </m:r>
                      </m:e>
                    </m:func>
                    <m:r>
                      <a:rPr lang="en-US" sz="2000" b="1" i="1" smtClean="0">
                        <a:solidFill>
                          <a:schemeClr val="bg2"/>
                        </a:solidFill>
                        <a:latin typeface="Cambria Math" charset="0"/>
                      </a:rPr>
                      <m:t>−</m:t>
                    </m:r>
                    <m:r>
                      <a:rPr lang="en-US" sz="2000" b="1" i="1" smtClean="0">
                        <a:solidFill>
                          <a:schemeClr val="bg2"/>
                        </a:solidFill>
                        <a:latin typeface="Cambria Math" charset="0"/>
                      </a:rPr>
                      <m:t>𝑬</m:t>
                    </m:r>
                    <m:r>
                      <a:rPr lang="en-US" sz="2000" b="1" i="1" smtClean="0">
                        <a:solidFill>
                          <a:schemeClr val="bg2"/>
                        </a:solidFill>
                        <a:latin typeface="Cambria Math" charset="0"/>
                      </a:rPr>
                      <m:t>[</m:t>
                    </m:r>
                    <m:func>
                      <m:funcPr>
                        <m:ctrlPr>
                          <a:rPr lang="en-US" sz="2000" b="1" i="1" smtClean="0">
                            <a:solidFill>
                              <a:schemeClr val="bg2"/>
                            </a:solidFill>
                            <a:latin typeface="Cambria Math" charset="0"/>
                          </a:rPr>
                        </m:ctrlPr>
                      </m:funcPr>
                      <m:fName>
                        <m:r>
                          <a:rPr lang="en-US" sz="2000" b="1" i="0" smtClean="0">
                            <a:solidFill>
                              <a:schemeClr val="bg2"/>
                            </a:solidFill>
                            <a:latin typeface="Cambria Math" charset="0"/>
                          </a:rPr>
                          <m:t>𝐥𝐨𝐠</m:t>
                        </m:r>
                      </m:fName>
                      <m:e>
                        <m:sSub>
                          <m:sSubPr>
                            <m:ctrlPr>
                              <a:rPr lang="en-US" sz="2000" b="1" i="1" smtClean="0">
                                <a:solidFill>
                                  <a:schemeClr val="bg2"/>
                                </a:solidFill>
                                <a:latin typeface="Cambria Math" charset="0"/>
                              </a:rPr>
                            </m:ctrlPr>
                          </m:sSubPr>
                          <m:e>
                            <m:r>
                              <a:rPr lang="en-US" sz="2000" b="1" i="1" smtClean="0">
                                <a:solidFill>
                                  <a:schemeClr val="bg2"/>
                                </a:solidFill>
                                <a:latin typeface="Cambria Math" charset="0"/>
                              </a:rPr>
                              <m:t>𝒇</m:t>
                            </m:r>
                          </m:e>
                          <m:sub>
                            <m:r>
                              <a:rPr lang="en-US" sz="2000" b="1" i="1" smtClean="0">
                                <a:solidFill>
                                  <a:schemeClr val="bg2"/>
                                </a:solidFill>
                                <a:latin typeface="Cambria Math" charset="0"/>
                              </a:rPr>
                              <m:t>𝒌</m:t>
                            </m:r>
                          </m:sub>
                        </m:sSub>
                      </m:e>
                    </m:func>
                    <m:r>
                      <a:rPr lang="en-US" sz="2000" b="1" i="1" smtClean="0">
                        <a:solidFill>
                          <a:schemeClr val="bg2"/>
                        </a:solidFill>
                        <a:latin typeface="Cambria Math" charset="0"/>
                      </a:rPr>
                      <m:t>]</m:t>
                    </m:r>
                  </m:oMath>
                </a14:m>
                <a:r>
                  <a:rPr lang="en-US" sz="2000" b="1" dirty="0">
                    <a:solidFill>
                      <a:schemeClr val="bg2"/>
                    </a:solidFill>
                  </a:rPr>
                  <a:t> </a:t>
                </a: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5"/>
                <a:stretch>
                  <a:fillRect l="-786" t="-706"/>
                </a:stretch>
              </a:blipFill>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350C9050-1C1B-40E1-881B-62AC44FC5D1E}"/>
              </a:ext>
            </a:extLst>
          </p:cNvPr>
          <p:cNvSpPr>
            <a:spLocks noGrp="1"/>
          </p:cNvSpPr>
          <p:nvPr>
            <p:ph type="sldNum" sz="quarter" idx="4294967295"/>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88</a:t>
            </a:fld>
            <a:endParaRPr lang="en-US"/>
          </a:p>
        </p:txBody>
      </p:sp>
      <p:sp>
        <p:nvSpPr>
          <p:cNvPr id="7" name="Rectangular Callout 6">
            <a:extLst>
              <a:ext uri="{FF2B5EF4-FFF2-40B4-BE49-F238E27FC236}">
                <a16:creationId xmlns="" xmlns:a16="http://schemas.microsoft.com/office/drawing/2014/main" id="{1976AC47-5A44-9E4A-B471-EDCD59DB89EA}"/>
              </a:ext>
            </a:extLst>
          </p:cNvPr>
          <p:cNvSpPr/>
          <p:nvPr/>
        </p:nvSpPr>
        <p:spPr>
          <a:xfrm>
            <a:off x="3869155" y="2590800"/>
            <a:ext cx="3031933" cy="609599"/>
          </a:xfrm>
          <a:prstGeom prst="wedgeRectCallout">
            <a:avLst>
              <a:gd name="adj1" fmla="val -24161"/>
              <a:gd name="adj2" fmla="val -119113"/>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Not all assignments are valid (e.g., no loops in time)</a:t>
            </a:r>
          </a:p>
        </p:txBody>
      </p:sp>
      <p:sp>
        <p:nvSpPr>
          <p:cNvPr id="12" name="Rectangular Callout 11">
            <a:extLst>
              <a:ext uri="{FF2B5EF4-FFF2-40B4-BE49-F238E27FC236}">
                <a16:creationId xmlns="" xmlns:a16="http://schemas.microsoft.com/office/drawing/2014/main" id="{177EF3CD-603F-E546-B8D4-B5E3D1138A8C}"/>
              </a:ext>
            </a:extLst>
          </p:cNvPr>
          <p:cNvSpPr/>
          <p:nvPr/>
        </p:nvSpPr>
        <p:spPr>
          <a:xfrm>
            <a:off x="4681312" y="4724400"/>
            <a:ext cx="2481488" cy="369333"/>
          </a:xfrm>
          <a:prstGeom prst="wedgeRectCallout">
            <a:avLst>
              <a:gd name="adj1" fmla="val -33443"/>
              <a:gd name="adj2" fmla="val -127959"/>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Complete annotation</a:t>
            </a:r>
          </a:p>
        </p:txBody>
      </p:sp>
      <p:sp>
        <p:nvSpPr>
          <p:cNvPr id="13" name="Rectangular Callout 12">
            <a:extLst>
              <a:ext uri="{FF2B5EF4-FFF2-40B4-BE49-F238E27FC236}">
                <a16:creationId xmlns="" xmlns:a16="http://schemas.microsoft.com/office/drawing/2014/main" id="{4094F290-32AA-D244-A8A9-6ED553DD77F8}"/>
              </a:ext>
            </a:extLst>
          </p:cNvPr>
          <p:cNvSpPr/>
          <p:nvPr/>
        </p:nvSpPr>
        <p:spPr>
          <a:xfrm>
            <a:off x="1532204" y="4724400"/>
            <a:ext cx="1680259" cy="369332"/>
          </a:xfrm>
          <a:prstGeom prst="wedgeRectCallout">
            <a:avLst>
              <a:gd name="adj1" fmla="val -51330"/>
              <a:gd name="adj2" fmla="val -138592"/>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No annotation</a:t>
            </a:r>
          </a:p>
        </p:txBody>
      </p:sp>
      <mc:AlternateContent xmlns:mc="http://schemas.openxmlformats.org/markup-compatibility/2006" xmlns:a14="http://schemas.microsoft.com/office/drawing/2010/main">
        <mc:Choice Requires="a14">
          <p:sp>
            <p:nvSpPr>
              <p:cNvPr id="14" name="Rectangular Callout 13">
                <a:extLst>
                  <a:ext uri="{FF2B5EF4-FFF2-40B4-BE49-F238E27FC236}">
                    <a16:creationId xmlns="" xmlns:a16="http://schemas.microsoft.com/office/drawing/2014/main" id="{F69160DB-F311-544C-859B-C03C6B35B41E}"/>
                  </a:ext>
                </a:extLst>
              </p:cNvPr>
              <p:cNvSpPr/>
              <p:nvPr/>
            </p:nvSpPr>
            <p:spPr>
              <a:xfrm>
                <a:off x="2887236" y="6171236"/>
                <a:ext cx="5561438" cy="369333"/>
              </a:xfrm>
              <a:prstGeom prst="wedgeRectCallout">
                <a:avLst>
                  <a:gd name="adj1" fmla="val 7092"/>
                  <a:gd name="adj2" fmla="val -214740"/>
                </a:avLst>
              </a:prstGeom>
              <a:solidFill>
                <a:srgbClr val="FFFFC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latin typeface="Century Gothic" panose="020B0502020202020204" pitchFamily="34" charset="0"/>
                  </a:rPr>
                  <a:t>how much of </a:t>
                </a:r>
                <a14:m>
                  <m:oMath xmlns:m="http://schemas.openxmlformats.org/officeDocument/2006/math">
                    <m:r>
                      <a:rPr lang="en-US" sz="1600" i="1">
                        <a:solidFill>
                          <a:schemeClr val="bg2"/>
                        </a:solidFill>
                        <a:latin typeface="Cambria Math" charset="0"/>
                      </a:rPr>
                      <m:t>𝐶</m:t>
                    </m:r>
                    <m:d>
                      <m:dPr>
                        <m:ctrlPr>
                          <a:rPr lang="en-US" sz="1600" i="1">
                            <a:solidFill>
                              <a:schemeClr val="bg2"/>
                            </a:solidFill>
                            <a:latin typeface="Cambria Math" charset="0"/>
                          </a:rPr>
                        </m:ctrlPr>
                      </m:dPr>
                      <m:e>
                        <m:sSup>
                          <m:sSupPr>
                            <m:ctrlPr>
                              <a:rPr lang="en-US" sz="1600" i="1">
                                <a:solidFill>
                                  <a:schemeClr val="bg2"/>
                                </a:solidFill>
                                <a:latin typeface="Cambria Math" charset="0"/>
                              </a:rPr>
                            </m:ctrlPr>
                          </m:sSupPr>
                          <m:e>
                            <m:r>
                              <a:rPr lang="en-US" sz="1600" i="1">
                                <a:solidFill>
                                  <a:schemeClr val="bg2"/>
                                </a:solidFill>
                                <a:latin typeface="Cambria Math" charset="0"/>
                              </a:rPr>
                              <m:t>ℒ</m:t>
                            </m:r>
                          </m:e>
                          <m:sup>
                            <m:r>
                              <a:rPr lang="en-US" sz="1600" i="1">
                                <a:solidFill>
                                  <a:schemeClr val="bg2"/>
                                </a:solidFill>
                                <a:latin typeface="Cambria Math" charset="0"/>
                              </a:rPr>
                              <m:t>𝑑</m:t>
                            </m:r>
                          </m:sup>
                        </m:sSup>
                      </m:e>
                    </m:d>
                  </m:oMath>
                </a14:m>
                <a:r>
                  <a:rPr lang="en-US" sz="1600" dirty="0">
                    <a:solidFill>
                      <a:schemeClr val="bg2"/>
                    </a:solidFill>
                  </a:rPr>
                  <a:t> </a:t>
                </a:r>
                <a:r>
                  <a:rPr lang="en-US" sz="1600" dirty="0">
                    <a:solidFill>
                      <a:schemeClr val="bg2"/>
                    </a:solidFill>
                    <a:latin typeface="Century Gothic" panose="020B0502020202020204" pitchFamily="34" charset="0"/>
                  </a:rPr>
                  <a:t>has been </a:t>
                </a:r>
                <a:r>
                  <a:rPr lang="en-US" sz="1600" b="1" dirty="0">
                    <a:solidFill>
                      <a:schemeClr val="bg2"/>
                    </a:solidFill>
                    <a:latin typeface="Century Gothic" panose="020B0502020202020204" pitchFamily="34" charset="0"/>
                  </a:rPr>
                  <a:t>disqualified</a:t>
                </a:r>
                <a:r>
                  <a:rPr lang="en-US" sz="1600" dirty="0">
                    <a:solidFill>
                      <a:schemeClr val="bg2"/>
                    </a:solidFill>
                    <a:latin typeface="Century Gothic" panose="020B0502020202020204" pitchFamily="34" charset="0"/>
                  </a:rPr>
                  <a:t> by 𝑘 labels</a:t>
                </a:r>
              </a:p>
            </p:txBody>
          </p:sp>
        </mc:Choice>
        <mc:Fallback xmlns="">
          <p:sp>
            <p:nvSpPr>
              <p:cNvPr id="14" name="Rectangular Callout 13">
                <a:extLst>
                  <a:ext uri="{FF2B5EF4-FFF2-40B4-BE49-F238E27FC236}">
                    <a16:creationId xmlns:a16="http://schemas.microsoft.com/office/drawing/2014/main" xmlns="" xmlns:a14="http://schemas.microsoft.com/office/drawing/2010/main" id="{F69160DB-F311-544C-859B-C03C6B35B41E}"/>
                  </a:ext>
                </a:extLst>
              </p:cNvPr>
              <p:cNvSpPr>
                <a:spLocks noRot="1" noChangeAspect="1" noMove="1" noResize="1" noEditPoints="1" noAdjustHandles="1" noChangeArrowheads="1" noChangeShapeType="1" noTextEdit="1"/>
              </p:cNvSpPr>
              <p:nvPr/>
            </p:nvSpPr>
            <p:spPr>
              <a:xfrm>
                <a:off x="2887236" y="6171236"/>
                <a:ext cx="5561438" cy="369333"/>
              </a:xfrm>
              <a:prstGeom prst="wedgeRectCallout">
                <a:avLst>
                  <a:gd name="adj1" fmla="val 7092"/>
                  <a:gd name="adj2" fmla="val -214740"/>
                </a:avLst>
              </a:prstGeom>
              <a:blipFill rotWithShape="0">
                <a:blip r:embed="rId6"/>
                <a:stretch>
                  <a:fillRect b="-5455"/>
                </a:stretch>
              </a:blipFill>
              <a:ln>
                <a:solidFill>
                  <a:srgbClr val="C00000"/>
                </a:solidFill>
              </a:ln>
            </p:spPr>
            <p:txBody>
              <a:bodyPr/>
              <a:lstStyle/>
              <a:p>
                <a:r>
                  <a:rPr lang="en-US">
                    <a:noFill/>
                  </a:rPr>
                  <a:t> </a:t>
                </a:r>
              </a:p>
            </p:txBody>
          </p:sp>
        </mc:Fallback>
      </mc:AlternateContent>
      <p:sp>
        <p:nvSpPr>
          <p:cNvPr id="17" name="TextBox 16">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557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heckerboard(across)">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Diminishing return of new labels</a:t>
            </a:r>
            <a:endParaRPr lang="en-US" dirty="0"/>
          </a:p>
        </p:txBody>
      </p:sp>
      <p:grpSp>
        <p:nvGrpSpPr>
          <p:cNvPr id="17" name="Group 16"/>
          <p:cNvGrpSpPr/>
          <p:nvPr/>
        </p:nvGrpSpPr>
        <p:grpSpPr>
          <a:xfrm>
            <a:off x="1394948" y="762000"/>
            <a:ext cx="5850673" cy="5850675"/>
            <a:chOff x="1905000" y="1386235"/>
            <a:chExt cx="4939547" cy="4939547"/>
          </a:xfrm>
        </p:grpSpPr>
        <p:pic>
          <p:nvPicPr>
            <p:cNvPr id="13" name="Picture 1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05000" y="1386235"/>
              <a:ext cx="4939547" cy="4939547"/>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5D627CD5-4AE6-1B4A-B209-94A0E7592FD6}"/>
                    </a:ext>
                  </a:extLst>
                </p:cNvPr>
                <p:cNvSpPr txBox="1"/>
                <p:nvPr/>
              </p:nvSpPr>
              <p:spPr>
                <a:xfrm>
                  <a:off x="2978955" y="1579235"/>
                  <a:ext cx="3086543" cy="207877"/>
                </a:xfrm>
                <a:prstGeom prst="rect">
                  <a:avLst/>
                </a:prstGeom>
                <a:solidFill>
                  <a:schemeClr val="tx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sub>
                        </m:sSub>
                        <m:r>
                          <a:rPr lang="en-US" sz="1600" b="1" i="1" smtClean="0">
                            <a:solidFill>
                              <a:schemeClr val="bg2">
                                <a:lumMod val="75000"/>
                                <a:lumOff val="25000"/>
                              </a:schemeClr>
                            </a:solidFill>
                            <a:latin typeface="Cambria Math" charset="0"/>
                          </a:rPr>
                          <m:t>:</m:t>
                        </m:r>
                        <m:r>
                          <m:rPr>
                            <m:nor/>
                          </m:rPr>
                          <a:rPr lang="en-US" sz="1600" b="1" dirty="0">
                            <a:solidFill>
                              <a:schemeClr val="bg2">
                                <a:lumMod val="75000"/>
                                <a:lumOff val="25000"/>
                              </a:schemeClr>
                            </a:solidFill>
                            <a:latin typeface="Century Gothic" panose="020B0502020202020204" pitchFamily="34" charset="0"/>
                          </a:rPr>
                          <m:t>The</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benefit</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of</m:t>
                        </m:r>
                        <m:r>
                          <m:rPr>
                            <m:nor/>
                          </m:rPr>
                          <a:rPr lang="en-US" sz="1600" b="1" dirty="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k</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label</m:t>
                        </m:r>
                        <m:r>
                          <m:rPr>
                            <m:nor/>
                          </m:rPr>
                          <a:rPr lang="en-US" sz="1600" b="1" i="0" dirty="0" smtClean="0">
                            <a:solidFill>
                              <a:schemeClr val="bg2">
                                <a:lumMod val="75000"/>
                                <a:lumOff val="25000"/>
                              </a:schemeClr>
                            </a:solidFill>
                            <a:latin typeface="Century Gothic" panose="020B0502020202020204" pitchFamily="34" charset="0"/>
                          </a:rPr>
                          <m:t>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is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concave</m:t>
                        </m:r>
                      </m:oMath>
                    </m:oMathPara>
                  </a14:m>
                  <a:endParaRPr lang="en-US" sz="1600" b="1" dirty="0">
                    <a:solidFill>
                      <a:schemeClr val="bg2">
                        <a:lumMod val="75000"/>
                        <a:lumOff val="25000"/>
                      </a:schemeClr>
                    </a:solidFill>
                    <a:latin typeface="Century Gothic" panose="020B0502020202020204" pitchFamily="34" charset="0"/>
                  </a:endParaRPr>
                </a:p>
              </p:txBody>
            </p:sp>
          </mc:Choice>
          <mc:Fallback xmlns="">
            <p:sp>
              <p:nvSpPr>
                <p:cNvPr id="15" name="TextBox 14">
                  <a:extLst>
                    <a:ext uri="{FF2B5EF4-FFF2-40B4-BE49-F238E27FC236}">
                      <a16:creationId xmlns:a16="http://schemas.microsoft.com/office/drawing/2014/main" xmlns="" xmlns:a14="http://schemas.microsoft.com/office/drawing/2010/main" id="{5D627CD5-4AE6-1B4A-B209-94A0E7592FD6}"/>
                    </a:ext>
                  </a:extLst>
                </p:cNvPr>
                <p:cNvSpPr txBox="1">
                  <a:spLocks noRot="1" noChangeAspect="1" noMove="1" noResize="1" noEditPoints="1" noAdjustHandles="1" noChangeArrowheads="1" noChangeShapeType="1" noTextEdit="1"/>
                </p:cNvSpPr>
                <p:nvPr/>
              </p:nvSpPr>
              <p:spPr>
                <a:xfrm>
                  <a:off x="2978955" y="1579235"/>
                  <a:ext cx="3086543" cy="207877"/>
                </a:xfrm>
                <a:prstGeom prst="rect">
                  <a:avLst/>
                </a:prstGeom>
                <a:blipFill rotWithShape="0">
                  <a:blip r:embed="rId3"/>
                  <a:stretch>
                    <a:fillRect l="-835" r="-167"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 xmlns:a16="http://schemas.microsoft.com/office/drawing/2014/main" id="{5D627CD5-4AE6-1B4A-B209-94A0E7592FD6}"/>
                    </a:ext>
                  </a:extLst>
                </p:cNvPr>
                <p:cNvSpPr txBox="1"/>
                <p:nvPr/>
              </p:nvSpPr>
              <p:spPr>
                <a:xfrm>
                  <a:off x="2237564" y="3867933"/>
                  <a:ext cx="4601393" cy="207877"/>
                </a:xfrm>
                <a:prstGeom prst="rect">
                  <a:avLst/>
                </a:prstGeom>
                <a:solidFill>
                  <a:schemeClr val="tx1"/>
                </a:solidFill>
              </p:spPr>
              <p:txBody>
                <a:bodyPr wrap="none" lIns="0" tIns="0" rIns="0" bIns="0" rtlCol="0" anchor="b">
                  <a:spAutoFit/>
                </a:bodyPr>
                <a:lstStyle/>
                <a:p>
                  <a:pPr/>
                  <a14:m>
                    <m:oMathPara xmlns:m="http://schemas.openxmlformats.org/officeDocument/2006/math">
                      <m:oMathParaPr>
                        <m:jc m:val="centerGroup"/>
                      </m:oMathParaPr>
                      <m:oMath xmlns:m="http://schemas.openxmlformats.org/officeDocument/2006/math">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𝜟</m:t>
                            </m:r>
                          </m:e>
                          <m:sub>
                            <m:r>
                              <a:rPr lang="en-US" sz="1600" b="1" i="1">
                                <a:solidFill>
                                  <a:schemeClr val="bg2">
                                    <a:lumMod val="75000"/>
                                    <a:lumOff val="25000"/>
                                  </a:schemeClr>
                                </a:solidFill>
                                <a:latin typeface="Cambria Math"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r>
                              <a:rPr lang="en-US" sz="1600" b="1" i="1">
                                <a:solidFill>
                                  <a:schemeClr val="bg2">
                                    <a:lumMod val="75000"/>
                                    <a:lumOff val="25000"/>
                                  </a:schemeClr>
                                </a:solidFill>
                                <a:latin typeface="Cambria Math" panose="02040503050406030204" pitchFamily="18" charset="0"/>
                              </a:rPr>
                              <m:t>−</m:t>
                            </m:r>
                            <m:r>
                              <a:rPr lang="en-US" sz="1600" b="1" i="1">
                                <a:solidFill>
                                  <a:schemeClr val="bg2">
                                    <a:lumMod val="75000"/>
                                    <a:lumOff val="25000"/>
                                  </a:schemeClr>
                                </a:solidFill>
                                <a:latin typeface="Cambria Math" panose="02040503050406030204" pitchFamily="18" charset="0"/>
                              </a:rPr>
                              <m:t>𝟏</m:t>
                            </m:r>
                          </m:sub>
                        </m:sSub>
                        <m:r>
                          <a:rPr lang="en-US" sz="1600" b="1" i="1">
                            <a:solidFill>
                              <a:schemeClr val="bg2">
                                <a:lumMod val="75000"/>
                                <a:lumOff val="25000"/>
                              </a:schemeClr>
                            </a:solidFill>
                            <a:latin typeface="Cambria Math" panose="02040503050406030204" pitchFamily="18" charset="0"/>
                          </a:rPr>
                          <m:t> </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The</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benefit</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of</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a</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new</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label</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is</m:t>
                        </m:r>
                        <m:r>
                          <m:rPr>
                            <m:nor/>
                          </m:rPr>
                          <a:rPr lang="en-US" sz="1600" b="1" i="0" dirty="0" smtClean="0">
                            <a:solidFill>
                              <a:schemeClr val="bg2">
                                <a:lumMod val="75000"/>
                                <a:lumOff val="25000"/>
                              </a:schemeClr>
                            </a:solidFill>
                            <a:latin typeface="Century Gothic" panose="020B0502020202020204" pitchFamily="34" charset="0"/>
                          </a:rPr>
                          <m:t> </m:t>
                        </m:r>
                        <m:r>
                          <m:rPr>
                            <m:nor/>
                          </m:rPr>
                          <a:rPr lang="en-US" sz="1600" b="1" i="0" dirty="0" smtClean="0">
                            <a:solidFill>
                              <a:schemeClr val="bg2">
                                <a:lumMod val="75000"/>
                                <a:lumOff val="25000"/>
                              </a:schemeClr>
                            </a:solidFill>
                            <a:latin typeface="Century Gothic" panose="020B0502020202020204" pitchFamily="34" charset="0"/>
                          </a:rPr>
                          <m:t>diminishing</m:t>
                        </m:r>
                      </m:oMath>
                    </m:oMathPara>
                  </a14:m>
                  <a:endParaRPr lang="en-US" sz="1600" b="1" dirty="0">
                    <a:solidFill>
                      <a:schemeClr val="bg2">
                        <a:lumMod val="75000"/>
                        <a:lumOff val="25000"/>
                      </a:schemeClr>
                    </a:solidFill>
                    <a:latin typeface="Century Gothic" panose="020B0502020202020204" pitchFamily="34" charset="0"/>
                  </a:endParaRPr>
                </a:p>
              </p:txBody>
            </p:sp>
          </mc:Choice>
          <mc:Fallback xmlns="">
            <p:sp>
              <p:nvSpPr>
                <p:cNvPr id="16" name="TextBox 15">
                  <a:extLst>
                    <a:ext uri="{FF2B5EF4-FFF2-40B4-BE49-F238E27FC236}">
                      <a16:creationId xmlns:a16="http://schemas.microsoft.com/office/drawing/2014/main" xmlns="" xmlns:a14="http://schemas.microsoft.com/office/drawing/2010/main" id="{5D627CD5-4AE6-1B4A-B209-94A0E7592FD6}"/>
                    </a:ext>
                  </a:extLst>
                </p:cNvPr>
                <p:cNvSpPr txBox="1">
                  <a:spLocks noRot="1" noChangeAspect="1" noMove="1" noResize="1" noEditPoints="1" noAdjustHandles="1" noChangeArrowheads="1" noChangeShapeType="1" noTextEdit="1"/>
                </p:cNvSpPr>
                <p:nvPr/>
              </p:nvSpPr>
              <p:spPr>
                <a:xfrm>
                  <a:off x="2237564" y="3867933"/>
                  <a:ext cx="4601393" cy="207877"/>
                </a:xfrm>
                <a:prstGeom prst="rect">
                  <a:avLst/>
                </a:prstGeom>
                <a:blipFill rotWithShape="0">
                  <a:blip r:embed="rId4"/>
                  <a:stretch>
                    <a:fillRect l="-223" r="-670" b="-39024"/>
                  </a:stretch>
                </a:blipFill>
              </p:spPr>
              <p:txBody>
                <a:bodyPr/>
                <a:lstStyle/>
                <a:p>
                  <a:r>
                    <a:rPr lang="en-US">
                      <a:noFill/>
                    </a:rPr>
                    <a:t> </a:t>
                  </a:r>
                </a:p>
              </p:txBody>
            </p:sp>
          </mc:Fallback>
        </mc:AlternateContent>
      </p:grpSp>
      <p:sp>
        <p:nvSpPr>
          <p:cNvPr id="19" name="Right Arrow 18"/>
          <p:cNvSpPr/>
          <p:nvPr/>
        </p:nvSpPr>
        <p:spPr>
          <a:xfrm>
            <a:off x="1295400" y="990600"/>
            <a:ext cx="1272052" cy="246221"/>
          </a:xfrm>
          <a:prstGeom prst="rightArrow">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493483" y="3734517"/>
            <a:ext cx="1272052" cy="246221"/>
          </a:xfrm>
          <a:prstGeom prst="rightArrow">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168785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a:extLst>
              <a:ext uri="{FF2B5EF4-FFF2-40B4-BE49-F238E27FC236}">
                <a16:creationId xmlns="" xmlns:a16="http://schemas.microsoft.com/office/drawing/2014/main" id="{028A5577-FA4E-4E5E-AFEE-74BC47D795C9}"/>
              </a:ext>
            </a:extLst>
          </p:cNvPr>
          <p:cNvSpPr>
            <a:spLocks noGrp="1"/>
          </p:cNvSpPr>
          <p:nvPr>
            <p:ph type="sldNum" sz="quarter" idx="11"/>
          </p:nvPr>
        </p:nvSpPr>
        <p:spPr bwMode="auto">
          <a:xfrm>
            <a:off x="8636000" y="6524625"/>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90</a:t>
            </a:fld>
            <a:endParaRPr lang="en-US" dirty="0"/>
          </a:p>
        </p:txBody>
      </p:sp>
      <p:grpSp>
        <p:nvGrpSpPr>
          <p:cNvPr id="38" name="Group 37">
            <a:extLst>
              <a:ext uri="{FF2B5EF4-FFF2-40B4-BE49-F238E27FC236}">
                <a16:creationId xmlns="" xmlns:a16="http://schemas.microsoft.com/office/drawing/2014/main" id="{A09833D3-F035-3E44-950C-4F08E9981574}"/>
              </a:ext>
            </a:extLst>
          </p:cNvPr>
          <p:cNvGrpSpPr/>
          <p:nvPr/>
        </p:nvGrpSpPr>
        <p:grpSpPr>
          <a:xfrm>
            <a:off x="4505906" y="4107139"/>
            <a:ext cx="4130094" cy="2692869"/>
            <a:chOff x="4505906" y="1207841"/>
            <a:chExt cx="4130094" cy="2692869"/>
          </a:xfrm>
        </p:grpSpPr>
        <p:grpSp>
          <p:nvGrpSpPr>
            <p:cNvPr id="11" name="Group 10">
              <a:extLst>
                <a:ext uri="{FF2B5EF4-FFF2-40B4-BE49-F238E27FC236}">
                  <a16:creationId xmlns="" xmlns:a16="http://schemas.microsoft.com/office/drawing/2014/main" id="{B712ADF7-DEE7-1242-953D-C8BEC11A6F0D}"/>
                </a:ext>
              </a:extLst>
            </p:cNvPr>
            <p:cNvGrpSpPr/>
            <p:nvPr/>
          </p:nvGrpSpPr>
          <p:grpSpPr>
            <a:xfrm>
              <a:off x="4827730" y="1601710"/>
              <a:ext cx="3634953" cy="2299000"/>
              <a:chOff x="4827730" y="1601710"/>
              <a:chExt cx="3634953" cy="2299000"/>
            </a:xfrm>
          </p:grpSpPr>
          <p:grpSp>
            <p:nvGrpSpPr>
              <p:cNvPr id="8" name="Group 7">
                <a:extLst>
                  <a:ext uri="{FF2B5EF4-FFF2-40B4-BE49-F238E27FC236}">
                    <a16:creationId xmlns="" xmlns:a16="http://schemas.microsoft.com/office/drawing/2014/main" id="{A6E8997F-E766-5843-9184-6003B84F5596}"/>
                  </a:ext>
                </a:extLst>
              </p:cNvPr>
              <p:cNvGrpSpPr/>
              <p:nvPr/>
            </p:nvGrpSpPr>
            <p:grpSpPr>
              <a:xfrm>
                <a:off x="4827730" y="1601710"/>
                <a:ext cx="3634953" cy="2299000"/>
                <a:chOff x="4827730" y="1601710"/>
                <a:chExt cx="3634953" cy="2299000"/>
              </a:xfrm>
            </p:grpSpPr>
            <p:pic>
              <p:nvPicPr>
                <p:cNvPr id="5" name="Picture 4">
                  <a:extLst>
                    <a:ext uri="{FF2B5EF4-FFF2-40B4-BE49-F238E27FC236}">
                      <a16:creationId xmlns="" xmlns:a16="http://schemas.microsoft.com/office/drawing/2014/main" id="{56F55D64-D03E-E34D-B9A2-BA74189E4A3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827730" y="1601710"/>
                  <a:ext cx="3634953" cy="2299000"/>
                </a:xfrm>
                <a:prstGeom prst="rect">
                  <a:avLst/>
                </a:prstGeom>
              </p:spPr>
            </p:pic>
            <p:sp>
              <p:nvSpPr>
                <p:cNvPr id="7" name="Rectangle 6">
                  <a:extLst>
                    <a:ext uri="{FF2B5EF4-FFF2-40B4-BE49-F238E27FC236}">
                      <a16:creationId xmlns="" xmlns:a16="http://schemas.microsoft.com/office/drawing/2014/main" id="{7E174746-82B6-AE4B-A018-3EFF9FF22F69}"/>
                    </a:ext>
                  </a:extLst>
                </p:cNvPr>
                <p:cNvSpPr/>
                <p:nvPr/>
              </p:nvSpPr>
              <p:spPr>
                <a:xfrm>
                  <a:off x="7391400" y="3048000"/>
                  <a:ext cx="609600" cy="246221"/>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 xmlns:a16="http://schemas.microsoft.com/office/drawing/2014/main" id="{0886FA45-E080-BA46-942A-4E2CCE8160B6}"/>
                  </a:ext>
                </a:extLst>
              </p:cNvPr>
              <p:cNvGrpSpPr/>
              <p:nvPr/>
            </p:nvGrpSpPr>
            <p:grpSpPr>
              <a:xfrm>
                <a:off x="7315200" y="2984956"/>
                <a:ext cx="675185" cy="364669"/>
                <a:chOff x="7315200" y="2984956"/>
                <a:chExt cx="675185" cy="364669"/>
              </a:xfrm>
            </p:grpSpPr>
            <p:sp>
              <p:nvSpPr>
                <p:cNvPr id="6" name="TextBox 5">
                  <a:extLst>
                    <a:ext uri="{FF2B5EF4-FFF2-40B4-BE49-F238E27FC236}">
                      <a16:creationId xmlns="" xmlns:a16="http://schemas.microsoft.com/office/drawing/2014/main" id="{DED9D5D3-A81F-F844-AB04-AF9C0D620D0B}"/>
                    </a:ext>
                  </a:extLst>
                </p:cNvPr>
                <p:cNvSpPr txBox="1"/>
                <p:nvPr/>
              </p:nvSpPr>
              <p:spPr>
                <a:xfrm>
                  <a:off x="7315200" y="2984956"/>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17" name="TextBox 16">
                  <a:extLst>
                    <a:ext uri="{FF2B5EF4-FFF2-40B4-BE49-F238E27FC236}">
                      <a16:creationId xmlns="" xmlns:a16="http://schemas.microsoft.com/office/drawing/2014/main" id="{5F9D82E8-4B5C-F447-9F5C-ADBFFEF3D026}"/>
                    </a:ext>
                  </a:extLst>
                </p:cNvPr>
                <p:cNvSpPr txBox="1"/>
                <p:nvPr/>
              </p:nvSpPr>
              <p:spPr>
                <a:xfrm>
                  <a:off x="7315200" y="3134181"/>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sp>
          <p:nvSpPr>
            <p:cNvPr id="59" name="Rounded Rectangle 58">
              <a:extLst>
                <a:ext uri="{FF2B5EF4-FFF2-40B4-BE49-F238E27FC236}">
                  <a16:creationId xmlns="" xmlns:a16="http://schemas.microsoft.com/office/drawing/2014/main" id="{422BD2C3-45D8-8345-B35F-34F645BBB0CC}"/>
                </a:ext>
              </a:extLst>
            </p:cNvPr>
            <p:cNvSpPr/>
            <p:nvPr/>
          </p:nvSpPr>
          <p:spPr>
            <a:xfrm>
              <a:off x="5511568" y="2544262"/>
              <a:ext cx="3124432" cy="374571"/>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complete</a:t>
              </a:r>
            </a:p>
          </p:txBody>
        </p:sp>
        <p:sp>
          <p:nvSpPr>
            <p:cNvPr id="60" name="Rounded Rectangle 59">
              <a:extLst>
                <a:ext uri="{FF2B5EF4-FFF2-40B4-BE49-F238E27FC236}">
                  <a16:creationId xmlns="" xmlns:a16="http://schemas.microsoft.com/office/drawing/2014/main" id="{D7D2DAD8-55BD-B14E-A9BB-DDFA894DBF22}"/>
                </a:ext>
              </a:extLst>
            </p:cNvPr>
            <p:cNvSpPr/>
            <p:nvPr/>
          </p:nvSpPr>
          <p:spPr>
            <a:xfrm>
              <a:off x="4505906" y="1884628"/>
              <a:ext cx="3124432" cy="374571"/>
            </a:xfrm>
            <a:prstGeom prst="roundRect">
              <a:avLst/>
            </a:prstGeom>
            <a:noFill/>
            <a:ln>
              <a:noFill/>
            </a:ln>
          </p:spPr>
          <p:txBody>
            <a:bodyPr wrap="square">
              <a:spAutoFit/>
            </a:bodyPr>
            <a:lstStyle/>
            <a:p>
              <a:pPr algn="ctr"/>
              <a:r>
                <a:rPr lang="en-US" sz="1600" dirty="0">
                  <a:solidFill>
                    <a:srgbClr val="7792CB"/>
                  </a:solidFill>
                  <a:latin typeface="Century Gothic" panose="020B0502020202020204" pitchFamily="34" charset="0"/>
                </a:rPr>
                <a:t>partial</a:t>
              </a:r>
            </a:p>
          </p:txBody>
        </p:sp>
        <p:sp>
          <p:nvSpPr>
            <p:cNvPr id="3" name="Rounded Rectangle 2"/>
            <p:cNvSpPr/>
            <p:nvPr/>
          </p:nvSpPr>
          <p:spPr>
            <a:xfrm>
              <a:off x="5183917" y="1207841"/>
              <a:ext cx="3297193" cy="646986"/>
            </a:xfrm>
            <a:prstGeom prst="roundRect">
              <a:avLst/>
            </a:prstGeom>
            <a:solidFill>
              <a:srgbClr val="6881B4"/>
            </a:solidFill>
            <a:ln>
              <a:noFill/>
            </a:ln>
          </p:spPr>
          <p:txBody>
            <a:bodyPr wrap="square">
              <a:spAutoFit/>
            </a:bodyPr>
            <a:lstStyle/>
            <a:p>
              <a:pPr algn="ctr"/>
              <a:r>
                <a:rPr lang="en-US" sz="1600" dirty="0">
                  <a:latin typeface="Century Gothic" panose="020B0502020202020204" pitchFamily="34" charset="0"/>
                </a:rPr>
                <a:t>Chain</a:t>
              </a:r>
            </a:p>
            <a:p>
              <a:pPr algn="ctr"/>
              <a:r>
                <a:rPr lang="en-US" sz="1600" dirty="0">
                  <a:latin typeface="Century Gothic" panose="020B0502020202020204" pitchFamily="34" charset="0"/>
                </a:rPr>
                <a:t>(temporal relation extraction)</a:t>
              </a:r>
            </a:p>
          </p:txBody>
        </p:sp>
      </p:grpSp>
      <p:grpSp>
        <p:nvGrpSpPr>
          <p:cNvPr id="40" name="Group 39">
            <a:extLst>
              <a:ext uri="{FF2B5EF4-FFF2-40B4-BE49-F238E27FC236}">
                <a16:creationId xmlns="" xmlns:a16="http://schemas.microsoft.com/office/drawing/2014/main" id="{9EE23256-AD89-0544-89F7-5D927828CCBF}"/>
              </a:ext>
            </a:extLst>
          </p:cNvPr>
          <p:cNvGrpSpPr/>
          <p:nvPr/>
        </p:nvGrpSpPr>
        <p:grpSpPr>
          <a:xfrm>
            <a:off x="613327" y="4108994"/>
            <a:ext cx="3714624" cy="2718494"/>
            <a:chOff x="613327" y="4108994"/>
            <a:chExt cx="3714624" cy="2718494"/>
          </a:xfrm>
        </p:grpSpPr>
        <p:grpSp>
          <p:nvGrpSpPr>
            <p:cNvPr id="19" name="Group 18">
              <a:extLst>
                <a:ext uri="{FF2B5EF4-FFF2-40B4-BE49-F238E27FC236}">
                  <a16:creationId xmlns="" xmlns:a16="http://schemas.microsoft.com/office/drawing/2014/main" id="{14D1F1D8-684A-9D40-A70D-ABDC6990724E}"/>
                </a:ext>
              </a:extLst>
            </p:cNvPr>
            <p:cNvGrpSpPr/>
            <p:nvPr/>
          </p:nvGrpSpPr>
          <p:grpSpPr>
            <a:xfrm>
              <a:off x="613327" y="4521505"/>
              <a:ext cx="3714624" cy="2305983"/>
              <a:chOff x="613327" y="4521505"/>
              <a:chExt cx="3714624" cy="2305983"/>
            </a:xfrm>
          </p:grpSpPr>
          <p:pic>
            <p:nvPicPr>
              <p:cNvPr id="18" name="Picture 17">
                <a:extLst>
                  <a:ext uri="{FF2B5EF4-FFF2-40B4-BE49-F238E27FC236}">
                    <a16:creationId xmlns="" xmlns:a16="http://schemas.microsoft.com/office/drawing/2014/main" id="{A6BBA9CD-B220-384A-8A85-1F32ED5C5B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3327" y="4521505"/>
                <a:ext cx="3714624" cy="2305983"/>
              </a:xfrm>
              <a:prstGeom prst="rect">
                <a:avLst/>
              </a:prstGeom>
            </p:spPr>
          </p:pic>
          <p:grpSp>
            <p:nvGrpSpPr>
              <p:cNvPr id="31" name="Group 30">
                <a:extLst>
                  <a:ext uri="{FF2B5EF4-FFF2-40B4-BE49-F238E27FC236}">
                    <a16:creationId xmlns="" xmlns:a16="http://schemas.microsoft.com/office/drawing/2014/main" id="{C36C1DDA-2C19-2340-A5B5-D6D4A53DA743}"/>
                  </a:ext>
                </a:extLst>
              </p:cNvPr>
              <p:cNvGrpSpPr/>
              <p:nvPr/>
            </p:nvGrpSpPr>
            <p:grpSpPr>
              <a:xfrm>
                <a:off x="3223595" y="5942188"/>
                <a:ext cx="824529" cy="398324"/>
                <a:chOff x="7481271" y="5942188"/>
                <a:chExt cx="824529" cy="398324"/>
              </a:xfrm>
            </p:grpSpPr>
            <p:sp>
              <p:nvSpPr>
                <p:cNvPr id="32" name="Rectangle 31">
                  <a:extLst>
                    <a:ext uri="{FF2B5EF4-FFF2-40B4-BE49-F238E27FC236}">
                      <a16:creationId xmlns="" xmlns:a16="http://schemas.microsoft.com/office/drawing/2014/main" id="{0FDC92AB-0FDE-9841-9151-7CD25537CA8B}"/>
                    </a:ext>
                  </a:extLst>
                </p:cNvPr>
                <p:cNvSpPr/>
                <p:nvPr/>
              </p:nvSpPr>
              <p:spPr>
                <a:xfrm>
                  <a:off x="7567032" y="5990664"/>
                  <a:ext cx="738768" cy="333936"/>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 xmlns:a16="http://schemas.microsoft.com/office/drawing/2014/main" id="{938EEB18-DB50-0542-98FD-7372E58E6CBD}"/>
                    </a:ext>
                  </a:extLst>
                </p:cNvPr>
                <p:cNvGrpSpPr/>
                <p:nvPr/>
              </p:nvGrpSpPr>
              <p:grpSpPr>
                <a:xfrm>
                  <a:off x="7481271" y="5942188"/>
                  <a:ext cx="675185" cy="398324"/>
                  <a:chOff x="7481271" y="5942188"/>
                  <a:chExt cx="675185" cy="398324"/>
                </a:xfrm>
              </p:grpSpPr>
              <p:sp>
                <p:nvSpPr>
                  <p:cNvPr id="34" name="TextBox 33">
                    <a:extLst>
                      <a:ext uri="{FF2B5EF4-FFF2-40B4-BE49-F238E27FC236}">
                        <a16:creationId xmlns="" xmlns:a16="http://schemas.microsoft.com/office/drawing/2014/main" id="{38C93FE9-E19B-6F42-B381-02076E3B43E6}"/>
                      </a:ext>
                    </a:extLst>
                  </p:cNvPr>
                  <p:cNvSpPr txBox="1"/>
                  <p:nvPr/>
                </p:nvSpPr>
                <p:spPr>
                  <a:xfrm>
                    <a:off x="7481271" y="5942188"/>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35" name="TextBox 34">
                    <a:extLst>
                      <a:ext uri="{FF2B5EF4-FFF2-40B4-BE49-F238E27FC236}">
                        <a16:creationId xmlns="" xmlns:a16="http://schemas.microsoft.com/office/drawing/2014/main" id="{F912129D-604C-7F40-96C1-904DD5113873}"/>
                      </a:ext>
                    </a:extLst>
                  </p:cNvPr>
                  <p:cNvSpPr txBox="1"/>
                  <p:nvPr/>
                </p:nvSpPr>
                <p:spPr>
                  <a:xfrm>
                    <a:off x="7481271" y="6125068"/>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grpSp>
        <p:sp>
          <p:nvSpPr>
            <p:cNvPr id="27" name="Rounded Rectangle 26"/>
            <p:cNvSpPr/>
            <p:nvPr/>
          </p:nvSpPr>
          <p:spPr>
            <a:xfrm>
              <a:off x="1098710" y="4108994"/>
              <a:ext cx="3055924" cy="646986"/>
            </a:xfrm>
            <a:prstGeom prst="roundRect">
              <a:avLst/>
            </a:prstGeom>
            <a:solidFill>
              <a:schemeClr val="accent2">
                <a:lumMod val="60000"/>
                <a:lumOff val="40000"/>
              </a:schemeClr>
            </a:solidFill>
            <a:ln>
              <a:noFill/>
            </a:ln>
          </p:spPr>
          <p:txBody>
            <a:bodyPr wrap="none">
              <a:spAutoFit/>
            </a:bodyPr>
            <a:lstStyle/>
            <a:p>
              <a:pPr algn="ctr"/>
              <a:r>
                <a:rPr lang="en-US" sz="1600" dirty="0">
                  <a:solidFill>
                    <a:schemeClr val="bg2"/>
                  </a:solidFill>
                  <a:latin typeface="Century Gothic" panose="020B0502020202020204" pitchFamily="34" charset="0"/>
                </a:rPr>
                <a:t>Bipartite Graph</a:t>
              </a:r>
            </a:p>
            <a:p>
              <a:pPr algn="ctr"/>
              <a:r>
                <a:rPr lang="en-US" sz="1600" dirty="0">
                  <a:solidFill>
                    <a:schemeClr val="bg2"/>
                  </a:solidFill>
                  <a:latin typeface="Century Gothic" panose="020B0502020202020204" pitchFamily="34" charset="0"/>
                </a:rPr>
                <a:t>(semantic role classification)</a:t>
              </a:r>
            </a:p>
          </p:txBody>
        </p:sp>
        <p:sp>
          <p:nvSpPr>
            <p:cNvPr id="57" name="Rounded Rectangle 56">
              <a:extLst>
                <a:ext uri="{FF2B5EF4-FFF2-40B4-BE49-F238E27FC236}">
                  <a16:creationId xmlns="" xmlns:a16="http://schemas.microsoft.com/office/drawing/2014/main" id="{6A9CE85A-15E6-1A42-AECE-6A81D443BBDA}"/>
                </a:ext>
              </a:extLst>
            </p:cNvPr>
            <p:cNvSpPr/>
            <p:nvPr/>
          </p:nvSpPr>
          <p:spPr>
            <a:xfrm>
              <a:off x="2176100" y="5310754"/>
              <a:ext cx="1194577" cy="374571"/>
            </a:xfrm>
            <a:prstGeom prst="roundRect">
              <a:avLst/>
            </a:prstGeom>
            <a:noFill/>
            <a:ln>
              <a:noFill/>
            </a:ln>
          </p:spPr>
          <p:txBody>
            <a:bodyPr wrap="none">
              <a:spAutoFit/>
            </a:bodyPr>
            <a:lstStyle/>
            <a:p>
              <a:pPr algn="ctr"/>
              <a:r>
                <a:rPr lang="en-US" sz="1600" dirty="0">
                  <a:solidFill>
                    <a:schemeClr val="accent2">
                      <a:lumMod val="60000"/>
                      <a:lumOff val="40000"/>
                    </a:schemeClr>
                  </a:solidFill>
                  <a:latin typeface="Century Gothic" panose="020B0502020202020204" pitchFamily="34" charset="0"/>
                </a:rPr>
                <a:t>complete</a:t>
              </a:r>
            </a:p>
          </p:txBody>
        </p:sp>
        <p:sp>
          <p:nvSpPr>
            <p:cNvPr id="58" name="Rounded Rectangle 57">
              <a:extLst>
                <a:ext uri="{FF2B5EF4-FFF2-40B4-BE49-F238E27FC236}">
                  <a16:creationId xmlns="" xmlns:a16="http://schemas.microsoft.com/office/drawing/2014/main" id="{43C6DA58-8AA4-D144-AC63-426C47572F62}"/>
                </a:ext>
              </a:extLst>
            </p:cNvPr>
            <p:cNvSpPr/>
            <p:nvPr/>
          </p:nvSpPr>
          <p:spPr>
            <a:xfrm>
              <a:off x="1442226" y="4929688"/>
              <a:ext cx="849491" cy="374571"/>
            </a:xfrm>
            <a:prstGeom prst="roundRect">
              <a:avLst/>
            </a:prstGeom>
            <a:noFill/>
            <a:ln>
              <a:noFill/>
            </a:ln>
          </p:spPr>
          <p:txBody>
            <a:bodyPr wrap="none">
              <a:spAutoFit/>
            </a:bodyPr>
            <a:lstStyle/>
            <a:p>
              <a:pPr algn="ctr"/>
              <a:r>
                <a:rPr lang="en-US" sz="1600" dirty="0">
                  <a:solidFill>
                    <a:schemeClr val="accent2">
                      <a:lumMod val="60000"/>
                      <a:lumOff val="40000"/>
                    </a:schemeClr>
                  </a:solidFill>
                  <a:latin typeface="Century Gothic" panose="020B0502020202020204" pitchFamily="34" charset="0"/>
                </a:rPr>
                <a:t>partial</a:t>
              </a:r>
            </a:p>
          </p:txBody>
        </p:sp>
      </p:grpSp>
      <p:grpSp>
        <p:nvGrpSpPr>
          <p:cNvPr id="39" name="Group 38">
            <a:extLst>
              <a:ext uri="{FF2B5EF4-FFF2-40B4-BE49-F238E27FC236}">
                <a16:creationId xmlns="" xmlns:a16="http://schemas.microsoft.com/office/drawing/2014/main" id="{F48AC4AF-A6AE-EE4D-A2B1-19E90AED9792}"/>
              </a:ext>
            </a:extLst>
          </p:cNvPr>
          <p:cNvGrpSpPr/>
          <p:nvPr/>
        </p:nvGrpSpPr>
        <p:grpSpPr>
          <a:xfrm>
            <a:off x="4827730" y="1081522"/>
            <a:ext cx="3714624" cy="2739979"/>
            <a:chOff x="4842335" y="4118021"/>
            <a:chExt cx="3714624" cy="2739979"/>
          </a:xfrm>
        </p:grpSpPr>
        <p:grpSp>
          <p:nvGrpSpPr>
            <p:cNvPr id="15" name="Group 14">
              <a:extLst>
                <a:ext uri="{FF2B5EF4-FFF2-40B4-BE49-F238E27FC236}">
                  <a16:creationId xmlns="" xmlns:a16="http://schemas.microsoft.com/office/drawing/2014/main" id="{B0231E2F-F26F-A447-AFE8-60D4359CA55A}"/>
                </a:ext>
              </a:extLst>
            </p:cNvPr>
            <p:cNvGrpSpPr/>
            <p:nvPr/>
          </p:nvGrpSpPr>
          <p:grpSpPr>
            <a:xfrm>
              <a:off x="4842335" y="4480641"/>
              <a:ext cx="3714624" cy="2377359"/>
              <a:chOff x="4842335" y="4480641"/>
              <a:chExt cx="3714624" cy="2377359"/>
            </a:xfrm>
          </p:grpSpPr>
          <p:pic>
            <p:nvPicPr>
              <p:cNvPr id="26" name="Picture 25">
                <a:extLst>
                  <a:ext uri="{FF2B5EF4-FFF2-40B4-BE49-F238E27FC236}">
                    <a16:creationId xmlns="" xmlns:a16="http://schemas.microsoft.com/office/drawing/2014/main" id="{078AE6BA-63AA-BA4D-8AE0-469AE21C4BC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842335" y="4480641"/>
                <a:ext cx="3714624" cy="2377359"/>
              </a:xfrm>
              <a:prstGeom prst="rect">
                <a:avLst/>
              </a:prstGeom>
            </p:spPr>
          </p:pic>
          <p:grpSp>
            <p:nvGrpSpPr>
              <p:cNvPr id="14" name="Group 13">
                <a:extLst>
                  <a:ext uri="{FF2B5EF4-FFF2-40B4-BE49-F238E27FC236}">
                    <a16:creationId xmlns="" xmlns:a16="http://schemas.microsoft.com/office/drawing/2014/main" id="{F891C167-AAEC-4147-ACC2-85971EE96991}"/>
                  </a:ext>
                </a:extLst>
              </p:cNvPr>
              <p:cNvGrpSpPr/>
              <p:nvPr/>
            </p:nvGrpSpPr>
            <p:grpSpPr>
              <a:xfrm>
                <a:off x="7481271" y="5942188"/>
                <a:ext cx="824529" cy="398324"/>
                <a:chOff x="7481271" y="5942188"/>
                <a:chExt cx="824529" cy="398324"/>
              </a:xfrm>
            </p:grpSpPr>
            <p:sp>
              <p:nvSpPr>
                <p:cNvPr id="21" name="Rectangle 20">
                  <a:extLst>
                    <a:ext uri="{FF2B5EF4-FFF2-40B4-BE49-F238E27FC236}">
                      <a16:creationId xmlns="" xmlns:a16="http://schemas.microsoft.com/office/drawing/2014/main" id="{07E8C7A3-BB27-C746-8E08-1770B48DB17E}"/>
                    </a:ext>
                  </a:extLst>
                </p:cNvPr>
                <p:cNvSpPr/>
                <p:nvPr/>
              </p:nvSpPr>
              <p:spPr>
                <a:xfrm>
                  <a:off x="7567032" y="5990664"/>
                  <a:ext cx="738768" cy="333936"/>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 xmlns:a16="http://schemas.microsoft.com/office/drawing/2014/main" id="{ADD22471-6DDC-7047-B0AF-2630139465C0}"/>
                    </a:ext>
                  </a:extLst>
                </p:cNvPr>
                <p:cNvGrpSpPr/>
                <p:nvPr/>
              </p:nvGrpSpPr>
              <p:grpSpPr>
                <a:xfrm>
                  <a:off x="7481271" y="5942188"/>
                  <a:ext cx="675185" cy="398324"/>
                  <a:chOff x="7481271" y="5942188"/>
                  <a:chExt cx="675185" cy="398324"/>
                </a:xfrm>
              </p:grpSpPr>
              <p:sp>
                <p:nvSpPr>
                  <p:cNvPr id="22" name="TextBox 21">
                    <a:extLst>
                      <a:ext uri="{FF2B5EF4-FFF2-40B4-BE49-F238E27FC236}">
                        <a16:creationId xmlns="" xmlns:a16="http://schemas.microsoft.com/office/drawing/2014/main" id="{65DB917E-0A2A-1240-BE16-DB48180D67F4}"/>
                      </a:ext>
                    </a:extLst>
                  </p:cNvPr>
                  <p:cNvSpPr txBox="1"/>
                  <p:nvPr/>
                </p:nvSpPr>
                <p:spPr>
                  <a:xfrm>
                    <a:off x="7481271" y="5942188"/>
                    <a:ext cx="675185"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complete</a:t>
                    </a:r>
                  </a:p>
                </p:txBody>
              </p:sp>
              <p:sp>
                <p:nvSpPr>
                  <p:cNvPr id="23" name="TextBox 22">
                    <a:extLst>
                      <a:ext uri="{FF2B5EF4-FFF2-40B4-BE49-F238E27FC236}">
                        <a16:creationId xmlns="" xmlns:a16="http://schemas.microsoft.com/office/drawing/2014/main" id="{761127DE-CE7E-974A-A6C9-BC1E6F1CB3AA}"/>
                      </a:ext>
                    </a:extLst>
                  </p:cNvPr>
                  <p:cNvSpPr txBox="1"/>
                  <p:nvPr/>
                </p:nvSpPr>
                <p:spPr>
                  <a:xfrm>
                    <a:off x="7481271" y="6125068"/>
                    <a:ext cx="503664" cy="215444"/>
                  </a:xfrm>
                  <a:prstGeom prst="rect">
                    <a:avLst/>
                  </a:prstGeom>
                  <a:noFill/>
                </p:spPr>
                <p:txBody>
                  <a:bodyPr wrap="none" rtlCol="0">
                    <a:spAutoFit/>
                  </a:bodyPr>
                  <a:lstStyle/>
                  <a:p>
                    <a:r>
                      <a:rPr lang="en-US" sz="800" dirty="0">
                        <a:solidFill>
                          <a:schemeClr val="bg2"/>
                        </a:solidFill>
                        <a:latin typeface="Century Gothic" panose="020B0502020202020204" pitchFamily="34" charset="0"/>
                      </a:rPr>
                      <a:t>partial</a:t>
                    </a:r>
                  </a:p>
                </p:txBody>
              </p:sp>
            </p:grpSp>
          </p:grpSp>
        </p:grpSp>
        <p:sp>
          <p:nvSpPr>
            <p:cNvPr id="28" name="Rounded Rectangle 27"/>
            <p:cNvSpPr/>
            <p:nvPr/>
          </p:nvSpPr>
          <p:spPr>
            <a:xfrm>
              <a:off x="6166078" y="4118021"/>
              <a:ext cx="1478865" cy="646986"/>
            </a:xfrm>
            <a:prstGeom prst="roundRect">
              <a:avLst/>
            </a:prstGeom>
            <a:solidFill>
              <a:srgbClr val="7030A0"/>
            </a:solidFill>
            <a:ln>
              <a:noFill/>
            </a:ln>
          </p:spPr>
          <p:txBody>
            <a:bodyPr wrap="none">
              <a:spAutoFit/>
            </a:bodyPr>
            <a:lstStyle/>
            <a:p>
              <a:pPr algn="ctr"/>
              <a:r>
                <a:rPr lang="en-US" sz="1600" dirty="0" err="1">
                  <a:latin typeface="Century Gothic" panose="020B0502020202020204" pitchFamily="34" charset="0"/>
                </a:rPr>
                <a:t>Seq</a:t>
              </a:r>
              <a:r>
                <a:rPr lang="en-US" sz="1600" dirty="0">
                  <a:latin typeface="Century Gothic" panose="020B0502020202020204" pitchFamily="34" charset="0"/>
                </a:rPr>
                <a:t> Tagging</a:t>
              </a:r>
            </a:p>
            <a:p>
              <a:pPr algn="ctr"/>
              <a:r>
                <a:rPr lang="en-US" sz="1600" dirty="0">
                  <a:latin typeface="Century Gothic" panose="020B0502020202020204" pitchFamily="34" charset="0"/>
                </a:rPr>
                <a:t>(chunking)</a:t>
              </a:r>
            </a:p>
          </p:txBody>
        </p:sp>
        <p:sp>
          <p:nvSpPr>
            <p:cNvPr id="55" name="Rounded Rectangle 54">
              <a:extLst>
                <a:ext uri="{FF2B5EF4-FFF2-40B4-BE49-F238E27FC236}">
                  <a16:creationId xmlns="" xmlns:a16="http://schemas.microsoft.com/office/drawing/2014/main" id="{73F7F090-46DA-6E40-B6B3-83E47CC04CFC}"/>
                </a:ext>
              </a:extLst>
            </p:cNvPr>
            <p:cNvSpPr/>
            <p:nvPr/>
          </p:nvSpPr>
          <p:spPr>
            <a:xfrm>
              <a:off x="6551226" y="5285105"/>
              <a:ext cx="1194577" cy="374571"/>
            </a:xfrm>
            <a:prstGeom prst="roundRect">
              <a:avLst/>
            </a:prstGeom>
            <a:noFill/>
            <a:ln>
              <a:noFill/>
            </a:ln>
          </p:spPr>
          <p:txBody>
            <a:bodyPr wrap="none">
              <a:spAutoFit/>
            </a:bodyPr>
            <a:lstStyle/>
            <a:p>
              <a:pPr algn="ctr"/>
              <a:r>
                <a:rPr lang="en-US" sz="1600" dirty="0">
                  <a:solidFill>
                    <a:srgbClr val="7030A0"/>
                  </a:solidFill>
                  <a:latin typeface="Century Gothic" panose="020B0502020202020204" pitchFamily="34" charset="0"/>
                </a:rPr>
                <a:t>complete</a:t>
              </a:r>
            </a:p>
          </p:txBody>
        </p:sp>
        <p:sp>
          <p:nvSpPr>
            <p:cNvPr id="56" name="Rounded Rectangle 55">
              <a:extLst>
                <a:ext uri="{FF2B5EF4-FFF2-40B4-BE49-F238E27FC236}">
                  <a16:creationId xmlns="" xmlns:a16="http://schemas.microsoft.com/office/drawing/2014/main" id="{21E5156C-E8E3-C44C-AB2E-5FCF68A0C523}"/>
                </a:ext>
              </a:extLst>
            </p:cNvPr>
            <p:cNvSpPr/>
            <p:nvPr/>
          </p:nvSpPr>
          <p:spPr>
            <a:xfrm>
              <a:off x="5742534" y="4969042"/>
              <a:ext cx="849491" cy="374571"/>
            </a:xfrm>
            <a:prstGeom prst="roundRect">
              <a:avLst/>
            </a:prstGeom>
            <a:noFill/>
            <a:ln>
              <a:noFill/>
            </a:ln>
          </p:spPr>
          <p:txBody>
            <a:bodyPr wrap="none">
              <a:spAutoFit/>
            </a:bodyPr>
            <a:lstStyle/>
            <a:p>
              <a:pPr algn="ctr"/>
              <a:r>
                <a:rPr lang="en-US" sz="1600" dirty="0">
                  <a:solidFill>
                    <a:srgbClr val="7030A0"/>
                  </a:solidFill>
                  <a:latin typeface="Century Gothic" panose="020B0502020202020204" pitchFamily="34" charset="0"/>
                </a:rPr>
                <a:t>partial</a:t>
              </a:r>
            </a:p>
          </p:txBody>
        </p:sp>
      </p:grpSp>
      <mc:AlternateContent xmlns:mc="http://schemas.openxmlformats.org/markup-compatibility/2006" xmlns:a14="http://schemas.microsoft.com/office/drawing/2010/main">
        <mc:Choice Requires="a14">
          <p:sp>
            <p:nvSpPr>
              <p:cNvPr id="45" name="TextBox 44">
                <a:extLst>
                  <a:ext uri="{FF2B5EF4-FFF2-40B4-BE49-F238E27FC236}">
                    <a16:creationId xmlns="" xmlns:a16="http://schemas.microsoft.com/office/drawing/2014/main" id="{7EFBE39C-4DE3-4D40-87B0-D2573F225295}"/>
                  </a:ext>
                </a:extLst>
              </p:cNvPr>
              <p:cNvSpPr txBox="1"/>
              <p:nvPr/>
            </p:nvSpPr>
            <p:spPr>
              <a:xfrm>
                <a:off x="268229" y="250705"/>
                <a:ext cx="7888227" cy="461665"/>
              </a:xfrm>
              <a:prstGeom prst="rect">
                <a:avLst/>
              </a:prstGeom>
              <a:noFill/>
            </p:spPr>
            <p:txBody>
              <a:bodyPr wrap="square" rtlCol="0">
                <a:spAutoFit/>
              </a:bodyPr>
              <a:lstStyle/>
              <a:p>
                <a:r>
                  <a:rPr lang="en-US" sz="2400" dirty="0">
                    <a:solidFill>
                      <a:schemeClr val="bg2"/>
                    </a:solidFill>
                    <a:latin typeface="Century Gothic" panose="020B0502020202020204" pitchFamily="34" charset="0"/>
                  </a:rPr>
                  <a:t>The more concave </a:t>
                </a:r>
                <a14:m>
                  <m:oMath xmlns:m="http://schemas.openxmlformats.org/officeDocument/2006/math">
                    <m:sSub>
                      <m:sSubPr>
                        <m:ctrlPr>
                          <a:rPr lang="en-US" sz="2400" i="1" smtClean="0">
                            <a:solidFill>
                              <a:schemeClr val="bg2"/>
                            </a:solidFill>
                            <a:latin typeface="Cambria Math" charset="0"/>
                          </a:rPr>
                        </m:ctrlPr>
                      </m:sSubPr>
                      <m:e>
                        <m:r>
                          <a:rPr lang="en-US" sz="2400">
                            <a:solidFill>
                              <a:schemeClr val="bg2"/>
                            </a:solidFill>
                            <a:latin typeface="Cambria Math" panose="02040503050406030204" pitchFamily="18" charset="0"/>
                          </a:rPr>
                          <m:t>𝐼</m:t>
                        </m:r>
                      </m:e>
                      <m:sub>
                        <m:r>
                          <a:rPr lang="en-US" sz="2400">
                            <a:solidFill>
                              <a:schemeClr val="bg2"/>
                            </a:solidFill>
                            <a:latin typeface="Cambria Math" panose="02040503050406030204" pitchFamily="18" charset="0"/>
                          </a:rPr>
                          <m:t>𝑘</m:t>
                        </m:r>
                      </m:sub>
                    </m:sSub>
                  </m:oMath>
                </a14:m>
                <a:r>
                  <a:rPr lang="en-US" sz="2400" dirty="0">
                    <a:solidFill>
                      <a:schemeClr val="bg2"/>
                    </a:solidFill>
                  </a:rPr>
                  <a:t> </a:t>
                </a:r>
                <a:r>
                  <a:rPr lang="en-US" sz="2400" dirty="0">
                    <a:solidFill>
                      <a:schemeClr val="bg2"/>
                    </a:solidFill>
                    <a:latin typeface="Century Gothic" panose="020B0502020202020204" pitchFamily="34" charset="0"/>
                  </a:rPr>
                  <a:t>is, more benefit partial brings!</a:t>
                </a:r>
              </a:p>
            </p:txBody>
          </p:sp>
        </mc:Choice>
        <mc:Fallback xmlns="">
          <p:sp>
            <p:nvSpPr>
              <p:cNvPr id="45" name="TextBox 44">
                <a:extLst>
                  <a:ext uri="{FF2B5EF4-FFF2-40B4-BE49-F238E27FC236}">
                    <a16:creationId xmlns:a16="http://schemas.microsoft.com/office/drawing/2014/main" id="{7EFBE39C-4DE3-4D40-87B0-D2573F225295}"/>
                  </a:ext>
                </a:extLst>
              </p:cNvPr>
              <p:cNvSpPr txBox="1">
                <a:spLocks noRot="1" noChangeAspect="1" noMove="1" noResize="1" noEditPoints="1" noAdjustHandles="1" noChangeArrowheads="1" noChangeShapeType="1" noTextEdit="1"/>
              </p:cNvSpPr>
              <p:nvPr/>
            </p:nvSpPr>
            <p:spPr>
              <a:xfrm>
                <a:off x="268229" y="250705"/>
                <a:ext cx="7888227" cy="461665"/>
              </a:xfrm>
              <a:prstGeom prst="rect">
                <a:avLst/>
              </a:prstGeom>
              <a:blipFill>
                <a:blip r:embed="rId6"/>
                <a:stretch>
                  <a:fillRect l="-1125" t="-10811" b="-27027"/>
                </a:stretch>
              </a:blipFill>
            </p:spPr>
            <p:txBody>
              <a:bodyPr/>
              <a:lstStyle/>
              <a:p>
                <a:r>
                  <a:rPr lang="en-US">
                    <a:noFill/>
                  </a:rPr>
                  <a:t> </a:t>
                </a:r>
              </a:p>
            </p:txBody>
          </p:sp>
        </mc:Fallback>
      </mc:AlternateContent>
      <p:grpSp>
        <p:nvGrpSpPr>
          <p:cNvPr id="46" name="Group 45">
            <a:extLst>
              <a:ext uri="{FF2B5EF4-FFF2-40B4-BE49-F238E27FC236}">
                <a16:creationId xmlns="" xmlns:a16="http://schemas.microsoft.com/office/drawing/2014/main" id="{DFF5462A-1528-7245-A685-F62BB69BAD23}"/>
              </a:ext>
            </a:extLst>
          </p:cNvPr>
          <p:cNvGrpSpPr/>
          <p:nvPr/>
        </p:nvGrpSpPr>
        <p:grpSpPr>
          <a:xfrm>
            <a:off x="971167" y="1207143"/>
            <a:ext cx="3350017" cy="2799092"/>
            <a:chOff x="5005896" y="1420585"/>
            <a:chExt cx="4138104" cy="3457575"/>
          </a:xfrm>
        </p:grpSpPr>
        <p:grpSp>
          <p:nvGrpSpPr>
            <p:cNvPr id="47" name="Group 46">
              <a:extLst>
                <a:ext uri="{FF2B5EF4-FFF2-40B4-BE49-F238E27FC236}">
                  <a16:creationId xmlns="" xmlns:a16="http://schemas.microsoft.com/office/drawing/2014/main" id="{A32DCF11-FACB-E640-BFC7-4A9936B110CF}"/>
                </a:ext>
              </a:extLst>
            </p:cNvPr>
            <p:cNvGrpSpPr/>
            <p:nvPr/>
          </p:nvGrpSpPr>
          <p:grpSpPr>
            <a:xfrm>
              <a:off x="5005896" y="1420585"/>
              <a:ext cx="4138104" cy="3457575"/>
              <a:chOff x="5005896" y="1420585"/>
              <a:chExt cx="4138104" cy="3457575"/>
            </a:xfrm>
          </p:grpSpPr>
          <p:pic>
            <p:nvPicPr>
              <p:cNvPr id="51" name="Picture 50">
                <a:extLst>
                  <a:ext uri="{FF2B5EF4-FFF2-40B4-BE49-F238E27FC236}">
                    <a16:creationId xmlns="" xmlns:a16="http://schemas.microsoft.com/office/drawing/2014/main" id="{26EA512C-BEA0-CA4F-895A-532F9DD64ED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005896" y="1420585"/>
                <a:ext cx="4138104" cy="3457575"/>
              </a:xfrm>
              <a:prstGeom prst="rect">
                <a:avLst/>
              </a:prstGeom>
            </p:spPr>
          </p:pic>
          <p:grpSp>
            <p:nvGrpSpPr>
              <p:cNvPr id="52" name="Group 51">
                <a:extLst>
                  <a:ext uri="{FF2B5EF4-FFF2-40B4-BE49-F238E27FC236}">
                    <a16:creationId xmlns="" xmlns:a16="http://schemas.microsoft.com/office/drawing/2014/main" id="{38DBC46E-FA4D-1F4A-9826-626B4BF32CD6}"/>
                  </a:ext>
                </a:extLst>
              </p:cNvPr>
              <p:cNvGrpSpPr/>
              <p:nvPr/>
            </p:nvGrpSpPr>
            <p:grpSpPr>
              <a:xfrm>
                <a:off x="5193845" y="1433702"/>
                <a:ext cx="3762204" cy="269913"/>
                <a:chOff x="5193845" y="1433702"/>
                <a:chExt cx="3762204" cy="269913"/>
              </a:xfrm>
            </p:grpSpPr>
            <p:sp>
              <p:nvSpPr>
                <p:cNvPr id="53" name="Rectangle 52">
                  <a:extLst>
                    <a:ext uri="{FF2B5EF4-FFF2-40B4-BE49-F238E27FC236}">
                      <a16:creationId xmlns="" xmlns:a16="http://schemas.microsoft.com/office/drawing/2014/main" id="{4E3613E6-42F1-2548-A90B-0B5BDBF2D94E}"/>
                    </a:ext>
                  </a:extLst>
                </p:cNvPr>
                <p:cNvSpPr/>
                <p:nvPr/>
              </p:nvSpPr>
              <p:spPr>
                <a:xfrm>
                  <a:off x="6122448" y="1447800"/>
                  <a:ext cx="1905000" cy="25581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4" name="TextBox 53">
                      <a:extLst>
                        <a:ext uri="{FF2B5EF4-FFF2-40B4-BE49-F238E27FC236}">
                          <a16:creationId xmlns="" xmlns:a16="http://schemas.microsoft.com/office/drawing/2014/main" id="{80531B37-B4D4-F54A-ADAC-31D9B4246127}"/>
                        </a:ext>
                      </a:extLst>
                    </p:cNvPr>
                    <p:cNvSpPr txBox="1"/>
                    <p:nvPr/>
                  </p:nvSpPr>
                  <p:spPr>
                    <a:xfrm>
                      <a:off x="5193845" y="1433702"/>
                      <a:ext cx="3762204" cy="2281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𝜟</m:t>
                                </m:r>
                              </m:e>
                              <m:sub>
                                <m:r>
                                  <a:rPr lang="en-US" sz="1200" b="1" i="1">
                                    <a:solidFill>
                                      <a:schemeClr val="bg2">
                                        <a:lumMod val="75000"/>
                                        <a:lumOff val="25000"/>
                                      </a:schemeClr>
                                    </a:solidFill>
                                    <a:latin typeface="Cambria Math" charset="0"/>
                                  </a:rPr>
                                  <m:t>𝒌</m:t>
                                </m:r>
                              </m:sub>
                            </m:sSub>
                            <m:r>
                              <a:rPr lang="en-US" sz="1200" b="1" i="1">
                                <a:solidFill>
                                  <a:schemeClr val="bg2">
                                    <a:lumMod val="75000"/>
                                    <a:lumOff val="25000"/>
                                  </a:schemeClr>
                                </a:solidFill>
                                <a:latin typeface="Cambria Math" panose="02040503050406030204" pitchFamily="18" charset="0"/>
                              </a:rPr>
                              <m:t>=</m:t>
                            </m:r>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𝑰</m:t>
                                </m:r>
                              </m:e>
                              <m:sub>
                                <m:r>
                                  <a:rPr lang="en-US" sz="1200" b="1" i="1">
                                    <a:solidFill>
                                      <a:schemeClr val="bg2">
                                        <a:lumMod val="75000"/>
                                        <a:lumOff val="25000"/>
                                      </a:schemeClr>
                                    </a:solidFill>
                                    <a:latin typeface="Cambria Math" panose="02040503050406030204" pitchFamily="18" charset="0"/>
                                  </a:rPr>
                                  <m:t>𝒌</m:t>
                                </m:r>
                              </m:sub>
                            </m:sSub>
                            <m:r>
                              <a:rPr lang="en-US" sz="1200" b="1" i="1">
                                <a:solidFill>
                                  <a:schemeClr val="bg2">
                                    <a:lumMod val="75000"/>
                                    <a:lumOff val="25000"/>
                                  </a:schemeClr>
                                </a:solidFill>
                                <a:latin typeface="Cambria Math" panose="02040503050406030204" pitchFamily="18" charset="0"/>
                              </a:rPr>
                              <m:t>−</m:t>
                            </m:r>
                            <m:sSub>
                              <m:sSubPr>
                                <m:ctrlPr>
                                  <a:rPr lang="en-US" sz="1200" b="1" i="1">
                                    <a:solidFill>
                                      <a:schemeClr val="bg2">
                                        <a:lumMod val="75000"/>
                                        <a:lumOff val="25000"/>
                                      </a:schemeClr>
                                    </a:solidFill>
                                    <a:latin typeface="Cambria Math" charset="0"/>
                                  </a:rPr>
                                </m:ctrlPr>
                              </m:sSubPr>
                              <m:e>
                                <m:r>
                                  <a:rPr lang="en-US" sz="1200" b="1" i="1">
                                    <a:solidFill>
                                      <a:schemeClr val="bg2">
                                        <a:lumMod val="75000"/>
                                        <a:lumOff val="25000"/>
                                      </a:schemeClr>
                                    </a:solidFill>
                                    <a:latin typeface="Cambria Math" panose="02040503050406030204" pitchFamily="18" charset="0"/>
                                  </a:rPr>
                                  <m:t>𝑰</m:t>
                                </m:r>
                              </m:e>
                              <m:sub>
                                <m:r>
                                  <a:rPr lang="en-US" sz="1200" b="1" i="1">
                                    <a:solidFill>
                                      <a:schemeClr val="bg2">
                                        <a:lumMod val="75000"/>
                                        <a:lumOff val="25000"/>
                                      </a:schemeClr>
                                    </a:solidFill>
                                    <a:latin typeface="Cambria Math" panose="02040503050406030204" pitchFamily="18" charset="0"/>
                                  </a:rPr>
                                  <m:t>𝒌</m:t>
                                </m:r>
                                <m:r>
                                  <a:rPr lang="en-US" sz="1200" b="1" i="1">
                                    <a:solidFill>
                                      <a:schemeClr val="bg2">
                                        <a:lumMod val="75000"/>
                                        <a:lumOff val="25000"/>
                                      </a:schemeClr>
                                    </a:solidFill>
                                    <a:latin typeface="Cambria Math" panose="02040503050406030204" pitchFamily="18" charset="0"/>
                                  </a:rPr>
                                  <m:t>−</m:t>
                                </m:r>
                                <m:r>
                                  <a:rPr lang="en-US" sz="1200" b="1" i="1">
                                    <a:solidFill>
                                      <a:schemeClr val="bg2">
                                        <a:lumMod val="75000"/>
                                        <a:lumOff val="25000"/>
                                      </a:schemeClr>
                                    </a:solidFill>
                                    <a:latin typeface="Cambria Math" panose="02040503050406030204" pitchFamily="18" charset="0"/>
                                  </a:rPr>
                                  <m:t>𝟏</m:t>
                                </m:r>
                              </m:sub>
                            </m:sSub>
                            <m:r>
                              <a:rPr lang="en-US" sz="1200" b="1" i="1">
                                <a:solidFill>
                                  <a:schemeClr val="bg2">
                                    <a:lumMod val="75000"/>
                                    <a:lumOff val="25000"/>
                                  </a:schemeClr>
                                </a:solidFill>
                                <a:latin typeface="Cambria Math" panose="02040503050406030204" pitchFamily="18" charset="0"/>
                              </a:rPr>
                              <m:t> </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The</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benefit</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of</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a</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new</m:t>
                            </m:r>
                            <m:r>
                              <m:rPr>
                                <m:nor/>
                              </m:rPr>
                              <a:rPr lang="en-US" sz="1200" b="1" dirty="0">
                                <a:solidFill>
                                  <a:schemeClr val="bg2">
                                    <a:lumMod val="75000"/>
                                    <a:lumOff val="25000"/>
                                  </a:schemeClr>
                                </a:solidFill>
                                <a:latin typeface="Century Gothic" panose="020B0502020202020204" pitchFamily="34" charset="0"/>
                              </a:rPr>
                              <m:t> </m:t>
                            </m:r>
                            <m:r>
                              <m:rPr>
                                <m:nor/>
                              </m:rPr>
                              <a:rPr lang="en-US" sz="1200" b="1" dirty="0">
                                <a:solidFill>
                                  <a:schemeClr val="bg2">
                                    <a:lumMod val="75000"/>
                                    <a:lumOff val="25000"/>
                                  </a:schemeClr>
                                </a:solidFill>
                                <a:latin typeface="Century Gothic" panose="020B0502020202020204" pitchFamily="34" charset="0"/>
                              </a:rPr>
                              <m:t>label</m:t>
                            </m:r>
                          </m:oMath>
                        </m:oMathPara>
                      </a14:m>
                      <a:endParaRPr lang="en-US" sz="1200" b="1" dirty="0">
                        <a:solidFill>
                          <a:schemeClr val="bg2">
                            <a:lumMod val="75000"/>
                            <a:lumOff val="25000"/>
                          </a:schemeClr>
                        </a:solidFill>
                        <a:latin typeface="Century Gothic" panose="020B0502020202020204" pitchFamily="34" charset="0"/>
                      </a:endParaRPr>
                    </a:p>
                  </p:txBody>
                </p:sp>
              </mc:Choice>
              <mc:Fallback xmlns="">
                <p:sp>
                  <p:nvSpPr>
                    <p:cNvPr id="54" name="TextBox 53">
                      <a:extLst>
                        <a:ext uri="{FF2B5EF4-FFF2-40B4-BE49-F238E27FC236}">
                          <a16:creationId xmlns:a16="http://schemas.microsoft.com/office/drawing/2014/main" id="{80531B37-B4D4-F54A-ADAC-31D9B4246127}"/>
                        </a:ext>
                      </a:extLst>
                    </p:cNvPr>
                    <p:cNvSpPr txBox="1">
                      <a:spLocks noRot="1" noChangeAspect="1" noMove="1" noResize="1" noEditPoints="1" noAdjustHandles="1" noChangeArrowheads="1" noChangeShapeType="1" noTextEdit="1"/>
                    </p:cNvSpPr>
                    <p:nvPr/>
                  </p:nvSpPr>
                  <p:spPr>
                    <a:xfrm>
                      <a:off x="5193845" y="1433702"/>
                      <a:ext cx="3762204" cy="228110"/>
                    </a:xfrm>
                    <a:prstGeom prst="rect">
                      <a:avLst/>
                    </a:prstGeom>
                    <a:blipFill>
                      <a:blip r:embed="rId8"/>
                      <a:stretch>
                        <a:fillRect l="-415" t="-20000" r="-415" b="-40000"/>
                      </a:stretch>
                    </a:blipFill>
                  </p:spPr>
                  <p:txBody>
                    <a:bodyPr/>
                    <a:lstStyle/>
                    <a:p>
                      <a:r>
                        <a:rPr lang="en-US">
                          <a:noFill/>
                        </a:rPr>
                        <a:t> </a:t>
                      </a:r>
                    </a:p>
                  </p:txBody>
                </p:sp>
              </mc:Fallback>
            </mc:AlternateContent>
          </p:grpSp>
        </p:grpSp>
        <p:grpSp>
          <p:nvGrpSpPr>
            <p:cNvPr id="48" name="Group 47">
              <a:extLst>
                <a:ext uri="{FF2B5EF4-FFF2-40B4-BE49-F238E27FC236}">
                  <a16:creationId xmlns="" xmlns:a16="http://schemas.microsoft.com/office/drawing/2014/main" id="{C37796DB-9845-8444-A548-483937D42ECD}"/>
                </a:ext>
              </a:extLst>
            </p:cNvPr>
            <p:cNvGrpSpPr/>
            <p:nvPr/>
          </p:nvGrpSpPr>
          <p:grpSpPr>
            <a:xfrm>
              <a:off x="5802703" y="3610024"/>
              <a:ext cx="1069057" cy="323154"/>
              <a:chOff x="5498046" y="4982879"/>
              <a:chExt cx="1146638" cy="323154"/>
            </a:xfrm>
          </p:grpSpPr>
          <p:sp>
            <p:nvSpPr>
              <p:cNvPr id="49" name="Rectangle 48">
                <a:extLst>
                  <a:ext uri="{FF2B5EF4-FFF2-40B4-BE49-F238E27FC236}">
                    <a16:creationId xmlns="" xmlns:a16="http://schemas.microsoft.com/office/drawing/2014/main" id="{0F8155C8-4E7D-1241-981D-AA3F85A42A3B}"/>
                  </a:ext>
                </a:extLst>
              </p:cNvPr>
              <p:cNvSpPr/>
              <p:nvPr/>
            </p:nvSpPr>
            <p:spPr>
              <a:xfrm>
                <a:off x="5498046" y="5053012"/>
                <a:ext cx="1131882" cy="22164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 xmlns:a16="http://schemas.microsoft.com/office/drawing/2014/main" id="{4384E00C-A328-0F4A-9F4F-E13952D4A642}"/>
                  </a:ext>
                </a:extLst>
              </p:cNvPr>
              <p:cNvSpPr txBox="1"/>
              <p:nvPr/>
            </p:nvSpPr>
            <p:spPr>
              <a:xfrm>
                <a:off x="5499529" y="4982879"/>
                <a:ext cx="1145155" cy="323154"/>
              </a:xfrm>
              <a:prstGeom prst="rect">
                <a:avLst/>
              </a:prstGeom>
              <a:noFill/>
            </p:spPr>
            <p:txBody>
              <a:bodyPr wrap="none" rtlCol="0">
                <a:spAutoFit/>
              </a:bodyPr>
              <a:lstStyle/>
              <a:p>
                <a:r>
                  <a:rPr lang="en-US" sz="1100" dirty="0" err="1">
                    <a:solidFill>
                      <a:srgbClr val="0C0C0C"/>
                    </a:solidFill>
                    <a:latin typeface="+mj-lt"/>
                    <a:cs typeface="Arial" panose="020B0604020202020204" pitchFamily="34" charset="0"/>
                  </a:rPr>
                  <a:t>Seq</a:t>
                </a:r>
                <a:r>
                  <a:rPr lang="en-US" sz="1100" dirty="0">
                    <a:solidFill>
                      <a:srgbClr val="0C0C0C"/>
                    </a:solidFill>
                    <a:latin typeface="+mj-lt"/>
                    <a:cs typeface="Arial" panose="020B0604020202020204" pitchFamily="34" charset="0"/>
                  </a:rPr>
                  <a:t> Tagging</a:t>
                </a:r>
              </a:p>
            </p:txBody>
          </p:sp>
        </p:grpSp>
      </p:grpSp>
      <p:grpSp>
        <p:nvGrpSpPr>
          <p:cNvPr id="41" name="Group 40">
            <a:extLst>
              <a:ext uri="{FF2B5EF4-FFF2-40B4-BE49-F238E27FC236}">
                <a16:creationId xmlns="" xmlns:a16="http://schemas.microsoft.com/office/drawing/2014/main" id="{D91040AE-B697-2F4E-9B91-5A77F99CBD31}"/>
              </a:ext>
            </a:extLst>
          </p:cNvPr>
          <p:cNvGrpSpPr/>
          <p:nvPr/>
        </p:nvGrpSpPr>
        <p:grpSpPr>
          <a:xfrm>
            <a:off x="0" y="2954165"/>
            <a:ext cx="1303562" cy="920822"/>
            <a:chOff x="2558490" y="2470993"/>
            <a:chExt cx="1303562" cy="920822"/>
          </a:xfrm>
        </p:grpSpPr>
        <p:cxnSp>
          <p:nvCxnSpPr>
            <p:cNvPr id="24" name="Straight Arrow Connector 23">
              <a:extLst>
                <a:ext uri="{FF2B5EF4-FFF2-40B4-BE49-F238E27FC236}">
                  <a16:creationId xmlns="" xmlns:a16="http://schemas.microsoft.com/office/drawing/2014/main" id="{94E03CB3-D02D-4A4A-A2CC-DAE816168857}"/>
                </a:ext>
              </a:extLst>
            </p:cNvPr>
            <p:cNvCxnSpPr>
              <a:cxnSpLocks/>
            </p:cNvCxnSpPr>
            <p:nvPr/>
          </p:nvCxnSpPr>
          <p:spPr>
            <a:xfrm>
              <a:off x="3512140" y="2470993"/>
              <a:ext cx="0" cy="663188"/>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 xmlns:a16="http://schemas.microsoft.com/office/drawing/2014/main" id="{BD6BD1BD-C1CB-984F-AD03-50ED2294F849}"/>
                </a:ext>
              </a:extLst>
            </p:cNvPr>
            <p:cNvSpPr txBox="1"/>
            <p:nvPr/>
          </p:nvSpPr>
          <p:spPr>
            <a:xfrm>
              <a:off x="2558490" y="3114816"/>
              <a:ext cx="1303562" cy="276999"/>
            </a:xfrm>
            <a:prstGeom prst="rect">
              <a:avLst/>
            </a:prstGeom>
            <a:noFill/>
          </p:spPr>
          <p:txBody>
            <a:bodyPr wrap="none" rtlCol="0">
              <a:spAutoFit/>
            </a:bodyPr>
            <a:lstStyle/>
            <a:p>
              <a:r>
                <a:rPr lang="en-US" sz="1200" smtClean="0">
                  <a:solidFill>
                    <a:schemeClr val="bg2"/>
                  </a:solidFill>
                  <a:latin typeface="Century Gothic" panose="020B0502020202020204" pitchFamily="34" charset="0"/>
                </a:rPr>
                <a:t>more </a:t>
              </a:r>
              <a:r>
                <a:rPr lang="en-US" sz="1200" dirty="0">
                  <a:solidFill>
                    <a:schemeClr val="bg2"/>
                  </a:solidFill>
                  <a:latin typeface="Century Gothic" panose="020B0502020202020204" pitchFamily="34" charset="0"/>
                </a:rPr>
                <a:t>concave</a:t>
              </a:r>
            </a:p>
          </p:txBody>
        </p:sp>
      </p:grpSp>
    </p:spTree>
    <p:extLst>
      <p:ext uri="{BB962C8B-B14F-4D97-AF65-F5344CB8AC3E}">
        <p14:creationId xmlns:p14="http://schemas.microsoft.com/office/powerpoint/2010/main" val="44927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1000" fill="hold"/>
                                        <p:tgtEl>
                                          <p:spTgt spid="39"/>
                                        </p:tgtEl>
                                        <p:attrNameLst>
                                          <p:attrName>ppt_w</p:attrName>
                                        </p:attrNameLst>
                                      </p:cBhvr>
                                      <p:tavLst>
                                        <p:tav tm="0">
                                          <p:val>
                                            <p:strVal val="#ppt_w*0.70"/>
                                          </p:val>
                                        </p:tav>
                                        <p:tav tm="100000">
                                          <p:val>
                                            <p:strVal val="#ppt_w"/>
                                          </p:val>
                                        </p:tav>
                                      </p:tavLst>
                                    </p:anim>
                                    <p:anim calcmode="lin" valueType="num">
                                      <p:cBhvr>
                                        <p:cTn id="8" dur="1000" fill="hold"/>
                                        <p:tgtEl>
                                          <p:spTgt spid="39"/>
                                        </p:tgtEl>
                                        <p:attrNameLst>
                                          <p:attrName>ppt_h</p:attrName>
                                        </p:attrNameLst>
                                      </p:cBhvr>
                                      <p:tavLst>
                                        <p:tav tm="0">
                                          <p:val>
                                            <p:strVal val="#ppt_h"/>
                                          </p:val>
                                        </p:tav>
                                        <p:tav tm="100000">
                                          <p:val>
                                            <p:strVal val="#ppt_h"/>
                                          </p:val>
                                        </p:tav>
                                      </p:tavLst>
                                    </p:anim>
                                    <p:animEffect transition="in" filter="fade">
                                      <p:cBhvr>
                                        <p:cTn id="9" dur="1000"/>
                                        <p:tgtEl>
                                          <p:spTgt spid="39"/>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p:cTn id="13" dur="1000" fill="hold"/>
                                        <p:tgtEl>
                                          <p:spTgt spid="40"/>
                                        </p:tgtEl>
                                        <p:attrNameLst>
                                          <p:attrName>ppt_w</p:attrName>
                                        </p:attrNameLst>
                                      </p:cBhvr>
                                      <p:tavLst>
                                        <p:tav tm="0">
                                          <p:val>
                                            <p:strVal val="#ppt_w*0.70"/>
                                          </p:val>
                                        </p:tav>
                                        <p:tav tm="100000">
                                          <p:val>
                                            <p:strVal val="#ppt_w"/>
                                          </p:val>
                                        </p:tav>
                                      </p:tavLst>
                                    </p:anim>
                                    <p:anim calcmode="lin" valueType="num">
                                      <p:cBhvr>
                                        <p:cTn id="14" dur="1000" fill="hold"/>
                                        <p:tgtEl>
                                          <p:spTgt spid="40"/>
                                        </p:tgtEl>
                                        <p:attrNameLst>
                                          <p:attrName>ppt_h</p:attrName>
                                        </p:attrNameLst>
                                      </p:cBhvr>
                                      <p:tavLst>
                                        <p:tav tm="0">
                                          <p:val>
                                            <p:strVal val="#ppt_h"/>
                                          </p:val>
                                        </p:tav>
                                        <p:tav tm="100000">
                                          <p:val>
                                            <p:strVal val="#ppt_h"/>
                                          </p:val>
                                        </p:tav>
                                      </p:tavLst>
                                    </p:anim>
                                    <p:animEffect transition="in" filter="fade">
                                      <p:cBhvr>
                                        <p:cTn id="15" dur="1000"/>
                                        <p:tgtEl>
                                          <p:spTgt spid="40"/>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 calcmode="lin" valueType="num">
                                      <p:cBhvr>
                                        <p:cTn id="19" dur="1000" fill="hold"/>
                                        <p:tgtEl>
                                          <p:spTgt spid="38"/>
                                        </p:tgtEl>
                                        <p:attrNameLst>
                                          <p:attrName>ppt_w</p:attrName>
                                        </p:attrNameLst>
                                      </p:cBhvr>
                                      <p:tavLst>
                                        <p:tav tm="0">
                                          <p:val>
                                            <p:strVal val="#ppt_w*0.70"/>
                                          </p:val>
                                        </p:tav>
                                        <p:tav tm="100000">
                                          <p:val>
                                            <p:strVal val="#ppt_w"/>
                                          </p:val>
                                        </p:tav>
                                      </p:tavLst>
                                    </p:anim>
                                    <p:anim calcmode="lin" valueType="num">
                                      <p:cBhvr>
                                        <p:cTn id="20" dur="1000" fill="hold"/>
                                        <p:tgtEl>
                                          <p:spTgt spid="38"/>
                                        </p:tgtEl>
                                        <p:attrNameLst>
                                          <p:attrName>ppt_h</p:attrName>
                                        </p:attrNameLst>
                                      </p:cBhvr>
                                      <p:tavLst>
                                        <p:tav tm="0">
                                          <p:val>
                                            <p:strVal val="#ppt_h"/>
                                          </p:val>
                                        </p:tav>
                                        <p:tav tm="100000">
                                          <p:val>
                                            <p:strVal val="#ppt_h"/>
                                          </p:val>
                                        </p:tav>
                                      </p:tavLst>
                                    </p:anim>
                                    <p:animEffect transition="in" filter="fade">
                                      <p:cBhvr>
                                        <p:cTn id="21" dur="10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up)">
                                      <p:cBhvr>
                                        <p:cTn id="26" dur="500"/>
                                        <p:tgtEl>
                                          <p:spTgt spid="4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left)">
                                      <p:cBhvr>
                                        <p:cTn id="3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t>What is </a:t>
                </a:r>
                <a14:m>
                  <m:oMath xmlns:m="http://schemas.openxmlformats.org/officeDocument/2006/math">
                    <m:sSub>
                      <m:sSubPr>
                        <m:ctrlPr>
                          <a:rPr lang="en-US" b="0" i="1" smtClean="0">
                            <a:latin typeface="Cambria Math" charset="0"/>
                          </a:rPr>
                        </m:ctrlPr>
                      </m:sSubPr>
                      <m:e>
                        <m:r>
                          <a:rPr lang="en-US" b="0" i="1" smtClean="0">
                            <a:latin typeface="Cambria Math" charset="0"/>
                          </a:rPr>
                          <m:t>𝐼</m:t>
                        </m:r>
                      </m:e>
                      <m:sub>
                        <m:r>
                          <a:rPr lang="en-US" b="0" i="1" smtClean="0">
                            <a:latin typeface="Cambria Math" charset="0"/>
                          </a:rPr>
                          <m:t>𝑘</m:t>
                        </m:r>
                      </m:sub>
                    </m:sSub>
                  </m:oMath>
                </a14:m>
                <a:r>
                  <a:rPr lang="en-US" dirty="0"/>
                  <a:t> actually?</a:t>
                </a:r>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a:blip r:embed="rId3"/>
                <a:stretch>
                  <a:fillRect l="-1794" t="-16279" b="-372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pPr marL="0" indent="0">
                  <a:buNone/>
                </a:pPr>
                <a:r>
                  <a:rPr lang="en-US" sz="2400" dirty="0"/>
                  <a:t>Definition: A</a:t>
                </a:r>
                <a:r>
                  <a:rPr lang="en-US" sz="2400" b="1" dirty="0"/>
                  <a:t> </a:t>
                </a:r>
                <a14:m>
                  <m:oMath xmlns:m="http://schemas.openxmlformats.org/officeDocument/2006/math">
                    <m:r>
                      <a:rPr lang="en-US" sz="2400" b="1" i="1" smtClean="0">
                        <a:latin typeface="Cambria Math" charset="0"/>
                      </a:rPr>
                      <m:t>𝒌</m:t>
                    </m:r>
                  </m:oMath>
                </a14:m>
                <a:r>
                  <a:rPr lang="en-US" sz="2400" b="1" dirty="0"/>
                  <a:t>-partial annotation</a:t>
                </a:r>
                <a:r>
                  <a:rPr lang="en-US" sz="2400" dirty="0"/>
                  <a:t> </a:t>
                </a:r>
                <a14:m>
                  <m:oMath xmlns:m="http://schemas.openxmlformats.org/officeDocument/2006/math">
                    <m:sSub>
                      <m:sSubPr>
                        <m:ctrlPr>
                          <a:rPr lang="en-US" sz="2400" i="1">
                            <a:latin typeface="Cambria Math" charset="0"/>
                          </a:rPr>
                        </m:ctrlPr>
                      </m:sSubPr>
                      <m:e>
                        <m:r>
                          <a:rPr lang="en-US" sz="2400" i="1">
                            <a:latin typeface="Cambria Math" charset="0"/>
                          </a:rPr>
                          <m:t>𝐴</m:t>
                        </m:r>
                      </m:e>
                      <m:sub>
                        <m:r>
                          <a:rPr lang="en-US" sz="2400" i="1">
                            <a:latin typeface="Cambria Math" charset="0"/>
                          </a:rPr>
                          <m:t>𝑘</m:t>
                        </m:r>
                      </m:sub>
                    </m:sSub>
                  </m:oMath>
                </a14:m>
                <a:r>
                  <a:rPr lang="en-US" sz="2400" dirty="0" smtClean="0"/>
                  <a:t> </a:t>
                </a:r>
                <a:r>
                  <a:rPr lang="en-US" sz="2400" dirty="0"/>
                  <a:t>is</a:t>
                </a:r>
                <a:r>
                  <a:rPr lang="en-US" sz="2400" i="1" dirty="0"/>
                  <a:t> </a:t>
                </a:r>
                <a:r>
                  <a:rPr lang="en-US" sz="2400" dirty="0"/>
                  <a:t>a vector of random variables </a:t>
                </a:r>
                <a14:m>
                  <m:oMath xmlns:m="http://schemas.openxmlformats.org/officeDocument/2006/math">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sub>
                    </m:sSub>
                    <m:r>
                      <a:rPr lang="en-US" sz="2400" b="0" i="1" smtClean="0">
                        <a:latin typeface="Cambria Math" charset="0"/>
                      </a:rPr>
                      <m:t>=</m:t>
                    </m:r>
                    <m:d>
                      <m:dPr>
                        <m:begChr m:val="["/>
                        <m:endChr m:val="]"/>
                        <m:ctrlPr>
                          <a:rPr lang="en-US" sz="2400" b="0" i="1" smtClean="0">
                            <a:latin typeface="Cambria Math" charset="0"/>
                          </a:rPr>
                        </m:ctrlPr>
                      </m:dPr>
                      <m:e>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,1</m:t>
                            </m:r>
                          </m:sub>
                        </m:sSub>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,2</m:t>
                            </m:r>
                          </m:sub>
                        </m:sSub>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r>
                              <a:rPr lang="en-US" sz="2400" b="0" i="1" smtClean="0">
                                <a:latin typeface="Cambria Math" charset="0"/>
                              </a:rPr>
                              <m:t>,</m:t>
                            </m:r>
                            <m:r>
                              <a:rPr lang="en-US" sz="2400" b="0" i="1" smtClean="0">
                                <a:latin typeface="Cambria Math" charset="0"/>
                              </a:rPr>
                              <m:t>𝑑</m:t>
                            </m:r>
                          </m:sub>
                        </m:sSub>
                      </m:e>
                    </m:d>
                    <m:r>
                      <a:rPr lang="en-US" sz="2400" b="0" i="1" smtClean="0">
                        <a:latin typeface="Cambria Math" charset="0"/>
                      </a:rPr>
                      <m:t>∈</m:t>
                    </m:r>
                    <m:sSup>
                      <m:sSupPr>
                        <m:ctrlPr>
                          <a:rPr lang="en-US" sz="2400" b="0" i="1" smtClean="0">
                            <a:latin typeface="Cambria Math" charset="0"/>
                          </a:rPr>
                        </m:ctrlPr>
                      </m:sSupPr>
                      <m:e>
                        <m:d>
                          <m:dPr>
                            <m:ctrlPr>
                              <a:rPr lang="en-US" sz="2400" b="0" i="1" smtClean="0">
                                <a:latin typeface="Cambria Math" charset="0"/>
                              </a:rPr>
                            </m:ctrlPr>
                          </m:dPr>
                          <m:e>
                            <m:r>
                              <a:rPr lang="en-US" sz="2400" b="0" i="1" smtClean="0">
                                <a:latin typeface="Cambria Math" charset="0"/>
                              </a:rPr>
                              <m:t>ℒ</m:t>
                            </m:r>
                            <m:r>
                              <a:rPr lang="en-US" sz="2400" b="0" i="1" smtClean="0">
                                <a:latin typeface="Cambria Math" charset="0"/>
                              </a:rPr>
                              <m:t>∪⊓</m:t>
                            </m:r>
                          </m:e>
                        </m:d>
                      </m:e>
                      <m:sup>
                        <m:r>
                          <a:rPr lang="en-US" sz="2400" b="0" i="1" smtClean="0">
                            <a:latin typeface="Cambria Math" charset="0"/>
                          </a:rPr>
                          <m:t>𝑑</m:t>
                        </m:r>
                      </m:sup>
                    </m:sSup>
                  </m:oMath>
                </a14:m>
                <a:r>
                  <a:rPr lang="en-US" sz="2400" dirty="0"/>
                  <a:t>, where </a:t>
                </a:r>
                <a14:m>
                  <m:oMath xmlns:m="http://schemas.openxmlformats.org/officeDocument/2006/math">
                    <m:r>
                      <a:rPr lang="en-US" sz="2400" b="0" i="1" smtClean="0">
                        <a:latin typeface="Cambria Math" charset="0"/>
                      </a:rPr>
                      <m:t>⊓</m:t>
                    </m:r>
                  </m:oMath>
                </a14:m>
                <a:r>
                  <a:rPr lang="en-US" sz="2400" dirty="0"/>
                  <a:t> is a special character for no label yet, such that </a:t>
                </a:r>
              </a:p>
              <a:p>
                <a:pPr lvl="1"/>
                <a14:m>
                  <m:oMath xmlns:m="http://schemas.openxmlformats.org/officeDocument/2006/math">
                    <m:nary>
                      <m:naryPr>
                        <m:chr m:val="∑"/>
                        <m:ctrlPr>
                          <a:rPr lang="en-US" sz="2000" b="0" i="1" smtClean="0">
                            <a:latin typeface="Cambria Math" charset="0"/>
                          </a:rPr>
                        </m:ctrlPr>
                      </m:naryPr>
                      <m:sub>
                        <m:r>
                          <a:rPr lang="en-US" sz="2000" b="0" i="1" smtClean="0">
                            <a:latin typeface="Cambria Math" charset="0"/>
                          </a:rPr>
                          <m:t>𝑖</m:t>
                        </m:r>
                        <m:r>
                          <a:rPr lang="en-US" sz="2000" b="0" i="1" smtClean="0">
                            <a:latin typeface="Cambria Math" charset="0"/>
                          </a:rPr>
                          <m:t>=1</m:t>
                        </m:r>
                      </m:sub>
                      <m:sup>
                        <m:r>
                          <a:rPr lang="en-US" sz="2000" b="0" i="1" smtClean="0">
                            <a:latin typeface="Cambria Math" charset="0"/>
                          </a:rPr>
                          <m:t>𝑑</m:t>
                        </m:r>
                      </m:sup>
                      <m:e>
                        <m:r>
                          <a:rPr lang="en-US" sz="2000" i="1">
                            <a:latin typeface="Cambria Math" charset="0"/>
                            <a:ea typeface="Cambria Math" charset="0"/>
                            <a:cs typeface="Cambria Math" charset="0"/>
                          </a:rPr>
                          <m:t>𝕀</m:t>
                        </m:r>
                        <m:r>
                          <a:rPr lang="en-US" sz="2000" b="0" i="1" smtClean="0">
                            <a:latin typeface="Cambria Math" charset="0"/>
                            <a:ea typeface="Cambria Math" charset="0"/>
                            <a:cs typeface="Cambria Math" charset="0"/>
                          </a:rPr>
                          <m:t>(</m:t>
                        </m:r>
                        <m:sSub>
                          <m:sSubPr>
                            <m:ctrlPr>
                              <a:rPr lang="en-US" sz="2000" b="0" i="1" smtClean="0">
                                <a:latin typeface="Cambria Math" charset="0"/>
                                <a:ea typeface="Cambria Math" charset="0"/>
                                <a:cs typeface="Cambria Math" charset="0"/>
                              </a:rPr>
                            </m:ctrlPr>
                          </m:sSubPr>
                          <m:e>
                            <m:r>
                              <a:rPr lang="en-US" sz="2000" b="0" i="1" smtClean="0">
                                <a:latin typeface="Cambria Math" charset="0"/>
                                <a:ea typeface="Cambria Math" charset="0"/>
                                <a:cs typeface="Cambria Math" charset="0"/>
                              </a:rPr>
                              <m:t>𝐴</m:t>
                            </m:r>
                          </m:e>
                          <m:sub>
                            <m:r>
                              <a:rPr lang="en-US" sz="2000" b="0" i="1" smtClean="0">
                                <a:latin typeface="Cambria Math" charset="0"/>
                                <a:ea typeface="Cambria Math" charset="0"/>
                                <a:cs typeface="Cambria Math" charset="0"/>
                              </a:rPr>
                              <m:t>𝑘</m:t>
                            </m:r>
                            <m:r>
                              <a:rPr lang="en-US" sz="2000" b="0" i="1" smtClean="0">
                                <a:latin typeface="Cambria Math" charset="0"/>
                                <a:ea typeface="Cambria Math" charset="0"/>
                                <a:cs typeface="Cambria Math" charset="0"/>
                              </a:rPr>
                              <m:t>,</m:t>
                            </m:r>
                            <m:r>
                              <a:rPr lang="en-US" sz="2000" b="0" i="1" smtClean="0">
                                <a:latin typeface="Cambria Math" charset="0"/>
                                <a:ea typeface="Cambria Math" charset="0"/>
                                <a:cs typeface="Cambria Math" charset="0"/>
                              </a:rPr>
                              <m:t>𝑖</m:t>
                            </m:r>
                          </m:sub>
                        </m:sSub>
                        <m:r>
                          <a:rPr lang="en-US" sz="2000" b="0" i="1" smtClean="0">
                            <a:latin typeface="Cambria Math" charset="0"/>
                            <a:ea typeface="Cambria Math" charset="0"/>
                            <a:cs typeface="Cambria Math" charset="0"/>
                          </a:rPr>
                          <m:t>≠⊓)</m:t>
                        </m:r>
                      </m:e>
                    </m:nary>
                    <m:r>
                      <a:rPr lang="en-US" sz="2000" b="0" i="1" smtClean="0">
                        <a:latin typeface="Cambria Math" charset="0"/>
                      </a:rPr>
                      <m:t>=</m:t>
                    </m:r>
                    <m:r>
                      <a:rPr lang="en-US" sz="2000" b="0" i="1" smtClean="0">
                        <a:latin typeface="Cambria Math" charset="0"/>
                      </a:rPr>
                      <m:t>𝑘</m:t>
                    </m:r>
                  </m:oMath>
                </a14:m>
                <a:endParaRPr lang="en-US" sz="2000" dirty="0"/>
              </a:p>
              <a:p>
                <a:pPr lvl="1"/>
                <a14:m>
                  <m:oMath xmlns:m="http://schemas.openxmlformats.org/officeDocument/2006/math">
                    <m:r>
                      <a:rPr lang="en-US" sz="2000" b="0" i="1" smtClean="0">
                        <a:latin typeface="Cambria Math" charset="0"/>
                      </a:rPr>
                      <m:t>𝑃</m:t>
                    </m:r>
                    <m:d>
                      <m:dPr>
                        <m:ctrlPr>
                          <a:rPr lang="en-US" sz="2000" b="0" i="1" smtClean="0">
                            <a:latin typeface="Cambria Math" charset="0"/>
                          </a:rPr>
                        </m:ctrlPr>
                      </m:dPr>
                      <m:e>
                        <m:r>
                          <a:rPr lang="en-US" sz="2000" b="0" i="1" smtClean="0">
                            <a:latin typeface="Cambria Math" charset="0"/>
                          </a:rPr>
                          <m:t>𝑌</m:t>
                        </m:r>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charset="0"/>
                              </a:rPr>
                              <m:t>𝐴</m:t>
                            </m:r>
                          </m:e>
                          <m:sub>
                            <m:r>
                              <a:rPr lang="en-US" sz="2000" b="0" i="1" smtClean="0">
                                <a:latin typeface="Cambria Math" charset="0"/>
                              </a:rPr>
                              <m:t>𝑘</m:t>
                            </m:r>
                          </m:sub>
                        </m:sSub>
                        <m:r>
                          <a:rPr lang="en-US" sz="2000" b="0" i="1" smtClean="0">
                            <a:latin typeface="Cambria Math" charset="0"/>
                          </a:rPr>
                          <m:t>=</m:t>
                        </m:r>
                        <m:sSub>
                          <m:sSubPr>
                            <m:ctrlPr>
                              <a:rPr lang="en-US" sz="2000" b="0" i="1" smtClean="0">
                                <a:latin typeface="Cambria Math" charset="0"/>
                              </a:rPr>
                            </m:ctrlPr>
                          </m:sSubPr>
                          <m:e>
                            <m:r>
                              <a:rPr lang="en-US" sz="2000" b="0" i="1" smtClean="0">
                                <a:latin typeface="Cambria Math" charset="0"/>
                              </a:rPr>
                              <m:t>𝑎</m:t>
                            </m:r>
                          </m:e>
                          <m:sub>
                            <m:r>
                              <a:rPr lang="en-US" sz="2000" b="0" i="1" smtClean="0">
                                <a:latin typeface="Cambria Math" charset="0"/>
                              </a:rPr>
                              <m:t>𝑘</m:t>
                            </m:r>
                          </m:sub>
                        </m:sSub>
                      </m:e>
                    </m:d>
                    <m:r>
                      <a:rPr lang="en-US" sz="2000" b="0" i="1" smtClean="0">
                        <a:latin typeface="Cambria Math" charset="0"/>
                      </a:rPr>
                      <m:t>=</m:t>
                    </m:r>
                    <m:r>
                      <a:rPr lang="en-US" sz="2000" b="0" i="1" smtClean="0">
                        <a:latin typeface="Cambria Math" charset="0"/>
                      </a:rPr>
                      <m:t>𝑃</m:t>
                    </m:r>
                    <m:r>
                      <a:rPr lang="en-US" sz="2000" b="0" i="1" smtClean="0">
                        <a:latin typeface="Cambria Math" charset="0"/>
                      </a:rPr>
                      <m:t>(</m:t>
                    </m:r>
                    <m:r>
                      <a:rPr lang="en-US" sz="2000" b="0" i="1" smtClean="0">
                        <a:latin typeface="Cambria Math" charset="0"/>
                      </a:rPr>
                      <m:t>𝑌</m:t>
                    </m:r>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sSub>
                      <m:sSubPr>
                        <m:ctrlPr>
                          <a:rPr lang="en-US" sz="2000" b="0" i="1" smtClean="0">
                            <a:latin typeface="Cambria Math"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m:t>
                    </m:r>
                    <m:r>
                      <a:rPr lang="en-US" sz="2000" b="0" i="1" smtClean="0">
                        <a:latin typeface="Cambria Math" panose="02040503050406030204" pitchFamily="18" charset="0"/>
                      </a:rPr>
                      <m:t>𝒥</m:t>
                    </m:r>
                    <m:r>
                      <a:rPr lang="en-US" sz="2000" b="0" i="1" smtClean="0">
                        <a:latin typeface="Cambria Math" charset="0"/>
                      </a:rPr>
                      <m:t>)</m:t>
                    </m:r>
                  </m:oMath>
                </a14:m>
                <a:r>
                  <a:rPr lang="en-US" sz="2000" dirty="0"/>
                  <a:t>, where </a:t>
                </a:r>
                <a14:m>
                  <m:oMath xmlns:m="http://schemas.openxmlformats.org/officeDocument/2006/math">
                    <m:r>
                      <a:rPr lang="en-US" sz="2000" b="0" i="1" smtClean="0">
                        <a:latin typeface="Cambria Math" panose="02040503050406030204" pitchFamily="18" charset="0"/>
                      </a:rPr>
                      <m:t>𝒥</m:t>
                    </m:r>
                    <m:r>
                      <a:rPr lang="en-US" sz="2000" b="0" i="1" smtClean="0">
                        <a:latin typeface="Cambria Math" panose="02040503050406030204" pitchFamily="18" charset="0"/>
                      </a:rPr>
                      <m:t>=</m:t>
                    </m:r>
                    <m:d>
                      <m:dPr>
                        <m:begChr m:val="{"/>
                        <m:endChr m:val="}"/>
                        <m:ctrlPr>
                          <a:rPr lang="en-US" sz="2000" i="1">
                            <a:latin typeface="Cambria Math" charset="0"/>
                          </a:rPr>
                        </m:ctrlPr>
                      </m:dPr>
                      <m:e>
                        <m:r>
                          <a:rPr lang="en-US" sz="2000" i="1">
                            <a:latin typeface="Cambria Math" panose="02040503050406030204" pitchFamily="18" charset="0"/>
                          </a:rPr>
                          <m:t>𝑗</m:t>
                        </m:r>
                        <m:r>
                          <a:rPr lang="en-US" sz="2000" i="1">
                            <a:latin typeface="Cambria Math" panose="02040503050406030204" pitchFamily="18" charset="0"/>
                          </a:rPr>
                          <m:t>:</m:t>
                        </m:r>
                        <m:sSub>
                          <m:sSubPr>
                            <m:ctrlPr>
                              <a:rPr lang="en-US" sz="2000" i="1">
                                <a:latin typeface="Cambria Math" charset="0"/>
                              </a:rPr>
                            </m:ctrlPr>
                          </m:sSubPr>
                          <m:e>
                            <m:r>
                              <a:rPr lang="en-US" sz="2000" i="1">
                                <a:latin typeface="Cambria Math" panose="02040503050406030204" pitchFamily="18" charset="0"/>
                              </a:rPr>
                              <m:t>𝑎</m:t>
                            </m:r>
                          </m:e>
                          <m:sub>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𝑗</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e>
                    </m:d>
                  </m:oMath>
                </a14:m>
                <a:endParaRPr lang="en-US" sz="2000" dirty="0"/>
              </a:p>
              <a:p>
                <a:pPr lvl="1"/>
                <a14:m>
                  <m:oMath xmlns:m="http://schemas.openxmlformats.org/officeDocument/2006/math">
                    <m:sSub>
                      <m:sSubPr>
                        <m:ctrlPr>
                          <a:rPr lang="en-US" sz="2000" i="1">
                            <a:latin typeface="Cambria Math" charset="0"/>
                          </a:rPr>
                        </m:ctrlPr>
                      </m:sSubPr>
                      <m:e>
                        <m:r>
                          <a:rPr lang="en-US" sz="2000" i="1">
                            <a:latin typeface="Cambria Math" charset="0"/>
                          </a:rPr>
                          <m:t>𝐴</m:t>
                        </m:r>
                      </m:e>
                      <m:sub>
                        <m:r>
                          <a:rPr lang="en-US" sz="2000" i="1">
                            <a:latin typeface="Cambria Math" charset="0"/>
                          </a:rPr>
                          <m:t>𝑘</m:t>
                        </m:r>
                      </m:sub>
                    </m:sSub>
                  </m:oMath>
                </a14:m>
                <a:r>
                  <a:rPr lang="en-US" sz="2000" dirty="0"/>
                  <a:t> means k variables in Y are labeled, and they are correct</a:t>
                </a:r>
              </a:p>
              <a:p>
                <a:endParaRPr lang="en-US" sz="2400" dirty="0"/>
              </a:p>
              <a:p>
                <a:endParaRPr lang="en-US" sz="2400" dirty="0"/>
              </a:p>
              <a:p>
                <a:pPr marL="0" indent="0">
                  <a:buNone/>
                </a:pPr>
                <a:r>
                  <a:rPr lang="en-US" sz="2400" b="1" dirty="0"/>
                  <a:t>Theorem</a:t>
                </a:r>
                <a:r>
                  <a:rPr lang="en-US" sz="2400" dirty="0"/>
                  <a:t>: </a:t>
                </a:r>
                <a14:m>
                  <m:oMath xmlns:m="http://schemas.openxmlformats.org/officeDocument/2006/math">
                    <m:sSub>
                      <m:sSubPr>
                        <m:ctrlPr>
                          <a:rPr lang="en-US" sz="2400" i="1">
                            <a:latin typeface="Cambria Math" charset="0"/>
                          </a:rPr>
                        </m:ctrlPr>
                      </m:sSubPr>
                      <m:e>
                        <m:r>
                          <a:rPr lang="en-US" sz="2400" i="1">
                            <a:latin typeface="Cambria Math" charset="0"/>
                          </a:rPr>
                          <m:t>𝐼</m:t>
                        </m:r>
                      </m:e>
                      <m:sub>
                        <m:r>
                          <a:rPr lang="en-US" sz="2400" i="1">
                            <a:latin typeface="Cambria Math" charset="0"/>
                          </a:rPr>
                          <m:t>𝑘</m:t>
                        </m:r>
                      </m:sub>
                    </m:sSub>
                  </m:oMath>
                </a14:m>
                <a:r>
                  <a:rPr lang="en-US" sz="2400" dirty="0"/>
                  <a:t> is the mutual information </a:t>
                </a:r>
                <a:r>
                  <a:rPr lang="en-US" sz="2400" dirty="0" smtClean="0"/>
                  <a:t>between </a:t>
                </a:r>
                <a14:m>
                  <m:oMath xmlns:m="http://schemas.openxmlformats.org/officeDocument/2006/math">
                    <m:r>
                      <a:rPr lang="en-US" sz="2400" i="1">
                        <a:latin typeface="Cambria Math" charset="0"/>
                      </a:rPr>
                      <m:t>𝑌</m:t>
                    </m:r>
                  </m:oMath>
                </a14:m>
                <a:r>
                  <a:rPr lang="en-US" sz="2400" dirty="0" smtClean="0"/>
                  <a:t> and </a:t>
                </a:r>
                <a14:m>
                  <m:oMath xmlns:m="http://schemas.openxmlformats.org/officeDocument/2006/math">
                    <m:sSub>
                      <m:sSubPr>
                        <m:ctrlPr>
                          <a:rPr lang="en-US" sz="2400" b="0" i="1" smtClean="0">
                            <a:latin typeface="Cambria Math" charset="0"/>
                          </a:rPr>
                        </m:ctrlPr>
                      </m:sSubPr>
                      <m:e>
                        <m:r>
                          <a:rPr lang="en-US" sz="2400" b="0" i="1" smtClean="0">
                            <a:latin typeface="Cambria Math" charset="0"/>
                          </a:rPr>
                          <m:t>𝐴</m:t>
                        </m:r>
                      </m:e>
                      <m:sub>
                        <m:r>
                          <a:rPr lang="en-US" sz="2400" b="0" i="1" smtClean="0">
                            <a:latin typeface="Cambria Math" charset="0"/>
                          </a:rPr>
                          <m:t>𝑘</m:t>
                        </m:r>
                      </m:sub>
                    </m:sSub>
                  </m:oMath>
                </a14:m>
                <a:r>
                  <a:rPr lang="en-US" sz="2400" dirty="0"/>
                  <a:t> </a:t>
                </a:r>
                <a:r>
                  <a:rPr lang="en-US" sz="2400" dirty="0" smtClean="0"/>
                  <a:t>when </a:t>
                </a:r>
                <a:r>
                  <a:rPr lang="en-US" sz="2400" dirty="0"/>
                  <a:t>both </a:t>
                </a:r>
                <a14:m>
                  <m:oMath xmlns:m="http://schemas.openxmlformats.org/officeDocument/2006/math">
                    <m:r>
                      <a:rPr lang="en-US" sz="2400" b="0" i="1" smtClean="0">
                        <a:latin typeface="Cambria Math" charset="0"/>
                      </a:rPr>
                      <m:t>𝑌</m:t>
                    </m:r>
                  </m:oMath>
                </a14:m>
                <a:r>
                  <a:rPr lang="en-US" sz="2400" dirty="0"/>
                  <a:t> and the </a:t>
                </a:r>
                <a14:m>
                  <m:oMath xmlns:m="http://schemas.openxmlformats.org/officeDocument/2006/math">
                    <m:r>
                      <a:rPr lang="en-US" sz="2400" i="1">
                        <a:latin typeface="Cambria Math" charset="0"/>
                      </a:rPr>
                      <m:t>𝑘</m:t>
                    </m:r>
                  </m:oMath>
                </a14:m>
                <a:r>
                  <a:rPr lang="en-US" sz="2400" dirty="0"/>
                  <a:t> variables labeled in </a:t>
                </a:r>
                <a14:m>
                  <m:oMath xmlns:m="http://schemas.openxmlformats.org/officeDocument/2006/math">
                    <m:sSub>
                      <m:sSubPr>
                        <m:ctrlPr>
                          <a:rPr lang="en-US" sz="2400" i="1">
                            <a:latin typeface="Cambria Math" charset="0"/>
                          </a:rPr>
                        </m:ctrlPr>
                      </m:sSubPr>
                      <m:e>
                        <m:r>
                          <a:rPr lang="en-US" sz="2400" i="1">
                            <a:latin typeface="Cambria Math" charset="0"/>
                          </a:rPr>
                          <m:t>𝐴</m:t>
                        </m:r>
                      </m:e>
                      <m:sub>
                        <m:r>
                          <a:rPr lang="en-US" sz="2400" i="1">
                            <a:latin typeface="Cambria Math" charset="0"/>
                          </a:rPr>
                          <m:t>𝑘</m:t>
                        </m:r>
                      </m:sub>
                    </m:sSub>
                  </m:oMath>
                </a14:m>
                <a:r>
                  <a:rPr lang="en-US" sz="2400" dirty="0"/>
                  <a:t> follow uniform distributions.</a:t>
                </a:r>
              </a:p>
              <a:p>
                <a:pPr marL="457200" lvl="1" indent="0">
                  <a:buNone/>
                </a:pPr>
                <a:endParaRPr lang="en-US" sz="2000" dirty="0"/>
              </a:p>
              <a:p>
                <a:endParaRPr lang="en-US" sz="2400"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rotWithShape="0">
                <a:blip r:embed="rId4"/>
                <a:stretch>
                  <a:fillRect l="-1143" t="-941"/>
                </a:stretch>
              </a:blipFill>
            </p:spPr>
            <p:txBody>
              <a:bodyPr/>
              <a:lstStyle/>
              <a:p>
                <a:r>
                  <a:rPr lang="en-US">
                    <a:noFill/>
                  </a:rPr>
                  <a:t> </a:t>
                </a:r>
              </a:p>
            </p:txBody>
          </p:sp>
        </mc:Fallback>
      </mc:AlternateContent>
      <p:sp>
        <p:nvSpPr>
          <p:cNvPr id="2" name="Rounded Rectangle 1">
            <a:extLst>
              <a:ext uri="{FF2B5EF4-FFF2-40B4-BE49-F238E27FC236}">
                <a16:creationId xmlns="" xmlns:a16="http://schemas.microsoft.com/office/drawing/2014/main" id="{E204EED4-EB75-7044-B4A2-E7E9EB5A19D4}"/>
              </a:ext>
            </a:extLst>
          </p:cNvPr>
          <p:cNvSpPr/>
          <p:nvPr/>
        </p:nvSpPr>
        <p:spPr>
          <a:xfrm>
            <a:off x="228600" y="4402723"/>
            <a:ext cx="8686800" cy="1371600"/>
          </a:xfrm>
          <a:prstGeom prst="roundRect">
            <a:avLst/>
          </a:prstGeom>
          <a:no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287452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dissolv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mph" presetSubtype="0" nodeType="clickEffect">
                                  <p:stCondLst>
                                    <p:cond delay="0"/>
                                  </p:stCondLst>
                                  <p:childTnLst>
                                    <p:set>
                                      <p:cBhvr>
                                        <p:cTn id="17" dur="indefinite"/>
                                        <p:tgtEl>
                                          <p:spTgt spid="6">
                                            <p:txEl>
                                              <p:pRg st="1" end="1"/>
                                            </p:txEl>
                                          </p:spTgt>
                                        </p:tgtEl>
                                        <p:attrNameLst>
                                          <p:attrName>style.opacity</p:attrName>
                                        </p:attrNameLst>
                                      </p:cBhvr>
                                      <p:to>
                                        <p:strVal val="0.5"/>
                                      </p:to>
                                    </p:set>
                                    <p:animEffect filter="image" prLst="opacity: 0.5">
                                      <p:cBhvr rctx="IE">
                                        <p:cTn id="18" dur="indefinite"/>
                                        <p:tgtEl>
                                          <p:spTgt spid="6">
                                            <p:txEl>
                                              <p:pRg st="1" end="1"/>
                                            </p:txEl>
                                          </p:spTgt>
                                        </p:tgtEl>
                                      </p:cBhvr>
                                    </p:animEffect>
                                  </p:childTnLst>
                                </p:cTn>
                              </p:par>
                              <p:par>
                                <p:cTn id="19" presetID="9" presetClass="emph" presetSubtype="0" nodeType="withEffect">
                                  <p:stCondLst>
                                    <p:cond delay="0"/>
                                  </p:stCondLst>
                                  <p:childTnLst>
                                    <p:set>
                                      <p:cBhvr>
                                        <p:cTn id="20" dur="indefinite"/>
                                        <p:tgtEl>
                                          <p:spTgt spid="6">
                                            <p:txEl>
                                              <p:pRg st="2" end="2"/>
                                            </p:txEl>
                                          </p:spTgt>
                                        </p:tgtEl>
                                        <p:attrNameLst>
                                          <p:attrName>style.opacity</p:attrName>
                                        </p:attrNameLst>
                                      </p:cBhvr>
                                      <p:to>
                                        <p:strVal val="0.5"/>
                                      </p:to>
                                    </p:set>
                                    <p:animEffect filter="image" prLst="opacity: 0.5">
                                      <p:cBhvr rctx="IE">
                                        <p:cTn id="21" dur="indefinite"/>
                                        <p:tgtEl>
                                          <p:spTgt spid="6">
                                            <p:txEl>
                                              <p:pRg st="2" end="2"/>
                                            </p:txEl>
                                          </p:spTgt>
                                        </p:tgtEl>
                                      </p:cBhvr>
                                    </p:animEffect>
                                  </p:childTnLst>
                                </p:cTn>
                              </p:par>
                            </p:childTnLst>
                          </p:cTn>
                        </p:par>
                        <p:par>
                          <p:cTn id="22" fill="hold">
                            <p:stCondLst>
                              <p:cond delay="0"/>
                            </p:stCondLst>
                            <p:childTnLst>
                              <p:par>
                                <p:cTn id="23" presetID="9" presetClass="entr" presetSubtype="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dissolve">
                                      <p:cBhvr>
                                        <p:cTn id="25" dur="500"/>
                                        <p:tgtEl>
                                          <p:spTgt spid="6">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dissolve">
                                      <p:cBhvr>
                                        <p:cTn id="30" dur="500"/>
                                        <p:tgtEl>
                                          <p:spTgt spid="6">
                                            <p:txEl>
                                              <p:pRg st="6" end="6"/>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dissolve">
                                      <p:cBhvr>
                                        <p:cTn id="3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Unique </a:t>
            </a:r>
            <a:r>
              <a:rPr lang="en-US" dirty="0"/>
              <a:t>view of structured annotation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371600"/>
                <a:ext cx="8534400" cy="5029199"/>
              </a:xfrm>
            </p:spPr>
            <p:txBody>
              <a:bodyPr/>
              <a:lstStyle/>
              <a:p>
                <a:pPr marL="0" indent="0">
                  <a:buNone/>
                </a:pPr>
                <a:r>
                  <a:rPr lang="en-US" dirty="0" smtClean="0"/>
                  <a:t>It </a:t>
                </a:r>
                <a:r>
                  <a:rPr lang="en-US" dirty="0"/>
                  <a:t>is </a:t>
                </a:r>
                <a:r>
                  <a:rPr lang="en-US" dirty="0">
                    <a:solidFill>
                      <a:srgbClr val="C27990"/>
                    </a:solidFill>
                  </a:rPr>
                  <a:t>the reduction in the uncertainty of a target structure </a:t>
                </a:r>
                <a14:m>
                  <m:oMath xmlns:m="http://schemas.openxmlformats.org/officeDocument/2006/math">
                    <m:r>
                      <a:rPr lang="en-US" smtClean="0">
                        <a:solidFill>
                          <a:srgbClr val="C27990"/>
                        </a:solidFill>
                        <a:latin typeface="Cambria Math" panose="02040503050406030204" pitchFamily="18" charset="0"/>
                      </a:rPr>
                      <m:t>𝑌</m:t>
                    </m:r>
                  </m:oMath>
                </a14:m>
                <a:r>
                  <a:rPr lang="en-US" dirty="0"/>
                  <a:t>, by the annotation random </a:t>
                </a:r>
                <a:r>
                  <a:rPr lang="en-US" dirty="0" smtClean="0"/>
                  <a:t>process </a:t>
                </a:r>
                <a14:m>
                  <m:oMath xmlns:m="http://schemas.openxmlformats.org/officeDocument/2006/math">
                    <m:r>
                      <a:rPr lang="en-US" smtClean="0">
                        <a:latin typeface="Cambria Math" panose="02040503050406030204" pitchFamily="18" charset="0"/>
                      </a:rPr>
                      <m:t>𝐴</m:t>
                    </m:r>
                  </m:oMath>
                </a14:m>
                <a:endParaRPr lang="en-US" dirty="0" smtClean="0"/>
              </a:p>
              <a:p>
                <a:pPr lvl="1"/>
                <a:r>
                  <a:rPr lang="en-US" sz="2000" dirty="0" smtClean="0"/>
                  <a:t>We studied “</a:t>
                </a:r>
                <a:r>
                  <a:rPr lang="en-US" sz="2000" dirty="0" smtClean="0">
                    <a:solidFill>
                      <a:srgbClr val="C27990"/>
                    </a:solidFill>
                  </a:rPr>
                  <a:t>partial structure</a:t>
                </a:r>
                <a:r>
                  <a:rPr lang="en-US" sz="2000" dirty="0" smtClean="0"/>
                  <a:t>” here, but by modifying the definition of </a:t>
                </a:r>
                <a14:m>
                  <m:oMath xmlns:m="http://schemas.openxmlformats.org/officeDocument/2006/math">
                    <m:sSub>
                      <m:sSubPr>
                        <m:ctrlPr>
                          <a:rPr lang="en-US" sz="2000" i="1">
                            <a:latin typeface="Cambria Math" charset="0"/>
                          </a:rPr>
                        </m:ctrlPr>
                      </m:sSubPr>
                      <m:e>
                        <m:r>
                          <a:rPr lang="en-US" sz="2000" i="1">
                            <a:latin typeface="Cambria Math" charset="0"/>
                          </a:rPr>
                          <m:t>𝐴</m:t>
                        </m:r>
                      </m:e>
                      <m:sub>
                        <m:r>
                          <a:rPr lang="en-US" sz="2000" i="1">
                            <a:latin typeface="Cambria Math" charset="0"/>
                          </a:rPr>
                          <m:t>𝑘</m:t>
                        </m:r>
                      </m:sub>
                    </m:sSub>
                  </m:oMath>
                </a14:m>
                <a:r>
                  <a:rPr lang="en-US" sz="2000" dirty="0" smtClean="0"/>
                  <a:t>, we can study “</a:t>
                </a:r>
                <a:r>
                  <a:rPr lang="en-US" sz="2000" dirty="0" smtClean="0">
                    <a:solidFill>
                      <a:srgbClr val="C27990"/>
                    </a:solidFill>
                  </a:rPr>
                  <a:t>noisy structure</a:t>
                </a:r>
                <a:r>
                  <a:rPr lang="en-US" sz="2000" dirty="0" smtClean="0"/>
                  <a:t>” as well.</a:t>
                </a:r>
                <a:endParaRPr lang="en-US" sz="2000" dirty="0"/>
              </a:p>
              <a:p>
                <a:pPr marL="457200" lvl="1" indent="0">
                  <a:buNone/>
                </a:pPr>
                <a:endParaRPr lang="en-US" sz="2000" dirty="0"/>
              </a:p>
              <a:p>
                <a:pPr marL="0" indent="0">
                  <a:buNone/>
                </a:pPr>
                <a:r>
                  <a:rPr lang="en-US" dirty="0"/>
                  <a:t>More generally, we argue:</a:t>
                </a:r>
              </a:p>
              <a:p>
                <a:pPr lvl="1"/>
                <a:r>
                  <a:rPr lang="en-US" sz="2000" dirty="0">
                    <a:solidFill>
                      <a:srgbClr val="C27990"/>
                    </a:solidFill>
                  </a:rPr>
                  <a:t>Any signal that has non-zero mutual information with Y can be viewed as “annotation”</a:t>
                </a:r>
              </a:p>
              <a:p>
                <a:pPr marL="0" indent="0">
                  <a:buNone/>
                </a:pPr>
                <a:endParaRPr lang="en-US" sz="2400" dirty="0"/>
              </a:p>
              <a:p>
                <a:pPr marL="0" indent="0">
                  <a:buNone/>
                </a:pPr>
                <a:r>
                  <a:rPr lang="en-US" dirty="0"/>
                  <a:t>It points out a way to understand and quantify the value of </a:t>
                </a:r>
                <a:r>
                  <a:rPr lang="en-US" dirty="0" smtClean="0"/>
                  <a:t>indirect signals </a:t>
                </a:r>
                <a:r>
                  <a:rPr lang="en-US" dirty="0"/>
                  <a:t>in </a:t>
                </a:r>
                <a:r>
                  <a:rPr lang="en-US" dirty="0" smtClean="0"/>
                  <a:t>future </a:t>
                </a:r>
                <a:r>
                  <a:rPr lang="en-US" dirty="0"/>
                  <a:t>work.</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371600"/>
                <a:ext cx="8534400" cy="5029199"/>
              </a:xfrm>
              <a:blipFill rotWithShape="0">
                <a:blip r:embed="rId3"/>
                <a:stretch>
                  <a:fillRect l="-1500" t="-1333"/>
                </a:stretch>
              </a:blipFill>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C46740F7-0C36-40CB-8946-CA60114D1AC4}"/>
              </a:ext>
            </a:extLst>
          </p:cNvPr>
          <p:cNvSpPr>
            <a:spLocks noGrp="1"/>
          </p:cNvSpPr>
          <p:nvPr>
            <p:ph type="sldNum" sz="quarter" idx="11"/>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92</a:t>
            </a:fld>
            <a:endParaRPr lang="en-US"/>
          </a:p>
        </p:txBody>
      </p:sp>
      <p:sp>
        <p:nvSpPr>
          <p:cNvPr id="6" name="TextBox 5"/>
          <p:cNvSpPr txBox="1"/>
          <p:nvPr/>
        </p:nvSpPr>
        <p:spPr>
          <a:xfrm rot="980589">
            <a:off x="2597580" y="5252432"/>
            <a:ext cx="4101243" cy="578882"/>
          </a:xfrm>
          <a:prstGeom prst="roundRect">
            <a:avLst/>
          </a:prstGeom>
          <a:solidFill>
            <a:srgbClr val="F2CEC2"/>
          </a:solidFill>
        </p:spPr>
        <p:txBody>
          <a:bodyPr wrap="square" rtlCol="0">
            <a:spAutoFit/>
          </a:bodyPr>
          <a:lstStyle/>
          <a:p>
            <a:pPr algn="ctr"/>
            <a:r>
              <a:rPr lang="en-US" sz="2800" dirty="0" smtClean="0">
                <a:solidFill>
                  <a:schemeClr val="bg2"/>
                </a:solidFill>
                <a:latin typeface="Century Gothic" charset="0"/>
                <a:ea typeface="Century Gothic" charset="0"/>
                <a:cs typeface="Century Gothic" charset="0"/>
              </a:rPr>
              <a:t>Incidental supervision</a:t>
            </a:r>
            <a:endParaRPr lang="en-US" sz="2800" dirty="0">
              <a:solidFill>
                <a:schemeClr val="bg2"/>
              </a:solidFill>
              <a:latin typeface="Century Gothic" charset="0"/>
              <a:ea typeface="Century Gothic" charset="0"/>
              <a:cs typeface="Century Gothic" charset="0"/>
            </a:endParaRPr>
          </a:p>
        </p:txBody>
      </p:sp>
      <p:sp>
        <p:nvSpPr>
          <p:cNvPr id="7" name="TextBox 6">
            <a:extLst>
              <a:ext uri="{FF2B5EF4-FFF2-40B4-BE49-F238E27FC236}">
                <a16:creationId xmlns="" xmlns:a16="http://schemas.microsoft.com/office/drawing/2014/main" id="{6039D78E-102F-8146-B19F-DCB0645D30CB}"/>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smtClean="0">
                <a:solidFill>
                  <a:schemeClr val="bg2"/>
                </a:solidFill>
                <a:latin typeface="Century Gothic" charset="0"/>
                <a:ea typeface="Century Gothic" charset="0"/>
                <a:cs typeface="Century Gothic" charset="0"/>
              </a:rPr>
              <a:t>Partial or complete?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418061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wipe(left)">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wipe(left)">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randombar(horizont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Achilles </a:t>
            </a:r>
            <a:r>
              <a:rPr lang="en-US" dirty="0"/>
              <a:t>heel of </a:t>
            </a:r>
            <a:r>
              <a:rPr lang="en-US" dirty="0" smtClean="0"/>
              <a:t>standard paradigms</a:t>
            </a:r>
            <a:endParaRPr lang="en-US" dirty="0"/>
          </a:p>
        </p:txBody>
      </p:sp>
      <p:sp>
        <p:nvSpPr>
          <p:cNvPr id="4" name="TextBox 3">
            <a:extLst>
              <a:ext uri="{FF2B5EF4-FFF2-40B4-BE49-F238E27FC236}">
                <a16:creationId xmlns="" xmlns:a16="http://schemas.microsoft.com/office/drawing/2014/main" id="{562F6794-3AE4-1E40-84CF-7328A7CA7EFA}"/>
              </a:ext>
            </a:extLst>
          </p:cNvPr>
          <p:cNvSpPr txBox="1"/>
          <p:nvPr/>
        </p:nvSpPr>
        <p:spPr>
          <a:xfrm>
            <a:off x="2214114"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 name="Straight Arrow Connector 4">
            <a:extLst>
              <a:ext uri="{FF2B5EF4-FFF2-40B4-BE49-F238E27FC236}">
                <a16:creationId xmlns="" xmlns:a16="http://schemas.microsoft.com/office/drawing/2014/main" id="{AB8EFC0C-4274-B545-BAD2-9038B4618818}"/>
              </a:ext>
            </a:extLst>
          </p:cNvPr>
          <p:cNvCxnSpPr/>
          <p:nvPr/>
        </p:nvCxnSpPr>
        <p:spPr>
          <a:xfrm>
            <a:off x="3540798" y="1369903"/>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8885806C-EFFD-2C49-8160-9D3325534450}"/>
              </a:ext>
            </a:extLst>
          </p:cNvPr>
          <p:cNvSpPr txBox="1"/>
          <p:nvPr/>
        </p:nvSpPr>
        <p:spPr>
          <a:xfrm>
            <a:off x="4267200"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7" name="TextBox 6">
            <a:extLst>
              <a:ext uri="{FF2B5EF4-FFF2-40B4-BE49-F238E27FC236}">
                <a16:creationId xmlns="" xmlns:a16="http://schemas.microsoft.com/office/drawing/2014/main" id="{8110BAEE-3765-0344-AB26-82B2372D2067}"/>
              </a:ext>
            </a:extLst>
          </p:cNvPr>
          <p:cNvSpPr txBox="1"/>
          <p:nvPr/>
        </p:nvSpPr>
        <p:spPr>
          <a:xfrm>
            <a:off x="6372045" y="1139071"/>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8" name="Straight Arrow Connector 7">
            <a:extLst>
              <a:ext uri="{FF2B5EF4-FFF2-40B4-BE49-F238E27FC236}">
                <a16:creationId xmlns="" xmlns:a16="http://schemas.microsoft.com/office/drawing/2014/main" id="{D5655D16-6825-6E47-85B6-5716C5EDE2B4}"/>
              </a:ext>
            </a:extLst>
          </p:cNvPr>
          <p:cNvCxnSpPr/>
          <p:nvPr/>
        </p:nvCxnSpPr>
        <p:spPr>
          <a:xfrm>
            <a:off x="5628391" y="1369903"/>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 xmlns:a16="http://schemas.microsoft.com/office/drawing/2014/main" id="{6E34B853-C8C5-824E-9802-B32A7F32B333}"/>
              </a:ext>
            </a:extLst>
          </p:cNvPr>
          <p:cNvGrpSpPr/>
          <p:nvPr/>
        </p:nvGrpSpPr>
        <p:grpSpPr>
          <a:xfrm>
            <a:off x="2214114" y="1553139"/>
            <a:ext cx="5794347" cy="461665"/>
            <a:chOff x="1940668" y="5333564"/>
            <a:chExt cx="5794347" cy="461665"/>
          </a:xfrm>
        </p:grpSpPr>
        <p:sp>
          <p:nvSpPr>
            <p:cNvPr id="10" name="TextBox 9">
              <a:extLst>
                <a:ext uri="{FF2B5EF4-FFF2-40B4-BE49-F238E27FC236}">
                  <a16:creationId xmlns="" xmlns:a16="http://schemas.microsoft.com/office/drawing/2014/main" id="{9AC4B3D9-2EAD-854C-BC10-2AAA815C29C9}"/>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1" name="Straight Arrow Connector 10">
              <a:extLst>
                <a:ext uri="{FF2B5EF4-FFF2-40B4-BE49-F238E27FC236}">
                  <a16:creationId xmlns="" xmlns:a16="http://schemas.microsoft.com/office/drawing/2014/main" id="{2A62EF9E-D230-6D42-98F2-C69C76BC8BA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 xmlns:a16="http://schemas.microsoft.com/office/drawing/2014/main" id="{D89C3CE7-C2E1-FE42-81B4-44BA34E8843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3" name="TextBox 12">
              <a:extLst>
                <a:ext uri="{FF2B5EF4-FFF2-40B4-BE49-F238E27FC236}">
                  <a16:creationId xmlns="" xmlns:a16="http://schemas.microsoft.com/office/drawing/2014/main" id="{10708E44-54A6-5144-9D43-2A16FEB315AD}"/>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4" name="Straight Arrow Connector 13">
              <a:extLst>
                <a:ext uri="{FF2B5EF4-FFF2-40B4-BE49-F238E27FC236}">
                  <a16:creationId xmlns="" xmlns:a16="http://schemas.microsoft.com/office/drawing/2014/main" id="{0C51669D-D1FE-CC43-9734-9A8E403B573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 xmlns:a16="http://schemas.microsoft.com/office/drawing/2014/main" id="{377B2C05-C130-ED4B-8B72-F3D53B58CA1A}"/>
              </a:ext>
            </a:extLst>
          </p:cNvPr>
          <p:cNvGrpSpPr/>
          <p:nvPr/>
        </p:nvGrpSpPr>
        <p:grpSpPr>
          <a:xfrm>
            <a:off x="2214114" y="1829185"/>
            <a:ext cx="5794347" cy="461665"/>
            <a:chOff x="1940668" y="5333564"/>
            <a:chExt cx="5794347" cy="461665"/>
          </a:xfrm>
        </p:grpSpPr>
        <p:sp>
          <p:nvSpPr>
            <p:cNvPr id="16" name="TextBox 15">
              <a:extLst>
                <a:ext uri="{FF2B5EF4-FFF2-40B4-BE49-F238E27FC236}">
                  <a16:creationId xmlns="" xmlns:a16="http://schemas.microsoft.com/office/drawing/2014/main" id="{CDD76320-815E-464F-A65A-486CB99F2426}"/>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7" name="Straight Arrow Connector 16">
              <a:extLst>
                <a:ext uri="{FF2B5EF4-FFF2-40B4-BE49-F238E27FC236}">
                  <a16:creationId xmlns="" xmlns:a16="http://schemas.microsoft.com/office/drawing/2014/main" id="{886B2818-EE86-2E41-8E0D-F4C1BC33D4C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 xmlns:a16="http://schemas.microsoft.com/office/drawing/2014/main" id="{7BCB28F9-EEB4-9442-A829-4DB2ECF13CF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9" name="TextBox 18">
              <a:extLst>
                <a:ext uri="{FF2B5EF4-FFF2-40B4-BE49-F238E27FC236}">
                  <a16:creationId xmlns="" xmlns:a16="http://schemas.microsoft.com/office/drawing/2014/main" id="{5E3D8EAA-F289-7842-BA0F-70928BCD43E0}"/>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20" name="Straight Arrow Connector 19">
              <a:extLst>
                <a:ext uri="{FF2B5EF4-FFF2-40B4-BE49-F238E27FC236}">
                  <a16:creationId xmlns="" xmlns:a16="http://schemas.microsoft.com/office/drawing/2014/main" id="{716A585D-E85E-9044-94B2-B3794CA297CD}"/>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 xmlns:a16="http://schemas.microsoft.com/office/drawing/2014/main" id="{40126CDE-8041-8D43-993A-4C2C69DCE9EA}"/>
              </a:ext>
            </a:extLst>
          </p:cNvPr>
          <p:cNvGrpSpPr/>
          <p:nvPr/>
        </p:nvGrpSpPr>
        <p:grpSpPr>
          <a:xfrm>
            <a:off x="2214114" y="2001714"/>
            <a:ext cx="5794347" cy="461665"/>
            <a:chOff x="1940668" y="5333564"/>
            <a:chExt cx="5794347" cy="461665"/>
          </a:xfrm>
        </p:grpSpPr>
        <p:sp>
          <p:nvSpPr>
            <p:cNvPr id="22" name="TextBox 21">
              <a:extLst>
                <a:ext uri="{FF2B5EF4-FFF2-40B4-BE49-F238E27FC236}">
                  <a16:creationId xmlns="" xmlns:a16="http://schemas.microsoft.com/office/drawing/2014/main" id="{B48D5817-A6CF-EB43-82D5-E4D19B60EDC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23" name="Straight Arrow Connector 22">
              <a:extLst>
                <a:ext uri="{FF2B5EF4-FFF2-40B4-BE49-F238E27FC236}">
                  <a16:creationId xmlns="" xmlns:a16="http://schemas.microsoft.com/office/drawing/2014/main" id="{6BB4B3C7-E5F3-7F4B-8800-D048BBCEA39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 xmlns:a16="http://schemas.microsoft.com/office/drawing/2014/main" id="{DA49BA51-40B9-5642-B4FB-CE403128B57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25" name="TextBox 24">
              <a:extLst>
                <a:ext uri="{FF2B5EF4-FFF2-40B4-BE49-F238E27FC236}">
                  <a16:creationId xmlns="" xmlns:a16="http://schemas.microsoft.com/office/drawing/2014/main" id="{ACA82B52-7649-434E-8122-4CEEF68E95D7}"/>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26" name="Straight Arrow Connector 25">
              <a:extLst>
                <a:ext uri="{FF2B5EF4-FFF2-40B4-BE49-F238E27FC236}">
                  <a16:creationId xmlns="" xmlns:a16="http://schemas.microsoft.com/office/drawing/2014/main" id="{626CB0A0-54F7-F74B-99C5-9274EA9A939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 xmlns:a16="http://schemas.microsoft.com/office/drawing/2014/main" id="{1216D10A-6685-6245-B438-E599738845B0}"/>
              </a:ext>
            </a:extLst>
          </p:cNvPr>
          <p:cNvGrpSpPr/>
          <p:nvPr/>
        </p:nvGrpSpPr>
        <p:grpSpPr>
          <a:xfrm>
            <a:off x="2214114" y="2139736"/>
            <a:ext cx="5794347" cy="461665"/>
            <a:chOff x="1940668" y="5333564"/>
            <a:chExt cx="5794347" cy="461665"/>
          </a:xfrm>
        </p:grpSpPr>
        <p:sp>
          <p:nvSpPr>
            <p:cNvPr id="28" name="TextBox 27">
              <a:extLst>
                <a:ext uri="{FF2B5EF4-FFF2-40B4-BE49-F238E27FC236}">
                  <a16:creationId xmlns="" xmlns:a16="http://schemas.microsoft.com/office/drawing/2014/main" id="{0AC94939-1EFC-9A45-98CD-72E998FE74D0}"/>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29" name="Straight Arrow Connector 28">
              <a:extLst>
                <a:ext uri="{FF2B5EF4-FFF2-40B4-BE49-F238E27FC236}">
                  <a16:creationId xmlns="" xmlns:a16="http://schemas.microsoft.com/office/drawing/2014/main" id="{813799E5-1A5D-8340-A30C-1DB7D4BBA955}"/>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 xmlns:a16="http://schemas.microsoft.com/office/drawing/2014/main" id="{26CC544C-4E86-FA4B-98B4-1E4687A05B6E}"/>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31" name="TextBox 30">
              <a:extLst>
                <a:ext uri="{FF2B5EF4-FFF2-40B4-BE49-F238E27FC236}">
                  <a16:creationId xmlns="" xmlns:a16="http://schemas.microsoft.com/office/drawing/2014/main" id="{11E78D7D-58AE-E84E-B222-8F2958D6EBA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32" name="Straight Arrow Connector 31">
              <a:extLst>
                <a:ext uri="{FF2B5EF4-FFF2-40B4-BE49-F238E27FC236}">
                  <a16:creationId xmlns="" xmlns:a16="http://schemas.microsoft.com/office/drawing/2014/main" id="{4E0E93DC-583C-C54A-8236-B8C7C2BF710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 xmlns:a16="http://schemas.microsoft.com/office/drawing/2014/main" id="{43BBC695-7B58-AD45-9CD8-15202605F6B1}"/>
              </a:ext>
            </a:extLst>
          </p:cNvPr>
          <p:cNvGrpSpPr/>
          <p:nvPr/>
        </p:nvGrpSpPr>
        <p:grpSpPr>
          <a:xfrm>
            <a:off x="2214114" y="2260505"/>
            <a:ext cx="5794347" cy="461665"/>
            <a:chOff x="1940668" y="5333564"/>
            <a:chExt cx="5794347" cy="461665"/>
          </a:xfrm>
        </p:grpSpPr>
        <p:sp>
          <p:nvSpPr>
            <p:cNvPr id="34" name="TextBox 33">
              <a:extLst>
                <a:ext uri="{FF2B5EF4-FFF2-40B4-BE49-F238E27FC236}">
                  <a16:creationId xmlns="" xmlns:a16="http://schemas.microsoft.com/office/drawing/2014/main" id="{1A6BB080-B3C7-0B44-A5DB-8D2E63EB6657}"/>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35" name="Straight Arrow Connector 34">
              <a:extLst>
                <a:ext uri="{FF2B5EF4-FFF2-40B4-BE49-F238E27FC236}">
                  <a16:creationId xmlns="" xmlns:a16="http://schemas.microsoft.com/office/drawing/2014/main" id="{ED88F8FF-D200-4140-A61A-6896911FB422}"/>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 xmlns:a16="http://schemas.microsoft.com/office/drawing/2014/main" id="{B2051B38-A958-294C-8D4B-A9305D80810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37" name="TextBox 36">
              <a:extLst>
                <a:ext uri="{FF2B5EF4-FFF2-40B4-BE49-F238E27FC236}">
                  <a16:creationId xmlns="" xmlns:a16="http://schemas.microsoft.com/office/drawing/2014/main" id="{CF880968-4E94-9C4E-A39E-B484A5FCD5F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38" name="Straight Arrow Connector 37">
              <a:extLst>
                <a:ext uri="{FF2B5EF4-FFF2-40B4-BE49-F238E27FC236}">
                  <a16:creationId xmlns="" xmlns:a16="http://schemas.microsoft.com/office/drawing/2014/main" id="{EEAF3928-80F4-1D44-BBEB-067E9C14647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 xmlns:a16="http://schemas.microsoft.com/office/drawing/2014/main" id="{8A0D11C8-346B-5548-82D5-F2221393E4CB}"/>
              </a:ext>
            </a:extLst>
          </p:cNvPr>
          <p:cNvGrpSpPr/>
          <p:nvPr/>
        </p:nvGrpSpPr>
        <p:grpSpPr>
          <a:xfrm>
            <a:off x="2214114" y="2364022"/>
            <a:ext cx="5794347" cy="461665"/>
            <a:chOff x="1940668" y="5333564"/>
            <a:chExt cx="5794347" cy="461665"/>
          </a:xfrm>
        </p:grpSpPr>
        <p:sp>
          <p:nvSpPr>
            <p:cNvPr id="40" name="TextBox 39">
              <a:extLst>
                <a:ext uri="{FF2B5EF4-FFF2-40B4-BE49-F238E27FC236}">
                  <a16:creationId xmlns="" xmlns:a16="http://schemas.microsoft.com/office/drawing/2014/main" id="{DC056E11-F178-AB46-B322-E66C0BB42B84}"/>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41" name="Straight Arrow Connector 40">
              <a:extLst>
                <a:ext uri="{FF2B5EF4-FFF2-40B4-BE49-F238E27FC236}">
                  <a16:creationId xmlns="" xmlns:a16="http://schemas.microsoft.com/office/drawing/2014/main" id="{9B98ABCC-9C58-7946-B1D9-03260E1FCD94}"/>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 xmlns:a16="http://schemas.microsoft.com/office/drawing/2014/main" id="{8E27B1B4-D0D7-B347-8D0D-360D888B3F3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43" name="TextBox 42">
              <a:extLst>
                <a:ext uri="{FF2B5EF4-FFF2-40B4-BE49-F238E27FC236}">
                  <a16:creationId xmlns="" xmlns:a16="http://schemas.microsoft.com/office/drawing/2014/main" id="{9B7EAC35-9126-1A47-9F1E-F432D95819D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44" name="Straight Arrow Connector 43">
              <a:extLst>
                <a:ext uri="{FF2B5EF4-FFF2-40B4-BE49-F238E27FC236}">
                  <a16:creationId xmlns="" xmlns:a16="http://schemas.microsoft.com/office/drawing/2014/main" id="{A9A94ADC-EBAC-844C-930B-B052416FF72A}"/>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 xmlns:a16="http://schemas.microsoft.com/office/drawing/2014/main" id="{30F47DBC-1597-6F47-8342-A113267A2C6A}"/>
              </a:ext>
            </a:extLst>
          </p:cNvPr>
          <p:cNvGrpSpPr/>
          <p:nvPr/>
        </p:nvGrpSpPr>
        <p:grpSpPr>
          <a:xfrm>
            <a:off x="2214114" y="2467539"/>
            <a:ext cx="5794347" cy="461665"/>
            <a:chOff x="1940668" y="5333564"/>
            <a:chExt cx="5794347" cy="461665"/>
          </a:xfrm>
        </p:grpSpPr>
        <p:sp>
          <p:nvSpPr>
            <p:cNvPr id="46" name="TextBox 45">
              <a:extLst>
                <a:ext uri="{FF2B5EF4-FFF2-40B4-BE49-F238E27FC236}">
                  <a16:creationId xmlns="" xmlns:a16="http://schemas.microsoft.com/office/drawing/2014/main" id="{2BB36A91-CE3B-2544-9959-03A24DFF308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47" name="Straight Arrow Connector 46">
              <a:extLst>
                <a:ext uri="{FF2B5EF4-FFF2-40B4-BE49-F238E27FC236}">
                  <a16:creationId xmlns="" xmlns:a16="http://schemas.microsoft.com/office/drawing/2014/main" id="{B985074B-339F-064B-8594-588430AF0C5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 xmlns:a16="http://schemas.microsoft.com/office/drawing/2014/main" id="{5AAC9538-E216-D048-9A50-742B962B8A08}"/>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49" name="TextBox 48">
              <a:extLst>
                <a:ext uri="{FF2B5EF4-FFF2-40B4-BE49-F238E27FC236}">
                  <a16:creationId xmlns="" xmlns:a16="http://schemas.microsoft.com/office/drawing/2014/main" id="{D8F78F2A-782B-5547-8322-945B693B613C}"/>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50" name="Straight Arrow Connector 49">
              <a:extLst>
                <a:ext uri="{FF2B5EF4-FFF2-40B4-BE49-F238E27FC236}">
                  <a16:creationId xmlns="" xmlns:a16="http://schemas.microsoft.com/office/drawing/2014/main" id="{D68B5D95-0D45-1140-B801-2AAB49A5295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 xmlns:a16="http://schemas.microsoft.com/office/drawing/2014/main" id="{E95C1BA7-3658-3D44-9B48-029D072C916D}"/>
              </a:ext>
            </a:extLst>
          </p:cNvPr>
          <p:cNvGrpSpPr/>
          <p:nvPr/>
        </p:nvGrpSpPr>
        <p:grpSpPr>
          <a:xfrm>
            <a:off x="2214114" y="2519297"/>
            <a:ext cx="5794347" cy="461665"/>
            <a:chOff x="1940668" y="5333564"/>
            <a:chExt cx="5794347" cy="461665"/>
          </a:xfrm>
        </p:grpSpPr>
        <p:sp>
          <p:nvSpPr>
            <p:cNvPr id="52" name="TextBox 51">
              <a:extLst>
                <a:ext uri="{FF2B5EF4-FFF2-40B4-BE49-F238E27FC236}">
                  <a16:creationId xmlns="" xmlns:a16="http://schemas.microsoft.com/office/drawing/2014/main" id="{4687DD80-7327-4E48-83C3-47A2145CD263}"/>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3" name="Straight Arrow Connector 52">
              <a:extLst>
                <a:ext uri="{FF2B5EF4-FFF2-40B4-BE49-F238E27FC236}">
                  <a16:creationId xmlns="" xmlns:a16="http://schemas.microsoft.com/office/drawing/2014/main" id="{9B6096D9-A2E2-D34B-A84D-CFFC2231F8A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 xmlns:a16="http://schemas.microsoft.com/office/drawing/2014/main" id="{76CDED5D-B299-474A-8DAE-0F42166F32D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55" name="TextBox 54">
              <a:extLst>
                <a:ext uri="{FF2B5EF4-FFF2-40B4-BE49-F238E27FC236}">
                  <a16:creationId xmlns="" xmlns:a16="http://schemas.microsoft.com/office/drawing/2014/main" id="{36EBDC4D-F295-BF42-A9B3-111DEBD016F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56" name="Straight Arrow Connector 55">
              <a:extLst>
                <a:ext uri="{FF2B5EF4-FFF2-40B4-BE49-F238E27FC236}">
                  <a16:creationId xmlns="" xmlns:a16="http://schemas.microsoft.com/office/drawing/2014/main" id="{EB5A4E96-764D-DB41-A43A-D5058C348AA1}"/>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 xmlns:a16="http://schemas.microsoft.com/office/drawing/2014/main" id="{6A2ED0DB-FB33-8D49-9F6B-A0C6F772729C}"/>
              </a:ext>
            </a:extLst>
          </p:cNvPr>
          <p:cNvGrpSpPr/>
          <p:nvPr/>
        </p:nvGrpSpPr>
        <p:grpSpPr>
          <a:xfrm>
            <a:off x="2214114" y="2605562"/>
            <a:ext cx="5794347" cy="461665"/>
            <a:chOff x="1940668" y="5333564"/>
            <a:chExt cx="5794347" cy="461665"/>
          </a:xfrm>
        </p:grpSpPr>
        <p:sp>
          <p:nvSpPr>
            <p:cNvPr id="58" name="TextBox 57">
              <a:extLst>
                <a:ext uri="{FF2B5EF4-FFF2-40B4-BE49-F238E27FC236}">
                  <a16:creationId xmlns="" xmlns:a16="http://schemas.microsoft.com/office/drawing/2014/main" id="{7567E6A1-B920-A142-B5F2-B5C0A83BF048}"/>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59" name="Straight Arrow Connector 58">
              <a:extLst>
                <a:ext uri="{FF2B5EF4-FFF2-40B4-BE49-F238E27FC236}">
                  <a16:creationId xmlns="" xmlns:a16="http://schemas.microsoft.com/office/drawing/2014/main" id="{26CB8072-07F9-F943-B95E-AB19612739E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 xmlns:a16="http://schemas.microsoft.com/office/drawing/2014/main" id="{4D528495-B495-DF4E-BD0B-968EDE934BE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61" name="TextBox 60">
              <a:extLst>
                <a:ext uri="{FF2B5EF4-FFF2-40B4-BE49-F238E27FC236}">
                  <a16:creationId xmlns="" xmlns:a16="http://schemas.microsoft.com/office/drawing/2014/main" id="{68B295BD-AB2D-2941-9F65-27E4EC6AE63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62" name="Straight Arrow Connector 61">
              <a:extLst>
                <a:ext uri="{FF2B5EF4-FFF2-40B4-BE49-F238E27FC236}">
                  <a16:creationId xmlns="" xmlns:a16="http://schemas.microsoft.com/office/drawing/2014/main" id="{EA984C12-D9A1-8E4B-B234-3FA42584727C}"/>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63" name="Group 62">
            <a:extLst>
              <a:ext uri="{FF2B5EF4-FFF2-40B4-BE49-F238E27FC236}">
                <a16:creationId xmlns="" xmlns:a16="http://schemas.microsoft.com/office/drawing/2014/main" id="{E426CC25-FAC8-AD47-999F-24FBD099E8D6}"/>
              </a:ext>
            </a:extLst>
          </p:cNvPr>
          <p:cNvGrpSpPr/>
          <p:nvPr/>
        </p:nvGrpSpPr>
        <p:grpSpPr>
          <a:xfrm>
            <a:off x="2214114" y="2691826"/>
            <a:ext cx="5794347" cy="461665"/>
            <a:chOff x="1940668" y="5333564"/>
            <a:chExt cx="5794347" cy="461665"/>
          </a:xfrm>
        </p:grpSpPr>
        <p:sp>
          <p:nvSpPr>
            <p:cNvPr id="64" name="TextBox 63">
              <a:extLst>
                <a:ext uri="{FF2B5EF4-FFF2-40B4-BE49-F238E27FC236}">
                  <a16:creationId xmlns="" xmlns:a16="http://schemas.microsoft.com/office/drawing/2014/main" id="{8F519A1A-73E8-C947-8BB4-82812330AA6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65" name="Straight Arrow Connector 64">
              <a:extLst>
                <a:ext uri="{FF2B5EF4-FFF2-40B4-BE49-F238E27FC236}">
                  <a16:creationId xmlns="" xmlns:a16="http://schemas.microsoft.com/office/drawing/2014/main" id="{5CA7997A-176E-6E4B-AF85-0EDE0FFF28E8}"/>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 xmlns:a16="http://schemas.microsoft.com/office/drawing/2014/main" id="{B2B66A27-334C-184A-910B-065FEFD2B3C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67" name="TextBox 66">
              <a:extLst>
                <a:ext uri="{FF2B5EF4-FFF2-40B4-BE49-F238E27FC236}">
                  <a16:creationId xmlns="" xmlns:a16="http://schemas.microsoft.com/office/drawing/2014/main" id="{D8AE57CD-B3E9-3F46-A28C-CF2E198F7BA8}"/>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68" name="Straight Arrow Connector 67">
              <a:extLst>
                <a:ext uri="{FF2B5EF4-FFF2-40B4-BE49-F238E27FC236}">
                  <a16:creationId xmlns="" xmlns:a16="http://schemas.microsoft.com/office/drawing/2014/main" id="{A0928728-76E6-D64A-9E6F-258C5B3CE17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 xmlns:a16="http://schemas.microsoft.com/office/drawing/2014/main" id="{16187EE8-C205-F342-8974-C981166933F4}"/>
              </a:ext>
            </a:extLst>
          </p:cNvPr>
          <p:cNvGrpSpPr/>
          <p:nvPr/>
        </p:nvGrpSpPr>
        <p:grpSpPr>
          <a:xfrm>
            <a:off x="2214114" y="2743585"/>
            <a:ext cx="5794347" cy="461665"/>
            <a:chOff x="1940668" y="5333564"/>
            <a:chExt cx="5794347" cy="461665"/>
          </a:xfrm>
        </p:grpSpPr>
        <p:sp>
          <p:nvSpPr>
            <p:cNvPr id="70" name="TextBox 69">
              <a:extLst>
                <a:ext uri="{FF2B5EF4-FFF2-40B4-BE49-F238E27FC236}">
                  <a16:creationId xmlns="" xmlns:a16="http://schemas.microsoft.com/office/drawing/2014/main" id="{CF674092-6119-D64B-9F40-9D428D17565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71" name="Straight Arrow Connector 70">
              <a:extLst>
                <a:ext uri="{FF2B5EF4-FFF2-40B4-BE49-F238E27FC236}">
                  <a16:creationId xmlns="" xmlns:a16="http://schemas.microsoft.com/office/drawing/2014/main" id="{5D3F6A5E-DCBD-ED4C-AD63-95DFFB928203}"/>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 xmlns:a16="http://schemas.microsoft.com/office/drawing/2014/main" id="{E673221B-4DBC-0842-B79A-BFE589D7055B}"/>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73" name="TextBox 72">
              <a:extLst>
                <a:ext uri="{FF2B5EF4-FFF2-40B4-BE49-F238E27FC236}">
                  <a16:creationId xmlns="" xmlns:a16="http://schemas.microsoft.com/office/drawing/2014/main" id="{E7B5F8F9-1552-F44D-9434-302A2CD2C46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74" name="Straight Arrow Connector 73">
              <a:extLst>
                <a:ext uri="{FF2B5EF4-FFF2-40B4-BE49-F238E27FC236}">
                  <a16:creationId xmlns="" xmlns:a16="http://schemas.microsoft.com/office/drawing/2014/main" id="{29E60503-E270-F94E-8D63-39259F72DF98}"/>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75" name="Right Brace 74">
            <a:extLst>
              <a:ext uri="{FF2B5EF4-FFF2-40B4-BE49-F238E27FC236}">
                <a16:creationId xmlns="" xmlns:a16="http://schemas.microsoft.com/office/drawing/2014/main" id="{1942F802-5AF6-254D-98D9-680626955628}"/>
              </a:ext>
            </a:extLst>
          </p:cNvPr>
          <p:cNvSpPr/>
          <p:nvPr/>
        </p:nvSpPr>
        <p:spPr>
          <a:xfrm flipH="1">
            <a:off x="2282227" y="1217350"/>
            <a:ext cx="292477" cy="1873079"/>
          </a:xfrm>
          <a:prstGeom prst="righ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6" name="TextBox 75">
            <a:extLst>
              <a:ext uri="{FF2B5EF4-FFF2-40B4-BE49-F238E27FC236}">
                <a16:creationId xmlns="" xmlns:a16="http://schemas.microsoft.com/office/drawing/2014/main" id="{3CFF7D82-32D3-DB4B-A8E1-1C858E9A1F97}"/>
              </a:ext>
            </a:extLst>
          </p:cNvPr>
          <p:cNvSpPr txBox="1"/>
          <p:nvPr/>
        </p:nvSpPr>
        <p:spPr>
          <a:xfrm>
            <a:off x="510749" y="1891173"/>
            <a:ext cx="160332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Not scalable</a:t>
            </a:r>
          </a:p>
        </p:txBody>
      </p:sp>
      <p:sp>
        <p:nvSpPr>
          <p:cNvPr id="77" name="TextBox 76"/>
          <p:cNvSpPr txBox="1"/>
          <p:nvPr/>
        </p:nvSpPr>
        <p:spPr>
          <a:xfrm>
            <a:off x="192383" y="4043987"/>
            <a:ext cx="8799217" cy="2616101"/>
          </a:xfrm>
          <a:prstGeom prst="rect">
            <a:avLst/>
          </a:prstGeom>
          <a:noFill/>
        </p:spPr>
        <p:txBody>
          <a:bodyPr wrap="square" rtlCol="0">
            <a:spAutoFit/>
          </a:bodyPr>
          <a:lstStyle/>
          <a:p>
            <a:pPr>
              <a:spcBef>
                <a:spcPts val="600"/>
              </a:spcBef>
              <a:spcAft>
                <a:spcPts val="600"/>
              </a:spcAft>
              <a:buSzPct val="65000"/>
            </a:pPr>
            <a:r>
              <a:rPr lang="en-US" sz="2400" b="1" dirty="0">
                <a:solidFill>
                  <a:schemeClr val="bg2"/>
                </a:solidFill>
                <a:latin typeface="Century Gothic" charset="0"/>
                <a:ea typeface="Century Gothic" charset="0"/>
                <a:cs typeface="Century Gothic" charset="0"/>
              </a:rPr>
              <a:t>Incidental</a:t>
            </a:r>
            <a:r>
              <a:rPr lang="en-US" sz="2400" dirty="0">
                <a:solidFill>
                  <a:schemeClr val="bg2"/>
                </a:solidFill>
                <a:latin typeface="Century Gothic" charset="0"/>
                <a:ea typeface="Century Gothic" charset="0"/>
                <a:cs typeface="Century Gothic" charset="0"/>
              </a:rPr>
              <a:t> </a:t>
            </a:r>
            <a:r>
              <a:rPr lang="en-US" sz="2400" b="1" dirty="0">
                <a:solidFill>
                  <a:schemeClr val="bg2"/>
                </a:solidFill>
                <a:latin typeface="Century Gothic" charset="0"/>
                <a:ea typeface="Century Gothic" charset="0"/>
                <a:cs typeface="Century Gothic" charset="0"/>
              </a:rPr>
              <a:t>supervision </a:t>
            </a:r>
            <a:r>
              <a:rPr lang="en-US" sz="2400" dirty="0">
                <a:solidFill>
                  <a:schemeClr val="bg2"/>
                </a:solidFill>
                <a:latin typeface="Century Gothic" charset="0"/>
                <a:ea typeface="Century Gothic" charset="0"/>
                <a:cs typeface="Century Gothic" charset="0"/>
              </a:rPr>
              <a:t>is the idea of learning from indirect signals, which may be noisy, partial, or only correlated</a:t>
            </a:r>
            <a:r>
              <a:rPr lang="en-US" sz="2400" dirty="0" smtClean="0">
                <a:solidFill>
                  <a:schemeClr val="bg2"/>
                </a:solidFill>
                <a:latin typeface="Century Gothic" charset="0"/>
                <a:ea typeface="Century Gothic" charset="0"/>
                <a:cs typeface="Century Gothic" charset="0"/>
              </a:rPr>
              <a:t>.</a:t>
            </a:r>
          </a:p>
          <a:p>
            <a:pPr>
              <a:spcBef>
                <a:spcPts val="600"/>
              </a:spcBef>
              <a:spcAft>
                <a:spcPts val="600"/>
              </a:spcAft>
              <a:buSzPct val="65000"/>
            </a:pPr>
            <a:endParaRPr lang="en-US" sz="2400" dirty="0">
              <a:solidFill>
                <a:schemeClr val="bg2"/>
              </a:solidFill>
              <a:latin typeface="Century Gothic" charset="0"/>
              <a:ea typeface="Century Gothic" charset="0"/>
              <a:cs typeface="Century Gothic" charset="0"/>
            </a:endParaRPr>
          </a:p>
          <a:p>
            <a:pPr>
              <a:spcBef>
                <a:spcPts val="600"/>
              </a:spcBef>
              <a:spcAft>
                <a:spcPts val="600"/>
              </a:spcAft>
              <a:buSzPct val="65000"/>
            </a:pPr>
            <a:r>
              <a:rPr lang="en-US" sz="2400" dirty="0">
                <a:solidFill>
                  <a:schemeClr val="bg2"/>
                </a:solidFill>
                <a:latin typeface="Century Gothic" charset="0"/>
                <a:ea typeface="Century Gothic" charset="0"/>
                <a:cs typeface="Century Gothic" charset="0"/>
              </a:rPr>
              <a:t>My vision is that </a:t>
            </a:r>
            <a:r>
              <a:rPr lang="en-US" sz="2400" dirty="0" smtClean="0">
                <a:solidFill>
                  <a:schemeClr val="bg2"/>
                </a:solidFill>
                <a:latin typeface="Century Gothic" charset="0"/>
                <a:ea typeface="Century Gothic" charset="0"/>
                <a:cs typeface="Century Gothic" charset="0"/>
              </a:rPr>
              <a:t>situation-level </a:t>
            </a:r>
            <a:r>
              <a:rPr lang="en-US" sz="2400" dirty="0">
                <a:solidFill>
                  <a:schemeClr val="bg2"/>
                </a:solidFill>
                <a:latin typeface="Century Gothic" charset="0"/>
                <a:ea typeface="Century Gothic" charset="0"/>
                <a:cs typeface="Century Gothic" charset="0"/>
              </a:rPr>
              <a:t>tasks </a:t>
            </a:r>
            <a:r>
              <a:rPr lang="en-US" sz="2400" dirty="0" smtClean="0">
                <a:solidFill>
                  <a:schemeClr val="bg2"/>
                </a:solidFill>
                <a:latin typeface="Century Gothic" charset="0"/>
                <a:ea typeface="Century Gothic" charset="0"/>
                <a:cs typeface="Century Gothic" charset="0"/>
              </a:rPr>
              <a:t>will require </a:t>
            </a:r>
            <a:r>
              <a:rPr lang="en-US" sz="2400" dirty="0">
                <a:solidFill>
                  <a:schemeClr val="bg2"/>
                </a:solidFill>
                <a:latin typeface="Century Gothic" charset="0"/>
                <a:ea typeface="Century Gothic" charset="0"/>
                <a:cs typeface="Century Gothic" charset="0"/>
              </a:rPr>
              <a:t>gigantic training data, and at that time, incidental supervision will be crucial for them.</a:t>
            </a:r>
          </a:p>
        </p:txBody>
      </p:sp>
    </p:spTree>
    <p:extLst>
      <p:ext uri="{BB962C8B-B14F-4D97-AF65-F5344CB8AC3E}">
        <p14:creationId xmlns:p14="http://schemas.microsoft.com/office/powerpoint/2010/main" val="141261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
                                          </p:val>
                                        </p:tav>
                                      </p:tavLst>
                                    </p:anim>
                                  </p:childTnLst>
                                </p:cTn>
                              </p:par>
                            </p:childTnLst>
                          </p:cTn>
                        </p:par>
                        <p:par>
                          <p:cTn id="33" fill="hold">
                            <p:stCondLst>
                              <p:cond delay="500"/>
                            </p:stCondLst>
                            <p:childTnLst>
                              <p:par>
                                <p:cTn id="34" presetID="42" presetClass="entr" presetSubtype="0" fill="hold"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anim calcmode="lin" valueType="num">
                                      <p:cBhvr>
                                        <p:cTn id="37" dur="500" fill="hold"/>
                                        <p:tgtEl>
                                          <p:spTgt spid="15"/>
                                        </p:tgtEl>
                                        <p:attrNameLst>
                                          <p:attrName>ppt_x</p:attrName>
                                        </p:attrNameLst>
                                      </p:cBhvr>
                                      <p:tavLst>
                                        <p:tav tm="0">
                                          <p:val>
                                            <p:strVal val="#ppt_x"/>
                                          </p:val>
                                        </p:tav>
                                        <p:tav tm="100000">
                                          <p:val>
                                            <p:strVal val="#ppt_x"/>
                                          </p:val>
                                        </p:tav>
                                      </p:tavLst>
                                    </p:anim>
                                    <p:anim calcmode="lin" valueType="num">
                                      <p:cBhvr>
                                        <p:cTn id="38" dur="500" fill="hold"/>
                                        <p:tgtEl>
                                          <p:spTgt spid="15"/>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42" presetClass="entr" presetSubtype="0" fill="hold"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250"/>
                                        <p:tgtEl>
                                          <p:spTgt spid="21"/>
                                        </p:tgtEl>
                                      </p:cBhvr>
                                    </p:animEffect>
                                    <p:anim calcmode="lin" valueType="num">
                                      <p:cBhvr>
                                        <p:cTn id="43" dur="250" fill="hold"/>
                                        <p:tgtEl>
                                          <p:spTgt spid="21"/>
                                        </p:tgtEl>
                                        <p:attrNameLst>
                                          <p:attrName>ppt_x</p:attrName>
                                        </p:attrNameLst>
                                      </p:cBhvr>
                                      <p:tavLst>
                                        <p:tav tm="0">
                                          <p:val>
                                            <p:strVal val="#ppt_x"/>
                                          </p:val>
                                        </p:tav>
                                        <p:tav tm="100000">
                                          <p:val>
                                            <p:strVal val="#ppt_x"/>
                                          </p:val>
                                        </p:tav>
                                      </p:tavLst>
                                    </p:anim>
                                    <p:anim calcmode="lin" valueType="num">
                                      <p:cBhvr>
                                        <p:cTn id="44" dur="250" fill="hold"/>
                                        <p:tgtEl>
                                          <p:spTgt spid="21"/>
                                        </p:tgtEl>
                                        <p:attrNameLst>
                                          <p:attrName>ppt_y</p:attrName>
                                        </p:attrNameLst>
                                      </p:cBhvr>
                                      <p:tavLst>
                                        <p:tav tm="0">
                                          <p:val>
                                            <p:strVal val="#ppt_y+.1"/>
                                          </p:val>
                                        </p:tav>
                                        <p:tav tm="100000">
                                          <p:val>
                                            <p:strVal val="#ppt_y"/>
                                          </p:val>
                                        </p:tav>
                                      </p:tavLst>
                                    </p:anim>
                                  </p:childTnLst>
                                </p:cTn>
                              </p:par>
                            </p:childTnLst>
                          </p:cTn>
                        </p:par>
                        <p:par>
                          <p:cTn id="45" fill="hold">
                            <p:stCondLst>
                              <p:cond delay="1250"/>
                            </p:stCondLst>
                            <p:childTnLst>
                              <p:par>
                                <p:cTn id="46" presetID="42" presetClass="entr" presetSubtype="0"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250"/>
                                        <p:tgtEl>
                                          <p:spTgt spid="27"/>
                                        </p:tgtEl>
                                      </p:cBhvr>
                                    </p:animEffect>
                                    <p:anim calcmode="lin" valueType="num">
                                      <p:cBhvr>
                                        <p:cTn id="49" dur="250" fill="hold"/>
                                        <p:tgtEl>
                                          <p:spTgt spid="27"/>
                                        </p:tgtEl>
                                        <p:attrNameLst>
                                          <p:attrName>ppt_x</p:attrName>
                                        </p:attrNameLst>
                                      </p:cBhvr>
                                      <p:tavLst>
                                        <p:tav tm="0">
                                          <p:val>
                                            <p:strVal val="#ppt_x"/>
                                          </p:val>
                                        </p:tav>
                                        <p:tav tm="100000">
                                          <p:val>
                                            <p:strVal val="#ppt_x"/>
                                          </p:val>
                                        </p:tav>
                                      </p:tavLst>
                                    </p:anim>
                                    <p:anim calcmode="lin" valueType="num">
                                      <p:cBhvr>
                                        <p:cTn id="50" dur="250" fill="hold"/>
                                        <p:tgtEl>
                                          <p:spTgt spid="27"/>
                                        </p:tgtEl>
                                        <p:attrNameLst>
                                          <p:attrName>ppt_y</p:attrName>
                                        </p:attrNameLst>
                                      </p:cBhvr>
                                      <p:tavLst>
                                        <p:tav tm="0">
                                          <p:val>
                                            <p:strVal val="#ppt_y+.1"/>
                                          </p:val>
                                        </p:tav>
                                        <p:tav tm="100000">
                                          <p:val>
                                            <p:strVal val="#ppt_y"/>
                                          </p:val>
                                        </p:tav>
                                      </p:tavLst>
                                    </p:anim>
                                  </p:childTnLst>
                                </p:cTn>
                              </p:par>
                            </p:childTnLst>
                          </p:cTn>
                        </p:par>
                        <p:par>
                          <p:cTn id="51" fill="hold">
                            <p:stCondLst>
                              <p:cond delay="1500"/>
                            </p:stCondLst>
                            <p:childTnLst>
                              <p:par>
                                <p:cTn id="52" presetID="42" presetClass="entr" presetSubtype="0" fill="hold"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fade">
                                      <p:cBhvr>
                                        <p:cTn id="54" dur="100"/>
                                        <p:tgtEl>
                                          <p:spTgt spid="33"/>
                                        </p:tgtEl>
                                      </p:cBhvr>
                                    </p:animEffect>
                                    <p:anim calcmode="lin" valueType="num">
                                      <p:cBhvr>
                                        <p:cTn id="55" dur="100" fill="hold"/>
                                        <p:tgtEl>
                                          <p:spTgt spid="33"/>
                                        </p:tgtEl>
                                        <p:attrNameLst>
                                          <p:attrName>ppt_x</p:attrName>
                                        </p:attrNameLst>
                                      </p:cBhvr>
                                      <p:tavLst>
                                        <p:tav tm="0">
                                          <p:val>
                                            <p:strVal val="#ppt_x"/>
                                          </p:val>
                                        </p:tav>
                                        <p:tav tm="100000">
                                          <p:val>
                                            <p:strVal val="#ppt_x"/>
                                          </p:val>
                                        </p:tav>
                                      </p:tavLst>
                                    </p:anim>
                                    <p:anim calcmode="lin" valueType="num">
                                      <p:cBhvr>
                                        <p:cTn id="56" dur="100" fill="hold"/>
                                        <p:tgtEl>
                                          <p:spTgt spid="33"/>
                                        </p:tgtEl>
                                        <p:attrNameLst>
                                          <p:attrName>ppt_y</p:attrName>
                                        </p:attrNameLst>
                                      </p:cBhvr>
                                      <p:tavLst>
                                        <p:tav tm="0">
                                          <p:val>
                                            <p:strVal val="#ppt_y+.1"/>
                                          </p:val>
                                        </p:tav>
                                        <p:tav tm="100000">
                                          <p:val>
                                            <p:strVal val="#ppt_y"/>
                                          </p:val>
                                        </p:tav>
                                      </p:tavLst>
                                    </p:anim>
                                  </p:childTnLst>
                                </p:cTn>
                              </p:par>
                            </p:childTnLst>
                          </p:cTn>
                        </p:par>
                        <p:par>
                          <p:cTn id="57" fill="hold">
                            <p:stCondLst>
                              <p:cond delay="1600"/>
                            </p:stCondLst>
                            <p:childTnLst>
                              <p:par>
                                <p:cTn id="58" presetID="42" presetClass="entr" presetSubtype="0" fill="hold" nodeType="after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100"/>
                                        <p:tgtEl>
                                          <p:spTgt spid="39"/>
                                        </p:tgtEl>
                                      </p:cBhvr>
                                    </p:animEffect>
                                    <p:anim calcmode="lin" valueType="num">
                                      <p:cBhvr>
                                        <p:cTn id="61" dur="100" fill="hold"/>
                                        <p:tgtEl>
                                          <p:spTgt spid="39"/>
                                        </p:tgtEl>
                                        <p:attrNameLst>
                                          <p:attrName>ppt_x</p:attrName>
                                        </p:attrNameLst>
                                      </p:cBhvr>
                                      <p:tavLst>
                                        <p:tav tm="0">
                                          <p:val>
                                            <p:strVal val="#ppt_x"/>
                                          </p:val>
                                        </p:tav>
                                        <p:tav tm="100000">
                                          <p:val>
                                            <p:strVal val="#ppt_x"/>
                                          </p:val>
                                        </p:tav>
                                      </p:tavLst>
                                    </p:anim>
                                    <p:anim calcmode="lin" valueType="num">
                                      <p:cBhvr>
                                        <p:cTn id="62" dur="100" fill="hold"/>
                                        <p:tgtEl>
                                          <p:spTgt spid="39"/>
                                        </p:tgtEl>
                                        <p:attrNameLst>
                                          <p:attrName>ppt_y</p:attrName>
                                        </p:attrNameLst>
                                      </p:cBhvr>
                                      <p:tavLst>
                                        <p:tav tm="0">
                                          <p:val>
                                            <p:strVal val="#ppt_y+.1"/>
                                          </p:val>
                                        </p:tav>
                                        <p:tav tm="100000">
                                          <p:val>
                                            <p:strVal val="#ppt_y"/>
                                          </p:val>
                                        </p:tav>
                                      </p:tavLst>
                                    </p:anim>
                                  </p:childTnLst>
                                </p:cTn>
                              </p:par>
                            </p:childTnLst>
                          </p:cTn>
                        </p:par>
                        <p:par>
                          <p:cTn id="63" fill="hold">
                            <p:stCondLst>
                              <p:cond delay="1700"/>
                            </p:stCondLst>
                            <p:childTnLst>
                              <p:par>
                                <p:cTn id="64" presetID="42" presetClass="entr" presetSubtype="0" fill="hold" nodeType="after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100"/>
                                        <p:tgtEl>
                                          <p:spTgt spid="45"/>
                                        </p:tgtEl>
                                      </p:cBhvr>
                                    </p:animEffect>
                                    <p:anim calcmode="lin" valueType="num">
                                      <p:cBhvr>
                                        <p:cTn id="67" dur="100" fill="hold"/>
                                        <p:tgtEl>
                                          <p:spTgt spid="45"/>
                                        </p:tgtEl>
                                        <p:attrNameLst>
                                          <p:attrName>ppt_x</p:attrName>
                                        </p:attrNameLst>
                                      </p:cBhvr>
                                      <p:tavLst>
                                        <p:tav tm="0">
                                          <p:val>
                                            <p:strVal val="#ppt_x"/>
                                          </p:val>
                                        </p:tav>
                                        <p:tav tm="100000">
                                          <p:val>
                                            <p:strVal val="#ppt_x"/>
                                          </p:val>
                                        </p:tav>
                                      </p:tavLst>
                                    </p:anim>
                                    <p:anim calcmode="lin" valueType="num">
                                      <p:cBhvr>
                                        <p:cTn id="68" dur="100" fill="hold"/>
                                        <p:tgtEl>
                                          <p:spTgt spid="45"/>
                                        </p:tgtEl>
                                        <p:attrNameLst>
                                          <p:attrName>ppt_y</p:attrName>
                                        </p:attrNameLst>
                                      </p:cBhvr>
                                      <p:tavLst>
                                        <p:tav tm="0">
                                          <p:val>
                                            <p:strVal val="#ppt_y+.1"/>
                                          </p:val>
                                        </p:tav>
                                        <p:tav tm="100000">
                                          <p:val>
                                            <p:strVal val="#ppt_y"/>
                                          </p:val>
                                        </p:tav>
                                      </p:tavLst>
                                    </p:anim>
                                  </p:childTnLst>
                                </p:cTn>
                              </p:par>
                            </p:childTnLst>
                          </p:cTn>
                        </p:par>
                        <p:par>
                          <p:cTn id="69" fill="hold">
                            <p:stCondLst>
                              <p:cond delay="1800"/>
                            </p:stCondLst>
                            <p:childTnLst>
                              <p:par>
                                <p:cTn id="70" presetID="42" presetClass="entr" presetSubtype="0" fill="hold" nodeType="after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fade">
                                      <p:cBhvr>
                                        <p:cTn id="72" dur="100"/>
                                        <p:tgtEl>
                                          <p:spTgt spid="51"/>
                                        </p:tgtEl>
                                      </p:cBhvr>
                                    </p:animEffect>
                                    <p:anim calcmode="lin" valueType="num">
                                      <p:cBhvr>
                                        <p:cTn id="73" dur="100" fill="hold"/>
                                        <p:tgtEl>
                                          <p:spTgt spid="51"/>
                                        </p:tgtEl>
                                        <p:attrNameLst>
                                          <p:attrName>ppt_x</p:attrName>
                                        </p:attrNameLst>
                                      </p:cBhvr>
                                      <p:tavLst>
                                        <p:tav tm="0">
                                          <p:val>
                                            <p:strVal val="#ppt_x"/>
                                          </p:val>
                                        </p:tav>
                                        <p:tav tm="100000">
                                          <p:val>
                                            <p:strVal val="#ppt_x"/>
                                          </p:val>
                                        </p:tav>
                                      </p:tavLst>
                                    </p:anim>
                                    <p:anim calcmode="lin" valueType="num">
                                      <p:cBhvr>
                                        <p:cTn id="74" dur="100" fill="hold"/>
                                        <p:tgtEl>
                                          <p:spTgt spid="51"/>
                                        </p:tgtEl>
                                        <p:attrNameLst>
                                          <p:attrName>ppt_y</p:attrName>
                                        </p:attrNameLst>
                                      </p:cBhvr>
                                      <p:tavLst>
                                        <p:tav tm="0">
                                          <p:val>
                                            <p:strVal val="#ppt_y+.1"/>
                                          </p:val>
                                        </p:tav>
                                        <p:tav tm="100000">
                                          <p:val>
                                            <p:strVal val="#ppt_y"/>
                                          </p:val>
                                        </p:tav>
                                      </p:tavLst>
                                    </p:anim>
                                  </p:childTnLst>
                                </p:cTn>
                              </p:par>
                            </p:childTnLst>
                          </p:cTn>
                        </p:par>
                        <p:par>
                          <p:cTn id="75" fill="hold">
                            <p:stCondLst>
                              <p:cond delay="1900"/>
                            </p:stCondLst>
                            <p:childTnLst>
                              <p:par>
                                <p:cTn id="76" presetID="42" presetClass="entr" presetSubtype="0" fill="hold" nodeType="after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100"/>
                                        <p:tgtEl>
                                          <p:spTgt spid="57"/>
                                        </p:tgtEl>
                                      </p:cBhvr>
                                    </p:animEffect>
                                    <p:anim calcmode="lin" valueType="num">
                                      <p:cBhvr>
                                        <p:cTn id="79" dur="100" fill="hold"/>
                                        <p:tgtEl>
                                          <p:spTgt spid="57"/>
                                        </p:tgtEl>
                                        <p:attrNameLst>
                                          <p:attrName>ppt_x</p:attrName>
                                        </p:attrNameLst>
                                      </p:cBhvr>
                                      <p:tavLst>
                                        <p:tav tm="0">
                                          <p:val>
                                            <p:strVal val="#ppt_x"/>
                                          </p:val>
                                        </p:tav>
                                        <p:tav tm="100000">
                                          <p:val>
                                            <p:strVal val="#ppt_x"/>
                                          </p:val>
                                        </p:tav>
                                      </p:tavLst>
                                    </p:anim>
                                    <p:anim calcmode="lin" valueType="num">
                                      <p:cBhvr>
                                        <p:cTn id="80" dur="100" fill="hold"/>
                                        <p:tgtEl>
                                          <p:spTgt spid="57"/>
                                        </p:tgtEl>
                                        <p:attrNameLst>
                                          <p:attrName>ppt_y</p:attrName>
                                        </p:attrNameLst>
                                      </p:cBhvr>
                                      <p:tavLst>
                                        <p:tav tm="0">
                                          <p:val>
                                            <p:strVal val="#ppt_y+.1"/>
                                          </p:val>
                                        </p:tav>
                                        <p:tav tm="100000">
                                          <p:val>
                                            <p:strVal val="#ppt_y"/>
                                          </p:val>
                                        </p:tav>
                                      </p:tavLst>
                                    </p:anim>
                                  </p:childTnLst>
                                </p:cTn>
                              </p:par>
                            </p:childTnLst>
                          </p:cTn>
                        </p:par>
                        <p:par>
                          <p:cTn id="81" fill="hold">
                            <p:stCondLst>
                              <p:cond delay="2000"/>
                            </p:stCondLst>
                            <p:childTnLst>
                              <p:par>
                                <p:cTn id="82" presetID="42" presetClass="entr" presetSubtype="0" fill="hold" nodeType="afterEffect">
                                  <p:stCondLst>
                                    <p:cond delay="0"/>
                                  </p:stCondLst>
                                  <p:childTnLst>
                                    <p:set>
                                      <p:cBhvr>
                                        <p:cTn id="83" dur="1" fill="hold">
                                          <p:stCondLst>
                                            <p:cond delay="0"/>
                                          </p:stCondLst>
                                        </p:cTn>
                                        <p:tgtEl>
                                          <p:spTgt spid="63"/>
                                        </p:tgtEl>
                                        <p:attrNameLst>
                                          <p:attrName>style.visibility</p:attrName>
                                        </p:attrNameLst>
                                      </p:cBhvr>
                                      <p:to>
                                        <p:strVal val="visible"/>
                                      </p:to>
                                    </p:set>
                                    <p:animEffect transition="in" filter="fade">
                                      <p:cBhvr>
                                        <p:cTn id="84" dur="100"/>
                                        <p:tgtEl>
                                          <p:spTgt spid="63"/>
                                        </p:tgtEl>
                                      </p:cBhvr>
                                    </p:animEffect>
                                    <p:anim calcmode="lin" valueType="num">
                                      <p:cBhvr>
                                        <p:cTn id="85" dur="100" fill="hold"/>
                                        <p:tgtEl>
                                          <p:spTgt spid="63"/>
                                        </p:tgtEl>
                                        <p:attrNameLst>
                                          <p:attrName>ppt_x</p:attrName>
                                        </p:attrNameLst>
                                      </p:cBhvr>
                                      <p:tavLst>
                                        <p:tav tm="0">
                                          <p:val>
                                            <p:strVal val="#ppt_x"/>
                                          </p:val>
                                        </p:tav>
                                        <p:tav tm="100000">
                                          <p:val>
                                            <p:strVal val="#ppt_x"/>
                                          </p:val>
                                        </p:tav>
                                      </p:tavLst>
                                    </p:anim>
                                    <p:anim calcmode="lin" valueType="num">
                                      <p:cBhvr>
                                        <p:cTn id="86" dur="100" fill="hold"/>
                                        <p:tgtEl>
                                          <p:spTgt spid="63"/>
                                        </p:tgtEl>
                                        <p:attrNameLst>
                                          <p:attrName>ppt_y</p:attrName>
                                        </p:attrNameLst>
                                      </p:cBhvr>
                                      <p:tavLst>
                                        <p:tav tm="0">
                                          <p:val>
                                            <p:strVal val="#ppt_y+.1"/>
                                          </p:val>
                                        </p:tav>
                                        <p:tav tm="100000">
                                          <p:val>
                                            <p:strVal val="#ppt_y"/>
                                          </p:val>
                                        </p:tav>
                                      </p:tavLst>
                                    </p:anim>
                                  </p:childTnLst>
                                </p:cTn>
                              </p:par>
                            </p:childTnLst>
                          </p:cTn>
                        </p:par>
                        <p:par>
                          <p:cTn id="87" fill="hold">
                            <p:stCondLst>
                              <p:cond delay="2100"/>
                            </p:stCondLst>
                            <p:childTnLst>
                              <p:par>
                                <p:cTn id="88" presetID="42" presetClass="entr" presetSubtype="0" fill="hold" nodeType="afterEffect">
                                  <p:stCondLst>
                                    <p:cond delay="0"/>
                                  </p:stCondLst>
                                  <p:childTnLst>
                                    <p:set>
                                      <p:cBhvr>
                                        <p:cTn id="89" dur="1" fill="hold">
                                          <p:stCondLst>
                                            <p:cond delay="0"/>
                                          </p:stCondLst>
                                        </p:cTn>
                                        <p:tgtEl>
                                          <p:spTgt spid="69"/>
                                        </p:tgtEl>
                                        <p:attrNameLst>
                                          <p:attrName>style.visibility</p:attrName>
                                        </p:attrNameLst>
                                      </p:cBhvr>
                                      <p:to>
                                        <p:strVal val="visible"/>
                                      </p:to>
                                    </p:set>
                                    <p:animEffect transition="in" filter="fade">
                                      <p:cBhvr>
                                        <p:cTn id="90" dur="100"/>
                                        <p:tgtEl>
                                          <p:spTgt spid="69"/>
                                        </p:tgtEl>
                                      </p:cBhvr>
                                    </p:animEffect>
                                    <p:anim calcmode="lin" valueType="num">
                                      <p:cBhvr>
                                        <p:cTn id="91" dur="100" fill="hold"/>
                                        <p:tgtEl>
                                          <p:spTgt spid="69"/>
                                        </p:tgtEl>
                                        <p:attrNameLst>
                                          <p:attrName>ppt_x</p:attrName>
                                        </p:attrNameLst>
                                      </p:cBhvr>
                                      <p:tavLst>
                                        <p:tav tm="0">
                                          <p:val>
                                            <p:strVal val="#ppt_x"/>
                                          </p:val>
                                        </p:tav>
                                        <p:tav tm="100000">
                                          <p:val>
                                            <p:strVal val="#ppt_x"/>
                                          </p:val>
                                        </p:tav>
                                      </p:tavLst>
                                    </p:anim>
                                    <p:anim calcmode="lin" valueType="num">
                                      <p:cBhvr>
                                        <p:cTn id="92" dur="100" fill="hold"/>
                                        <p:tgtEl>
                                          <p:spTgt spid="69"/>
                                        </p:tgtEl>
                                        <p:attrNameLst>
                                          <p:attrName>ppt_y</p:attrName>
                                        </p:attrNameLst>
                                      </p:cBhvr>
                                      <p:tavLst>
                                        <p:tav tm="0">
                                          <p:val>
                                            <p:strVal val="#ppt_y+.1"/>
                                          </p:val>
                                        </p:tav>
                                        <p:tav tm="100000">
                                          <p:val>
                                            <p:strVal val="#ppt_y"/>
                                          </p:val>
                                        </p:tav>
                                      </p:tavLst>
                                    </p:anim>
                                  </p:childTnLst>
                                </p:cTn>
                              </p:par>
                            </p:childTnLst>
                          </p:cTn>
                        </p:par>
                        <p:par>
                          <p:cTn id="93" fill="hold">
                            <p:stCondLst>
                              <p:cond delay="2200"/>
                            </p:stCondLst>
                            <p:childTnLst>
                              <p:par>
                                <p:cTn id="94" presetID="22" presetClass="entr" presetSubtype="1" fill="hold" grpId="0" nodeType="afterEffect">
                                  <p:stCondLst>
                                    <p:cond delay="0"/>
                                  </p:stCondLst>
                                  <p:childTnLst>
                                    <p:set>
                                      <p:cBhvr>
                                        <p:cTn id="95" dur="1" fill="hold">
                                          <p:stCondLst>
                                            <p:cond delay="0"/>
                                          </p:stCondLst>
                                        </p:cTn>
                                        <p:tgtEl>
                                          <p:spTgt spid="75"/>
                                        </p:tgtEl>
                                        <p:attrNameLst>
                                          <p:attrName>style.visibility</p:attrName>
                                        </p:attrNameLst>
                                      </p:cBhvr>
                                      <p:to>
                                        <p:strVal val="visible"/>
                                      </p:to>
                                    </p:set>
                                    <p:animEffect transition="in" filter="wipe(up)">
                                      <p:cBhvr>
                                        <p:cTn id="96" dur="250"/>
                                        <p:tgtEl>
                                          <p:spTgt spid="75"/>
                                        </p:tgtEl>
                                      </p:cBhvr>
                                    </p:animEffect>
                                  </p:childTnLst>
                                </p:cTn>
                              </p:par>
                              <p:par>
                                <p:cTn id="97" presetID="42" presetClass="entr" presetSubtype="0" fill="hold" grpId="0" nodeType="with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fade">
                                      <p:cBhvr>
                                        <p:cTn id="99" dur="1000"/>
                                        <p:tgtEl>
                                          <p:spTgt spid="76"/>
                                        </p:tgtEl>
                                      </p:cBhvr>
                                    </p:animEffect>
                                    <p:anim calcmode="lin" valueType="num">
                                      <p:cBhvr>
                                        <p:cTn id="100" dur="1000" fill="hold"/>
                                        <p:tgtEl>
                                          <p:spTgt spid="76"/>
                                        </p:tgtEl>
                                        <p:attrNameLst>
                                          <p:attrName>ppt_x</p:attrName>
                                        </p:attrNameLst>
                                      </p:cBhvr>
                                      <p:tavLst>
                                        <p:tav tm="0">
                                          <p:val>
                                            <p:strVal val="#ppt_x"/>
                                          </p:val>
                                        </p:tav>
                                        <p:tav tm="100000">
                                          <p:val>
                                            <p:strVal val="#ppt_x"/>
                                          </p:val>
                                        </p:tav>
                                      </p:tavLst>
                                    </p:anim>
                                    <p:anim calcmode="lin" valueType="num">
                                      <p:cBhvr>
                                        <p:cTn id="101"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77">
                                            <p:txEl>
                                              <p:pRg st="0" end="0"/>
                                            </p:txEl>
                                          </p:spTgt>
                                        </p:tgtEl>
                                        <p:attrNameLst>
                                          <p:attrName>style.visibility</p:attrName>
                                        </p:attrNameLst>
                                      </p:cBhvr>
                                      <p:to>
                                        <p:strVal val="visible"/>
                                      </p:to>
                                    </p:set>
                                    <p:animEffect transition="in" filter="wipe(left)">
                                      <p:cBhvr>
                                        <p:cTn id="106" dur="500"/>
                                        <p:tgtEl>
                                          <p:spTgt spid="77">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77">
                                            <p:txEl>
                                              <p:pRg st="2" end="2"/>
                                            </p:txEl>
                                          </p:spTgt>
                                        </p:tgtEl>
                                        <p:attrNameLst>
                                          <p:attrName>style.visibility</p:attrName>
                                        </p:attrNameLst>
                                      </p:cBhvr>
                                      <p:to>
                                        <p:strVal val="visible"/>
                                      </p:to>
                                    </p:set>
                                    <p:animEffect transition="in" filter="wipe(left)">
                                      <p:cBhvr>
                                        <p:cTn id="111" dur="500"/>
                                        <p:tgtEl>
                                          <p:spTgt spid="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75" grpId="0" animBg="1"/>
      <p:bldP spid="76" grpId="0"/>
      <p:bldP spid="77"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28">
            <a:extLst>
              <a:ext uri="{FF2B5EF4-FFF2-40B4-BE49-F238E27FC236}">
                <a16:creationId xmlns="" xmlns:a16="http://schemas.microsoft.com/office/drawing/2014/main" id="{6BAA031E-6F64-2B40-9923-F1FF9BA4F5E3}"/>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1" name="Freeform 30">
            <a:extLst>
              <a:ext uri="{FF2B5EF4-FFF2-40B4-BE49-F238E27FC236}">
                <a16:creationId xmlns="" xmlns:a16="http://schemas.microsoft.com/office/drawing/2014/main" id="{F085AC4B-4A7E-834A-B06E-254CBF4187B3}"/>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2" name="Freeform 31">
            <a:extLst>
              <a:ext uri="{FF2B5EF4-FFF2-40B4-BE49-F238E27FC236}">
                <a16:creationId xmlns="" xmlns:a16="http://schemas.microsoft.com/office/drawing/2014/main" id="{E17AE7F1-0CB6-794C-BF7A-F892F91C6275}"/>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3" name="Freeform 32">
            <a:extLst>
              <a:ext uri="{FF2B5EF4-FFF2-40B4-BE49-F238E27FC236}">
                <a16:creationId xmlns="" xmlns:a16="http://schemas.microsoft.com/office/drawing/2014/main" id="{BB1A0CE1-0E3A-7B4A-B83A-13921B6A1585}"/>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4" name="Freeform 33">
            <a:extLst>
              <a:ext uri="{FF2B5EF4-FFF2-40B4-BE49-F238E27FC236}">
                <a16:creationId xmlns="" xmlns:a16="http://schemas.microsoft.com/office/drawing/2014/main" id="{611CA335-3DDA-3E42-9D4C-2F3ACE82A0B0}"/>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5" name="Freeform 34">
            <a:extLst>
              <a:ext uri="{FF2B5EF4-FFF2-40B4-BE49-F238E27FC236}">
                <a16:creationId xmlns="" xmlns:a16="http://schemas.microsoft.com/office/drawing/2014/main" id="{F475611E-0004-8645-B016-3D3DC271D062}"/>
              </a:ext>
            </a:extLst>
          </p:cNvPr>
          <p:cNvSpPr/>
          <p:nvPr/>
        </p:nvSpPr>
        <p:spPr>
          <a:xfrm>
            <a:off x="3923670" y="2876571"/>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36" name="TextBox 35">
            <a:extLst>
              <a:ext uri="{FF2B5EF4-FFF2-40B4-BE49-F238E27FC236}">
                <a16:creationId xmlns="" xmlns:a16="http://schemas.microsoft.com/office/drawing/2014/main" id="{92275B5B-E0D7-3945-8D0F-46FE7C4CF2FA}"/>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37" name="Picture 36" descr="A close up of a logo&#10;&#10;Description automatically generated">
            <a:extLst>
              <a:ext uri="{FF2B5EF4-FFF2-40B4-BE49-F238E27FC236}">
                <a16:creationId xmlns="" xmlns:a16="http://schemas.microsoft.com/office/drawing/2014/main" id="{DB65E3A3-9D34-C44D-8B28-9DC123B3C6E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38" name="Picture 37" descr="A close up of a logo&#10;&#10;Description automatically generated">
            <a:extLst>
              <a:ext uri="{FF2B5EF4-FFF2-40B4-BE49-F238E27FC236}">
                <a16:creationId xmlns="" xmlns:a16="http://schemas.microsoft.com/office/drawing/2014/main" id="{2F03890A-BF19-2C45-95C5-CB210684FA8E}"/>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39" name="TextBox 38">
            <a:extLst>
              <a:ext uri="{FF2B5EF4-FFF2-40B4-BE49-F238E27FC236}">
                <a16:creationId xmlns="" xmlns:a16="http://schemas.microsoft.com/office/drawing/2014/main" id="{A2BA009D-F8A0-4745-A2E0-0CEE28CA1EBC}"/>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40" name="Picture 39" descr="A close up of a logo&#10;&#10;Description automatically generated">
            <a:extLst>
              <a:ext uri="{FF2B5EF4-FFF2-40B4-BE49-F238E27FC236}">
                <a16:creationId xmlns="" xmlns:a16="http://schemas.microsoft.com/office/drawing/2014/main" id="{6A6FD580-32DA-9945-9417-0263FA8F04F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41" name="TextBox 40">
            <a:extLst>
              <a:ext uri="{FF2B5EF4-FFF2-40B4-BE49-F238E27FC236}">
                <a16:creationId xmlns="" xmlns:a16="http://schemas.microsoft.com/office/drawing/2014/main" id="{1DE9473B-346D-9B4E-AA6C-DEC446EBA539}"/>
              </a:ext>
            </a:extLst>
          </p:cNvPr>
          <p:cNvSpPr txBox="1"/>
          <p:nvPr/>
        </p:nvSpPr>
        <p:spPr>
          <a:xfrm>
            <a:off x="4966392" y="5607318"/>
            <a:ext cx="24250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annotation</a:t>
            </a:r>
          </a:p>
        </p:txBody>
      </p:sp>
      <p:sp>
        <p:nvSpPr>
          <p:cNvPr id="30" name="Freeform 29">
            <a:extLst>
              <a:ext uri="{FF2B5EF4-FFF2-40B4-BE49-F238E27FC236}">
                <a16:creationId xmlns="" xmlns:a16="http://schemas.microsoft.com/office/drawing/2014/main" id="{0C80176D-29FC-CF43-8AFB-3A5DEDFAE4C9}"/>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latin typeface="Century Gothic" charset="0"/>
              <a:ea typeface="Century Gothic" charset="0"/>
              <a:cs typeface="Century Gothic" charset="0"/>
            </a:endParaRPr>
          </a:p>
        </p:txBody>
      </p:sp>
      <p:sp>
        <p:nvSpPr>
          <p:cNvPr id="2" name="Title 1"/>
          <p:cNvSpPr>
            <a:spLocks noGrp="1"/>
          </p:cNvSpPr>
          <p:nvPr>
            <p:ph type="title"/>
          </p:nvPr>
        </p:nvSpPr>
        <p:spPr/>
        <p:txBody>
          <a:bodyPr/>
          <a:lstStyle/>
          <a:p>
            <a:r>
              <a:rPr lang="en-US" dirty="0" smtClean="0"/>
              <a:t>What’s next</a:t>
            </a:r>
            <a:endParaRPr lang="en-US" dirty="0"/>
          </a:p>
        </p:txBody>
      </p:sp>
      <p:sp>
        <p:nvSpPr>
          <p:cNvPr id="23" name="Line Callout 2 (No Border) 22">
            <a:extLst>
              <a:ext uri="{FF2B5EF4-FFF2-40B4-BE49-F238E27FC236}">
                <a16:creationId xmlns="" xmlns:a16="http://schemas.microsoft.com/office/drawing/2014/main" id="{028F0815-971D-5A4B-8870-3960CD470D35}"/>
              </a:ext>
            </a:extLst>
          </p:cNvPr>
          <p:cNvSpPr/>
          <p:nvPr/>
        </p:nvSpPr>
        <p:spPr>
          <a:xfrm>
            <a:off x="6394558" y="2088328"/>
            <a:ext cx="914400" cy="612648"/>
          </a:xfrm>
          <a:prstGeom prst="callout2">
            <a:avLst>
              <a:gd name="adj1" fmla="val 20824"/>
              <a:gd name="adj2" fmla="val 281304"/>
              <a:gd name="adj3" fmla="val 18751"/>
              <a:gd name="adj4" fmla="val 6410"/>
              <a:gd name="adj5" fmla="val 127808"/>
              <a:gd name="adj6" fmla="val -68462"/>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5" name="TextBox 24">
            <a:extLst>
              <a:ext uri="{FF2B5EF4-FFF2-40B4-BE49-F238E27FC236}">
                <a16:creationId xmlns="" xmlns:a16="http://schemas.microsoft.com/office/drawing/2014/main" id="{719F1643-6F0D-0647-9BA6-4A21419E902D}"/>
              </a:ext>
            </a:extLst>
          </p:cNvPr>
          <p:cNvSpPr txBox="1"/>
          <p:nvPr/>
        </p:nvSpPr>
        <p:spPr>
          <a:xfrm>
            <a:off x="6526279" y="1822284"/>
            <a:ext cx="2371612" cy="338554"/>
          </a:xfrm>
          <a:prstGeom prst="rect">
            <a:avLst/>
          </a:prstGeom>
          <a:noFill/>
        </p:spPr>
        <p:txBody>
          <a:bodyPr wrap="square" rtlCol="0">
            <a:spAutoFit/>
          </a:bodyPr>
          <a:lstStyle/>
          <a:p>
            <a:r>
              <a:rPr lang="en-US" sz="1600" dirty="0" smtClean="0">
                <a:solidFill>
                  <a:schemeClr val="bg2"/>
                </a:solidFill>
                <a:latin typeface="Century Gothic" panose="020B0502020202020204" pitchFamily="34" charset="0"/>
              </a:rPr>
              <a:t>Incidental supervision</a:t>
            </a:r>
            <a:endParaRPr lang="en-US" sz="1600" dirty="0">
              <a:solidFill>
                <a:schemeClr val="bg2"/>
              </a:solidFill>
              <a:latin typeface="Century Gothic" panose="020B0502020202020204" pitchFamily="34" charset="0"/>
            </a:endParaRPr>
          </a:p>
        </p:txBody>
      </p:sp>
    </p:spTree>
    <p:extLst>
      <p:ext uri="{BB962C8B-B14F-4D97-AF65-F5344CB8AC3E}">
        <p14:creationId xmlns:p14="http://schemas.microsoft.com/office/powerpoint/2010/main" val="739311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1000"/>
                                        <p:tgtEl>
                                          <p:spTgt spid="25"/>
                                        </p:tgtEl>
                                      </p:cBhvr>
                                    </p:animEffect>
                                    <p:anim calcmode="lin" valueType="num">
                                      <p:cBhvr>
                                        <p:cTn id="12" dur="1000" fill="hold"/>
                                        <p:tgtEl>
                                          <p:spTgt spid="25"/>
                                        </p:tgtEl>
                                        <p:attrNameLst>
                                          <p:attrName>ppt_x</p:attrName>
                                        </p:attrNameLst>
                                      </p:cBhvr>
                                      <p:tavLst>
                                        <p:tav tm="0">
                                          <p:val>
                                            <p:strVal val="#ppt_x"/>
                                          </p:val>
                                        </p:tav>
                                        <p:tav tm="100000">
                                          <p:val>
                                            <p:strVal val="#ppt_x"/>
                                          </p:val>
                                        </p:tav>
                                      </p:tavLst>
                                    </p:anim>
                                    <p:anim calcmode="lin" valueType="num">
                                      <p:cBhvr>
                                        <p:cTn id="1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val 36">
            <a:extLst>
              <a:ext uri="{FF2B5EF4-FFF2-40B4-BE49-F238E27FC236}">
                <a16:creationId xmlns="" xmlns:a16="http://schemas.microsoft.com/office/drawing/2014/main" id="{DE9B6987-1334-7245-8974-57C6F92968E9}"/>
              </a:ext>
            </a:extLst>
          </p:cNvPr>
          <p:cNvSpPr/>
          <p:nvPr/>
        </p:nvSpPr>
        <p:spPr>
          <a:xfrm>
            <a:off x="2247900" y="914400"/>
            <a:ext cx="4648200" cy="4648200"/>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a:extLst>
              <a:ext uri="{FF2B5EF4-FFF2-40B4-BE49-F238E27FC236}">
                <a16:creationId xmlns="" xmlns:a16="http://schemas.microsoft.com/office/drawing/2014/main" id="{0771F119-5056-4446-8964-83C12CDB441D}"/>
              </a:ext>
            </a:extLst>
          </p:cNvPr>
          <p:cNvSpPr/>
          <p:nvPr/>
        </p:nvSpPr>
        <p:spPr>
          <a:xfrm>
            <a:off x="3488669" y="2999514"/>
            <a:ext cx="1101479" cy="1040063"/>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39" name="Freeform 38">
            <a:extLst>
              <a:ext uri="{FF2B5EF4-FFF2-40B4-BE49-F238E27FC236}">
                <a16:creationId xmlns="" xmlns:a16="http://schemas.microsoft.com/office/drawing/2014/main" id="{451F9AD8-4D2A-BF4D-9B8B-871BAF5EEDCB}"/>
              </a:ext>
            </a:extLst>
          </p:cNvPr>
          <p:cNvSpPr/>
          <p:nvPr/>
        </p:nvSpPr>
        <p:spPr>
          <a:xfrm>
            <a:off x="4590148" y="2999513"/>
            <a:ext cx="1092495" cy="103677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0" name="Freeform 39">
            <a:extLst>
              <a:ext uri="{FF2B5EF4-FFF2-40B4-BE49-F238E27FC236}">
                <a16:creationId xmlns="" xmlns:a16="http://schemas.microsoft.com/office/drawing/2014/main" id="{40070A20-4A8B-0146-BAFD-F4EA8DF6C5C4}"/>
              </a:ext>
            </a:extLst>
          </p:cNvPr>
          <p:cNvSpPr/>
          <p:nvPr/>
        </p:nvSpPr>
        <p:spPr>
          <a:xfrm>
            <a:off x="4226496" y="4036288"/>
            <a:ext cx="727303" cy="87887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1" name="Freeform 40">
            <a:extLst>
              <a:ext uri="{FF2B5EF4-FFF2-40B4-BE49-F238E27FC236}">
                <a16:creationId xmlns="" xmlns:a16="http://schemas.microsoft.com/office/drawing/2014/main" id="{66DB43D5-321A-6E48-964E-A25B43ADC969}"/>
              </a:ext>
            </a:extLst>
          </p:cNvPr>
          <p:cNvSpPr/>
          <p:nvPr/>
        </p:nvSpPr>
        <p:spPr>
          <a:xfrm>
            <a:off x="3485471" y="1899412"/>
            <a:ext cx="2200204" cy="1384652"/>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latin typeface="Century Gothic" charset="0"/>
              <a:ea typeface="Century Gothic" charset="0"/>
              <a:cs typeface="Century Gothic" charset="0"/>
            </a:endParaRPr>
          </a:p>
        </p:txBody>
      </p:sp>
      <p:sp>
        <p:nvSpPr>
          <p:cNvPr id="42" name="Freeform 41">
            <a:extLst>
              <a:ext uri="{FF2B5EF4-FFF2-40B4-BE49-F238E27FC236}">
                <a16:creationId xmlns="" xmlns:a16="http://schemas.microsoft.com/office/drawing/2014/main" id="{B2EC405C-67B2-1243-985C-28A27372BC42}"/>
              </a:ext>
            </a:extLst>
          </p:cNvPr>
          <p:cNvSpPr/>
          <p:nvPr/>
        </p:nvSpPr>
        <p:spPr>
          <a:xfrm>
            <a:off x="4590148" y="3059552"/>
            <a:ext cx="1836552" cy="2140164"/>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3" name="Freeform 42">
            <a:extLst>
              <a:ext uri="{FF2B5EF4-FFF2-40B4-BE49-F238E27FC236}">
                <a16:creationId xmlns="" xmlns:a16="http://schemas.microsoft.com/office/drawing/2014/main" id="{D12DEFB0-D449-6342-B966-E6DF6FE3794A}"/>
              </a:ext>
            </a:extLst>
          </p:cNvPr>
          <p:cNvSpPr/>
          <p:nvPr/>
        </p:nvSpPr>
        <p:spPr>
          <a:xfrm>
            <a:off x="2753595" y="3062839"/>
            <a:ext cx="1836553" cy="2136877"/>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4" name="Freeform 43">
            <a:extLst>
              <a:ext uri="{FF2B5EF4-FFF2-40B4-BE49-F238E27FC236}">
                <a16:creationId xmlns="" xmlns:a16="http://schemas.microsoft.com/office/drawing/2014/main" id="{D76F655A-219B-B148-8AD4-D2F8D012E623}"/>
              </a:ext>
            </a:extLst>
          </p:cNvPr>
          <p:cNvSpPr/>
          <p:nvPr/>
        </p:nvSpPr>
        <p:spPr>
          <a:xfrm>
            <a:off x="4229529" y="3284064"/>
            <a:ext cx="721073" cy="81555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latin typeface="Century Gothic" charset="0"/>
              <a:ea typeface="Century Gothic" charset="0"/>
              <a:cs typeface="Century Gothic" charset="0"/>
            </a:endParaRPr>
          </a:p>
        </p:txBody>
      </p:sp>
      <p:sp>
        <p:nvSpPr>
          <p:cNvPr id="45" name="TextBox 44">
            <a:extLst>
              <a:ext uri="{FF2B5EF4-FFF2-40B4-BE49-F238E27FC236}">
                <a16:creationId xmlns="" xmlns:a16="http://schemas.microsoft.com/office/drawing/2014/main" id="{C6E3FE73-1D22-7349-B366-15CA1150E172}"/>
              </a:ext>
            </a:extLst>
          </p:cNvPr>
          <p:cNvSpPr txBox="1"/>
          <p:nvPr/>
        </p:nvSpPr>
        <p:spPr>
          <a:xfrm>
            <a:off x="3921520" y="2105861"/>
            <a:ext cx="1608946"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Structured learning</a:t>
            </a:r>
          </a:p>
        </p:txBody>
      </p:sp>
      <p:pic>
        <p:nvPicPr>
          <p:cNvPr id="46" name="Picture 45" descr="A close up of a logo&#10;&#10;Description automatically generated">
            <a:extLst>
              <a:ext uri="{FF2B5EF4-FFF2-40B4-BE49-F238E27FC236}">
                <a16:creationId xmlns="" xmlns:a16="http://schemas.microsoft.com/office/drawing/2014/main" id="{05DC80D7-EEDB-DD4D-94DF-AD97564C9D65}"/>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351258" y="2341162"/>
            <a:ext cx="543881" cy="416255"/>
          </a:xfrm>
          <a:prstGeom prst="rect">
            <a:avLst/>
          </a:prstGeom>
        </p:spPr>
      </p:pic>
      <p:pic>
        <p:nvPicPr>
          <p:cNvPr id="47" name="Picture 46" descr="A close up of a logo&#10;&#10;Description automatically generated">
            <a:extLst>
              <a:ext uri="{FF2B5EF4-FFF2-40B4-BE49-F238E27FC236}">
                <a16:creationId xmlns="" xmlns:a16="http://schemas.microsoft.com/office/drawing/2014/main" id="{B117A7C3-F36F-A44C-8275-0F1FDB45F9E5}"/>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449682" y="4339200"/>
            <a:ext cx="738737" cy="525324"/>
          </a:xfrm>
          <a:prstGeom prst="rect">
            <a:avLst/>
          </a:prstGeom>
        </p:spPr>
      </p:pic>
      <p:sp>
        <p:nvSpPr>
          <p:cNvPr id="48" name="TextBox 47">
            <a:extLst>
              <a:ext uri="{FF2B5EF4-FFF2-40B4-BE49-F238E27FC236}">
                <a16:creationId xmlns="" xmlns:a16="http://schemas.microsoft.com/office/drawing/2014/main" id="{FA0A12DF-51F7-9349-BD6F-A1FB41FF9F1C}"/>
              </a:ext>
            </a:extLst>
          </p:cNvPr>
          <p:cNvSpPr txBox="1"/>
          <p:nvPr/>
        </p:nvSpPr>
        <p:spPr>
          <a:xfrm>
            <a:off x="3271039" y="4817258"/>
            <a:ext cx="1300961"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Common sense</a:t>
            </a:r>
          </a:p>
        </p:txBody>
      </p:sp>
      <p:pic>
        <p:nvPicPr>
          <p:cNvPr id="49" name="Picture 48" descr="A close up of a logo&#10;&#10;Description automatically generated">
            <a:extLst>
              <a:ext uri="{FF2B5EF4-FFF2-40B4-BE49-F238E27FC236}">
                <a16:creationId xmlns="" xmlns:a16="http://schemas.microsoft.com/office/drawing/2014/main" id="{FA5AF64E-1469-A44B-B66B-44D10CCD550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152983" y="4483290"/>
            <a:ext cx="457482" cy="381234"/>
          </a:xfrm>
          <a:prstGeom prst="rect">
            <a:avLst/>
          </a:prstGeom>
        </p:spPr>
      </p:pic>
      <p:sp>
        <p:nvSpPr>
          <p:cNvPr id="50" name="TextBox 49">
            <a:extLst>
              <a:ext uri="{FF2B5EF4-FFF2-40B4-BE49-F238E27FC236}">
                <a16:creationId xmlns="" xmlns:a16="http://schemas.microsoft.com/office/drawing/2014/main" id="{AFD41754-20B6-4140-8777-A40918E7E5C8}"/>
              </a:ext>
            </a:extLst>
          </p:cNvPr>
          <p:cNvSpPr txBox="1"/>
          <p:nvPr/>
        </p:nvSpPr>
        <p:spPr>
          <a:xfrm>
            <a:off x="4811761" y="4817257"/>
            <a:ext cx="1596792" cy="246221"/>
          </a:xfrm>
          <a:prstGeom prst="rect">
            <a:avLst/>
          </a:prstGeom>
          <a:noFill/>
        </p:spPr>
        <p:txBody>
          <a:bodyPr wrap="square" rtlCol="0">
            <a:spAutoFit/>
          </a:bodyPr>
          <a:lstStyle/>
          <a:p>
            <a:r>
              <a:rPr lang="en-US" sz="1000" u="sng" dirty="0">
                <a:solidFill>
                  <a:schemeClr val="bg2"/>
                </a:solidFill>
                <a:latin typeface="Century Gothic" charset="0"/>
                <a:ea typeface="Century Gothic" charset="0"/>
                <a:cs typeface="Century Gothic" charset="0"/>
              </a:rPr>
              <a:t>Data annotation</a:t>
            </a:r>
          </a:p>
        </p:txBody>
      </p:sp>
      <p:sp>
        <p:nvSpPr>
          <p:cNvPr id="51" name="TextBox 50">
            <a:extLst>
              <a:ext uri="{FF2B5EF4-FFF2-40B4-BE49-F238E27FC236}">
                <a16:creationId xmlns="" xmlns:a16="http://schemas.microsoft.com/office/drawing/2014/main" id="{94A604E3-0ECB-3C42-90ED-CB3340850A6D}"/>
              </a:ext>
            </a:extLst>
          </p:cNvPr>
          <p:cNvSpPr txBox="1"/>
          <p:nvPr/>
        </p:nvSpPr>
        <p:spPr>
          <a:xfrm>
            <a:off x="4133322" y="1018887"/>
            <a:ext cx="979755"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Time</a:t>
            </a:r>
          </a:p>
        </p:txBody>
      </p:sp>
      <p:sp>
        <p:nvSpPr>
          <p:cNvPr id="5" name="Line Callout 2 (No Border) 4">
            <a:extLst>
              <a:ext uri="{FF2B5EF4-FFF2-40B4-BE49-F238E27FC236}">
                <a16:creationId xmlns="" xmlns:a16="http://schemas.microsoft.com/office/drawing/2014/main" id="{028F0815-971D-5A4B-8870-3960CD470D35}"/>
              </a:ext>
            </a:extLst>
          </p:cNvPr>
          <p:cNvSpPr/>
          <p:nvPr/>
        </p:nvSpPr>
        <p:spPr>
          <a:xfrm>
            <a:off x="5960351" y="1462134"/>
            <a:ext cx="914400" cy="612648"/>
          </a:xfrm>
          <a:prstGeom prst="callout2">
            <a:avLst>
              <a:gd name="adj1" fmla="val 20824"/>
              <a:gd name="adj2" fmla="val 281304"/>
              <a:gd name="adj3" fmla="val 18751"/>
              <a:gd name="adj4" fmla="val 6410"/>
              <a:gd name="adj5" fmla="val 127808"/>
              <a:gd name="adj6" fmla="val -68462"/>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6" name="TextBox 5">
            <a:extLst>
              <a:ext uri="{FF2B5EF4-FFF2-40B4-BE49-F238E27FC236}">
                <a16:creationId xmlns="" xmlns:a16="http://schemas.microsoft.com/office/drawing/2014/main" id="{719F1643-6F0D-0647-9BA6-4A21419E902D}"/>
              </a:ext>
            </a:extLst>
          </p:cNvPr>
          <p:cNvSpPr txBox="1"/>
          <p:nvPr/>
        </p:nvSpPr>
        <p:spPr>
          <a:xfrm>
            <a:off x="6238988" y="949869"/>
            <a:ext cx="2371612" cy="584775"/>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Joint extraction of events &amp; relations</a:t>
            </a:r>
          </a:p>
        </p:txBody>
      </p:sp>
      <p:sp>
        <p:nvSpPr>
          <p:cNvPr id="20" name="Line Callout 2 (No Border) 19">
            <a:extLst>
              <a:ext uri="{FF2B5EF4-FFF2-40B4-BE49-F238E27FC236}">
                <a16:creationId xmlns="" xmlns:a16="http://schemas.microsoft.com/office/drawing/2014/main" id="{ED2DC101-90AC-4F4E-B8C3-720B061867DF}"/>
              </a:ext>
            </a:extLst>
          </p:cNvPr>
          <p:cNvSpPr/>
          <p:nvPr/>
        </p:nvSpPr>
        <p:spPr>
          <a:xfrm>
            <a:off x="2300942" y="5066589"/>
            <a:ext cx="914400" cy="612648"/>
          </a:xfrm>
          <a:prstGeom prst="callout2">
            <a:avLst>
              <a:gd name="adj1" fmla="val -31000"/>
              <a:gd name="adj2" fmla="val 117307"/>
              <a:gd name="adj3" fmla="val -92233"/>
              <a:gd name="adj4" fmla="val 29487"/>
              <a:gd name="adj5" fmla="val -90013"/>
              <a:gd name="adj6" fmla="val -24805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1" name="TextBox 20">
            <a:extLst>
              <a:ext uri="{FF2B5EF4-FFF2-40B4-BE49-F238E27FC236}">
                <a16:creationId xmlns="" xmlns:a16="http://schemas.microsoft.com/office/drawing/2014/main" id="{2E54AA40-4793-3540-8D7B-CC99D24D85D3}"/>
              </a:ext>
            </a:extLst>
          </p:cNvPr>
          <p:cNvSpPr txBox="1"/>
          <p:nvPr/>
        </p:nvSpPr>
        <p:spPr>
          <a:xfrm>
            <a:off x="-45317" y="4137173"/>
            <a:ext cx="2691763"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Temporal common sense</a:t>
            </a:r>
          </a:p>
        </p:txBody>
      </p:sp>
      <p:sp>
        <p:nvSpPr>
          <p:cNvPr id="22" name="Line Callout 2 (No Border) 21">
            <a:extLst>
              <a:ext uri="{FF2B5EF4-FFF2-40B4-BE49-F238E27FC236}">
                <a16:creationId xmlns="" xmlns:a16="http://schemas.microsoft.com/office/drawing/2014/main" id="{AF58F829-D91D-004C-AB22-C62AB9414BCF}"/>
              </a:ext>
            </a:extLst>
          </p:cNvPr>
          <p:cNvSpPr/>
          <p:nvPr/>
        </p:nvSpPr>
        <p:spPr>
          <a:xfrm flipH="1" flipV="1">
            <a:off x="5573737" y="4268598"/>
            <a:ext cx="914400" cy="612648"/>
          </a:xfrm>
          <a:prstGeom prst="callout2">
            <a:avLst>
              <a:gd name="adj1" fmla="val -31000"/>
              <a:gd name="adj2" fmla="val 117307"/>
              <a:gd name="adj3" fmla="val -92233"/>
              <a:gd name="adj4" fmla="val 29487"/>
              <a:gd name="adj5" fmla="val -94158"/>
              <a:gd name="adj6" fmla="val -273804"/>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3" name="TextBox 22">
            <a:extLst>
              <a:ext uri="{FF2B5EF4-FFF2-40B4-BE49-F238E27FC236}">
                <a16:creationId xmlns="" xmlns:a16="http://schemas.microsoft.com/office/drawing/2014/main" id="{FF7CE9D0-07C0-9A45-9142-81C3EA56203E}"/>
              </a:ext>
            </a:extLst>
          </p:cNvPr>
          <p:cNvSpPr txBox="1"/>
          <p:nvPr/>
        </p:nvSpPr>
        <p:spPr>
          <a:xfrm>
            <a:off x="6324600" y="5090477"/>
            <a:ext cx="2720617"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Multi-axis temporal parser</a:t>
            </a:r>
          </a:p>
        </p:txBody>
      </p:sp>
      <p:sp>
        <p:nvSpPr>
          <p:cNvPr id="25" name="TextBox 24">
            <a:extLst>
              <a:ext uri="{FF2B5EF4-FFF2-40B4-BE49-F238E27FC236}">
                <a16:creationId xmlns="" xmlns:a16="http://schemas.microsoft.com/office/drawing/2014/main" id="{39CFD2D1-3AA4-5E48-82B8-DF89164313B9}"/>
              </a:ext>
            </a:extLst>
          </p:cNvPr>
          <p:cNvSpPr txBox="1"/>
          <p:nvPr/>
        </p:nvSpPr>
        <p:spPr>
          <a:xfrm>
            <a:off x="6233891" y="1605674"/>
            <a:ext cx="2788169"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Multi-task &amp; s</a:t>
            </a:r>
            <a:r>
              <a:rPr lang="en-US" sz="1600" i="1" dirty="0" smtClean="0">
                <a:solidFill>
                  <a:schemeClr val="bg2"/>
                </a:solidFill>
                <a:latin typeface="Century Gothic" panose="020B0502020202020204" pitchFamily="34" charset="0"/>
              </a:rPr>
              <a:t>tructured </a:t>
            </a:r>
            <a:r>
              <a:rPr lang="en-US" sz="1600" i="1" dirty="0">
                <a:solidFill>
                  <a:schemeClr val="bg2"/>
                </a:solidFill>
                <a:latin typeface="Century Gothic" panose="020B0502020202020204" pitchFamily="34" charset="0"/>
              </a:rPr>
              <a:t>learning</a:t>
            </a:r>
          </a:p>
        </p:txBody>
      </p:sp>
      <p:sp>
        <p:nvSpPr>
          <p:cNvPr id="26" name="TextBox 25">
            <a:extLst>
              <a:ext uri="{FF2B5EF4-FFF2-40B4-BE49-F238E27FC236}">
                <a16:creationId xmlns="" xmlns:a16="http://schemas.microsoft.com/office/drawing/2014/main" id="{9263E68C-C9A8-E240-AC60-010237BD7A45}"/>
              </a:ext>
            </a:extLst>
          </p:cNvPr>
          <p:cNvSpPr txBox="1"/>
          <p:nvPr/>
        </p:nvSpPr>
        <p:spPr>
          <a:xfrm>
            <a:off x="6306539" y="5502522"/>
            <a:ext cx="2720618"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Important for </a:t>
            </a:r>
            <a:r>
              <a:rPr lang="en-US" sz="1600" i="1" dirty="0" smtClean="0">
                <a:solidFill>
                  <a:schemeClr val="bg2"/>
                </a:solidFill>
                <a:latin typeface="Century Gothic" panose="020B0502020202020204" pitchFamily="34" charset="0"/>
              </a:rPr>
              <a:t>information </a:t>
            </a:r>
            <a:r>
              <a:rPr lang="en-US" sz="1600" i="1" dirty="0">
                <a:solidFill>
                  <a:schemeClr val="bg2"/>
                </a:solidFill>
                <a:latin typeface="Century Gothic" panose="020B0502020202020204" pitchFamily="34" charset="0"/>
              </a:rPr>
              <a:t>trustworthiness</a:t>
            </a:r>
          </a:p>
        </p:txBody>
      </p:sp>
      <p:sp>
        <p:nvSpPr>
          <p:cNvPr id="28" name="TextBox 27">
            <a:extLst>
              <a:ext uri="{FF2B5EF4-FFF2-40B4-BE49-F238E27FC236}">
                <a16:creationId xmlns="" xmlns:a16="http://schemas.microsoft.com/office/drawing/2014/main" id="{52E635A2-083F-6A43-A185-58E8D69AC990}"/>
              </a:ext>
            </a:extLst>
          </p:cNvPr>
          <p:cNvSpPr txBox="1"/>
          <p:nvPr/>
        </p:nvSpPr>
        <p:spPr>
          <a:xfrm>
            <a:off x="-45317" y="4606405"/>
            <a:ext cx="2489784"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Duration, frequency, …</a:t>
            </a:r>
          </a:p>
        </p:txBody>
      </p:sp>
      <p:sp>
        <p:nvSpPr>
          <p:cNvPr id="3" name="Title 2"/>
          <p:cNvSpPr>
            <a:spLocks noGrp="1"/>
          </p:cNvSpPr>
          <p:nvPr>
            <p:ph type="title"/>
          </p:nvPr>
        </p:nvSpPr>
        <p:spPr/>
        <p:txBody>
          <a:bodyPr/>
          <a:lstStyle/>
          <a:p>
            <a:r>
              <a:rPr lang="en-US" dirty="0"/>
              <a:t>What’s next</a:t>
            </a:r>
          </a:p>
        </p:txBody>
      </p:sp>
    </p:spTree>
    <p:extLst>
      <p:ext uri="{BB962C8B-B14F-4D97-AF65-F5344CB8AC3E}">
        <p14:creationId xmlns:p14="http://schemas.microsoft.com/office/powerpoint/2010/main" val="2089394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1000"/>
                                        <p:tgtEl>
                                          <p:spTgt spid="25"/>
                                        </p:tgtEl>
                                      </p:cBhvr>
                                    </p:animEffect>
                                    <p:anim calcmode="lin" valueType="num">
                                      <p:cBhvr>
                                        <p:cTn id="17" dur="1000" fill="hold"/>
                                        <p:tgtEl>
                                          <p:spTgt spid="25"/>
                                        </p:tgtEl>
                                        <p:attrNameLst>
                                          <p:attrName>ppt_x</p:attrName>
                                        </p:attrNameLst>
                                      </p:cBhvr>
                                      <p:tavLst>
                                        <p:tav tm="0">
                                          <p:val>
                                            <p:strVal val="#ppt_x"/>
                                          </p:val>
                                        </p:tav>
                                        <p:tav tm="100000">
                                          <p:val>
                                            <p:strVal val="#ppt_x"/>
                                          </p:val>
                                        </p:tav>
                                      </p:tavLst>
                                    </p:anim>
                                    <p:anim calcmode="lin" valueType="num">
                                      <p:cBhvr>
                                        <p:cTn id="1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par>
                          <p:cTn id="24" fill="hold">
                            <p:stCondLst>
                              <p:cond delay="500"/>
                            </p:stCondLst>
                            <p:childTnLst>
                              <p:par>
                                <p:cTn id="25" presetID="42"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right)">
                                      <p:cBhvr>
                                        <p:cTn id="39" dur="500"/>
                                        <p:tgtEl>
                                          <p:spTgt spid="20"/>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1000"/>
                                        <p:tgtEl>
                                          <p:spTgt spid="21"/>
                                        </p:tgtEl>
                                      </p:cBhvr>
                                    </p:animEffect>
                                    <p:anim calcmode="lin" valueType="num">
                                      <p:cBhvr>
                                        <p:cTn id="44" dur="1000" fill="hold"/>
                                        <p:tgtEl>
                                          <p:spTgt spid="21"/>
                                        </p:tgtEl>
                                        <p:attrNameLst>
                                          <p:attrName>ppt_x</p:attrName>
                                        </p:attrNameLst>
                                      </p:cBhvr>
                                      <p:tavLst>
                                        <p:tav tm="0">
                                          <p:val>
                                            <p:strVal val="#ppt_x"/>
                                          </p:val>
                                        </p:tav>
                                        <p:tav tm="100000">
                                          <p:val>
                                            <p:strVal val="#ppt_x"/>
                                          </p:val>
                                        </p:tav>
                                      </p:tavLst>
                                    </p:anim>
                                    <p:anim calcmode="lin" valueType="num">
                                      <p:cBhvr>
                                        <p:cTn id="45" dur="1000" fill="hold"/>
                                        <p:tgtEl>
                                          <p:spTgt spid="2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1000"/>
                                        <p:tgtEl>
                                          <p:spTgt spid="28"/>
                                        </p:tgtEl>
                                      </p:cBhvr>
                                    </p:animEffect>
                                    <p:anim calcmode="lin" valueType="num">
                                      <p:cBhvr>
                                        <p:cTn id="49" dur="1000" fill="hold"/>
                                        <p:tgtEl>
                                          <p:spTgt spid="28"/>
                                        </p:tgtEl>
                                        <p:attrNameLst>
                                          <p:attrName>ppt_x</p:attrName>
                                        </p:attrNameLst>
                                      </p:cBhvr>
                                      <p:tavLst>
                                        <p:tav tm="0">
                                          <p:val>
                                            <p:strVal val="#ppt_x"/>
                                          </p:val>
                                        </p:tav>
                                        <p:tav tm="100000">
                                          <p:val>
                                            <p:strVal val="#ppt_x"/>
                                          </p:val>
                                        </p:tav>
                                      </p:tavLst>
                                    </p:anim>
                                    <p:anim calcmode="lin" valueType="num">
                                      <p:cBhvr>
                                        <p:cTn id="5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20" grpId="0" animBg="1"/>
      <p:bldP spid="21" grpId="0"/>
      <p:bldP spid="22" grpId="0" animBg="1"/>
      <p:bldP spid="23" grpId="0"/>
      <p:bldP spid="25" grpId="0"/>
      <p:bldP spid="26" grpId="0"/>
      <p:bldP spid="2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2000" dirty="0" err="1" smtClean="0"/>
              <a:t>TemProb</a:t>
            </a:r>
            <a:r>
              <a:rPr lang="en-US" sz="2000" dirty="0" smtClean="0"/>
              <a:t> </a:t>
            </a:r>
            <a:r>
              <a:rPr lang="en-US" sz="2000" dirty="0"/>
              <a:t>[NAACL’18] is </a:t>
            </a:r>
            <a:r>
              <a:rPr lang="en-US" sz="2000" dirty="0" smtClean="0"/>
              <a:t>only about </a:t>
            </a:r>
            <a:r>
              <a:rPr lang="en-US" sz="2000" dirty="0"/>
              <a:t>temporal </a:t>
            </a:r>
            <a:r>
              <a:rPr lang="en-US" sz="2000" b="1" dirty="0" smtClean="0"/>
              <a:t>ordering</a:t>
            </a:r>
          </a:p>
          <a:p>
            <a:pPr marL="0" indent="0">
              <a:buNone/>
            </a:pPr>
            <a:endParaRPr lang="en-US" sz="2000" dirty="0"/>
          </a:p>
          <a:p>
            <a:pPr marL="0" indent="0">
              <a:buNone/>
            </a:pPr>
            <a:r>
              <a:rPr lang="en-US" sz="2000" dirty="0"/>
              <a:t>In addition, we proposed other types of temporal common sense:</a:t>
            </a:r>
          </a:p>
          <a:p>
            <a:pPr lvl="1"/>
            <a:r>
              <a:rPr lang="en-US" sz="1800" b="1" dirty="0" smtClean="0"/>
              <a:t>Duration: </a:t>
            </a:r>
            <a:r>
              <a:rPr lang="en-US" sz="1600" dirty="0"/>
              <a:t>h</a:t>
            </a:r>
            <a:r>
              <a:rPr lang="en-US" sz="1600" dirty="0" smtClean="0">
                <a:latin typeface="Century Gothic" panose="020B0502020202020204" pitchFamily="34" charset="0"/>
              </a:rPr>
              <a:t>ow long something </a:t>
            </a:r>
            <a:r>
              <a:rPr lang="en-US" sz="1600" dirty="0"/>
              <a:t>takes</a:t>
            </a:r>
          </a:p>
          <a:p>
            <a:pPr lvl="1"/>
            <a:r>
              <a:rPr lang="en-US" sz="1800" b="1" dirty="0"/>
              <a:t>Frequency: </a:t>
            </a:r>
            <a:r>
              <a:rPr lang="en-US" sz="1600" dirty="0"/>
              <a:t>how often something </a:t>
            </a:r>
            <a:r>
              <a:rPr lang="en-US" sz="1600" dirty="0" smtClean="0"/>
              <a:t>happens</a:t>
            </a:r>
            <a:endParaRPr lang="en-US" sz="1600" dirty="0">
              <a:latin typeface="Century Gothic" panose="020B0502020202020204" pitchFamily="34" charset="0"/>
            </a:endParaRPr>
          </a:p>
          <a:p>
            <a:pPr lvl="1"/>
            <a:r>
              <a:rPr lang="en-US" sz="1800" b="1" dirty="0"/>
              <a:t>Stationary vs </a:t>
            </a:r>
            <a:r>
              <a:rPr lang="en-US" sz="1800" b="1" dirty="0" smtClean="0"/>
              <a:t>transient: “</a:t>
            </a:r>
            <a:r>
              <a:rPr lang="en-US" sz="1600" dirty="0" smtClean="0"/>
              <a:t>b</a:t>
            </a:r>
            <a:r>
              <a:rPr lang="en-US" sz="1600" dirty="0" smtClean="0">
                <a:latin typeface="Century Gothic" panose="020B0502020202020204" pitchFamily="34" charset="0"/>
              </a:rPr>
              <a:t>eing allergic” vs “being a student”</a:t>
            </a:r>
            <a:endParaRPr lang="en-US" sz="1600" dirty="0">
              <a:latin typeface="Century Gothic" panose="020B0502020202020204" pitchFamily="34" charset="0"/>
            </a:endParaRPr>
          </a:p>
          <a:p>
            <a:pPr lvl="1"/>
            <a:r>
              <a:rPr lang="en-US" sz="1800" b="1" dirty="0"/>
              <a:t>Absolute time </a:t>
            </a:r>
            <a:r>
              <a:rPr lang="en-US" sz="1800" b="1" dirty="0" smtClean="0"/>
              <a:t>point: “</a:t>
            </a:r>
            <a:r>
              <a:rPr lang="en-US" sz="1600" dirty="0" smtClean="0">
                <a:latin typeface="Century Gothic" panose="020B0502020202020204" pitchFamily="34" charset="0"/>
              </a:rPr>
              <a:t>go to work” vs “go to bed”</a:t>
            </a:r>
            <a:endParaRPr lang="en-US" sz="2000" dirty="0" smtClean="0"/>
          </a:p>
          <a:p>
            <a:pPr marL="0" indent="0">
              <a:buNone/>
            </a:pPr>
            <a:endParaRPr lang="en-US" sz="2000" dirty="0" smtClean="0"/>
          </a:p>
          <a:p>
            <a:pPr marL="0" indent="0">
              <a:buNone/>
            </a:pPr>
            <a:r>
              <a:rPr lang="en-US" sz="2000" dirty="0" smtClean="0"/>
              <a:t>We are the </a:t>
            </a:r>
            <a:r>
              <a:rPr lang="en-US" sz="2000" b="1" dirty="0" smtClean="0"/>
              <a:t>first</a:t>
            </a:r>
            <a:r>
              <a:rPr lang="en-US" sz="2000" dirty="0" smtClean="0"/>
              <a:t> to study this, have </a:t>
            </a:r>
            <a:r>
              <a:rPr lang="en-US" sz="2000" dirty="0"/>
              <a:t>collected </a:t>
            </a:r>
            <a:r>
              <a:rPr lang="en-US" sz="2000" b="1" dirty="0"/>
              <a:t>10K Q&amp;A </a:t>
            </a:r>
            <a:r>
              <a:rPr lang="en-US" sz="2000" b="1" dirty="0" smtClean="0"/>
              <a:t>pairs</a:t>
            </a:r>
            <a:r>
              <a:rPr lang="en-US" sz="2000" dirty="0" smtClean="0"/>
              <a:t>, </a:t>
            </a:r>
            <a:r>
              <a:rPr lang="en-US" sz="2000" dirty="0"/>
              <a:t>and achieved ~70% on </a:t>
            </a:r>
            <a:r>
              <a:rPr lang="en-US" sz="2000" dirty="0" smtClean="0"/>
              <a:t>it in a baseline system</a:t>
            </a:r>
          </a:p>
          <a:p>
            <a:pPr marL="0" indent="0">
              <a:buNone/>
            </a:pPr>
            <a:endParaRPr lang="en-US" sz="2000" dirty="0" smtClean="0"/>
          </a:p>
          <a:p>
            <a:pPr marL="0" indent="0">
              <a:buNone/>
            </a:pPr>
            <a:r>
              <a:rPr lang="en-US" sz="2000" dirty="0" smtClean="0"/>
              <a:t>“</a:t>
            </a:r>
            <a:r>
              <a:rPr lang="en-US" sz="2000" dirty="0"/>
              <a:t>My movie starts in 30 mins</a:t>
            </a:r>
            <a:r>
              <a:rPr lang="en-US" sz="2000" dirty="0" smtClean="0"/>
              <a:t>. Can I have dinner before it?”</a:t>
            </a:r>
            <a:endParaRPr lang="en-US" sz="2000" dirty="0"/>
          </a:p>
          <a:p>
            <a:pPr marL="0" indent="0">
              <a:buNone/>
            </a:pPr>
            <a:endParaRPr lang="en-US" sz="2000" dirty="0"/>
          </a:p>
        </p:txBody>
      </p:sp>
      <p:sp>
        <p:nvSpPr>
          <p:cNvPr id="4" name="TextBox 3"/>
          <p:cNvSpPr txBox="1"/>
          <p:nvPr/>
        </p:nvSpPr>
        <p:spPr>
          <a:xfrm>
            <a:off x="4962153" y="411277"/>
            <a:ext cx="1406154" cy="307777"/>
          </a:xfrm>
          <a:prstGeom prst="rect">
            <a:avLst/>
          </a:prstGeom>
          <a:noFill/>
        </p:spPr>
        <p:txBody>
          <a:bodyPr wrap="none" rtlCol="0">
            <a:spAutoFit/>
          </a:bodyPr>
          <a:lstStyle/>
          <a:p>
            <a:r>
              <a:rPr lang="en-US" sz="1400" i="1" dirty="0">
                <a:solidFill>
                  <a:schemeClr val="bg2"/>
                </a:solidFill>
                <a:latin typeface="Century Gothic" panose="020B0502020202020204" pitchFamily="34" charset="0"/>
              </a:rPr>
              <a:t>[in submission]</a:t>
            </a:r>
          </a:p>
        </p:txBody>
      </p:sp>
      <p:sp>
        <p:nvSpPr>
          <p:cNvPr id="7" name="TextBox 6">
            <a:extLst>
              <a:ext uri="{FF2B5EF4-FFF2-40B4-BE49-F238E27FC236}">
                <a16:creationId xmlns="" xmlns:a16="http://schemas.microsoft.com/office/drawing/2014/main" id="{129EBA1A-99BB-8446-A971-B9D3E144A2D5}"/>
              </a:ext>
            </a:extLst>
          </p:cNvPr>
          <p:cNvSpPr txBox="1"/>
          <p:nvPr/>
        </p:nvSpPr>
        <p:spPr>
          <a:xfrm>
            <a:off x="386862" y="262336"/>
            <a:ext cx="4575291" cy="523220"/>
          </a:xfrm>
          <a:prstGeom prst="rect">
            <a:avLst/>
          </a:prstGeom>
          <a:noFill/>
        </p:spPr>
        <p:txBody>
          <a:bodyPr wrap="none" rtlCol="0">
            <a:spAutoFit/>
          </a:bodyPr>
          <a:lstStyle/>
          <a:p>
            <a:r>
              <a:rPr lang="en-US" sz="2800" dirty="0">
                <a:solidFill>
                  <a:schemeClr val="bg2"/>
                </a:solidFill>
                <a:latin typeface="Century Gothic" panose="020B0502020202020204" pitchFamily="34" charset="0"/>
              </a:rPr>
              <a:t>Temporal common sense</a:t>
            </a:r>
          </a:p>
        </p:txBody>
      </p:sp>
      <p:sp>
        <p:nvSpPr>
          <p:cNvPr id="6" name="TextBox 5">
            <a:extLst>
              <a:ext uri="{FF2B5EF4-FFF2-40B4-BE49-F238E27FC236}">
                <a16:creationId xmlns="" xmlns:a16="http://schemas.microsoft.com/office/drawing/2014/main" id="{50CE7CA8-D560-2E44-9464-97CF00EF769A}"/>
              </a:ext>
            </a:extLst>
          </p:cNvPr>
          <p:cNvSpPr txBox="1"/>
          <p:nvPr/>
        </p:nvSpPr>
        <p:spPr>
          <a:xfrm>
            <a:off x="-205107" y="6519446"/>
            <a:ext cx="3660221"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What’s next: </a:t>
            </a:r>
            <a:r>
              <a:rPr lang="en-US" sz="1600" i="1" dirty="0" smtClean="0">
                <a:solidFill>
                  <a:schemeClr val="bg2"/>
                </a:solidFill>
                <a:latin typeface="Century Gothic" charset="0"/>
                <a:ea typeface="Century Gothic" charset="0"/>
                <a:cs typeface="Century Gothic" charset="0"/>
              </a:rPr>
              <a:t>preliminary results</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178292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dissolve">
                                      <p:cBhvr>
                                        <p:cTn id="23" dur="500"/>
                                        <p:tgtEl>
                                          <p:spTgt spid="3">
                                            <p:txEl>
                                              <p:pRg st="5" end="5"/>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dissolv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dissolve">
                                      <p:cBhvr>
                                        <p:cTn id="31" dur="500"/>
                                        <p:tgtEl>
                                          <p:spTgt spid="3">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dissolve">
                                      <p:cBhvr>
                                        <p:cTn id="3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Oval 68">
            <a:extLst>
              <a:ext uri="{FF2B5EF4-FFF2-40B4-BE49-F238E27FC236}">
                <a16:creationId xmlns="" xmlns:a16="http://schemas.microsoft.com/office/drawing/2014/main" id="{53589587-3451-9F45-A178-B972D233EAAC}"/>
              </a:ext>
            </a:extLst>
          </p:cNvPr>
          <p:cNvSpPr/>
          <p:nvPr/>
        </p:nvSpPr>
        <p:spPr>
          <a:xfrm>
            <a:off x="2759379" y="1565892"/>
            <a:ext cx="3618687" cy="361868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extBox 75">
            <a:extLst>
              <a:ext uri="{FF2B5EF4-FFF2-40B4-BE49-F238E27FC236}">
                <a16:creationId xmlns="" xmlns:a16="http://schemas.microsoft.com/office/drawing/2014/main" id="{7F0DE926-1D0E-B74D-8463-C75A808E4BDB}"/>
              </a:ext>
            </a:extLst>
          </p:cNvPr>
          <p:cNvSpPr txBox="1"/>
          <p:nvPr/>
        </p:nvSpPr>
        <p:spPr>
          <a:xfrm>
            <a:off x="3879876" y="1664969"/>
            <a:ext cx="1427769" cy="523220"/>
          </a:xfrm>
          <a:prstGeom prst="rect">
            <a:avLst/>
          </a:prstGeom>
          <a:noFill/>
        </p:spPr>
        <p:txBody>
          <a:bodyPr wrap="square" rtlCol="0">
            <a:spAutoFit/>
          </a:bodyPr>
          <a:lstStyle/>
          <a:p>
            <a:pPr algn="ctr"/>
            <a:r>
              <a:rPr lang="en-US" sz="2800" dirty="0">
                <a:latin typeface="Century Gothic" panose="020B0502020202020204" pitchFamily="34" charset="0"/>
              </a:rPr>
              <a:t>Event</a:t>
            </a:r>
          </a:p>
        </p:txBody>
      </p:sp>
      <p:sp>
        <p:nvSpPr>
          <p:cNvPr id="77" name="Oval 76">
            <a:extLst>
              <a:ext uri="{FF2B5EF4-FFF2-40B4-BE49-F238E27FC236}">
                <a16:creationId xmlns="" xmlns:a16="http://schemas.microsoft.com/office/drawing/2014/main" id="{FB03D6D5-3677-7D42-9D5D-BD97DD3C33AF}"/>
              </a:ext>
            </a:extLst>
          </p:cNvPr>
          <p:cNvSpPr/>
          <p:nvPr/>
        </p:nvSpPr>
        <p:spPr>
          <a:xfrm>
            <a:off x="3386320" y="2721595"/>
            <a:ext cx="2347042" cy="2347042"/>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8" name="Freeform 77">
            <a:extLst>
              <a:ext uri="{FF2B5EF4-FFF2-40B4-BE49-F238E27FC236}">
                <a16:creationId xmlns="" xmlns:a16="http://schemas.microsoft.com/office/drawing/2014/main" id="{D163EFD5-164A-3E44-B580-F3C4979FEAB4}"/>
              </a:ext>
            </a:extLst>
          </p:cNvPr>
          <p:cNvSpPr/>
          <p:nvPr/>
        </p:nvSpPr>
        <p:spPr>
          <a:xfrm>
            <a:off x="4012829" y="3774444"/>
            <a:ext cx="556176" cy="525165"/>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79" name="Freeform 78">
            <a:extLst>
              <a:ext uri="{FF2B5EF4-FFF2-40B4-BE49-F238E27FC236}">
                <a16:creationId xmlns="" xmlns:a16="http://schemas.microsoft.com/office/drawing/2014/main" id="{1F3035BC-E1C6-A94E-BF84-8907CB724617}"/>
              </a:ext>
            </a:extLst>
          </p:cNvPr>
          <p:cNvSpPr/>
          <p:nvPr/>
        </p:nvSpPr>
        <p:spPr>
          <a:xfrm>
            <a:off x="4569005" y="3774443"/>
            <a:ext cx="551639" cy="52350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0" name="Freeform 79">
            <a:extLst>
              <a:ext uri="{FF2B5EF4-FFF2-40B4-BE49-F238E27FC236}">
                <a16:creationId xmlns="" xmlns:a16="http://schemas.microsoft.com/office/drawing/2014/main" id="{C4CD434E-7F4E-974F-AD8C-9BDB730ED40D}"/>
              </a:ext>
            </a:extLst>
          </p:cNvPr>
          <p:cNvSpPr/>
          <p:nvPr/>
        </p:nvSpPr>
        <p:spPr>
          <a:xfrm>
            <a:off x="4385384" y="4297947"/>
            <a:ext cx="367241" cy="443777"/>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1" name="Freeform 80">
            <a:extLst>
              <a:ext uri="{FF2B5EF4-FFF2-40B4-BE49-F238E27FC236}">
                <a16:creationId xmlns="" xmlns:a16="http://schemas.microsoft.com/office/drawing/2014/main" id="{F950239B-0129-1943-9755-99B2E173002B}"/>
              </a:ext>
            </a:extLst>
          </p:cNvPr>
          <p:cNvSpPr/>
          <p:nvPr/>
        </p:nvSpPr>
        <p:spPr>
          <a:xfrm>
            <a:off x="4011214" y="3218963"/>
            <a:ext cx="1110962" cy="69916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2" name="Freeform 81">
            <a:extLst>
              <a:ext uri="{FF2B5EF4-FFF2-40B4-BE49-F238E27FC236}">
                <a16:creationId xmlns="" xmlns:a16="http://schemas.microsoft.com/office/drawing/2014/main" id="{7442F4D3-F41A-EE4E-90A7-7005AAE8C8D7}"/>
              </a:ext>
            </a:extLst>
          </p:cNvPr>
          <p:cNvSpPr/>
          <p:nvPr/>
        </p:nvSpPr>
        <p:spPr>
          <a:xfrm>
            <a:off x="4569005" y="3804759"/>
            <a:ext cx="927341" cy="1080645"/>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3" name="Freeform 82">
            <a:extLst>
              <a:ext uri="{FF2B5EF4-FFF2-40B4-BE49-F238E27FC236}">
                <a16:creationId xmlns="" xmlns:a16="http://schemas.microsoft.com/office/drawing/2014/main" id="{24AA8090-48EA-AB48-888D-C2609871EAF2}"/>
              </a:ext>
            </a:extLst>
          </p:cNvPr>
          <p:cNvSpPr/>
          <p:nvPr/>
        </p:nvSpPr>
        <p:spPr>
          <a:xfrm>
            <a:off x="3641664" y="3806418"/>
            <a:ext cx="927341" cy="1078985"/>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9" name="Freeform 88">
            <a:extLst>
              <a:ext uri="{FF2B5EF4-FFF2-40B4-BE49-F238E27FC236}">
                <a16:creationId xmlns="" xmlns:a16="http://schemas.microsoft.com/office/drawing/2014/main" id="{5B1F4589-6EE3-BF4A-888E-FF592DD1EA6F}"/>
              </a:ext>
            </a:extLst>
          </p:cNvPr>
          <p:cNvSpPr/>
          <p:nvPr/>
        </p:nvSpPr>
        <p:spPr>
          <a:xfrm>
            <a:off x="4386131" y="3933280"/>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84" name="Freeform 83">
            <a:extLst>
              <a:ext uri="{FF2B5EF4-FFF2-40B4-BE49-F238E27FC236}">
                <a16:creationId xmlns="" xmlns:a16="http://schemas.microsoft.com/office/drawing/2014/main" id="{50FBF310-7026-FD4D-925B-CF48894F0921}"/>
              </a:ext>
            </a:extLst>
          </p:cNvPr>
          <p:cNvSpPr/>
          <p:nvPr/>
        </p:nvSpPr>
        <p:spPr>
          <a:xfrm>
            <a:off x="4386916" y="3918123"/>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pic>
        <p:nvPicPr>
          <p:cNvPr id="85" name="Picture 84" descr="A close up of a logo&#10;&#10;Description automatically generated">
            <a:extLst>
              <a:ext uri="{FF2B5EF4-FFF2-40B4-BE49-F238E27FC236}">
                <a16:creationId xmlns="" xmlns:a16="http://schemas.microsoft.com/office/drawing/2014/main" id="{5EB8202C-38F6-8342-840F-4D7A00E4E88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48381" y="3442018"/>
            <a:ext cx="274625" cy="210182"/>
          </a:xfrm>
          <a:prstGeom prst="rect">
            <a:avLst/>
          </a:prstGeom>
        </p:spPr>
      </p:pic>
      <p:pic>
        <p:nvPicPr>
          <p:cNvPr id="86" name="Picture 85" descr="A close up of a logo&#10;&#10;Description automatically generated">
            <a:extLst>
              <a:ext uri="{FF2B5EF4-FFF2-40B4-BE49-F238E27FC236}">
                <a16:creationId xmlns="" xmlns:a16="http://schemas.microsoft.com/office/drawing/2014/main" id="{608E31AD-8141-4C4A-B2F9-AA2F4778538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993143" y="4450899"/>
            <a:ext cx="373014" cy="265255"/>
          </a:xfrm>
          <a:prstGeom prst="rect">
            <a:avLst/>
          </a:prstGeom>
        </p:spPr>
      </p:pic>
      <p:pic>
        <p:nvPicPr>
          <p:cNvPr id="87" name="Picture 86" descr="A close up of a logo&#10;&#10;Description automatically generated">
            <a:extLst>
              <a:ext uri="{FF2B5EF4-FFF2-40B4-BE49-F238E27FC236}">
                <a16:creationId xmlns="" xmlns:a16="http://schemas.microsoft.com/office/drawing/2014/main" id="{86C14464-3D50-1B47-A6F2-F487F943961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4853200" y="4523655"/>
            <a:ext cx="230999" cy="192499"/>
          </a:xfrm>
          <a:prstGeom prst="rect">
            <a:avLst/>
          </a:prstGeom>
        </p:spPr>
      </p:pic>
      <p:sp>
        <p:nvSpPr>
          <p:cNvPr id="88" name="TextBox 87">
            <a:extLst>
              <a:ext uri="{FF2B5EF4-FFF2-40B4-BE49-F238E27FC236}">
                <a16:creationId xmlns="" xmlns:a16="http://schemas.microsoft.com/office/drawing/2014/main" id="{4E47E76C-9ACD-CA44-A0A6-F97083BA1833}"/>
              </a:ext>
            </a:extLst>
          </p:cNvPr>
          <p:cNvSpPr txBox="1"/>
          <p:nvPr/>
        </p:nvSpPr>
        <p:spPr>
          <a:xfrm>
            <a:off x="4273778" y="2801002"/>
            <a:ext cx="639920" cy="338554"/>
          </a:xfrm>
          <a:prstGeom prst="rect">
            <a:avLst/>
          </a:prstGeom>
          <a:noFill/>
        </p:spPr>
        <p:txBody>
          <a:bodyPr wrap="none" rtlCol="0">
            <a:spAutoFit/>
          </a:bodyPr>
          <a:lstStyle/>
          <a:p>
            <a:pPr algn="ctr"/>
            <a:r>
              <a:rPr lang="en-US" sz="1600" dirty="0">
                <a:solidFill>
                  <a:schemeClr val="bg2"/>
                </a:solidFill>
                <a:latin typeface="Century Gothic" panose="020B0502020202020204" pitchFamily="34" charset="0"/>
              </a:rPr>
              <a:t>Time</a:t>
            </a:r>
          </a:p>
        </p:txBody>
      </p:sp>
      <p:sp>
        <p:nvSpPr>
          <p:cNvPr id="6" name="TextBox 5">
            <a:extLst>
              <a:ext uri="{FF2B5EF4-FFF2-40B4-BE49-F238E27FC236}">
                <a16:creationId xmlns="" xmlns:a16="http://schemas.microsoft.com/office/drawing/2014/main" id="{A05F2659-36A8-CF48-94C6-9DD378790B8C}"/>
              </a:ext>
            </a:extLst>
          </p:cNvPr>
          <p:cNvSpPr txBox="1"/>
          <p:nvPr/>
        </p:nvSpPr>
        <p:spPr>
          <a:xfrm>
            <a:off x="338523" y="1583512"/>
            <a:ext cx="2420856"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Summarization [ISIT’19]</a:t>
            </a:r>
          </a:p>
        </p:txBody>
      </p:sp>
      <p:sp>
        <p:nvSpPr>
          <p:cNvPr id="38" name="TextBox 37">
            <a:extLst>
              <a:ext uri="{FF2B5EF4-FFF2-40B4-BE49-F238E27FC236}">
                <a16:creationId xmlns="" xmlns:a16="http://schemas.microsoft.com/office/drawing/2014/main" id="{AE103771-0757-D64A-9112-681C1C885C5A}"/>
              </a:ext>
            </a:extLst>
          </p:cNvPr>
          <p:cNvSpPr txBox="1"/>
          <p:nvPr/>
        </p:nvSpPr>
        <p:spPr>
          <a:xfrm>
            <a:off x="6277789" y="915822"/>
            <a:ext cx="2713811" cy="584775"/>
          </a:xfrm>
          <a:prstGeom prst="rect">
            <a:avLst/>
          </a:prstGeom>
          <a:noFill/>
        </p:spPr>
        <p:txBody>
          <a:bodyPr wrap="square" rtlCol="0">
            <a:spAutoFit/>
          </a:bodyPr>
          <a:lstStyle/>
          <a:p>
            <a:r>
              <a:rPr lang="en-US" sz="1600" dirty="0" smtClean="0">
                <a:solidFill>
                  <a:schemeClr val="bg2"/>
                </a:solidFill>
                <a:latin typeface="Century Gothic" panose="020B0502020202020204" pitchFamily="34" charset="0"/>
              </a:rPr>
              <a:t>Predict how things unfold [in </a:t>
            </a:r>
            <a:r>
              <a:rPr lang="en-US" sz="1600" dirty="0">
                <a:solidFill>
                  <a:schemeClr val="bg2"/>
                </a:solidFill>
                <a:latin typeface="Century Gothic" panose="020B0502020202020204" pitchFamily="34" charset="0"/>
              </a:rPr>
              <a:t>submission]</a:t>
            </a:r>
          </a:p>
        </p:txBody>
      </p:sp>
      <p:sp>
        <p:nvSpPr>
          <p:cNvPr id="39" name="Line Callout 2 (No Border) 38">
            <a:extLst>
              <a:ext uri="{FF2B5EF4-FFF2-40B4-BE49-F238E27FC236}">
                <a16:creationId xmlns="" xmlns:a16="http://schemas.microsoft.com/office/drawing/2014/main" id="{B5F30D68-FAA9-904A-A9F2-7491895BA339}"/>
              </a:ext>
            </a:extLst>
          </p:cNvPr>
          <p:cNvSpPr/>
          <p:nvPr/>
        </p:nvSpPr>
        <p:spPr>
          <a:xfrm>
            <a:off x="6273358" y="1437970"/>
            <a:ext cx="914400" cy="612648"/>
          </a:xfrm>
          <a:prstGeom prst="callout2">
            <a:avLst>
              <a:gd name="adj1" fmla="val 14823"/>
              <a:gd name="adj2" fmla="val 276991"/>
              <a:gd name="adj3" fmla="val 18751"/>
              <a:gd name="adj4" fmla="val 6410"/>
              <a:gd name="adj5" fmla="val 101019"/>
              <a:gd name="adj6" fmla="val -5307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40" name="Line Callout 2 (No Border) 39">
            <a:extLst>
              <a:ext uri="{FF2B5EF4-FFF2-40B4-BE49-F238E27FC236}">
                <a16:creationId xmlns="" xmlns:a16="http://schemas.microsoft.com/office/drawing/2014/main" id="{6BC163CA-DDF8-194E-8F92-D8796C0DC0F2}"/>
              </a:ext>
            </a:extLst>
          </p:cNvPr>
          <p:cNvSpPr/>
          <p:nvPr/>
        </p:nvSpPr>
        <p:spPr>
          <a:xfrm>
            <a:off x="2399090" y="2546965"/>
            <a:ext cx="914400" cy="612648"/>
          </a:xfrm>
          <a:prstGeom prst="callout2">
            <a:avLst>
              <a:gd name="adj1" fmla="val -53962"/>
              <a:gd name="adj2" fmla="val 85256"/>
              <a:gd name="adj3" fmla="val -96060"/>
              <a:gd name="adj4" fmla="val 56410"/>
              <a:gd name="adj5" fmla="val -94159"/>
              <a:gd name="adj6" fmla="val -214617"/>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41" name="Line Callout 2 (No Border) 40">
            <a:extLst>
              <a:ext uri="{FF2B5EF4-FFF2-40B4-BE49-F238E27FC236}">
                <a16:creationId xmlns="" xmlns:a16="http://schemas.microsoft.com/office/drawing/2014/main" id="{5EA7D270-613B-304B-9987-BCA0A628556F}"/>
              </a:ext>
            </a:extLst>
          </p:cNvPr>
          <p:cNvSpPr/>
          <p:nvPr/>
        </p:nvSpPr>
        <p:spPr>
          <a:xfrm flipH="1" flipV="1">
            <a:off x="4652677" y="4395933"/>
            <a:ext cx="914400" cy="612648"/>
          </a:xfrm>
          <a:prstGeom prst="callout2">
            <a:avLst>
              <a:gd name="adj1" fmla="val -31000"/>
              <a:gd name="adj2" fmla="val 117307"/>
              <a:gd name="adj3" fmla="val -92233"/>
              <a:gd name="adj4" fmla="val 29487"/>
              <a:gd name="adj5" fmla="val -92194"/>
              <a:gd name="adj6" fmla="val -335939"/>
            </a:avLst>
          </a:prstGeom>
          <a:noFill/>
          <a:ln w="3810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bg2"/>
              </a:solidFill>
            </a:endParaRPr>
          </a:p>
        </p:txBody>
      </p:sp>
      <p:sp>
        <p:nvSpPr>
          <p:cNvPr id="42" name="TextBox 41">
            <a:extLst>
              <a:ext uri="{FF2B5EF4-FFF2-40B4-BE49-F238E27FC236}">
                <a16:creationId xmlns="" xmlns:a16="http://schemas.microsoft.com/office/drawing/2014/main" id="{0899A37F-FC63-3549-8C4C-BE173AD5D06C}"/>
              </a:ext>
            </a:extLst>
          </p:cNvPr>
          <p:cNvSpPr txBox="1"/>
          <p:nvPr/>
        </p:nvSpPr>
        <p:spPr>
          <a:xfrm>
            <a:off x="5471842" y="5534530"/>
            <a:ext cx="3325372" cy="584775"/>
          </a:xfrm>
          <a:prstGeom prst="rect">
            <a:avLst/>
          </a:prstGeom>
          <a:noFill/>
        </p:spPr>
        <p:txBody>
          <a:bodyPr wrap="square" rtlCol="0">
            <a:spAutoFit/>
          </a:bodyPr>
          <a:lstStyle/>
          <a:p>
            <a:r>
              <a:rPr lang="en-US" sz="1600" dirty="0">
                <a:solidFill>
                  <a:schemeClr val="bg2"/>
                </a:solidFill>
                <a:latin typeface="Century Gothic" panose="020B0502020202020204" pitchFamily="34" charset="0"/>
              </a:rPr>
              <a:t>Event hierarchies, coreference, causality, etc.</a:t>
            </a:r>
          </a:p>
        </p:txBody>
      </p:sp>
      <p:sp>
        <p:nvSpPr>
          <p:cNvPr id="43" name="TextBox 42">
            <a:extLst>
              <a:ext uri="{FF2B5EF4-FFF2-40B4-BE49-F238E27FC236}">
                <a16:creationId xmlns="" xmlns:a16="http://schemas.microsoft.com/office/drawing/2014/main" id="{BB81DF61-5EB4-3245-AB02-E4260AD61A34}"/>
              </a:ext>
            </a:extLst>
          </p:cNvPr>
          <p:cNvSpPr txBox="1"/>
          <p:nvPr/>
        </p:nvSpPr>
        <p:spPr>
          <a:xfrm>
            <a:off x="6265089" y="1621307"/>
            <a:ext cx="2955111" cy="584775"/>
          </a:xfrm>
          <a:prstGeom prst="rect">
            <a:avLst/>
          </a:prstGeom>
          <a:noFill/>
        </p:spPr>
        <p:txBody>
          <a:bodyPr wrap="square" rtlCol="0">
            <a:spAutoFit/>
          </a:bodyPr>
          <a:lstStyle/>
          <a:p>
            <a:r>
              <a:rPr lang="en-US" sz="1600" i="1" dirty="0">
                <a:solidFill>
                  <a:schemeClr val="bg2"/>
                </a:solidFill>
                <a:latin typeface="Century Gothic" panose="020B0502020202020204" pitchFamily="34" charset="0"/>
              </a:rPr>
              <a:t>Extension: Medical records, </a:t>
            </a:r>
            <a:r>
              <a:rPr lang="en-US" sz="1600" i="1" dirty="0" smtClean="0">
                <a:solidFill>
                  <a:schemeClr val="bg2"/>
                </a:solidFill>
                <a:latin typeface="Century Gothic" panose="020B0502020202020204" pitchFamily="34" charset="0"/>
              </a:rPr>
              <a:t>financial reports, </a:t>
            </a:r>
            <a:r>
              <a:rPr lang="en-US" sz="1600" i="1" dirty="0">
                <a:solidFill>
                  <a:schemeClr val="bg2"/>
                </a:solidFill>
                <a:latin typeface="Century Gothic" panose="020B0502020202020204" pitchFamily="34" charset="0"/>
              </a:rPr>
              <a:t>etc.</a:t>
            </a:r>
          </a:p>
        </p:txBody>
      </p:sp>
      <p:sp>
        <p:nvSpPr>
          <p:cNvPr id="71" name="TextBox 70">
            <a:extLst>
              <a:ext uri="{FF2B5EF4-FFF2-40B4-BE49-F238E27FC236}">
                <a16:creationId xmlns="" xmlns:a16="http://schemas.microsoft.com/office/drawing/2014/main" id="{42EC300F-B643-9746-9AC4-DEBCCFA091BE}"/>
              </a:ext>
            </a:extLst>
          </p:cNvPr>
          <p:cNvSpPr txBox="1"/>
          <p:nvPr/>
        </p:nvSpPr>
        <p:spPr>
          <a:xfrm>
            <a:off x="1568714" y="4123457"/>
            <a:ext cx="1830950" cy="253916"/>
          </a:xfrm>
          <a:prstGeom prst="rect">
            <a:avLst/>
          </a:prstGeom>
          <a:noFill/>
        </p:spPr>
        <p:txBody>
          <a:bodyPr wrap="none" rtlCol="0">
            <a:spAutoFit/>
          </a:bodyPr>
          <a:lstStyle/>
          <a:p>
            <a:r>
              <a:rPr lang="en-US" sz="1050" dirty="0">
                <a:solidFill>
                  <a:schemeClr val="bg2">
                    <a:alpha val="50000"/>
                  </a:schemeClr>
                </a:solidFill>
                <a:latin typeface="Century Gothic" panose="020B0502020202020204" pitchFamily="34" charset="0"/>
              </a:rPr>
              <a:t>Temporal common sense</a:t>
            </a:r>
          </a:p>
        </p:txBody>
      </p:sp>
      <p:sp>
        <p:nvSpPr>
          <p:cNvPr id="73" name="TextBox 72">
            <a:extLst>
              <a:ext uri="{FF2B5EF4-FFF2-40B4-BE49-F238E27FC236}">
                <a16:creationId xmlns="" xmlns:a16="http://schemas.microsoft.com/office/drawing/2014/main" id="{B0DA4DBF-7B94-254F-B617-777DE0C4B706}"/>
              </a:ext>
            </a:extLst>
          </p:cNvPr>
          <p:cNvSpPr txBox="1"/>
          <p:nvPr/>
        </p:nvSpPr>
        <p:spPr>
          <a:xfrm>
            <a:off x="5715393" y="4694011"/>
            <a:ext cx="1845377" cy="253916"/>
          </a:xfrm>
          <a:prstGeom prst="rect">
            <a:avLst/>
          </a:prstGeom>
          <a:noFill/>
        </p:spPr>
        <p:txBody>
          <a:bodyPr wrap="none" rtlCol="0">
            <a:spAutoFit/>
          </a:bodyPr>
          <a:lstStyle/>
          <a:p>
            <a:r>
              <a:rPr lang="en-US" sz="1050" dirty="0">
                <a:solidFill>
                  <a:schemeClr val="bg2">
                    <a:alpha val="50000"/>
                  </a:schemeClr>
                </a:solidFill>
                <a:latin typeface="Century Gothic" panose="020B0502020202020204" pitchFamily="34" charset="0"/>
              </a:rPr>
              <a:t>Multi-axis temporal parser</a:t>
            </a:r>
          </a:p>
        </p:txBody>
      </p:sp>
      <p:sp>
        <p:nvSpPr>
          <p:cNvPr id="75" name="TextBox 74">
            <a:extLst>
              <a:ext uri="{FF2B5EF4-FFF2-40B4-BE49-F238E27FC236}">
                <a16:creationId xmlns="" xmlns:a16="http://schemas.microsoft.com/office/drawing/2014/main" id="{8D39537A-8BEB-D946-9427-68E518F6509B}"/>
              </a:ext>
            </a:extLst>
          </p:cNvPr>
          <p:cNvSpPr txBox="1"/>
          <p:nvPr/>
        </p:nvSpPr>
        <p:spPr>
          <a:xfrm>
            <a:off x="5377250" y="2598418"/>
            <a:ext cx="1361105" cy="415498"/>
          </a:xfrm>
          <a:prstGeom prst="rect">
            <a:avLst/>
          </a:prstGeom>
          <a:noFill/>
        </p:spPr>
        <p:txBody>
          <a:bodyPr wrap="square" rtlCol="0">
            <a:spAutoFit/>
          </a:bodyPr>
          <a:lstStyle/>
          <a:p>
            <a:r>
              <a:rPr lang="en-US" sz="1050" dirty="0">
                <a:solidFill>
                  <a:schemeClr val="bg2">
                    <a:alpha val="50000"/>
                  </a:schemeClr>
                </a:solidFill>
                <a:latin typeface="Century Gothic" panose="020B0502020202020204" pitchFamily="34" charset="0"/>
              </a:rPr>
              <a:t>Joint extraction of events &amp; relations</a:t>
            </a:r>
          </a:p>
        </p:txBody>
      </p:sp>
      <p:sp>
        <p:nvSpPr>
          <p:cNvPr id="28" name="TextBox 27">
            <a:extLst>
              <a:ext uri="{FF2B5EF4-FFF2-40B4-BE49-F238E27FC236}">
                <a16:creationId xmlns="" xmlns:a16="http://schemas.microsoft.com/office/drawing/2014/main" id="{71C961FC-AA83-024A-9026-69970B9C3B2E}"/>
              </a:ext>
            </a:extLst>
          </p:cNvPr>
          <p:cNvSpPr txBox="1"/>
          <p:nvPr/>
        </p:nvSpPr>
        <p:spPr>
          <a:xfrm>
            <a:off x="322219" y="2004724"/>
            <a:ext cx="2600213" cy="584775"/>
          </a:xfrm>
          <a:prstGeom prst="rect">
            <a:avLst/>
          </a:prstGeom>
          <a:noFill/>
        </p:spPr>
        <p:txBody>
          <a:bodyPr wrap="square" rtlCol="0">
            <a:spAutoFit/>
          </a:bodyPr>
          <a:lstStyle/>
          <a:p>
            <a:r>
              <a:rPr lang="en-US" sz="1600" i="1" dirty="0" smtClean="0">
                <a:solidFill>
                  <a:schemeClr val="bg2"/>
                </a:solidFill>
                <a:latin typeface="Century Gothic" panose="020B0502020202020204" pitchFamily="34" charset="0"/>
              </a:rPr>
              <a:t>Information theory for </a:t>
            </a:r>
            <a:r>
              <a:rPr lang="en-US" sz="1600" i="1" smtClean="0">
                <a:solidFill>
                  <a:schemeClr val="bg2"/>
                </a:solidFill>
                <a:latin typeface="Century Gothic" panose="020B0502020202020204" pitchFamily="34" charset="0"/>
              </a:rPr>
              <a:t>text summarization</a:t>
            </a:r>
            <a:endParaRPr lang="en-US" sz="1600" i="1" dirty="0">
              <a:solidFill>
                <a:schemeClr val="bg2"/>
              </a:solidFill>
              <a:latin typeface="Century Gothic" panose="020B0502020202020204" pitchFamily="34" charset="0"/>
            </a:endParaRPr>
          </a:p>
        </p:txBody>
      </p:sp>
      <p:sp>
        <p:nvSpPr>
          <p:cNvPr id="2" name="Title 1"/>
          <p:cNvSpPr>
            <a:spLocks noGrp="1"/>
          </p:cNvSpPr>
          <p:nvPr>
            <p:ph type="title"/>
          </p:nvPr>
        </p:nvSpPr>
        <p:spPr/>
        <p:txBody>
          <a:bodyPr/>
          <a:lstStyle/>
          <a:p>
            <a:r>
              <a:rPr lang="en-US" dirty="0"/>
              <a:t>What’s </a:t>
            </a:r>
            <a:r>
              <a:rPr lang="en-US" dirty="0" smtClean="0"/>
              <a:t>next</a:t>
            </a:r>
            <a:endParaRPr lang="en-US" dirty="0"/>
          </a:p>
        </p:txBody>
      </p:sp>
    </p:spTree>
    <p:extLst>
      <p:ext uri="{BB962C8B-B14F-4D97-AF65-F5344CB8AC3E}">
        <p14:creationId xmlns:p14="http://schemas.microsoft.com/office/powerpoint/2010/main" val="191872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right)">
                                      <p:cBhvr>
                                        <p:cTn id="7" dur="500"/>
                                        <p:tgtEl>
                                          <p:spTgt spid="40"/>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1000"/>
                                        <p:tgtEl>
                                          <p:spTgt spid="28"/>
                                        </p:tgtEl>
                                      </p:cBhvr>
                                    </p:animEffect>
                                    <p:anim calcmode="lin" valueType="num">
                                      <p:cBhvr>
                                        <p:cTn id="17" dur="1000" fill="hold"/>
                                        <p:tgtEl>
                                          <p:spTgt spid="28"/>
                                        </p:tgtEl>
                                        <p:attrNameLst>
                                          <p:attrName>ppt_x</p:attrName>
                                        </p:attrNameLst>
                                      </p:cBhvr>
                                      <p:tavLst>
                                        <p:tav tm="0">
                                          <p:val>
                                            <p:strVal val="#ppt_x"/>
                                          </p:val>
                                        </p:tav>
                                        <p:tav tm="100000">
                                          <p:val>
                                            <p:strVal val="#ppt_x"/>
                                          </p:val>
                                        </p:tav>
                                      </p:tavLst>
                                    </p:anim>
                                    <p:anim calcmode="lin" valueType="num">
                                      <p:cBhvr>
                                        <p:cTn id="1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500"/>
                                        <p:tgtEl>
                                          <p:spTgt spid="39"/>
                                        </p:tgtEl>
                                      </p:cBhvr>
                                    </p:animEffect>
                                  </p:childTnLst>
                                </p:cTn>
                              </p:par>
                            </p:childTnLst>
                          </p:cTn>
                        </p:par>
                        <p:par>
                          <p:cTn id="24" fill="hold">
                            <p:stCondLst>
                              <p:cond delay="500"/>
                            </p:stCondLst>
                            <p:childTnLst>
                              <p:par>
                                <p:cTn id="25" presetID="42"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1000"/>
                                        <p:tgtEl>
                                          <p:spTgt spid="38"/>
                                        </p:tgtEl>
                                      </p:cBhvr>
                                    </p:animEffect>
                                    <p:anim calcmode="lin" valueType="num">
                                      <p:cBhvr>
                                        <p:cTn id="28" dur="1000" fill="hold"/>
                                        <p:tgtEl>
                                          <p:spTgt spid="38"/>
                                        </p:tgtEl>
                                        <p:attrNameLst>
                                          <p:attrName>ppt_x</p:attrName>
                                        </p:attrNameLst>
                                      </p:cBhvr>
                                      <p:tavLst>
                                        <p:tav tm="0">
                                          <p:val>
                                            <p:strVal val="#ppt_x"/>
                                          </p:val>
                                        </p:tav>
                                        <p:tav tm="100000">
                                          <p:val>
                                            <p:strVal val="#ppt_x"/>
                                          </p:val>
                                        </p:tav>
                                      </p:tavLst>
                                    </p:anim>
                                    <p:anim calcmode="lin" valueType="num">
                                      <p:cBhvr>
                                        <p:cTn id="29" dur="1000" fill="hold"/>
                                        <p:tgtEl>
                                          <p:spTgt spid="3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left)">
                                      <p:cBhvr>
                                        <p:cTn id="39" dur="500"/>
                                        <p:tgtEl>
                                          <p:spTgt spid="41"/>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fade">
                                      <p:cBhvr>
                                        <p:cTn id="43" dur="1000"/>
                                        <p:tgtEl>
                                          <p:spTgt spid="42"/>
                                        </p:tgtEl>
                                      </p:cBhvr>
                                    </p:animEffect>
                                    <p:anim calcmode="lin" valueType="num">
                                      <p:cBhvr>
                                        <p:cTn id="44" dur="1000" fill="hold"/>
                                        <p:tgtEl>
                                          <p:spTgt spid="42"/>
                                        </p:tgtEl>
                                        <p:attrNameLst>
                                          <p:attrName>ppt_x</p:attrName>
                                        </p:attrNameLst>
                                      </p:cBhvr>
                                      <p:tavLst>
                                        <p:tav tm="0">
                                          <p:val>
                                            <p:strVal val="#ppt_x"/>
                                          </p:val>
                                        </p:tav>
                                        <p:tav tm="100000">
                                          <p:val>
                                            <p:strVal val="#ppt_x"/>
                                          </p:val>
                                        </p:tav>
                                      </p:tavLst>
                                    </p:anim>
                                    <p:anim calcmode="lin" valueType="num">
                                      <p:cBhvr>
                                        <p:cTn id="45"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8" grpId="0"/>
      <p:bldP spid="39" grpId="0" animBg="1"/>
      <p:bldP spid="40" grpId="0" animBg="1"/>
      <p:bldP spid="41" grpId="0" animBg="1"/>
      <p:bldP spid="42" grpId="0"/>
      <p:bldP spid="43" grpId="0"/>
      <p:bldP spid="2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reeform 62">
            <a:extLst>
              <a:ext uri="{FF2B5EF4-FFF2-40B4-BE49-F238E27FC236}">
                <a16:creationId xmlns="" xmlns:a16="http://schemas.microsoft.com/office/drawing/2014/main" id="{97A5C87A-9515-4048-B8BC-01024AC1BAFE}"/>
              </a:ext>
            </a:extLst>
          </p:cNvPr>
          <p:cNvSpPr/>
          <p:nvPr/>
        </p:nvSpPr>
        <p:spPr>
          <a:xfrm>
            <a:off x="4390193" y="3140226"/>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chemeClr val="tx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latin typeface="Century Gothic" charset="0"/>
              <a:ea typeface="Century Gothic" charset="0"/>
              <a:cs typeface="Century Gothic" charset="0"/>
            </a:endParaRPr>
          </a:p>
        </p:txBody>
      </p:sp>
      <p:sp>
        <p:nvSpPr>
          <p:cNvPr id="68" name="Freeform 67">
            <a:extLst>
              <a:ext uri="{FF2B5EF4-FFF2-40B4-BE49-F238E27FC236}">
                <a16:creationId xmlns="" xmlns:a16="http://schemas.microsoft.com/office/drawing/2014/main" id="{C7D886E8-0C0A-8E4D-862B-E964BD372C53}"/>
              </a:ext>
            </a:extLst>
          </p:cNvPr>
          <p:cNvSpPr/>
          <p:nvPr/>
        </p:nvSpPr>
        <p:spPr>
          <a:xfrm>
            <a:off x="4390193" y="3114230"/>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545164"/>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 name="TextBox 5"/>
          <p:cNvSpPr txBox="1"/>
          <p:nvPr/>
        </p:nvSpPr>
        <p:spPr>
          <a:xfrm>
            <a:off x="63115" y="4322899"/>
            <a:ext cx="9067800" cy="1785104"/>
          </a:xfrm>
          <a:prstGeom prst="rect">
            <a:avLst/>
          </a:prstGeom>
          <a:noFill/>
        </p:spPr>
        <p:txBody>
          <a:bodyPr wrap="square" rtlCol="0">
            <a:spAutoFit/>
          </a:bodyPr>
          <a:lstStyle/>
          <a:p>
            <a:pPr>
              <a:spcBef>
                <a:spcPts val="600"/>
              </a:spcBef>
              <a:spcAft>
                <a:spcPts val="600"/>
              </a:spcAft>
              <a:buSzPct val="65000"/>
            </a:pPr>
            <a:r>
              <a:rPr lang="en-US" b="1" dirty="0">
                <a:solidFill>
                  <a:schemeClr val="bg2"/>
                </a:solidFill>
                <a:latin typeface="Century Gothic" charset="0"/>
                <a:ea typeface="Century Gothic" charset="0"/>
                <a:cs typeface="Century Gothic" charset="0"/>
              </a:rPr>
              <a:t>Short-term: </a:t>
            </a:r>
            <a:r>
              <a:rPr lang="en-US" dirty="0">
                <a:solidFill>
                  <a:schemeClr val="bg2"/>
                </a:solidFill>
                <a:latin typeface="Century Gothic" charset="0"/>
                <a:ea typeface="Century Gothic" charset="0"/>
                <a:cs typeface="Century Gothic" charset="0"/>
              </a:rPr>
              <a:t>build a more robust temporal parser</a:t>
            </a:r>
          </a:p>
          <a:p>
            <a:pPr>
              <a:spcBef>
                <a:spcPts val="600"/>
              </a:spcBef>
              <a:spcAft>
                <a:spcPts val="600"/>
              </a:spcAft>
              <a:buSzPct val="65000"/>
            </a:pPr>
            <a:r>
              <a:rPr lang="en-US" b="1" dirty="0">
                <a:solidFill>
                  <a:schemeClr val="bg2"/>
                </a:solidFill>
                <a:latin typeface="Century Gothic" charset="0"/>
                <a:ea typeface="Century Gothic" charset="0"/>
                <a:cs typeface="Century Gothic" charset="0"/>
              </a:rPr>
              <a:t>Mid-term: </a:t>
            </a:r>
            <a:r>
              <a:rPr lang="en-US" dirty="0">
                <a:solidFill>
                  <a:schemeClr val="bg2"/>
                </a:solidFill>
                <a:latin typeface="Century Gothic" charset="0"/>
                <a:ea typeface="Century Gothic" charset="0"/>
                <a:cs typeface="Century Gothic" charset="0"/>
              </a:rPr>
              <a:t>study </a:t>
            </a:r>
            <a:r>
              <a:rPr lang="en-US" dirty="0" smtClean="0">
                <a:solidFill>
                  <a:schemeClr val="bg2"/>
                </a:solidFill>
                <a:latin typeface="Century Gothic" charset="0"/>
                <a:ea typeface="Century Gothic" charset="0"/>
                <a:cs typeface="Century Gothic" charset="0"/>
              </a:rPr>
              <a:t>event </a:t>
            </a:r>
            <a:r>
              <a:rPr lang="en-US" dirty="0">
                <a:solidFill>
                  <a:schemeClr val="bg2"/>
                </a:solidFill>
                <a:latin typeface="Century Gothic" charset="0"/>
                <a:ea typeface="Century Gothic" charset="0"/>
                <a:cs typeface="Century Gothic" charset="0"/>
              </a:rPr>
              <a:t>understanding problems, e.g., </a:t>
            </a:r>
            <a:r>
              <a:rPr lang="en-US" dirty="0" smtClean="0">
                <a:solidFill>
                  <a:schemeClr val="bg2"/>
                </a:solidFill>
                <a:latin typeface="Century Gothic" charset="0"/>
                <a:ea typeface="Century Gothic" charset="0"/>
                <a:cs typeface="Century Gothic" charset="0"/>
              </a:rPr>
              <a:t>text summarization</a:t>
            </a:r>
            <a:r>
              <a:rPr lang="en-US" dirty="0">
                <a:solidFill>
                  <a:schemeClr val="bg2"/>
                </a:solidFill>
                <a:latin typeface="Century Gothic" charset="0"/>
                <a:ea typeface="Century Gothic" charset="0"/>
                <a:cs typeface="Century Gothic" charset="0"/>
              </a:rPr>
              <a:t>, timeline construction, event hierarchies, and </a:t>
            </a:r>
            <a:r>
              <a:rPr lang="en-US" dirty="0" smtClean="0">
                <a:solidFill>
                  <a:schemeClr val="bg2"/>
                </a:solidFill>
                <a:latin typeface="Century Gothic" charset="0"/>
                <a:ea typeface="Century Gothic" charset="0"/>
                <a:cs typeface="Century Gothic" charset="0"/>
              </a:rPr>
              <a:t>common </a:t>
            </a:r>
            <a:r>
              <a:rPr lang="en-US" dirty="0">
                <a:solidFill>
                  <a:schemeClr val="bg2"/>
                </a:solidFill>
                <a:latin typeface="Century Gothic" charset="0"/>
                <a:ea typeface="Century Gothic" charset="0"/>
                <a:cs typeface="Century Gothic" charset="0"/>
              </a:rPr>
              <a:t>sense.</a:t>
            </a:r>
          </a:p>
          <a:p>
            <a:pPr>
              <a:spcBef>
                <a:spcPts val="600"/>
              </a:spcBef>
              <a:spcAft>
                <a:spcPts val="600"/>
              </a:spcAft>
              <a:buSzPct val="65000"/>
            </a:pPr>
            <a:r>
              <a:rPr lang="en-US" b="1" dirty="0">
                <a:solidFill>
                  <a:schemeClr val="bg2"/>
                </a:solidFill>
                <a:latin typeface="Century Gothic" charset="0"/>
                <a:ea typeface="Century Gothic" charset="0"/>
                <a:cs typeface="Century Gothic" charset="0"/>
              </a:rPr>
              <a:t>Long-term: </a:t>
            </a:r>
            <a:r>
              <a:rPr lang="en-US" dirty="0">
                <a:solidFill>
                  <a:schemeClr val="bg2"/>
                </a:solidFill>
                <a:latin typeface="Century Gothic" charset="0"/>
                <a:ea typeface="Century Gothic" charset="0"/>
                <a:cs typeface="Century Gothic" charset="0"/>
              </a:rPr>
              <a:t>understand the social, political, medical, and financial events expressed in text; provide a semantic engine for reasoning about </a:t>
            </a:r>
            <a:r>
              <a:rPr lang="en-US" dirty="0" smtClean="0">
                <a:solidFill>
                  <a:schemeClr val="bg2"/>
                </a:solidFill>
                <a:latin typeface="Century Gothic" charset="0"/>
                <a:ea typeface="Century Gothic" charset="0"/>
                <a:cs typeface="Century Gothic" charset="0"/>
              </a:rPr>
              <a:t>situations.</a:t>
            </a:r>
          </a:p>
        </p:txBody>
      </p:sp>
      <p:sp>
        <p:nvSpPr>
          <p:cNvPr id="54" name="Oval 53">
            <a:extLst>
              <a:ext uri="{FF2B5EF4-FFF2-40B4-BE49-F238E27FC236}">
                <a16:creationId xmlns="" xmlns:a16="http://schemas.microsoft.com/office/drawing/2014/main" id="{AE817D6F-B18E-904B-937F-CA7DF988DCDE}"/>
              </a:ext>
            </a:extLst>
          </p:cNvPr>
          <p:cNvSpPr/>
          <p:nvPr/>
        </p:nvSpPr>
        <p:spPr>
          <a:xfrm>
            <a:off x="2762656" y="762000"/>
            <a:ext cx="3618687" cy="361868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extBox 54">
            <a:extLst>
              <a:ext uri="{FF2B5EF4-FFF2-40B4-BE49-F238E27FC236}">
                <a16:creationId xmlns="" xmlns:a16="http://schemas.microsoft.com/office/drawing/2014/main" id="{064CF453-0F0E-6545-9DDB-A9CE02688470}"/>
              </a:ext>
            </a:extLst>
          </p:cNvPr>
          <p:cNvSpPr txBox="1"/>
          <p:nvPr/>
        </p:nvSpPr>
        <p:spPr>
          <a:xfrm>
            <a:off x="3883153" y="861077"/>
            <a:ext cx="1427769" cy="523220"/>
          </a:xfrm>
          <a:prstGeom prst="rect">
            <a:avLst/>
          </a:prstGeom>
          <a:noFill/>
        </p:spPr>
        <p:txBody>
          <a:bodyPr wrap="square" rtlCol="0">
            <a:spAutoFit/>
          </a:bodyPr>
          <a:lstStyle/>
          <a:p>
            <a:pPr algn="ctr"/>
            <a:r>
              <a:rPr lang="en-US" sz="2800" dirty="0">
                <a:latin typeface="Century Gothic" panose="020B0502020202020204" pitchFamily="34" charset="0"/>
              </a:rPr>
              <a:t>Event</a:t>
            </a:r>
          </a:p>
        </p:txBody>
      </p:sp>
      <p:sp>
        <p:nvSpPr>
          <p:cNvPr id="56" name="Oval 55">
            <a:extLst>
              <a:ext uri="{FF2B5EF4-FFF2-40B4-BE49-F238E27FC236}">
                <a16:creationId xmlns="" xmlns:a16="http://schemas.microsoft.com/office/drawing/2014/main" id="{D32F69B7-EDDF-5544-8272-787275C6D16C}"/>
              </a:ext>
            </a:extLst>
          </p:cNvPr>
          <p:cNvSpPr/>
          <p:nvPr/>
        </p:nvSpPr>
        <p:spPr>
          <a:xfrm>
            <a:off x="3389597" y="1917703"/>
            <a:ext cx="2347042" cy="2347042"/>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7" name="Freeform 56">
            <a:extLst>
              <a:ext uri="{FF2B5EF4-FFF2-40B4-BE49-F238E27FC236}">
                <a16:creationId xmlns="" xmlns:a16="http://schemas.microsoft.com/office/drawing/2014/main" id="{8F00037C-1A48-A843-937F-EFD3F91FAB34}"/>
              </a:ext>
            </a:extLst>
          </p:cNvPr>
          <p:cNvSpPr/>
          <p:nvPr/>
        </p:nvSpPr>
        <p:spPr>
          <a:xfrm>
            <a:off x="4016106" y="2970552"/>
            <a:ext cx="556176" cy="525165"/>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58" name="Freeform 57">
            <a:extLst>
              <a:ext uri="{FF2B5EF4-FFF2-40B4-BE49-F238E27FC236}">
                <a16:creationId xmlns="" xmlns:a16="http://schemas.microsoft.com/office/drawing/2014/main" id="{08422CE6-645A-3745-942C-A1098A3080DA}"/>
              </a:ext>
            </a:extLst>
          </p:cNvPr>
          <p:cNvSpPr/>
          <p:nvPr/>
        </p:nvSpPr>
        <p:spPr>
          <a:xfrm>
            <a:off x="4572282" y="2970551"/>
            <a:ext cx="551639" cy="523505"/>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59" name="Freeform 58">
            <a:extLst>
              <a:ext uri="{FF2B5EF4-FFF2-40B4-BE49-F238E27FC236}">
                <a16:creationId xmlns="" xmlns:a16="http://schemas.microsoft.com/office/drawing/2014/main" id="{D18B1028-73BC-CF4C-BC0A-F05A1894CBD7}"/>
              </a:ext>
            </a:extLst>
          </p:cNvPr>
          <p:cNvSpPr/>
          <p:nvPr/>
        </p:nvSpPr>
        <p:spPr>
          <a:xfrm>
            <a:off x="4388661" y="3494055"/>
            <a:ext cx="367241" cy="443777"/>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0" name="Freeform 59">
            <a:extLst>
              <a:ext uri="{FF2B5EF4-FFF2-40B4-BE49-F238E27FC236}">
                <a16:creationId xmlns="" xmlns:a16="http://schemas.microsoft.com/office/drawing/2014/main" id="{75B59043-BD85-9C4E-B35C-F737FDCBB329}"/>
              </a:ext>
            </a:extLst>
          </p:cNvPr>
          <p:cNvSpPr/>
          <p:nvPr/>
        </p:nvSpPr>
        <p:spPr>
          <a:xfrm>
            <a:off x="4014491" y="2415071"/>
            <a:ext cx="1110962" cy="699160"/>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1" name="Freeform 60">
            <a:extLst>
              <a:ext uri="{FF2B5EF4-FFF2-40B4-BE49-F238E27FC236}">
                <a16:creationId xmlns="" xmlns:a16="http://schemas.microsoft.com/office/drawing/2014/main" id="{27DE9DBD-9F64-7F41-8F9C-BEAE79CCD3F9}"/>
              </a:ext>
            </a:extLst>
          </p:cNvPr>
          <p:cNvSpPr/>
          <p:nvPr/>
        </p:nvSpPr>
        <p:spPr>
          <a:xfrm>
            <a:off x="4572282" y="3000867"/>
            <a:ext cx="927341" cy="1080645"/>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62" name="Freeform 61">
            <a:extLst>
              <a:ext uri="{FF2B5EF4-FFF2-40B4-BE49-F238E27FC236}">
                <a16:creationId xmlns="" xmlns:a16="http://schemas.microsoft.com/office/drawing/2014/main" id="{BD7C72B8-A2C3-B04D-91FB-0C280D5F6EE5}"/>
              </a:ext>
            </a:extLst>
          </p:cNvPr>
          <p:cNvSpPr/>
          <p:nvPr/>
        </p:nvSpPr>
        <p:spPr>
          <a:xfrm>
            <a:off x="3644941" y="3002526"/>
            <a:ext cx="927341" cy="1078985"/>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pic>
        <p:nvPicPr>
          <p:cNvPr id="64" name="Picture 63" descr="A close up of a logo&#10;&#10;Description automatically generated">
            <a:extLst>
              <a:ext uri="{FF2B5EF4-FFF2-40B4-BE49-F238E27FC236}">
                <a16:creationId xmlns="" xmlns:a16="http://schemas.microsoft.com/office/drawing/2014/main" id="{0E08509E-E346-DF45-A8E6-86A02D3DAF7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51658" y="2638126"/>
            <a:ext cx="274625" cy="210182"/>
          </a:xfrm>
          <a:prstGeom prst="rect">
            <a:avLst/>
          </a:prstGeom>
        </p:spPr>
      </p:pic>
      <p:pic>
        <p:nvPicPr>
          <p:cNvPr id="65" name="Picture 64" descr="A close up of a logo&#10;&#10;Description automatically generated">
            <a:extLst>
              <a:ext uri="{FF2B5EF4-FFF2-40B4-BE49-F238E27FC236}">
                <a16:creationId xmlns="" xmlns:a16="http://schemas.microsoft.com/office/drawing/2014/main" id="{C1C3305B-C4B3-144A-8E25-28DCC9EADF1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996420" y="3647007"/>
            <a:ext cx="373014" cy="265255"/>
          </a:xfrm>
          <a:prstGeom prst="rect">
            <a:avLst/>
          </a:prstGeom>
        </p:spPr>
      </p:pic>
      <p:pic>
        <p:nvPicPr>
          <p:cNvPr id="66" name="Picture 65" descr="A close up of a logo&#10;&#10;Description automatically generated">
            <a:extLst>
              <a:ext uri="{FF2B5EF4-FFF2-40B4-BE49-F238E27FC236}">
                <a16:creationId xmlns="" xmlns:a16="http://schemas.microsoft.com/office/drawing/2014/main" id="{CC5BAB40-2580-D24D-974B-07DCEE24052A}"/>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4856477" y="3719763"/>
            <a:ext cx="230999" cy="192499"/>
          </a:xfrm>
          <a:prstGeom prst="rect">
            <a:avLst/>
          </a:prstGeom>
        </p:spPr>
      </p:pic>
      <p:sp>
        <p:nvSpPr>
          <p:cNvPr id="67" name="TextBox 66">
            <a:extLst>
              <a:ext uri="{FF2B5EF4-FFF2-40B4-BE49-F238E27FC236}">
                <a16:creationId xmlns="" xmlns:a16="http://schemas.microsoft.com/office/drawing/2014/main" id="{297E41E0-78F2-2648-93DC-A66EFF5D75E1}"/>
              </a:ext>
            </a:extLst>
          </p:cNvPr>
          <p:cNvSpPr txBox="1"/>
          <p:nvPr/>
        </p:nvSpPr>
        <p:spPr>
          <a:xfrm>
            <a:off x="4277055" y="1997110"/>
            <a:ext cx="639920" cy="338554"/>
          </a:xfrm>
          <a:prstGeom prst="rect">
            <a:avLst/>
          </a:prstGeom>
          <a:noFill/>
        </p:spPr>
        <p:txBody>
          <a:bodyPr wrap="none" rtlCol="0">
            <a:spAutoFit/>
          </a:bodyPr>
          <a:lstStyle/>
          <a:p>
            <a:pPr algn="ctr"/>
            <a:r>
              <a:rPr lang="en-US" sz="1600" dirty="0">
                <a:solidFill>
                  <a:schemeClr val="bg2"/>
                </a:solidFill>
                <a:latin typeface="Century Gothic" panose="020B0502020202020204" pitchFamily="34" charset="0"/>
              </a:rPr>
              <a:t>Time</a:t>
            </a:r>
          </a:p>
        </p:txBody>
      </p:sp>
      <p:sp>
        <p:nvSpPr>
          <p:cNvPr id="5" name="Title 4">
            <a:extLst>
              <a:ext uri="{FF2B5EF4-FFF2-40B4-BE49-F238E27FC236}">
                <a16:creationId xmlns="" xmlns:a16="http://schemas.microsoft.com/office/drawing/2014/main" id="{AB21B8F4-DB18-7A44-BCB9-677A836BF34F}"/>
              </a:ext>
            </a:extLst>
          </p:cNvPr>
          <p:cNvSpPr>
            <a:spLocks noGrp="1"/>
          </p:cNvSpPr>
          <p:nvPr>
            <p:ph type="title"/>
          </p:nvPr>
        </p:nvSpPr>
        <p:spPr/>
        <p:txBody>
          <a:bodyPr/>
          <a:lstStyle/>
          <a:p>
            <a:r>
              <a:rPr lang="en-US" dirty="0"/>
              <a:t>What’s </a:t>
            </a:r>
            <a:r>
              <a:rPr lang="en-US" dirty="0" smtClean="0"/>
              <a:t>next</a:t>
            </a:r>
            <a:endParaRPr lang="en-US" dirty="0"/>
          </a:p>
        </p:txBody>
      </p:sp>
      <p:sp>
        <p:nvSpPr>
          <p:cNvPr id="19" name="Freeform 18">
            <a:extLst>
              <a:ext uri="{FF2B5EF4-FFF2-40B4-BE49-F238E27FC236}">
                <a16:creationId xmlns="" xmlns:a16="http://schemas.microsoft.com/office/drawing/2014/main" id="{E428B7AF-4754-DE47-8139-715F4414570B}"/>
              </a:ext>
            </a:extLst>
          </p:cNvPr>
          <p:cNvSpPr/>
          <p:nvPr/>
        </p:nvSpPr>
        <p:spPr>
          <a:xfrm>
            <a:off x="4390193" y="3127073"/>
            <a:ext cx="364096" cy="41180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latin typeface="Century Gothic" charset="0"/>
              <a:ea typeface="Century Gothic" charset="0"/>
              <a:cs typeface="Century Gothic" charset="0"/>
            </a:endParaRPr>
          </a:p>
        </p:txBody>
      </p:sp>
      <p:sp>
        <p:nvSpPr>
          <p:cNvPr id="2" name="TextBox 1"/>
          <p:cNvSpPr txBox="1"/>
          <p:nvPr/>
        </p:nvSpPr>
        <p:spPr>
          <a:xfrm>
            <a:off x="203749" y="1789252"/>
            <a:ext cx="3415372" cy="578882"/>
          </a:xfrm>
          <a:prstGeom prst="roundRect">
            <a:avLst/>
          </a:prstGeom>
          <a:solidFill>
            <a:srgbClr val="665E8A"/>
          </a:solidFill>
        </p:spPr>
        <p:txBody>
          <a:bodyPr wrap="none" rtlCol="0">
            <a:spAutoFit/>
          </a:bodyPr>
          <a:lstStyle/>
          <a:p>
            <a:pPr algn="ctr"/>
            <a:r>
              <a:rPr lang="en-US" sz="2800" dirty="0">
                <a:latin typeface="Century Gothic" charset="0"/>
                <a:ea typeface="Century Gothic" charset="0"/>
                <a:cs typeface="Century Gothic" charset="0"/>
              </a:rPr>
              <a:t>I</a:t>
            </a:r>
            <a:r>
              <a:rPr lang="en-US" sz="2800" dirty="0" smtClean="0">
                <a:latin typeface="Century Gothic" charset="0"/>
                <a:ea typeface="Century Gothic" charset="0"/>
                <a:cs typeface="Century Gothic" charset="0"/>
              </a:rPr>
              <a:t>nformation theory</a:t>
            </a:r>
            <a:endParaRPr lang="en-US" sz="2800" dirty="0">
              <a:latin typeface="Century Gothic" charset="0"/>
              <a:ea typeface="Century Gothic" charset="0"/>
              <a:cs typeface="Century Gothic" charset="0"/>
            </a:endParaRPr>
          </a:p>
        </p:txBody>
      </p:sp>
      <p:sp>
        <p:nvSpPr>
          <p:cNvPr id="21" name="TextBox 20"/>
          <p:cNvSpPr txBox="1"/>
          <p:nvPr/>
        </p:nvSpPr>
        <p:spPr>
          <a:xfrm>
            <a:off x="5754967" y="3754348"/>
            <a:ext cx="2044409" cy="578882"/>
          </a:xfrm>
          <a:prstGeom prst="roundRect">
            <a:avLst/>
          </a:prstGeom>
          <a:solidFill>
            <a:srgbClr val="665E8A"/>
          </a:solidFill>
        </p:spPr>
        <p:txBody>
          <a:bodyPr wrap="square" rtlCol="0">
            <a:spAutoFit/>
          </a:bodyPr>
          <a:lstStyle/>
          <a:p>
            <a:pPr algn="ctr"/>
            <a:r>
              <a:rPr lang="en-US" sz="2800" dirty="0" smtClean="0">
                <a:latin typeface="Century Gothic" charset="0"/>
                <a:ea typeface="Century Gothic" charset="0"/>
                <a:cs typeface="Century Gothic" charset="0"/>
              </a:rPr>
              <a:t>Statistics</a:t>
            </a:r>
            <a:endParaRPr lang="en-US" sz="2800" dirty="0">
              <a:latin typeface="Century Gothic" charset="0"/>
              <a:ea typeface="Century Gothic" charset="0"/>
              <a:cs typeface="Century Gothic" charset="0"/>
            </a:endParaRPr>
          </a:p>
        </p:txBody>
      </p:sp>
      <p:sp>
        <p:nvSpPr>
          <p:cNvPr id="22" name="TextBox 21"/>
          <p:cNvSpPr txBox="1"/>
          <p:nvPr/>
        </p:nvSpPr>
        <p:spPr>
          <a:xfrm>
            <a:off x="6082980" y="2535348"/>
            <a:ext cx="2711164" cy="578882"/>
          </a:xfrm>
          <a:prstGeom prst="roundRect">
            <a:avLst/>
          </a:prstGeom>
          <a:solidFill>
            <a:srgbClr val="665E8A"/>
          </a:solidFill>
        </p:spPr>
        <p:txBody>
          <a:bodyPr wrap="square" rtlCol="0">
            <a:spAutoFit/>
          </a:bodyPr>
          <a:lstStyle/>
          <a:p>
            <a:pPr algn="ctr"/>
            <a:r>
              <a:rPr lang="en-US" sz="2800">
                <a:latin typeface="Century Gothic" charset="0"/>
                <a:ea typeface="Century Gothic" charset="0"/>
                <a:cs typeface="Century Gothic" charset="0"/>
              </a:rPr>
              <a:t>O</a:t>
            </a:r>
            <a:r>
              <a:rPr lang="en-US" sz="2800" smtClean="0">
                <a:latin typeface="Century Gothic" charset="0"/>
                <a:ea typeface="Century Gothic" charset="0"/>
                <a:cs typeface="Century Gothic" charset="0"/>
              </a:rPr>
              <a:t>ptimization</a:t>
            </a:r>
            <a:endParaRPr lang="en-US" sz="2800" dirty="0">
              <a:latin typeface="Century Gothic" charset="0"/>
              <a:ea typeface="Century Gothic" charset="0"/>
              <a:cs typeface="Century Gothic" charset="0"/>
            </a:endParaRPr>
          </a:p>
        </p:txBody>
      </p:sp>
      <p:sp>
        <p:nvSpPr>
          <p:cNvPr id="23" name="TextBox 22"/>
          <p:cNvSpPr txBox="1"/>
          <p:nvPr/>
        </p:nvSpPr>
        <p:spPr>
          <a:xfrm>
            <a:off x="404903" y="3397446"/>
            <a:ext cx="3029679" cy="578882"/>
          </a:xfrm>
          <a:prstGeom prst="roundRect">
            <a:avLst/>
          </a:prstGeom>
          <a:solidFill>
            <a:srgbClr val="665E8A"/>
          </a:solidFill>
        </p:spPr>
        <p:txBody>
          <a:bodyPr wrap="square" rtlCol="0">
            <a:spAutoFit/>
          </a:bodyPr>
          <a:lstStyle/>
          <a:p>
            <a:pPr algn="ctr"/>
            <a:r>
              <a:rPr lang="en-US" sz="2800" smtClean="0">
                <a:latin typeface="Century Gothic" charset="0"/>
                <a:ea typeface="Century Gothic" charset="0"/>
                <a:cs typeface="Century Gothic" charset="0"/>
              </a:rPr>
              <a:t>Deep learning</a:t>
            </a:r>
            <a:endParaRPr lang="en-US" sz="2800" dirty="0">
              <a:latin typeface="Century Gothic" charset="0"/>
              <a:ea typeface="Century Gothic" charset="0"/>
              <a:cs typeface="Century Gothic" charset="0"/>
            </a:endParaRPr>
          </a:p>
        </p:txBody>
      </p:sp>
      <p:sp>
        <p:nvSpPr>
          <p:cNvPr id="24" name="TextBox 23"/>
          <p:cNvSpPr txBox="1"/>
          <p:nvPr/>
        </p:nvSpPr>
        <p:spPr>
          <a:xfrm>
            <a:off x="5772055" y="1026936"/>
            <a:ext cx="2676619" cy="578882"/>
          </a:xfrm>
          <a:prstGeom prst="roundRect">
            <a:avLst/>
          </a:prstGeom>
          <a:solidFill>
            <a:srgbClr val="95A28E"/>
          </a:solidFill>
        </p:spPr>
        <p:txBody>
          <a:bodyPr wrap="square" rtlCol="0">
            <a:spAutoFit/>
          </a:bodyPr>
          <a:lstStyle/>
          <a:p>
            <a:pPr algn="ctr"/>
            <a:r>
              <a:rPr lang="en-US" sz="2800" dirty="0" smtClean="0">
                <a:latin typeface="Century Gothic" charset="0"/>
                <a:ea typeface="Century Gothic" charset="0"/>
                <a:cs typeface="Century Gothic" charset="0"/>
              </a:rPr>
              <a:t>Biomedicine</a:t>
            </a:r>
            <a:endParaRPr lang="en-US" sz="2800" dirty="0">
              <a:latin typeface="Century Gothic" charset="0"/>
              <a:ea typeface="Century Gothic" charset="0"/>
              <a:cs typeface="Century Gothic" charset="0"/>
            </a:endParaRPr>
          </a:p>
        </p:txBody>
      </p:sp>
      <p:sp>
        <p:nvSpPr>
          <p:cNvPr id="25" name="TextBox 24"/>
          <p:cNvSpPr txBox="1"/>
          <p:nvPr/>
        </p:nvSpPr>
        <p:spPr>
          <a:xfrm>
            <a:off x="712978" y="855207"/>
            <a:ext cx="2676619" cy="578882"/>
          </a:xfrm>
          <a:prstGeom prst="roundRect">
            <a:avLst/>
          </a:prstGeom>
          <a:solidFill>
            <a:srgbClr val="95A28E"/>
          </a:solidFill>
        </p:spPr>
        <p:txBody>
          <a:bodyPr wrap="square" rtlCol="0">
            <a:spAutoFit/>
          </a:bodyPr>
          <a:lstStyle/>
          <a:p>
            <a:pPr algn="ctr"/>
            <a:r>
              <a:rPr lang="en-US" sz="2800" dirty="0" smtClean="0">
                <a:latin typeface="Century Gothic" charset="0"/>
                <a:ea typeface="Century Gothic" charset="0"/>
                <a:cs typeface="Century Gothic" charset="0"/>
              </a:rPr>
              <a:t>Robotics</a:t>
            </a:r>
            <a:endParaRPr lang="en-US" sz="2800" dirty="0">
              <a:latin typeface="Century Gothic" charset="0"/>
              <a:ea typeface="Century Gothic" charset="0"/>
              <a:cs typeface="Century Gothic" charset="0"/>
            </a:endParaRPr>
          </a:p>
        </p:txBody>
      </p:sp>
      <p:sp>
        <p:nvSpPr>
          <p:cNvPr id="26" name="TextBox 25"/>
          <p:cNvSpPr txBox="1"/>
          <p:nvPr/>
        </p:nvSpPr>
        <p:spPr>
          <a:xfrm>
            <a:off x="2511852" y="6122572"/>
            <a:ext cx="4101243" cy="578882"/>
          </a:xfrm>
          <a:prstGeom prst="roundRect">
            <a:avLst/>
          </a:prstGeom>
          <a:solidFill>
            <a:srgbClr val="F2CEC2"/>
          </a:solidFill>
        </p:spPr>
        <p:txBody>
          <a:bodyPr wrap="square" rtlCol="0">
            <a:spAutoFit/>
          </a:bodyPr>
          <a:lstStyle/>
          <a:p>
            <a:pPr algn="ctr"/>
            <a:r>
              <a:rPr lang="en-US" sz="2800" dirty="0" smtClean="0">
                <a:solidFill>
                  <a:schemeClr val="bg2"/>
                </a:solidFill>
                <a:latin typeface="Century Gothic" charset="0"/>
                <a:ea typeface="Century Gothic" charset="0"/>
                <a:cs typeface="Century Gothic" charset="0"/>
              </a:rPr>
              <a:t>Incidental supervision</a:t>
            </a:r>
            <a:endParaRPr lang="en-US" sz="2800"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371541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dissolv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randombar(horizontal)">
                                      <p:cBhvr>
                                        <p:cTn id="22" dur="500"/>
                                        <p:tgtEl>
                                          <p:spTgt spid="25"/>
                                        </p:tgtEl>
                                      </p:cBhvr>
                                    </p:animEffect>
                                  </p:childTnLst>
                                </p:cTn>
                              </p:par>
                            </p:childTnLst>
                          </p:cTn>
                        </p:par>
                        <p:par>
                          <p:cTn id="23" fill="hold">
                            <p:stCondLst>
                              <p:cond delay="500"/>
                            </p:stCondLst>
                            <p:childTnLst>
                              <p:par>
                                <p:cTn id="24" presetID="14" presetClass="entr" presetSubtype="10" fill="hold" grpId="0"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randombar(horizontal)">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randombar(horizontal)">
                                      <p:cBhvr>
                                        <p:cTn id="31" dur="500"/>
                                        <p:tgtEl>
                                          <p:spTgt spid="2"/>
                                        </p:tgtEl>
                                      </p:cBhvr>
                                    </p:animEffect>
                                  </p:childTnLst>
                                </p:cTn>
                              </p:par>
                            </p:childTnLst>
                          </p:cTn>
                        </p:par>
                        <p:par>
                          <p:cTn id="32" fill="hold">
                            <p:stCondLst>
                              <p:cond delay="500"/>
                            </p:stCondLst>
                            <p:childTnLst>
                              <p:par>
                                <p:cTn id="33" presetID="14" presetClass="entr" presetSubtype="10" fill="hold" grpId="0" nodeType="after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randombar(horizontal)">
                                      <p:cBhvr>
                                        <p:cTn id="35" dur="500"/>
                                        <p:tgtEl>
                                          <p:spTgt spid="23"/>
                                        </p:tgtEl>
                                      </p:cBhvr>
                                    </p:animEffect>
                                  </p:childTnLst>
                                </p:cTn>
                              </p:par>
                            </p:childTnLst>
                          </p:cTn>
                        </p:par>
                        <p:par>
                          <p:cTn id="36" fill="hold">
                            <p:stCondLst>
                              <p:cond delay="1000"/>
                            </p:stCondLst>
                            <p:childTnLst>
                              <p:par>
                                <p:cTn id="37" presetID="14" presetClass="entr" presetSubtype="10"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randombar(horizontal)">
                                      <p:cBhvr>
                                        <p:cTn id="39" dur="500"/>
                                        <p:tgtEl>
                                          <p:spTgt spid="21"/>
                                        </p:tgtEl>
                                      </p:cBhvr>
                                    </p:animEffect>
                                  </p:childTnLst>
                                </p:cTn>
                              </p:par>
                            </p:childTnLst>
                          </p:cTn>
                        </p:par>
                        <p:par>
                          <p:cTn id="40" fill="hold">
                            <p:stCondLst>
                              <p:cond delay="1500"/>
                            </p:stCondLst>
                            <p:childTnLst>
                              <p:par>
                                <p:cTn id="41" presetID="14" presetClass="entr" presetSubtype="10"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randombar(horizontal)">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randombar(horizontal)">
                                      <p:cBhvr>
                                        <p:cTn id="4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animBg="1"/>
      <p:bldP spid="21" grpId="0" animBg="1"/>
      <p:bldP spid="22" grpId="0" animBg="1"/>
      <p:bldP spid="23" grpId="0" animBg="1"/>
      <p:bldP spid="24" grpId="0" animBg="1"/>
      <p:bldP spid="25" grpId="0" animBg="1"/>
      <p:bldP spid="26"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2DE857D-0378-954F-A480-D433D0E12027}"/>
              </a:ext>
            </a:extLst>
          </p:cNvPr>
          <p:cNvSpPr>
            <a:spLocks noGrp="1"/>
          </p:cNvSpPr>
          <p:nvPr>
            <p:ph type="title"/>
          </p:nvPr>
        </p:nvSpPr>
        <p:spPr/>
        <p:txBody>
          <a:bodyPr/>
          <a:lstStyle/>
          <a:p>
            <a:r>
              <a:rPr lang="en-US" dirty="0"/>
              <a:t>Summary</a:t>
            </a:r>
          </a:p>
        </p:txBody>
      </p:sp>
      <p:sp>
        <p:nvSpPr>
          <p:cNvPr id="4" name="Content Placeholder 3">
            <a:extLst>
              <a:ext uri="{FF2B5EF4-FFF2-40B4-BE49-F238E27FC236}">
                <a16:creationId xmlns="" xmlns:a16="http://schemas.microsoft.com/office/drawing/2014/main" id="{25591E63-FC2D-6C43-A7FA-4E7A67A14BAA}"/>
              </a:ext>
            </a:extLst>
          </p:cNvPr>
          <p:cNvSpPr>
            <a:spLocks noGrp="1"/>
          </p:cNvSpPr>
          <p:nvPr>
            <p:ph idx="1"/>
          </p:nvPr>
        </p:nvSpPr>
        <p:spPr>
          <a:xfrm>
            <a:off x="381000" y="914400"/>
            <a:ext cx="8534400" cy="5486400"/>
          </a:xfrm>
        </p:spPr>
        <p:txBody>
          <a:bodyPr/>
          <a:lstStyle/>
          <a:p>
            <a:r>
              <a:rPr lang="en-US" dirty="0"/>
              <a:t>Big text, big opportunities</a:t>
            </a:r>
          </a:p>
          <a:p>
            <a:r>
              <a:rPr lang="en-US" dirty="0"/>
              <a:t>We are standing at the </a:t>
            </a:r>
            <a:r>
              <a:rPr lang="en-US" b="1" dirty="0"/>
              <a:t>situation-level</a:t>
            </a:r>
            <a:r>
              <a:rPr lang="en-US" dirty="0"/>
              <a:t> of NLP</a:t>
            </a:r>
          </a:p>
          <a:p>
            <a:r>
              <a:rPr lang="en-US" b="1" dirty="0"/>
              <a:t>Temporal relation </a:t>
            </a:r>
            <a:r>
              <a:rPr lang="en-US" dirty="0"/>
              <a:t>is a crucial component</a:t>
            </a:r>
          </a:p>
          <a:p>
            <a:pPr lvl="1"/>
            <a:r>
              <a:rPr lang="en-US" dirty="0">
                <a:solidFill>
                  <a:srgbClr val="92D050"/>
                </a:solidFill>
              </a:rPr>
              <a:t>Structured learning [EMNLP’17]</a:t>
            </a:r>
          </a:p>
          <a:p>
            <a:pPr lvl="1"/>
            <a:r>
              <a:rPr lang="en-US" dirty="0">
                <a:solidFill>
                  <a:srgbClr val="6881B4"/>
                </a:solidFill>
              </a:rPr>
              <a:t>Common sense knowledge acquisition [NAACL’18]</a:t>
            </a:r>
          </a:p>
          <a:p>
            <a:pPr lvl="1"/>
            <a:r>
              <a:rPr lang="en-US" dirty="0">
                <a:solidFill>
                  <a:srgbClr val="C17A90"/>
                </a:solidFill>
              </a:rPr>
              <a:t>New definition of the task [ACL’18]</a:t>
            </a:r>
          </a:p>
          <a:p>
            <a:pPr lvl="1"/>
            <a:r>
              <a:rPr lang="en-US" dirty="0"/>
              <a:t>Combined them by neural nets [in submission</a:t>
            </a:r>
            <a:r>
              <a:rPr lang="en-US" dirty="0" smtClean="0"/>
              <a:t>]</a:t>
            </a:r>
            <a:endParaRPr lang="en-US" dirty="0"/>
          </a:p>
          <a:p>
            <a:r>
              <a:rPr lang="en-US" dirty="0" smtClean="0"/>
              <a:t>Besides </a:t>
            </a:r>
            <a:r>
              <a:rPr lang="en-US" dirty="0"/>
              <a:t>future work on </a:t>
            </a:r>
            <a:r>
              <a:rPr lang="en-US" b="1" dirty="0"/>
              <a:t>time and event</a:t>
            </a:r>
            <a:r>
              <a:rPr lang="en-US" dirty="0"/>
              <a:t>, </a:t>
            </a:r>
            <a:r>
              <a:rPr lang="en-US" b="1" dirty="0"/>
              <a:t>incidental supervision</a:t>
            </a:r>
            <a:r>
              <a:rPr lang="en-US" dirty="0"/>
              <a:t> is also necessary for situation understanding.</a:t>
            </a:r>
          </a:p>
          <a:p>
            <a:pPr lvl="1"/>
            <a:r>
              <a:rPr lang="en-US" dirty="0"/>
              <a:t>Supervision from partial structures [NAACL’19]</a:t>
            </a:r>
          </a:p>
        </p:txBody>
      </p:sp>
      <p:sp>
        <p:nvSpPr>
          <p:cNvPr id="5" name="Up Ribbon 4">
            <a:extLst>
              <a:ext uri="{FF2B5EF4-FFF2-40B4-BE49-F238E27FC236}">
                <a16:creationId xmlns="" xmlns:a16="http://schemas.microsoft.com/office/drawing/2014/main" id="{B89D93EF-6E0B-B34F-A967-874CBBB08022}"/>
              </a:ext>
            </a:extLst>
          </p:cNvPr>
          <p:cNvSpPr/>
          <p:nvPr/>
        </p:nvSpPr>
        <p:spPr>
          <a:xfrm rot="19800000">
            <a:off x="2693008" y="4864648"/>
            <a:ext cx="3910384" cy="762000"/>
          </a:xfrm>
          <a:prstGeom prst="ribbon2">
            <a:avLst/>
          </a:prstGeom>
          <a:solidFill>
            <a:srgbClr val="C27990"/>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entury Gothic" panose="020B0502020202020204" pitchFamily="34" charset="0"/>
              </a:rPr>
              <a:t>3</a:t>
            </a:r>
            <a:r>
              <a:rPr lang="en-US" sz="2000" b="1" baseline="30000" dirty="0">
                <a:latin typeface="Century Gothic" panose="020B0502020202020204" pitchFamily="34" charset="0"/>
              </a:rPr>
              <a:t>rd</a:t>
            </a:r>
            <a:r>
              <a:rPr lang="en-US" sz="2000" b="1" dirty="0">
                <a:latin typeface="Century Gothic" panose="020B0502020202020204" pitchFamily="34" charset="0"/>
              </a:rPr>
              <a:t> wave of AI</a:t>
            </a:r>
          </a:p>
        </p:txBody>
      </p:sp>
    </p:spTree>
    <p:extLst>
      <p:ext uri="{BB962C8B-B14F-4D97-AF65-F5344CB8AC3E}">
        <p14:creationId xmlns:p14="http://schemas.microsoft.com/office/powerpoint/2010/main" val="139059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dissolve">
                                      <p:cBhvr>
                                        <p:cTn id="20" dur="500"/>
                                        <p:tgtEl>
                                          <p:spTgt spid="4">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dissolve">
                                      <p:cBhvr>
                                        <p:cTn id="23" dur="500"/>
                                        <p:tgtEl>
                                          <p:spTgt spid="4">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dissolve">
                                      <p:cBhvr>
                                        <p:cTn id="26" dur="500"/>
                                        <p:tgtEl>
                                          <p:spTgt spid="4">
                                            <p:txEl>
                                              <p:pRg st="5" end="5"/>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dissolv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dissolve">
                                      <p:cBhvr>
                                        <p:cTn id="34" dur="500"/>
                                        <p:tgtEl>
                                          <p:spTgt spid="4">
                                            <p:txEl>
                                              <p:pRg st="7" end="7"/>
                                            </p:txEl>
                                          </p:spTgt>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dissolv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2"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Scale>
                                      <p:cBhvr>
                                        <p:cTn id="42"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 dur="1000" decel="50000" fill="hold">
                                          <p:stCondLst>
                                            <p:cond delay="0"/>
                                          </p:stCondLst>
                                        </p:cTn>
                                        <p:tgtEl>
                                          <p:spTgt spid="5"/>
                                        </p:tgtEl>
                                        <p:attrNameLst>
                                          <p:attrName>ppt_x</p:attrName>
                                          <p:attrName>ppt_y</p:attrName>
                                        </p:attrNameLst>
                                      </p:cBhvr>
                                    </p:animMotion>
                                    <p:animEffect transition="in" filter="fade">
                                      <p:cBhvr>
                                        <p:cTn id="4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394C0C-5C2F-E64F-ABB4-4172386D1E3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 xmlns:a16="http://schemas.microsoft.com/office/drawing/2014/main" id="{73532772-3C83-8840-AA18-9FA943062872}"/>
              </a:ext>
            </a:extLst>
          </p:cNvPr>
          <p:cNvSpPr>
            <a:spLocks noGrp="1"/>
          </p:cNvSpPr>
          <p:nvPr>
            <p:ph idx="1"/>
          </p:nvPr>
        </p:nvSpPr>
        <p:spPr/>
        <p:txBody>
          <a:bodyPr/>
          <a:lstStyle/>
          <a:p>
            <a:pPr marL="0" indent="0">
              <a:spcBef>
                <a:spcPts val="0"/>
              </a:spcBef>
              <a:spcAft>
                <a:spcPts val="600"/>
              </a:spcAft>
              <a:buNone/>
            </a:pPr>
            <a:r>
              <a:rPr lang="en-US" sz="1400" b="1" i="1" dirty="0"/>
              <a:t>Harari</a:t>
            </a:r>
            <a:r>
              <a:rPr lang="en-US" sz="1400" i="1" dirty="0"/>
              <a:t>, 2016. Sapiens: A Brief History of Humankind</a:t>
            </a:r>
          </a:p>
          <a:p>
            <a:pPr marL="0" indent="0">
              <a:spcBef>
                <a:spcPts val="0"/>
              </a:spcBef>
              <a:spcAft>
                <a:spcPts val="600"/>
              </a:spcAft>
              <a:buNone/>
            </a:pPr>
            <a:r>
              <a:rPr lang="en-US" sz="1400" b="1" i="1" dirty="0"/>
              <a:t>Mani</a:t>
            </a:r>
            <a:r>
              <a:rPr lang="en-US" sz="1400" i="1" dirty="0"/>
              <a:t> et al., 2006. Machine learning of temporal relations</a:t>
            </a:r>
          </a:p>
          <a:p>
            <a:pPr marL="0" indent="0">
              <a:spcBef>
                <a:spcPts val="0"/>
              </a:spcBef>
              <a:spcAft>
                <a:spcPts val="600"/>
              </a:spcAft>
              <a:buNone/>
            </a:pPr>
            <a:r>
              <a:rPr lang="en-US" sz="1400" b="1" i="1" dirty="0"/>
              <a:t>Chambers</a:t>
            </a:r>
            <a:r>
              <a:rPr lang="en-US" sz="1400" i="1" dirty="0"/>
              <a:t> et al., 2007. Classifying temporal relations between events</a:t>
            </a:r>
          </a:p>
          <a:p>
            <a:pPr marL="0" indent="0">
              <a:spcBef>
                <a:spcPts val="0"/>
              </a:spcBef>
              <a:spcAft>
                <a:spcPts val="600"/>
              </a:spcAft>
              <a:buNone/>
            </a:pPr>
            <a:r>
              <a:rPr lang="en-US" sz="1400" b="1" i="1" dirty="0" err="1"/>
              <a:t>Bethard</a:t>
            </a:r>
            <a:r>
              <a:rPr lang="en-US" sz="1400" i="1" dirty="0"/>
              <a:t> et al., 2007. Timelines from text: Identification of syntactic temporal relations</a:t>
            </a:r>
          </a:p>
          <a:p>
            <a:pPr marL="0" indent="0">
              <a:spcBef>
                <a:spcPts val="0"/>
              </a:spcBef>
              <a:spcAft>
                <a:spcPts val="600"/>
              </a:spcAft>
              <a:buNone/>
            </a:pPr>
            <a:r>
              <a:rPr lang="en-US" sz="1400" b="1" i="1" dirty="0"/>
              <a:t>Roth &amp; </a:t>
            </a:r>
            <a:r>
              <a:rPr lang="en-US" sz="1400" b="1" i="1" dirty="0" err="1"/>
              <a:t>Yih</a:t>
            </a:r>
            <a:r>
              <a:rPr lang="en-US" sz="1400" i="1" dirty="0"/>
              <a:t>, 2004. A linear programming formulation for global inference in natural language tasks</a:t>
            </a:r>
          </a:p>
          <a:p>
            <a:pPr marL="0" indent="0">
              <a:spcBef>
                <a:spcPts val="0"/>
              </a:spcBef>
              <a:spcAft>
                <a:spcPts val="600"/>
              </a:spcAft>
              <a:buNone/>
            </a:pPr>
            <a:r>
              <a:rPr lang="en-US" sz="1400" b="1" i="1" dirty="0"/>
              <a:t>Bramsen</a:t>
            </a:r>
            <a:r>
              <a:rPr lang="en-US" sz="1400" i="1" dirty="0"/>
              <a:t> et al., 2006. Inducing temporal graphs</a:t>
            </a:r>
          </a:p>
          <a:p>
            <a:pPr marL="0" indent="0">
              <a:spcBef>
                <a:spcPts val="0"/>
              </a:spcBef>
              <a:spcAft>
                <a:spcPts val="600"/>
              </a:spcAft>
              <a:buNone/>
            </a:pPr>
            <a:r>
              <a:rPr lang="en-US" sz="1400" b="1" i="1" dirty="0"/>
              <a:t>Chambers &amp; </a:t>
            </a:r>
            <a:r>
              <a:rPr lang="en-US" sz="1400" b="1" i="1" dirty="0" err="1"/>
              <a:t>Jurafsky</a:t>
            </a:r>
            <a:r>
              <a:rPr lang="en-US" sz="1400" i="1" dirty="0"/>
              <a:t>, 2008. Jointly combining implicit constraints improves temporal ordering</a:t>
            </a:r>
          </a:p>
          <a:p>
            <a:pPr marL="0" indent="0">
              <a:spcBef>
                <a:spcPts val="0"/>
              </a:spcBef>
              <a:spcAft>
                <a:spcPts val="600"/>
              </a:spcAft>
              <a:buNone/>
            </a:pPr>
            <a:r>
              <a:rPr lang="en-US" sz="1400" b="1" i="1" dirty="0"/>
              <a:t>Denis &amp; Muller</a:t>
            </a:r>
            <a:r>
              <a:rPr lang="en-US" sz="1400" i="1" dirty="0"/>
              <a:t>, 2011. Predicting globally-coherent temporal structures from texts via endpoint inference and graph decomposition</a:t>
            </a:r>
          </a:p>
          <a:p>
            <a:pPr marL="0" indent="0">
              <a:spcBef>
                <a:spcPts val="0"/>
              </a:spcBef>
              <a:spcAft>
                <a:spcPts val="600"/>
              </a:spcAft>
              <a:buNone/>
            </a:pPr>
            <a:r>
              <a:rPr lang="en-US" sz="1400" b="1" i="1" dirty="0"/>
              <a:t>Chambers</a:t>
            </a:r>
            <a:r>
              <a:rPr lang="en-US" sz="1400" i="1" dirty="0"/>
              <a:t> et al., 2014. Dense event ordering with a multi-pass architecture</a:t>
            </a:r>
          </a:p>
          <a:p>
            <a:pPr marL="0" indent="0">
              <a:spcBef>
                <a:spcPts val="0"/>
              </a:spcBef>
              <a:spcAft>
                <a:spcPts val="600"/>
              </a:spcAft>
              <a:buNone/>
            </a:pPr>
            <a:r>
              <a:rPr lang="en-US" sz="1400" b="1" i="1" dirty="0"/>
              <a:t>Mirza &amp; Tonelli</a:t>
            </a:r>
            <a:r>
              <a:rPr lang="en-US" sz="1400" i="1" dirty="0"/>
              <a:t>, 2016. CATENA: </a:t>
            </a:r>
            <a:r>
              <a:rPr lang="en-US" sz="1400" i="1" dirty="0" err="1"/>
              <a:t>CAusal</a:t>
            </a:r>
            <a:r>
              <a:rPr lang="en-US" sz="1400" i="1" dirty="0"/>
              <a:t> and </a:t>
            </a:r>
            <a:r>
              <a:rPr lang="en-US" sz="1400" i="1" dirty="0" err="1"/>
              <a:t>TEmporal</a:t>
            </a:r>
            <a:r>
              <a:rPr lang="en-US" sz="1400" i="1" dirty="0"/>
              <a:t> relation extraction from </a:t>
            </a:r>
            <a:r>
              <a:rPr lang="en-US" sz="1400" i="1" dirty="0" err="1"/>
              <a:t>NAtural</a:t>
            </a:r>
            <a:r>
              <a:rPr lang="en-US" sz="1400" i="1" dirty="0"/>
              <a:t> language texts</a:t>
            </a:r>
          </a:p>
          <a:p>
            <a:pPr marL="0" indent="0">
              <a:spcBef>
                <a:spcPts val="0"/>
              </a:spcBef>
              <a:spcAft>
                <a:spcPts val="600"/>
              </a:spcAft>
              <a:buNone/>
            </a:pPr>
            <a:r>
              <a:rPr lang="en-US" sz="1400" b="1" i="1" dirty="0"/>
              <a:t>Do</a:t>
            </a:r>
            <a:r>
              <a:rPr lang="en-US" sz="1400" i="1" dirty="0"/>
              <a:t> et al., 2012. Joint inference for event timeline construction</a:t>
            </a:r>
          </a:p>
          <a:p>
            <a:pPr marL="0" indent="0">
              <a:spcBef>
                <a:spcPts val="0"/>
              </a:spcBef>
              <a:spcAft>
                <a:spcPts val="600"/>
              </a:spcAft>
              <a:buNone/>
            </a:pPr>
            <a:r>
              <a:rPr lang="en-US" sz="1400" b="1" i="1" dirty="0" err="1"/>
              <a:t>Laokulrat</a:t>
            </a:r>
            <a:r>
              <a:rPr lang="en-US" sz="1400" i="1" dirty="0"/>
              <a:t> et al., 2013. </a:t>
            </a:r>
            <a:r>
              <a:rPr lang="en-US" sz="1400" i="1" dirty="0" err="1"/>
              <a:t>UTTime</a:t>
            </a:r>
            <a:r>
              <a:rPr lang="en-US" sz="1400" i="1" dirty="0"/>
              <a:t>: Temporal relation classiﬁcation using deep syntactic features</a:t>
            </a:r>
          </a:p>
          <a:p>
            <a:pPr marL="0" indent="0">
              <a:spcBef>
                <a:spcPts val="0"/>
              </a:spcBef>
              <a:spcAft>
                <a:spcPts val="600"/>
              </a:spcAft>
              <a:buNone/>
            </a:pPr>
            <a:r>
              <a:rPr lang="en-US" sz="1400" b="1" i="1" dirty="0"/>
              <a:t>Collins</a:t>
            </a:r>
            <a:r>
              <a:rPr lang="en-US" sz="1400" i="1" dirty="0"/>
              <a:t>, 2002. Discriminative training methods for hidden Markov models: Theory and experiments with perceptron algorithms</a:t>
            </a:r>
          </a:p>
          <a:p>
            <a:pPr marL="0" indent="0">
              <a:spcBef>
                <a:spcPts val="0"/>
              </a:spcBef>
              <a:spcAft>
                <a:spcPts val="600"/>
              </a:spcAft>
              <a:buNone/>
            </a:pPr>
            <a:r>
              <a:rPr lang="en-US" sz="1400" b="1" i="1" dirty="0" err="1"/>
              <a:t>Pustejovsky</a:t>
            </a:r>
            <a:r>
              <a:rPr lang="en-US" sz="1400" i="1" dirty="0"/>
              <a:t> et al., 2003. The TIMEBANK corpus</a:t>
            </a:r>
          </a:p>
          <a:p>
            <a:pPr marL="0" indent="0">
              <a:spcBef>
                <a:spcPts val="0"/>
              </a:spcBef>
              <a:spcAft>
                <a:spcPts val="600"/>
              </a:spcAft>
              <a:buNone/>
            </a:pPr>
            <a:r>
              <a:rPr lang="en-US" sz="1400" b="1" i="1" dirty="0"/>
              <a:t>Cassidy</a:t>
            </a:r>
            <a:r>
              <a:rPr lang="en-US" sz="1400" i="1" dirty="0"/>
              <a:t> et al., 2014. An annotation framework for dense event ordering</a:t>
            </a:r>
          </a:p>
          <a:p>
            <a:pPr marL="0" indent="0">
              <a:spcBef>
                <a:spcPts val="0"/>
              </a:spcBef>
              <a:spcAft>
                <a:spcPts val="600"/>
              </a:spcAft>
              <a:buNone/>
            </a:pPr>
            <a:endParaRPr lang="en-US" sz="1400" i="1" dirty="0"/>
          </a:p>
          <a:p>
            <a:pPr marL="0" indent="0">
              <a:spcBef>
                <a:spcPts val="0"/>
              </a:spcBef>
              <a:spcAft>
                <a:spcPts val="600"/>
              </a:spcAft>
              <a:buNone/>
            </a:pPr>
            <a:endParaRPr lang="en-US" sz="1400" i="1" dirty="0"/>
          </a:p>
        </p:txBody>
      </p:sp>
    </p:spTree>
    <p:extLst>
      <p:ext uri="{BB962C8B-B14F-4D97-AF65-F5344CB8AC3E}">
        <p14:creationId xmlns:p14="http://schemas.microsoft.com/office/powerpoint/2010/main" val="43288718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E28D9B-E4DE-7042-A92C-C91E8AAD3B9C}"/>
              </a:ext>
            </a:extLst>
          </p:cNvPr>
          <p:cNvSpPr>
            <a:spLocks noGrp="1"/>
          </p:cNvSpPr>
          <p:nvPr>
            <p:ph type="title"/>
          </p:nvPr>
        </p:nvSpPr>
        <p:spPr/>
        <p:txBody>
          <a:bodyPr/>
          <a:lstStyle/>
          <a:p>
            <a:r>
              <a:rPr lang="en-US" dirty="0"/>
              <a:t>Many thanks to my collaborators.</a:t>
            </a:r>
          </a:p>
        </p:txBody>
      </p:sp>
      <p:pic>
        <p:nvPicPr>
          <p:cNvPr id="7" name="Picture 6">
            <a:extLst>
              <a:ext uri="{FF2B5EF4-FFF2-40B4-BE49-F238E27FC236}">
                <a16:creationId xmlns="" xmlns:a16="http://schemas.microsoft.com/office/drawing/2014/main" id="{7C74C362-65CA-C94F-BFA7-B0D530D6505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303558" y="1029044"/>
            <a:ext cx="1188720" cy="1188720"/>
          </a:xfrm>
          <a:prstGeom prst="roundRect">
            <a:avLst/>
          </a:prstGeom>
        </p:spPr>
      </p:pic>
      <p:pic>
        <p:nvPicPr>
          <p:cNvPr id="16" name="Picture 15">
            <a:extLst>
              <a:ext uri="{FF2B5EF4-FFF2-40B4-BE49-F238E27FC236}">
                <a16:creationId xmlns="" xmlns:a16="http://schemas.microsoft.com/office/drawing/2014/main" id="{3DEBB889-9B30-B149-8A2B-C0C8B02207C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314166" y="2953721"/>
            <a:ext cx="1188720" cy="1188720"/>
          </a:xfrm>
          <a:prstGeom prst="roundRect">
            <a:avLst/>
          </a:prstGeom>
        </p:spPr>
      </p:pic>
      <p:sp>
        <p:nvSpPr>
          <p:cNvPr id="23" name="TextBox 22">
            <a:extLst>
              <a:ext uri="{FF2B5EF4-FFF2-40B4-BE49-F238E27FC236}">
                <a16:creationId xmlns="" xmlns:a16="http://schemas.microsoft.com/office/drawing/2014/main" id="{7ACB474D-B2B5-414A-9093-4C8097E93941}"/>
              </a:ext>
            </a:extLst>
          </p:cNvPr>
          <p:cNvSpPr txBox="1"/>
          <p:nvPr/>
        </p:nvSpPr>
        <p:spPr>
          <a:xfrm>
            <a:off x="1445711" y="2233392"/>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sp>
        <p:nvSpPr>
          <p:cNvPr id="28" name="TextBox 27">
            <a:extLst>
              <a:ext uri="{FF2B5EF4-FFF2-40B4-BE49-F238E27FC236}">
                <a16:creationId xmlns="" xmlns:a16="http://schemas.microsoft.com/office/drawing/2014/main" id="{B0EAA1AE-D722-4740-B5E5-D6C31E3FE8AF}"/>
              </a:ext>
            </a:extLst>
          </p:cNvPr>
          <p:cNvSpPr txBox="1"/>
          <p:nvPr/>
        </p:nvSpPr>
        <p:spPr>
          <a:xfrm>
            <a:off x="6003161" y="4155141"/>
            <a:ext cx="1806905"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Particle Media</a:t>
            </a:r>
          </a:p>
        </p:txBody>
      </p:sp>
      <p:pic>
        <p:nvPicPr>
          <p:cNvPr id="5" name="Picture 4">
            <a:extLst>
              <a:ext uri="{FF2B5EF4-FFF2-40B4-BE49-F238E27FC236}">
                <a16:creationId xmlns="" xmlns:a16="http://schemas.microsoft.com/office/drawing/2014/main" id="{2AEF0C66-23C2-E84B-85D0-F6117896B46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301571" y="4800600"/>
            <a:ext cx="1188720" cy="1188720"/>
          </a:xfrm>
          <a:prstGeom prst="roundRect">
            <a:avLst/>
          </a:prstGeom>
        </p:spPr>
      </p:pic>
      <p:pic>
        <p:nvPicPr>
          <p:cNvPr id="15" name="Picture 14">
            <a:extLst>
              <a:ext uri="{FF2B5EF4-FFF2-40B4-BE49-F238E27FC236}">
                <a16:creationId xmlns="" xmlns:a16="http://schemas.microsoft.com/office/drawing/2014/main" id="{7AAF5DBA-83C8-E64C-9E79-6183D532BB9C}"/>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2556210" y="1029044"/>
            <a:ext cx="1188720" cy="1188720"/>
          </a:xfrm>
          <a:prstGeom prst="roundRect">
            <a:avLst/>
          </a:prstGeom>
        </p:spPr>
      </p:pic>
      <p:sp>
        <p:nvSpPr>
          <p:cNvPr id="24" name="TextBox 23">
            <a:extLst>
              <a:ext uri="{FF2B5EF4-FFF2-40B4-BE49-F238E27FC236}">
                <a16:creationId xmlns="" xmlns:a16="http://schemas.microsoft.com/office/drawing/2014/main" id="{7F39209C-BE70-814D-B814-3286F82F62C7}"/>
              </a:ext>
            </a:extLst>
          </p:cNvPr>
          <p:cNvSpPr txBox="1"/>
          <p:nvPr/>
        </p:nvSpPr>
        <p:spPr>
          <a:xfrm>
            <a:off x="2412934" y="2233392"/>
            <a:ext cx="1436612"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CU Boulder</a:t>
            </a:r>
          </a:p>
        </p:txBody>
      </p:sp>
      <p:sp>
        <p:nvSpPr>
          <p:cNvPr id="30" name="TextBox 29">
            <a:extLst>
              <a:ext uri="{FF2B5EF4-FFF2-40B4-BE49-F238E27FC236}">
                <a16:creationId xmlns="" xmlns:a16="http://schemas.microsoft.com/office/drawing/2014/main" id="{E6F411B9-696F-994F-A671-CDD9AA1482E1}"/>
              </a:ext>
            </a:extLst>
          </p:cNvPr>
          <p:cNvSpPr txBox="1"/>
          <p:nvPr/>
        </p:nvSpPr>
        <p:spPr>
          <a:xfrm>
            <a:off x="1499136"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6" name="Picture 5">
            <a:extLst>
              <a:ext uri="{FF2B5EF4-FFF2-40B4-BE49-F238E27FC236}">
                <a16:creationId xmlns="" xmlns:a16="http://schemas.microsoft.com/office/drawing/2014/main" id="{0A6454AB-FA2E-AF4A-AA95-0017379D1308}"/>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2556210" y="2966421"/>
            <a:ext cx="1188720" cy="1188720"/>
          </a:xfrm>
          <a:prstGeom prst="roundRect">
            <a:avLst/>
          </a:prstGeom>
        </p:spPr>
      </p:pic>
      <p:pic>
        <p:nvPicPr>
          <p:cNvPr id="13" name="Picture 12">
            <a:extLst>
              <a:ext uri="{FF2B5EF4-FFF2-40B4-BE49-F238E27FC236}">
                <a16:creationId xmlns="" xmlns:a16="http://schemas.microsoft.com/office/drawing/2014/main" id="{4C0590B0-3E28-754C-9F6C-12414C194FA7}"/>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3807591" y="4800600"/>
            <a:ext cx="1188720" cy="1188720"/>
          </a:xfrm>
          <a:prstGeom prst="roundRect">
            <a:avLst/>
          </a:prstGeom>
        </p:spPr>
      </p:pic>
      <p:sp>
        <p:nvSpPr>
          <p:cNvPr id="25" name="TextBox 24">
            <a:extLst>
              <a:ext uri="{FF2B5EF4-FFF2-40B4-BE49-F238E27FC236}">
                <a16:creationId xmlns="" xmlns:a16="http://schemas.microsoft.com/office/drawing/2014/main" id="{A1AD5432-6F15-304A-9D26-EB7D1E507B46}"/>
              </a:ext>
            </a:extLst>
          </p:cNvPr>
          <p:cNvSpPr txBox="1"/>
          <p:nvPr/>
        </p:nvSpPr>
        <p:spPr>
          <a:xfrm>
            <a:off x="2803432" y="4170769"/>
            <a:ext cx="63831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USC</a:t>
            </a:r>
          </a:p>
        </p:txBody>
      </p:sp>
      <p:sp>
        <p:nvSpPr>
          <p:cNvPr id="32" name="TextBox 31">
            <a:extLst>
              <a:ext uri="{FF2B5EF4-FFF2-40B4-BE49-F238E27FC236}">
                <a16:creationId xmlns="" xmlns:a16="http://schemas.microsoft.com/office/drawing/2014/main" id="{CF88C7C2-C438-4546-8938-1E2ADD8552A9}"/>
              </a:ext>
            </a:extLst>
          </p:cNvPr>
          <p:cNvSpPr txBox="1"/>
          <p:nvPr/>
        </p:nvSpPr>
        <p:spPr>
          <a:xfrm>
            <a:off x="4004440"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3" name="Picture 2" descr="http://cogcomp.org/images/people/BenZhou.jpg">
            <a:extLst>
              <a:ext uri="{FF2B5EF4-FFF2-40B4-BE49-F238E27FC236}">
                <a16:creationId xmlns="" xmlns:a16="http://schemas.microsoft.com/office/drawing/2014/main" id="{D35A42E2-AF3A-B24B-8DBB-C32DF164E861}"/>
              </a:ext>
            </a:extLst>
          </p:cNvPr>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5059784" y="4800600"/>
            <a:ext cx="1188720" cy="1188720"/>
          </a:xfrm>
          <a:prstGeom prst="round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 xmlns:a16="http://schemas.microsoft.com/office/drawing/2014/main" id="{17EB5CC1-3829-F449-ABF4-2532FDBF74D6}"/>
              </a:ext>
            </a:extLst>
          </p:cNvPr>
          <p:cNvSpPr txBox="1"/>
          <p:nvPr/>
        </p:nvSpPr>
        <p:spPr>
          <a:xfrm>
            <a:off x="5346059" y="5995176"/>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12" name="Picture 11">
            <a:extLst>
              <a:ext uri="{FF2B5EF4-FFF2-40B4-BE49-F238E27FC236}">
                <a16:creationId xmlns="" xmlns:a16="http://schemas.microsoft.com/office/drawing/2014/main" id="{8FEA92E4-C265-CA46-923B-06CA26A9B4F7}"/>
              </a:ext>
            </a:extLst>
          </p:cNvPr>
          <p:cNvPicPr>
            <a:picLocks noChangeAspect="1"/>
          </p:cNvPicPr>
          <p:nvPr/>
        </p:nvPicPr>
        <p:blipFill rotWithShape="1">
          <a:blip r:embed="rId10" cstate="email">
            <a:extLst>
              <a:ext uri="{28A0092B-C50C-407E-A947-70E740481C1C}">
                <a14:useLocalDpi xmlns:a14="http://schemas.microsoft.com/office/drawing/2010/main"/>
              </a:ext>
            </a:extLst>
          </a:blip>
          <a:srcRect/>
          <a:stretch/>
        </p:blipFill>
        <p:spPr>
          <a:xfrm>
            <a:off x="6324600" y="4800600"/>
            <a:ext cx="1188720" cy="1188720"/>
          </a:xfrm>
          <a:prstGeom prst="roundRect">
            <a:avLst/>
          </a:prstGeom>
        </p:spPr>
      </p:pic>
      <p:sp>
        <p:nvSpPr>
          <p:cNvPr id="34" name="TextBox 33">
            <a:extLst>
              <a:ext uri="{FF2B5EF4-FFF2-40B4-BE49-F238E27FC236}">
                <a16:creationId xmlns="" xmlns:a16="http://schemas.microsoft.com/office/drawing/2014/main" id="{0CDEF45B-EC1C-E446-9275-C37722B7EF2A}"/>
              </a:ext>
            </a:extLst>
          </p:cNvPr>
          <p:cNvSpPr txBox="1"/>
          <p:nvPr/>
        </p:nvSpPr>
        <p:spPr>
          <a:xfrm>
            <a:off x="6321863" y="5995176"/>
            <a:ext cx="12602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Wisconsin</a:t>
            </a:r>
          </a:p>
        </p:txBody>
      </p:sp>
      <p:sp>
        <p:nvSpPr>
          <p:cNvPr id="29" name="TextBox 28">
            <a:extLst>
              <a:ext uri="{FF2B5EF4-FFF2-40B4-BE49-F238E27FC236}">
                <a16:creationId xmlns="" xmlns:a16="http://schemas.microsoft.com/office/drawing/2014/main" id="{FACC5364-7996-334E-B148-FBE07CCC39ED}"/>
              </a:ext>
            </a:extLst>
          </p:cNvPr>
          <p:cNvSpPr txBox="1"/>
          <p:nvPr/>
        </p:nvSpPr>
        <p:spPr>
          <a:xfrm>
            <a:off x="2751788" y="5995176"/>
            <a:ext cx="904415" cy="369332"/>
          </a:xfrm>
          <a:prstGeom prst="rect">
            <a:avLst/>
          </a:prstGeom>
          <a:noFill/>
        </p:spPr>
        <p:txBody>
          <a:bodyPr wrap="none" rtlCol="0">
            <a:spAutoFit/>
          </a:bodyPr>
          <a:lstStyle/>
          <a:p>
            <a:r>
              <a:rPr lang="en-US" dirty="0" err="1">
                <a:solidFill>
                  <a:schemeClr val="bg2"/>
                </a:solidFill>
                <a:latin typeface="Century Gothic" panose="020B0502020202020204" pitchFamily="34" charset="0"/>
              </a:rPr>
              <a:t>UPenn</a:t>
            </a:r>
            <a:endParaRPr lang="en-US" dirty="0">
              <a:solidFill>
                <a:schemeClr val="bg2"/>
              </a:solidFill>
              <a:latin typeface="Century Gothic" panose="020B0502020202020204" pitchFamily="34" charset="0"/>
            </a:endParaRPr>
          </a:p>
        </p:txBody>
      </p:sp>
      <p:pic>
        <p:nvPicPr>
          <p:cNvPr id="8" name="Picture 7">
            <a:extLst>
              <a:ext uri="{FF2B5EF4-FFF2-40B4-BE49-F238E27FC236}">
                <a16:creationId xmlns="" xmlns:a16="http://schemas.microsoft.com/office/drawing/2014/main" id="{6EE3BBC2-68E0-E943-B819-B3CD75A3E90B}"/>
              </a:ext>
            </a:extLst>
          </p:cNvPr>
          <p:cNvPicPr>
            <a:picLocks noChangeAspect="1"/>
          </p:cNvPicPr>
          <p:nvPr/>
        </p:nvPicPr>
        <p:blipFill rotWithShape="1">
          <a:blip r:embed="rId11" cstate="email">
            <a:extLst>
              <a:ext uri="{28A0092B-C50C-407E-A947-70E740481C1C}">
                <a14:useLocalDpi xmlns:a14="http://schemas.microsoft.com/office/drawing/2010/main"/>
              </a:ext>
            </a:extLst>
          </a:blip>
          <a:srcRect/>
          <a:stretch/>
        </p:blipFill>
        <p:spPr>
          <a:xfrm>
            <a:off x="2566236" y="4800600"/>
            <a:ext cx="1188720" cy="1188720"/>
          </a:xfrm>
          <a:prstGeom prst="roundRect">
            <a:avLst/>
          </a:prstGeom>
        </p:spPr>
      </p:pic>
      <p:pic>
        <p:nvPicPr>
          <p:cNvPr id="35" name="Picture 34">
            <a:extLst>
              <a:ext uri="{FF2B5EF4-FFF2-40B4-BE49-F238E27FC236}">
                <a16:creationId xmlns="" xmlns:a16="http://schemas.microsoft.com/office/drawing/2014/main" id="{1A1828B9-CDDF-194E-BBCA-D7F59710D4A6}"/>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3808862" y="1029044"/>
            <a:ext cx="1188720" cy="1188720"/>
          </a:xfrm>
          <a:prstGeom prst="roundRect">
            <a:avLst/>
          </a:prstGeom>
        </p:spPr>
      </p:pic>
      <p:sp>
        <p:nvSpPr>
          <p:cNvPr id="36" name="TextBox 35">
            <a:extLst>
              <a:ext uri="{FF2B5EF4-FFF2-40B4-BE49-F238E27FC236}">
                <a16:creationId xmlns="" xmlns:a16="http://schemas.microsoft.com/office/drawing/2014/main" id="{AA2E0690-2937-EF4E-93A2-BF404F0161BB}"/>
              </a:ext>
            </a:extLst>
          </p:cNvPr>
          <p:cNvSpPr txBox="1"/>
          <p:nvPr/>
        </p:nvSpPr>
        <p:spPr>
          <a:xfrm>
            <a:off x="4039982"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4" name="Picture 3">
            <a:extLst>
              <a:ext uri="{FF2B5EF4-FFF2-40B4-BE49-F238E27FC236}">
                <a16:creationId xmlns="" xmlns:a16="http://schemas.microsoft.com/office/drawing/2014/main" id="{8527E277-A989-C348-8C68-6309124FE667}"/>
              </a:ext>
            </a:extLst>
          </p:cNvPr>
          <p:cNvPicPr>
            <a:picLocks noChangeAspect="1"/>
          </p:cNvPicPr>
          <p:nvPr/>
        </p:nvPicPr>
        <p:blipFill rotWithShape="1">
          <a:blip r:embed="rId13" cstate="email">
            <a:extLst>
              <a:ext uri="{28A0092B-C50C-407E-A947-70E740481C1C}">
                <a14:useLocalDpi xmlns:a14="http://schemas.microsoft.com/office/drawing/2010/main"/>
              </a:ext>
            </a:extLst>
          </a:blip>
          <a:srcRect r="-304"/>
          <a:stretch/>
        </p:blipFill>
        <p:spPr>
          <a:xfrm>
            <a:off x="5067301" y="1029044"/>
            <a:ext cx="1188720" cy="1188720"/>
          </a:xfrm>
          <a:prstGeom prst="roundRect">
            <a:avLst/>
          </a:prstGeom>
        </p:spPr>
      </p:pic>
      <p:sp>
        <p:nvSpPr>
          <p:cNvPr id="31" name="TextBox 30">
            <a:extLst>
              <a:ext uri="{FF2B5EF4-FFF2-40B4-BE49-F238E27FC236}">
                <a16:creationId xmlns="" xmlns:a16="http://schemas.microsoft.com/office/drawing/2014/main" id="{CF1099B3-C3E3-3F40-8803-4A08CDE2C01A}"/>
              </a:ext>
            </a:extLst>
          </p:cNvPr>
          <p:cNvSpPr txBox="1"/>
          <p:nvPr/>
        </p:nvSpPr>
        <p:spPr>
          <a:xfrm>
            <a:off x="5290048"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11" name="Picture 10">
            <a:extLst>
              <a:ext uri="{FF2B5EF4-FFF2-40B4-BE49-F238E27FC236}">
                <a16:creationId xmlns="" xmlns:a16="http://schemas.microsoft.com/office/drawing/2014/main" id="{03BB4A71-312D-5345-B470-841F70854FF0}"/>
              </a:ext>
            </a:extLst>
          </p:cNvPr>
          <p:cNvPicPr>
            <a:picLocks noChangeAspect="1"/>
          </p:cNvPicPr>
          <p:nvPr/>
        </p:nvPicPr>
        <p:blipFill rotWithShape="1">
          <a:blip r:embed="rId14" cstate="email">
            <a:extLst>
              <a:ext uri="{28A0092B-C50C-407E-A947-70E740481C1C}">
                <a14:useLocalDpi xmlns:a14="http://schemas.microsoft.com/office/drawing/2010/main"/>
              </a:ext>
            </a:extLst>
          </a:blip>
          <a:srcRect l="-421"/>
          <a:stretch/>
        </p:blipFill>
        <p:spPr>
          <a:xfrm>
            <a:off x="6314166" y="1029044"/>
            <a:ext cx="1188720" cy="1188720"/>
          </a:xfrm>
          <a:prstGeom prst="roundRect">
            <a:avLst/>
          </a:prstGeom>
        </p:spPr>
      </p:pic>
      <p:sp>
        <p:nvSpPr>
          <p:cNvPr id="37" name="TextBox 36">
            <a:extLst>
              <a:ext uri="{FF2B5EF4-FFF2-40B4-BE49-F238E27FC236}">
                <a16:creationId xmlns="" xmlns:a16="http://schemas.microsoft.com/office/drawing/2014/main" id="{45B57541-D4D0-A14B-A4F5-1B7A9083570B}"/>
              </a:ext>
            </a:extLst>
          </p:cNvPr>
          <p:cNvSpPr txBox="1"/>
          <p:nvPr/>
        </p:nvSpPr>
        <p:spPr>
          <a:xfrm>
            <a:off x="6574838" y="2221468"/>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pic>
        <p:nvPicPr>
          <p:cNvPr id="38" name="Picture 37">
            <a:extLst>
              <a:ext uri="{FF2B5EF4-FFF2-40B4-BE49-F238E27FC236}">
                <a16:creationId xmlns="" xmlns:a16="http://schemas.microsoft.com/office/drawing/2014/main" id="{3FBC99C0-7878-7A49-8CB4-450511BE1AD0}"/>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l="1782" t="7330" r="1782"/>
          <a:stretch/>
        </p:blipFill>
        <p:spPr>
          <a:xfrm>
            <a:off x="3807591" y="2966421"/>
            <a:ext cx="1188720" cy="1188720"/>
          </a:xfrm>
          <a:prstGeom prst="roundRect">
            <a:avLst/>
          </a:prstGeom>
        </p:spPr>
      </p:pic>
      <p:sp>
        <p:nvSpPr>
          <p:cNvPr id="39" name="TextBox 38">
            <a:extLst>
              <a:ext uri="{FF2B5EF4-FFF2-40B4-BE49-F238E27FC236}">
                <a16:creationId xmlns="" xmlns:a16="http://schemas.microsoft.com/office/drawing/2014/main" id="{C2177847-52AB-B24F-A02C-71A80D7C2E89}"/>
              </a:ext>
            </a:extLst>
          </p:cNvPr>
          <p:cNvSpPr txBox="1"/>
          <p:nvPr/>
        </p:nvSpPr>
        <p:spPr>
          <a:xfrm>
            <a:off x="4074441" y="4170769"/>
            <a:ext cx="622286"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BBN</a:t>
            </a:r>
          </a:p>
        </p:txBody>
      </p:sp>
      <p:pic>
        <p:nvPicPr>
          <p:cNvPr id="40" name="Picture 39">
            <a:extLst>
              <a:ext uri="{FF2B5EF4-FFF2-40B4-BE49-F238E27FC236}">
                <a16:creationId xmlns="" xmlns:a16="http://schemas.microsoft.com/office/drawing/2014/main" id="{FE85285B-265C-9C4C-A0A9-03079DF5166C}"/>
              </a:ext>
            </a:extLst>
          </p:cNvPr>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5067301" y="2953721"/>
            <a:ext cx="1188720" cy="1188720"/>
          </a:xfrm>
          <a:prstGeom prst="roundRect">
            <a:avLst/>
          </a:prstGeom>
        </p:spPr>
      </p:pic>
      <p:sp>
        <p:nvSpPr>
          <p:cNvPr id="41" name="TextBox 40">
            <a:extLst>
              <a:ext uri="{FF2B5EF4-FFF2-40B4-BE49-F238E27FC236}">
                <a16:creationId xmlns="" xmlns:a16="http://schemas.microsoft.com/office/drawing/2014/main" id="{7FDE6F66-B661-A748-B348-3B8D5149A9E9}"/>
              </a:ext>
            </a:extLst>
          </p:cNvPr>
          <p:cNvSpPr txBox="1"/>
          <p:nvPr/>
        </p:nvSpPr>
        <p:spPr>
          <a:xfrm>
            <a:off x="5314323" y="4158069"/>
            <a:ext cx="603050"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ARL</a:t>
            </a:r>
          </a:p>
        </p:txBody>
      </p:sp>
      <p:pic>
        <p:nvPicPr>
          <p:cNvPr id="14" name="Picture 13">
            <a:extLst>
              <a:ext uri="{FF2B5EF4-FFF2-40B4-BE49-F238E27FC236}">
                <a16:creationId xmlns="" xmlns:a16="http://schemas.microsoft.com/office/drawing/2014/main" id="{C13C4D59-BD1E-7A47-9166-A235063BE692}"/>
              </a:ext>
            </a:extLst>
          </p:cNvPr>
          <p:cNvPicPr>
            <a:picLocks noChangeAspect="1"/>
          </p:cNvPicPr>
          <p:nvPr/>
        </p:nvPicPr>
        <p:blipFill rotWithShape="1">
          <a:blip r:embed="rId17" cstate="email">
            <a:extLst>
              <a:ext uri="{28A0092B-C50C-407E-A947-70E740481C1C}">
                <a14:useLocalDpi xmlns:a14="http://schemas.microsoft.com/office/drawing/2010/main"/>
              </a:ext>
            </a:extLst>
          </a:blip>
          <a:srcRect r="-537"/>
          <a:stretch/>
        </p:blipFill>
        <p:spPr>
          <a:xfrm>
            <a:off x="1303558" y="2966421"/>
            <a:ext cx="1188720" cy="1188720"/>
          </a:xfrm>
          <a:prstGeom prst="roundRect">
            <a:avLst/>
          </a:prstGeom>
        </p:spPr>
      </p:pic>
      <p:sp>
        <p:nvSpPr>
          <p:cNvPr id="43" name="TextBox 42">
            <a:extLst>
              <a:ext uri="{FF2B5EF4-FFF2-40B4-BE49-F238E27FC236}">
                <a16:creationId xmlns="" xmlns:a16="http://schemas.microsoft.com/office/drawing/2014/main" id="{54EE98B4-4CCC-9F49-941B-5644B275C536}"/>
              </a:ext>
            </a:extLst>
          </p:cNvPr>
          <p:cNvSpPr txBox="1"/>
          <p:nvPr/>
        </p:nvSpPr>
        <p:spPr>
          <a:xfrm>
            <a:off x="1534677" y="4170769"/>
            <a:ext cx="726481"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UIUC</a:t>
            </a:r>
          </a:p>
        </p:txBody>
      </p:sp>
    </p:spTree>
    <p:extLst>
      <p:ext uri="{BB962C8B-B14F-4D97-AF65-F5344CB8AC3E}">
        <p14:creationId xmlns:p14="http://schemas.microsoft.com/office/powerpoint/2010/main" val="374028698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965200"/>
            <a:ext cx="9144000" cy="4913477"/>
          </a:xfrm>
          <a:prstGeom prst="rect">
            <a:avLst/>
          </a:prstGeom>
        </p:spPr>
      </p:pic>
      <p:sp>
        <p:nvSpPr>
          <p:cNvPr id="2" name="Rectangle 1"/>
          <p:cNvSpPr/>
          <p:nvPr/>
        </p:nvSpPr>
        <p:spPr>
          <a:xfrm>
            <a:off x="8305800" y="6172200"/>
            <a:ext cx="838200" cy="685800"/>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728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1DAAD57-2BA5-634E-82B5-9EFD02E49740}"/>
              </a:ext>
            </a:extLst>
          </p:cNvPr>
          <p:cNvSpPr>
            <a:spLocks noGrp="1"/>
          </p:cNvSpPr>
          <p:nvPr>
            <p:ph type="title"/>
          </p:nvPr>
        </p:nvSpPr>
        <p:spPr/>
        <p:txBody>
          <a:bodyPr/>
          <a:lstStyle/>
          <a:p>
            <a:r>
              <a:rPr lang="en-US" dirty="0"/>
              <a:t>Courses that I can teach</a:t>
            </a:r>
          </a:p>
        </p:txBody>
      </p:sp>
      <p:sp>
        <p:nvSpPr>
          <p:cNvPr id="3" name="Content Placeholder 2">
            <a:extLst>
              <a:ext uri="{FF2B5EF4-FFF2-40B4-BE49-F238E27FC236}">
                <a16:creationId xmlns="" xmlns:a16="http://schemas.microsoft.com/office/drawing/2014/main" id="{D84B9B4E-6459-574C-B187-38E241F3FED5}"/>
              </a:ext>
            </a:extLst>
          </p:cNvPr>
          <p:cNvSpPr>
            <a:spLocks noGrp="1"/>
          </p:cNvSpPr>
          <p:nvPr>
            <p:ph idx="1"/>
          </p:nvPr>
        </p:nvSpPr>
        <p:spPr/>
        <p:txBody>
          <a:bodyPr numCol="2"/>
          <a:lstStyle/>
          <a:p>
            <a:pPr marL="0" indent="0" algn="ctr">
              <a:buNone/>
            </a:pPr>
            <a:r>
              <a:rPr lang="en-US" sz="1400" b="1" u="sng" dirty="0"/>
              <a:t>Computing &amp; algorithms</a:t>
            </a:r>
          </a:p>
          <a:p>
            <a:pPr marL="0" indent="0">
              <a:buNone/>
            </a:pPr>
            <a:r>
              <a:rPr lang="en-US" sz="1400" b="1" dirty="0">
                <a:solidFill>
                  <a:srgbClr val="C17A90"/>
                </a:solidFill>
              </a:rPr>
              <a:t>COMP 100 </a:t>
            </a:r>
            <a:r>
              <a:rPr lang="en-US" sz="1400" dirty="0">
                <a:solidFill>
                  <a:srgbClr val="C17A90"/>
                </a:solidFill>
              </a:rPr>
              <a:t>- INTRO COMPUTING &amp; INFO SYS</a:t>
            </a:r>
          </a:p>
          <a:p>
            <a:pPr marL="0" indent="0">
              <a:buNone/>
            </a:pPr>
            <a:r>
              <a:rPr lang="en-US" sz="1400" b="1" dirty="0">
                <a:solidFill>
                  <a:srgbClr val="C17A90"/>
                </a:solidFill>
              </a:rPr>
              <a:t>COMP 110 </a:t>
            </a:r>
            <a:r>
              <a:rPr lang="en-US" sz="1400" dirty="0">
                <a:solidFill>
                  <a:srgbClr val="C17A90"/>
                </a:solidFill>
              </a:rPr>
              <a:t>- COMPUTATION IN SCI &amp; ENGI</a:t>
            </a:r>
          </a:p>
          <a:p>
            <a:pPr marL="0" indent="0">
              <a:buNone/>
            </a:pPr>
            <a:r>
              <a:rPr lang="en-US" sz="1400" b="1" dirty="0">
                <a:solidFill>
                  <a:srgbClr val="C17A90"/>
                </a:solidFill>
              </a:rPr>
              <a:t>COMP 130 </a:t>
            </a:r>
            <a:r>
              <a:rPr lang="en-US" sz="1400" dirty="0">
                <a:solidFill>
                  <a:srgbClr val="C17A90"/>
                </a:solidFill>
              </a:rPr>
              <a:t>- ELEMENTS OF ALGORITHMS &amp; COMP</a:t>
            </a:r>
          </a:p>
          <a:p>
            <a:pPr marL="0" indent="0">
              <a:buNone/>
            </a:pPr>
            <a:r>
              <a:rPr lang="en-US" sz="1400" b="1" dirty="0">
                <a:solidFill>
                  <a:srgbClr val="C17A90"/>
                </a:solidFill>
              </a:rPr>
              <a:t>COMP 140 </a:t>
            </a:r>
            <a:r>
              <a:rPr lang="en-US" sz="1400" dirty="0">
                <a:solidFill>
                  <a:srgbClr val="C17A90"/>
                </a:solidFill>
              </a:rPr>
              <a:t>- COMPUTATIONAL THINKING</a:t>
            </a:r>
          </a:p>
          <a:p>
            <a:pPr marL="0" indent="0">
              <a:buNone/>
            </a:pPr>
            <a:r>
              <a:rPr lang="en-US" sz="1400" b="1" dirty="0">
                <a:solidFill>
                  <a:srgbClr val="C17A90"/>
                </a:solidFill>
              </a:rPr>
              <a:t>COMP 180 </a:t>
            </a:r>
            <a:r>
              <a:rPr lang="en-US" sz="1400" dirty="0">
                <a:solidFill>
                  <a:srgbClr val="C17A90"/>
                </a:solidFill>
              </a:rPr>
              <a:t>- PRINCIPLES OF COMPUTING</a:t>
            </a:r>
          </a:p>
          <a:p>
            <a:pPr marL="0" indent="0">
              <a:buNone/>
            </a:pPr>
            <a:r>
              <a:rPr lang="en-US" sz="1400" b="1" dirty="0">
                <a:solidFill>
                  <a:srgbClr val="C17A90"/>
                </a:solidFill>
              </a:rPr>
              <a:t>COMP 182 </a:t>
            </a:r>
            <a:r>
              <a:rPr lang="en-US" sz="1400" dirty="0">
                <a:solidFill>
                  <a:srgbClr val="C17A90"/>
                </a:solidFill>
              </a:rPr>
              <a:t>- ALGORITHMIC THINKING</a:t>
            </a:r>
          </a:p>
          <a:p>
            <a:pPr marL="0" indent="0">
              <a:buNone/>
            </a:pPr>
            <a:r>
              <a:rPr lang="en-US" sz="1400" b="1" dirty="0">
                <a:solidFill>
                  <a:srgbClr val="C17A90"/>
                </a:solidFill>
              </a:rPr>
              <a:t>COMP 200 </a:t>
            </a:r>
            <a:r>
              <a:rPr lang="en-US" sz="1400" dirty="0">
                <a:solidFill>
                  <a:srgbClr val="C17A90"/>
                </a:solidFill>
              </a:rPr>
              <a:t>- ELEMENTS OF COMPUTER SCIENCE</a:t>
            </a:r>
          </a:p>
          <a:p>
            <a:pPr marL="0" indent="0">
              <a:buNone/>
            </a:pPr>
            <a:r>
              <a:rPr lang="en-US" sz="1400" b="1" dirty="0">
                <a:solidFill>
                  <a:srgbClr val="C17A90"/>
                </a:solidFill>
              </a:rPr>
              <a:t>COMP 310 </a:t>
            </a:r>
            <a:r>
              <a:rPr lang="en-US" sz="1400" dirty="0">
                <a:solidFill>
                  <a:srgbClr val="C17A90"/>
                </a:solidFill>
              </a:rPr>
              <a:t>- ADV OBJECT-ORIENTED PROG</a:t>
            </a:r>
          </a:p>
          <a:p>
            <a:pPr marL="0" indent="0">
              <a:buNone/>
            </a:pPr>
            <a:r>
              <a:rPr lang="en-US" sz="1400" b="1" dirty="0">
                <a:solidFill>
                  <a:srgbClr val="6881B4"/>
                </a:solidFill>
              </a:rPr>
              <a:t>COMP 326 </a:t>
            </a:r>
            <a:r>
              <a:rPr lang="en-US" sz="1400" dirty="0">
                <a:solidFill>
                  <a:srgbClr val="6881B4"/>
                </a:solidFill>
              </a:rPr>
              <a:t>- DIGITAL LOGIC DESIGN</a:t>
            </a:r>
          </a:p>
          <a:p>
            <a:pPr marL="0" indent="0">
              <a:buNone/>
            </a:pPr>
            <a:r>
              <a:rPr lang="en-US" sz="1400" b="1" dirty="0">
                <a:solidFill>
                  <a:srgbClr val="6881B4"/>
                </a:solidFill>
              </a:rPr>
              <a:t>COMP 330 </a:t>
            </a:r>
            <a:r>
              <a:rPr lang="en-US" sz="1400" dirty="0">
                <a:solidFill>
                  <a:srgbClr val="6881B4"/>
                </a:solidFill>
              </a:rPr>
              <a:t>- TOOLS &amp; MODELS - DATA SCIENCE</a:t>
            </a:r>
          </a:p>
          <a:p>
            <a:pPr marL="0" indent="0" algn="ctr">
              <a:buNone/>
            </a:pPr>
            <a:endParaRPr lang="en-US" sz="1400" b="1" u="sng" dirty="0"/>
          </a:p>
          <a:p>
            <a:pPr marL="0" indent="0" algn="ctr">
              <a:buNone/>
            </a:pPr>
            <a:r>
              <a:rPr lang="en-US" sz="1400" b="1" u="sng" dirty="0"/>
              <a:t>Bioinformatics &amp; medical imaging</a:t>
            </a:r>
          </a:p>
          <a:p>
            <a:pPr marL="0" indent="0">
              <a:buNone/>
            </a:pPr>
            <a:r>
              <a:rPr lang="en-US" sz="1400" b="1" dirty="0">
                <a:solidFill>
                  <a:srgbClr val="C17A90"/>
                </a:solidFill>
              </a:rPr>
              <a:t>COMP 370 </a:t>
            </a:r>
            <a:r>
              <a:rPr lang="en-US" sz="1400" dirty="0">
                <a:solidFill>
                  <a:srgbClr val="C17A90"/>
                </a:solidFill>
              </a:rPr>
              <a:t>- EVOLUTIONARY BIOINFORMATICS</a:t>
            </a:r>
          </a:p>
          <a:p>
            <a:pPr marL="0" indent="0">
              <a:buNone/>
            </a:pPr>
            <a:r>
              <a:rPr lang="en-US" sz="1400" b="1" dirty="0">
                <a:solidFill>
                  <a:srgbClr val="C17A90"/>
                </a:solidFill>
              </a:rPr>
              <a:t>COMP 485/486 </a:t>
            </a:r>
            <a:r>
              <a:rPr lang="en-US" sz="1400" dirty="0">
                <a:solidFill>
                  <a:srgbClr val="C17A90"/>
                </a:solidFill>
              </a:rPr>
              <a:t>- FUNDAMENTALS OF MEDICAL IMAGING</a:t>
            </a:r>
            <a:endParaRPr lang="en-US" sz="1400" b="1" dirty="0">
              <a:solidFill>
                <a:srgbClr val="C17A90"/>
              </a:solidFill>
            </a:endParaRPr>
          </a:p>
          <a:p>
            <a:pPr marL="0" indent="0">
              <a:buNone/>
            </a:pPr>
            <a:r>
              <a:rPr lang="en-US" sz="1400" b="1" dirty="0">
                <a:solidFill>
                  <a:srgbClr val="C17A90"/>
                </a:solidFill>
              </a:rPr>
              <a:t>COMP 571 </a:t>
            </a:r>
            <a:r>
              <a:rPr lang="en-US" sz="1400" dirty="0">
                <a:solidFill>
                  <a:srgbClr val="C17A90"/>
                </a:solidFill>
              </a:rPr>
              <a:t>- BIOINFORMATICS: SEQUENCE</a:t>
            </a:r>
          </a:p>
          <a:p>
            <a:pPr marL="0" indent="0">
              <a:buNone/>
            </a:pPr>
            <a:r>
              <a:rPr lang="en-US" sz="1400" b="1" dirty="0">
                <a:solidFill>
                  <a:srgbClr val="6881B4"/>
                </a:solidFill>
              </a:rPr>
              <a:t>COMP 572 </a:t>
            </a:r>
            <a:r>
              <a:rPr lang="en-US" sz="1400" dirty="0">
                <a:solidFill>
                  <a:srgbClr val="6881B4"/>
                </a:solidFill>
              </a:rPr>
              <a:t>- BIOINFORMATICS: NETWORKS</a:t>
            </a:r>
          </a:p>
          <a:p>
            <a:pPr marL="0" indent="0" algn="ctr">
              <a:buNone/>
            </a:pPr>
            <a:endParaRPr lang="en-US" sz="1400" b="1" u="sng" dirty="0"/>
          </a:p>
          <a:p>
            <a:pPr marL="0" indent="0" algn="ctr">
              <a:buNone/>
            </a:pPr>
            <a:endParaRPr lang="en-US" sz="1400" b="1" u="sng" dirty="0"/>
          </a:p>
          <a:p>
            <a:pPr marL="0" indent="0" algn="ctr">
              <a:buNone/>
            </a:pPr>
            <a:r>
              <a:rPr lang="en-US" sz="1400" b="1" u="sng" dirty="0"/>
              <a:t>Machine learning &amp; AI</a:t>
            </a:r>
          </a:p>
          <a:p>
            <a:pPr marL="0" indent="0">
              <a:buNone/>
            </a:pPr>
            <a:r>
              <a:rPr lang="en-US" sz="1400" b="1" dirty="0">
                <a:solidFill>
                  <a:srgbClr val="6881B4"/>
                </a:solidFill>
              </a:rPr>
              <a:t>COMP 440/557 </a:t>
            </a:r>
            <a:r>
              <a:rPr lang="en-US" sz="1400" dirty="0">
                <a:solidFill>
                  <a:srgbClr val="6881B4"/>
                </a:solidFill>
              </a:rPr>
              <a:t>- ARTIFICIAL INTELLIGENCE</a:t>
            </a:r>
          </a:p>
          <a:p>
            <a:pPr marL="0" indent="0">
              <a:buNone/>
            </a:pPr>
            <a:r>
              <a:rPr lang="en-US" sz="1400" b="1" dirty="0">
                <a:solidFill>
                  <a:srgbClr val="6881B4"/>
                </a:solidFill>
              </a:rPr>
              <a:t>COMP 441/542 </a:t>
            </a:r>
            <a:r>
              <a:rPr lang="en-US" sz="1400" dirty="0">
                <a:solidFill>
                  <a:srgbClr val="6881B4"/>
                </a:solidFill>
              </a:rPr>
              <a:t>- LARGE-SCALE MACHINE LEARNING</a:t>
            </a:r>
          </a:p>
          <a:p>
            <a:pPr marL="0" indent="0">
              <a:buNone/>
            </a:pPr>
            <a:r>
              <a:rPr lang="en-US" sz="1400" b="1" dirty="0">
                <a:solidFill>
                  <a:srgbClr val="C17A90"/>
                </a:solidFill>
              </a:rPr>
              <a:t>COMP 502 </a:t>
            </a:r>
            <a:r>
              <a:rPr lang="en-US" sz="1400" dirty="0">
                <a:solidFill>
                  <a:srgbClr val="C17A90"/>
                </a:solidFill>
              </a:rPr>
              <a:t>- NEURAL MACHINE LEARNING I</a:t>
            </a:r>
          </a:p>
          <a:p>
            <a:pPr marL="0" indent="0">
              <a:buNone/>
            </a:pPr>
            <a:r>
              <a:rPr lang="en-US" sz="1400" b="1" dirty="0">
                <a:solidFill>
                  <a:srgbClr val="C17A90"/>
                </a:solidFill>
              </a:rPr>
              <a:t>COMP 540 </a:t>
            </a:r>
            <a:r>
              <a:rPr lang="en-US" sz="1400" dirty="0">
                <a:solidFill>
                  <a:srgbClr val="C17A90"/>
                </a:solidFill>
              </a:rPr>
              <a:t>- STATISTICAL MACHINE LEARNING</a:t>
            </a:r>
          </a:p>
          <a:p>
            <a:pPr marL="0" indent="0">
              <a:buNone/>
            </a:pPr>
            <a:r>
              <a:rPr lang="en-US" sz="1400" b="1" dirty="0">
                <a:solidFill>
                  <a:srgbClr val="C17A90"/>
                </a:solidFill>
              </a:rPr>
              <a:t>COMP 576 </a:t>
            </a:r>
            <a:r>
              <a:rPr lang="en-US" sz="1400" dirty="0">
                <a:solidFill>
                  <a:srgbClr val="C17A90"/>
                </a:solidFill>
              </a:rPr>
              <a:t>- INTRODUCTION TO DEEP LEARNING</a:t>
            </a:r>
          </a:p>
          <a:p>
            <a:pPr marL="0" indent="0">
              <a:buNone/>
            </a:pPr>
            <a:r>
              <a:rPr lang="en-US" sz="1400" b="1" dirty="0">
                <a:solidFill>
                  <a:srgbClr val="C17A90"/>
                </a:solidFill>
              </a:rPr>
              <a:t>COMP 602 </a:t>
            </a:r>
            <a:r>
              <a:rPr lang="en-US" sz="1400" dirty="0">
                <a:solidFill>
                  <a:srgbClr val="C17A90"/>
                </a:solidFill>
              </a:rPr>
              <a:t>- NEURAL MACHINE LEARNING II</a:t>
            </a:r>
          </a:p>
        </p:txBody>
      </p:sp>
    </p:spTree>
    <p:extLst>
      <p:ext uri="{BB962C8B-B14F-4D97-AF65-F5344CB8AC3E}">
        <p14:creationId xmlns:p14="http://schemas.microsoft.com/office/powerpoint/2010/main" val="38542392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Freeform 18">
            <a:extLst>
              <a:ext uri="{FF2B5EF4-FFF2-40B4-BE49-F238E27FC236}">
                <a16:creationId xmlns="" xmlns:a16="http://schemas.microsoft.com/office/drawing/2014/main" id="{61A3B486-AB62-FA4F-86D2-A8C42B5F4220}"/>
              </a:ext>
            </a:extLst>
          </p:cNvPr>
          <p:cNvSpPr/>
          <p:nvPr/>
        </p:nvSpPr>
        <p:spPr>
          <a:xfrm>
            <a:off x="2596528" y="2351454"/>
            <a:ext cx="1972921" cy="1862916"/>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8" name="Freeform 17">
            <a:extLst>
              <a:ext uri="{FF2B5EF4-FFF2-40B4-BE49-F238E27FC236}">
                <a16:creationId xmlns="" xmlns:a16="http://schemas.microsoft.com/office/drawing/2014/main" id="{90713598-516B-E844-B1F8-76B264DE9634}"/>
              </a:ext>
            </a:extLst>
          </p:cNvPr>
          <p:cNvSpPr/>
          <p:nvPr/>
        </p:nvSpPr>
        <p:spPr>
          <a:xfrm>
            <a:off x="4569449" y="2351453"/>
            <a:ext cx="1956830" cy="1857027"/>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7" name="Freeform 16">
            <a:extLst>
              <a:ext uri="{FF2B5EF4-FFF2-40B4-BE49-F238E27FC236}">
                <a16:creationId xmlns="" xmlns:a16="http://schemas.microsoft.com/office/drawing/2014/main" id="{D2E47F3F-1B36-A440-A6B3-C95DFE1F6B8E}"/>
              </a:ext>
            </a:extLst>
          </p:cNvPr>
          <p:cNvSpPr/>
          <p:nvPr/>
        </p:nvSpPr>
        <p:spPr>
          <a:xfrm>
            <a:off x="3918092" y="4208480"/>
            <a:ext cx="1302713" cy="1574208"/>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6" name="Freeform 15">
            <a:extLst>
              <a:ext uri="{FF2B5EF4-FFF2-40B4-BE49-F238E27FC236}">
                <a16:creationId xmlns="" xmlns:a16="http://schemas.microsoft.com/office/drawing/2014/main" id="{D7DAC120-F2AE-9E42-91AD-D367A20D62A6}"/>
              </a:ext>
            </a:extLst>
          </p:cNvPr>
          <p:cNvSpPr/>
          <p:nvPr/>
        </p:nvSpPr>
        <p:spPr>
          <a:xfrm>
            <a:off x="2590800" y="381000"/>
            <a:ext cx="3940909" cy="248012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5" name="Freeform 14">
            <a:extLst>
              <a:ext uri="{FF2B5EF4-FFF2-40B4-BE49-F238E27FC236}">
                <a16:creationId xmlns="" xmlns:a16="http://schemas.microsoft.com/office/drawing/2014/main" id="{04B09D7B-0C2C-B04A-B53B-43E0E3647E0A}"/>
              </a:ext>
            </a:extLst>
          </p:cNvPr>
          <p:cNvSpPr/>
          <p:nvPr/>
        </p:nvSpPr>
        <p:spPr>
          <a:xfrm>
            <a:off x="4569449" y="2458993"/>
            <a:ext cx="3289552" cy="3833368"/>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4" name="Freeform 13">
            <a:extLst>
              <a:ext uri="{FF2B5EF4-FFF2-40B4-BE49-F238E27FC236}">
                <a16:creationId xmlns="" xmlns:a16="http://schemas.microsoft.com/office/drawing/2014/main" id="{C17A06CB-AE38-924C-A9B4-FE69C1A3EAFE}"/>
              </a:ext>
            </a:extLst>
          </p:cNvPr>
          <p:cNvSpPr/>
          <p:nvPr/>
        </p:nvSpPr>
        <p:spPr>
          <a:xfrm>
            <a:off x="1279895" y="2464880"/>
            <a:ext cx="3289553" cy="3827481"/>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13" name="Freeform 12">
            <a:extLst>
              <a:ext uri="{FF2B5EF4-FFF2-40B4-BE49-F238E27FC236}">
                <a16:creationId xmlns="" xmlns:a16="http://schemas.microsoft.com/office/drawing/2014/main" id="{F86028A8-0EA2-224F-BC9E-979373BCB94B}"/>
              </a:ext>
            </a:extLst>
          </p:cNvPr>
          <p:cNvSpPr/>
          <p:nvPr/>
        </p:nvSpPr>
        <p:spPr>
          <a:xfrm>
            <a:off x="3923523" y="2861129"/>
            <a:ext cx="1291555" cy="1460779"/>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latin typeface="Century Gothic" charset="0"/>
              <a:ea typeface="Century Gothic" charset="0"/>
              <a:cs typeface="Century Gothic" charset="0"/>
            </a:endParaRPr>
          </a:p>
        </p:txBody>
      </p:sp>
      <p:sp>
        <p:nvSpPr>
          <p:cNvPr id="20" name="TextBox 19">
            <a:extLst>
              <a:ext uri="{FF2B5EF4-FFF2-40B4-BE49-F238E27FC236}">
                <a16:creationId xmlns="" xmlns:a16="http://schemas.microsoft.com/office/drawing/2014/main" id="{9C21D07F-E337-F842-95C9-56B9E450B34B}"/>
              </a:ext>
            </a:extLst>
          </p:cNvPr>
          <p:cNvSpPr txBox="1"/>
          <p:nvPr/>
        </p:nvSpPr>
        <p:spPr>
          <a:xfrm>
            <a:off x="3371831" y="750782"/>
            <a:ext cx="2881874"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Structured learning</a:t>
            </a:r>
          </a:p>
        </p:txBody>
      </p:sp>
      <p:pic>
        <p:nvPicPr>
          <p:cNvPr id="22" name="Picture 21" descr="A close up of a logo&#10;&#10;Description automatically generated">
            <a:extLst>
              <a:ext uri="{FF2B5EF4-FFF2-40B4-BE49-F238E27FC236}">
                <a16:creationId xmlns="" xmlns:a16="http://schemas.microsoft.com/office/drawing/2014/main" id="{1C1CFDDB-C8DA-2746-BB81-A44B3B7312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099912" y="1004102"/>
            <a:ext cx="974176" cy="745577"/>
          </a:xfrm>
          <a:prstGeom prst="rect">
            <a:avLst/>
          </a:prstGeom>
        </p:spPr>
      </p:pic>
      <p:pic>
        <p:nvPicPr>
          <p:cNvPr id="24" name="Picture 23" descr="A close up of a logo&#10;&#10;Description automatically generated">
            <a:extLst>
              <a:ext uri="{FF2B5EF4-FFF2-40B4-BE49-F238E27FC236}">
                <a16:creationId xmlns="" xmlns:a16="http://schemas.microsoft.com/office/drawing/2014/main" id="{64C7EC8F-061A-1440-9487-99937D22249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526696" y="4751042"/>
            <a:ext cx="1323194" cy="940938"/>
          </a:xfrm>
          <a:prstGeom prst="rect">
            <a:avLst/>
          </a:prstGeom>
        </p:spPr>
      </p:pic>
      <p:sp>
        <p:nvSpPr>
          <p:cNvPr id="25" name="TextBox 24">
            <a:extLst>
              <a:ext uri="{FF2B5EF4-FFF2-40B4-BE49-F238E27FC236}">
                <a16:creationId xmlns="" xmlns:a16="http://schemas.microsoft.com/office/drawing/2014/main" id="{0DD8974F-3312-314A-BE72-1C11FFD8A314}"/>
              </a:ext>
            </a:extLst>
          </p:cNvPr>
          <p:cNvSpPr txBox="1"/>
          <p:nvPr/>
        </p:nvSpPr>
        <p:spPr>
          <a:xfrm>
            <a:off x="2206719" y="5607318"/>
            <a:ext cx="2330225"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Common sense</a:t>
            </a:r>
          </a:p>
        </p:txBody>
      </p:sp>
      <p:pic>
        <p:nvPicPr>
          <p:cNvPr id="27" name="Picture 26" descr="A close up of a logo&#10;&#10;Description automatically generated">
            <a:extLst>
              <a:ext uri="{FF2B5EF4-FFF2-40B4-BE49-F238E27FC236}">
                <a16:creationId xmlns="" xmlns:a16="http://schemas.microsoft.com/office/drawing/2014/main" id="{60B8FB75-539A-0840-ADE8-6A45256547C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5577574" y="5009130"/>
            <a:ext cx="819421" cy="682850"/>
          </a:xfrm>
          <a:prstGeom prst="rect">
            <a:avLst/>
          </a:prstGeom>
        </p:spPr>
      </p:pic>
      <p:sp>
        <p:nvSpPr>
          <p:cNvPr id="28" name="TextBox 27">
            <a:extLst>
              <a:ext uri="{FF2B5EF4-FFF2-40B4-BE49-F238E27FC236}">
                <a16:creationId xmlns="" xmlns:a16="http://schemas.microsoft.com/office/drawing/2014/main" id="{B970778E-FE0E-C747-9F3B-2C496E425066}"/>
              </a:ext>
            </a:extLst>
          </p:cNvPr>
          <p:cNvSpPr txBox="1"/>
          <p:nvPr/>
        </p:nvSpPr>
        <p:spPr>
          <a:xfrm>
            <a:off x="4966392" y="5607318"/>
            <a:ext cx="2501208" cy="400110"/>
          </a:xfrm>
          <a:prstGeom prst="rect">
            <a:avLst/>
          </a:prstGeom>
          <a:noFill/>
        </p:spPr>
        <p:txBody>
          <a:bodyPr wrap="square" rtlCol="0">
            <a:spAutoFit/>
          </a:bodyPr>
          <a:lstStyle/>
          <a:p>
            <a:r>
              <a:rPr lang="en-US" sz="2000" u="sng" dirty="0">
                <a:solidFill>
                  <a:schemeClr val="bg2"/>
                </a:solidFill>
                <a:latin typeface="Century Gothic" charset="0"/>
                <a:ea typeface="Century Gothic" charset="0"/>
                <a:cs typeface="Century Gothic" charset="0"/>
              </a:rPr>
              <a:t>Data </a:t>
            </a:r>
            <a:r>
              <a:rPr lang="en-US" sz="2000" i="1" u="sng" dirty="0">
                <a:solidFill>
                  <a:schemeClr val="bg2"/>
                </a:solidFill>
                <a:latin typeface="Century Gothic" charset="0"/>
                <a:ea typeface="Century Gothic" charset="0"/>
                <a:cs typeface="Century Gothic" charset="0"/>
              </a:rPr>
              <a:t>annotation</a:t>
            </a:r>
            <a:endParaRPr lang="en-US" sz="2000" u="sng" dirty="0">
              <a:solidFill>
                <a:schemeClr val="bg2"/>
              </a:solidFill>
              <a:latin typeface="Century Gothic" charset="0"/>
              <a:ea typeface="Century Gothic" charset="0"/>
              <a:cs typeface="Century Gothic" charset="0"/>
            </a:endParaRPr>
          </a:p>
        </p:txBody>
      </p:sp>
      <p:sp>
        <p:nvSpPr>
          <p:cNvPr id="29" name="TextBox 28">
            <a:extLst>
              <a:ext uri="{FF2B5EF4-FFF2-40B4-BE49-F238E27FC236}">
                <a16:creationId xmlns="" xmlns:a16="http://schemas.microsoft.com/office/drawing/2014/main" id="{649080C7-8D4D-9846-886B-33B0F1413DAF}"/>
              </a:ext>
            </a:extLst>
          </p:cNvPr>
          <p:cNvSpPr txBox="1"/>
          <p:nvPr/>
        </p:nvSpPr>
        <p:spPr>
          <a:xfrm>
            <a:off x="3348007" y="1909229"/>
            <a:ext cx="2572714" cy="400110"/>
          </a:xfrm>
          <a:prstGeom prst="rect">
            <a:avLst/>
          </a:prstGeom>
          <a:noFill/>
        </p:spPr>
        <p:txBody>
          <a:bodyPr wrap="square" rtlCol="0">
            <a:spAutoFit/>
          </a:bodyPr>
          <a:lstStyle/>
          <a:p>
            <a:pPr algn="ctr"/>
            <a:r>
              <a:rPr lang="en-US" sz="2000" b="1" i="1" dirty="0">
                <a:solidFill>
                  <a:schemeClr val="bg2"/>
                </a:solidFill>
                <a:latin typeface="Century Gothic" charset="0"/>
                <a:ea typeface="Century Gothic" charset="0"/>
                <a:cs typeface="Century Gothic" charset="0"/>
              </a:rPr>
              <a:t>EMNLP’17, SEM’18</a:t>
            </a:r>
          </a:p>
        </p:txBody>
      </p:sp>
      <p:sp>
        <p:nvSpPr>
          <p:cNvPr id="30" name="TextBox 29">
            <a:extLst>
              <a:ext uri="{FF2B5EF4-FFF2-40B4-BE49-F238E27FC236}">
                <a16:creationId xmlns="" xmlns:a16="http://schemas.microsoft.com/office/drawing/2014/main" id="{C7C5F252-B7A8-654D-B626-DAB47965C335}"/>
              </a:ext>
            </a:extLst>
          </p:cNvPr>
          <p:cNvSpPr txBox="1"/>
          <p:nvPr/>
        </p:nvSpPr>
        <p:spPr>
          <a:xfrm>
            <a:off x="1389733" y="3772497"/>
            <a:ext cx="2393525" cy="1015662"/>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NAACL’18</a:t>
            </a:r>
          </a:p>
          <a:p>
            <a:endParaRPr lang="en-US" sz="2000" b="1" i="1" dirty="0">
              <a:solidFill>
                <a:schemeClr val="bg2"/>
              </a:solidFill>
              <a:latin typeface="Century Gothic" charset="0"/>
              <a:ea typeface="Century Gothic" charset="0"/>
              <a:cs typeface="Century Gothic" charset="0"/>
            </a:endParaRPr>
          </a:p>
          <a:p>
            <a:r>
              <a:rPr lang="en-US" sz="2000" b="1" i="1" dirty="0">
                <a:solidFill>
                  <a:schemeClr val="bg2"/>
                </a:solidFill>
                <a:latin typeface="Century Gothic" charset="0"/>
                <a:ea typeface="Century Gothic" charset="0"/>
                <a:cs typeface="Century Gothic" charset="0"/>
              </a:rPr>
              <a:t>1 in submission</a:t>
            </a:r>
          </a:p>
        </p:txBody>
      </p:sp>
      <p:sp>
        <p:nvSpPr>
          <p:cNvPr id="31" name="TextBox 30">
            <a:extLst>
              <a:ext uri="{FF2B5EF4-FFF2-40B4-BE49-F238E27FC236}">
                <a16:creationId xmlns="" xmlns:a16="http://schemas.microsoft.com/office/drawing/2014/main" id="{152E3D12-708D-1045-A3D0-C2E3342C900B}"/>
              </a:ext>
            </a:extLst>
          </p:cNvPr>
          <p:cNvSpPr txBox="1"/>
          <p:nvPr/>
        </p:nvSpPr>
        <p:spPr>
          <a:xfrm>
            <a:off x="6032627" y="4208480"/>
            <a:ext cx="1630616" cy="400110"/>
          </a:xfrm>
          <a:prstGeom prst="rect">
            <a:avLst/>
          </a:prstGeom>
          <a:noFill/>
        </p:spPr>
        <p:txBody>
          <a:bodyPr wrap="square" rtlCol="0">
            <a:spAutoFit/>
          </a:bodyPr>
          <a:lstStyle/>
          <a:p>
            <a:r>
              <a:rPr lang="en-US" sz="2000" b="1" i="1" dirty="0">
                <a:solidFill>
                  <a:schemeClr val="bg2"/>
                </a:solidFill>
                <a:latin typeface="Century Gothic" charset="0"/>
                <a:ea typeface="Century Gothic" charset="0"/>
                <a:cs typeface="Century Gothic" charset="0"/>
              </a:rPr>
              <a:t>ACL’18 (b)</a:t>
            </a:r>
          </a:p>
        </p:txBody>
      </p:sp>
      <p:sp>
        <p:nvSpPr>
          <p:cNvPr id="32" name="TextBox 31">
            <a:extLst>
              <a:ext uri="{FF2B5EF4-FFF2-40B4-BE49-F238E27FC236}">
                <a16:creationId xmlns="" xmlns:a16="http://schemas.microsoft.com/office/drawing/2014/main" id="{1E37F1DA-F15A-5D4C-B81B-595B5E239EF6}"/>
              </a:ext>
            </a:extLst>
          </p:cNvPr>
          <p:cNvSpPr txBox="1"/>
          <p:nvPr/>
        </p:nvSpPr>
        <p:spPr>
          <a:xfrm>
            <a:off x="2881001" y="2779517"/>
            <a:ext cx="1376099"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ACL’18 (a)</a:t>
            </a:r>
          </a:p>
        </p:txBody>
      </p:sp>
      <p:sp>
        <p:nvSpPr>
          <p:cNvPr id="33" name="TextBox 32">
            <a:extLst>
              <a:ext uri="{FF2B5EF4-FFF2-40B4-BE49-F238E27FC236}">
                <a16:creationId xmlns="" xmlns:a16="http://schemas.microsoft.com/office/drawing/2014/main" id="{345EBA8D-5333-284F-87D6-30DD64D51E54}"/>
              </a:ext>
            </a:extLst>
          </p:cNvPr>
          <p:cNvSpPr txBox="1"/>
          <p:nvPr/>
        </p:nvSpPr>
        <p:spPr>
          <a:xfrm>
            <a:off x="5074088" y="2731002"/>
            <a:ext cx="1452191" cy="338554"/>
          </a:xfrm>
          <a:prstGeom prst="rect">
            <a:avLst/>
          </a:prstGeom>
          <a:noFill/>
        </p:spPr>
        <p:txBody>
          <a:bodyPr wrap="square" rtlCol="0">
            <a:spAutoFit/>
          </a:bodyPr>
          <a:lstStyle/>
          <a:p>
            <a:r>
              <a:rPr lang="en-US" sz="1600" b="1" i="1" dirty="0">
                <a:solidFill>
                  <a:schemeClr val="bg2"/>
                </a:solidFill>
                <a:latin typeface="Century Gothic" charset="0"/>
                <a:ea typeface="Century Gothic" charset="0"/>
                <a:cs typeface="Century Gothic" charset="0"/>
              </a:rPr>
              <a:t>NAACL’19</a:t>
            </a:r>
          </a:p>
        </p:txBody>
      </p:sp>
      <p:sp>
        <p:nvSpPr>
          <p:cNvPr id="34" name="TextBox 33">
            <a:extLst>
              <a:ext uri="{FF2B5EF4-FFF2-40B4-BE49-F238E27FC236}">
                <a16:creationId xmlns="" xmlns:a16="http://schemas.microsoft.com/office/drawing/2014/main" id="{783C3AE2-0F2B-5B43-81AE-4BE6C967A5D7}"/>
              </a:ext>
            </a:extLst>
          </p:cNvPr>
          <p:cNvSpPr txBox="1"/>
          <p:nvPr/>
        </p:nvSpPr>
        <p:spPr>
          <a:xfrm>
            <a:off x="4213802" y="3201284"/>
            <a:ext cx="1203677" cy="307777"/>
          </a:xfrm>
          <a:prstGeom prst="rect">
            <a:avLst/>
          </a:prstGeom>
          <a:noFill/>
        </p:spPr>
        <p:txBody>
          <a:bodyPr wrap="square" rtlCol="0">
            <a:spAutoFit/>
          </a:bodyPr>
          <a:lstStyle/>
          <a:p>
            <a:r>
              <a:rPr lang="en-US" sz="1400" b="1" i="1" dirty="0">
                <a:latin typeface="Century Gothic" charset="0"/>
                <a:ea typeface="Century Gothic" charset="0"/>
                <a:cs typeface="Century Gothic" charset="0"/>
              </a:rPr>
              <a:t>EMNLP’18</a:t>
            </a:r>
          </a:p>
        </p:txBody>
      </p:sp>
      <p:sp>
        <p:nvSpPr>
          <p:cNvPr id="35" name="TextBox 34">
            <a:extLst>
              <a:ext uri="{FF2B5EF4-FFF2-40B4-BE49-F238E27FC236}">
                <a16:creationId xmlns="" xmlns:a16="http://schemas.microsoft.com/office/drawing/2014/main" id="{FE6CE12C-489A-0B4F-AF45-26CE1E303C7B}"/>
              </a:ext>
            </a:extLst>
          </p:cNvPr>
          <p:cNvSpPr txBox="1"/>
          <p:nvPr/>
        </p:nvSpPr>
        <p:spPr>
          <a:xfrm>
            <a:off x="3909897" y="4357975"/>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36" name="TextBox 35">
            <a:extLst>
              <a:ext uri="{FF2B5EF4-FFF2-40B4-BE49-F238E27FC236}">
                <a16:creationId xmlns="" xmlns:a16="http://schemas.microsoft.com/office/drawing/2014/main" id="{2A7DC4AB-0C45-474F-8A64-101AF913BAFF}"/>
              </a:ext>
            </a:extLst>
          </p:cNvPr>
          <p:cNvSpPr txBox="1"/>
          <p:nvPr/>
        </p:nvSpPr>
        <p:spPr>
          <a:xfrm>
            <a:off x="3913034" y="3650651"/>
            <a:ext cx="1302711" cy="523220"/>
          </a:xfrm>
          <a:prstGeom prst="rect">
            <a:avLst/>
          </a:prstGeom>
          <a:noFill/>
        </p:spPr>
        <p:txBody>
          <a:bodyPr wrap="square" rtlCol="0">
            <a:spAutoFit/>
          </a:bodyPr>
          <a:lstStyle/>
          <a:p>
            <a:pPr algn="ctr"/>
            <a:r>
              <a:rPr lang="en-US" sz="1400" b="1" i="1" dirty="0">
                <a:latin typeface="Century Gothic" charset="0"/>
                <a:ea typeface="Century Gothic" charset="0"/>
                <a:cs typeface="Century Gothic" charset="0"/>
              </a:rPr>
              <a:t>1 in submission</a:t>
            </a:r>
          </a:p>
        </p:txBody>
      </p:sp>
      <p:sp>
        <p:nvSpPr>
          <p:cNvPr id="23" name="Title 1">
            <a:extLst>
              <a:ext uri="{FF2B5EF4-FFF2-40B4-BE49-F238E27FC236}">
                <a16:creationId xmlns="" xmlns:a16="http://schemas.microsoft.com/office/drawing/2014/main" id="{63F5CF74-EC52-8F47-BF01-DD87A4782945}"/>
              </a:ext>
            </a:extLst>
          </p:cNvPr>
          <p:cNvSpPr>
            <a:spLocks noGrp="1"/>
          </p:cNvSpPr>
          <p:nvPr>
            <p:ph type="title"/>
          </p:nvPr>
        </p:nvSpPr>
        <p:spPr>
          <a:xfrm>
            <a:off x="676274" y="228600"/>
            <a:ext cx="7772400" cy="533400"/>
          </a:xfrm>
        </p:spPr>
        <p:txBody>
          <a:bodyPr/>
          <a:lstStyle/>
          <a:p>
            <a:r>
              <a:rPr lang="en-US" dirty="0"/>
              <a:t>Recap</a:t>
            </a:r>
          </a:p>
        </p:txBody>
      </p:sp>
    </p:spTree>
    <p:extLst>
      <p:ext uri="{BB962C8B-B14F-4D97-AF65-F5344CB8AC3E}">
        <p14:creationId xmlns:p14="http://schemas.microsoft.com/office/powerpoint/2010/main" val="78728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1000"/>
                                        <p:tgtEl>
                                          <p:spTgt spid="32"/>
                                        </p:tgtEl>
                                      </p:cBhvr>
                                    </p:animEffect>
                                    <p:anim calcmode="lin" valueType="num">
                                      <p:cBhvr>
                                        <p:cTn id="23" dur="1000" fill="hold"/>
                                        <p:tgtEl>
                                          <p:spTgt spid="32"/>
                                        </p:tgtEl>
                                        <p:attrNameLst>
                                          <p:attrName>ppt_x</p:attrName>
                                        </p:attrNameLst>
                                      </p:cBhvr>
                                      <p:tavLst>
                                        <p:tav tm="0">
                                          <p:val>
                                            <p:strVal val="#ppt_x"/>
                                          </p:val>
                                        </p:tav>
                                        <p:tav tm="100000">
                                          <p:val>
                                            <p:strVal val="#ppt_x"/>
                                          </p:val>
                                        </p:tav>
                                      </p:tavLst>
                                    </p:anim>
                                    <p:anim calcmode="lin" valueType="num">
                                      <p:cBhvr>
                                        <p:cTn id="24" dur="1000" fill="hold"/>
                                        <p:tgtEl>
                                          <p:spTgt spid="32"/>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1000"/>
                                        <p:tgtEl>
                                          <p:spTgt spid="33"/>
                                        </p:tgtEl>
                                      </p:cBhvr>
                                    </p:animEffect>
                                    <p:anim calcmode="lin" valueType="num">
                                      <p:cBhvr>
                                        <p:cTn id="28" dur="1000" fill="hold"/>
                                        <p:tgtEl>
                                          <p:spTgt spid="33"/>
                                        </p:tgtEl>
                                        <p:attrNameLst>
                                          <p:attrName>ppt_x</p:attrName>
                                        </p:attrNameLst>
                                      </p:cBhvr>
                                      <p:tavLst>
                                        <p:tav tm="0">
                                          <p:val>
                                            <p:strVal val="#ppt_x"/>
                                          </p:val>
                                        </p:tav>
                                        <p:tav tm="100000">
                                          <p:val>
                                            <p:strVal val="#ppt_x"/>
                                          </p:val>
                                        </p:tav>
                                      </p:tavLst>
                                    </p:anim>
                                    <p:anim calcmode="lin" valueType="num">
                                      <p:cBhvr>
                                        <p:cTn id="29" dur="1000" fill="hold"/>
                                        <p:tgtEl>
                                          <p:spTgt spid="3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1000"/>
                                        <p:tgtEl>
                                          <p:spTgt spid="35"/>
                                        </p:tgtEl>
                                      </p:cBhvr>
                                    </p:animEffect>
                                    <p:anim calcmode="lin" valueType="num">
                                      <p:cBhvr>
                                        <p:cTn id="33" dur="1000" fill="hold"/>
                                        <p:tgtEl>
                                          <p:spTgt spid="35"/>
                                        </p:tgtEl>
                                        <p:attrNameLst>
                                          <p:attrName>ppt_x</p:attrName>
                                        </p:attrNameLst>
                                      </p:cBhvr>
                                      <p:tavLst>
                                        <p:tav tm="0">
                                          <p:val>
                                            <p:strVal val="#ppt_x"/>
                                          </p:val>
                                        </p:tav>
                                        <p:tav tm="100000">
                                          <p:val>
                                            <p:strVal val="#ppt_x"/>
                                          </p:val>
                                        </p:tav>
                                      </p:tavLst>
                                    </p:anim>
                                    <p:anim calcmode="lin" valueType="num">
                                      <p:cBhvr>
                                        <p:cTn id="34" dur="1000" fill="hold"/>
                                        <p:tgtEl>
                                          <p:spTgt spid="3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1000"/>
                                        <p:tgtEl>
                                          <p:spTgt spid="34"/>
                                        </p:tgtEl>
                                      </p:cBhvr>
                                    </p:animEffect>
                                    <p:anim calcmode="lin" valueType="num">
                                      <p:cBhvr>
                                        <p:cTn id="43" dur="1000" fill="hold"/>
                                        <p:tgtEl>
                                          <p:spTgt spid="34"/>
                                        </p:tgtEl>
                                        <p:attrNameLst>
                                          <p:attrName>ppt_x</p:attrName>
                                        </p:attrNameLst>
                                      </p:cBhvr>
                                      <p:tavLst>
                                        <p:tav tm="0">
                                          <p:val>
                                            <p:strVal val="#ppt_x"/>
                                          </p:val>
                                        </p:tav>
                                        <p:tav tm="100000">
                                          <p:val>
                                            <p:strVal val="#ppt_x"/>
                                          </p:val>
                                        </p:tav>
                                      </p:tavLst>
                                    </p:anim>
                                    <p:anim calcmode="lin" valueType="num">
                                      <p:cBhvr>
                                        <p:cTn id="44"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2" grpId="0"/>
      <p:bldP spid="33" grpId="0"/>
      <p:bldP spid="34" grpId="0"/>
      <p:bldP spid="35" grpId="0"/>
      <p:bldP spid="36" grpId="0"/>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564973" y="946943"/>
                <a:ext cx="8071027" cy="5372448"/>
              </a:xfrm>
              <a:ln>
                <a:noFill/>
              </a:ln>
            </p:spPr>
            <p:txBody>
              <a:bodyPr/>
              <a:lstStyle/>
              <a:p>
                <a:pPr marL="0" indent="0" algn="ctr">
                  <a:buNone/>
                </a:pPr>
                <a:r>
                  <a:rPr lang="en-US" sz="2400" b="1" i="1" dirty="0"/>
                  <a:t>How to calculate </a:t>
                </a:r>
                <a14:m>
                  <m:oMath xmlns:m="http://schemas.openxmlformats.org/officeDocument/2006/math">
                    <m:sSub>
                      <m:sSubPr>
                        <m:ctrlPr>
                          <a:rPr lang="en-US" sz="2400" b="1" i="1">
                            <a:solidFill>
                              <a:schemeClr val="bg2"/>
                            </a:solidFill>
                            <a:latin typeface="Cambria Math" charset="0"/>
                          </a:rPr>
                        </m:ctrlPr>
                      </m:sSubPr>
                      <m:e>
                        <m:r>
                          <a:rPr lang="en-US" sz="2400" b="1" i="1">
                            <a:solidFill>
                              <a:schemeClr val="bg2"/>
                            </a:solidFill>
                            <a:latin typeface="Cambria Math" charset="0"/>
                          </a:rPr>
                          <m:t>𝑰</m:t>
                        </m:r>
                      </m:e>
                      <m:sub>
                        <m:r>
                          <a:rPr lang="en-US" sz="2400" b="1" i="1">
                            <a:solidFill>
                              <a:schemeClr val="bg2"/>
                            </a:solidFill>
                            <a:latin typeface="Cambria Math" charset="0"/>
                          </a:rPr>
                          <m:t>𝒌</m:t>
                        </m:r>
                      </m:sub>
                    </m:sSub>
                  </m:oMath>
                </a14:m>
                <a:r>
                  <a:rPr lang="en-US" sz="2400" b="1" i="1" dirty="0"/>
                  <a:t> </a:t>
                </a:r>
                <a:r>
                  <a:rPr lang="en-US" altLang="zh-CN" sz="2400" b="1" i="1" dirty="0" smtClean="0"/>
                  <a:t>for </a:t>
                </a:r>
                <a:r>
                  <a:rPr lang="en-US" sz="2400" b="1" i="1" dirty="0" smtClean="0"/>
                  <a:t>different </a:t>
                </a:r>
                <a:r>
                  <a:rPr lang="en-US" sz="2400" b="1" i="1" dirty="0"/>
                  <a:t>structures</a:t>
                </a:r>
              </a:p>
              <a:p>
                <a:pPr marL="0" indent="0">
                  <a:buNone/>
                </a:pPr>
                <a:endParaRPr lang="en-US" sz="2400" b="1" dirty="0"/>
              </a:p>
              <a:p>
                <a:pPr marL="0" indent="0">
                  <a:buNone/>
                </a:pPr>
                <a:r>
                  <a:rPr lang="en-US" sz="2400" b="1" dirty="0"/>
                  <a:t>Chain structure:</a:t>
                </a:r>
                <a:r>
                  <a:rPr lang="en-US" sz="2400" dirty="0"/>
                  <a:t> </a:t>
                </a:r>
                <a:r>
                  <a:rPr lang="en-US" sz="2000" dirty="0">
                    <a:solidFill>
                      <a:schemeClr val="bg2"/>
                    </a:solidFill>
                  </a:rPr>
                  <a:t>e.g., ranking problems</a:t>
                </a:r>
                <a:endParaRPr lang="en-US" sz="2000" i="1" dirty="0">
                  <a:solidFill>
                    <a:schemeClr val="bg2"/>
                  </a:solidFill>
                </a:endParaRPr>
              </a:p>
              <a:p>
                <a:pPr lvl="1"/>
                <a:r>
                  <a:rPr lang="en-US" sz="2000" dirty="0"/>
                  <a:t>Structure: Linear chain with a transitivity constraint</a:t>
                </a:r>
              </a:p>
              <a:p>
                <a:pPr lvl="1"/>
                <a14:m>
                  <m:oMath xmlns:m="http://schemas.openxmlformats.org/officeDocument/2006/math">
                    <m:r>
                      <a:rPr lang="en-US" sz="2000" b="0" i="1" smtClean="0">
                        <a:solidFill>
                          <a:schemeClr val="bg2">
                            <a:lumMod val="75000"/>
                            <a:lumOff val="25000"/>
                          </a:schemeClr>
                        </a:solidFill>
                        <a:latin typeface="Cambria Math" charset="0"/>
                      </a:rPr>
                      <m:t>|</m:t>
                    </m:r>
                    <m:r>
                      <a:rPr lang="en-US" sz="2000" b="0" i="1" smtClean="0">
                        <a:solidFill>
                          <a:schemeClr val="bg2">
                            <a:lumMod val="75000"/>
                            <a:lumOff val="25000"/>
                          </a:schemeClr>
                        </a:solidFill>
                        <a:latin typeface="Cambria Math" charset="0"/>
                      </a:rPr>
                      <m:t>𝐶</m:t>
                    </m:r>
                    <m:r>
                      <a:rPr lang="en-US" sz="2000" b="0" i="1" smtClean="0">
                        <a:solidFill>
                          <a:schemeClr val="bg2">
                            <a:lumMod val="75000"/>
                            <a:lumOff val="25000"/>
                          </a:schemeClr>
                        </a:solidFill>
                        <a:latin typeface="Cambria Math" charset="0"/>
                      </a:rPr>
                      <m:t>(</m:t>
                    </m:r>
                    <m:sSup>
                      <m:sSupPr>
                        <m:ctrlPr>
                          <a:rPr lang="en-US" sz="2000" i="1">
                            <a:solidFill>
                              <a:schemeClr val="bg2">
                                <a:lumMod val="75000"/>
                                <a:lumOff val="25000"/>
                              </a:schemeClr>
                            </a:solidFill>
                            <a:latin typeface="Cambria Math" charset="0"/>
                          </a:rPr>
                        </m:ctrlPr>
                      </m:sSupPr>
                      <m:e>
                        <m:r>
                          <a:rPr lang="en-US" sz="2000" b="0" i="1">
                            <a:solidFill>
                              <a:schemeClr val="bg2">
                                <a:lumMod val="75000"/>
                                <a:lumOff val="25000"/>
                              </a:schemeClr>
                            </a:solidFill>
                            <a:latin typeface="Cambria Math" charset="0"/>
                          </a:rPr>
                          <m:t>ℒ</m:t>
                        </m:r>
                      </m:e>
                      <m:sup>
                        <m:r>
                          <a:rPr lang="en-US" sz="2000" b="0" i="1">
                            <a:solidFill>
                              <a:schemeClr val="bg2">
                                <a:lumMod val="75000"/>
                                <a:lumOff val="25000"/>
                              </a:schemeClr>
                            </a:solidFill>
                            <a:latin typeface="Cambria Math" charset="0"/>
                          </a:rPr>
                          <m:t>𝑑</m:t>
                        </m:r>
                      </m:sup>
                    </m:sSup>
                    <m:r>
                      <a:rPr lang="en-US" sz="2000" b="0" i="1">
                        <a:solidFill>
                          <a:schemeClr val="bg2">
                            <a:lumMod val="75000"/>
                            <a:lumOff val="25000"/>
                          </a:schemeClr>
                        </a:solidFill>
                        <a:latin typeface="Cambria Math" charset="0"/>
                      </a:rPr>
                      <m:t>)|</m:t>
                    </m:r>
                  </m:oMath>
                </a14:m>
                <a:r>
                  <a:rPr lang="en-US" sz="2000" dirty="0">
                    <a:solidFill>
                      <a:schemeClr val="bg2">
                        <a:lumMod val="75000"/>
                        <a:lumOff val="25000"/>
                      </a:schemeClr>
                    </a:solidFill>
                  </a:rPr>
                  <a:t> </a:t>
                </a:r>
                <a:r>
                  <a:rPr lang="en-US" sz="2000" dirty="0"/>
                  <a:t>= # permutations of 4 nodes = 24</a:t>
                </a:r>
              </a:p>
              <a:p>
                <a:pPr lvl="1"/>
                <a14:m>
                  <m:oMath xmlns:m="http://schemas.openxmlformats.org/officeDocument/2006/math">
                    <m:sSub>
                      <m:sSubPr>
                        <m:ctrlPr>
                          <a:rPr lang="en-US" sz="2000" i="1" smtClean="0">
                            <a:solidFill>
                              <a:schemeClr val="bg2">
                                <a:lumMod val="75000"/>
                                <a:lumOff val="25000"/>
                              </a:schemeClr>
                            </a:solidFill>
                            <a:latin typeface="Cambria Math" charset="0"/>
                          </a:rPr>
                        </m:ctrlPr>
                      </m:sSubPr>
                      <m:e>
                        <m:r>
                          <a:rPr lang="en-US" sz="2000" b="0" i="1">
                            <a:solidFill>
                              <a:schemeClr val="bg2">
                                <a:lumMod val="75000"/>
                                <a:lumOff val="25000"/>
                              </a:schemeClr>
                            </a:solidFill>
                            <a:latin typeface="Cambria Math" charset="0"/>
                          </a:rPr>
                          <m:t>𝑓</m:t>
                        </m:r>
                      </m:e>
                      <m:sub>
                        <m:r>
                          <a:rPr lang="en-US" sz="2000" b="0" i="1" smtClean="0">
                            <a:solidFill>
                              <a:schemeClr val="bg2">
                                <a:lumMod val="75000"/>
                                <a:lumOff val="25000"/>
                              </a:schemeClr>
                            </a:solidFill>
                            <a:latin typeface="Cambria Math" panose="02040503050406030204" pitchFamily="18" charset="0"/>
                          </a:rPr>
                          <m:t>4</m:t>
                        </m:r>
                      </m:sub>
                    </m:sSub>
                    <m:r>
                      <a:rPr lang="en-US" sz="2000" b="0" i="1" smtClean="0">
                        <a:solidFill>
                          <a:schemeClr val="bg2">
                            <a:lumMod val="75000"/>
                            <a:lumOff val="25000"/>
                          </a:schemeClr>
                        </a:solidFill>
                        <a:latin typeface="Cambria Math" panose="02040503050406030204" pitchFamily="18" charset="0"/>
                      </a:rPr>
                      <m:t>=2</m:t>
                    </m:r>
                  </m:oMath>
                </a14:m>
                <a:endParaRPr lang="en-US" sz="2000" dirty="0">
                  <a:solidFill>
                    <a:schemeClr val="bg2">
                      <a:lumMod val="75000"/>
                      <a:lumOff val="25000"/>
                    </a:schemeClr>
                  </a:solidFill>
                </a:endParaRPr>
              </a:p>
              <a:p>
                <a:pPr lvl="1"/>
                <a:r>
                  <a:rPr lang="en-US" sz="2000" dirty="0"/>
                  <a:t>Generally, </a:t>
                </a:r>
                <a14:m>
                  <m:oMath xmlns:m="http://schemas.openxmlformats.org/officeDocument/2006/math">
                    <m:sSub>
                      <m:sSubPr>
                        <m:ctrlPr>
                          <a:rPr lang="en-US" sz="2000" i="1">
                            <a:latin typeface="Cambria Math" charset="0"/>
                          </a:rPr>
                        </m:ctrlPr>
                      </m:sSubPr>
                      <m:e>
                        <m:r>
                          <a:rPr lang="en-US" sz="2000" b="0" i="1" smtClean="0">
                            <a:latin typeface="Cambria Math" panose="02040503050406030204" pitchFamily="18" charset="0"/>
                          </a:rPr>
                          <m:t>𝑓</m:t>
                        </m:r>
                      </m:e>
                      <m:sub>
                        <m:r>
                          <a:rPr lang="en-US" sz="2000" i="1">
                            <a:latin typeface="Cambria Math" charset="0"/>
                          </a:rPr>
                          <m:t>𝑘</m:t>
                        </m:r>
                      </m:sub>
                    </m:sSub>
                  </m:oMath>
                </a14:m>
                <a:r>
                  <a:rPr lang="en-US" sz="2000" dirty="0"/>
                  <a:t> is # of linear extensions of these partial orders and has no closed form solution</a:t>
                </a:r>
                <a:endParaRPr lang="en-US" b="1" dirty="0"/>
              </a:p>
              <a:p>
                <a:endParaRPr lang="en-US" sz="2400" b="1" i="1"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564973" y="946943"/>
                <a:ext cx="8071027" cy="5372448"/>
              </a:xfrm>
              <a:blipFill rotWithShape="0">
                <a:blip r:embed="rId3"/>
                <a:stretch>
                  <a:fillRect l="-1208" t="-907"/>
                </a:stretch>
              </a:blipFill>
              <a:ln>
                <a:noFill/>
              </a:ln>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C771EAF9-8305-4D0D-A05B-2F2C3142C10A}"/>
              </a:ext>
            </a:extLst>
          </p:cNvPr>
          <p:cNvSpPr>
            <a:spLocks noGrp="1"/>
          </p:cNvSpPr>
          <p:nvPr>
            <p:ph type="sldNum" sz="quarter" idx="11"/>
          </p:nvPr>
        </p:nvSpPr>
        <p:spPr bwMode="auto">
          <a:xfrm>
            <a:off x="8636000" y="6524625"/>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105</a:t>
            </a:fld>
            <a:endParaRPr lang="en-US"/>
          </a:p>
        </p:txBody>
      </p:sp>
      <p:sp>
        <p:nvSpPr>
          <p:cNvPr id="34" name="TextBox 33">
            <a:extLst>
              <a:ext uri="{FF2B5EF4-FFF2-40B4-BE49-F238E27FC236}">
                <a16:creationId xmlns="" xmlns:a16="http://schemas.microsoft.com/office/drawing/2014/main" id="{7F6DC42A-9B76-1E49-B64D-BC8BACCC8436}"/>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Supervision from partial structures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 xmlns:a16="http://schemas.microsoft.com/office/drawing/2014/main" id="{3E54E99D-653C-5A4F-B2C5-3967B3ACB031}"/>
                  </a:ext>
                </a:extLst>
              </p:cNvPr>
              <p:cNvSpPr txBox="1"/>
              <p:nvPr/>
            </p:nvSpPr>
            <p:spPr>
              <a:xfrm>
                <a:off x="4411418" y="248287"/>
                <a:ext cx="4523418" cy="400110"/>
              </a:xfrm>
              <a:prstGeom prst="rect">
                <a:avLst/>
              </a:prstGeom>
              <a:noFill/>
            </p:spPr>
            <p:txBody>
              <a:bodyPr wrap="none" rtlCol="0">
                <a:spAutoFit/>
              </a:bodyPr>
              <a:lstStyle/>
              <a:p>
                <a14:m>
                  <m:oMath xmlns:m="http://schemas.openxmlformats.org/officeDocument/2006/math">
                    <m:sSub>
                      <m:sSubPr>
                        <m:ctrlPr>
                          <a:rPr lang="en-US" sz="2000" b="1" i="1" smtClean="0">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oMath>
                </a14:m>
                <a:r>
                  <a:rPr lang="en-US" sz="2000" b="1" dirty="0">
                    <a:solidFill>
                      <a:schemeClr val="bg2"/>
                    </a:solidFill>
                  </a:rPr>
                  <a:t> be the size of the feasible subset</a:t>
                </a:r>
              </a:p>
            </p:txBody>
          </p:sp>
        </mc:Choice>
        <mc:Fallback xmlns="">
          <p:sp>
            <p:nvSpPr>
              <p:cNvPr id="37" name="TextBox 36">
                <a:extLst>
                  <a:ext uri="{FF2B5EF4-FFF2-40B4-BE49-F238E27FC236}">
                    <a16:creationId xmlns:a16="http://schemas.microsoft.com/office/drawing/2014/main" id="{3E54E99D-653C-5A4F-B2C5-3967B3ACB031}"/>
                  </a:ext>
                </a:extLst>
              </p:cNvPr>
              <p:cNvSpPr txBox="1">
                <a:spLocks noRot="1" noChangeAspect="1" noMove="1" noResize="1" noEditPoints="1" noAdjustHandles="1" noChangeArrowheads="1" noChangeShapeType="1" noTextEdit="1"/>
              </p:cNvSpPr>
              <p:nvPr/>
            </p:nvSpPr>
            <p:spPr>
              <a:xfrm>
                <a:off x="4411418" y="248287"/>
                <a:ext cx="4523418" cy="400110"/>
              </a:xfrm>
              <a:prstGeom prst="rect">
                <a:avLst/>
              </a:prstGeom>
              <a:blipFill>
                <a:blip r:embed="rId4"/>
                <a:stretch>
                  <a:fillRect l="-279" t="-9375" r="-279"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2BF25D28-0882-3E4C-9A43-3E7FD700838F}"/>
                  </a:ext>
                </a:extLst>
              </p:cNvPr>
              <p:cNvSpPr txBox="1"/>
              <p:nvPr/>
            </p:nvSpPr>
            <p:spPr>
              <a:xfrm>
                <a:off x="564973" y="236233"/>
                <a:ext cx="3405548" cy="4121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solidFill>
                                <a:schemeClr val="bg2"/>
                              </a:solidFill>
                              <a:latin typeface="Cambria Math" charset="0"/>
                            </a:rPr>
                          </m:ctrlPr>
                        </m:sSubPr>
                        <m:e>
                          <m:r>
                            <a:rPr lang="en-US" sz="2000" b="1" i="1">
                              <a:solidFill>
                                <a:schemeClr val="bg2"/>
                              </a:solidFill>
                              <a:latin typeface="Cambria Math" charset="0"/>
                            </a:rPr>
                            <m:t>𝑰</m:t>
                          </m:r>
                        </m:e>
                        <m:sub>
                          <m:r>
                            <a:rPr lang="en-US" sz="2000" b="1" i="1">
                              <a:solidFill>
                                <a:schemeClr val="bg2"/>
                              </a:solidFill>
                              <a:latin typeface="Cambria Math" charset="0"/>
                            </a:rPr>
                            <m:t>𝒌</m:t>
                          </m:r>
                        </m:sub>
                      </m:sSub>
                      <m:r>
                        <a:rPr lang="en-US" sz="2000" b="1" i="1">
                          <a:solidFill>
                            <a:schemeClr val="bg2"/>
                          </a:solidFill>
                          <a:latin typeface="Cambria Math" charset="0"/>
                          <a:ea typeface="Cambria Math" charset="0"/>
                          <a:cs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r>
                            <a:rPr lang="en-US" sz="2000" b="1" i="1">
                              <a:solidFill>
                                <a:schemeClr val="bg2"/>
                              </a:solidFill>
                              <a:latin typeface="Cambria Math" charset="0"/>
                            </a:rPr>
                            <m:t>|</m:t>
                          </m:r>
                          <m:r>
                            <a:rPr lang="en-US" sz="2000" b="1" i="1">
                              <a:solidFill>
                                <a:schemeClr val="bg2"/>
                              </a:solidFill>
                              <a:latin typeface="Cambria Math" charset="0"/>
                            </a:rPr>
                            <m:t>𝑪</m:t>
                          </m:r>
                          <m:r>
                            <a:rPr lang="en-US" sz="2000" b="1" i="1">
                              <a:solidFill>
                                <a:schemeClr val="bg2"/>
                              </a:solidFill>
                              <a:latin typeface="Cambria Math" charset="0"/>
                            </a:rPr>
                            <m:t>(</m:t>
                          </m:r>
                          <m:sSup>
                            <m:sSupPr>
                              <m:ctrlPr>
                                <a:rPr lang="en-US" sz="2000" b="1" i="1">
                                  <a:solidFill>
                                    <a:schemeClr val="bg2"/>
                                  </a:solidFill>
                                  <a:latin typeface="Cambria Math" charset="0"/>
                                </a:rPr>
                              </m:ctrlPr>
                            </m:sSupPr>
                            <m:e>
                              <m:r>
                                <a:rPr lang="en-US" sz="2000" b="1" i="1">
                                  <a:solidFill>
                                    <a:schemeClr val="bg2"/>
                                  </a:solidFill>
                                  <a:latin typeface="Cambria Math" charset="0"/>
                                </a:rPr>
                                <m:t>𝓛</m:t>
                              </m:r>
                            </m:e>
                            <m:sup>
                              <m:r>
                                <a:rPr lang="en-US" sz="2000" b="1" i="1">
                                  <a:solidFill>
                                    <a:schemeClr val="bg2"/>
                                  </a:solidFill>
                                  <a:latin typeface="Cambria Math" charset="0"/>
                                </a:rPr>
                                <m:t>𝒅</m:t>
                              </m:r>
                            </m:sup>
                          </m:sSup>
                          <m:r>
                            <a:rPr lang="en-US" sz="2000" b="1" i="1">
                              <a:solidFill>
                                <a:schemeClr val="bg2"/>
                              </a:solidFill>
                              <a:latin typeface="Cambria Math" charset="0"/>
                            </a:rPr>
                            <m:t>)|</m:t>
                          </m:r>
                        </m:e>
                      </m:func>
                      <m:r>
                        <a:rPr lang="en-US" sz="2000" b="1" i="1">
                          <a:solidFill>
                            <a:schemeClr val="bg2"/>
                          </a:solidFill>
                          <a:latin typeface="Cambria Math" charset="0"/>
                        </a:rPr>
                        <m:t>−</m:t>
                      </m:r>
                      <m:r>
                        <a:rPr lang="en-US" sz="2000" b="1" i="1">
                          <a:solidFill>
                            <a:schemeClr val="bg2"/>
                          </a:solidFill>
                          <a:latin typeface="Cambria Math" charset="0"/>
                        </a:rPr>
                        <m:t>𝑬</m:t>
                      </m:r>
                      <m:r>
                        <a:rPr lang="en-US" sz="2000" b="1" i="1">
                          <a:solidFill>
                            <a:schemeClr val="bg2"/>
                          </a:solidFill>
                          <a:latin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sSub>
                            <m:sSubPr>
                              <m:ctrlPr>
                                <a:rPr lang="en-US" sz="2000" b="1" i="1">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e>
                      </m:func>
                      <m:r>
                        <a:rPr lang="en-US" sz="2000" b="1" i="1">
                          <a:solidFill>
                            <a:schemeClr val="bg2"/>
                          </a:solidFill>
                          <a:latin typeface="Cambria Math" charset="0"/>
                        </a:rPr>
                        <m:t>]</m:t>
                      </m:r>
                    </m:oMath>
                  </m:oMathPara>
                </a14:m>
                <a:endParaRPr lang="en-US" sz="2000" dirty="0"/>
              </a:p>
            </p:txBody>
          </p:sp>
        </mc:Choice>
        <mc:Fallback xmlns="">
          <p:sp>
            <p:nvSpPr>
              <p:cNvPr id="39" name="TextBox 38">
                <a:extLst>
                  <a:ext uri="{FF2B5EF4-FFF2-40B4-BE49-F238E27FC236}">
                    <a16:creationId xmlns:a16="http://schemas.microsoft.com/office/drawing/2014/main" id="{2BF25D28-0882-3E4C-9A43-3E7FD700838F}"/>
                  </a:ext>
                </a:extLst>
              </p:cNvPr>
              <p:cNvSpPr txBox="1">
                <a:spLocks noRot="1" noChangeAspect="1" noMove="1" noResize="1" noEditPoints="1" noAdjustHandles="1" noChangeArrowheads="1" noChangeShapeType="1" noTextEdit="1"/>
              </p:cNvSpPr>
              <p:nvPr/>
            </p:nvSpPr>
            <p:spPr>
              <a:xfrm>
                <a:off x="564973" y="236233"/>
                <a:ext cx="3405548" cy="412164"/>
              </a:xfrm>
              <a:prstGeom prst="rect">
                <a:avLst/>
              </a:prstGeom>
              <a:blipFill>
                <a:blip r:embed="rId5"/>
                <a:stretch>
                  <a:fillRect b="-12121"/>
                </a:stretch>
              </a:blipFill>
            </p:spPr>
            <p:txBody>
              <a:bodyPr/>
              <a:lstStyle/>
              <a:p>
                <a:r>
                  <a:rPr lang="en-US">
                    <a:noFill/>
                  </a:rPr>
                  <a:t> </a:t>
                </a:r>
              </a:p>
            </p:txBody>
          </p:sp>
        </mc:Fallback>
      </mc:AlternateContent>
      <p:cxnSp>
        <p:nvCxnSpPr>
          <p:cNvPr id="38" name="Straight Arrow Connector 37">
            <a:extLst>
              <a:ext uri="{FF2B5EF4-FFF2-40B4-BE49-F238E27FC236}">
                <a16:creationId xmlns="" xmlns:a16="http://schemas.microsoft.com/office/drawing/2014/main" id="{EDA6937A-78B8-2C41-B1FA-EB43FCF3B09D}"/>
              </a:ext>
            </a:extLst>
          </p:cNvPr>
          <p:cNvCxnSpPr>
            <a:stCxn id="39" idx="3"/>
            <a:endCxn id="37" idx="1"/>
          </p:cNvCxnSpPr>
          <p:nvPr/>
        </p:nvCxnSpPr>
        <p:spPr>
          <a:xfrm>
            <a:off x="3970521" y="442315"/>
            <a:ext cx="440897" cy="6027"/>
          </a:xfrm>
          <a:prstGeom prst="straightConnector1">
            <a:avLst/>
          </a:prstGeom>
          <a:ln w="38100">
            <a:solidFill>
              <a:schemeClr val="tx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 xmlns:a16="http://schemas.microsoft.com/office/drawing/2014/main" id="{13580A41-5D3F-9B4A-A3A2-1BA92D356B46}"/>
              </a:ext>
            </a:extLst>
          </p:cNvPr>
          <p:cNvGrpSpPr/>
          <p:nvPr/>
        </p:nvGrpSpPr>
        <p:grpSpPr>
          <a:xfrm>
            <a:off x="1994558" y="4156456"/>
            <a:ext cx="5154883" cy="2281414"/>
            <a:chOff x="1237638" y="3667414"/>
            <a:chExt cx="5992172" cy="2651976"/>
          </a:xfrm>
        </p:grpSpPr>
        <p:grpSp>
          <p:nvGrpSpPr>
            <p:cNvPr id="64" name="Group 63">
              <a:extLst>
                <a:ext uri="{FF2B5EF4-FFF2-40B4-BE49-F238E27FC236}">
                  <a16:creationId xmlns="" xmlns:a16="http://schemas.microsoft.com/office/drawing/2014/main" id="{0B58FBB2-EDA0-4F42-BC52-C9620B44AB98}"/>
                </a:ext>
              </a:extLst>
            </p:cNvPr>
            <p:cNvGrpSpPr/>
            <p:nvPr/>
          </p:nvGrpSpPr>
          <p:grpSpPr>
            <a:xfrm>
              <a:off x="2267747" y="3667414"/>
              <a:ext cx="2589480" cy="2651976"/>
              <a:chOff x="3116678" y="3433823"/>
              <a:chExt cx="2589480" cy="2651976"/>
            </a:xfrm>
          </p:grpSpPr>
          <p:sp>
            <p:nvSpPr>
              <p:cNvPr id="43" name="Oval 42">
                <a:extLst>
                  <a:ext uri="{FF2B5EF4-FFF2-40B4-BE49-F238E27FC236}">
                    <a16:creationId xmlns="" xmlns:a16="http://schemas.microsoft.com/office/drawing/2014/main" id="{495AFAE1-18F1-EC4C-90A9-1362BE599E27}"/>
                  </a:ext>
                </a:extLst>
              </p:cNvPr>
              <p:cNvSpPr/>
              <p:nvPr/>
            </p:nvSpPr>
            <p:spPr>
              <a:xfrm>
                <a:off x="4171651" y="3433823"/>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solidFill>
                      <a:srgbClr val="FFFFFF"/>
                    </a:solidFill>
                    <a:latin typeface="Century Gothic" panose="020B0502020202020204" pitchFamily="34" charset="0"/>
                  </a:rPr>
                  <a:t>1</a:t>
                </a:r>
              </a:p>
            </p:txBody>
          </p:sp>
          <p:sp>
            <p:nvSpPr>
              <p:cNvPr id="44" name="Oval 43">
                <a:extLst>
                  <a:ext uri="{FF2B5EF4-FFF2-40B4-BE49-F238E27FC236}">
                    <a16:creationId xmlns="" xmlns:a16="http://schemas.microsoft.com/office/drawing/2014/main" id="{C0B62F5D-604E-DA4B-AA6E-6B1344314EED}"/>
                  </a:ext>
                </a:extLst>
              </p:cNvPr>
              <p:cNvSpPr/>
              <p:nvPr/>
            </p:nvSpPr>
            <p:spPr>
              <a:xfrm>
                <a:off x="3116678"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solidFill>
                      <a:srgbClr val="FFFFFF"/>
                    </a:solidFill>
                    <a:latin typeface="Century Gothic" panose="020B0502020202020204" pitchFamily="34" charset="0"/>
                  </a:rPr>
                  <a:t>2</a:t>
                </a:r>
              </a:p>
            </p:txBody>
          </p:sp>
          <p:sp>
            <p:nvSpPr>
              <p:cNvPr id="45" name="Oval 44">
                <a:extLst>
                  <a:ext uri="{FF2B5EF4-FFF2-40B4-BE49-F238E27FC236}">
                    <a16:creationId xmlns="" xmlns:a16="http://schemas.microsoft.com/office/drawing/2014/main" id="{D8CD52FE-F062-3B4D-BEC7-269586F8B300}"/>
                  </a:ext>
                </a:extLst>
              </p:cNvPr>
              <p:cNvSpPr/>
              <p:nvPr/>
            </p:nvSpPr>
            <p:spPr>
              <a:xfrm>
                <a:off x="5226624" y="4560726"/>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solidFill>
                      <a:srgbClr val="FFFFFF"/>
                    </a:solidFill>
                    <a:latin typeface="Century Gothic" panose="020B0502020202020204" pitchFamily="34" charset="0"/>
                  </a:rPr>
                  <a:t>3</a:t>
                </a:r>
              </a:p>
            </p:txBody>
          </p:sp>
          <p:sp>
            <p:nvSpPr>
              <p:cNvPr id="47" name="Oval 46">
                <a:extLst>
                  <a:ext uri="{FF2B5EF4-FFF2-40B4-BE49-F238E27FC236}">
                    <a16:creationId xmlns="" xmlns:a16="http://schemas.microsoft.com/office/drawing/2014/main" id="{87F216B9-501E-3049-A620-6D6160D635E7}"/>
                  </a:ext>
                </a:extLst>
              </p:cNvPr>
              <p:cNvSpPr/>
              <p:nvPr/>
            </p:nvSpPr>
            <p:spPr>
              <a:xfrm>
                <a:off x="4171651" y="5606265"/>
                <a:ext cx="479534" cy="479534"/>
              </a:xfrm>
              <a:prstGeom prst="ellipse">
                <a:avLst/>
              </a:prstGeom>
              <a:solidFill>
                <a:srgbClr val="C17A90"/>
              </a:solidFill>
              <a:ln w="38100">
                <a:solidFill>
                  <a:srgbClr val="C17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en-US" dirty="0">
                    <a:solidFill>
                      <a:srgbClr val="FFFFFF"/>
                    </a:solidFill>
                    <a:latin typeface="Century Gothic" panose="020B0502020202020204" pitchFamily="34" charset="0"/>
                  </a:rPr>
                  <a:t>4</a:t>
                </a:r>
              </a:p>
            </p:txBody>
          </p:sp>
          <p:cxnSp>
            <p:nvCxnSpPr>
              <p:cNvPr id="49" name="Straight Arrow Connector 48">
                <a:extLst>
                  <a:ext uri="{FF2B5EF4-FFF2-40B4-BE49-F238E27FC236}">
                    <a16:creationId xmlns="" xmlns:a16="http://schemas.microsoft.com/office/drawing/2014/main" id="{58B9F877-A889-B04E-87BD-FBEBCA049BFB}"/>
                  </a:ext>
                </a:extLst>
              </p:cNvPr>
              <p:cNvCxnSpPr>
                <a:cxnSpLocks/>
                <a:endCxn id="44" idx="7"/>
              </p:cNvCxnSpPr>
              <p:nvPr/>
            </p:nvCxnSpPr>
            <p:spPr>
              <a:xfrm flipH="1">
                <a:off x="3525986" y="3843131"/>
                <a:ext cx="715890"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 xmlns:a16="http://schemas.microsoft.com/office/drawing/2014/main" id="{5C7510E4-FCB3-3949-A742-7B847388A282}"/>
                  </a:ext>
                </a:extLst>
              </p:cNvPr>
              <p:cNvCxnSpPr>
                <a:cxnSpLocks/>
                <a:stCxn id="44" idx="5"/>
                <a:endCxn id="47" idx="1"/>
              </p:cNvCxnSpPr>
              <p:nvPr/>
            </p:nvCxnSpPr>
            <p:spPr>
              <a:xfrm>
                <a:off x="3525986" y="4970034"/>
                <a:ext cx="715891" cy="706457"/>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 xmlns:a16="http://schemas.microsoft.com/office/drawing/2014/main" id="{AEF67EC7-986C-8A44-B92A-8D98F4344827}"/>
                  </a:ext>
                </a:extLst>
              </p:cNvPr>
              <p:cNvCxnSpPr>
                <a:cxnSpLocks/>
                <a:stCxn id="43" idx="5"/>
                <a:endCxn id="45" idx="1"/>
              </p:cNvCxnSpPr>
              <p:nvPr/>
            </p:nvCxnSpPr>
            <p:spPr>
              <a:xfrm>
                <a:off x="4580959" y="3843131"/>
                <a:ext cx="715891" cy="787821"/>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 xmlns:a16="http://schemas.microsoft.com/office/drawing/2014/main" id="{18364F04-55CA-3A44-B2D8-C9B0482A3871}"/>
                  </a:ext>
                </a:extLst>
              </p:cNvPr>
              <p:cNvCxnSpPr>
                <a:cxnSpLocks/>
                <a:stCxn id="47" idx="7"/>
                <a:endCxn id="45" idx="3"/>
              </p:cNvCxnSpPr>
              <p:nvPr/>
            </p:nvCxnSpPr>
            <p:spPr>
              <a:xfrm flipV="1">
                <a:off x="4580959" y="4970034"/>
                <a:ext cx="715891" cy="706457"/>
              </a:xfrm>
              <a:prstGeom prst="straightConnector1">
                <a:avLst/>
              </a:prstGeom>
              <a:solidFill>
                <a:srgbClr val="C17A90"/>
              </a:solidFill>
              <a:ln w="38100">
                <a:solidFill>
                  <a:srgbClr val="C17A90"/>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 xmlns:a16="http://schemas.microsoft.com/office/drawing/2014/main" id="{D81A8452-7F34-5B4F-B319-6B26B4F7F534}"/>
                </a:ext>
              </a:extLst>
            </p:cNvPr>
            <p:cNvSpPr txBox="1"/>
            <p:nvPr/>
          </p:nvSpPr>
          <p:spPr>
            <a:xfrm>
              <a:off x="5854113" y="4295420"/>
              <a:ext cx="1375697" cy="1477328"/>
            </a:xfrm>
            <a:prstGeom prst="rect">
              <a:avLst/>
            </a:prstGeom>
            <a:noFill/>
          </p:spPr>
          <p:txBody>
            <a:bodyPr wrap="none" rtlCol="0">
              <a:spAutoFit/>
            </a:bodyPr>
            <a:lstStyle/>
            <a:p>
              <a:pPr algn="ctr"/>
              <a:r>
                <a:rPr lang="en-US" b="1" dirty="0">
                  <a:solidFill>
                    <a:srgbClr val="C27990"/>
                  </a:solidFill>
                  <a:latin typeface="Century Gothic" panose="020B0502020202020204" pitchFamily="34" charset="0"/>
                </a:rPr>
                <a:t>1</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2</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3</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4</a:t>
              </a:r>
            </a:p>
            <a:p>
              <a:pPr algn="ctr"/>
              <a:endParaRPr lang="en-US" b="1" dirty="0">
                <a:solidFill>
                  <a:srgbClr val="C27990"/>
                </a:solidFill>
                <a:latin typeface="Century Gothic" panose="020B0502020202020204" pitchFamily="34" charset="0"/>
              </a:endParaRPr>
            </a:p>
            <a:p>
              <a:pPr algn="ctr"/>
              <a:r>
                <a:rPr lang="en-US" b="1" dirty="0">
                  <a:solidFill>
                    <a:srgbClr val="C27990"/>
                  </a:solidFill>
                  <a:latin typeface="Century Gothic" panose="020B0502020202020204" pitchFamily="34" charset="0"/>
                </a:rPr>
                <a:t>Or</a:t>
              </a:r>
            </a:p>
            <a:p>
              <a:pPr algn="ctr"/>
              <a:endParaRPr lang="en-US" b="1" dirty="0">
                <a:solidFill>
                  <a:srgbClr val="C27990"/>
                </a:solidFill>
                <a:latin typeface="Century Gothic" panose="020B0502020202020204" pitchFamily="34" charset="0"/>
              </a:endParaRPr>
            </a:p>
            <a:p>
              <a:pPr algn="ctr"/>
              <a:r>
                <a:rPr lang="en-US" b="1" dirty="0">
                  <a:solidFill>
                    <a:srgbClr val="C27990"/>
                  </a:solidFill>
                  <a:latin typeface="Century Gothic" panose="020B0502020202020204" pitchFamily="34" charset="0"/>
                </a:rPr>
                <a:t>1</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3</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2</a:t>
              </a:r>
              <a:r>
                <a:rPr lang="en-US" b="1" dirty="0">
                  <a:solidFill>
                    <a:srgbClr val="C27990"/>
                  </a:solidFill>
                  <a:latin typeface="Century Gothic" panose="020B0502020202020204" pitchFamily="34" charset="0"/>
                  <a:sym typeface="Wingdings" pitchFamily="2" charset="2"/>
                </a:rPr>
                <a:t></a:t>
              </a:r>
              <a:r>
                <a:rPr lang="en-US" b="1" dirty="0">
                  <a:solidFill>
                    <a:srgbClr val="C27990"/>
                  </a:solidFill>
                  <a:latin typeface="Century Gothic" panose="020B0502020202020204" pitchFamily="34" charset="0"/>
                </a:rPr>
                <a:t>4</a:t>
              </a:r>
            </a:p>
          </p:txBody>
        </p:sp>
        <p:cxnSp>
          <p:nvCxnSpPr>
            <p:cNvPr id="66" name="Straight Arrow Connector 65">
              <a:extLst>
                <a:ext uri="{FF2B5EF4-FFF2-40B4-BE49-F238E27FC236}">
                  <a16:creationId xmlns="" xmlns:a16="http://schemas.microsoft.com/office/drawing/2014/main" id="{A2AB1F12-DEFD-4247-8DE8-82C28A3B27F0}"/>
                </a:ext>
              </a:extLst>
            </p:cNvPr>
            <p:cNvCxnSpPr>
              <a:cxnSpLocks/>
              <a:stCxn id="45" idx="6"/>
              <a:endCxn id="65" idx="1"/>
            </p:cNvCxnSpPr>
            <p:nvPr/>
          </p:nvCxnSpPr>
          <p:spPr>
            <a:xfrm>
              <a:off x="4857227" y="5034084"/>
              <a:ext cx="996886" cy="0"/>
            </a:xfrm>
            <a:prstGeom prst="straightConnector1">
              <a:avLst/>
            </a:prstGeom>
            <a:solidFill>
              <a:srgbClr val="C17A90"/>
            </a:solidFill>
            <a:ln w="38100">
              <a:solidFill>
                <a:srgbClr val="C17A90"/>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 xmlns:a16="http://schemas.microsoft.com/office/drawing/2014/main" id="{D55442BF-A048-9446-A09E-944E386A3545}"/>
                </a:ext>
              </a:extLst>
            </p:cNvPr>
            <p:cNvSpPr txBox="1"/>
            <p:nvPr/>
          </p:nvSpPr>
          <p:spPr>
            <a:xfrm>
              <a:off x="1237638" y="5615628"/>
              <a:ext cx="1532792" cy="369332"/>
            </a:xfrm>
            <a:prstGeom prst="rect">
              <a:avLst/>
            </a:prstGeom>
            <a:noFill/>
          </p:spPr>
          <p:txBody>
            <a:bodyPr wrap="none" rtlCol="0">
              <a:spAutoFit/>
            </a:bodyPr>
            <a:lstStyle/>
            <a:p>
              <a:pPr algn="ctr"/>
              <a:r>
                <a:rPr lang="en-US" b="1" dirty="0">
                  <a:solidFill>
                    <a:srgbClr val="C27990"/>
                  </a:solidFill>
                  <a:latin typeface="Century Gothic" panose="020B0502020202020204" pitchFamily="34" charset="0"/>
                </a:rPr>
                <a:t>Partial order</a:t>
              </a:r>
            </a:p>
          </p:txBody>
        </p:sp>
      </p:grpSp>
    </p:spTree>
    <p:extLst>
      <p:ext uri="{BB962C8B-B14F-4D97-AF65-F5344CB8AC3E}">
        <p14:creationId xmlns:p14="http://schemas.microsoft.com/office/powerpoint/2010/main" val="21258059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70"/>
                                        </p:tgtEl>
                                        <p:attrNameLst>
                                          <p:attrName>style.visibility</p:attrName>
                                        </p:attrNameLst>
                                      </p:cBhvr>
                                      <p:to>
                                        <p:strVal val="visible"/>
                                      </p:to>
                                    </p:set>
                                    <p:animEffect transition="in" filter="dissolve">
                                      <p:cBhvr>
                                        <p:cTn id="20" dur="500"/>
                                        <p:tgtEl>
                                          <p:spTgt spid="7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dissolv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564973" y="946943"/>
                <a:ext cx="8071027" cy="5372448"/>
              </a:xfrm>
              <a:ln>
                <a:noFill/>
              </a:ln>
            </p:spPr>
            <p:txBody>
              <a:bodyPr/>
              <a:lstStyle/>
              <a:p>
                <a:pPr marL="0" indent="0" algn="ctr">
                  <a:buNone/>
                </a:pPr>
                <a:r>
                  <a:rPr lang="en-US" sz="2400" b="1" i="1" dirty="0"/>
                  <a:t>How to calculate </a:t>
                </a:r>
                <a14:m>
                  <m:oMath xmlns:m="http://schemas.openxmlformats.org/officeDocument/2006/math">
                    <m:sSub>
                      <m:sSubPr>
                        <m:ctrlPr>
                          <a:rPr lang="en-US" sz="2400" b="1" i="1">
                            <a:solidFill>
                              <a:schemeClr val="bg2"/>
                            </a:solidFill>
                            <a:latin typeface="Cambria Math" charset="0"/>
                          </a:rPr>
                        </m:ctrlPr>
                      </m:sSubPr>
                      <m:e>
                        <m:r>
                          <a:rPr lang="en-US" sz="2400" b="1" i="1">
                            <a:solidFill>
                              <a:schemeClr val="bg2"/>
                            </a:solidFill>
                            <a:latin typeface="Cambria Math" charset="0"/>
                          </a:rPr>
                          <m:t>𝑰</m:t>
                        </m:r>
                      </m:e>
                      <m:sub>
                        <m:r>
                          <a:rPr lang="en-US" sz="2400" b="1" i="1">
                            <a:solidFill>
                              <a:schemeClr val="bg2"/>
                            </a:solidFill>
                            <a:latin typeface="Cambria Math" charset="0"/>
                          </a:rPr>
                          <m:t>𝒌</m:t>
                        </m:r>
                      </m:sub>
                    </m:sSub>
                  </m:oMath>
                </a14:m>
                <a:r>
                  <a:rPr lang="en-US" sz="2400" b="1" i="1" dirty="0"/>
                  <a:t> </a:t>
                </a:r>
                <a:r>
                  <a:rPr lang="en-US" sz="2400" b="1" i="1" dirty="0" smtClean="0"/>
                  <a:t>for different </a:t>
                </a:r>
                <a:r>
                  <a:rPr lang="en-US" sz="2400" b="1" i="1" dirty="0"/>
                  <a:t>structures</a:t>
                </a:r>
              </a:p>
              <a:p>
                <a:pPr marL="0" indent="0">
                  <a:buNone/>
                </a:pPr>
                <a:endParaRPr lang="en-US" sz="2400" b="1" dirty="0"/>
              </a:p>
              <a:p>
                <a:pPr marL="0" indent="0">
                  <a:buNone/>
                </a:pPr>
                <a:r>
                  <a:rPr lang="en-US" sz="2400" b="1" dirty="0"/>
                  <a:t>Bipartite structure:</a:t>
                </a:r>
                <a:r>
                  <a:rPr lang="en-US" sz="2400" dirty="0"/>
                  <a:t> </a:t>
                </a:r>
                <a:r>
                  <a:rPr lang="en-US" sz="2000" dirty="0">
                    <a:solidFill>
                      <a:schemeClr val="bg2"/>
                    </a:solidFill>
                  </a:rPr>
                  <a:t>e.g., assignment problems</a:t>
                </a:r>
                <a:endParaRPr lang="en-US" sz="2000" i="1" dirty="0">
                  <a:solidFill>
                    <a:schemeClr val="bg2"/>
                  </a:solidFill>
                </a:endParaRPr>
              </a:p>
              <a:p>
                <a:pPr lvl="1"/>
                <a:r>
                  <a:rPr lang="en-US" sz="2000" dirty="0"/>
                  <a:t>Structure: Each agent handles exactly one task, and each task can only be handled by at most one agent</a:t>
                </a:r>
              </a:p>
              <a:p>
                <a:pPr lvl="1"/>
                <a:r>
                  <a:rPr lang="en-US" sz="2000" dirty="0"/>
                  <a:t>Generally, </a:t>
                </a:r>
                <a14:m>
                  <m:oMath xmlns:m="http://schemas.openxmlformats.org/officeDocument/2006/math">
                    <m:sSub>
                      <m:sSubPr>
                        <m:ctrlPr>
                          <a:rPr lang="en-US" sz="2000" i="1">
                            <a:latin typeface="Cambria Math" charset="0"/>
                          </a:rPr>
                        </m:ctrlPr>
                      </m:sSubPr>
                      <m:e>
                        <m:r>
                          <a:rPr lang="en-US" sz="2000" b="0" i="1" smtClean="0">
                            <a:latin typeface="Cambria Math" panose="02040503050406030204" pitchFamily="18" charset="0"/>
                          </a:rPr>
                          <m:t>𝐼</m:t>
                        </m:r>
                      </m:e>
                      <m:sub>
                        <m:r>
                          <a:rPr lang="en-US" sz="2000" i="1">
                            <a:latin typeface="Cambria Math" charset="0"/>
                          </a:rPr>
                          <m:t>𝑘</m:t>
                        </m:r>
                      </m:sub>
                    </m:sSub>
                  </m:oMath>
                </a14:m>
                <a:r>
                  <a:rPr lang="en-US" sz="2000" dirty="0"/>
                  <a:t> has closed form solutions</a:t>
                </a:r>
                <a:endParaRPr lang="en-US" b="1" dirty="0"/>
              </a:p>
              <a:p>
                <a:endParaRPr lang="en-US" sz="2400" b="1" i="1"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564973" y="946943"/>
                <a:ext cx="8071027" cy="5372448"/>
              </a:xfrm>
              <a:blipFill rotWithShape="0">
                <a:blip r:embed="rId3"/>
                <a:stretch>
                  <a:fillRect l="-1208" t="-907"/>
                </a:stretch>
              </a:blipFill>
              <a:ln>
                <a:noFill/>
              </a:ln>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C771EAF9-8305-4D0D-A05B-2F2C3142C10A}"/>
              </a:ext>
            </a:extLst>
          </p:cNvPr>
          <p:cNvSpPr>
            <a:spLocks noGrp="1"/>
          </p:cNvSpPr>
          <p:nvPr>
            <p:ph type="sldNum" sz="quarter" idx="4294967295"/>
          </p:nvPr>
        </p:nvSpPr>
        <p:spPr bwMode="auto">
          <a:xfrm>
            <a:off x="8636000" y="6524625"/>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106</a:t>
            </a:fld>
            <a:endParaRPr lang="en-US"/>
          </a:p>
        </p:txBody>
      </p:sp>
      <p:sp>
        <p:nvSpPr>
          <p:cNvPr id="34" name="TextBox 33">
            <a:extLst>
              <a:ext uri="{FF2B5EF4-FFF2-40B4-BE49-F238E27FC236}">
                <a16:creationId xmlns="" xmlns:a16="http://schemas.microsoft.com/office/drawing/2014/main" id="{7F6DC42A-9B76-1E49-B64D-BC8BACCC8436}"/>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Supervision from partial structures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 xmlns:a16="http://schemas.microsoft.com/office/drawing/2014/main" id="{3E54E99D-653C-5A4F-B2C5-3967B3ACB031}"/>
                  </a:ext>
                </a:extLst>
              </p:cNvPr>
              <p:cNvSpPr txBox="1"/>
              <p:nvPr/>
            </p:nvSpPr>
            <p:spPr>
              <a:xfrm>
                <a:off x="4411418" y="248287"/>
                <a:ext cx="4523418" cy="400110"/>
              </a:xfrm>
              <a:prstGeom prst="rect">
                <a:avLst/>
              </a:prstGeom>
              <a:noFill/>
            </p:spPr>
            <p:txBody>
              <a:bodyPr wrap="none" rtlCol="0">
                <a:spAutoFit/>
              </a:bodyPr>
              <a:lstStyle/>
              <a:p>
                <a14:m>
                  <m:oMath xmlns:m="http://schemas.openxmlformats.org/officeDocument/2006/math">
                    <m:sSub>
                      <m:sSubPr>
                        <m:ctrlPr>
                          <a:rPr lang="en-US" sz="2000" b="1" i="1" smtClean="0">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oMath>
                </a14:m>
                <a:r>
                  <a:rPr lang="en-US" sz="2000" b="1" dirty="0">
                    <a:solidFill>
                      <a:schemeClr val="bg2"/>
                    </a:solidFill>
                  </a:rPr>
                  <a:t> be the size of the feasible subset</a:t>
                </a:r>
              </a:p>
            </p:txBody>
          </p:sp>
        </mc:Choice>
        <mc:Fallback xmlns="">
          <p:sp>
            <p:nvSpPr>
              <p:cNvPr id="37" name="TextBox 36">
                <a:extLst>
                  <a:ext uri="{FF2B5EF4-FFF2-40B4-BE49-F238E27FC236}">
                    <a16:creationId xmlns:a16="http://schemas.microsoft.com/office/drawing/2014/main" id="{3E54E99D-653C-5A4F-B2C5-3967B3ACB031}"/>
                  </a:ext>
                </a:extLst>
              </p:cNvPr>
              <p:cNvSpPr txBox="1">
                <a:spLocks noRot="1" noChangeAspect="1" noMove="1" noResize="1" noEditPoints="1" noAdjustHandles="1" noChangeArrowheads="1" noChangeShapeType="1" noTextEdit="1"/>
              </p:cNvSpPr>
              <p:nvPr/>
            </p:nvSpPr>
            <p:spPr>
              <a:xfrm>
                <a:off x="4411418" y="248287"/>
                <a:ext cx="4523418" cy="400110"/>
              </a:xfrm>
              <a:prstGeom prst="rect">
                <a:avLst/>
              </a:prstGeom>
              <a:blipFill>
                <a:blip r:embed="rId4"/>
                <a:stretch>
                  <a:fillRect l="-279" t="-9375" r="-279"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2BF25D28-0882-3E4C-9A43-3E7FD700838F}"/>
                  </a:ext>
                </a:extLst>
              </p:cNvPr>
              <p:cNvSpPr txBox="1"/>
              <p:nvPr/>
            </p:nvSpPr>
            <p:spPr>
              <a:xfrm>
                <a:off x="564973" y="236233"/>
                <a:ext cx="3405548" cy="4121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solidFill>
                                <a:schemeClr val="bg2"/>
                              </a:solidFill>
                              <a:latin typeface="Cambria Math" charset="0"/>
                            </a:rPr>
                          </m:ctrlPr>
                        </m:sSubPr>
                        <m:e>
                          <m:r>
                            <a:rPr lang="en-US" sz="2000" b="1" i="1">
                              <a:solidFill>
                                <a:schemeClr val="bg2"/>
                              </a:solidFill>
                              <a:latin typeface="Cambria Math" charset="0"/>
                            </a:rPr>
                            <m:t>𝑰</m:t>
                          </m:r>
                        </m:e>
                        <m:sub>
                          <m:r>
                            <a:rPr lang="en-US" sz="2000" b="1" i="1">
                              <a:solidFill>
                                <a:schemeClr val="bg2"/>
                              </a:solidFill>
                              <a:latin typeface="Cambria Math" charset="0"/>
                            </a:rPr>
                            <m:t>𝒌</m:t>
                          </m:r>
                        </m:sub>
                      </m:sSub>
                      <m:r>
                        <a:rPr lang="en-US" sz="2000" b="1" i="1">
                          <a:solidFill>
                            <a:schemeClr val="bg2"/>
                          </a:solidFill>
                          <a:latin typeface="Cambria Math" charset="0"/>
                          <a:ea typeface="Cambria Math" charset="0"/>
                          <a:cs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r>
                            <a:rPr lang="en-US" sz="2000" b="1" i="1">
                              <a:solidFill>
                                <a:schemeClr val="bg2"/>
                              </a:solidFill>
                              <a:latin typeface="Cambria Math" charset="0"/>
                            </a:rPr>
                            <m:t>|</m:t>
                          </m:r>
                          <m:r>
                            <a:rPr lang="en-US" sz="2000" b="1" i="1">
                              <a:solidFill>
                                <a:schemeClr val="bg2"/>
                              </a:solidFill>
                              <a:latin typeface="Cambria Math" charset="0"/>
                            </a:rPr>
                            <m:t>𝑪</m:t>
                          </m:r>
                          <m:r>
                            <a:rPr lang="en-US" sz="2000" b="1" i="1">
                              <a:solidFill>
                                <a:schemeClr val="bg2"/>
                              </a:solidFill>
                              <a:latin typeface="Cambria Math" charset="0"/>
                            </a:rPr>
                            <m:t>(</m:t>
                          </m:r>
                          <m:sSup>
                            <m:sSupPr>
                              <m:ctrlPr>
                                <a:rPr lang="en-US" sz="2000" b="1" i="1">
                                  <a:solidFill>
                                    <a:schemeClr val="bg2"/>
                                  </a:solidFill>
                                  <a:latin typeface="Cambria Math" charset="0"/>
                                </a:rPr>
                              </m:ctrlPr>
                            </m:sSupPr>
                            <m:e>
                              <m:r>
                                <a:rPr lang="en-US" sz="2000" b="1" i="1">
                                  <a:solidFill>
                                    <a:schemeClr val="bg2"/>
                                  </a:solidFill>
                                  <a:latin typeface="Cambria Math" charset="0"/>
                                </a:rPr>
                                <m:t>𝓛</m:t>
                              </m:r>
                            </m:e>
                            <m:sup>
                              <m:r>
                                <a:rPr lang="en-US" sz="2000" b="1" i="1">
                                  <a:solidFill>
                                    <a:schemeClr val="bg2"/>
                                  </a:solidFill>
                                  <a:latin typeface="Cambria Math" charset="0"/>
                                </a:rPr>
                                <m:t>𝒅</m:t>
                              </m:r>
                            </m:sup>
                          </m:sSup>
                          <m:r>
                            <a:rPr lang="en-US" sz="2000" b="1" i="1">
                              <a:solidFill>
                                <a:schemeClr val="bg2"/>
                              </a:solidFill>
                              <a:latin typeface="Cambria Math" charset="0"/>
                            </a:rPr>
                            <m:t>)|</m:t>
                          </m:r>
                        </m:e>
                      </m:func>
                      <m:r>
                        <a:rPr lang="en-US" sz="2000" b="1" i="1">
                          <a:solidFill>
                            <a:schemeClr val="bg2"/>
                          </a:solidFill>
                          <a:latin typeface="Cambria Math" charset="0"/>
                        </a:rPr>
                        <m:t>−</m:t>
                      </m:r>
                      <m:r>
                        <a:rPr lang="en-US" sz="2000" b="1" i="1">
                          <a:solidFill>
                            <a:schemeClr val="bg2"/>
                          </a:solidFill>
                          <a:latin typeface="Cambria Math" charset="0"/>
                        </a:rPr>
                        <m:t>𝑬</m:t>
                      </m:r>
                      <m:r>
                        <a:rPr lang="en-US" sz="2000" b="1" i="1">
                          <a:solidFill>
                            <a:schemeClr val="bg2"/>
                          </a:solidFill>
                          <a:latin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sSub>
                            <m:sSubPr>
                              <m:ctrlPr>
                                <a:rPr lang="en-US" sz="2000" b="1" i="1">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e>
                      </m:func>
                      <m:r>
                        <a:rPr lang="en-US" sz="2000" b="1" i="1">
                          <a:solidFill>
                            <a:schemeClr val="bg2"/>
                          </a:solidFill>
                          <a:latin typeface="Cambria Math" charset="0"/>
                        </a:rPr>
                        <m:t>]</m:t>
                      </m:r>
                    </m:oMath>
                  </m:oMathPara>
                </a14:m>
                <a:endParaRPr lang="en-US" sz="2000" dirty="0"/>
              </a:p>
            </p:txBody>
          </p:sp>
        </mc:Choice>
        <mc:Fallback xmlns="">
          <p:sp>
            <p:nvSpPr>
              <p:cNvPr id="39" name="TextBox 38">
                <a:extLst>
                  <a:ext uri="{FF2B5EF4-FFF2-40B4-BE49-F238E27FC236}">
                    <a16:creationId xmlns:a16="http://schemas.microsoft.com/office/drawing/2014/main" id="{2BF25D28-0882-3E4C-9A43-3E7FD700838F}"/>
                  </a:ext>
                </a:extLst>
              </p:cNvPr>
              <p:cNvSpPr txBox="1">
                <a:spLocks noRot="1" noChangeAspect="1" noMove="1" noResize="1" noEditPoints="1" noAdjustHandles="1" noChangeArrowheads="1" noChangeShapeType="1" noTextEdit="1"/>
              </p:cNvSpPr>
              <p:nvPr/>
            </p:nvSpPr>
            <p:spPr>
              <a:xfrm>
                <a:off x="564973" y="236233"/>
                <a:ext cx="3405548" cy="412164"/>
              </a:xfrm>
              <a:prstGeom prst="rect">
                <a:avLst/>
              </a:prstGeom>
              <a:blipFill>
                <a:blip r:embed="rId5"/>
                <a:stretch>
                  <a:fillRect b="-12121"/>
                </a:stretch>
              </a:blipFill>
            </p:spPr>
            <p:txBody>
              <a:bodyPr/>
              <a:lstStyle/>
              <a:p>
                <a:r>
                  <a:rPr lang="en-US">
                    <a:noFill/>
                  </a:rPr>
                  <a:t> </a:t>
                </a:r>
              </a:p>
            </p:txBody>
          </p:sp>
        </mc:Fallback>
      </mc:AlternateContent>
      <p:cxnSp>
        <p:nvCxnSpPr>
          <p:cNvPr id="38" name="Straight Arrow Connector 37">
            <a:extLst>
              <a:ext uri="{FF2B5EF4-FFF2-40B4-BE49-F238E27FC236}">
                <a16:creationId xmlns="" xmlns:a16="http://schemas.microsoft.com/office/drawing/2014/main" id="{EDA6937A-78B8-2C41-B1FA-EB43FCF3B09D}"/>
              </a:ext>
            </a:extLst>
          </p:cNvPr>
          <p:cNvCxnSpPr>
            <a:stCxn id="39" idx="3"/>
            <a:endCxn id="37" idx="1"/>
          </p:cNvCxnSpPr>
          <p:nvPr/>
        </p:nvCxnSpPr>
        <p:spPr>
          <a:xfrm>
            <a:off x="3970521" y="442315"/>
            <a:ext cx="440897" cy="6027"/>
          </a:xfrm>
          <a:prstGeom prst="straightConnector1">
            <a:avLst/>
          </a:prstGeom>
          <a:ln w="38100">
            <a:solidFill>
              <a:schemeClr val="tx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 xmlns:a16="http://schemas.microsoft.com/office/drawing/2014/main" id="{5DF27D23-1067-BB45-B744-2FA59293C96F}"/>
              </a:ext>
            </a:extLst>
          </p:cNvPr>
          <p:cNvGrpSpPr/>
          <p:nvPr/>
        </p:nvGrpSpPr>
        <p:grpSpPr>
          <a:xfrm>
            <a:off x="2559862" y="3736173"/>
            <a:ext cx="4354522" cy="1590480"/>
            <a:chOff x="2559862" y="3736173"/>
            <a:chExt cx="4354522" cy="1590480"/>
          </a:xfrm>
        </p:grpSpPr>
        <p:sp>
          <p:nvSpPr>
            <p:cNvPr id="46" name="Rectangle 45">
              <a:extLst>
                <a:ext uri="{FF2B5EF4-FFF2-40B4-BE49-F238E27FC236}">
                  <a16:creationId xmlns="" xmlns:a16="http://schemas.microsoft.com/office/drawing/2014/main" id="{AC9DD11A-B96C-8C44-BAA3-5DBE1C3EE888}"/>
                </a:ext>
              </a:extLst>
            </p:cNvPr>
            <p:cNvSpPr/>
            <p:nvPr/>
          </p:nvSpPr>
          <p:spPr>
            <a:xfrm>
              <a:off x="5638800" y="3886200"/>
              <a:ext cx="1275584" cy="42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27990"/>
                  </a:solidFill>
                  <a:latin typeface="Century Gothic" panose="020B0502020202020204" pitchFamily="34" charset="0"/>
                </a:rPr>
                <a:t>Agents</a:t>
              </a:r>
            </a:p>
          </p:txBody>
        </p:sp>
        <p:cxnSp>
          <p:nvCxnSpPr>
            <p:cNvPr id="52" name="Straight Arrow Connector 51">
              <a:extLst>
                <a:ext uri="{FF2B5EF4-FFF2-40B4-BE49-F238E27FC236}">
                  <a16:creationId xmlns="" xmlns:a16="http://schemas.microsoft.com/office/drawing/2014/main" id="{7407E274-05B5-3747-9F50-5114AAF310AF}"/>
                </a:ext>
              </a:extLst>
            </p:cNvPr>
            <p:cNvCxnSpPr>
              <a:cxnSpLocks/>
              <a:stCxn id="60" idx="2"/>
              <a:endCxn id="67" idx="0"/>
            </p:cNvCxnSpPr>
            <p:nvPr/>
          </p:nvCxnSpPr>
          <p:spPr>
            <a:xfrm flipH="1">
              <a:off x="4283848" y="4234774"/>
              <a:ext cx="425712" cy="621992"/>
            </a:xfrm>
            <a:prstGeom prst="straightConnector1">
              <a:avLst/>
            </a:prstGeom>
            <a:ln w="34925">
              <a:solidFill>
                <a:srgbClr val="C2799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 xmlns:a16="http://schemas.microsoft.com/office/drawing/2014/main" id="{1F6B9FF1-861D-8144-8B61-503FEBB37BB0}"/>
                </a:ext>
              </a:extLst>
            </p:cNvPr>
            <p:cNvCxnSpPr>
              <a:cxnSpLocks/>
              <a:stCxn id="6" idx="2"/>
              <a:endCxn id="62" idx="0"/>
            </p:cNvCxnSpPr>
            <p:nvPr/>
          </p:nvCxnSpPr>
          <p:spPr>
            <a:xfrm>
              <a:off x="3128098" y="4234774"/>
              <a:ext cx="271330" cy="621992"/>
            </a:xfrm>
            <a:prstGeom prst="straightConnector1">
              <a:avLst/>
            </a:prstGeom>
            <a:ln w="34925">
              <a:solidFill>
                <a:srgbClr val="C27990"/>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 xmlns:a16="http://schemas.microsoft.com/office/drawing/2014/main" id="{CC2FA73C-B09E-C044-9A79-A027EC3B643A}"/>
                </a:ext>
              </a:extLst>
            </p:cNvPr>
            <p:cNvSpPr/>
            <p:nvPr/>
          </p:nvSpPr>
          <p:spPr>
            <a:xfrm>
              <a:off x="2657809" y="3736173"/>
              <a:ext cx="2315918" cy="650708"/>
            </a:xfrm>
            <a:prstGeom prst="ellipse">
              <a:avLst/>
            </a:prstGeom>
            <a:noFill/>
            <a:ln w="38100">
              <a:solidFill>
                <a:srgbClr val="C2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 name="Oval 57">
              <a:extLst>
                <a:ext uri="{FF2B5EF4-FFF2-40B4-BE49-F238E27FC236}">
                  <a16:creationId xmlns="" xmlns:a16="http://schemas.microsoft.com/office/drawing/2014/main" id="{851D9B9E-BDFB-F54C-AF74-9AC814DD20EE}"/>
                </a:ext>
              </a:extLst>
            </p:cNvPr>
            <p:cNvSpPr/>
            <p:nvPr/>
          </p:nvSpPr>
          <p:spPr>
            <a:xfrm>
              <a:off x="2559862" y="4604107"/>
              <a:ext cx="2574447" cy="722546"/>
            </a:xfrm>
            <a:prstGeom prst="ellipse">
              <a:avLst/>
            </a:prstGeom>
            <a:noFill/>
            <a:ln w="38100">
              <a:solidFill>
                <a:srgbClr val="C2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6" name="TextBox 5">
              <a:extLst>
                <a:ext uri="{FF2B5EF4-FFF2-40B4-BE49-F238E27FC236}">
                  <a16:creationId xmlns="" xmlns:a16="http://schemas.microsoft.com/office/drawing/2014/main" id="{72545AFC-41A6-BD40-B02F-322F02F130F9}"/>
                </a:ext>
              </a:extLst>
            </p:cNvPr>
            <p:cNvSpPr txBox="1"/>
            <p:nvPr/>
          </p:nvSpPr>
          <p:spPr>
            <a:xfrm>
              <a:off x="2957218" y="3865442"/>
              <a:ext cx="341760"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a</a:t>
              </a:r>
            </a:p>
          </p:txBody>
        </p:sp>
        <p:sp>
          <p:nvSpPr>
            <p:cNvPr id="59" name="TextBox 58">
              <a:extLst>
                <a:ext uri="{FF2B5EF4-FFF2-40B4-BE49-F238E27FC236}">
                  <a16:creationId xmlns="" xmlns:a16="http://schemas.microsoft.com/office/drawing/2014/main" id="{3B433348-0F5A-FD4E-8A55-2B335DD0E7CC}"/>
                </a:ext>
              </a:extLst>
            </p:cNvPr>
            <p:cNvSpPr txBox="1"/>
            <p:nvPr/>
          </p:nvSpPr>
          <p:spPr>
            <a:xfrm>
              <a:off x="3719878" y="3876861"/>
              <a:ext cx="341760"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b</a:t>
              </a:r>
            </a:p>
          </p:txBody>
        </p:sp>
        <p:sp>
          <p:nvSpPr>
            <p:cNvPr id="60" name="TextBox 59">
              <a:extLst>
                <a:ext uri="{FF2B5EF4-FFF2-40B4-BE49-F238E27FC236}">
                  <a16:creationId xmlns="" xmlns:a16="http://schemas.microsoft.com/office/drawing/2014/main" id="{980CC5C3-5C14-1C4A-90A5-A2AC5FF21AF6}"/>
                </a:ext>
              </a:extLst>
            </p:cNvPr>
            <p:cNvSpPr txBox="1"/>
            <p:nvPr/>
          </p:nvSpPr>
          <p:spPr>
            <a:xfrm>
              <a:off x="4538680" y="3865442"/>
              <a:ext cx="341760"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c</a:t>
              </a:r>
            </a:p>
          </p:txBody>
        </p:sp>
        <p:sp>
          <p:nvSpPr>
            <p:cNvPr id="61" name="TextBox 60">
              <a:extLst>
                <a:ext uri="{FF2B5EF4-FFF2-40B4-BE49-F238E27FC236}">
                  <a16:creationId xmlns="" xmlns:a16="http://schemas.microsoft.com/office/drawing/2014/main" id="{FCD80776-AB86-5A4C-A21E-CFC95DB49EC9}"/>
                </a:ext>
              </a:extLst>
            </p:cNvPr>
            <p:cNvSpPr txBox="1"/>
            <p:nvPr/>
          </p:nvSpPr>
          <p:spPr>
            <a:xfrm>
              <a:off x="2800765" y="4856766"/>
              <a:ext cx="312906"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1</a:t>
              </a:r>
            </a:p>
          </p:txBody>
        </p:sp>
        <p:sp>
          <p:nvSpPr>
            <p:cNvPr id="62" name="TextBox 61">
              <a:extLst>
                <a:ext uri="{FF2B5EF4-FFF2-40B4-BE49-F238E27FC236}">
                  <a16:creationId xmlns="" xmlns:a16="http://schemas.microsoft.com/office/drawing/2014/main" id="{8E46BFF6-C940-C24B-AE01-F227D641E7FF}"/>
                </a:ext>
              </a:extLst>
            </p:cNvPr>
            <p:cNvSpPr txBox="1"/>
            <p:nvPr/>
          </p:nvSpPr>
          <p:spPr>
            <a:xfrm>
              <a:off x="3242975" y="4856766"/>
              <a:ext cx="312906"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2</a:t>
              </a:r>
            </a:p>
          </p:txBody>
        </p:sp>
        <p:sp>
          <p:nvSpPr>
            <p:cNvPr id="63" name="TextBox 62">
              <a:extLst>
                <a:ext uri="{FF2B5EF4-FFF2-40B4-BE49-F238E27FC236}">
                  <a16:creationId xmlns="" xmlns:a16="http://schemas.microsoft.com/office/drawing/2014/main" id="{01F51857-BEF9-5F43-94A9-033ABDC25DB1}"/>
                </a:ext>
              </a:extLst>
            </p:cNvPr>
            <p:cNvSpPr txBox="1"/>
            <p:nvPr/>
          </p:nvSpPr>
          <p:spPr>
            <a:xfrm>
              <a:off x="3685185" y="4856766"/>
              <a:ext cx="312906"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3</a:t>
              </a:r>
            </a:p>
          </p:txBody>
        </p:sp>
        <p:sp>
          <p:nvSpPr>
            <p:cNvPr id="67" name="TextBox 66">
              <a:extLst>
                <a:ext uri="{FF2B5EF4-FFF2-40B4-BE49-F238E27FC236}">
                  <a16:creationId xmlns="" xmlns:a16="http://schemas.microsoft.com/office/drawing/2014/main" id="{A124ECA8-13BE-B545-B2FF-D0E352C7DDFD}"/>
                </a:ext>
              </a:extLst>
            </p:cNvPr>
            <p:cNvSpPr txBox="1"/>
            <p:nvPr/>
          </p:nvSpPr>
          <p:spPr>
            <a:xfrm>
              <a:off x="4127395" y="4856766"/>
              <a:ext cx="312906"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4</a:t>
              </a:r>
            </a:p>
          </p:txBody>
        </p:sp>
        <p:sp>
          <p:nvSpPr>
            <p:cNvPr id="68" name="TextBox 67">
              <a:extLst>
                <a:ext uri="{FF2B5EF4-FFF2-40B4-BE49-F238E27FC236}">
                  <a16:creationId xmlns="" xmlns:a16="http://schemas.microsoft.com/office/drawing/2014/main" id="{F57D4501-91C4-554F-9EB8-64EAA6EE04AA}"/>
                </a:ext>
              </a:extLst>
            </p:cNvPr>
            <p:cNvSpPr txBox="1"/>
            <p:nvPr/>
          </p:nvSpPr>
          <p:spPr>
            <a:xfrm>
              <a:off x="4569604" y="4856766"/>
              <a:ext cx="312906" cy="369332"/>
            </a:xfrm>
            <a:prstGeom prst="rect">
              <a:avLst/>
            </a:prstGeom>
            <a:noFill/>
          </p:spPr>
          <p:txBody>
            <a:bodyPr wrap="none" rtlCol="0">
              <a:spAutoFit/>
            </a:bodyPr>
            <a:lstStyle/>
            <a:p>
              <a:r>
                <a:rPr lang="en-US" b="1" dirty="0">
                  <a:solidFill>
                    <a:srgbClr val="C27990"/>
                  </a:solidFill>
                  <a:latin typeface="Century Gothic" panose="020B0502020202020204" pitchFamily="34" charset="0"/>
                </a:rPr>
                <a:t>5</a:t>
              </a:r>
            </a:p>
          </p:txBody>
        </p:sp>
        <p:sp>
          <p:nvSpPr>
            <p:cNvPr id="69" name="Rectangle 68">
              <a:extLst>
                <a:ext uri="{FF2B5EF4-FFF2-40B4-BE49-F238E27FC236}">
                  <a16:creationId xmlns="" xmlns:a16="http://schemas.microsoft.com/office/drawing/2014/main" id="{18F98B76-F7FC-B447-96E6-52BA7392F842}"/>
                </a:ext>
              </a:extLst>
            </p:cNvPr>
            <p:cNvSpPr/>
            <p:nvPr/>
          </p:nvSpPr>
          <p:spPr>
            <a:xfrm>
              <a:off x="5638800" y="4731152"/>
              <a:ext cx="1275584" cy="4223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27990"/>
                  </a:solidFill>
                  <a:latin typeface="Century Gothic" panose="020B0502020202020204" pitchFamily="34" charset="0"/>
                </a:rPr>
                <a:t>Tasks</a:t>
              </a:r>
            </a:p>
          </p:txBody>
        </p:sp>
        <p:cxnSp>
          <p:nvCxnSpPr>
            <p:cNvPr id="23" name="Straight Arrow Connector 22">
              <a:extLst>
                <a:ext uri="{FF2B5EF4-FFF2-40B4-BE49-F238E27FC236}">
                  <a16:creationId xmlns="" xmlns:a16="http://schemas.microsoft.com/office/drawing/2014/main" id="{7407E274-05B5-3747-9F50-5114AAF310AF}"/>
                </a:ext>
              </a:extLst>
            </p:cNvPr>
            <p:cNvCxnSpPr>
              <a:cxnSpLocks/>
              <a:stCxn id="59" idx="2"/>
              <a:endCxn id="63" idx="0"/>
            </p:cNvCxnSpPr>
            <p:nvPr/>
          </p:nvCxnSpPr>
          <p:spPr>
            <a:xfrm flipH="1">
              <a:off x="3841638" y="4246193"/>
              <a:ext cx="49120" cy="610573"/>
            </a:xfrm>
            <a:prstGeom prst="straightConnector1">
              <a:avLst/>
            </a:prstGeom>
            <a:ln w="34925">
              <a:solidFill>
                <a:srgbClr val="C2799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 xmlns:a16="http://schemas.microsoft.com/office/drawing/2014/main" id="{7407E274-05B5-3747-9F50-5114AAF310AF}"/>
                </a:ext>
              </a:extLst>
            </p:cNvPr>
            <p:cNvCxnSpPr>
              <a:cxnSpLocks/>
            </p:cNvCxnSpPr>
            <p:nvPr/>
          </p:nvCxnSpPr>
          <p:spPr>
            <a:xfrm flipH="1">
              <a:off x="2948876" y="4308546"/>
              <a:ext cx="901104" cy="621992"/>
            </a:xfrm>
            <a:prstGeom prst="straightConnector1">
              <a:avLst/>
            </a:prstGeom>
            <a:ln w="34925">
              <a:solidFill>
                <a:srgbClr val="C2799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 xmlns:a16="http://schemas.microsoft.com/office/drawing/2014/main" id="{7407E274-05B5-3747-9F50-5114AAF310AF}"/>
                </a:ext>
              </a:extLst>
            </p:cNvPr>
            <p:cNvCxnSpPr>
              <a:cxnSpLocks/>
              <a:stCxn id="59" idx="2"/>
              <a:endCxn id="68" idx="0"/>
            </p:cNvCxnSpPr>
            <p:nvPr/>
          </p:nvCxnSpPr>
          <p:spPr>
            <a:xfrm>
              <a:off x="3890758" y="4246193"/>
              <a:ext cx="835299" cy="610573"/>
            </a:xfrm>
            <a:prstGeom prst="straightConnector1">
              <a:avLst/>
            </a:prstGeom>
            <a:ln w="34925">
              <a:solidFill>
                <a:srgbClr val="C27990"/>
              </a:solidFill>
              <a:prstDash val="dash"/>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26831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564973" y="946943"/>
                <a:ext cx="8071027" cy="5372448"/>
              </a:xfrm>
              <a:ln>
                <a:noFill/>
              </a:ln>
            </p:spPr>
            <p:txBody>
              <a:bodyPr/>
              <a:lstStyle/>
              <a:p>
                <a:pPr marL="0" indent="0" algn="ctr">
                  <a:buNone/>
                </a:pPr>
                <a:r>
                  <a:rPr lang="en-US" sz="2400" b="1" i="1" dirty="0"/>
                  <a:t>How to calculate </a:t>
                </a:r>
                <a14:m>
                  <m:oMath xmlns:m="http://schemas.openxmlformats.org/officeDocument/2006/math">
                    <m:sSub>
                      <m:sSubPr>
                        <m:ctrlPr>
                          <a:rPr lang="en-US" sz="2400" b="1" i="1">
                            <a:solidFill>
                              <a:schemeClr val="bg2"/>
                            </a:solidFill>
                            <a:latin typeface="Cambria Math" charset="0"/>
                          </a:rPr>
                        </m:ctrlPr>
                      </m:sSubPr>
                      <m:e>
                        <m:r>
                          <a:rPr lang="en-US" sz="2400" b="1" i="1">
                            <a:solidFill>
                              <a:schemeClr val="bg2"/>
                            </a:solidFill>
                            <a:latin typeface="Cambria Math" charset="0"/>
                          </a:rPr>
                          <m:t>𝑰</m:t>
                        </m:r>
                      </m:e>
                      <m:sub>
                        <m:r>
                          <a:rPr lang="en-US" sz="2400" b="1" i="1">
                            <a:solidFill>
                              <a:schemeClr val="bg2"/>
                            </a:solidFill>
                            <a:latin typeface="Cambria Math" charset="0"/>
                          </a:rPr>
                          <m:t>𝒌</m:t>
                        </m:r>
                      </m:sub>
                    </m:sSub>
                  </m:oMath>
                </a14:m>
                <a:r>
                  <a:rPr lang="en-US" sz="2400" b="1" i="1" dirty="0"/>
                  <a:t> </a:t>
                </a:r>
                <a:r>
                  <a:rPr lang="en-US" sz="2400" b="1" i="1" dirty="0" smtClean="0"/>
                  <a:t>for different </a:t>
                </a:r>
                <a:r>
                  <a:rPr lang="en-US" sz="2400" b="1" i="1" dirty="0"/>
                  <a:t>structures</a:t>
                </a:r>
              </a:p>
              <a:p>
                <a:pPr marL="0" indent="0">
                  <a:buNone/>
                </a:pPr>
                <a:endParaRPr lang="en-US" sz="2400" b="1" dirty="0"/>
              </a:p>
              <a:p>
                <a:pPr marL="0" indent="0">
                  <a:buNone/>
                </a:pPr>
                <a:r>
                  <a:rPr lang="en-US" sz="2400" b="1" dirty="0"/>
                  <a:t>BIO structure:</a:t>
                </a:r>
                <a:r>
                  <a:rPr lang="en-US" sz="2400" dirty="0"/>
                  <a:t> </a:t>
                </a:r>
                <a:r>
                  <a:rPr lang="en-US" sz="2000" dirty="0">
                    <a:solidFill>
                      <a:schemeClr val="bg2"/>
                    </a:solidFill>
                  </a:rPr>
                  <a:t>e.g., sequence tagging problems</a:t>
                </a:r>
                <a:endParaRPr lang="en-US" sz="2000" i="1" dirty="0">
                  <a:solidFill>
                    <a:schemeClr val="bg2"/>
                  </a:solidFill>
                </a:endParaRPr>
              </a:p>
              <a:p>
                <a:pPr lvl="1"/>
                <a:r>
                  <a:rPr lang="en-US" sz="2000" dirty="0"/>
                  <a:t>Structure: O cannot be immediately followed by I</a:t>
                </a:r>
              </a:p>
              <a:p>
                <a:pPr lvl="1"/>
                <a:r>
                  <a:rPr lang="en-US" sz="2000" dirty="0"/>
                  <a:t>Generally, </a:t>
                </a:r>
                <a14:m>
                  <m:oMath xmlns:m="http://schemas.openxmlformats.org/officeDocument/2006/math">
                    <m:sSub>
                      <m:sSubPr>
                        <m:ctrlPr>
                          <a:rPr lang="en-US" sz="2000" i="1">
                            <a:latin typeface="Cambria Math" charset="0"/>
                          </a:rPr>
                        </m:ctrlPr>
                      </m:sSubPr>
                      <m:e>
                        <m:r>
                          <a:rPr lang="en-US" sz="2000" b="0" i="1" smtClean="0">
                            <a:latin typeface="Cambria Math" panose="02040503050406030204" pitchFamily="18" charset="0"/>
                          </a:rPr>
                          <m:t>𝐼</m:t>
                        </m:r>
                      </m:e>
                      <m:sub>
                        <m:r>
                          <a:rPr lang="en-US" sz="2000" i="1">
                            <a:latin typeface="Cambria Math" charset="0"/>
                          </a:rPr>
                          <m:t>𝑘</m:t>
                        </m:r>
                      </m:sub>
                    </m:sSub>
                  </m:oMath>
                </a14:m>
                <a:r>
                  <a:rPr lang="en-US" sz="2000" dirty="0"/>
                  <a:t> has no closed-form solution</a:t>
                </a:r>
                <a:endParaRPr lang="en-US" b="1" dirty="0"/>
              </a:p>
              <a:p>
                <a:endParaRPr lang="en-US" sz="2400" b="1" i="1" dirty="0"/>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564973" y="946943"/>
                <a:ext cx="8071027" cy="5372448"/>
              </a:xfrm>
              <a:blipFill rotWithShape="0">
                <a:blip r:embed="rId3"/>
                <a:stretch>
                  <a:fillRect l="-1208" t="-907"/>
                </a:stretch>
              </a:blipFill>
              <a:ln>
                <a:noFill/>
              </a:ln>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C771EAF9-8305-4D0D-A05B-2F2C3142C10A}"/>
              </a:ext>
            </a:extLst>
          </p:cNvPr>
          <p:cNvSpPr>
            <a:spLocks noGrp="1"/>
          </p:cNvSpPr>
          <p:nvPr>
            <p:ph type="sldNum" sz="quarter" idx="4294967295"/>
          </p:nvPr>
        </p:nvSpPr>
        <p:spPr bwMode="auto">
          <a:xfrm>
            <a:off x="8636000" y="6524625"/>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107</a:t>
            </a:fld>
            <a:endParaRPr lang="en-US"/>
          </a:p>
        </p:txBody>
      </p:sp>
      <p:sp>
        <p:nvSpPr>
          <p:cNvPr id="34" name="TextBox 33">
            <a:extLst>
              <a:ext uri="{FF2B5EF4-FFF2-40B4-BE49-F238E27FC236}">
                <a16:creationId xmlns="" xmlns:a16="http://schemas.microsoft.com/office/drawing/2014/main" id="{7F6DC42A-9B76-1E49-B64D-BC8BACCC8436}"/>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Supervision from partial structures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 xmlns:a16="http://schemas.microsoft.com/office/drawing/2014/main" id="{3E54E99D-653C-5A4F-B2C5-3967B3ACB031}"/>
                  </a:ext>
                </a:extLst>
              </p:cNvPr>
              <p:cNvSpPr txBox="1"/>
              <p:nvPr/>
            </p:nvSpPr>
            <p:spPr>
              <a:xfrm>
                <a:off x="4411418" y="248287"/>
                <a:ext cx="4523418" cy="400110"/>
              </a:xfrm>
              <a:prstGeom prst="rect">
                <a:avLst/>
              </a:prstGeom>
              <a:noFill/>
            </p:spPr>
            <p:txBody>
              <a:bodyPr wrap="none" rtlCol="0">
                <a:spAutoFit/>
              </a:bodyPr>
              <a:lstStyle/>
              <a:p>
                <a14:m>
                  <m:oMath xmlns:m="http://schemas.openxmlformats.org/officeDocument/2006/math">
                    <m:sSub>
                      <m:sSubPr>
                        <m:ctrlPr>
                          <a:rPr lang="en-US" sz="2000" b="1" i="1" smtClean="0">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oMath>
                </a14:m>
                <a:r>
                  <a:rPr lang="en-US" sz="2000" b="1" dirty="0">
                    <a:solidFill>
                      <a:schemeClr val="bg2"/>
                    </a:solidFill>
                  </a:rPr>
                  <a:t> be the size of the feasible subset</a:t>
                </a:r>
              </a:p>
            </p:txBody>
          </p:sp>
        </mc:Choice>
        <mc:Fallback xmlns="">
          <p:sp>
            <p:nvSpPr>
              <p:cNvPr id="37" name="TextBox 36">
                <a:extLst>
                  <a:ext uri="{FF2B5EF4-FFF2-40B4-BE49-F238E27FC236}">
                    <a16:creationId xmlns:a16="http://schemas.microsoft.com/office/drawing/2014/main" id="{3E54E99D-653C-5A4F-B2C5-3967B3ACB031}"/>
                  </a:ext>
                </a:extLst>
              </p:cNvPr>
              <p:cNvSpPr txBox="1">
                <a:spLocks noRot="1" noChangeAspect="1" noMove="1" noResize="1" noEditPoints="1" noAdjustHandles="1" noChangeArrowheads="1" noChangeShapeType="1" noTextEdit="1"/>
              </p:cNvSpPr>
              <p:nvPr/>
            </p:nvSpPr>
            <p:spPr>
              <a:xfrm>
                <a:off x="4411418" y="248287"/>
                <a:ext cx="4523418" cy="400110"/>
              </a:xfrm>
              <a:prstGeom prst="rect">
                <a:avLst/>
              </a:prstGeom>
              <a:blipFill>
                <a:blip r:embed="rId4"/>
                <a:stretch>
                  <a:fillRect l="-279" t="-9375" r="-279"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 xmlns:a16="http://schemas.microsoft.com/office/drawing/2014/main" id="{2BF25D28-0882-3E4C-9A43-3E7FD700838F}"/>
                  </a:ext>
                </a:extLst>
              </p:cNvPr>
              <p:cNvSpPr txBox="1"/>
              <p:nvPr/>
            </p:nvSpPr>
            <p:spPr>
              <a:xfrm>
                <a:off x="564973" y="236233"/>
                <a:ext cx="3405548" cy="4121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solidFill>
                                <a:schemeClr val="bg2"/>
                              </a:solidFill>
                              <a:latin typeface="Cambria Math" charset="0"/>
                            </a:rPr>
                          </m:ctrlPr>
                        </m:sSubPr>
                        <m:e>
                          <m:r>
                            <a:rPr lang="en-US" sz="2000" b="1" i="1">
                              <a:solidFill>
                                <a:schemeClr val="bg2"/>
                              </a:solidFill>
                              <a:latin typeface="Cambria Math" charset="0"/>
                            </a:rPr>
                            <m:t>𝑰</m:t>
                          </m:r>
                        </m:e>
                        <m:sub>
                          <m:r>
                            <a:rPr lang="en-US" sz="2000" b="1" i="1">
                              <a:solidFill>
                                <a:schemeClr val="bg2"/>
                              </a:solidFill>
                              <a:latin typeface="Cambria Math" charset="0"/>
                            </a:rPr>
                            <m:t>𝒌</m:t>
                          </m:r>
                        </m:sub>
                      </m:sSub>
                      <m:r>
                        <a:rPr lang="en-US" sz="2000" b="1" i="1">
                          <a:solidFill>
                            <a:schemeClr val="bg2"/>
                          </a:solidFill>
                          <a:latin typeface="Cambria Math" charset="0"/>
                          <a:ea typeface="Cambria Math" charset="0"/>
                          <a:cs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r>
                            <a:rPr lang="en-US" sz="2000" b="1" i="1">
                              <a:solidFill>
                                <a:schemeClr val="bg2"/>
                              </a:solidFill>
                              <a:latin typeface="Cambria Math" charset="0"/>
                            </a:rPr>
                            <m:t>|</m:t>
                          </m:r>
                          <m:r>
                            <a:rPr lang="en-US" sz="2000" b="1" i="1">
                              <a:solidFill>
                                <a:schemeClr val="bg2"/>
                              </a:solidFill>
                              <a:latin typeface="Cambria Math" charset="0"/>
                            </a:rPr>
                            <m:t>𝑪</m:t>
                          </m:r>
                          <m:r>
                            <a:rPr lang="en-US" sz="2000" b="1" i="1">
                              <a:solidFill>
                                <a:schemeClr val="bg2"/>
                              </a:solidFill>
                              <a:latin typeface="Cambria Math" charset="0"/>
                            </a:rPr>
                            <m:t>(</m:t>
                          </m:r>
                          <m:sSup>
                            <m:sSupPr>
                              <m:ctrlPr>
                                <a:rPr lang="en-US" sz="2000" b="1" i="1">
                                  <a:solidFill>
                                    <a:schemeClr val="bg2"/>
                                  </a:solidFill>
                                  <a:latin typeface="Cambria Math" charset="0"/>
                                </a:rPr>
                              </m:ctrlPr>
                            </m:sSupPr>
                            <m:e>
                              <m:r>
                                <a:rPr lang="en-US" sz="2000" b="1" i="1">
                                  <a:solidFill>
                                    <a:schemeClr val="bg2"/>
                                  </a:solidFill>
                                  <a:latin typeface="Cambria Math" charset="0"/>
                                </a:rPr>
                                <m:t>𝓛</m:t>
                              </m:r>
                            </m:e>
                            <m:sup>
                              <m:r>
                                <a:rPr lang="en-US" sz="2000" b="1" i="1">
                                  <a:solidFill>
                                    <a:schemeClr val="bg2"/>
                                  </a:solidFill>
                                  <a:latin typeface="Cambria Math" charset="0"/>
                                </a:rPr>
                                <m:t>𝒅</m:t>
                              </m:r>
                            </m:sup>
                          </m:sSup>
                          <m:r>
                            <a:rPr lang="en-US" sz="2000" b="1" i="1">
                              <a:solidFill>
                                <a:schemeClr val="bg2"/>
                              </a:solidFill>
                              <a:latin typeface="Cambria Math" charset="0"/>
                            </a:rPr>
                            <m:t>)|</m:t>
                          </m:r>
                        </m:e>
                      </m:func>
                      <m:r>
                        <a:rPr lang="en-US" sz="2000" b="1" i="1">
                          <a:solidFill>
                            <a:schemeClr val="bg2"/>
                          </a:solidFill>
                          <a:latin typeface="Cambria Math" charset="0"/>
                        </a:rPr>
                        <m:t>−</m:t>
                      </m:r>
                      <m:r>
                        <a:rPr lang="en-US" sz="2000" b="1" i="1">
                          <a:solidFill>
                            <a:schemeClr val="bg2"/>
                          </a:solidFill>
                          <a:latin typeface="Cambria Math" charset="0"/>
                        </a:rPr>
                        <m:t>𝑬</m:t>
                      </m:r>
                      <m:r>
                        <a:rPr lang="en-US" sz="2000" b="1" i="1">
                          <a:solidFill>
                            <a:schemeClr val="bg2"/>
                          </a:solidFill>
                          <a:latin typeface="Cambria Math" charset="0"/>
                        </a:rPr>
                        <m:t>[</m:t>
                      </m:r>
                      <m:func>
                        <m:funcPr>
                          <m:ctrlPr>
                            <a:rPr lang="en-US" sz="2000" b="1" i="1">
                              <a:solidFill>
                                <a:schemeClr val="bg2"/>
                              </a:solidFill>
                              <a:latin typeface="Cambria Math" charset="0"/>
                            </a:rPr>
                          </m:ctrlPr>
                        </m:funcPr>
                        <m:fName>
                          <m:r>
                            <a:rPr lang="en-US" sz="2000" b="1">
                              <a:solidFill>
                                <a:schemeClr val="bg2"/>
                              </a:solidFill>
                              <a:latin typeface="Cambria Math" charset="0"/>
                            </a:rPr>
                            <m:t>𝐥𝐨𝐠</m:t>
                          </m:r>
                        </m:fName>
                        <m:e>
                          <m:sSub>
                            <m:sSubPr>
                              <m:ctrlPr>
                                <a:rPr lang="en-US" sz="2000" b="1" i="1">
                                  <a:solidFill>
                                    <a:schemeClr val="bg2"/>
                                  </a:solidFill>
                                  <a:latin typeface="Cambria Math" charset="0"/>
                                </a:rPr>
                              </m:ctrlPr>
                            </m:sSubPr>
                            <m:e>
                              <m:r>
                                <a:rPr lang="en-US" sz="2000" b="1" i="1">
                                  <a:solidFill>
                                    <a:schemeClr val="bg2"/>
                                  </a:solidFill>
                                  <a:latin typeface="Cambria Math" charset="0"/>
                                </a:rPr>
                                <m:t>𝒇</m:t>
                              </m:r>
                            </m:e>
                            <m:sub>
                              <m:r>
                                <a:rPr lang="en-US" sz="2000" b="1" i="1">
                                  <a:solidFill>
                                    <a:schemeClr val="bg2"/>
                                  </a:solidFill>
                                  <a:latin typeface="Cambria Math" charset="0"/>
                                </a:rPr>
                                <m:t>𝒌</m:t>
                              </m:r>
                            </m:sub>
                          </m:sSub>
                        </m:e>
                      </m:func>
                      <m:r>
                        <a:rPr lang="en-US" sz="2000" b="1" i="1">
                          <a:solidFill>
                            <a:schemeClr val="bg2"/>
                          </a:solidFill>
                          <a:latin typeface="Cambria Math" charset="0"/>
                        </a:rPr>
                        <m:t>]</m:t>
                      </m:r>
                    </m:oMath>
                  </m:oMathPara>
                </a14:m>
                <a:endParaRPr lang="en-US" sz="2000" dirty="0"/>
              </a:p>
            </p:txBody>
          </p:sp>
        </mc:Choice>
        <mc:Fallback xmlns="">
          <p:sp>
            <p:nvSpPr>
              <p:cNvPr id="39" name="TextBox 38">
                <a:extLst>
                  <a:ext uri="{FF2B5EF4-FFF2-40B4-BE49-F238E27FC236}">
                    <a16:creationId xmlns:a16="http://schemas.microsoft.com/office/drawing/2014/main" id="{2BF25D28-0882-3E4C-9A43-3E7FD700838F}"/>
                  </a:ext>
                </a:extLst>
              </p:cNvPr>
              <p:cNvSpPr txBox="1">
                <a:spLocks noRot="1" noChangeAspect="1" noMove="1" noResize="1" noEditPoints="1" noAdjustHandles="1" noChangeArrowheads="1" noChangeShapeType="1" noTextEdit="1"/>
              </p:cNvSpPr>
              <p:nvPr/>
            </p:nvSpPr>
            <p:spPr>
              <a:xfrm>
                <a:off x="564973" y="236233"/>
                <a:ext cx="3405548" cy="412164"/>
              </a:xfrm>
              <a:prstGeom prst="rect">
                <a:avLst/>
              </a:prstGeom>
              <a:blipFill>
                <a:blip r:embed="rId5"/>
                <a:stretch>
                  <a:fillRect b="-12121"/>
                </a:stretch>
              </a:blipFill>
            </p:spPr>
            <p:txBody>
              <a:bodyPr/>
              <a:lstStyle/>
              <a:p>
                <a:r>
                  <a:rPr lang="en-US">
                    <a:noFill/>
                  </a:rPr>
                  <a:t> </a:t>
                </a:r>
              </a:p>
            </p:txBody>
          </p:sp>
        </mc:Fallback>
      </mc:AlternateContent>
      <p:cxnSp>
        <p:nvCxnSpPr>
          <p:cNvPr id="38" name="Straight Arrow Connector 37">
            <a:extLst>
              <a:ext uri="{FF2B5EF4-FFF2-40B4-BE49-F238E27FC236}">
                <a16:creationId xmlns="" xmlns:a16="http://schemas.microsoft.com/office/drawing/2014/main" id="{EDA6937A-78B8-2C41-B1FA-EB43FCF3B09D}"/>
              </a:ext>
            </a:extLst>
          </p:cNvPr>
          <p:cNvCxnSpPr>
            <a:stCxn id="39" idx="3"/>
            <a:endCxn id="37" idx="1"/>
          </p:cNvCxnSpPr>
          <p:nvPr/>
        </p:nvCxnSpPr>
        <p:spPr>
          <a:xfrm>
            <a:off x="3970521" y="442315"/>
            <a:ext cx="440897" cy="6027"/>
          </a:xfrm>
          <a:prstGeom prst="straightConnector1">
            <a:avLst/>
          </a:prstGeom>
          <a:ln w="38100">
            <a:solidFill>
              <a:schemeClr val="tx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 xmlns:a16="http://schemas.microsoft.com/office/drawing/2014/main" id="{CE400D2A-F544-1D4A-9F4B-82C5DD582F7B}"/>
              </a:ext>
            </a:extLst>
          </p:cNvPr>
          <p:cNvGrpSpPr/>
          <p:nvPr/>
        </p:nvGrpSpPr>
        <p:grpSpPr>
          <a:xfrm>
            <a:off x="1264984" y="3810000"/>
            <a:ext cx="6614031" cy="1678256"/>
            <a:chOff x="1104402" y="4114800"/>
            <a:chExt cx="6614031" cy="1678256"/>
          </a:xfrm>
        </p:grpSpPr>
        <p:grpSp>
          <p:nvGrpSpPr>
            <p:cNvPr id="7" name="Group 6">
              <a:extLst>
                <a:ext uri="{FF2B5EF4-FFF2-40B4-BE49-F238E27FC236}">
                  <a16:creationId xmlns="" xmlns:a16="http://schemas.microsoft.com/office/drawing/2014/main" id="{709656A2-2BED-7F49-BFC0-27FEDDBFC42A}"/>
                </a:ext>
              </a:extLst>
            </p:cNvPr>
            <p:cNvGrpSpPr/>
            <p:nvPr/>
          </p:nvGrpSpPr>
          <p:grpSpPr>
            <a:xfrm>
              <a:off x="1104402" y="4114800"/>
              <a:ext cx="6614031" cy="1024354"/>
              <a:chOff x="1447800" y="4038600"/>
              <a:chExt cx="6614031" cy="1024354"/>
            </a:xfrm>
          </p:grpSpPr>
          <p:sp>
            <p:nvSpPr>
              <p:cNvPr id="23" name="Rectangle 22">
                <a:extLst>
                  <a:ext uri="{FF2B5EF4-FFF2-40B4-BE49-F238E27FC236}">
                    <a16:creationId xmlns="" xmlns:a16="http://schemas.microsoft.com/office/drawing/2014/main" id="{2EE732B2-49F7-DE4C-9851-03FE6F642997}"/>
                  </a:ext>
                </a:extLst>
              </p:cNvPr>
              <p:cNvSpPr/>
              <p:nvPr/>
            </p:nvSpPr>
            <p:spPr>
              <a:xfrm>
                <a:off x="1447800" y="4267200"/>
                <a:ext cx="6614031" cy="7957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rgbClr val="C27990"/>
                    </a:solidFill>
                    <a:latin typeface="Courier" pitchFamily="2" charset="0"/>
                  </a:rPr>
                  <a:t>This is an example showing the BIO structure .</a:t>
                </a:r>
              </a:p>
              <a:p>
                <a:r>
                  <a:rPr lang="en-US" b="1" dirty="0">
                    <a:solidFill>
                      <a:srgbClr val="C27990"/>
                    </a:solidFill>
                    <a:latin typeface="Courier" pitchFamily="2" charset="0"/>
                  </a:rPr>
                  <a:t>  O   O  B    I       O     B   I      I     O</a:t>
                </a:r>
              </a:p>
              <a:p>
                <a:r>
                  <a:rPr lang="en-US" b="1" dirty="0">
                    <a:solidFill>
                      <a:srgbClr val="C27990"/>
                    </a:solidFill>
                    <a:latin typeface="Courier" pitchFamily="2" charset="0"/>
                  </a:rPr>
                  <a:t>  </a:t>
                </a:r>
              </a:p>
            </p:txBody>
          </p:sp>
          <p:sp>
            <p:nvSpPr>
              <p:cNvPr id="4" name="Rounded Rectangle 3">
                <a:extLst>
                  <a:ext uri="{FF2B5EF4-FFF2-40B4-BE49-F238E27FC236}">
                    <a16:creationId xmlns="" xmlns:a16="http://schemas.microsoft.com/office/drawing/2014/main" id="{D319FC6F-A7A2-EA45-A5FD-503167563E98}"/>
                  </a:ext>
                </a:extLst>
              </p:cNvPr>
              <p:cNvSpPr/>
              <p:nvPr/>
            </p:nvSpPr>
            <p:spPr>
              <a:xfrm>
                <a:off x="2590800" y="4038600"/>
                <a:ext cx="1447800" cy="990600"/>
              </a:xfrm>
              <a:prstGeom prst="roundRect">
                <a:avLst/>
              </a:prstGeom>
              <a:noFill/>
              <a:ln w="38100">
                <a:solidFill>
                  <a:srgbClr val="C2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 xmlns:a16="http://schemas.microsoft.com/office/drawing/2014/main" id="{A3C34A97-BE7C-8642-A5BC-92E1BD4B3816}"/>
                  </a:ext>
                </a:extLst>
              </p:cNvPr>
              <p:cNvSpPr/>
              <p:nvPr/>
            </p:nvSpPr>
            <p:spPr>
              <a:xfrm>
                <a:off x="5137230" y="4038600"/>
                <a:ext cx="2482769" cy="990600"/>
              </a:xfrm>
              <a:prstGeom prst="roundRect">
                <a:avLst/>
              </a:prstGeom>
              <a:noFill/>
              <a:ln w="38100">
                <a:solidFill>
                  <a:srgbClr val="C279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 xmlns:a16="http://schemas.microsoft.com/office/drawing/2014/main" id="{40AB736F-AD3C-E24C-864C-591588298782}"/>
                </a:ext>
              </a:extLst>
            </p:cNvPr>
            <p:cNvSpPr txBox="1"/>
            <p:nvPr/>
          </p:nvSpPr>
          <p:spPr>
            <a:xfrm>
              <a:off x="3096564" y="5423724"/>
              <a:ext cx="873957" cy="369332"/>
            </a:xfrm>
            <a:prstGeom prst="rect">
              <a:avLst/>
            </a:prstGeom>
            <a:noFill/>
          </p:spPr>
          <p:txBody>
            <a:bodyPr wrap="none" rtlCol="0">
              <a:spAutoFit/>
            </a:bodyPr>
            <a:lstStyle/>
            <a:p>
              <a:r>
                <a:rPr lang="en-US" dirty="0">
                  <a:solidFill>
                    <a:srgbClr val="665E8A"/>
                  </a:solidFill>
                  <a:latin typeface="Courier" pitchFamily="2" charset="0"/>
                </a:rPr>
                <a:t>Begin</a:t>
              </a:r>
            </a:p>
          </p:txBody>
        </p:sp>
        <p:sp>
          <p:nvSpPr>
            <p:cNvPr id="29" name="TextBox 28">
              <a:extLst>
                <a:ext uri="{FF2B5EF4-FFF2-40B4-BE49-F238E27FC236}">
                  <a16:creationId xmlns="" xmlns:a16="http://schemas.microsoft.com/office/drawing/2014/main" id="{73C2D277-9274-8749-A44E-476ED84D3E89}"/>
                </a:ext>
              </a:extLst>
            </p:cNvPr>
            <p:cNvSpPr txBox="1"/>
            <p:nvPr/>
          </p:nvSpPr>
          <p:spPr>
            <a:xfrm>
              <a:off x="5076462" y="5423724"/>
              <a:ext cx="1011815" cy="369332"/>
            </a:xfrm>
            <a:prstGeom prst="rect">
              <a:avLst/>
            </a:prstGeom>
            <a:noFill/>
          </p:spPr>
          <p:txBody>
            <a:bodyPr wrap="none" rtlCol="0">
              <a:spAutoFit/>
            </a:bodyPr>
            <a:lstStyle/>
            <a:p>
              <a:r>
                <a:rPr lang="en-US" dirty="0">
                  <a:solidFill>
                    <a:srgbClr val="665E8A"/>
                  </a:solidFill>
                  <a:latin typeface="Courier" pitchFamily="2" charset="0"/>
                </a:rPr>
                <a:t>Inside</a:t>
              </a:r>
            </a:p>
          </p:txBody>
        </p:sp>
        <p:cxnSp>
          <p:nvCxnSpPr>
            <p:cNvPr id="10" name="Straight Arrow Connector 9">
              <a:extLst>
                <a:ext uri="{FF2B5EF4-FFF2-40B4-BE49-F238E27FC236}">
                  <a16:creationId xmlns="" xmlns:a16="http://schemas.microsoft.com/office/drawing/2014/main" id="{8CC4CB8E-8E11-5348-BABA-56558739EA67}"/>
                </a:ext>
              </a:extLst>
            </p:cNvPr>
            <p:cNvCxnSpPr>
              <a:stCxn id="28" idx="0"/>
            </p:cNvCxnSpPr>
            <p:nvPr/>
          </p:nvCxnSpPr>
          <p:spPr>
            <a:xfrm flipH="1" flipV="1">
              <a:off x="2528739" y="4876800"/>
              <a:ext cx="1004804" cy="546924"/>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 xmlns:a16="http://schemas.microsoft.com/office/drawing/2014/main" id="{9FCC7E16-3B3E-0F46-875E-21FC10EC32D6}"/>
                </a:ext>
              </a:extLst>
            </p:cNvPr>
            <p:cNvCxnSpPr>
              <a:stCxn id="28" idx="0"/>
            </p:cNvCxnSpPr>
            <p:nvPr/>
          </p:nvCxnSpPr>
          <p:spPr>
            <a:xfrm flipV="1">
              <a:off x="3533543" y="4848815"/>
              <a:ext cx="1535608" cy="574909"/>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 xmlns:a16="http://schemas.microsoft.com/office/drawing/2014/main" id="{7840ACA8-5401-5C44-98A0-6CFF05A99FEB}"/>
                </a:ext>
              </a:extLst>
            </p:cNvPr>
            <p:cNvCxnSpPr>
              <a:stCxn id="29" idx="0"/>
            </p:cNvCxnSpPr>
            <p:nvPr/>
          </p:nvCxnSpPr>
          <p:spPr>
            <a:xfrm flipH="1" flipV="1">
              <a:off x="3224523" y="4876800"/>
              <a:ext cx="2357847" cy="546924"/>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 xmlns:a16="http://schemas.microsoft.com/office/drawing/2014/main" id="{DBE42CE6-596B-CA48-A5AC-6C7F71FEFBA3}"/>
                </a:ext>
              </a:extLst>
            </p:cNvPr>
            <p:cNvCxnSpPr>
              <a:stCxn id="29" idx="0"/>
            </p:cNvCxnSpPr>
            <p:nvPr/>
          </p:nvCxnSpPr>
          <p:spPr>
            <a:xfrm flipV="1">
              <a:off x="5582370" y="4848815"/>
              <a:ext cx="76598" cy="574909"/>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15905B78-1BE8-FA44-BD73-C088DBC6A779}"/>
                </a:ext>
              </a:extLst>
            </p:cNvPr>
            <p:cNvCxnSpPr>
              <a:stCxn id="29" idx="0"/>
            </p:cNvCxnSpPr>
            <p:nvPr/>
          </p:nvCxnSpPr>
          <p:spPr>
            <a:xfrm flipV="1">
              <a:off x="5582370" y="4848815"/>
              <a:ext cx="1004804" cy="574909"/>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93150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14:m>
                  <m:oMath xmlns:m="http://schemas.openxmlformats.org/officeDocument/2006/math">
                    <m:sSub>
                      <m:sSubPr>
                        <m:ctrlPr>
                          <a:rPr lang="en-US" i="1" smtClean="0">
                            <a:latin typeface="Cambria Math" charset="0"/>
                          </a:rPr>
                        </m:ctrlPr>
                      </m:sSubPr>
                      <m:e>
                        <m:r>
                          <a:rPr lang="en-US" smtClean="0">
                            <a:latin typeface="Cambria Math" panose="02040503050406030204" pitchFamily="18" charset="0"/>
                          </a:rPr>
                          <m:t>𝐼</m:t>
                        </m:r>
                      </m:e>
                      <m:sub>
                        <m:r>
                          <a:rPr lang="en-US" smtClean="0">
                            <a:latin typeface="Cambria Math" panose="02040503050406030204" pitchFamily="18" charset="0"/>
                          </a:rPr>
                          <m:t>𝑘</m:t>
                        </m:r>
                      </m:sub>
                    </m:sSub>
                  </m:oMath>
                </a14:m>
                <a:r>
                  <a:rPr lang="en-US" dirty="0"/>
                  <a:t> is concave!</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489" t="-16279" b="-372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Placeholder 9"/>
              <p:cNvSpPr>
                <a:spLocks noGrp="1"/>
              </p:cNvSpPr>
              <p:nvPr>
                <p:ph idx="1"/>
              </p:nvPr>
            </p:nvSpPr>
            <p:spPr>
              <a:xfrm>
                <a:off x="457200" y="1659484"/>
                <a:ext cx="4800096" cy="4016829"/>
              </a:xfrm>
            </p:spPr>
            <p:txBody>
              <a:bodyPr/>
              <a:lstStyle/>
              <a:p>
                <a:pPr marL="0" indent="0">
                  <a:buNone/>
                </a:pPr>
                <a:r>
                  <a:rPr lang="en-US" sz="1800" dirty="0"/>
                  <a:t>i.e., </a:t>
                </a:r>
                <a14:m>
                  <m:oMath xmlns:m="http://schemas.openxmlformats.org/officeDocument/2006/math">
                    <m:sSub>
                      <m:sSubPr>
                        <m:ctrlPr>
                          <a:rPr lang="en-US" sz="1800" b="0" i="1" smtClean="0">
                            <a:latin typeface="Cambria Math" charset="0"/>
                          </a:rPr>
                        </m:ctrlPr>
                      </m:sSubPr>
                      <m:e>
                        <m:r>
                          <m:rPr>
                            <m:sty m:val="p"/>
                          </m:rPr>
                          <a:rPr lang="en-US" sz="1800" b="0" i="0" smtClean="0">
                            <a:latin typeface="Cambria Math" panose="02040503050406030204" pitchFamily="18" charset="0"/>
                          </a:rPr>
                          <m:t>Δ</m:t>
                        </m:r>
                      </m:e>
                      <m:sub>
                        <m:r>
                          <a:rPr lang="en-US" sz="1800" b="0" i="1" smtClean="0">
                            <a:latin typeface="Cambria Math" panose="02040503050406030204" pitchFamily="18" charset="0"/>
                          </a:rPr>
                          <m:t>𝑘</m:t>
                        </m:r>
                      </m:sub>
                    </m:sSub>
                  </m:oMath>
                </a14:m>
                <a:r>
                  <a:rPr lang="en-US" sz="1800" dirty="0"/>
                  <a:t> is decreasing as k grows.</a:t>
                </a:r>
              </a:p>
              <a:p>
                <a:endParaRPr lang="en-US" sz="1800" dirty="0"/>
              </a:p>
              <a:p>
                <a:pPr marL="0" indent="0">
                  <a:buNone/>
                </a:pPr>
                <a:r>
                  <a:rPr lang="en-US" sz="1800" dirty="0"/>
                  <a:t>Diminishing return of new labels with in the same structure</a:t>
                </a:r>
              </a:p>
              <a:p>
                <a:pPr marL="0" indent="0">
                  <a:buNone/>
                </a:pPr>
                <a:endParaRPr lang="en-US" sz="1800" dirty="0"/>
              </a:p>
              <a:p>
                <a:pPr marL="0" indent="0">
                  <a:buNone/>
                </a:pPr>
                <a:r>
                  <a:rPr lang="en-US" sz="1800" dirty="0"/>
                  <a:t>Is it better to annotate a structure partially than completely?</a:t>
                </a:r>
              </a:p>
              <a:p>
                <a:pPr marL="0" indent="0">
                  <a:buNone/>
                </a:pPr>
                <a:endParaRPr lang="en-US" sz="1800" dirty="0"/>
              </a:p>
              <a:p>
                <a:pPr marL="0" indent="0">
                  <a:buNone/>
                </a:pPr>
                <a:r>
                  <a:rPr lang="en-US" sz="1800" dirty="0"/>
                  <a:t>We need experiments to verify this.</a:t>
                </a:r>
              </a:p>
            </p:txBody>
          </p:sp>
        </mc:Choice>
        <mc:Fallback xmlns="">
          <p:sp>
            <p:nvSpPr>
              <p:cNvPr id="10" name="Text Placeholder 9"/>
              <p:cNvSpPr>
                <a:spLocks noGrp="1" noRot="1" noChangeAspect="1" noMove="1" noResize="1" noEditPoints="1" noAdjustHandles="1" noChangeArrowheads="1" noChangeShapeType="1" noTextEdit="1"/>
              </p:cNvSpPr>
              <p:nvPr>
                <p:ph idx="1"/>
              </p:nvPr>
            </p:nvSpPr>
            <p:spPr>
              <a:xfrm>
                <a:off x="457200" y="1659484"/>
                <a:ext cx="4800096" cy="4016829"/>
              </a:xfrm>
              <a:blipFill>
                <a:blip r:embed="rId4"/>
                <a:stretch>
                  <a:fillRect l="-1323" t="-631"/>
                </a:stretch>
              </a:blipFill>
            </p:spPr>
            <p:txBody>
              <a:bodyPr/>
              <a:lstStyle/>
              <a:p>
                <a:r>
                  <a:rPr lang="en-US">
                    <a:noFill/>
                  </a:rPr>
                  <a:t> </a:t>
                </a:r>
              </a:p>
            </p:txBody>
          </p:sp>
        </mc:Fallback>
      </mc:AlternateContent>
      <p:sp>
        <p:nvSpPr>
          <p:cNvPr id="4" name="Slide Number Placeholder 3">
            <a:extLst>
              <a:ext uri="{FF2B5EF4-FFF2-40B4-BE49-F238E27FC236}">
                <a16:creationId xmlns="" xmlns:a16="http://schemas.microsoft.com/office/drawing/2014/main" id="{84F0A16C-79F0-4790-929A-B6975C8436E7}"/>
              </a:ext>
            </a:extLst>
          </p:cNvPr>
          <p:cNvSpPr>
            <a:spLocks noGrp="1"/>
          </p:cNvSpPr>
          <p:nvPr>
            <p:ph type="sldNum" sz="quarter" idx="4294967295"/>
          </p:nvPr>
        </p:nvSpPr>
        <p:spPr bwMode="auto">
          <a:xfrm>
            <a:off x="11292116" y="6523921"/>
            <a:ext cx="5080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marL="0" algn="ctr" defTabSz="914400" rtl="0" eaLnBrk="1" latinLnBrk="0" hangingPunct="1">
              <a:defRPr sz="1200" kern="1200">
                <a:solidFill>
                  <a:schemeClr val="tx1"/>
                </a:solidFill>
                <a:latin typeface="Arial" pitchFamily="34" charset="0"/>
                <a:ea typeface="Arial Unicode MS" pitchFamily="34" charset="-128"/>
                <a:cs typeface="Arial Unicode MS" pitchFamily="34"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F588C3-71D6-5D45-B118-1C664482E1C2}" type="slidenum">
              <a:rPr lang="en-US" smtClean="0"/>
              <a:pPr/>
              <a:t>108</a:t>
            </a:fld>
            <a:endParaRPr lang="en-US" dirty="0"/>
          </a:p>
        </p:txBody>
      </p:sp>
      <p:grpSp>
        <p:nvGrpSpPr>
          <p:cNvPr id="17" name="Group 16">
            <a:extLst>
              <a:ext uri="{FF2B5EF4-FFF2-40B4-BE49-F238E27FC236}">
                <a16:creationId xmlns="" xmlns:a16="http://schemas.microsoft.com/office/drawing/2014/main" id="{C872CFF1-7E76-0D4B-85B9-E1B3E6DEFD0B}"/>
              </a:ext>
            </a:extLst>
          </p:cNvPr>
          <p:cNvGrpSpPr/>
          <p:nvPr/>
        </p:nvGrpSpPr>
        <p:grpSpPr>
          <a:xfrm>
            <a:off x="4871140" y="1194387"/>
            <a:ext cx="4498395" cy="3758613"/>
            <a:chOff x="5005896" y="1420585"/>
            <a:chExt cx="4138104" cy="3457575"/>
          </a:xfrm>
        </p:grpSpPr>
        <p:grpSp>
          <p:nvGrpSpPr>
            <p:cNvPr id="9" name="Group 8">
              <a:extLst>
                <a:ext uri="{FF2B5EF4-FFF2-40B4-BE49-F238E27FC236}">
                  <a16:creationId xmlns="" xmlns:a16="http://schemas.microsoft.com/office/drawing/2014/main" id="{92BCD1E0-BC41-234E-A5A0-11BDC63A7F2D}"/>
                </a:ext>
              </a:extLst>
            </p:cNvPr>
            <p:cNvGrpSpPr/>
            <p:nvPr/>
          </p:nvGrpSpPr>
          <p:grpSpPr>
            <a:xfrm>
              <a:off x="5005896" y="1420585"/>
              <a:ext cx="4138104" cy="3457575"/>
              <a:chOff x="5005896" y="1420585"/>
              <a:chExt cx="4138104" cy="3457575"/>
            </a:xfrm>
          </p:grpSpPr>
          <p:pic>
            <p:nvPicPr>
              <p:cNvPr id="3" name="Picture 2"/>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005896" y="1420585"/>
                <a:ext cx="4138104" cy="3457575"/>
              </a:xfrm>
              <a:prstGeom prst="rect">
                <a:avLst/>
              </a:prstGeom>
            </p:spPr>
          </p:pic>
          <p:grpSp>
            <p:nvGrpSpPr>
              <p:cNvPr id="8" name="Group 7">
                <a:extLst>
                  <a:ext uri="{FF2B5EF4-FFF2-40B4-BE49-F238E27FC236}">
                    <a16:creationId xmlns="" xmlns:a16="http://schemas.microsoft.com/office/drawing/2014/main" id="{C6B22F2B-8E0D-F840-80EA-482FC0DC9160}"/>
                  </a:ext>
                </a:extLst>
              </p:cNvPr>
              <p:cNvGrpSpPr/>
              <p:nvPr/>
            </p:nvGrpSpPr>
            <p:grpSpPr>
              <a:xfrm>
                <a:off x="5202956" y="1420585"/>
                <a:ext cx="3743984" cy="283030"/>
                <a:chOff x="5202956" y="1420585"/>
                <a:chExt cx="3743984" cy="283030"/>
              </a:xfrm>
            </p:grpSpPr>
            <p:sp>
              <p:nvSpPr>
                <p:cNvPr id="7" name="Rectangle 6">
                  <a:extLst>
                    <a:ext uri="{FF2B5EF4-FFF2-40B4-BE49-F238E27FC236}">
                      <a16:creationId xmlns="" xmlns:a16="http://schemas.microsoft.com/office/drawing/2014/main" id="{C39DE545-AD60-F344-B489-58ACA285B2B9}"/>
                    </a:ext>
                  </a:extLst>
                </p:cNvPr>
                <p:cNvSpPr/>
                <p:nvPr/>
              </p:nvSpPr>
              <p:spPr>
                <a:xfrm>
                  <a:off x="6122448" y="1447800"/>
                  <a:ext cx="1905000" cy="25581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5D627CD5-4AE6-1B4A-B209-94A0E7592FD6}"/>
                        </a:ext>
                      </a:extLst>
                    </p:cNvPr>
                    <p:cNvSpPr txBox="1"/>
                    <p:nvPr/>
                  </p:nvSpPr>
                  <p:spPr>
                    <a:xfrm>
                      <a:off x="5202956" y="1420585"/>
                      <a:ext cx="3743984" cy="226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𝜟</m:t>
                                </m:r>
                              </m:e>
                              <m:sub>
                                <m:r>
                                  <a:rPr lang="en-US" sz="1600" b="1" i="1">
                                    <a:solidFill>
                                      <a:schemeClr val="bg2">
                                        <a:lumMod val="75000"/>
                                        <a:lumOff val="25000"/>
                                      </a:schemeClr>
                                    </a:solidFill>
                                    <a:latin typeface="Cambria Math"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sub>
                            </m:sSub>
                            <m:r>
                              <a:rPr lang="en-US" sz="1600" b="1" i="1">
                                <a:solidFill>
                                  <a:schemeClr val="bg2">
                                    <a:lumMod val="75000"/>
                                    <a:lumOff val="25000"/>
                                  </a:schemeClr>
                                </a:solidFill>
                                <a:latin typeface="Cambria Math" panose="02040503050406030204" pitchFamily="18" charset="0"/>
                              </a:rPr>
                              <m:t>−</m:t>
                            </m:r>
                            <m:sSub>
                              <m:sSubPr>
                                <m:ctrlPr>
                                  <a:rPr lang="en-US" sz="1600" b="1" i="1">
                                    <a:solidFill>
                                      <a:schemeClr val="bg2">
                                        <a:lumMod val="75000"/>
                                        <a:lumOff val="25000"/>
                                      </a:schemeClr>
                                    </a:solidFill>
                                    <a:latin typeface="Cambria Math" charset="0"/>
                                  </a:rPr>
                                </m:ctrlPr>
                              </m:sSubPr>
                              <m:e>
                                <m:r>
                                  <a:rPr lang="en-US" sz="1600" b="1" i="1">
                                    <a:solidFill>
                                      <a:schemeClr val="bg2">
                                        <a:lumMod val="75000"/>
                                        <a:lumOff val="25000"/>
                                      </a:schemeClr>
                                    </a:solidFill>
                                    <a:latin typeface="Cambria Math" panose="02040503050406030204" pitchFamily="18" charset="0"/>
                                  </a:rPr>
                                  <m:t>𝑰</m:t>
                                </m:r>
                              </m:e>
                              <m:sub>
                                <m:r>
                                  <a:rPr lang="en-US" sz="1600" b="1" i="1">
                                    <a:solidFill>
                                      <a:schemeClr val="bg2">
                                        <a:lumMod val="75000"/>
                                        <a:lumOff val="25000"/>
                                      </a:schemeClr>
                                    </a:solidFill>
                                    <a:latin typeface="Cambria Math" panose="02040503050406030204" pitchFamily="18" charset="0"/>
                                  </a:rPr>
                                  <m:t>𝒌</m:t>
                                </m:r>
                                <m:r>
                                  <a:rPr lang="en-US" sz="1600" b="1" i="1">
                                    <a:solidFill>
                                      <a:schemeClr val="bg2">
                                        <a:lumMod val="75000"/>
                                        <a:lumOff val="25000"/>
                                      </a:schemeClr>
                                    </a:solidFill>
                                    <a:latin typeface="Cambria Math" panose="02040503050406030204" pitchFamily="18" charset="0"/>
                                  </a:rPr>
                                  <m:t>−</m:t>
                                </m:r>
                                <m:r>
                                  <a:rPr lang="en-US" sz="1600" b="1" i="1">
                                    <a:solidFill>
                                      <a:schemeClr val="bg2">
                                        <a:lumMod val="75000"/>
                                        <a:lumOff val="25000"/>
                                      </a:schemeClr>
                                    </a:solidFill>
                                    <a:latin typeface="Cambria Math" panose="02040503050406030204" pitchFamily="18" charset="0"/>
                                  </a:rPr>
                                  <m:t>𝟏</m:t>
                                </m:r>
                              </m:sub>
                            </m:sSub>
                            <m:r>
                              <a:rPr lang="en-US" sz="1600" b="1" i="1">
                                <a:solidFill>
                                  <a:schemeClr val="bg2">
                                    <a:lumMod val="75000"/>
                                    <a:lumOff val="25000"/>
                                  </a:schemeClr>
                                </a:solidFill>
                                <a:latin typeface="Cambria Math" panose="02040503050406030204" pitchFamily="18" charset="0"/>
                              </a:rPr>
                              <m:t> </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The</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benefit</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of</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a</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new</m:t>
                            </m:r>
                            <m:r>
                              <m:rPr>
                                <m:nor/>
                              </m:rPr>
                              <a:rPr lang="en-US" sz="1600" b="1" dirty="0">
                                <a:solidFill>
                                  <a:schemeClr val="bg2">
                                    <a:lumMod val="75000"/>
                                    <a:lumOff val="25000"/>
                                  </a:schemeClr>
                                </a:solidFill>
                                <a:latin typeface="Century Gothic" panose="020B0502020202020204" pitchFamily="34" charset="0"/>
                              </a:rPr>
                              <m:t> </m:t>
                            </m:r>
                            <m:r>
                              <m:rPr>
                                <m:nor/>
                              </m:rPr>
                              <a:rPr lang="en-US" sz="1600" b="1" dirty="0">
                                <a:solidFill>
                                  <a:schemeClr val="bg2">
                                    <a:lumMod val="75000"/>
                                    <a:lumOff val="25000"/>
                                  </a:schemeClr>
                                </a:solidFill>
                                <a:latin typeface="Century Gothic" panose="020B0502020202020204" pitchFamily="34" charset="0"/>
                              </a:rPr>
                              <m:t>label</m:t>
                            </m:r>
                          </m:oMath>
                        </m:oMathPara>
                      </a14:m>
                      <a:endParaRPr lang="en-US" sz="1600" b="1" dirty="0">
                        <a:solidFill>
                          <a:schemeClr val="bg2">
                            <a:lumMod val="75000"/>
                            <a:lumOff val="25000"/>
                          </a:schemeClr>
                        </a:solidFill>
                        <a:latin typeface="Century Gothic" panose="020B0502020202020204" pitchFamily="34" charset="0"/>
                      </a:endParaRPr>
                    </a:p>
                  </p:txBody>
                </p:sp>
              </mc:Choice>
              <mc:Fallback xmlns="">
                <p:sp>
                  <p:nvSpPr>
                    <p:cNvPr id="5" name="TextBox 4">
                      <a:extLst>
                        <a:ext uri="{FF2B5EF4-FFF2-40B4-BE49-F238E27FC236}">
                          <a16:creationId xmlns:a16="http://schemas.microsoft.com/office/drawing/2014/main" id="{5D627CD5-4AE6-1B4A-B209-94A0E7592FD6}"/>
                        </a:ext>
                      </a:extLst>
                    </p:cNvPr>
                    <p:cNvSpPr txBox="1">
                      <a:spLocks noRot="1" noChangeAspect="1" noMove="1" noResize="1" noEditPoints="1" noAdjustHandles="1" noChangeArrowheads="1" noChangeShapeType="1" noTextEdit="1"/>
                    </p:cNvSpPr>
                    <p:nvPr/>
                  </p:nvSpPr>
                  <p:spPr>
                    <a:xfrm>
                      <a:off x="5202956" y="1420585"/>
                      <a:ext cx="3743984" cy="226501"/>
                    </a:xfrm>
                    <a:prstGeom prst="rect">
                      <a:avLst/>
                    </a:prstGeom>
                    <a:blipFill>
                      <a:blip r:embed="rId6"/>
                      <a:stretch>
                        <a:fillRect l="-311" t="-15000" r="-621" b="-40000"/>
                      </a:stretch>
                    </a:blipFill>
                  </p:spPr>
                  <p:txBody>
                    <a:bodyPr/>
                    <a:lstStyle/>
                    <a:p>
                      <a:r>
                        <a:rPr lang="en-US">
                          <a:noFill/>
                        </a:rPr>
                        <a:t> </a:t>
                      </a:r>
                    </a:p>
                  </p:txBody>
                </p:sp>
              </mc:Fallback>
            </mc:AlternateContent>
          </p:grpSp>
        </p:grpSp>
        <p:grpSp>
          <p:nvGrpSpPr>
            <p:cNvPr id="16" name="Group 15">
              <a:extLst>
                <a:ext uri="{FF2B5EF4-FFF2-40B4-BE49-F238E27FC236}">
                  <a16:creationId xmlns="" xmlns:a16="http://schemas.microsoft.com/office/drawing/2014/main" id="{4F2BDF33-038B-E74A-A522-FF0886010F5F}"/>
                </a:ext>
              </a:extLst>
            </p:cNvPr>
            <p:cNvGrpSpPr/>
            <p:nvPr/>
          </p:nvGrpSpPr>
          <p:grpSpPr>
            <a:xfrm>
              <a:off x="5802701" y="3652479"/>
              <a:ext cx="1055299" cy="283127"/>
              <a:chOff x="5498046" y="5025334"/>
              <a:chExt cx="1131882" cy="283127"/>
            </a:xfrm>
          </p:grpSpPr>
          <p:sp>
            <p:nvSpPr>
              <p:cNvPr id="15" name="Rectangle 14">
                <a:extLst>
                  <a:ext uri="{FF2B5EF4-FFF2-40B4-BE49-F238E27FC236}">
                    <a16:creationId xmlns="" xmlns:a16="http://schemas.microsoft.com/office/drawing/2014/main" id="{9FEF3011-1328-4A49-A5F9-5B087F98A6AD}"/>
                  </a:ext>
                </a:extLst>
              </p:cNvPr>
              <p:cNvSpPr/>
              <p:nvPr/>
            </p:nvSpPr>
            <p:spPr>
              <a:xfrm>
                <a:off x="5498046" y="5053012"/>
                <a:ext cx="1131882" cy="221645"/>
              </a:xfrm>
              <a:prstGeom prst="rect">
                <a:avLst/>
              </a:prstGeom>
              <a:solidFill>
                <a:schemeClr val="tx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 xmlns:a16="http://schemas.microsoft.com/office/drawing/2014/main" id="{7A29EFC7-2AE0-B949-B6B5-935E0012BE7D}"/>
                  </a:ext>
                </a:extLst>
              </p:cNvPr>
              <p:cNvSpPr txBox="1"/>
              <p:nvPr/>
            </p:nvSpPr>
            <p:spPr>
              <a:xfrm>
                <a:off x="5535598" y="5025334"/>
                <a:ext cx="1030399" cy="283127"/>
              </a:xfrm>
              <a:prstGeom prst="rect">
                <a:avLst/>
              </a:prstGeom>
              <a:noFill/>
            </p:spPr>
            <p:txBody>
              <a:bodyPr wrap="none" rtlCol="0">
                <a:spAutoFit/>
              </a:bodyPr>
              <a:lstStyle/>
              <a:p>
                <a:r>
                  <a:rPr lang="en-US" sz="1400" dirty="0" err="1">
                    <a:solidFill>
                      <a:srgbClr val="0C0C0C"/>
                    </a:solidFill>
                    <a:latin typeface="+mj-lt"/>
                    <a:cs typeface="Arial" panose="020B0604020202020204" pitchFamily="34" charset="0"/>
                  </a:rPr>
                  <a:t>Seq</a:t>
                </a:r>
                <a:r>
                  <a:rPr lang="en-US" sz="1400" dirty="0">
                    <a:solidFill>
                      <a:srgbClr val="0C0C0C"/>
                    </a:solidFill>
                    <a:latin typeface="+mj-lt"/>
                    <a:cs typeface="Arial" panose="020B0604020202020204" pitchFamily="34" charset="0"/>
                  </a:rPr>
                  <a:t> Tagging</a:t>
                </a:r>
              </a:p>
            </p:txBody>
          </p:sp>
        </p:grpSp>
      </p:grpSp>
      <p:grpSp>
        <p:nvGrpSpPr>
          <p:cNvPr id="18" name="Group 17">
            <a:extLst>
              <a:ext uri="{FF2B5EF4-FFF2-40B4-BE49-F238E27FC236}">
                <a16:creationId xmlns="" xmlns:a16="http://schemas.microsoft.com/office/drawing/2014/main" id="{D4682929-7E89-8B4A-ABD5-06F5333C763E}"/>
              </a:ext>
            </a:extLst>
          </p:cNvPr>
          <p:cNvGrpSpPr/>
          <p:nvPr/>
        </p:nvGrpSpPr>
        <p:grpSpPr>
          <a:xfrm>
            <a:off x="344521" y="4805442"/>
            <a:ext cx="4702963" cy="1335968"/>
            <a:chOff x="2530133" y="2652231"/>
            <a:chExt cx="4702963" cy="1335968"/>
          </a:xfrm>
        </p:grpSpPr>
        <p:sp>
          <p:nvSpPr>
            <p:cNvPr id="19" name="Rectangle 18">
              <a:extLst>
                <a:ext uri="{FF2B5EF4-FFF2-40B4-BE49-F238E27FC236}">
                  <a16:creationId xmlns="" xmlns:a16="http://schemas.microsoft.com/office/drawing/2014/main" id="{2EAA365F-BA27-D64B-AECD-6F7B4F0543F2}"/>
                </a:ext>
              </a:extLst>
            </p:cNvPr>
            <p:cNvSpPr/>
            <p:nvPr/>
          </p:nvSpPr>
          <p:spPr>
            <a:xfrm>
              <a:off x="4947096" y="2652231"/>
              <a:ext cx="2286000" cy="1335968"/>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20" name="Rectangle 19">
              <a:extLst>
                <a:ext uri="{FF2B5EF4-FFF2-40B4-BE49-F238E27FC236}">
                  <a16:creationId xmlns="" xmlns:a16="http://schemas.microsoft.com/office/drawing/2014/main" id="{741D1397-6107-AB4E-82FA-7C093AB9C892}"/>
                </a:ext>
              </a:extLst>
            </p:cNvPr>
            <p:cNvSpPr/>
            <p:nvPr/>
          </p:nvSpPr>
          <p:spPr>
            <a:xfrm>
              <a:off x="2530133" y="2652231"/>
              <a:ext cx="2286000" cy="1335968"/>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nvGrpSpPr>
            <p:cNvPr id="21" name="Group 20">
              <a:extLst>
                <a:ext uri="{FF2B5EF4-FFF2-40B4-BE49-F238E27FC236}">
                  <a16:creationId xmlns="" xmlns:a16="http://schemas.microsoft.com/office/drawing/2014/main" id="{F18FF5FE-5C12-8A4C-AED2-BC6B3F97B77C}"/>
                </a:ext>
              </a:extLst>
            </p:cNvPr>
            <p:cNvGrpSpPr/>
            <p:nvPr/>
          </p:nvGrpSpPr>
          <p:grpSpPr>
            <a:xfrm>
              <a:off x="2618926" y="2927844"/>
              <a:ext cx="1026591" cy="958712"/>
              <a:chOff x="3299081" y="2198810"/>
              <a:chExt cx="1026591" cy="958712"/>
            </a:xfrm>
          </p:grpSpPr>
          <p:grpSp>
            <p:nvGrpSpPr>
              <p:cNvPr id="68" name="Group 67">
                <a:extLst>
                  <a:ext uri="{FF2B5EF4-FFF2-40B4-BE49-F238E27FC236}">
                    <a16:creationId xmlns="" xmlns:a16="http://schemas.microsoft.com/office/drawing/2014/main" id="{484C619D-5A21-624D-8479-3D00BE4718AB}"/>
                  </a:ext>
                </a:extLst>
              </p:cNvPr>
              <p:cNvGrpSpPr/>
              <p:nvPr/>
            </p:nvGrpSpPr>
            <p:grpSpPr>
              <a:xfrm>
                <a:off x="3299081" y="2213447"/>
                <a:ext cx="999609" cy="944075"/>
                <a:chOff x="2226911" y="1490958"/>
                <a:chExt cx="999609" cy="944075"/>
              </a:xfrm>
            </p:grpSpPr>
            <p:sp>
              <p:nvSpPr>
                <p:cNvPr id="70" name="Oval 69">
                  <a:extLst>
                    <a:ext uri="{FF2B5EF4-FFF2-40B4-BE49-F238E27FC236}">
                      <a16:creationId xmlns="" xmlns:a16="http://schemas.microsoft.com/office/drawing/2014/main" id="{DD947118-12E1-494C-89E9-386282CB85CE}"/>
                    </a:ext>
                  </a:extLst>
                </p:cNvPr>
                <p:cNvSpPr/>
                <p:nvPr/>
              </p:nvSpPr>
              <p:spPr>
                <a:xfrm>
                  <a:off x="2634159"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71" name="Oval 70">
                  <a:extLst>
                    <a:ext uri="{FF2B5EF4-FFF2-40B4-BE49-F238E27FC236}">
                      <a16:creationId xmlns="" xmlns:a16="http://schemas.microsoft.com/office/drawing/2014/main" id="{19A353B9-2FFE-A54D-96E9-4C12C9668AFC}"/>
                    </a:ext>
                  </a:extLst>
                </p:cNvPr>
                <p:cNvSpPr/>
                <p:nvPr/>
              </p:nvSpPr>
              <p:spPr>
                <a:xfrm>
                  <a:off x="2226911"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72" name="Oval 71">
                  <a:extLst>
                    <a:ext uri="{FF2B5EF4-FFF2-40B4-BE49-F238E27FC236}">
                      <a16:creationId xmlns="" xmlns:a16="http://schemas.microsoft.com/office/drawing/2014/main" id="{E2A6E995-67D1-E74C-9B2A-C14A73DD6963}"/>
                    </a:ext>
                  </a:extLst>
                </p:cNvPr>
                <p:cNvSpPr/>
                <p:nvPr/>
              </p:nvSpPr>
              <p:spPr>
                <a:xfrm>
                  <a:off x="3041407"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73" name="Oval 72">
                  <a:extLst>
                    <a:ext uri="{FF2B5EF4-FFF2-40B4-BE49-F238E27FC236}">
                      <a16:creationId xmlns="" xmlns:a16="http://schemas.microsoft.com/office/drawing/2014/main" id="{389FC153-E000-8248-8FC4-DE0E4CA46EA0}"/>
                    </a:ext>
                  </a:extLst>
                </p:cNvPr>
                <p:cNvSpPr/>
                <p:nvPr/>
              </p:nvSpPr>
              <p:spPr>
                <a:xfrm>
                  <a:off x="241202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74" name="Oval 73">
                  <a:extLst>
                    <a:ext uri="{FF2B5EF4-FFF2-40B4-BE49-F238E27FC236}">
                      <a16:creationId xmlns="" xmlns:a16="http://schemas.microsoft.com/office/drawing/2014/main" id="{F79936A0-211C-5240-B89F-F7B69A729742}"/>
                    </a:ext>
                  </a:extLst>
                </p:cNvPr>
                <p:cNvSpPr/>
                <p:nvPr/>
              </p:nvSpPr>
              <p:spPr>
                <a:xfrm>
                  <a:off x="2856294"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75" name="Straight Arrow Connector 74">
                  <a:extLst>
                    <a:ext uri="{FF2B5EF4-FFF2-40B4-BE49-F238E27FC236}">
                      <a16:creationId xmlns="" xmlns:a16="http://schemas.microsoft.com/office/drawing/2014/main" id="{A0F498E8-17A3-084C-87A6-C526928330CE}"/>
                    </a:ext>
                  </a:extLst>
                </p:cNvPr>
                <p:cNvCxnSpPr/>
                <p:nvPr/>
              </p:nvCxnSpPr>
              <p:spPr>
                <a:xfrm>
                  <a:off x="2792162"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 xmlns:a16="http://schemas.microsoft.com/office/drawing/2014/main" id="{261BA4D9-3D99-8848-8745-A44D1FFF2103}"/>
                    </a:ext>
                  </a:extLst>
                </p:cNvPr>
                <p:cNvCxnSpPr/>
                <p:nvPr/>
              </p:nvCxnSpPr>
              <p:spPr>
                <a:xfrm flipH="1">
                  <a:off x="2384915" y="1648962"/>
                  <a:ext cx="276353" cy="165286"/>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 xmlns:a16="http://schemas.microsoft.com/office/drawing/2014/main" id="{E3130FE1-B13F-054E-B9B7-B912E5A229F7}"/>
                    </a:ext>
                  </a:extLst>
                </p:cNvPr>
                <p:cNvCxnSpPr/>
                <p:nvPr/>
              </p:nvCxnSpPr>
              <p:spPr>
                <a:xfrm flipH="1">
                  <a:off x="2504580"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 xmlns:a16="http://schemas.microsoft.com/office/drawing/2014/main" id="{27EEA887-F26A-C44A-B739-264AD7E73593}"/>
                    </a:ext>
                  </a:extLst>
                </p:cNvPr>
                <p:cNvCxnSpPr/>
                <p:nvPr/>
              </p:nvCxnSpPr>
              <p:spPr>
                <a:xfrm>
                  <a:off x="2726715" y="1676071"/>
                  <a:ext cx="222135" cy="57385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 xmlns:a16="http://schemas.microsoft.com/office/drawing/2014/main" id="{88A21284-B08B-F440-9B1D-2C8279632E7B}"/>
                    </a:ext>
                  </a:extLst>
                </p:cNvPr>
                <p:cNvCxnSpPr/>
                <p:nvPr/>
              </p:nvCxnSpPr>
              <p:spPr>
                <a:xfrm>
                  <a:off x="231946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 xmlns:a16="http://schemas.microsoft.com/office/drawing/2014/main" id="{C92B23F9-29BD-8F4C-A51E-FF16D8525197}"/>
                    </a:ext>
                  </a:extLst>
                </p:cNvPr>
                <p:cNvCxnSpPr/>
                <p:nvPr/>
              </p:nvCxnSpPr>
              <p:spPr>
                <a:xfrm flipH="1">
                  <a:off x="3014297" y="1972251"/>
                  <a:ext cx="119665" cy="304778"/>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 xmlns:a16="http://schemas.microsoft.com/office/drawing/2014/main" id="{08E9CB46-7083-D541-9E9B-75C48B079B2D}"/>
                    </a:ext>
                  </a:extLst>
                </p:cNvPr>
                <p:cNvCxnSpPr/>
                <p:nvPr/>
              </p:nvCxnSpPr>
              <p:spPr>
                <a:xfrm>
                  <a:off x="2412024" y="1879695"/>
                  <a:ext cx="629383"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 xmlns:a16="http://schemas.microsoft.com/office/drawing/2014/main" id="{75A2BFE9-FEE4-0142-9575-2F25D53F5950}"/>
                    </a:ext>
                  </a:extLst>
                </p:cNvPr>
                <p:cNvCxnSpPr/>
                <p:nvPr/>
              </p:nvCxnSpPr>
              <p:spPr>
                <a:xfrm>
                  <a:off x="2412024" y="1879695"/>
                  <a:ext cx="471379" cy="397335"/>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 xmlns:a16="http://schemas.microsoft.com/office/drawing/2014/main" id="{37C411A0-90F4-4244-9D9C-3D84F6E45947}"/>
                    </a:ext>
                  </a:extLst>
                </p:cNvPr>
                <p:cNvCxnSpPr/>
                <p:nvPr/>
              </p:nvCxnSpPr>
              <p:spPr>
                <a:xfrm flipH="1">
                  <a:off x="2570027" y="1945142"/>
                  <a:ext cx="498488" cy="331887"/>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 xmlns:a16="http://schemas.microsoft.com/office/drawing/2014/main" id="{8E612443-8698-1C45-8AC1-FB3EF1DA22D8}"/>
                    </a:ext>
                  </a:extLst>
                </p:cNvPr>
                <p:cNvCxnSpPr/>
                <p:nvPr/>
              </p:nvCxnSpPr>
              <p:spPr>
                <a:xfrm>
                  <a:off x="2597136" y="2342477"/>
                  <a:ext cx="259158" cy="0"/>
                </a:xfrm>
                <a:prstGeom prst="straightConnector1">
                  <a:avLst/>
                </a:prstGeom>
                <a:solidFill>
                  <a:srgbClr val="002060"/>
                </a:solidFill>
                <a:ln w="38100">
                  <a:solidFill>
                    <a:srgbClr val="7691CD"/>
                  </a:solidFill>
                  <a:tailEnd type="triangle"/>
                </a:ln>
              </p:spPr>
              <p:style>
                <a:lnRef idx="1">
                  <a:schemeClr val="accent1"/>
                </a:lnRef>
                <a:fillRef idx="0">
                  <a:schemeClr val="accent1"/>
                </a:fillRef>
                <a:effectRef idx="0">
                  <a:schemeClr val="accent1"/>
                </a:effectRef>
                <a:fontRef idx="minor">
                  <a:schemeClr val="tx1"/>
                </a:fontRef>
              </p:style>
            </p:cxnSp>
          </p:grpSp>
          <p:sp>
            <p:nvSpPr>
              <p:cNvPr id="69" name="Rectangle 68">
                <a:extLst>
                  <a:ext uri="{FF2B5EF4-FFF2-40B4-BE49-F238E27FC236}">
                    <a16:creationId xmlns="" xmlns:a16="http://schemas.microsoft.com/office/drawing/2014/main" id="{87F500F4-BB4E-8F4C-B904-C253F19053AB}"/>
                  </a:ext>
                </a:extLst>
              </p:cNvPr>
              <p:cNvSpPr/>
              <p:nvPr/>
            </p:nvSpPr>
            <p:spPr>
              <a:xfrm>
                <a:off x="3299081" y="2198810"/>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22" name="Group 21">
              <a:extLst>
                <a:ext uri="{FF2B5EF4-FFF2-40B4-BE49-F238E27FC236}">
                  <a16:creationId xmlns="" xmlns:a16="http://schemas.microsoft.com/office/drawing/2014/main" id="{322D1D78-5D6A-5142-A4E0-83445141FCC8}"/>
                </a:ext>
              </a:extLst>
            </p:cNvPr>
            <p:cNvGrpSpPr/>
            <p:nvPr/>
          </p:nvGrpSpPr>
          <p:grpSpPr>
            <a:xfrm>
              <a:off x="3713734" y="2927844"/>
              <a:ext cx="1026591" cy="958712"/>
              <a:chOff x="4619667" y="3734099"/>
              <a:chExt cx="1026591" cy="958712"/>
            </a:xfrm>
          </p:grpSpPr>
          <p:grpSp>
            <p:nvGrpSpPr>
              <p:cNvPr id="61" name="Group 60">
                <a:extLst>
                  <a:ext uri="{FF2B5EF4-FFF2-40B4-BE49-F238E27FC236}">
                    <a16:creationId xmlns="" xmlns:a16="http://schemas.microsoft.com/office/drawing/2014/main" id="{39BCBC65-330A-594B-86E7-AD0891F6FBC8}"/>
                  </a:ext>
                </a:extLst>
              </p:cNvPr>
              <p:cNvGrpSpPr/>
              <p:nvPr/>
            </p:nvGrpSpPr>
            <p:grpSpPr>
              <a:xfrm>
                <a:off x="4626938" y="3748736"/>
                <a:ext cx="999609" cy="944075"/>
                <a:chOff x="3498049" y="1490958"/>
                <a:chExt cx="999609" cy="944075"/>
              </a:xfrm>
            </p:grpSpPr>
            <p:sp>
              <p:nvSpPr>
                <p:cNvPr id="63" name="Oval 62">
                  <a:extLst>
                    <a:ext uri="{FF2B5EF4-FFF2-40B4-BE49-F238E27FC236}">
                      <a16:creationId xmlns="" xmlns:a16="http://schemas.microsoft.com/office/drawing/2014/main" id="{4E7086EF-515C-CF45-A691-529AF54A6926}"/>
                    </a:ext>
                  </a:extLst>
                </p:cNvPr>
                <p:cNvSpPr/>
                <p:nvPr/>
              </p:nvSpPr>
              <p:spPr>
                <a:xfrm>
                  <a:off x="3905297" y="149095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4" name="Oval 63">
                  <a:extLst>
                    <a:ext uri="{FF2B5EF4-FFF2-40B4-BE49-F238E27FC236}">
                      <a16:creationId xmlns="" xmlns:a16="http://schemas.microsoft.com/office/drawing/2014/main" id="{DF1DFE57-8367-0A46-A871-824F36B39C2C}"/>
                    </a:ext>
                  </a:extLst>
                </p:cNvPr>
                <p:cNvSpPr/>
                <p:nvPr/>
              </p:nvSpPr>
              <p:spPr>
                <a:xfrm>
                  <a:off x="3498049"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5" name="Oval 64">
                  <a:extLst>
                    <a:ext uri="{FF2B5EF4-FFF2-40B4-BE49-F238E27FC236}">
                      <a16:creationId xmlns="" xmlns:a16="http://schemas.microsoft.com/office/drawing/2014/main" id="{87EDB026-B841-C547-9C4F-59580666D448}"/>
                    </a:ext>
                  </a:extLst>
                </p:cNvPr>
                <p:cNvSpPr/>
                <p:nvPr/>
              </p:nvSpPr>
              <p:spPr>
                <a:xfrm>
                  <a:off x="4312545" y="1787138"/>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6" name="Oval 65">
                  <a:extLst>
                    <a:ext uri="{FF2B5EF4-FFF2-40B4-BE49-F238E27FC236}">
                      <a16:creationId xmlns="" xmlns:a16="http://schemas.microsoft.com/office/drawing/2014/main" id="{527DD4C2-F077-404C-8C8E-8EFE3C552381}"/>
                    </a:ext>
                  </a:extLst>
                </p:cNvPr>
                <p:cNvSpPr/>
                <p:nvPr/>
              </p:nvSpPr>
              <p:spPr>
                <a:xfrm>
                  <a:off x="368316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67" name="Oval 66">
                  <a:extLst>
                    <a:ext uri="{FF2B5EF4-FFF2-40B4-BE49-F238E27FC236}">
                      <a16:creationId xmlns="" xmlns:a16="http://schemas.microsoft.com/office/drawing/2014/main" id="{A609C827-D799-6540-9586-13DE4E7D5ACE}"/>
                    </a:ext>
                  </a:extLst>
                </p:cNvPr>
                <p:cNvSpPr/>
                <p:nvPr/>
              </p:nvSpPr>
              <p:spPr>
                <a:xfrm>
                  <a:off x="4127432" y="2249920"/>
                  <a:ext cx="185113" cy="185113"/>
                </a:xfrm>
                <a:prstGeom prst="ellipse">
                  <a:avLst/>
                </a:prstGeom>
                <a:solidFill>
                  <a:srgbClr val="7691CD"/>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sp>
            <p:nvSpPr>
              <p:cNvPr id="62" name="Rectangle 61">
                <a:extLst>
                  <a:ext uri="{FF2B5EF4-FFF2-40B4-BE49-F238E27FC236}">
                    <a16:creationId xmlns="" xmlns:a16="http://schemas.microsoft.com/office/drawing/2014/main" id="{3F2A667C-2D67-8E44-AFFF-FB5F775C010F}"/>
                  </a:ext>
                </a:extLst>
              </p:cNvPr>
              <p:cNvSpPr/>
              <p:nvPr/>
            </p:nvSpPr>
            <p:spPr>
              <a:xfrm>
                <a:off x="4619667" y="3734099"/>
                <a:ext cx="1026591" cy="958712"/>
              </a:xfrm>
              <a:prstGeom prst="rect">
                <a:avLst/>
              </a:prstGeom>
              <a:noFill/>
              <a:ln>
                <a:solidFill>
                  <a:srgbClr val="7691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nvGrpSpPr>
            <p:cNvPr id="23" name="Group 22">
              <a:extLst>
                <a:ext uri="{FF2B5EF4-FFF2-40B4-BE49-F238E27FC236}">
                  <a16:creationId xmlns="" xmlns:a16="http://schemas.microsoft.com/office/drawing/2014/main" id="{B326DB68-DBD5-5E4F-8FC9-499CEB169D86}"/>
                </a:ext>
              </a:extLst>
            </p:cNvPr>
            <p:cNvGrpSpPr/>
            <p:nvPr/>
          </p:nvGrpSpPr>
          <p:grpSpPr>
            <a:xfrm>
              <a:off x="5045727" y="2927844"/>
              <a:ext cx="1026591" cy="958712"/>
              <a:chOff x="5951660" y="3474452"/>
              <a:chExt cx="1026591" cy="958712"/>
            </a:xfrm>
          </p:grpSpPr>
          <p:cxnSp>
            <p:nvCxnSpPr>
              <p:cNvPr id="48" name="Straight Arrow Connector 47">
                <a:extLst>
                  <a:ext uri="{FF2B5EF4-FFF2-40B4-BE49-F238E27FC236}">
                    <a16:creationId xmlns="" xmlns:a16="http://schemas.microsoft.com/office/drawing/2014/main" id="{0451D6EA-8FB6-2540-92EF-649F9386CDE6}"/>
                  </a:ext>
                </a:extLst>
              </p:cNvPr>
              <p:cNvCxnSpPr/>
              <p:nvPr/>
            </p:nvCxnSpPr>
            <p:spPr>
              <a:xfrm flipH="1">
                <a:off x="6731847" y="3980529"/>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 xmlns:a16="http://schemas.microsoft.com/office/drawing/2014/main" id="{704D05FC-2EB5-F347-A7FF-8BFE6CC8B869}"/>
                  </a:ext>
                </a:extLst>
              </p:cNvPr>
              <p:cNvGrpSpPr/>
              <p:nvPr/>
            </p:nvGrpSpPr>
            <p:grpSpPr>
              <a:xfrm>
                <a:off x="5951660" y="3474452"/>
                <a:ext cx="1026591" cy="958712"/>
                <a:chOff x="5951660" y="3734099"/>
                <a:chExt cx="1026591" cy="958712"/>
              </a:xfrm>
            </p:grpSpPr>
            <p:grpSp>
              <p:nvGrpSpPr>
                <p:cNvPr id="50" name="Group 49">
                  <a:extLst>
                    <a:ext uri="{FF2B5EF4-FFF2-40B4-BE49-F238E27FC236}">
                      <a16:creationId xmlns="" xmlns:a16="http://schemas.microsoft.com/office/drawing/2014/main" id="{1FDD4CF8-FCB9-8141-850A-B1E490304527}"/>
                    </a:ext>
                  </a:extLst>
                </p:cNvPr>
                <p:cNvGrpSpPr/>
                <p:nvPr/>
              </p:nvGrpSpPr>
              <p:grpSpPr>
                <a:xfrm>
                  <a:off x="5968863" y="3748736"/>
                  <a:ext cx="999608" cy="944075"/>
                  <a:chOff x="762000" y="4648200"/>
                  <a:chExt cx="2057400" cy="1943100"/>
                </a:xfrm>
                <a:solidFill>
                  <a:srgbClr val="FF0000"/>
                </a:solidFill>
              </p:grpSpPr>
              <p:sp>
                <p:nvSpPr>
                  <p:cNvPr id="52" name="Oval 51">
                    <a:extLst>
                      <a:ext uri="{FF2B5EF4-FFF2-40B4-BE49-F238E27FC236}">
                        <a16:creationId xmlns="" xmlns:a16="http://schemas.microsoft.com/office/drawing/2014/main" id="{6D775A2F-07DF-974A-8304-204AFF0AD447}"/>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53" name="Oval 52">
                    <a:extLst>
                      <a:ext uri="{FF2B5EF4-FFF2-40B4-BE49-F238E27FC236}">
                        <a16:creationId xmlns="" xmlns:a16="http://schemas.microsoft.com/office/drawing/2014/main" id="{248FE766-D33A-AE41-9CCA-C636C7260A03}"/>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54" name="Oval 53">
                    <a:extLst>
                      <a:ext uri="{FF2B5EF4-FFF2-40B4-BE49-F238E27FC236}">
                        <a16:creationId xmlns="" xmlns:a16="http://schemas.microsoft.com/office/drawing/2014/main" id="{80F1DA28-D601-2B41-A9E0-1E478599F184}"/>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55" name="Oval 54">
                    <a:extLst>
                      <a:ext uri="{FF2B5EF4-FFF2-40B4-BE49-F238E27FC236}">
                        <a16:creationId xmlns="" xmlns:a16="http://schemas.microsoft.com/office/drawing/2014/main" id="{0237CBD7-FCB1-3846-97D6-B10FD6A5EE65}"/>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56" name="Oval 55">
                    <a:extLst>
                      <a:ext uri="{FF2B5EF4-FFF2-40B4-BE49-F238E27FC236}">
                        <a16:creationId xmlns="" xmlns:a16="http://schemas.microsoft.com/office/drawing/2014/main" id="{4EF3977B-09A7-8846-B3DE-14D1CF214E81}"/>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57" name="Straight Arrow Connector 56">
                    <a:extLst>
                      <a:ext uri="{FF2B5EF4-FFF2-40B4-BE49-F238E27FC236}">
                        <a16:creationId xmlns="" xmlns:a16="http://schemas.microsoft.com/office/drawing/2014/main" id="{5EE59A35-4A19-9749-8489-A608486ADEFA}"/>
                      </a:ext>
                    </a:extLst>
                  </p:cNvPr>
                  <p:cNvCxnSpPr/>
                  <p:nvPr/>
                </p:nvCxnSpPr>
                <p:spPr>
                  <a:xfrm>
                    <a:off x="1925404" y="4973404"/>
                    <a:ext cx="568792" cy="340192"/>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 xmlns:a16="http://schemas.microsoft.com/office/drawing/2014/main" id="{B3B76160-4D27-9245-92F0-7E6CB666EE8B}"/>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 xmlns:a16="http://schemas.microsoft.com/office/drawing/2014/main" id="{CD421E42-CA8A-4643-934F-DF29C92CD1C1}"/>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 xmlns:a16="http://schemas.microsoft.com/office/drawing/2014/main" id="{97BFB418-6CC5-9743-8577-9EB4EE3F44BF}"/>
                      </a:ext>
                    </a:extLst>
                  </p:cNvPr>
                  <p:cNvCxnSpPr/>
                  <p:nvPr/>
                </p:nvCxnSpPr>
                <p:spPr>
                  <a:xfrm>
                    <a:off x="1143000" y="5448300"/>
                    <a:ext cx="970196" cy="8177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 xmlns:a16="http://schemas.microsoft.com/office/drawing/2014/main" id="{0AEDD44E-9263-9842-A915-79A7D308DF5B}"/>
                    </a:ext>
                  </a:extLst>
                </p:cNvPr>
                <p:cNvSpPr/>
                <p:nvPr/>
              </p:nvSpPr>
              <p:spPr>
                <a:xfrm>
                  <a:off x="595166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grpSp>
          <p:nvGrpSpPr>
            <p:cNvPr id="24" name="Group 23">
              <a:extLst>
                <a:ext uri="{FF2B5EF4-FFF2-40B4-BE49-F238E27FC236}">
                  <a16:creationId xmlns="" xmlns:a16="http://schemas.microsoft.com/office/drawing/2014/main" id="{407FC2F1-C95D-EA4E-9317-A72BF6C1D1B3}"/>
                </a:ext>
              </a:extLst>
            </p:cNvPr>
            <p:cNvGrpSpPr/>
            <p:nvPr/>
          </p:nvGrpSpPr>
          <p:grpSpPr>
            <a:xfrm>
              <a:off x="6140757" y="2927844"/>
              <a:ext cx="1026591" cy="958712"/>
              <a:chOff x="7046690" y="3734099"/>
              <a:chExt cx="1026591" cy="958712"/>
            </a:xfrm>
          </p:grpSpPr>
          <p:grpSp>
            <p:nvGrpSpPr>
              <p:cNvPr id="35" name="Group 34">
                <a:extLst>
                  <a:ext uri="{FF2B5EF4-FFF2-40B4-BE49-F238E27FC236}">
                    <a16:creationId xmlns="" xmlns:a16="http://schemas.microsoft.com/office/drawing/2014/main" id="{830A5CEA-A88A-F044-940D-4FFF86C1E015}"/>
                  </a:ext>
                </a:extLst>
              </p:cNvPr>
              <p:cNvGrpSpPr/>
              <p:nvPr/>
            </p:nvGrpSpPr>
            <p:grpSpPr>
              <a:xfrm>
                <a:off x="7060183" y="3748736"/>
                <a:ext cx="999608" cy="944075"/>
                <a:chOff x="6181899" y="1490958"/>
                <a:chExt cx="999608" cy="944075"/>
              </a:xfrm>
            </p:grpSpPr>
            <p:cxnSp>
              <p:nvCxnSpPr>
                <p:cNvPr id="37" name="Straight Arrow Connector 36">
                  <a:extLst>
                    <a:ext uri="{FF2B5EF4-FFF2-40B4-BE49-F238E27FC236}">
                      <a16:creationId xmlns="" xmlns:a16="http://schemas.microsoft.com/office/drawing/2014/main" id="{06F2CB9C-C018-6D4F-9D0C-18DFD053EC60}"/>
                    </a:ext>
                  </a:extLst>
                </p:cNvPr>
                <p:cNvCxnSpPr/>
                <p:nvPr/>
              </p:nvCxnSpPr>
              <p:spPr>
                <a:xfrm flipH="1">
                  <a:off x="6949978" y="1972251"/>
                  <a:ext cx="119665" cy="304778"/>
                </a:xfrm>
                <a:prstGeom prst="straightConnector1">
                  <a:avLst/>
                </a:prstGeom>
                <a:solidFill>
                  <a:srgbClr val="002060"/>
                </a:solid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 xmlns:a16="http://schemas.microsoft.com/office/drawing/2014/main" id="{B8E9B0F5-3ED2-F549-9397-D8D23A4ED5DF}"/>
                    </a:ext>
                  </a:extLst>
                </p:cNvPr>
                <p:cNvGrpSpPr/>
                <p:nvPr/>
              </p:nvGrpSpPr>
              <p:grpSpPr>
                <a:xfrm>
                  <a:off x="6181899" y="1490958"/>
                  <a:ext cx="999608" cy="944075"/>
                  <a:chOff x="762000" y="4648200"/>
                  <a:chExt cx="2057400" cy="1943100"/>
                </a:xfrm>
                <a:solidFill>
                  <a:srgbClr val="FF0000"/>
                </a:solidFill>
              </p:grpSpPr>
              <p:sp>
                <p:nvSpPr>
                  <p:cNvPr id="41" name="Oval 40">
                    <a:extLst>
                      <a:ext uri="{FF2B5EF4-FFF2-40B4-BE49-F238E27FC236}">
                        <a16:creationId xmlns="" xmlns:a16="http://schemas.microsoft.com/office/drawing/2014/main" id="{A270E5D2-7E35-984E-87F9-C5F79BFE9094}"/>
                      </a:ext>
                    </a:extLst>
                  </p:cNvPr>
                  <p:cNvSpPr/>
                  <p:nvPr/>
                </p:nvSpPr>
                <p:spPr>
                  <a:xfrm>
                    <a:off x="1600200" y="46482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2" name="Oval 41">
                    <a:extLst>
                      <a:ext uri="{FF2B5EF4-FFF2-40B4-BE49-F238E27FC236}">
                        <a16:creationId xmlns="" xmlns:a16="http://schemas.microsoft.com/office/drawing/2014/main" id="{38AEF54C-EA91-D04C-86A4-ED423BF5E6A8}"/>
                      </a:ext>
                    </a:extLst>
                  </p:cNvPr>
                  <p:cNvSpPr/>
                  <p:nvPr/>
                </p:nvSpPr>
                <p:spPr>
                  <a:xfrm>
                    <a:off x="7620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3" name="Oval 42">
                    <a:extLst>
                      <a:ext uri="{FF2B5EF4-FFF2-40B4-BE49-F238E27FC236}">
                        <a16:creationId xmlns="" xmlns:a16="http://schemas.microsoft.com/office/drawing/2014/main" id="{EC7A4AC6-ABE5-2949-A586-6CDA22F3803E}"/>
                      </a:ext>
                    </a:extLst>
                  </p:cNvPr>
                  <p:cNvSpPr/>
                  <p:nvPr/>
                </p:nvSpPr>
                <p:spPr>
                  <a:xfrm>
                    <a:off x="2438400" y="52578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4" name="Oval 43">
                    <a:extLst>
                      <a:ext uri="{FF2B5EF4-FFF2-40B4-BE49-F238E27FC236}">
                        <a16:creationId xmlns="" xmlns:a16="http://schemas.microsoft.com/office/drawing/2014/main" id="{E5F16B9D-012C-4641-8BAE-EC7C9467C429}"/>
                      </a:ext>
                    </a:extLst>
                  </p:cNvPr>
                  <p:cNvSpPr/>
                  <p:nvPr/>
                </p:nvSpPr>
                <p:spPr>
                  <a:xfrm>
                    <a:off x="11430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sp>
                <p:nvSpPr>
                  <p:cNvPr id="45" name="Oval 44">
                    <a:extLst>
                      <a:ext uri="{FF2B5EF4-FFF2-40B4-BE49-F238E27FC236}">
                        <a16:creationId xmlns="" xmlns:a16="http://schemas.microsoft.com/office/drawing/2014/main" id="{77A5A71C-4BDE-204A-B401-87C39D284547}"/>
                      </a:ext>
                    </a:extLst>
                  </p:cNvPr>
                  <p:cNvSpPr/>
                  <p:nvPr/>
                </p:nvSpPr>
                <p:spPr>
                  <a:xfrm>
                    <a:off x="2057400" y="6210300"/>
                    <a:ext cx="381000" cy="381000"/>
                  </a:xfrm>
                  <a:prstGeom prst="ellipse">
                    <a:avLst/>
                  </a:prstGeom>
                  <a:solidFill>
                    <a:srgbClr val="C0706A"/>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cxnSp>
                <p:nvCxnSpPr>
                  <p:cNvPr id="46" name="Straight Arrow Connector 45">
                    <a:extLst>
                      <a:ext uri="{FF2B5EF4-FFF2-40B4-BE49-F238E27FC236}">
                        <a16:creationId xmlns="" xmlns:a16="http://schemas.microsoft.com/office/drawing/2014/main" id="{D1F909C2-A9BE-4A4F-B973-814745DBB267}"/>
                      </a:ext>
                    </a:extLst>
                  </p:cNvPr>
                  <p:cNvCxnSpPr/>
                  <p:nvPr/>
                </p:nvCxnSpPr>
                <p:spPr>
                  <a:xfrm>
                    <a:off x="1790700" y="5029200"/>
                    <a:ext cx="457200" cy="118110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 xmlns:a16="http://schemas.microsoft.com/office/drawing/2014/main" id="{26ADC7BD-6D84-B84F-996A-4D40D29A2494}"/>
                      </a:ext>
                    </a:extLst>
                  </p:cNvPr>
                  <p:cNvCxnSpPr/>
                  <p:nvPr/>
                </p:nvCxnSpPr>
                <p:spPr>
                  <a:xfrm>
                    <a:off x="952500" y="5638800"/>
                    <a:ext cx="246296" cy="627296"/>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9" name="Straight Arrow Connector 38">
                  <a:extLst>
                    <a:ext uri="{FF2B5EF4-FFF2-40B4-BE49-F238E27FC236}">
                      <a16:creationId xmlns="" xmlns:a16="http://schemas.microsoft.com/office/drawing/2014/main" id="{0E03328B-86F9-F746-9163-D1CBE20A1186}"/>
                    </a:ext>
                  </a:extLst>
                </p:cNvPr>
                <p:cNvCxnSpPr>
                  <a:cxnSpLocks/>
                </p:cNvCxnSpPr>
                <p:nvPr/>
              </p:nvCxnSpPr>
              <p:spPr>
                <a:xfrm flipH="1">
                  <a:off x="6459569" y="1676071"/>
                  <a:ext cx="222135" cy="573849"/>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 xmlns:a16="http://schemas.microsoft.com/office/drawing/2014/main" id="{77DDF20A-AF47-B540-9CC8-2B4662D7445F}"/>
                    </a:ext>
                  </a:extLst>
                </p:cNvPr>
                <p:cNvCxnSpPr/>
                <p:nvPr/>
              </p:nvCxnSpPr>
              <p:spPr>
                <a:xfrm>
                  <a:off x="6367012" y="1879695"/>
                  <a:ext cx="629382" cy="0"/>
                </a:xfrm>
                <a:prstGeom prst="straightConnector1">
                  <a:avLst/>
                </a:prstGeom>
                <a:grpFill/>
                <a:ln w="38100">
                  <a:solidFill>
                    <a:srgbClr val="C0706A"/>
                  </a:solidFill>
                  <a:tailEnd type="triangle"/>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 xmlns:a16="http://schemas.microsoft.com/office/drawing/2014/main" id="{C2EA65C3-32DD-7A42-87C8-7385FB6D7FBE}"/>
                  </a:ext>
                </a:extLst>
              </p:cNvPr>
              <p:cNvSpPr/>
              <p:nvPr/>
            </p:nvSpPr>
            <p:spPr>
              <a:xfrm>
                <a:off x="7046690" y="3734099"/>
                <a:ext cx="1026591" cy="958712"/>
              </a:xfrm>
              <a:prstGeom prst="rect">
                <a:avLst/>
              </a:prstGeom>
              <a:noFill/>
              <a:ln>
                <a:solidFill>
                  <a:srgbClr val="C07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US">
                  <a:solidFill>
                    <a:srgbClr val="FFFFFF"/>
                  </a:solidFill>
                  <a:latin typeface="Century Gothic" panose="020B0502020202020204" pitchFamily="34" charset="0"/>
                </a:endParaRPr>
              </a:p>
            </p:txBody>
          </p:sp>
        </p:grpSp>
      </p:grpSp>
      <p:sp>
        <p:nvSpPr>
          <p:cNvPr id="11" name="TextBox 10">
            <a:extLst>
              <a:ext uri="{FF2B5EF4-FFF2-40B4-BE49-F238E27FC236}">
                <a16:creationId xmlns="" xmlns:a16="http://schemas.microsoft.com/office/drawing/2014/main" id="{FDBEA2D0-26EE-814A-8411-F6B5A99361A2}"/>
              </a:ext>
            </a:extLst>
          </p:cNvPr>
          <p:cNvSpPr txBox="1"/>
          <p:nvPr/>
        </p:nvSpPr>
        <p:spPr>
          <a:xfrm>
            <a:off x="862404" y="4759813"/>
            <a:ext cx="1194558"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Complete</a:t>
            </a:r>
          </a:p>
        </p:txBody>
      </p:sp>
      <p:sp>
        <p:nvSpPr>
          <p:cNvPr id="85" name="TextBox 84">
            <a:extLst>
              <a:ext uri="{FF2B5EF4-FFF2-40B4-BE49-F238E27FC236}">
                <a16:creationId xmlns="" xmlns:a16="http://schemas.microsoft.com/office/drawing/2014/main" id="{E89E9E92-8417-554C-8270-D32CF22F78F8}"/>
              </a:ext>
            </a:extLst>
          </p:cNvPr>
          <p:cNvSpPr txBox="1"/>
          <p:nvPr/>
        </p:nvSpPr>
        <p:spPr>
          <a:xfrm>
            <a:off x="3510878" y="4759813"/>
            <a:ext cx="800219" cy="338554"/>
          </a:xfrm>
          <a:prstGeom prst="rect">
            <a:avLst/>
          </a:prstGeom>
          <a:noFill/>
        </p:spPr>
        <p:txBody>
          <a:bodyPr wrap="none" rtlCol="0">
            <a:spAutoFit/>
          </a:bodyPr>
          <a:lstStyle/>
          <a:p>
            <a:r>
              <a:rPr lang="en-US" sz="1600" dirty="0">
                <a:solidFill>
                  <a:schemeClr val="bg2"/>
                </a:solidFill>
                <a:latin typeface="Century Gothic" panose="020B0502020202020204" pitchFamily="34" charset="0"/>
              </a:rPr>
              <a:t>Partial</a:t>
            </a:r>
          </a:p>
        </p:txBody>
      </p:sp>
      <p:sp>
        <p:nvSpPr>
          <p:cNvPr id="87" name="TextBox 86">
            <a:extLst>
              <a:ext uri="{FF2B5EF4-FFF2-40B4-BE49-F238E27FC236}">
                <a16:creationId xmlns="" xmlns:a16="http://schemas.microsoft.com/office/drawing/2014/main" id="{75D54528-59A9-C74E-B20A-0316F409D1E7}"/>
              </a:ext>
            </a:extLst>
          </p:cNvPr>
          <p:cNvSpPr txBox="1"/>
          <p:nvPr/>
        </p:nvSpPr>
        <p:spPr>
          <a:xfrm>
            <a:off x="-205107" y="6519446"/>
            <a:ext cx="5154883" cy="338554"/>
          </a:xfrm>
          <a:prstGeom prst="rect">
            <a:avLst/>
          </a:prstGeom>
          <a:noFill/>
        </p:spPr>
        <p:txBody>
          <a:bodyPr wrap="square" rtlCol="0">
            <a:spAutoFit/>
          </a:bodyPr>
          <a:lstStyle/>
          <a:p>
            <a:pPr lvl="1">
              <a:spcBef>
                <a:spcPct val="20000"/>
              </a:spcBef>
              <a:buClr>
                <a:srgbClr val="400080"/>
              </a:buClr>
              <a:buSzPct val="65000"/>
            </a:pPr>
            <a:r>
              <a:rPr lang="en-US" sz="1600" i="1" dirty="0">
                <a:solidFill>
                  <a:schemeClr val="bg2"/>
                </a:solidFill>
                <a:latin typeface="Century Gothic" charset="0"/>
                <a:ea typeface="Century Gothic" charset="0"/>
                <a:cs typeface="Century Gothic" charset="0"/>
              </a:rPr>
              <a:t>Supervision from partial structures </a:t>
            </a:r>
            <a:r>
              <a:rPr lang="en-US" sz="1600" i="1" dirty="0">
                <a:solidFill>
                  <a:schemeClr val="bg2"/>
                </a:solidFill>
                <a:latin typeface="Century Gothic" panose="020B0502020202020204" pitchFamily="34" charset="0"/>
              </a:rPr>
              <a:t>[NAACL’19]</a:t>
            </a:r>
            <a:endParaRPr lang="en-US" sz="1600" i="1" dirty="0">
              <a:solidFill>
                <a:schemeClr val="bg2"/>
              </a:solidFill>
              <a:latin typeface="Century Gothic" charset="0"/>
              <a:ea typeface="Century Gothic" charset="0"/>
              <a:cs typeface="Century Gothic" charset="0"/>
            </a:endParaRPr>
          </a:p>
        </p:txBody>
      </p:sp>
    </p:spTree>
    <p:extLst>
      <p:ext uri="{BB962C8B-B14F-4D97-AF65-F5344CB8AC3E}">
        <p14:creationId xmlns:p14="http://schemas.microsoft.com/office/powerpoint/2010/main" val="14775840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dissolve">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dissolve">
                                      <p:cBhvr>
                                        <p:cTn id="17" dur="5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85"/>
                                        </p:tgtEl>
                                        <p:attrNameLst>
                                          <p:attrName>style.visibility</p:attrName>
                                        </p:attrNameLst>
                                      </p:cBhvr>
                                      <p:to>
                                        <p:strVal val="visible"/>
                                      </p:to>
                                    </p:set>
                                    <p:animEffect transition="in" filter="dissolve">
                                      <p:cBhvr>
                                        <p:cTn id="25" dur="500"/>
                                        <p:tgtEl>
                                          <p:spTgt spid="85"/>
                                        </p:tgtEl>
                                      </p:cBhvr>
                                    </p:animEffect>
                                  </p:childTnLst>
                                </p:cTn>
                              </p:par>
                              <p:par>
                                <p:cTn id="26" presetID="9"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animEffect transition="in" filter="dissolve">
                                      <p:cBhvr>
                                        <p:cTn id="33"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11" grpId="0"/>
      <p:bldP spid="85" grpId="0"/>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192383" y="4043987"/>
            <a:ext cx="8799217" cy="461665"/>
          </a:xfrm>
          <a:prstGeom prst="rect">
            <a:avLst/>
          </a:prstGeom>
          <a:noFill/>
        </p:spPr>
        <p:txBody>
          <a:bodyPr wrap="square" rtlCol="0">
            <a:spAutoFit/>
          </a:bodyPr>
          <a:lstStyle/>
          <a:p>
            <a:pPr algn="ctr">
              <a:spcBef>
                <a:spcPts val="600"/>
              </a:spcBef>
              <a:spcAft>
                <a:spcPts val="600"/>
              </a:spcAft>
              <a:buSzPct val="65000"/>
            </a:pPr>
            <a:r>
              <a:rPr lang="en-US" sz="2400" dirty="0">
                <a:solidFill>
                  <a:schemeClr val="bg2"/>
                </a:solidFill>
                <a:latin typeface="Century Gothic" charset="0"/>
                <a:ea typeface="Century Gothic" charset="0"/>
                <a:cs typeface="Century Gothic" charset="0"/>
              </a:rPr>
              <a:t>Standard learning (including deep learning) paradigms:</a:t>
            </a:r>
          </a:p>
        </p:txBody>
      </p:sp>
      <p:sp>
        <p:nvSpPr>
          <p:cNvPr id="54" name="Oval 53">
            <a:extLst>
              <a:ext uri="{FF2B5EF4-FFF2-40B4-BE49-F238E27FC236}">
                <a16:creationId xmlns="" xmlns:a16="http://schemas.microsoft.com/office/drawing/2014/main" id="{AE817D6F-B18E-904B-937F-CA7DF988DCDE}"/>
              </a:ext>
            </a:extLst>
          </p:cNvPr>
          <p:cNvSpPr/>
          <p:nvPr/>
        </p:nvSpPr>
        <p:spPr>
          <a:xfrm>
            <a:off x="1524000" y="912729"/>
            <a:ext cx="2587567" cy="258756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5" name="TextBox 54">
            <a:extLst>
              <a:ext uri="{FF2B5EF4-FFF2-40B4-BE49-F238E27FC236}">
                <a16:creationId xmlns="" xmlns:a16="http://schemas.microsoft.com/office/drawing/2014/main" id="{064CF453-0F0E-6545-9DDB-A9CE02688470}"/>
              </a:ext>
            </a:extLst>
          </p:cNvPr>
          <p:cNvSpPr txBox="1"/>
          <p:nvPr/>
        </p:nvSpPr>
        <p:spPr>
          <a:xfrm>
            <a:off x="2325219" y="983575"/>
            <a:ext cx="1020936" cy="400110"/>
          </a:xfrm>
          <a:prstGeom prst="rect">
            <a:avLst/>
          </a:prstGeom>
          <a:noFill/>
        </p:spPr>
        <p:txBody>
          <a:bodyPr wrap="square" rtlCol="0">
            <a:spAutoFit/>
          </a:bodyPr>
          <a:lstStyle/>
          <a:p>
            <a:pPr algn="ctr"/>
            <a:r>
              <a:rPr lang="en-US" sz="2000" dirty="0">
                <a:latin typeface="Century Gothic" panose="020B0502020202020204" pitchFamily="34" charset="0"/>
              </a:rPr>
              <a:t>Event</a:t>
            </a:r>
          </a:p>
        </p:txBody>
      </p:sp>
      <p:sp>
        <p:nvSpPr>
          <p:cNvPr id="56" name="Oval 55">
            <a:extLst>
              <a:ext uri="{FF2B5EF4-FFF2-40B4-BE49-F238E27FC236}">
                <a16:creationId xmlns="" xmlns:a16="http://schemas.microsoft.com/office/drawing/2014/main" id="{D32F69B7-EDDF-5544-8272-787275C6D16C}"/>
              </a:ext>
            </a:extLst>
          </p:cNvPr>
          <p:cNvSpPr/>
          <p:nvPr/>
        </p:nvSpPr>
        <p:spPr>
          <a:xfrm>
            <a:off x="1972298" y="1739122"/>
            <a:ext cx="1678269" cy="1678269"/>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7" name="Freeform 56">
            <a:extLst>
              <a:ext uri="{FF2B5EF4-FFF2-40B4-BE49-F238E27FC236}">
                <a16:creationId xmlns="" xmlns:a16="http://schemas.microsoft.com/office/drawing/2014/main" id="{8F00037C-1A48-A843-937F-EFD3F91FAB34}"/>
              </a:ext>
            </a:extLst>
          </p:cNvPr>
          <p:cNvSpPr/>
          <p:nvPr/>
        </p:nvSpPr>
        <p:spPr>
          <a:xfrm>
            <a:off x="2420288" y="2491969"/>
            <a:ext cx="397697" cy="375523"/>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58" name="Freeform 57">
            <a:extLst>
              <a:ext uri="{FF2B5EF4-FFF2-40B4-BE49-F238E27FC236}">
                <a16:creationId xmlns="" xmlns:a16="http://schemas.microsoft.com/office/drawing/2014/main" id="{08422CE6-645A-3745-942C-A1098A3080DA}"/>
              </a:ext>
            </a:extLst>
          </p:cNvPr>
          <p:cNvSpPr/>
          <p:nvPr/>
        </p:nvSpPr>
        <p:spPr>
          <a:xfrm>
            <a:off x="2817986" y="2491969"/>
            <a:ext cx="394453" cy="374336"/>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59" name="Freeform 58">
            <a:extLst>
              <a:ext uri="{FF2B5EF4-FFF2-40B4-BE49-F238E27FC236}">
                <a16:creationId xmlns="" xmlns:a16="http://schemas.microsoft.com/office/drawing/2014/main" id="{D18B1028-73BC-CF4C-BC0A-F05A1894CBD7}"/>
              </a:ext>
            </a:extLst>
          </p:cNvPr>
          <p:cNvSpPr/>
          <p:nvPr/>
        </p:nvSpPr>
        <p:spPr>
          <a:xfrm>
            <a:off x="2686686" y="2866304"/>
            <a:ext cx="262598" cy="317326"/>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0" name="Freeform 59">
            <a:extLst>
              <a:ext uri="{FF2B5EF4-FFF2-40B4-BE49-F238E27FC236}">
                <a16:creationId xmlns="" xmlns:a16="http://schemas.microsoft.com/office/drawing/2014/main" id="{75B59043-BD85-9C4E-B35C-F737FDCBB329}"/>
              </a:ext>
            </a:extLst>
          </p:cNvPr>
          <p:cNvSpPr/>
          <p:nvPr/>
        </p:nvSpPr>
        <p:spPr>
          <a:xfrm>
            <a:off x="2419133" y="2094769"/>
            <a:ext cx="794401" cy="49993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1" name="Freeform 60">
            <a:extLst>
              <a:ext uri="{FF2B5EF4-FFF2-40B4-BE49-F238E27FC236}">
                <a16:creationId xmlns="" xmlns:a16="http://schemas.microsoft.com/office/drawing/2014/main" id="{27DE9DBD-9F64-7F41-8F9C-BEAE79CCD3F9}"/>
              </a:ext>
            </a:extLst>
          </p:cNvPr>
          <p:cNvSpPr/>
          <p:nvPr/>
        </p:nvSpPr>
        <p:spPr>
          <a:xfrm>
            <a:off x="2817986" y="2513646"/>
            <a:ext cx="663102" cy="772723"/>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2" name="Freeform 61">
            <a:extLst>
              <a:ext uri="{FF2B5EF4-FFF2-40B4-BE49-F238E27FC236}">
                <a16:creationId xmlns="" xmlns:a16="http://schemas.microsoft.com/office/drawing/2014/main" id="{BD7C72B8-A2C3-B04D-91FB-0C280D5F6EE5}"/>
              </a:ext>
            </a:extLst>
          </p:cNvPr>
          <p:cNvSpPr/>
          <p:nvPr/>
        </p:nvSpPr>
        <p:spPr>
          <a:xfrm>
            <a:off x="2154884" y="2514833"/>
            <a:ext cx="663102" cy="77153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3" name="Freeform 62">
            <a:extLst>
              <a:ext uri="{FF2B5EF4-FFF2-40B4-BE49-F238E27FC236}">
                <a16:creationId xmlns="" xmlns:a16="http://schemas.microsoft.com/office/drawing/2014/main" id="{97A5C87A-9515-4048-B8BC-01024AC1BAFE}"/>
              </a:ext>
            </a:extLst>
          </p:cNvPr>
          <p:cNvSpPr/>
          <p:nvPr/>
        </p:nvSpPr>
        <p:spPr>
          <a:xfrm>
            <a:off x="2687782" y="2594708"/>
            <a:ext cx="260349" cy="29446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pic>
        <p:nvPicPr>
          <p:cNvPr id="64" name="Picture 63" descr="A close up of a logo&#10;&#10;Description automatically generated">
            <a:extLst>
              <a:ext uri="{FF2B5EF4-FFF2-40B4-BE49-F238E27FC236}">
                <a16:creationId xmlns="" xmlns:a16="http://schemas.microsoft.com/office/drawing/2014/main" id="{0E08509E-E346-DF45-A8E6-86A02D3DAF7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731732" y="2254266"/>
            <a:ext cx="196372" cy="150292"/>
          </a:xfrm>
          <a:prstGeom prst="rect">
            <a:avLst/>
          </a:prstGeom>
        </p:spPr>
      </p:pic>
      <p:pic>
        <p:nvPicPr>
          <p:cNvPr id="65" name="Picture 64" descr="A close up of a logo&#10;&#10;Description automatically generated">
            <a:extLst>
              <a:ext uri="{FF2B5EF4-FFF2-40B4-BE49-F238E27FC236}">
                <a16:creationId xmlns="" xmlns:a16="http://schemas.microsoft.com/office/drawing/2014/main" id="{C1C3305B-C4B3-144A-8E25-28DCC9EADF1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406211" y="2975673"/>
            <a:ext cx="266726" cy="189672"/>
          </a:xfrm>
          <a:prstGeom prst="rect">
            <a:avLst/>
          </a:prstGeom>
        </p:spPr>
      </p:pic>
      <p:pic>
        <p:nvPicPr>
          <p:cNvPr id="66" name="Picture 65" descr="A close up of a logo&#10;&#10;Description automatically generated">
            <a:extLst>
              <a:ext uri="{FF2B5EF4-FFF2-40B4-BE49-F238E27FC236}">
                <a16:creationId xmlns="" xmlns:a16="http://schemas.microsoft.com/office/drawing/2014/main" id="{CC5BAB40-2580-D24D-974B-07DCEE24052A}"/>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3021201" y="3027698"/>
            <a:ext cx="165177" cy="137648"/>
          </a:xfrm>
          <a:prstGeom prst="rect">
            <a:avLst/>
          </a:prstGeom>
        </p:spPr>
      </p:pic>
      <p:sp>
        <p:nvSpPr>
          <p:cNvPr id="67" name="TextBox 66">
            <a:extLst>
              <a:ext uri="{FF2B5EF4-FFF2-40B4-BE49-F238E27FC236}">
                <a16:creationId xmlns="" xmlns:a16="http://schemas.microsoft.com/office/drawing/2014/main" id="{297E41E0-78F2-2648-93DC-A66EFF5D75E1}"/>
              </a:ext>
            </a:extLst>
          </p:cNvPr>
          <p:cNvSpPr txBox="1"/>
          <p:nvPr/>
        </p:nvSpPr>
        <p:spPr>
          <a:xfrm>
            <a:off x="2573419" y="1795903"/>
            <a:ext cx="524503" cy="276999"/>
          </a:xfrm>
          <a:prstGeom prst="rect">
            <a:avLst/>
          </a:prstGeom>
          <a:noFill/>
        </p:spPr>
        <p:txBody>
          <a:bodyPr wrap="none" rtlCol="0">
            <a:spAutoFit/>
          </a:bodyPr>
          <a:lstStyle/>
          <a:p>
            <a:pPr algn="ctr"/>
            <a:r>
              <a:rPr lang="en-US" sz="1200" dirty="0">
                <a:solidFill>
                  <a:schemeClr val="bg2"/>
                </a:solidFill>
                <a:latin typeface="Century Gothic" panose="020B0502020202020204" pitchFamily="34" charset="0"/>
              </a:rPr>
              <a:t>Time</a:t>
            </a:r>
          </a:p>
        </p:txBody>
      </p:sp>
      <p:sp>
        <p:nvSpPr>
          <p:cNvPr id="19" name="Freeform 18">
            <a:extLst>
              <a:ext uri="{FF2B5EF4-FFF2-40B4-BE49-F238E27FC236}">
                <a16:creationId xmlns="" xmlns:a16="http://schemas.microsoft.com/office/drawing/2014/main" id="{5AD469C7-5704-4D45-9E30-0CCEABC13D68}"/>
              </a:ext>
            </a:extLst>
          </p:cNvPr>
          <p:cNvSpPr/>
          <p:nvPr/>
        </p:nvSpPr>
        <p:spPr>
          <a:xfrm>
            <a:off x="6051897" y="828243"/>
            <a:ext cx="2239609" cy="2533052"/>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20" name="TextBox 19">
            <a:extLst>
              <a:ext uri="{FF2B5EF4-FFF2-40B4-BE49-F238E27FC236}">
                <a16:creationId xmlns="" xmlns:a16="http://schemas.microsoft.com/office/drawing/2014/main" id="{AEEFB8B4-2791-3D43-A510-43D4014CC336}"/>
              </a:ext>
            </a:extLst>
          </p:cNvPr>
          <p:cNvSpPr txBox="1"/>
          <p:nvPr/>
        </p:nvSpPr>
        <p:spPr>
          <a:xfrm>
            <a:off x="6179603" y="1795903"/>
            <a:ext cx="1984195" cy="1323439"/>
          </a:xfrm>
          <a:prstGeom prst="rect">
            <a:avLst/>
          </a:prstGeom>
          <a:noFill/>
        </p:spPr>
        <p:txBody>
          <a:bodyPr wrap="square" rtlCol="0">
            <a:spAutoFit/>
          </a:bodyPr>
          <a:lstStyle/>
          <a:p>
            <a:pPr algn="ctr"/>
            <a:r>
              <a:rPr lang="en-US" sz="2000" b="1" dirty="0">
                <a:latin typeface="Century Gothic" panose="020B0502020202020204" pitchFamily="34" charset="0"/>
              </a:rPr>
              <a:t>Learning:</a:t>
            </a:r>
          </a:p>
          <a:p>
            <a:pPr algn="ctr"/>
            <a:endParaRPr lang="en-US" sz="2000" dirty="0">
              <a:latin typeface="Century Gothic" panose="020B0502020202020204" pitchFamily="34" charset="0"/>
            </a:endParaRPr>
          </a:p>
          <a:p>
            <a:pPr algn="ctr"/>
            <a:r>
              <a:rPr lang="en-US" sz="2000" dirty="0">
                <a:latin typeface="Century Gothic" panose="020B0502020202020204" pitchFamily="34" charset="0"/>
              </a:rPr>
              <a:t>standard paradigm</a:t>
            </a:r>
          </a:p>
        </p:txBody>
      </p:sp>
      <p:sp>
        <p:nvSpPr>
          <p:cNvPr id="21" name="TextBox 20">
            <a:extLst>
              <a:ext uri="{FF2B5EF4-FFF2-40B4-BE49-F238E27FC236}">
                <a16:creationId xmlns="" xmlns:a16="http://schemas.microsoft.com/office/drawing/2014/main" id="{562F6794-3AE4-1E40-84CF-7328A7CA7EFA}"/>
              </a:ext>
            </a:extLst>
          </p:cNvPr>
          <p:cNvSpPr txBox="1"/>
          <p:nvPr/>
        </p:nvSpPr>
        <p:spPr>
          <a:xfrm>
            <a:off x="1828800" y="4774276"/>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3" name="Straight Arrow Connector 2">
            <a:extLst>
              <a:ext uri="{FF2B5EF4-FFF2-40B4-BE49-F238E27FC236}">
                <a16:creationId xmlns="" xmlns:a16="http://schemas.microsoft.com/office/drawing/2014/main" id="{AB8EFC0C-4274-B545-BAD2-9038B4618818}"/>
              </a:ext>
            </a:extLst>
          </p:cNvPr>
          <p:cNvCxnSpPr/>
          <p:nvPr/>
        </p:nvCxnSpPr>
        <p:spPr>
          <a:xfrm>
            <a:off x="3155484" y="5005108"/>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 xmlns:a16="http://schemas.microsoft.com/office/drawing/2014/main" id="{8885806C-EFFD-2C49-8160-9D3325534450}"/>
              </a:ext>
            </a:extLst>
          </p:cNvPr>
          <p:cNvSpPr txBox="1"/>
          <p:nvPr/>
        </p:nvSpPr>
        <p:spPr>
          <a:xfrm>
            <a:off x="3881886" y="4774276"/>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24" name="TextBox 23">
            <a:extLst>
              <a:ext uri="{FF2B5EF4-FFF2-40B4-BE49-F238E27FC236}">
                <a16:creationId xmlns="" xmlns:a16="http://schemas.microsoft.com/office/drawing/2014/main" id="{8110BAEE-3765-0344-AB26-82B2372D2067}"/>
              </a:ext>
            </a:extLst>
          </p:cNvPr>
          <p:cNvSpPr txBox="1"/>
          <p:nvPr/>
        </p:nvSpPr>
        <p:spPr>
          <a:xfrm>
            <a:off x="5986731" y="4774276"/>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25" name="Straight Arrow Connector 24">
            <a:extLst>
              <a:ext uri="{FF2B5EF4-FFF2-40B4-BE49-F238E27FC236}">
                <a16:creationId xmlns="" xmlns:a16="http://schemas.microsoft.com/office/drawing/2014/main" id="{D5655D16-6825-6E47-85B6-5716C5EDE2B4}"/>
              </a:ext>
            </a:extLst>
          </p:cNvPr>
          <p:cNvCxnSpPr/>
          <p:nvPr/>
        </p:nvCxnSpPr>
        <p:spPr>
          <a:xfrm>
            <a:off x="5243077" y="5005108"/>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 xmlns:a16="http://schemas.microsoft.com/office/drawing/2014/main" id="{6E34B853-C8C5-824E-9802-B32A7F32B333}"/>
              </a:ext>
            </a:extLst>
          </p:cNvPr>
          <p:cNvGrpSpPr/>
          <p:nvPr/>
        </p:nvGrpSpPr>
        <p:grpSpPr>
          <a:xfrm>
            <a:off x="1828800" y="5188344"/>
            <a:ext cx="5794347" cy="461665"/>
            <a:chOff x="1940668" y="5333564"/>
            <a:chExt cx="5794347" cy="461665"/>
          </a:xfrm>
        </p:grpSpPr>
        <p:sp>
          <p:nvSpPr>
            <p:cNvPr id="26" name="TextBox 25">
              <a:extLst>
                <a:ext uri="{FF2B5EF4-FFF2-40B4-BE49-F238E27FC236}">
                  <a16:creationId xmlns="" xmlns:a16="http://schemas.microsoft.com/office/drawing/2014/main" id="{9AC4B3D9-2EAD-854C-BC10-2AAA815C29C9}"/>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27" name="Straight Arrow Connector 26">
              <a:extLst>
                <a:ext uri="{FF2B5EF4-FFF2-40B4-BE49-F238E27FC236}">
                  <a16:creationId xmlns="" xmlns:a16="http://schemas.microsoft.com/office/drawing/2014/main" id="{2A62EF9E-D230-6D42-98F2-C69C76BC8BA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 xmlns:a16="http://schemas.microsoft.com/office/drawing/2014/main" id="{D89C3CE7-C2E1-FE42-81B4-44BA34E8843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29" name="TextBox 28">
              <a:extLst>
                <a:ext uri="{FF2B5EF4-FFF2-40B4-BE49-F238E27FC236}">
                  <a16:creationId xmlns="" xmlns:a16="http://schemas.microsoft.com/office/drawing/2014/main" id="{10708E44-54A6-5144-9D43-2A16FEB315AD}"/>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30" name="Straight Arrow Connector 29">
              <a:extLst>
                <a:ext uri="{FF2B5EF4-FFF2-40B4-BE49-F238E27FC236}">
                  <a16:creationId xmlns="" xmlns:a16="http://schemas.microsoft.com/office/drawing/2014/main" id="{0C51669D-D1FE-CC43-9734-9A8E403B573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 xmlns:a16="http://schemas.microsoft.com/office/drawing/2014/main" id="{377B2C05-C130-ED4B-8B72-F3D53B58CA1A}"/>
              </a:ext>
            </a:extLst>
          </p:cNvPr>
          <p:cNvGrpSpPr/>
          <p:nvPr/>
        </p:nvGrpSpPr>
        <p:grpSpPr>
          <a:xfrm>
            <a:off x="1828800" y="5464390"/>
            <a:ext cx="5794347" cy="461665"/>
            <a:chOff x="1940668" y="5333564"/>
            <a:chExt cx="5794347" cy="461665"/>
          </a:xfrm>
        </p:grpSpPr>
        <p:sp>
          <p:nvSpPr>
            <p:cNvPr id="71" name="TextBox 70">
              <a:extLst>
                <a:ext uri="{FF2B5EF4-FFF2-40B4-BE49-F238E27FC236}">
                  <a16:creationId xmlns="" xmlns:a16="http://schemas.microsoft.com/office/drawing/2014/main" id="{CDD76320-815E-464F-A65A-486CB99F2426}"/>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72" name="Straight Arrow Connector 71">
              <a:extLst>
                <a:ext uri="{FF2B5EF4-FFF2-40B4-BE49-F238E27FC236}">
                  <a16:creationId xmlns="" xmlns:a16="http://schemas.microsoft.com/office/drawing/2014/main" id="{886B2818-EE86-2E41-8E0D-F4C1BC33D4C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 xmlns:a16="http://schemas.microsoft.com/office/drawing/2014/main" id="{7BCB28F9-EEB4-9442-A829-4DB2ECF13CF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74" name="TextBox 73">
              <a:extLst>
                <a:ext uri="{FF2B5EF4-FFF2-40B4-BE49-F238E27FC236}">
                  <a16:creationId xmlns="" xmlns:a16="http://schemas.microsoft.com/office/drawing/2014/main" id="{5E3D8EAA-F289-7842-BA0F-70928BCD43E0}"/>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75" name="Straight Arrow Connector 74">
              <a:extLst>
                <a:ext uri="{FF2B5EF4-FFF2-40B4-BE49-F238E27FC236}">
                  <a16:creationId xmlns="" xmlns:a16="http://schemas.microsoft.com/office/drawing/2014/main" id="{716A585D-E85E-9044-94B2-B3794CA297CD}"/>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 xmlns:a16="http://schemas.microsoft.com/office/drawing/2014/main" id="{40126CDE-8041-8D43-993A-4C2C69DCE9EA}"/>
              </a:ext>
            </a:extLst>
          </p:cNvPr>
          <p:cNvGrpSpPr/>
          <p:nvPr/>
        </p:nvGrpSpPr>
        <p:grpSpPr>
          <a:xfrm>
            <a:off x="1828800" y="5636919"/>
            <a:ext cx="5794347" cy="461665"/>
            <a:chOff x="1940668" y="5333564"/>
            <a:chExt cx="5794347" cy="461665"/>
          </a:xfrm>
        </p:grpSpPr>
        <p:sp>
          <p:nvSpPr>
            <p:cNvPr id="83" name="TextBox 82">
              <a:extLst>
                <a:ext uri="{FF2B5EF4-FFF2-40B4-BE49-F238E27FC236}">
                  <a16:creationId xmlns="" xmlns:a16="http://schemas.microsoft.com/office/drawing/2014/main" id="{B48D5817-A6CF-EB43-82D5-E4D19B60EDC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84" name="Straight Arrow Connector 83">
              <a:extLst>
                <a:ext uri="{FF2B5EF4-FFF2-40B4-BE49-F238E27FC236}">
                  <a16:creationId xmlns="" xmlns:a16="http://schemas.microsoft.com/office/drawing/2014/main" id="{6BB4B3C7-E5F3-7F4B-8800-D048BBCEA396}"/>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 xmlns:a16="http://schemas.microsoft.com/office/drawing/2014/main" id="{DA49BA51-40B9-5642-B4FB-CE403128B57D}"/>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86" name="TextBox 85">
              <a:extLst>
                <a:ext uri="{FF2B5EF4-FFF2-40B4-BE49-F238E27FC236}">
                  <a16:creationId xmlns="" xmlns:a16="http://schemas.microsoft.com/office/drawing/2014/main" id="{ACA82B52-7649-434E-8122-4CEEF68E95D7}"/>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87" name="Straight Arrow Connector 86">
              <a:extLst>
                <a:ext uri="{FF2B5EF4-FFF2-40B4-BE49-F238E27FC236}">
                  <a16:creationId xmlns="" xmlns:a16="http://schemas.microsoft.com/office/drawing/2014/main" id="{626CB0A0-54F7-F74B-99C5-9274EA9A9399}"/>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 xmlns:a16="http://schemas.microsoft.com/office/drawing/2014/main" id="{1216D10A-6685-6245-B438-E599738845B0}"/>
              </a:ext>
            </a:extLst>
          </p:cNvPr>
          <p:cNvGrpSpPr/>
          <p:nvPr/>
        </p:nvGrpSpPr>
        <p:grpSpPr>
          <a:xfrm>
            <a:off x="1828800" y="5774941"/>
            <a:ext cx="5794347" cy="461665"/>
            <a:chOff x="1940668" y="5333564"/>
            <a:chExt cx="5794347" cy="461665"/>
          </a:xfrm>
        </p:grpSpPr>
        <p:sp>
          <p:nvSpPr>
            <p:cNvPr id="89" name="TextBox 88">
              <a:extLst>
                <a:ext uri="{FF2B5EF4-FFF2-40B4-BE49-F238E27FC236}">
                  <a16:creationId xmlns="" xmlns:a16="http://schemas.microsoft.com/office/drawing/2014/main" id="{0AC94939-1EFC-9A45-98CD-72E998FE74D0}"/>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90" name="Straight Arrow Connector 89">
              <a:extLst>
                <a:ext uri="{FF2B5EF4-FFF2-40B4-BE49-F238E27FC236}">
                  <a16:creationId xmlns="" xmlns:a16="http://schemas.microsoft.com/office/drawing/2014/main" id="{813799E5-1A5D-8340-A30C-1DB7D4BBA955}"/>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 xmlns:a16="http://schemas.microsoft.com/office/drawing/2014/main" id="{26CC544C-4E86-FA4B-98B4-1E4687A05B6E}"/>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92" name="TextBox 91">
              <a:extLst>
                <a:ext uri="{FF2B5EF4-FFF2-40B4-BE49-F238E27FC236}">
                  <a16:creationId xmlns="" xmlns:a16="http://schemas.microsoft.com/office/drawing/2014/main" id="{11E78D7D-58AE-E84E-B222-8F2958D6EBA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93" name="Straight Arrow Connector 92">
              <a:extLst>
                <a:ext uri="{FF2B5EF4-FFF2-40B4-BE49-F238E27FC236}">
                  <a16:creationId xmlns="" xmlns:a16="http://schemas.microsoft.com/office/drawing/2014/main" id="{4E0E93DC-583C-C54A-8236-B8C7C2BF710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 xmlns:a16="http://schemas.microsoft.com/office/drawing/2014/main" id="{43BBC695-7B58-AD45-9CD8-15202605F6B1}"/>
              </a:ext>
            </a:extLst>
          </p:cNvPr>
          <p:cNvGrpSpPr/>
          <p:nvPr/>
        </p:nvGrpSpPr>
        <p:grpSpPr>
          <a:xfrm>
            <a:off x="1828800" y="5895710"/>
            <a:ext cx="5794347" cy="461665"/>
            <a:chOff x="1940668" y="5333564"/>
            <a:chExt cx="5794347" cy="461665"/>
          </a:xfrm>
        </p:grpSpPr>
        <p:sp>
          <p:nvSpPr>
            <p:cNvPr id="95" name="TextBox 94">
              <a:extLst>
                <a:ext uri="{FF2B5EF4-FFF2-40B4-BE49-F238E27FC236}">
                  <a16:creationId xmlns="" xmlns:a16="http://schemas.microsoft.com/office/drawing/2014/main" id="{1A6BB080-B3C7-0B44-A5DB-8D2E63EB6657}"/>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96" name="Straight Arrow Connector 95">
              <a:extLst>
                <a:ext uri="{FF2B5EF4-FFF2-40B4-BE49-F238E27FC236}">
                  <a16:creationId xmlns="" xmlns:a16="http://schemas.microsoft.com/office/drawing/2014/main" id="{ED88F8FF-D200-4140-A61A-6896911FB422}"/>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 xmlns:a16="http://schemas.microsoft.com/office/drawing/2014/main" id="{B2051B38-A958-294C-8D4B-A9305D80810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98" name="TextBox 97">
              <a:extLst>
                <a:ext uri="{FF2B5EF4-FFF2-40B4-BE49-F238E27FC236}">
                  <a16:creationId xmlns="" xmlns:a16="http://schemas.microsoft.com/office/drawing/2014/main" id="{CF880968-4E94-9C4E-A39E-B484A5FCD5F9}"/>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99" name="Straight Arrow Connector 98">
              <a:extLst>
                <a:ext uri="{FF2B5EF4-FFF2-40B4-BE49-F238E27FC236}">
                  <a16:creationId xmlns="" xmlns:a16="http://schemas.microsoft.com/office/drawing/2014/main" id="{EEAF3928-80F4-1D44-BBEB-067E9C14647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 xmlns:a16="http://schemas.microsoft.com/office/drawing/2014/main" id="{8A0D11C8-346B-5548-82D5-F2221393E4CB}"/>
              </a:ext>
            </a:extLst>
          </p:cNvPr>
          <p:cNvGrpSpPr/>
          <p:nvPr/>
        </p:nvGrpSpPr>
        <p:grpSpPr>
          <a:xfrm>
            <a:off x="1828800" y="5999227"/>
            <a:ext cx="5794347" cy="461665"/>
            <a:chOff x="1940668" y="5333564"/>
            <a:chExt cx="5794347" cy="461665"/>
          </a:xfrm>
        </p:grpSpPr>
        <p:sp>
          <p:nvSpPr>
            <p:cNvPr id="101" name="TextBox 100">
              <a:extLst>
                <a:ext uri="{FF2B5EF4-FFF2-40B4-BE49-F238E27FC236}">
                  <a16:creationId xmlns="" xmlns:a16="http://schemas.microsoft.com/office/drawing/2014/main" id="{DC056E11-F178-AB46-B322-E66C0BB42B84}"/>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02" name="Straight Arrow Connector 101">
              <a:extLst>
                <a:ext uri="{FF2B5EF4-FFF2-40B4-BE49-F238E27FC236}">
                  <a16:creationId xmlns="" xmlns:a16="http://schemas.microsoft.com/office/drawing/2014/main" id="{9B98ABCC-9C58-7946-B1D9-03260E1FCD94}"/>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 xmlns:a16="http://schemas.microsoft.com/office/drawing/2014/main" id="{8E27B1B4-D0D7-B347-8D0D-360D888B3F3C}"/>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04" name="TextBox 103">
              <a:extLst>
                <a:ext uri="{FF2B5EF4-FFF2-40B4-BE49-F238E27FC236}">
                  <a16:creationId xmlns="" xmlns:a16="http://schemas.microsoft.com/office/drawing/2014/main" id="{9B7EAC35-9126-1A47-9F1E-F432D95819D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05" name="Straight Arrow Connector 104">
              <a:extLst>
                <a:ext uri="{FF2B5EF4-FFF2-40B4-BE49-F238E27FC236}">
                  <a16:creationId xmlns="" xmlns:a16="http://schemas.microsoft.com/office/drawing/2014/main" id="{A9A94ADC-EBAC-844C-930B-B052416FF72A}"/>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 xmlns:a16="http://schemas.microsoft.com/office/drawing/2014/main" id="{30F47DBC-1597-6F47-8342-A113267A2C6A}"/>
              </a:ext>
            </a:extLst>
          </p:cNvPr>
          <p:cNvGrpSpPr/>
          <p:nvPr/>
        </p:nvGrpSpPr>
        <p:grpSpPr>
          <a:xfrm>
            <a:off x="1828800" y="6102744"/>
            <a:ext cx="5794347" cy="461665"/>
            <a:chOff x="1940668" y="5333564"/>
            <a:chExt cx="5794347" cy="461665"/>
          </a:xfrm>
        </p:grpSpPr>
        <p:sp>
          <p:nvSpPr>
            <p:cNvPr id="107" name="TextBox 106">
              <a:extLst>
                <a:ext uri="{FF2B5EF4-FFF2-40B4-BE49-F238E27FC236}">
                  <a16:creationId xmlns="" xmlns:a16="http://schemas.microsoft.com/office/drawing/2014/main" id="{2BB36A91-CE3B-2544-9959-03A24DFF308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08" name="Straight Arrow Connector 107">
              <a:extLst>
                <a:ext uri="{FF2B5EF4-FFF2-40B4-BE49-F238E27FC236}">
                  <a16:creationId xmlns="" xmlns:a16="http://schemas.microsoft.com/office/drawing/2014/main" id="{B985074B-339F-064B-8594-588430AF0C5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 xmlns:a16="http://schemas.microsoft.com/office/drawing/2014/main" id="{5AAC9538-E216-D048-9A50-742B962B8A08}"/>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10" name="TextBox 109">
              <a:extLst>
                <a:ext uri="{FF2B5EF4-FFF2-40B4-BE49-F238E27FC236}">
                  <a16:creationId xmlns="" xmlns:a16="http://schemas.microsoft.com/office/drawing/2014/main" id="{D8F78F2A-782B-5547-8322-945B693B613C}"/>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11" name="Straight Arrow Connector 110">
              <a:extLst>
                <a:ext uri="{FF2B5EF4-FFF2-40B4-BE49-F238E27FC236}">
                  <a16:creationId xmlns="" xmlns:a16="http://schemas.microsoft.com/office/drawing/2014/main" id="{D68B5D95-0D45-1140-B801-2AAB49A5295B}"/>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 xmlns:a16="http://schemas.microsoft.com/office/drawing/2014/main" id="{E95C1BA7-3658-3D44-9B48-029D072C916D}"/>
              </a:ext>
            </a:extLst>
          </p:cNvPr>
          <p:cNvGrpSpPr/>
          <p:nvPr/>
        </p:nvGrpSpPr>
        <p:grpSpPr>
          <a:xfrm>
            <a:off x="1828800" y="6154502"/>
            <a:ext cx="5794347" cy="461665"/>
            <a:chOff x="1940668" y="5333564"/>
            <a:chExt cx="5794347" cy="461665"/>
          </a:xfrm>
        </p:grpSpPr>
        <p:sp>
          <p:nvSpPr>
            <p:cNvPr id="113" name="TextBox 112">
              <a:extLst>
                <a:ext uri="{FF2B5EF4-FFF2-40B4-BE49-F238E27FC236}">
                  <a16:creationId xmlns="" xmlns:a16="http://schemas.microsoft.com/office/drawing/2014/main" id="{4687DD80-7327-4E48-83C3-47A2145CD263}"/>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14" name="Straight Arrow Connector 113">
              <a:extLst>
                <a:ext uri="{FF2B5EF4-FFF2-40B4-BE49-F238E27FC236}">
                  <a16:creationId xmlns="" xmlns:a16="http://schemas.microsoft.com/office/drawing/2014/main" id="{9B6096D9-A2E2-D34B-A84D-CFFC2231F8AE}"/>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 xmlns:a16="http://schemas.microsoft.com/office/drawing/2014/main" id="{76CDED5D-B299-474A-8DAE-0F42166F32D2}"/>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16" name="TextBox 115">
              <a:extLst>
                <a:ext uri="{FF2B5EF4-FFF2-40B4-BE49-F238E27FC236}">
                  <a16:creationId xmlns="" xmlns:a16="http://schemas.microsoft.com/office/drawing/2014/main" id="{36EBDC4D-F295-BF42-A9B3-111DEBD016F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17" name="Straight Arrow Connector 116">
              <a:extLst>
                <a:ext uri="{FF2B5EF4-FFF2-40B4-BE49-F238E27FC236}">
                  <a16:creationId xmlns="" xmlns:a16="http://schemas.microsoft.com/office/drawing/2014/main" id="{EB5A4E96-764D-DB41-A43A-D5058C348AA1}"/>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 xmlns:a16="http://schemas.microsoft.com/office/drawing/2014/main" id="{6A2ED0DB-FB33-8D49-9F6B-A0C6F772729C}"/>
              </a:ext>
            </a:extLst>
          </p:cNvPr>
          <p:cNvGrpSpPr/>
          <p:nvPr/>
        </p:nvGrpSpPr>
        <p:grpSpPr>
          <a:xfrm>
            <a:off x="1828800" y="6240767"/>
            <a:ext cx="5794347" cy="461665"/>
            <a:chOff x="1940668" y="5333564"/>
            <a:chExt cx="5794347" cy="461665"/>
          </a:xfrm>
        </p:grpSpPr>
        <p:sp>
          <p:nvSpPr>
            <p:cNvPr id="119" name="TextBox 118">
              <a:extLst>
                <a:ext uri="{FF2B5EF4-FFF2-40B4-BE49-F238E27FC236}">
                  <a16:creationId xmlns="" xmlns:a16="http://schemas.microsoft.com/office/drawing/2014/main" id="{7567E6A1-B920-A142-B5F2-B5C0A83BF048}"/>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20" name="Straight Arrow Connector 119">
              <a:extLst>
                <a:ext uri="{FF2B5EF4-FFF2-40B4-BE49-F238E27FC236}">
                  <a16:creationId xmlns="" xmlns:a16="http://schemas.microsoft.com/office/drawing/2014/main" id="{26CB8072-07F9-F943-B95E-AB19612739EC}"/>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 xmlns:a16="http://schemas.microsoft.com/office/drawing/2014/main" id="{4D528495-B495-DF4E-BD0B-968EDE934BE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22" name="TextBox 121">
              <a:extLst>
                <a:ext uri="{FF2B5EF4-FFF2-40B4-BE49-F238E27FC236}">
                  <a16:creationId xmlns="" xmlns:a16="http://schemas.microsoft.com/office/drawing/2014/main" id="{68B295BD-AB2D-2941-9F65-27E4EC6AE63A}"/>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23" name="Straight Arrow Connector 122">
              <a:extLst>
                <a:ext uri="{FF2B5EF4-FFF2-40B4-BE49-F238E27FC236}">
                  <a16:creationId xmlns="" xmlns:a16="http://schemas.microsoft.com/office/drawing/2014/main" id="{EA984C12-D9A1-8E4B-B234-3FA42584727C}"/>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 xmlns:a16="http://schemas.microsoft.com/office/drawing/2014/main" id="{E426CC25-FAC8-AD47-999F-24FBD099E8D6}"/>
              </a:ext>
            </a:extLst>
          </p:cNvPr>
          <p:cNvGrpSpPr/>
          <p:nvPr/>
        </p:nvGrpSpPr>
        <p:grpSpPr>
          <a:xfrm>
            <a:off x="1828800" y="6327031"/>
            <a:ext cx="5794347" cy="461665"/>
            <a:chOff x="1940668" y="5333564"/>
            <a:chExt cx="5794347" cy="461665"/>
          </a:xfrm>
        </p:grpSpPr>
        <p:sp>
          <p:nvSpPr>
            <p:cNvPr id="125" name="TextBox 124">
              <a:extLst>
                <a:ext uri="{FF2B5EF4-FFF2-40B4-BE49-F238E27FC236}">
                  <a16:creationId xmlns="" xmlns:a16="http://schemas.microsoft.com/office/drawing/2014/main" id="{8F519A1A-73E8-C947-8BB4-82812330AA62}"/>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26" name="Straight Arrow Connector 125">
              <a:extLst>
                <a:ext uri="{FF2B5EF4-FFF2-40B4-BE49-F238E27FC236}">
                  <a16:creationId xmlns="" xmlns:a16="http://schemas.microsoft.com/office/drawing/2014/main" id="{5CA7997A-176E-6E4B-AF85-0EDE0FFF28E8}"/>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 xmlns:a16="http://schemas.microsoft.com/office/drawing/2014/main" id="{B2B66A27-334C-184A-910B-065FEFD2B3CA}"/>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28" name="TextBox 127">
              <a:extLst>
                <a:ext uri="{FF2B5EF4-FFF2-40B4-BE49-F238E27FC236}">
                  <a16:creationId xmlns="" xmlns:a16="http://schemas.microsoft.com/office/drawing/2014/main" id="{D8AE57CD-B3E9-3F46-A28C-CF2E198F7BA8}"/>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29" name="Straight Arrow Connector 128">
              <a:extLst>
                <a:ext uri="{FF2B5EF4-FFF2-40B4-BE49-F238E27FC236}">
                  <a16:creationId xmlns="" xmlns:a16="http://schemas.microsoft.com/office/drawing/2014/main" id="{A0928728-76E6-D64A-9E6F-258C5B3CE17F}"/>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 xmlns:a16="http://schemas.microsoft.com/office/drawing/2014/main" id="{16187EE8-C205-F342-8974-C981166933F4}"/>
              </a:ext>
            </a:extLst>
          </p:cNvPr>
          <p:cNvGrpSpPr/>
          <p:nvPr/>
        </p:nvGrpSpPr>
        <p:grpSpPr>
          <a:xfrm>
            <a:off x="1828800" y="6378790"/>
            <a:ext cx="5794347" cy="461665"/>
            <a:chOff x="1940668" y="5333564"/>
            <a:chExt cx="5794347" cy="461665"/>
          </a:xfrm>
        </p:grpSpPr>
        <p:sp>
          <p:nvSpPr>
            <p:cNvPr id="131" name="TextBox 130">
              <a:extLst>
                <a:ext uri="{FF2B5EF4-FFF2-40B4-BE49-F238E27FC236}">
                  <a16:creationId xmlns="" xmlns:a16="http://schemas.microsoft.com/office/drawing/2014/main" id="{CF674092-6119-D64B-9F40-9D428D175651}"/>
                </a:ext>
              </a:extLst>
            </p:cNvPr>
            <p:cNvSpPr txBox="1"/>
            <p:nvPr/>
          </p:nvSpPr>
          <p:spPr>
            <a:xfrm>
              <a:off x="1940668"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Task</a:t>
              </a:r>
            </a:p>
          </p:txBody>
        </p:sp>
        <p:cxnSp>
          <p:nvCxnSpPr>
            <p:cNvPr id="132" name="Straight Arrow Connector 131">
              <a:extLst>
                <a:ext uri="{FF2B5EF4-FFF2-40B4-BE49-F238E27FC236}">
                  <a16:creationId xmlns="" xmlns:a16="http://schemas.microsoft.com/office/drawing/2014/main" id="{5D3F6A5E-DCBD-ED4C-AD63-95DFFB928203}"/>
                </a:ext>
              </a:extLst>
            </p:cNvPr>
            <p:cNvCxnSpPr/>
            <p:nvPr/>
          </p:nvCxnSpPr>
          <p:spPr>
            <a:xfrm>
              <a:off x="3267352"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 xmlns:a16="http://schemas.microsoft.com/office/drawing/2014/main" id="{E673221B-4DBC-0842-B79A-BFE589D7055B}"/>
                </a:ext>
              </a:extLst>
            </p:cNvPr>
            <p:cNvSpPr txBox="1"/>
            <p:nvPr/>
          </p:nvSpPr>
          <p:spPr>
            <a:xfrm>
              <a:off x="3993754"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Data</a:t>
              </a:r>
            </a:p>
          </p:txBody>
        </p:sp>
        <p:sp>
          <p:nvSpPr>
            <p:cNvPr id="134" name="TextBox 133">
              <a:extLst>
                <a:ext uri="{FF2B5EF4-FFF2-40B4-BE49-F238E27FC236}">
                  <a16:creationId xmlns="" xmlns:a16="http://schemas.microsoft.com/office/drawing/2014/main" id="{E7B5F8F9-1552-F44D-9434-302A2CD2C466}"/>
                </a:ext>
              </a:extLst>
            </p:cNvPr>
            <p:cNvSpPr txBox="1"/>
            <p:nvPr/>
          </p:nvSpPr>
          <p:spPr>
            <a:xfrm>
              <a:off x="6098599" y="5333564"/>
              <a:ext cx="1636416" cy="461665"/>
            </a:xfrm>
            <a:prstGeom prst="rect">
              <a:avLst/>
            </a:prstGeom>
            <a:noFill/>
          </p:spPr>
          <p:txBody>
            <a:bodyPr wrap="square" rtlCol="0">
              <a:spAutoFit/>
            </a:bodyPr>
            <a:lstStyle/>
            <a:p>
              <a:pPr algn="ctr">
                <a:spcBef>
                  <a:spcPts val="600"/>
                </a:spcBef>
                <a:spcAft>
                  <a:spcPts val="600"/>
                </a:spcAft>
                <a:buSzPct val="65000"/>
              </a:pPr>
              <a:r>
                <a:rPr lang="en-US" sz="2400" b="1" dirty="0">
                  <a:solidFill>
                    <a:schemeClr val="bg2"/>
                  </a:solidFill>
                  <a:latin typeface="Century Gothic" charset="0"/>
                  <a:ea typeface="Century Gothic" charset="0"/>
                  <a:cs typeface="Century Gothic" charset="0"/>
                </a:rPr>
                <a:t>Learn</a:t>
              </a:r>
            </a:p>
          </p:txBody>
        </p:sp>
        <p:cxnSp>
          <p:nvCxnSpPr>
            <p:cNvPr id="135" name="Straight Arrow Connector 134">
              <a:extLst>
                <a:ext uri="{FF2B5EF4-FFF2-40B4-BE49-F238E27FC236}">
                  <a16:creationId xmlns="" xmlns:a16="http://schemas.microsoft.com/office/drawing/2014/main" id="{29E60503-E270-F94E-8D63-39259F72DF98}"/>
                </a:ext>
              </a:extLst>
            </p:cNvPr>
            <p:cNvCxnSpPr/>
            <p:nvPr/>
          </p:nvCxnSpPr>
          <p:spPr>
            <a:xfrm>
              <a:off x="5354945" y="5564396"/>
              <a:ext cx="839135" cy="0"/>
            </a:xfrm>
            <a:prstGeom prst="straightConnector1">
              <a:avLst/>
            </a:prstGeom>
            <a:ln w="38100">
              <a:solidFill>
                <a:schemeClr val="tx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136" name="Right Brace 135">
            <a:extLst>
              <a:ext uri="{FF2B5EF4-FFF2-40B4-BE49-F238E27FC236}">
                <a16:creationId xmlns="" xmlns:a16="http://schemas.microsoft.com/office/drawing/2014/main" id="{1942F802-5AF6-254D-98D9-680626955628}"/>
              </a:ext>
            </a:extLst>
          </p:cNvPr>
          <p:cNvSpPr/>
          <p:nvPr/>
        </p:nvSpPr>
        <p:spPr>
          <a:xfrm flipH="1">
            <a:off x="1896913" y="4852555"/>
            <a:ext cx="292477" cy="1873079"/>
          </a:xfrm>
          <a:prstGeom prst="rightBrace">
            <a:avLst/>
          </a:prstGeom>
          <a:ln w="38100">
            <a:solidFill>
              <a:schemeClr val="tx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 name="TextBox 4">
            <a:extLst>
              <a:ext uri="{FF2B5EF4-FFF2-40B4-BE49-F238E27FC236}">
                <a16:creationId xmlns="" xmlns:a16="http://schemas.microsoft.com/office/drawing/2014/main" id="{3CFF7D82-32D3-DB4B-A8E1-1C858E9A1F97}"/>
              </a:ext>
            </a:extLst>
          </p:cNvPr>
          <p:cNvSpPr txBox="1"/>
          <p:nvPr/>
        </p:nvSpPr>
        <p:spPr>
          <a:xfrm>
            <a:off x="125435" y="5526378"/>
            <a:ext cx="1603324" cy="369332"/>
          </a:xfrm>
          <a:prstGeom prst="rect">
            <a:avLst/>
          </a:prstGeom>
          <a:noFill/>
        </p:spPr>
        <p:txBody>
          <a:bodyPr wrap="none" rtlCol="0">
            <a:spAutoFit/>
          </a:bodyPr>
          <a:lstStyle/>
          <a:p>
            <a:r>
              <a:rPr lang="en-US" dirty="0">
                <a:solidFill>
                  <a:schemeClr val="bg2"/>
                </a:solidFill>
                <a:latin typeface="Century Gothic" panose="020B0502020202020204" pitchFamily="34" charset="0"/>
              </a:rPr>
              <a:t>Not scalable</a:t>
            </a:r>
          </a:p>
        </p:txBody>
      </p:sp>
      <p:sp>
        <p:nvSpPr>
          <p:cNvPr id="7" name="Title 6"/>
          <p:cNvSpPr>
            <a:spLocks noGrp="1"/>
          </p:cNvSpPr>
          <p:nvPr>
            <p:ph type="title"/>
          </p:nvPr>
        </p:nvSpPr>
        <p:spPr/>
        <p:txBody>
          <a:bodyPr/>
          <a:lstStyle/>
          <a:p>
            <a:r>
              <a:rPr lang="en-US" dirty="0"/>
              <a:t>What’s </a:t>
            </a:r>
            <a:r>
              <a:rPr lang="en-US" dirty="0" smtClean="0"/>
              <a:t>next</a:t>
            </a:r>
            <a:endParaRPr lang="en-US" dirty="0"/>
          </a:p>
        </p:txBody>
      </p:sp>
    </p:spTree>
    <p:extLst>
      <p:ext uri="{BB962C8B-B14F-4D97-AF65-F5344CB8AC3E}">
        <p14:creationId xmlns:p14="http://schemas.microsoft.com/office/powerpoint/2010/main" val="1914583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wipe(left)">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left)">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anim calcmode="lin" valueType="num">
                                      <p:cBhvr>
                                        <p:cTn id="36" dur="500" fill="hold"/>
                                        <p:tgtEl>
                                          <p:spTgt spid="4"/>
                                        </p:tgtEl>
                                        <p:attrNameLst>
                                          <p:attrName>ppt_x</p:attrName>
                                        </p:attrNameLst>
                                      </p:cBhvr>
                                      <p:tavLst>
                                        <p:tav tm="0">
                                          <p:val>
                                            <p:strVal val="#ppt_x"/>
                                          </p:val>
                                        </p:tav>
                                        <p:tav tm="100000">
                                          <p:val>
                                            <p:strVal val="#ppt_x"/>
                                          </p:val>
                                        </p:tav>
                                      </p:tavLst>
                                    </p:anim>
                                    <p:anim calcmode="lin" valueType="num">
                                      <p:cBhvr>
                                        <p:cTn id="37" dur="500" fill="hold"/>
                                        <p:tgtEl>
                                          <p:spTgt spid="4"/>
                                        </p:tgtEl>
                                        <p:attrNameLst>
                                          <p:attrName>ppt_y</p:attrName>
                                        </p:attrNameLst>
                                      </p:cBhvr>
                                      <p:tavLst>
                                        <p:tav tm="0">
                                          <p:val>
                                            <p:strVal val="#ppt_y+.1"/>
                                          </p:val>
                                        </p:tav>
                                        <p:tav tm="100000">
                                          <p:val>
                                            <p:strVal val="#ppt_y"/>
                                          </p:val>
                                        </p:tav>
                                      </p:tavLst>
                                    </p:anim>
                                  </p:childTnLst>
                                </p:cTn>
                              </p:par>
                            </p:childTnLst>
                          </p:cTn>
                        </p:par>
                        <p:par>
                          <p:cTn id="38" fill="hold">
                            <p:stCondLst>
                              <p:cond delay="500"/>
                            </p:stCondLst>
                            <p:childTnLst>
                              <p:par>
                                <p:cTn id="39" presetID="42" presetClass="entr" presetSubtype="0" fill="hold" nodeType="afterEffect">
                                  <p:stCondLst>
                                    <p:cond delay="0"/>
                                  </p:stCondLst>
                                  <p:childTnLst>
                                    <p:set>
                                      <p:cBhvr>
                                        <p:cTn id="40" dur="1" fill="hold">
                                          <p:stCondLst>
                                            <p:cond delay="0"/>
                                          </p:stCondLst>
                                        </p:cTn>
                                        <p:tgtEl>
                                          <p:spTgt spid="70"/>
                                        </p:tgtEl>
                                        <p:attrNameLst>
                                          <p:attrName>style.visibility</p:attrName>
                                        </p:attrNameLst>
                                      </p:cBhvr>
                                      <p:to>
                                        <p:strVal val="visible"/>
                                      </p:to>
                                    </p:set>
                                    <p:animEffect transition="in" filter="fade">
                                      <p:cBhvr>
                                        <p:cTn id="41" dur="500"/>
                                        <p:tgtEl>
                                          <p:spTgt spid="70"/>
                                        </p:tgtEl>
                                      </p:cBhvr>
                                    </p:animEffect>
                                    <p:anim calcmode="lin" valueType="num">
                                      <p:cBhvr>
                                        <p:cTn id="42" dur="500" fill="hold"/>
                                        <p:tgtEl>
                                          <p:spTgt spid="70"/>
                                        </p:tgtEl>
                                        <p:attrNameLst>
                                          <p:attrName>ppt_x</p:attrName>
                                        </p:attrNameLst>
                                      </p:cBhvr>
                                      <p:tavLst>
                                        <p:tav tm="0">
                                          <p:val>
                                            <p:strVal val="#ppt_x"/>
                                          </p:val>
                                        </p:tav>
                                        <p:tav tm="100000">
                                          <p:val>
                                            <p:strVal val="#ppt_x"/>
                                          </p:val>
                                        </p:tav>
                                      </p:tavLst>
                                    </p:anim>
                                    <p:anim calcmode="lin" valueType="num">
                                      <p:cBhvr>
                                        <p:cTn id="43" dur="500" fill="hold"/>
                                        <p:tgtEl>
                                          <p:spTgt spid="70"/>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42" presetClass="entr" presetSubtype="0" fill="hold" nodeType="afterEffect">
                                  <p:stCondLst>
                                    <p:cond delay="0"/>
                                  </p:stCondLst>
                                  <p:childTnLst>
                                    <p:set>
                                      <p:cBhvr>
                                        <p:cTn id="46" dur="1" fill="hold">
                                          <p:stCondLst>
                                            <p:cond delay="0"/>
                                          </p:stCondLst>
                                        </p:cTn>
                                        <p:tgtEl>
                                          <p:spTgt spid="82"/>
                                        </p:tgtEl>
                                        <p:attrNameLst>
                                          <p:attrName>style.visibility</p:attrName>
                                        </p:attrNameLst>
                                      </p:cBhvr>
                                      <p:to>
                                        <p:strVal val="visible"/>
                                      </p:to>
                                    </p:set>
                                    <p:animEffect transition="in" filter="fade">
                                      <p:cBhvr>
                                        <p:cTn id="47" dur="250"/>
                                        <p:tgtEl>
                                          <p:spTgt spid="82"/>
                                        </p:tgtEl>
                                      </p:cBhvr>
                                    </p:animEffect>
                                    <p:anim calcmode="lin" valueType="num">
                                      <p:cBhvr>
                                        <p:cTn id="48" dur="250" fill="hold"/>
                                        <p:tgtEl>
                                          <p:spTgt spid="82"/>
                                        </p:tgtEl>
                                        <p:attrNameLst>
                                          <p:attrName>ppt_x</p:attrName>
                                        </p:attrNameLst>
                                      </p:cBhvr>
                                      <p:tavLst>
                                        <p:tav tm="0">
                                          <p:val>
                                            <p:strVal val="#ppt_x"/>
                                          </p:val>
                                        </p:tav>
                                        <p:tav tm="100000">
                                          <p:val>
                                            <p:strVal val="#ppt_x"/>
                                          </p:val>
                                        </p:tav>
                                      </p:tavLst>
                                    </p:anim>
                                    <p:anim calcmode="lin" valueType="num">
                                      <p:cBhvr>
                                        <p:cTn id="49" dur="250" fill="hold"/>
                                        <p:tgtEl>
                                          <p:spTgt spid="82"/>
                                        </p:tgtEl>
                                        <p:attrNameLst>
                                          <p:attrName>ppt_y</p:attrName>
                                        </p:attrNameLst>
                                      </p:cBhvr>
                                      <p:tavLst>
                                        <p:tav tm="0">
                                          <p:val>
                                            <p:strVal val="#ppt_y+.1"/>
                                          </p:val>
                                        </p:tav>
                                        <p:tav tm="100000">
                                          <p:val>
                                            <p:strVal val="#ppt_y"/>
                                          </p:val>
                                        </p:tav>
                                      </p:tavLst>
                                    </p:anim>
                                  </p:childTnLst>
                                </p:cTn>
                              </p:par>
                            </p:childTnLst>
                          </p:cTn>
                        </p:par>
                        <p:par>
                          <p:cTn id="50" fill="hold">
                            <p:stCondLst>
                              <p:cond delay="1250"/>
                            </p:stCondLst>
                            <p:childTnLst>
                              <p:par>
                                <p:cTn id="51" presetID="42" presetClass="entr" presetSubtype="0" fill="hold" nodeType="afterEffect">
                                  <p:stCondLst>
                                    <p:cond delay="0"/>
                                  </p:stCondLst>
                                  <p:childTnLst>
                                    <p:set>
                                      <p:cBhvr>
                                        <p:cTn id="52" dur="1" fill="hold">
                                          <p:stCondLst>
                                            <p:cond delay="0"/>
                                          </p:stCondLst>
                                        </p:cTn>
                                        <p:tgtEl>
                                          <p:spTgt spid="88"/>
                                        </p:tgtEl>
                                        <p:attrNameLst>
                                          <p:attrName>style.visibility</p:attrName>
                                        </p:attrNameLst>
                                      </p:cBhvr>
                                      <p:to>
                                        <p:strVal val="visible"/>
                                      </p:to>
                                    </p:set>
                                    <p:animEffect transition="in" filter="fade">
                                      <p:cBhvr>
                                        <p:cTn id="53" dur="250"/>
                                        <p:tgtEl>
                                          <p:spTgt spid="88"/>
                                        </p:tgtEl>
                                      </p:cBhvr>
                                    </p:animEffect>
                                    <p:anim calcmode="lin" valueType="num">
                                      <p:cBhvr>
                                        <p:cTn id="54" dur="250" fill="hold"/>
                                        <p:tgtEl>
                                          <p:spTgt spid="88"/>
                                        </p:tgtEl>
                                        <p:attrNameLst>
                                          <p:attrName>ppt_x</p:attrName>
                                        </p:attrNameLst>
                                      </p:cBhvr>
                                      <p:tavLst>
                                        <p:tav tm="0">
                                          <p:val>
                                            <p:strVal val="#ppt_x"/>
                                          </p:val>
                                        </p:tav>
                                        <p:tav tm="100000">
                                          <p:val>
                                            <p:strVal val="#ppt_x"/>
                                          </p:val>
                                        </p:tav>
                                      </p:tavLst>
                                    </p:anim>
                                    <p:anim calcmode="lin" valueType="num">
                                      <p:cBhvr>
                                        <p:cTn id="55" dur="250" fill="hold"/>
                                        <p:tgtEl>
                                          <p:spTgt spid="88"/>
                                        </p:tgtEl>
                                        <p:attrNameLst>
                                          <p:attrName>ppt_y</p:attrName>
                                        </p:attrNameLst>
                                      </p:cBhvr>
                                      <p:tavLst>
                                        <p:tav tm="0">
                                          <p:val>
                                            <p:strVal val="#ppt_y+.1"/>
                                          </p:val>
                                        </p:tav>
                                        <p:tav tm="100000">
                                          <p:val>
                                            <p:strVal val="#ppt_y"/>
                                          </p:val>
                                        </p:tav>
                                      </p:tavLst>
                                    </p:anim>
                                  </p:childTnLst>
                                </p:cTn>
                              </p:par>
                            </p:childTnLst>
                          </p:cTn>
                        </p:par>
                        <p:par>
                          <p:cTn id="56" fill="hold">
                            <p:stCondLst>
                              <p:cond delay="1500"/>
                            </p:stCondLst>
                            <p:childTnLst>
                              <p:par>
                                <p:cTn id="57" presetID="42" presetClass="entr" presetSubtype="0" fill="hold" nodeType="afterEffect">
                                  <p:stCondLst>
                                    <p:cond delay="0"/>
                                  </p:stCondLst>
                                  <p:childTnLst>
                                    <p:set>
                                      <p:cBhvr>
                                        <p:cTn id="58" dur="1" fill="hold">
                                          <p:stCondLst>
                                            <p:cond delay="0"/>
                                          </p:stCondLst>
                                        </p:cTn>
                                        <p:tgtEl>
                                          <p:spTgt spid="94"/>
                                        </p:tgtEl>
                                        <p:attrNameLst>
                                          <p:attrName>style.visibility</p:attrName>
                                        </p:attrNameLst>
                                      </p:cBhvr>
                                      <p:to>
                                        <p:strVal val="visible"/>
                                      </p:to>
                                    </p:set>
                                    <p:animEffect transition="in" filter="fade">
                                      <p:cBhvr>
                                        <p:cTn id="59" dur="100"/>
                                        <p:tgtEl>
                                          <p:spTgt spid="94"/>
                                        </p:tgtEl>
                                      </p:cBhvr>
                                    </p:animEffect>
                                    <p:anim calcmode="lin" valueType="num">
                                      <p:cBhvr>
                                        <p:cTn id="60" dur="100" fill="hold"/>
                                        <p:tgtEl>
                                          <p:spTgt spid="94"/>
                                        </p:tgtEl>
                                        <p:attrNameLst>
                                          <p:attrName>ppt_x</p:attrName>
                                        </p:attrNameLst>
                                      </p:cBhvr>
                                      <p:tavLst>
                                        <p:tav tm="0">
                                          <p:val>
                                            <p:strVal val="#ppt_x"/>
                                          </p:val>
                                        </p:tav>
                                        <p:tav tm="100000">
                                          <p:val>
                                            <p:strVal val="#ppt_x"/>
                                          </p:val>
                                        </p:tav>
                                      </p:tavLst>
                                    </p:anim>
                                    <p:anim calcmode="lin" valueType="num">
                                      <p:cBhvr>
                                        <p:cTn id="61" dur="100" fill="hold"/>
                                        <p:tgtEl>
                                          <p:spTgt spid="94"/>
                                        </p:tgtEl>
                                        <p:attrNameLst>
                                          <p:attrName>ppt_y</p:attrName>
                                        </p:attrNameLst>
                                      </p:cBhvr>
                                      <p:tavLst>
                                        <p:tav tm="0">
                                          <p:val>
                                            <p:strVal val="#ppt_y+.1"/>
                                          </p:val>
                                        </p:tav>
                                        <p:tav tm="100000">
                                          <p:val>
                                            <p:strVal val="#ppt_y"/>
                                          </p:val>
                                        </p:tav>
                                      </p:tavLst>
                                    </p:anim>
                                  </p:childTnLst>
                                </p:cTn>
                              </p:par>
                            </p:childTnLst>
                          </p:cTn>
                        </p:par>
                        <p:par>
                          <p:cTn id="62" fill="hold">
                            <p:stCondLst>
                              <p:cond delay="1600"/>
                            </p:stCondLst>
                            <p:childTnLst>
                              <p:par>
                                <p:cTn id="63" presetID="42" presetClass="entr" presetSubtype="0" fill="hold" nodeType="afterEffect">
                                  <p:stCondLst>
                                    <p:cond delay="0"/>
                                  </p:stCondLst>
                                  <p:childTnLst>
                                    <p:set>
                                      <p:cBhvr>
                                        <p:cTn id="64" dur="1" fill="hold">
                                          <p:stCondLst>
                                            <p:cond delay="0"/>
                                          </p:stCondLst>
                                        </p:cTn>
                                        <p:tgtEl>
                                          <p:spTgt spid="100"/>
                                        </p:tgtEl>
                                        <p:attrNameLst>
                                          <p:attrName>style.visibility</p:attrName>
                                        </p:attrNameLst>
                                      </p:cBhvr>
                                      <p:to>
                                        <p:strVal val="visible"/>
                                      </p:to>
                                    </p:set>
                                    <p:animEffect transition="in" filter="fade">
                                      <p:cBhvr>
                                        <p:cTn id="65" dur="100"/>
                                        <p:tgtEl>
                                          <p:spTgt spid="100"/>
                                        </p:tgtEl>
                                      </p:cBhvr>
                                    </p:animEffect>
                                    <p:anim calcmode="lin" valueType="num">
                                      <p:cBhvr>
                                        <p:cTn id="66" dur="100" fill="hold"/>
                                        <p:tgtEl>
                                          <p:spTgt spid="100"/>
                                        </p:tgtEl>
                                        <p:attrNameLst>
                                          <p:attrName>ppt_x</p:attrName>
                                        </p:attrNameLst>
                                      </p:cBhvr>
                                      <p:tavLst>
                                        <p:tav tm="0">
                                          <p:val>
                                            <p:strVal val="#ppt_x"/>
                                          </p:val>
                                        </p:tav>
                                        <p:tav tm="100000">
                                          <p:val>
                                            <p:strVal val="#ppt_x"/>
                                          </p:val>
                                        </p:tav>
                                      </p:tavLst>
                                    </p:anim>
                                    <p:anim calcmode="lin" valueType="num">
                                      <p:cBhvr>
                                        <p:cTn id="67" dur="100" fill="hold"/>
                                        <p:tgtEl>
                                          <p:spTgt spid="100"/>
                                        </p:tgtEl>
                                        <p:attrNameLst>
                                          <p:attrName>ppt_y</p:attrName>
                                        </p:attrNameLst>
                                      </p:cBhvr>
                                      <p:tavLst>
                                        <p:tav tm="0">
                                          <p:val>
                                            <p:strVal val="#ppt_y+.1"/>
                                          </p:val>
                                        </p:tav>
                                        <p:tav tm="100000">
                                          <p:val>
                                            <p:strVal val="#ppt_y"/>
                                          </p:val>
                                        </p:tav>
                                      </p:tavLst>
                                    </p:anim>
                                  </p:childTnLst>
                                </p:cTn>
                              </p:par>
                            </p:childTnLst>
                          </p:cTn>
                        </p:par>
                        <p:par>
                          <p:cTn id="68" fill="hold">
                            <p:stCondLst>
                              <p:cond delay="1700"/>
                            </p:stCondLst>
                            <p:childTnLst>
                              <p:par>
                                <p:cTn id="69" presetID="42" presetClass="entr" presetSubtype="0" fill="hold" nodeType="afterEffect">
                                  <p:stCondLst>
                                    <p:cond delay="0"/>
                                  </p:stCondLst>
                                  <p:childTnLst>
                                    <p:set>
                                      <p:cBhvr>
                                        <p:cTn id="70" dur="1" fill="hold">
                                          <p:stCondLst>
                                            <p:cond delay="0"/>
                                          </p:stCondLst>
                                        </p:cTn>
                                        <p:tgtEl>
                                          <p:spTgt spid="106"/>
                                        </p:tgtEl>
                                        <p:attrNameLst>
                                          <p:attrName>style.visibility</p:attrName>
                                        </p:attrNameLst>
                                      </p:cBhvr>
                                      <p:to>
                                        <p:strVal val="visible"/>
                                      </p:to>
                                    </p:set>
                                    <p:animEffect transition="in" filter="fade">
                                      <p:cBhvr>
                                        <p:cTn id="71" dur="100"/>
                                        <p:tgtEl>
                                          <p:spTgt spid="106"/>
                                        </p:tgtEl>
                                      </p:cBhvr>
                                    </p:animEffect>
                                    <p:anim calcmode="lin" valueType="num">
                                      <p:cBhvr>
                                        <p:cTn id="72" dur="100" fill="hold"/>
                                        <p:tgtEl>
                                          <p:spTgt spid="106"/>
                                        </p:tgtEl>
                                        <p:attrNameLst>
                                          <p:attrName>ppt_x</p:attrName>
                                        </p:attrNameLst>
                                      </p:cBhvr>
                                      <p:tavLst>
                                        <p:tav tm="0">
                                          <p:val>
                                            <p:strVal val="#ppt_x"/>
                                          </p:val>
                                        </p:tav>
                                        <p:tav tm="100000">
                                          <p:val>
                                            <p:strVal val="#ppt_x"/>
                                          </p:val>
                                        </p:tav>
                                      </p:tavLst>
                                    </p:anim>
                                    <p:anim calcmode="lin" valueType="num">
                                      <p:cBhvr>
                                        <p:cTn id="73" dur="100" fill="hold"/>
                                        <p:tgtEl>
                                          <p:spTgt spid="106"/>
                                        </p:tgtEl>
                                        <p:attrNameLst>
                                          <p:attrName>ppt_y</p:attrName>
                                        </p:attrNameLst>
                                      </p:cBhvr>
                                      <p:tavLst>
                                        <p:tav tm="0">
                                          <p:val>
                                            <p:strVal val="#ppt_y+.1"/>
                                          </p:val>
                                        </p:tav>
                                        <p:tav tm="100000">
                                          <p:val>
                                            <p:strVal val="#ppt_y"/>
                                          </p:val>
                                        </p:tav>
                                      </p:tavLst>
                                    </p:anim>
                                  </p:childTnLst>
                                </p:cTn>
                              </p:par>
                            </p:childTnLst>
                          </p:cTn>
                        </p:par>
                        <p:par>
                          <p:cTn id="74" fill="hold">
                            <p:stCondLst>
                              <p:cond delay="1800"/>
                            </p:stCondLst>
                            <p:childTnLst>
                              <p:par>
                                <p:cTn id="75" presetID="42" presetClass="entr" presetSubtype="0" fill="hold" nodeType="afterEffect">
                                  <p:stCondLst>
                                    <p:cond delay="0"/>
                                  </p:stCondLst>
                                  <p:childTnLst>
                                    <p:set>
                                      <p:cBhvr>
                                        <p:cTn id="76" dur="1" fill="hold">
                                          <p:stCondLst>
                                            <p:cond delay="0"/>
                                          </p:stCondLst>
                                        </p:cTn>
                                        <p:tgtEl>
                                          <p:spTgt spid="112"/>
                                        </p:tgtEl>
                                        <p:attrNameLst>
                                          <p:attrName>style.visibility</p:attrName>
                                        </p:attrNameLst>
                                      </p:cBhvr>
                                      <p:to>
                                        <p:strVal val="visible"/>
                                      </p:to>
                                    </p:set>
                                    <p:animEffect transition="in" filter="fade">
                                      <p:cBhvr>
                                        <p:cTn id="77" dur="100"/>
                                        <p:tgtEl>
                                          <p:spTgt spid="112"/>
                                        </p:tgtEl>
                                      </p:cBhvr>
                                    </p:animEffect>
                                    <p:anim calcmode="lin" valueType="num">
                                      <p:cBhvr>
                                        <p:cTn id="78" dur="100" fill="hold"/>
                                        <p:tgtEl>
                                          <p:spTgt spid="112"/>
                                        </p:tgtEl>
                                        <p:attrNameLst>
                                          <p:attrName>ppt_x</p:attrName>
                                        </p:attrNameLst>
                                      </p:cBhvr>
                                      <p:tavLst>
                                        <p:tav tm="0">
                                          <p:val>
                                            <p:strVal val="#ppt_x"/>
                                          </p:val>
                                        </p:tav>
                                        <p:tav tm="100000">
                                          <p:val>
                                            <p:strVal val="#ppt_x"/>
                                          </p:val>
                                        </p:tav>
                                      </p:tavLst>
                                    </p:anim>
                                    <p:anim calcmode="lin" valueType="num">
                                      <p:cBhvr>
                                        <p:cTn id="79" dur="100" fill="hold"/>
                                        <p:tgtEl>
                                          <p:spTgt spid="112"/>
                                        </p:tgtEl>
                                        <p:attrNameLst>
                                          <p:attrName>ppt_y</p:attrName>
                                        </p:attrNameLst>
                                      </p:cBhvr>
                                      <p:tavLst>
                                        <p:tav tm="0">
                                          <p:val>
                                            <p:strVal val="#ppt_y+.1"/>
                                          </p:val>
                                        </p:tav>
                                        <p:tav tm="100000">
                                          <p:val>
                                            <p:strVal val="#ppt_y"/>
                                          </p:val>
                                        </p:tav>
                                      </p:tavLst>
                                    </p:anim>
                                  </p:childTnLst>
                                </p:cTn>
                              </p:par>
                            </p:childTnLst>
                          </p:cTn>
                        </p:par>
                        <p:par>
                          <p:cTn id="80" fill="hold">
                            <p:stCondLst>
                              <p:cond delay="1900"/>
                            </p:stCondLst>
                            <p:childTnLst>
                              <p:par>
                                <p:cTn id="81" presetID="42" presetClass="entr" presetSubtype="0" fill="hold" nodeType="afterEffect">
                                  <p:stCondLst>
                                    <p:cond delay="0"/>
                                  </p:stCondLst>
                                  <p:childTnLst>
                                    <p:set>
                                      <p:cBhvr>
                                        <p:cTn id="82" dur="1" fill="hold">
                                          <p:stCondLst>
                                            <p:cond delay="0"/>
                                          </p:stCondLst>
                                        </p:cTn>
                                        <p:tgtEl>
                                          <p:spTgt spid="118"/>
                                        </p:tgtEl>
                                        <p:attrNameLst>
                                          <p:attrName>style.visibility</p:attrName>
                                        </p:attrNameLst>
                                      </p:cBhvr>
                                      <p:to>
                                        <p:strVal val="visible"/>
                                      </p:to>
                                    </p:set>
                                    <p:animEffect transition="in" filter="fade">
                                      <p:cBhvr>
                                        <p:cTn id="83" dur="100"/>
                                        <p:tgtEl>
                                          <p:spTgt spid="118"/>
                                        </p:tgtEl>
                                      </p:cBhvr>
                                    </p:animEffect>
                                    <p:anim calcmode="lin" valueType="num">
                                      <p:cBhvr>
                                        <p:cTn id="84" dur="100" fill="hold"/>
                                        <p:tgtEl>
                                          <p:spTgt spid="118"/>
                                        </p:tgtEl>
                                        <p:attrNameLst>
                                          <p:attrName>ppt_x</p:attrName>
                                        </p:attrNameLst>
                                      </p:cBhvr>
                                      <p:tavLst>
                                        <p:tav tm="0">
                                          <p:val>
                                            <p:strVal val="#ppt_x"/>
                                          </p:val>
                                        </p:tav>
                                        <p:tav tm="100000">
                                          <p:val>
                                            <p:strVal val="#ppt_x"/>
                                          </p:val>
                                        </p:tav>
                                      </p:tavLst>
                                    </p:anim>
                                    <p:anim calcmode="lin" valueType="num">
                                      <p:cBhvr>
                                        <p:cTn id="85" dur="100" fill="hold"/>
                                        <p:tgtEl>
                                          <p:spTgt spid="118"/>
                                        </p:tgtEl>
                                        <p:attrNameLst>
                                          <p:attrName>ppt_y</p:attrName>
                                        </p:attrNameLst>
                                      </p:cBhvr>
                                      <p:tavLst>
                                        <p:tav tm="0">
                                          <p:val>
                                            <p:strVal val="#ppt_y+.1"/>
                                          </p:val>
                                        </p:tav>
                                        <p:tav tm="100000">
                                          <p:val>
                                            <p:strVal val="#ppt_y"/>
                                          </p:val>
                                        </p:tav>
                                      </p:tavLst>
                                    </p:anim>
                                  </p:childTnLst>
                                </p:cTn>
                              </p:par>
                            </p:childTnLst>
                          </p:cTn>
                        </p:par>
                        <p:par>
                          <p:cTn id="86" fill="hold">
                            <p:stCondLst>
                              <p:cond delay="2000"/>
                            </p:stCondLst>
                            <p:childTnLst>
                              <p:par>
                                <p:cTn id="87" presetID="42" presetClass="entr" presetSubtype="0" fill="hold" nodeType="afterEffect">
                                  <p:stCondLst>
                                    <p:cond delay="0"/>
                                  </p:stCondLst>
                                  <p:childTnLst>
                                    <p:set>
                                      <p:cBhvr>
                                        <p:cTn id="88" dur="1" fill="hold">
                                          <p:stCondLst>
                                            <p:cond delay="0"/>
                                          </p:stCondLst>
                                        </p:cTn>
                                        <p:tgtEl>
                                          <p:spTgt spid="124"/>
                                        </p:tgtEl>
                                        <p:attrNameLst>
                                          <p:attrName>style.visibility</p:attrName>
                                        </p:attrNameLst>
                                      </p:cBhvr>
                                      <p:to>
                                        <p:strVal val="visible"/>
                                      </p:to>
                                    </p:set>
                                    <p:animEffect transition="in" filter="fade">
                                      <p:cBhvr>
                                        <p:cTn id="89" dur="100"/>
                                        <p:tgtEl>
                                          <p:spTgt spid="124"/>
                                        </p:tgtEl>
                                      </p:cBhvr>
                                    </p:animEffect>
                                    <p:anim calcmode="lin" valueType="num">
                                      <p:cBhvr>
                                        <p:cTn id="90" dur="100" fill="hold"/>
                                        <p:tgtEl>
                                          <p:spTgt spid="124"/>
                                        </p:tgtEl>
                                        <p:attrNameLst>
                                          <p:attrName>ppt_x</p:attrName>
                                        </p:attrNameLst>
                                      </p:cBhvr>
                                      <p:tavLst>
                                        <p:tav tm="0">
                                          <p:val>
                                            <p:strVal val="#ppt_x"/>
                                          </p:val>
                                        </p:tav>
                                        <p:tav tm="100000">
                                          <p:val>
                                            <p:strVal val="#ppt_x"/>
                                          </p:val>
                                        </p:tav>
                                      </p:tavLst>
                                    </p:anim>
                                    <p:anim calcmode="lin" valueType="num">
                                      <p:cBhvr>
                                        <p:cTn id="91" dur="100" fill="hold"/>
                                        <p:tgtEl>
                                          <p:spTgt spid="124"/>
                                        </p:tgtEl>
                                        <p:attrNameLst>
                                          <p:attrName>ppt_y</p:attrName>
                                        </p:attrNameLst>
                                      </p:cBhvr>
                                      <p:tavLst>
                                        <p:tav tm="0">
                                          <p:val>
                                            <p:strVal val="#ppt_y+.1"/>
                                          </p:val>
                                        </p:tav>
                                        <p:tav tm="100000">
                                          <p:val>
                                            <p:strVal val="#ppt_y"/>
                                          </p:val>
                                        </p:tav>
                                      </p:tavLst>
                                    </p:anim>
                                  </p:childTnLst>
                                </p:cTn>
                              </p:par>
                            </p:childTnLst>
                          </p:cTn>
                        </p:par>
                        <p:par>
                          <p:cTn id="92" fill="hold">
                            <p:stCondLst>
                              <p:cond delay="2100"/>
                            </p:stCondLst>
                            <p:childTnLst>
                              <p:par>
                                <p:cTn id="93" presetID="42" presetClass="entr" presetSubtype="0" fill="hold" nodeType="afterEffect">
                                  <p:stCondLst>
                                    <p:cond delay="0"/>
                                  </p:stCondLst>
                                  <p:childTnLst>
                                    <p:set>
                                      <p:cBhvr>
                                        <p:cTn id="94" dur="1" fill="hold">
                                          <p:stCondLst>
                                            <p:cond delay="0"/>
                                          </p:stCondLst>
                                        </p:cTn>
                                        <p:tgtEl>
                                          <p:spTgt spid="130"/>
                                        </p:tgtEl>
                                        <p:attrNameLst>
                                          <p:attrName>style.visibility</p:attrName>
                                        </p:attrNameLst>
                                      </p:cBhvr>
                                      <p:to>
                                        <p:strVal val="visible"/>
                                      </p:to>
                                    </p:set>
                                    <p:animEffect transition="in" filter="fade">
                                      <p:cBhvr>
                                        <p:cTn id="95" dur="100"/>
                                        <p:tgtEl>
                                          <p:spTgt spid="130"/>
                                        </p:tgtEl>
                                      </p:cBhvr>
                                    </p:animEffect>
                                    <p:anim calcmode="lin" valueType="num">
                                      <p:cBhvr>
                                        <p:cTn id="96" dur="100" fill="hold"/>
                                        <p:tgtEl>
                                          <p:spTgt spid="130"/>
                                        </p:tgtEl>
                                        <p:attrNameLst>
                                          <p:attrName>ppt_x</p:attrName>
                                        </p:attrNameLst>
                                      </p:cBhvr>
                                      <p:tavLst>
                                        <p:tav tm="0">
                                          <p:val>
                                            <p:strVal val="#ppt_x"/>
                                          </p:val>
                                        </p:tav>
                                        <p:tav tm="100000">
                                          <p:val>
                                            <p:strVal val="#ppt_x"/>
                                          </p:val>
                                        </p:tav>
                                      </p:tavLst>
                                    </p:anim>
                                    <p:anim calcmode="lin" valueType="num">
                                      <p:cBhvr>
                                        <p:cTn id="97" dur="100" fill="hold"/>
                                        <p:tgtEl>
                                          <p:spTgt spid="130"/>
                                        </p:tgtEl>
                                        <p:attrNameLst>
                                          <p:attrName>ppt_y</p:attrName>
                                        </p:attrNameLst>
                                      </p:cBhvr>
                                      <p:tavLst>
                                        <p:tav tm="0">
                                          <p:val>
                                            <p:strVal val="#ppt_y+.1"/>
                                          </p:val>
                                        </p:tav>
                                        <p:tav tm="100000">
                                          <p:val>
                                            <p:strVal val="#ppt_y"/>
                                          </p:val>
                                        </p:tav>
                                      </p:tavLst>
                                    </p:anim>
                                  </p:childTnLst>
                                </p:cTn>
                              </p:par>
                            </p:childTnLst>
                          </p:cTn>
                        </p:par>
                        <p:par>
                          <p:cTn id="98" fill="hold">
                            <p:stCondLst>
                              <p:cond delay="2200"/>
                            </p:stCondLst>
                            <p:childTnLst>
                              <p:par>
                                <p:cTn id="99" presetID="22" presetClass="entr" presetSubtype="1" fill="hold" grpId="0" nodeType="afterEffect">
                                  <p:stCondLst>
                                    <p:cond delay="0"/>
                                  </p:stCondLst>
                                  <p:childTnLst>
                                    <p:set>
                                      <p:cBhvr>
                                        <p:cTn id="100" dur="1" fill="hold">
                                          <p:stCondLst>
                                            <p:cond delay="0"/>
                                          </p:stCondLst>
                                        </p:cTn>
                                        <p:tgtEl>
                                          <p:spTgt spid="136"/>
                                        </p:tgtEl>
                                        <p:attrNameLst>
                                          <p:attrName>style.visibility</p:attrName>
                                        </p:attrNameLst>
                                      </p:cBhvr>
                                      <p:to>
                                        <p:strVal val="visible"/>
                                      </p:to>
                                    </p:set>
                                    <p:animEffect transition="in" filter="wipe(up)">
                                      <p:cBhvr>
                                        <p:cTn id="101" dur="250"/>
                                        <p:tgtEl>
                                          <p:spTgt spid="136"/>
                                        </p:tgtEl>
                                      </p:cBhvr>
                                    </p:animEffect>
                                  </p:childTnLst>
                                </p:cTn>
                              </p:par>
                              <p:par>
                                <p:cTn id="102" presetID="42" presetClass="entr" presetSubtype="0" fill="hold" grpId="0" nodeType="withEffect">
                                  <p:stCondLst>
                                    <p:cond delay="0"/>
                                  </p:stCondLst>
                                  <p:childTnLst>
                                    <p:set>
                                      <p:cBhvr>
                                        <p:cTn id="103" dur="1" fill="hold">
                                          <p:stCondLst>
                                            <p:cond delay="0"/>
                                          </p:stCondLst>
                                        </p:cTn>
                                        <p:tgtEl>
                                          <p:spTgt spid="5"/>
                                        </p:tgtEl>
                                        <p:attrNameLst>
                                          <p:attrName>style.visibility</p:attrName>
                                        </p:attrNameLst>
                                      </p:cBhvr>
                                      <p:to>
                                        <p:strVal val="visible"/>
                                      </p:to>
                                    </p:set>
                                    <p:animEffect transition="in" filter="fade">
                                      <p:cBhvr>
                                        <p:cTn id="104" dur="1000"/>
                                        <p:tgtEl>
                                          <p:spTgt spid="5"/>
                                        </p:tgtEl>
                                      </p:cBhvr>
                                    </p:animEffect>
                                    <p:anim calcmode="lin" valueType="num">
                                      <p:cBhvr>
                                        <p:cTn id="105" dur="1000" fill="hold"/>
                                        <p:tgtEl>
                                          <p:spTgt spid="5"/>
                                        </p:tgtEl>
                                        <p:attrNameLst>
                                          <p:attrName>ppt_x</p:attrName>
                                        </p:attrNameLst>
                                      </p:cBhvr>
                                      <p:tavLst>
                                        <p:tav tm="0">
                                          <p:val>
                                            <p:strVal val="#ppt_x"/>
                                          </p:val>
                                        </p:tav>
                                        <p:tav tm="100000">
                                          <p:val>
                                            <p:strVal val="#ppt_x"/>
                                          </p:val>
                                        </p:tav>
                                      </p:tavLst>
                                    </p:anim>
                                    <p:anim calcmode="lin" valueType="num">
                                      <p:cBhvr>
                                        <p:cTn id="10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3" grpId="0"/>
      <p:bldP spid="24" grpId="0"/>
      <p:bldP spid="136" grpId="0" animBg="1"/>
      <p:bldP spid="5" grpId="0"/>
    </p:bld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Title 1">
            <a:extLst>
              <a:ext uri="{FF2B5EF4-FFF2-40B4-BE49-F238E27FC236}">
                <a16:creationId xmlns="" xmlns:a16="http://schemas.microsoft.com/office/drawing/2014/main" id="{0A4C68DC-B71A-F743-AA4F-464A3921B2BA}"/>
              </a:ext>
            </a:extLst>
          </p:cNvPr>
          <p:cNvSpPr txBox="1">
            <a:spLocks/>
          </p:cNvSpPr>
          <p:nvPr/>
        </p:nvSpPr>
        <p:spPr bwMode="auto">
          <a:xfrm>
            <a:off x="4267200" y="4495800"/>
            <a:ext cx="1600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lvl1pPr algn="l" rtl="0" eaLnBrk="0" fontAlgn="base" hangingPunct="0">
              <a:spcBef>
                <a:spcPct val="0"/>
              </a:spcBef>
              <a:spcAft>
                <a:spcPct val="0"/>
              </a:spcAft>
              <a:defRPr sz="3200" b="0" kern="1200" cap="none" baseline="0">
                <a:solidFill>
                  <a:schemeClr val="bg2">
                    <a:lumMod val="95000"/>
                    <a:lumOff val="5000"/>
                  </a:schemeClr>
                </a:solidFill>
                <a:latin typeface="Century Gothic" panose="020B0502020202020204" pitchFamily="34" charset="0"/>
                <a:ea typeface="+mj-ea"/>
                <a:cs typeface="Calibri" panose="020F0502020204030204" pitchFamily="34" charset="0"/>
              </a:defRPr>
            </a:lvl1pPr>
            <a:lvl2pPr algn="ctr" rtl="0" eaLnBrk="0" fontAlgn="base" hangingPunct="0">
              <a:spcBef>
                <a:spcPct val="0"/>
              </a:spcBef>
              <a:spcAft>
                <a:spcPct val="0"/>
              </a:spcAft>
              <a:defRPr sz="2400" b="1">
                <a:solidFill>
                  <a:srgbClr val="CC0000"/>
                </a:solidFill>
                <a:latin typeface="Arial Rounded MT Bold" panose="020F0704030504030204" pitchFamily="34" charset="0"/>
              </a:defRPr>
            </a:lvl2pPr>
            <a:lvl3pPr algn="ctr" rtl="0" eaLnBrk="0" fontAlgn="base" hangingPunct="0">
              <a:spcBef>
                <a:spcPct val="0"/>
              </a:spcBef>
              <a:spcAft>
                <a:spcPct val="0"/>
              </a:spcAft>
              <a:defRPr sz="2400" b="1">
                <a:solidFill>
                  <a:srgbClr val="CC0000"/>
                </a:solidFill>
                <a:latin typeface="Arial Rounded MT Bold" panose="020F0704030504030204" pitchFamily="34" charset="0"/>
              </a:defRPr>
            </a:lvl3pPr>
            <a:lvl4pPr algn="ctr" rtl="0" eaLnBrk="0" fontAlgn="base" hangingPunct="0">
              <a:spcBef>
                <a:spcPct val="0"/>
              </a:spcBef>
              <a:spcAft>
                <a:spcPct val="0"/>
              </a:spcAft>
              <a:defRPr sz="2400" b="1">
                <a:solidFill>
                  <a:srgbClr val="CC0000"/>
                </a:solidFill>
                <a:latin typeface="Arial Rounded MT Bold" panose="020F0704030504030204" pitchFamily="34" charset="0"/>
              </a:defRPr>
            </a:lvl4pPr>
            <a:lvl5pPr algn="ctr" rtl="0" eaLnBrk="0" fontAlgn="base" hangingPunct="0">
              <a:spcBef>
                <a:spcPct val="0"/>
              </a:spcBef>
              <a:spcAft>
                <a:spcPct val="0"/>
              </a:spcAft>
              <a:defRPr sz="2400" b="1">
                <a:solidFill>
                  <a:srgbClr val="CC0000"/>
                </a:solidFill>
                <a:latin typeface="Arial Rounded MT Bold" panose="020F0704030504030204" pitchFamily="34" charset="0"/>
              </a:defRPr>
            </a:lvl5pPr>
            <a:lvl6pPr marL="457200" algn="ctr" rtl="0" fontAlgn="base">
              <a:spcBef>
                <a:spcPct val="0"/>
              </a:spcBef>
              <a:spcAft>
                <a:spcPct val="0"/>
              </a:spcAft>
              <a:defRPr sz="2400" b="1">
                <a:solidFill>
                  <a:srgbClr val="CC0000"/>
                </a:solidFill>
                <a:latin typeface="Arial Rounded MT Bold" panose="020F0704030504030204" pitchFamily="34" charset="0"/>
              </a:defRPr>
            </a:lvl6pPr>
            <a:lvl7pPr marL="914400" algn="ctr" rtl="0" fontAlgn="base">
              <a:spcBef>
                <a:spcPct val="0"/>
              </a:spcBef>
              <a:spcAft>
                <a:spcPct val="0"/>
              </a:spcAft>
              <a:defRPr sz="2400" b="1">
                <a:solidFill>
                  <a:srgbClr val="CC0000"/>
                </a:solidFill>
                <a:latin typeface="Arial Rounded MT Bold" panose="020F0704030504030204" pitchFamily="34" charset="0"/>
              </a:defRPr>
            </a:lvl7pPr>
            <a:lvl8pPr marL="1371600" algn="ctr" rtl="0" fontAlgn="base">
              <a:spcBef>
                <a:spcPct val="0"/>
              </a:spcBef>
              <a:spcAft>
                <a:spcPct val="0"/>
              </a:spcAft>
              <a:defRPr sz="2400" b="1">
                <a:solidFill>
                  <a:srgbClr val="CC0000"/>
                </a:solidFill>
                <a:latin typeface="Arial Rounded MT Bold" panose="020F0704030504030204" pitchFamily="34" charset="0"/>
              </a:defRPr>
            </a:lvl8pPr>
            <a:lvl9pPr marL="1828800" algn="ctr" rtl="0" fontAlgn="base">
              <a:spcBef>
                <a:spcPct val="0"/>
              </a:spcBef>
              <a:spcAft>
                <a:spcPct val="0"/>
              </a:spcAft>
              <a:defRPr sz="2400" b="1">
                <a:solidFill>
                  <a:srgbClr val="CC0000"/>
                </a:solidFill>
                <a:latin typeface="Arial Rounded MT Bold" panose="020F0704030504030204" pitchFamily="34" charset="0"/>
              </a:defRPr>
            </a:lvl9pPr>
          </a:lstStyle>
          <a:p>
            <a:r>
              <a:rPr lang="en-US" dirty="0">
                <a:solidFill>
                  <a:schemeClr val="tx1"/>
                </a:solidFill>
              </a:rPr>
              <a:t>Partial</a:t>
            </a:r>
          </a:p>
        </p:txBody>
      </p:sp>
      <p:sp>
        <p:nvSpPr>
          <p:cNvPr id="6" name="TextBox 5"/>
          <p:cNvSpPr txBox="1"/>
          <p:nvPr/>
        </p:nvSpPr>
        <p:spPr>
          <a:xfrm>
            <a:off x="192383" y="4043987"/>
            <a:ext cx="8799217" cy="2616101"/>
          </a:xfrm>
          <a:prstGeom prst="rect">
            <a:avLst/>
          </a:prstGeom>
          <a:noFill/>
        </p:spPr>
        <p:txBody>
          <a:bodyPr wrap="square" rtlCol="0">
            <a:spAutoFit/>
          </a:bodyPr>
          <a:lstStyle/>
          <a:p>
            <a:pPr>
              <a:spcBef>
                <a:spcPts val="600"/>
              </a:spcBef>
              <a:spcAft>
                <a:spcPts val="600"/>
              </a:spcAft>
              <a:buSzPct val="65000"/>
            </a:pPr>
            <a:r>
              <a:rPr lang="en-US" sz="2400" b="1" dirty="0">
                <a:solidFill>
                  <a:schemeClr val="bg2"/>
                </a:solidFill>
                <a:latin typeface="Century Gothic" charset="0"/>
                <a:ea typeface="Century Gothic" charset="0"/>
                <a:cs typeface="Century Gothic" charset="0"/>
              </a:rPr>
              <a:t>Incidental</a:t>
            </a:r>
            <a:r>
              <a:rPr lang="en-US" sz="2400" dirty="0">
                <a:solidFill>
                  <a:schemeClr val="bg2"/>
                </a:solidFill>
                <a:latin typeface="Century Gothic" charset="0"/>
                <a:ea typeface="Century Gothic" charset="0"/>
                <a:cs typeface="Century Gothic" charset="0"/>
              </a:rPr>
              <a:t> </a:t>
            </a:r>
            <a:r>
              <a:rPr lang="en-US" sz="2400" b="1" dirty="0">
                <a:solidFill>
                  <a:schemeClr val="bg2"/>
                </a:solidFill>
                <a:latin typeface="Century Gothic" charset="0"/>
                <a:ea typeface="Century Gothic" charset="0"/>
                <a:cs typeface="Century Gothic" charset="0"/>
              </a:rPr>
              <a:t>supervision </a:t>
            </a:r>
            <a:r>
              <a:rPr lang="en-US" sz="2400" dirty="0">
                <a:solidFill>
                  <a:schemeClr val="bg2"/>
                </a:solidFill>
                <a:latin typeface="Century Gothic" charset="0"/>
                <a:ea typeface="Century Gothic" charset="0"/>
                <a:cs typeface="Century Gothic" charset="0"/>
              </a:rPr>
              <a:t>is the idea of learning from indirect signals, which may be noisy, partial, or only correlated. </a:t>
            </a:r>
          </a:p>
          <a:p>
            <a:pPr>
              <a:spcBef>
                <a:spcPts val="600"/>
              </a:spcBef>
              <a:spcAft>
                <a:spcPts val="600"/>
              </a:spcAft>
              <a:buSzPct val="65000"/>
            </a:pPr>
            <a:endParaRPr lang="en-US" sz="2400" dirty="0">
              <a:solidFill>
                <a:schemeClr val="bg2"/>
              </a:solidFill>
              <a:latin typeface="Century Gothic" charset="0"/>
              <a:ea typeface="Century Gothic" charset="0"/>
              <a:cs typeface="Century Gothic" charset="0"/>
            </a:endParaRPr>
          </a:p>
          <a:p>
            <a:pPr>
              <a:spcBef>
                <a:spcPts val="600"/>
              </a:spcBef>
              <a:spcAft>
                <a:spcPts val="600"/>
              </a:spcAft>
              <a:buSzPct val="65000"/>
            </a:pPr>
            <a:r>
              <a:rPr lang="en-US" sz="2400" dirty="0">
                <a:solidFill>
                  <a:schemeClr val="bg2"/>
                </a:solidFill>
                <a:latin typeface="Century Gothic" charset="0"/>
                <a:ea typeface="Century Gothic" charset="0"/>
                <a:cs typeface="Century Gothic" charset="0"/>
              </a:rPr>
              <a:t>My vision is that </a:t>
            </a:r>
            <a:r>
              <a:rPr lang="en-US" sz="2400" dirty="0" smtClean="0">
                <a:solidFill>
                  <a:schemeClr val="bg2"/>
                </a:solidFill>
                <a:latin typeface="Century Gothic" charset="0"/>
                <a:ea typeface="Century Gothic" charset="0"/>
                <a:cs typeface="Century Gothic" charset="0"/>
              </a:rPr>
              <a:t>situation-level </a:t>
            </a:r>
            <a:r>
              <a:rPr lang="en-US" sz="2400" dirty="0">
                <a:solidFill>
                  <a:schemeClr val="bg2"/>
                </a:solidFill>
                <a:latin typeface="Century Gothic" charset="0"/>
                <a:ea typeface="Century Gothic" charset="0"/>
                <a:cs typeface="Century Gothic" charset="0"/>
              </a:rPr>
              <a:t>tasks </a:t>
            </a:r>
            <a:r>
              <a:rPr lang="en-US" sz="2400" dirty="0" smtClean="0">
                <a:solidFill>
                  <a:schemeClr val="bg2"/>
                </a:solidFill>
                <a:latin typeface="Century Gothic" charset="0"/>
                <a:ea typeface="Century Gothic" charset="0"/>
                <a:cs typeface="Century Gothic" charset="0"/>
              </a:rPr>
              <a:t>will require </a:t>
            </a:r>
            <a:r>
              <a:rPr lang="en-US" sz="2400" dirty="0">
                <a:solidFill>
                  <a:schemeClr val="bg2"/>
                </a:solidFill>
                <a:latin typeface="Century Gothic" charset="0"/>
                <a:ea typeface="Century Gothic" charset="0"/>
                <a:cs typeface="Century Gothic" charset="0"/>
              </a:rPr>
              <a:t>gigantic training data, and at that time, incidental supervision will be crucial for them.</a:t>
            </a:r>
          </a:p>
        </p:txBody>
      </p:sp>
      <p:sp>
        <p:nvSpPr>
          <p:cNvPr id="54" name="Oval 53">
            <a:extLst>
              <a:ext uri="{FF2B5EF4-FFF2-40B4-BE49-F238E27FC236}">
                <a16:creationId xmlns="" xmlns:a16="http://schemas.microsoft.com/office/drawing/2014/main" id="{AE817D6F-B18E-904B-937F-CA7DF988DCDE}"/>
              </a:ext>
            </a:extLst>
          </p:cNvPr>
          <p:cNvSpPr/>
          <p:nvPr/>
        </p:nvSpPr>
        <p:spPr>
          <a:xfrm>
            <a:off x="1524000" y="912729"/>
            <a:ext cx="2587567" cy="2587567"/>
          </a:xfrm>
          <a:prstGeom prst="ellipse">
            <a:avLst/>
          </a:prstGeom>
          <a:solidFill>
            <a:srgbClr val="54516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5" name="TextBox 54">
            <a:extLst>
              <a:ext uri="{FF2B5EF4-FFF2-40B4-BE49-F238E27FC236}">
                <a16:creationId xmlns="" xmlns:a16="http://schemas.microsoft.com/office/drawing/2014/main" id="{064CF453-0F0E-6545-9DDB-A9CE02688470}"/>
              </a:ext>
            </a:extLst>
          </p:cNvPr>
          <p:cNvSpPr txBox="1"/>
          <p:nvPr/>
        </p:nvSpPr>
        <p:spPr>
          <a:xfrm>
            <a:off x="2325219" y="983575"/>
            <a:ext cx="1020936" cy="400110"/>
          </a:xfrm>
          <a:prstGeom prst="rect">
            <a:avLst/>
          </a:prstGeom>
          <a:noFill/>
        </p:spPr>
        <p:txBody>
          <a:bodyPr wrap="square" rtlCol="0">
            <a:spAutoFit/>
          </a:bodyPr>
          <a:lstStyle/>
          <a:p>
            <a:pPr algn="ctr"/>
            <a:r>
              <a:rPr lang="en-US" sz="2000" dirty="0">
                <a:latin typeface="Century Gothic" panose="020B0502020202020204" pitchFamily="34" charset="0"/>
              </a:rPr>
              <a:t>Event</a:t>
            </a:r>
          </a:p>
        </p:txBody>
      </p:sp>
      <p:sp>
        <p:nvSpPr>
          <p:cNvPr id="56" name="Oval 55">
            <a:extLst>
              <a:ext uri="{FF2B5EF4-FFF2-40B4-BE49-F238E27FC236}">
                <a16:creationId xmlns="" xmlns:a16="http://schemas.microsoft.com/office/drawing/2014/main" id="{D32F69B7-EDDF-5544-8272-787275C6D16C}"/>
              </a:ext>
            </a:extLst>
          </p:cNvPr>
          <p:cNvSpPr/>
          <p:nvPr/>
        </p:nvSpPr>
        <p:spPr>
          <a:xfrm>
            <a:off x="1972298" y="1739122"/>
            <a:ext cx="1678269" cy="1678269"/>
          </a:xfrm>
          <a:prstGeom prst="ellipse">
            <a:avLst/>
          </a:prstGeom>
          <a:solidFill>
            <a:srgbClr val="F7E3D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7" name="Freeform 56">
            <a:extLst>
              <a:ext uri="{FF2B5EF4-FFF2-40B4-BE49-F238E27FC236}">
                <a16:creationId xmlns="" xmlns:a16="http://schemas.microsoft.com/office/drawing/2014/main" id="{8F00037C-1A48-A843-937F-EFD3F91FAB34}"/>
              </a:ext>
            </a:extLst>
          </p:cNvPr>
          <p:cNvSpPr/>
          <p:nvPr/>
        </p:nvSpPr>
        <p:spPr>
          <a:xfrm>
            <a:off x="2420288" y="2491969"/>
            <a:ext cx="397697" cy="375523"/>
          </a:xfrm>
          <a:custGeom>
            <a:avLst/>
            <a:gdLst>
              <a:gd name="connsiteX0" fmla="*/ 467757 w 1411465"/>
              <a:gd name="connsiteY0" fmla="*/ 0 h 1332765"/>
              <a:gd name="connsiteX1" fmla="*/ 1364457 w 1411465"/>
              <a:gd name="connsiteY1" fmla="*/ 321907 h 1332765"/>
              <a:gd name="connsiteX2" fmla="*/ 1411465 w 1411465"/>
              <a:gd name="connsiteY2" fmla="*/ 364631 h 1332765"/>
              <a:gd name="connsiteX3" fmla="*/ 1358364 w 1411465"/>
              <a:gd name="connsiteY3" fmla="*/ 412892 h 1332765"/>
              <a:gd name="connsiteX4" fmla="*/ 952750 w 1411465"/>
              <a:gd name="connsiteY4" fmla="*/ 1265566 h 1332765"/>
              <a:gd name="connsiteX5" fmla="*/ 949357 w 1411465"/>
              <a:gd name="connsiteY5" fmla="*/ 1332765 h 1332765"/>
              <a:gd name="connsiteX6" fmla="*/ 856884 w 1411465"/>
              <a:gd name="connsiteY6" fmla="*/ 1298919 h 1332765"/>
              <a:gd name="connsiteX7" fmla="*/ 3181 w 1411465"/>
              <a:gd name="connsiteY7" fmla="*/ 144134 h 1332765"/>
              <a:gd name="connsiteX8" fmla="*/ 0 w 1411465"/>
              <a:gd name="connsiteY8" fmla="*/ 81148 h 1332765"/>
              <a:gd name="connsiteX9" fmla="*/ 48555 w 1411465"/>
              <a:gd name="connsiteY9" fmla="*/ 63377 h 1332765"/>
              <a:gd name="connsiteX10" fmla="*/ 467757 w 1411465"/>
              <a:gd name="connsiteY10" fmla="*/ 0 h 1332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1465" h="1332765">
                <a:moveTo>
                  <a:pt x="467757" y="0"/>
                </a:moveTo>
                <a:cubicBezTo>
                  <a:pt x="808375" y="0"/>
                  <a:pt x="1120778" y="120805"/>
                  <a:pt x="1364457" y="321907"/>
                </a:cubicBezTo>
                <a:lnTo>
                  <a:pt x="1411465" y="364631"/>
                </a:lnTo>
                <a:lnTo>
                  <a:pt x="1358364" y="412892"/>
                </a:lnTo>
                <a:cubicBezTo>
                  <a:pt x="1135146" y="636109"/>
                  <a:pt x="986439" y="933836"/>
                  <a:pt x="952750" y="1265566"/>
                </a:cubicBezTo>
                <a:lnTo>
                  <a:pt x="949357" y="1332765"/>
                </a:lnTo>
                <a:lnTo>
                  <a:pt x="856884" y="1298919"/>
                </a:lnTo>
                <a:cubicBezTo>
                  <a:pt x="393085" y="1102749"/>
                  <a:pt x="56121" y="665424"/>
                  <a:pt x="3181" y="144134"/>
                </a:cubicBezTo>
                <a:lnTo>
                  <a:pt x="0" y="81148"/>
                </a:lnTo>
                <a:lnTo>
                  <a:pt x="48555" y="63377"/>
                </a:lnTo>
                <a:cubicBezTo>
                  <a:pt x="180981" y="22189"/>
                  <a:pt x="321778" y="0"/>
                  <a:pt x="467757" y="0"/>
                </a:cubicBezTo>
                <a:close/>
              </a:path>
            </a:pathLst>
          </a:custGeom>
          <a:solidFill>
            <a:srgbClr val="95A28E"/>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58" name="Freeform 57">
            <a:extLst>
              <a:ext uri="{FF2B5EF4-FFF2-40B4-BE49-F238E27FC236}">
                <a16:creationId xmlns="" xmlns:a16="http://schemas.microsoft.com/office/drawing/2014/main" id="{08422CE6-645A-3745-942C-A1098A3080DA}"/>
              </a:ext>
            </a:extLst>
          </p:cNvPr>
          <p:cNvSpPr/>
          <p:nvPr/>
        </p:nvSpPr>
        <p:spPr>
          <a:xfrm>
            <a:off x="2817986" y="2491969"/>
            <a:ext cx="394453" cy="374336"/>
          </a:xfrm>
          <a:custGeom>
            <a:avLst/>
            <a:gdLst>
              <a:gd name="connsiteX0" fmla="*/ 943707 w 1399953"/>
              <a:gd name="connsiteY0" fmla="*/ 0 h 1328552"/>
              <a:gd name="connsiteX1" fmla="*/ 1362909 w 1399953"/>
              <a:gd name="connsiteY1" fmla="*/ 63377 h 1328552"/>
              <a:gd name="connsiteX2" fmla="*/ 1399953 w 1399953"/>
              <a:gd name="connsiteY2" fmla="*/ 76936 h 1328552"/>
              <a:gd name="connsiteX3" fmla="*/ 1396560 w 1399953"/>
              <a:gd name="connsiteY3" fmla="*/ 144134 h 1328552"/>
              <a:gd name="connsiteX4" fmla="*/ 542857 w 1399953"/>
              <a:gd name="connsiteY4" fmla="*/ 1298919 h 1328552"/>
              <a:gd name="connsiteX5" fmla="*/ 461895 w 1399953"/>
              <a:gd name="connsiteY5" fmla="*/ 1328552 h 1328552"/>
              <a:gd name="connsiteX6" fmla="*/ 458714 w 1399953"/>
              <a:gd name="connsiteY6" fmla="*/ 1265566 h 1328552"/>
              <a:gd name="connsiteX7" fmla="*/ 53101 w 1399953"/>
              <a:gd name="connsiteY7" fmla="*/ 412892 h 1328552"/>
              <a:gd name="connsiteX8" fmla="*/ 0 w 1399953"/>
              <a:gd name="connsiteY8" fmla="*/ 364631 h 1328552"/>
              <a:gd name="connsiteX9" fmla="*/ 47007 w 1399953"/>
              <a:gd name="connsiteY9" fmla="*/ 321907 h 1328552"/>
              <a:gd name="connsiteX10" fmla="*/ 943707 w 1399953"/>
              <a:gd name="connsiteY10" fmla="*/ 0 h 132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9953" h="1328552">
                <a:moveTo>
                  <a:pt x="943707" y="0"/>
                </a:moveTo>
                <a:cubicBezTo>
                  <a:pt x="1089686" y="0"/>
                  <a:pt x="1230483" y="22189"/>
                  <a:pt x="1362909" y="63377"/>
                </a:cubicBezTo>
                <a:lnTo>
                  <a:pt x="1399953" y="76936"/>
                </a:lnTo>
                <a:lnTo>
                  <a:pt x="1396560" y="144134"/>
                </a:lnTo>
                <a:cubicBezTo>
                  <a:pt x="1343620" y="665424"/>
                  <a:pt x="1006656" y="1102749"/>
                  <a:pt x="542857" y="1298919"/>
                </a:cubicBezTo>
                <a:lnTo>
                  <a:pt x="461895" y="1328552"/>
                </a:lnTo>
                <a:lnTo>
                  <a:pt x="458714" y="1265566"/>
                </a:lnTo>
                <a:cubicBezTo>
                  <a:pt x="425025" y="933836"/>
                  <a:pt x="276318" y="636109"/>
                  <a:pt x="53101" y="412892"/>
                </a:cubicBezTo>
                <a:lnTo>
                  <a:pt x="0" y="364631"/>
                </a:lnTo>
                <a:lnTo>
                  <a:pt x="47007" y="321907"/>
                </a:lnTo>
                <a:cubicBezTo>
                  <a:pt x="290686" y="120805"/>
                  <a:pt x="603089" y="0"/>
                  <a:pt x="943707" y="0"/>
                </a:cubicBezTo>
                <a:close/>
              </a:path>
            </a:pathLst>
          </a:custGeom>
          <a:solidFill>
            <a:srgbClr val="F1CEC3"/>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59" name="Freeform 58">
            <a:extLst>
              <a:ext uri="{FF2B5EF4-FFF2-40B4-BE49-F238E27FC236}">
                <a16:creationId xmlns="" xmlns:a16="http://schemas.microsoft.com/office/drawing/2014/main" id="{D18B1028-73BC-CF4C-BC0A-F05A1894CBD7}"/>
              </a:ext>
            </a:extLst>
          </p:cNvPr>
          <p:cNvSpPr/>
          <p:nvPr/>
        </p:nvSpPr>
        <p:spPr>
          <a:xfrm>
            <a:off x="2686686" y="2866304"/>
            <a:ext cx="262598" cy="317326"/>
          </a:xfrm>
          <a:custGeom>
            <a:avLst/>
            <a:gdLst>
              <a:gd name="connsiteX0" fmla="*/ 927888 w 931985"/>
              <a:gd name="connsiteY0" fmla="*/ 0 h 1126218"/>
              <a:gd name="connsiteX1" fmla="*/ 931985 w 931985"/>
              <a:gd name="connsiteY1" fmla="*/ 81148 h 1126218"/>
              <a:gd name="connsiteX2" fmla="*/ 519094 w 931985"/>
              <a:gd name="connsiteY2" fmla="*/ 1077957 h 1126218"/>
              <a:gd name="connsiteX3" fmla="*/ 465993 w 931985"/>
              <a:gd name="connsiteY3" fmla="*/ 1126218 h 1126218"/>
              <a:gd name="connsiteX4" fmla="*/ 412892 w 931985"/>
              <a:gd name="connsiteY4" fmla="*/ 1077957 h 1126218"/>
              <a:gd name="connsiteX5" fmla="*/ 0 w 931985"/>
              <a:gd name="connsiteY5" fmla="*/ 81148 h 1126218"/>
              <a:gd name="connsiteX6" fmla="*/ 3885 w 931985"/>
              <a:gd name="connsiteY6" fmla="*/ 4213 h 1126218"/>
              <a:gd name="connsiteX7" fmla="*/ 40929 w 931985"/>
              <a:gd name="connsiteY7" fmla="*/ 17771 h 1126218"/>
              <a:gd name="connsiteX8" fmla="*/ 460131 w 931985"/>
              <a:gd name="connsiteY8" fmla="*/ 81148 h 1126218"/>
              <a:gd name="connsiteX9" fmla="*/ 879333 w 931985"/>
              <a:gd name="connsiteY9" fmla="*/ 17771 h 1126218"/>
              <a:gd name="connsiteX10" fmla="*/ 927888 w 931985"/>
              <a:gd name="connsiteY10" fmla="*/ 0 h 1126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1985" h="1126218">
                <a:moveTo>
                  <a:pt x="927888" y="0"/>
                </a:moveTo>
                <a:lnTo>
                  <a:pt x="931985" y="81148"/>
                </a:lnTo>
                <a:cubicBezTo>
                  <a:pt x="931985" y="470426"/>
                  <a:pt x="774199" y="822851"/>
                  <a:pt x="519094" y="1077957"/>
                </a:cubicBezTo>
                <a:lnTo>
                  <a:pt x="465993" y="1126218"/>
                </a:lnTo>
                <a:lnTo>
                  <a:pt x="412892" y="1077957"/>
                </a:lnTo>
                <a:cubicBezTo>
                  <a:pt x="157786" y="822851"/>
                  <a:pt x="0" y="470426"/>
                  <a:pt x="0" y="81148"/>
                </a:cubicBezTo>
                <a:lnTo>
                  <a:pt x="3885" y="4213"/>
                </a:lnTo>
                <a:lnTo>
                  <a:pt x="40929" y="17771"/>
                </a:lnTo>
                <a:cubicBezTo>
                  <a:pt x="173355" y="58959"/>
                  <a:pt x="314152" y="81148"/>
                  <a:pt x="460131" y="81148"/>
                </a:cubicBezTo>
                <a:cubicBezTo>
                  <a:pt x="606110" y="81148"/>
                  <a:pt x="746907" y="58959"/>
                  <a:pt x="879333" y="17771"/>
                </a:cubicBezTo>
                <a:lnTo>
                  <a:pt x="927888" y="0"/>
                </a:lnTo>
                <a:close/>
              </a:path>
            </a:pathLst>
          </a:custGeom>
          <a:solidFill>
            <a:srgbClr val="666089"/>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0" name="Freeform 59">
            <a:extLst>
              <a:ext uri="{FF2B5EF4-FFF2-40B4-BE49-F238E27FC236}">
                <a16:creationId xmlns="" xmlns:a16="http://schemas.microsoft.com/office/drawing/2014/main" id="{75B59043-BD85-9C4E-B35C-F737FDCBB329}"/>
              </a:ext>
            </a:extLst>
          </p:cNvPr>
          <p:cNvSpPr/>
          <p:nvPr/>
        </p:nvSpPr>
        <p:spPr>
          <a:xfrm>
            <a:off x="2419133" y="2094769"/>
            <a:ext cx="794401" cy="499939"/>
          </a:xfrm>
          <a:custGeom>
            <a:avLst/>
            <a:gdLst>
              <a:gd name="connsiteX0" fmla="*/ 1409700 w 2819400"/>
              <a:gd name="connsiteY0" fmla="*/ 0 h 1774331"/>
              <a:gd name="connsiteX1" fmla="*/ 2819400 w 2819400"/>
              <a:gd name="connsiteY1" fmla="*/ 1409700 h 1774331"/>
              <a:gd name="connsiteX2" fmla="*/ 2815515 w 2819400"/>
              <a:gd name="connsiteY2" fmla="*/ 1486636 h 1774331"/>
              <a:gd name="connsiteX3" fmla="*/ 2778471 w 2819400"/>
              <a:gd name="connsiteY3" fmla="*/ 1473077 h 1774331"/>
              <a:gd name="connsiteX4" fmla="*/ 2359269 w 2819400"/>
              <a:gd name="connsiteY4" fmla="*/ 1409700 h 1774331"/>
              <a:gd name="connsiteX5" fmla="*/ 1462569 w 2819400"/>
              <a:gd name="connsiteY5" fmla="*/ 1731607 h 1774331"/>
              <a:gd name="connsiteX6" fmla="*/ 1415562 w 2819400"/>
              <a:gd name="connsiteY6" fmla="*/ 1774331 h 1774331"/>
              <a:gd name="connsiteX7" fmla="*/ 1368554 w 2819400"/>
              <a:gd name="connsiteY7" fmla="*/ 1731607 h 1774331"/>
              <a:gd name="connsiteX8" fmla="*/ 471854 w 2819400"/>
              <a:gd name="connsiteY8" fmla="*/ 1409700 h 1774331"/>
              <a:gd name="connsiteX9" fmla="*/ 52652 w 2819400"/>
              <a:gd name="connsiteY9" fmla="*/ 1473077 h 1774331"/>
              <a:gd name="connsiteX10" fmla="*/ 4097 w 2819400"/>
              <a:gd name="connsiteY10" fmla="*/ 1490848 h 1774331"/>
              <a:gd name="connsiteX11" fmla="*/ 0 w 2819400"/>
              <a:gd name="connsiteY11" fmla="*/ 1409700 h 1774331"/>
              <a:gd name="connsiteX12" fmla="*/ 1409700 w 2819400"/>
              <a:gd name="connsiteY12" fmla="*/ 0 h 1774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19400" h="1774331">
                <a:moveTo>
                  <a:pt x="1409700" y="0"/>
                </a:moveTo>
                <a:cubicBezTo>
                  <a:pt x="2188256" y="0"/>
                  <a:pt x="2819400" y="631144"/>
                  <a:pt x="2819400" y="1409700"/>
                </a:cubicBezTo>
                <a:lnTo>
                  <a:pt x="2815515" y="1486636"/>
                </a:lnTo>
                <a:lnTo>
                  <a:pt x="2778471" y="1473077"/>
                </a:lnTo>
                <a:cubicBezTo>
                  <a:pt x="2646045" y="1431889"/>
                  <a:pt x="2505248" y="1409700"/>
                  <a:pt x="2359269" y="1409700"/>
                </a:cubicBezTo>
                <a:cubicBezTo>
                  <a:pt x="2018651" y="1409700"/>
                  <a:pt x="1706248" y="1530505"/>
                  <a:pt x="1462569" y="1731607"/>
                </a:cubicBezTo>
                <a:lnTo>
                  <a:pt x="1415562" y="1774331"/>
                </a:lnTo>
                <a:lnTo>
                  <a:pt x="1368554" y="1731607"/>
                </a:lnTo>
                <a:cubicBezTo>
                  <a:pt x="1124875" y="1530505"/>
                  <a:pt x="812472" y="1409700"/>
                  <a:pt x="471854" y="1409700"/>
                </a:cubicBezTo>
                <a:cubicBezTo>
                  <a:pt x="325875" y="1409700"/>
                  <a:pt x="185078" y="1431889"/>
                  <a:pt x="52652" y="1473077"/>
                </a:cubicBezTo>
                <a:lnTo>
                  <a:pt x="4097" y="1490848"/>
                </a:lnTo>
                <a:lnTo>
                  <a:pt x="0" y="1409700"/>
                </a:lnTo>
                <a:cubicBezTo>
                  <a:pt x="0" y="631144"/>
                  <a:pt x="631144" y="0"/>
                  <a:pt x="1409700" y="0"/>
                </a:cubicBezTo>
                <a:close/>
              </a:path>
            </a:pathLst>
          </a:custGeom>
          <a:solidFill>
            <a:srgbClr val="E6E5C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1" name="Freeform 60">
            <a:extLst>
              <a:ext uri="{FF2B5EF4-FFF2-40B4-BE49-F238E27FC236}">
                <a16:creationId xmlns="" xmlns:a16="http://schemas.microsoft.com/office/drawing/2014/main" id="{27DE9DBD-9F64-7F41-8F9C-BEAE79CCD3F9}"/>
              </a:ext>
            </a:extLst>
          </p:cNvPr>
          <p:cNvSpPr/>
          <p:nvPr/>
        </p:nvSpPr>
        <p:spPr>
          <a:xfrm>
            <a:off x="2817986" y="2513646"/>
            <a:ext cx="663102" cy="772723"/>
          </a:xfrm>
          <a:custGeom>
            <a:avLst/>
            <a:gdLst>
              <a:gd name="connsiteX0" fmla="*/ 1399953 w 2353407"/>
              <a:gd name="connsiteY0" fmla="*/ 0 h 2742464"/>
              <a:gd name="connsiteX1" fmla="*/ 1492426 w 2353407"/>
              <a:gd name="connsiteY1" fmla="*/ 33845 h 2742464"/>
              <a:gd name="connsiteX2" fmla="*/ 2353407 w 2353407"/>
              <a:gd name="connsiteY2" fmla="*/ 1332764 h 2742464"/>
              <a:gd name="connsiteX3" fmla="*/ 943707 w 2353407"/>
              <a:gd name="connsiteY3" fmla="*/ 2742464 h 2742464"/>
              <a:gd name="connsiteX4" fmla="*/ 47007 w 2353407"/>
              <a:gd name="connsiteY4" fmla="*/ 2420557 h 2742464"/>
              <a:gd name="connsiteX5" fmla="*/ 0 w 2353407"/>
              <a:gd name="connsiteY5" fmla="*/ 2377834 h 2742464"/>
              <a:gd name="connsiteX6" fmla="*/ 53101 w 2353407"/>
              <a:gd name="connsiteY6" fmla="*/ 2329573 h 2742464"/>
              <a:gd name="connsiteX7" fmla="*/ 465992 w 2353407"/>
              <a:gd name="connsiteY7" fmla="*/ 1332764 h 2742464"/>
              <a:gd name="connsiteX8" fmla="*/ 461895 w 2353407"/>
              <a:gd name="connsiteY8" fmla="*/ 1251616 h 2742464"/>
              <a:gd name="connsiteX9" fmla="*/ 542857 w 2353407"/>
              <a:gd name="connsiteY9" fmla="*/ 1221983 h 2742464"/>
              <a:gd name="connsiteX10" fmla="*/ 1396560 w 2353407"/>
              <a:gd name="connsiteY10" fmla="*/ 67198 h 2742464"/>
              <a:gd name="connsiteX11" fmla="*/ 1399953 w 2353407"/>
              <a:gd name="connsiteY11" fmla="*/ 0 h 274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7" h="2742464">
                <a:moveTo>
                  <a:pt x="1399953" y="0"/>
                </a:moveTo>
                <a:lnTo>
                  <a:pt x="1492426" y="33845"/>
                </a:lnTo>
                <a:cubicBezTo>
                  <a:pt x="1998389" y="247849"/>
                  <a:pt x="2353407" y="748847"/>
                  <a:pt x="2353407" y="1332764"/>
                </a:cubicBezTo>
                <a:cubicBezTo>
                  <a:pt x="2353407" y="2111320"/>
                  <a:pt x="1722263" y="2742464"/>
                  <a:pt x="943707" y="2742464"/>
                </a:cubicBezTo>
                <a:cubicBezTo>
                  <a:pt x="603089" y="2742464"/>
                  <a:pt x="290686" y="2621659"/>
                  <a:pt x="47007" y="2420557"/>
                </a:cubicBezTo>
                <a:lnTo>
                  <a:pt x="0" y="2377834"/>
                </a:lnTo>
                <a:lnTo>
                  <a:pt x="53101" y="2329573"/>
                </a:lnTo>
                <a:cubicBezTo>
                  <a:pt x="308206" y="2074467"/>
                  <a:pt x="465992" y="1722042"/>
                  <a:pt x="465992" y="1332764"/>
                </a:cubicBezTo>
                <a:lnTo>
                  <a:pt x="461895" y="1251616"/>
                </a:lnTo>
                <a:lnTo>
                  <a:pt x="542857" y="1221983"/>
                </a:lnTo>
                <a:cubicBezTo>
                  <a:pt x="1006656" y="1025813"/>
                  <a:pt x="1343620" y="588488"/>
                  <a:pt x="1396560" y="67198"/>
                </a:cubicBezTo>
                <a:lnTo>
                  <a:pt x="1399953" y="0"/>
                </a:lnTo>
                <a:close/>
              </a:path>
            </a:pathLst>
          </a:custGeom>
          <a:solidFill>
            <a:srgbClr val="C17A9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2" name="Freeform 61">
            <a:extLst>
              <a:ext uri="{FF2B5EF4-FFF2-40B4-BE49-F238E27FC236}">
                <a16:creationId xmlns="" xmlns:a16="http://schemas.microsoft.com/office/drawing/2014/main" id="{BD7C72B8-A2C3-B04D-91FB-0C280D5F6EE5}"/>
              </a:ext>
            </a:extLst>
          </p:cNvPr>
          <p:cNvSpPr/>
          <p:nvPr/>
        </p:nvSpPr>
        <p:spPr>
          <a:xfrm>
            <a:off x="2154884" y="2514833"/>
            <a:ext cx="663102" cy="771536"/>
          </a:xfrm>
          <a:custGeom>
            <a:avLst/>
            <a:gdLst>
              <a:gd name="connsiteX0" fmla="*/ 941943 w 2353408"/>
              <a:gd name="connsiteY0" fmla="*/ 0 h 2738252"/>
              <a:gd name="connsiteX1" fmla="*/ 945124 w 2353408"/>
              <a:gd name="connsiteY1" fmla="*/ 62986 h 2738252"/>
              <a:gd name="connsiteX2" fmla="*/ 1798827 w 2353408"/>
              <a:gd name="connsiteY2" fmla="*/ 1217771 h 2738252"/>
              <a:gd name="connsiteX3" fmla="*/ 1891300 w 2353408"/>
              <a:gd name="connsiteY3" fmla="*/ 1251617 h 2738252"/>
              <a:gd name="connsiteX4" fmla="*/ 1887415 w 2353408"/>
              <a:gd name="connsiteY4" fmla="*/ 1328552 h 2738252"/>
              <a:gd name="connsiteX5" fmla="*/ 2300307 w 2353408"/>
              <a:gd name="connsiteY5" fmla="*/ 2325361 h 2738252"/>
              <a:gd name="connsiteX6" fmla="*/ 2353408 w 2353408"/>
              <a:gd name="connsiteY6" fmla="*/ 2373622 h 2738252"/>
              <a:gd name="connsiteX7" fmla="*/ 2306400 w 2353408"/>
              <a:gd name="connsiteY7" fmla="*/ 2416345 h 2738252"/>
              <a:gd name="connsiteX8" fmla="*/ 1409700 w 2353408"/>
              <a:gd name="connsiteY8" fmla="*/ 2738252 h 2738252"/>
              <a:gd name="connsiteX9" fmla="*/ 0 w 2353408"/>
              <a:gd name="connsiteY9" fmla="*/ 1328552 h 2738252"/>
              <a:gd name="connsiteX10" fmla="*/ 860981 w 2353408"/>
              <a:gd name="connsiteY10" fmla="*/ 29633 h 2738252"/>
              <a:gd name="connsiteX11" fmla="*/ 941943 w 2353408"/>
              <a:gd name="connsiteY11" fmla="*/ 0 h 2738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3408" h="2738252">
                <a:moveTo>
                  <a:pt x="941943" y="0"/>
                </a:moveTo>
                <a:lnTo>
                  <a:pt x="945124" y="62986"/>
                </a:lnTo>
                <a:cubicBezTo>
                  <a:pt x="998064" y="584276"/>
                  <a:pt x="1335028" y="1021601"/>
                  <a:pt x="1798827" y="1217771"/>
                </a:cubicBezTo>
                <a:lnTo>
                  <a:pt x="1891300" y="1251617"/>
                </a:lnTo>
                <a:lnTo>
                  <a:pt x="1887415" y="1328552"/>
                </a:lnTo>
                <a:cubicBezTo>
                  <a:pt x="1887415" y="1717830"/>
                  <a:pt x="2045201" y="2070255"/>
                  <a:pt x="2300307" y="2325361"/>
                </a:cubicBezTo>
                <a:lnTo>
                  <a:pt x="2353408" y="2373622"/>
                </a:lnTo>
                <a:lnTo>
                  <a:pt x="2306400" y="2416345"/>
                </a:lnTo>
                <a:cubicBezTo>
                  <a:pt x="2062721" y="2617447"/>
                  <a:pt x="1750318" y="2738252"/>
                  <a:pt x="1409700" y="2738252"/>
                </a:cubicBezTo>
                <a:cubicBezTo>
                  <a:pt x="631144" y="2738252"/>
                  <a:pt x="0" y="2107108"/>
                  <a:pt x="0" y="1328552"/>
                </a:cubicBezTo>
                <a:cubicBezTo>
                  <a:pt x="0" y="744635"/>
                  <a:pt x="355018" y="243637"/>
                  <a:pt x="860981" y="29633"/>
                </a:cubicBezTo>
                <a:lnTo>
                  <a:pt x="941943" y="0"/>
                </a:lnTo>
                <a:close/>
              </a:path>
            </a:pathLst>
          </a:custGeom>
          <a:solidFill>
            <a:srgbClr val="7792CB"/>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63" name="Freeform 62">
            <a:extLst>
              <a:ext uri="{FF2B5EF4-FFF2-40B4-BE49-F238E27FC236}">
                <a16:creationId xmlns="" xmlns:a16="http://schemas.microsoft.com/office/drawing/2014/main" id="{97A5C87A-9515-4048-B8BC-01024AC1BAFE}"/>
              </a:ext>
            </a:extLst>
          </p:cNvPr>
          <p:cNvSpPr/>
          <p:nvPr/>
        </p:nvSpPr>
        <p:spPr>
          <a:xfrm>
            <a:off x="2687782" y="2594708"/>
            <a:ext cx="260349" cy="294461"/>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pic>
        <p:nvPicPr>
          <p:cNvPr id="64" name="Picture 63" descr="A close up of a logo&#10;&#10;Description automatically generated">
            <a:extLst>
              <a:ext uri="{FF2B5EF4-FFF2-40B4-BE49-F238E27FC236}">
                <a16:creationId xmlns="" xmlns:a16="http://schemas.microsoft.com/office/drawing/2014/main" id="{0E08509E-E346-DF45-A8E6-86A02D3DAF7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731732" y="2254266"/>
            <a:ext cx="196372" cy="150292"/>
          </a:xfrm>
          <a:prstGeom prst="rect">
            <a:avLst/>
          </a:prstGeom>
        </p:spPr>
      </p:pic>
      <p:pic>
        <p:nvPicPr>
          <p:cNvPr id="65" name="Picture 64" descr="A close up of a logo&#10;&#10;Description automatically generated">
            <a:extLst>
              <a:ext uri="{FF2B5EF4-FFF2-40B4-BE49-F238E27FC236}">
                <a16:creationId xmlns="" xmlns:a16="http://schemas.microsoft.com/office/drawing/2014/main" id="{C1C3305B-C4B3-144A-8E25-28DCC9EADF10}"/>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2406211" y="2975673"/>
            <a:ext cx="266726" cy="189672"/>
          </a:xfrm>
          <a:prstGeom prst="rect">
            <a:avLst/>
          </a:prstGeom>
        </p:spPr>
      </p:pic>
      <p:pic>
        <p:nvPicPr>
          <p:cNvPr id="66" name="Picture 65" descr="A close up of a logo&#10;&#10;Description automatically generated">
            <a:extLst>
              <a:ext uri="{FF2B5EF4-FFF2-40B4-BE49-F238E27FC236}">
                <a16:creationId xmlns="" xmlns:a16="http://schemas.microsoft.com/office/drawing/2014/main" id="{CC5BAB40-2580-D24D-974B-07DCEE24052A}"/>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3021201" y="3027698"/>
            <a:ext cx="165177" cy="137648"/>
          </a:xfrm>
          <a:prstGeom prst="rect">
            <a:avLst/>
          </a:prstGeom>
        </p:spPr>
      </p:pic>
      <p:sp>
        <p:nvSpPr>
          <p:cNvPr id="67" name="TextBox 66">
            <a:extLst>
              <a:ext uri="{FF2B5EF4-FFF2-40B4-BE49-F238E27FC236}">
                <a16:creationId xmlns="" xmlns:a16="http://schemas.microsoft.com/office/drawing/2014/main" id="{297E41E0-78F2-2648-93DC-A66EFF5D75E1}"/>
              </a:ext>
            </a:extLst>
          </p:cNvPr>
          <p:cNvSpPr txBox="1"/>
          <p:nvPr/>
        </p:nvSpPr>
        <p:spPr>
          <a:xfrm>
            <a:off x="2573419" y="1795903"/>
            <a:ext cx="524503" cy="276999"/>
          </a:xfrm>
          <a:prstGeom prst="rect">
            <a:avLst/>
          </a:prstGeom>
          <a:noFill/>
        </p:spPr>
        <p:txBody>
          <a:bodyPr wrap="none" rtlCol="0">
            <a:spAutoFit/>
          </a:bodyPr>
          <a:lstStyle/>
          <a:p>
            <a:pPr algn="ctr"/>
            <a:r>
              <a:rPr lang="en-US" sz="1200" dirty="0">
                <a:solidFill>
                  <a:schemeClr val="bg2"/>
                </a:solidFill>
                <a:latin typeface="Century Gothic" panose="020B0502020202020204" pitchFamily="34" charset="0"/>
              </a:rPr>
              <a:t>Time</a:t>
            </a:r>
          </a:p>
        </p:txBody>
      </p:sp>
      <p:sp>
        <p:nvSpPr>
          <p:cNvPr id="19" name="Freeform 18">
            <a:extLst>
              <a:ext uri="{FF2B5EF4-FFF2-40B4-BE49-F238E27FC236}">
                <a16:creationId xmlns="" xmlns:a16="http://schemas.microsoft.com/office/drawing/2014/main" id="{5AD469C7-5704-4D45-9E30-0CCEABC13D68}"/>
              </a:ext>
            </a:extLst>
          </p:cNvPr>
          <p:cNvSpPr/>
          <p:nvPr/>
        </p:nvSpPr>
        <p:spPr>
          <a:xfrm>
            <a:off x="6051897" y="828243"/>
            <a:ext cx="2239609" cy="2533052"/>
          </a:xfrm>
          <a:custGeom>
            <a:avLst/>
            <a:gdLst>
              <a:gd name="connsiteX0" fmla="*/ 462108 w 924003"/>
              <a:gd name="connsiteY0" fmla="*/ 0 h 1045069"/>
              <a:gd name="connsiteX1" fmla="*/ 515209 w 924003"/>
              <a:gd name="connsiteY1" fmla="*/ 48261 h 1045069"/>
              <a:gd name="connsiteX2" fmla="*/ 920822 w 924003"/>
              <a:gd name="connsiteY2" fmla="*/ 900935 h 1045069"/>
              <a:gd name="connsiteX3" fmla="*/ 924003 w 924003"/>
              <a:gd name="connsiteY3" fmla="*/ 963921 h 1045069"/>
              <a:gd name="connsiteX4" fmla="*/ 875448 w 924003"/>
              <a:gd name="connsiteY4" fmla="*/ 981692 h 1045069"/>
              <a:gd name="connsiteX5" fmla="*/ 456246 w 924003"/>
              <a:gd name="connsiteY5" fmla="*/ 1045069 h 1045069"/>
              <a:gd name="connsiteX6" fmla="*/ 37044 w 924003"/>
              <a:gd name="connsiteY6" fmla="*/ 981692 h 1045069"/>
              <a:gd name="connsiteX7" fmla="*/ 0 w 924003"/>
              <a:gd name="connsiteY7" fmla="*/ 968134 h 1045069"/>
              <a:gd name="connsiteX8" fmla="*/ 3393 w 924003"/>
              <a:gd name="connsiteY8" fmla="*/ 900935 h 1045069"/>
              <a:gd name="connsiteX9" fmla="*/ 409007 w 924003"/>
              <a:gd name="connsiteY9" fmla="*/ 48261 h 1045069"/>
              <a:gd name="connsiteX10" fmla="*/ 462108 w 924003"/>
              <a:gd name="connsiteY10" fmla="*/ 0 h 104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4003" h="1045069">
                <a:moveTo>
                  <a:pt x="462108" y="0"/>
                </a:moveTo>
                <a:lnTo>
                  <a:pt x="515209" y="48261"/>
                </a:lnTo>
                <a:cubicBezTo>
                  <a:pt x="738426" y="271478"/>
                  <a:pt x="887133" y="569205"/>
                  <a:pt x="920822" y="900935"/>
                </a:cubicBezTo>
                <a:lnTo>
                  <a:pt x="924003" y="963921"/>
                </a:lnTo>
                <a:lnTo>
                  <a:pt x="875448" y="981692"/>
                </a:lnTo>
                <a:cubicBezTo>
                  <a:pt x="743022" y="1022880"/>
                  <a:pt x="602225" y="1045069"/>
                  <a:pt x="456246" y="1045069"/>
                </a:cubicBezTo>
                <a:cubicBezTo>
                  <a:pt x="310267" y="1045069"/>
                  <a:pt x="169470" y="1022880"/>
                  <a:pt x="37044" y="981692"/>
                </a:cubicBezTo>
                <a:lnTo>
                  <a:pt x="0" y="968134"/>
                </a:lnTo>
                <a:lnTo>
                  <a:pt x="3393" y="900935"/>
                </a:lnTo>
                <a:cubicBezTo>
                  <a:pt x="37082" y="569205"/>
                  <a:pt x="185789" y="271478"/>
                  <a:pt x="409007" y="48261"/>
                </a:cubicBezTo>
                <a:lnTo>
                  <a:pt x="462108" y="0"/>
                </a:lnTo>
                <a:close/>
              </a:path>
            </a:pathLst>
          </a:cu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latin typeface="Century Gothic" charset="0"/>
              <a:ea typeface="Century Gothic" charset="0"/>
              <a:cs typeface="Century Gothic" charset="0"/>
            </a:endParaRPr>
          </a:p>
        </p:txBody>
      </p:sp>
      <p:sp>
        <p:nvSpPr>
          <p:cNvPr id="21" name="TextBox 20">
            <a:extLst>
              <a:ext uri="{FF2B5EF4-FFF2-40B4-BE49-F238E27FC236}">
                <a16:creationId xmlns="" xmlns:a16="http://schemas.microsoft.com/office/drawing/2014/main" id="{52830AFE-0980-D14C-9323-B0A43D36ADCF}"/>
              </a:ext>
            </a:extLst>
          </p:cNvPr>
          <p:cNvSpPr txBox="1"/>
          <p:nvPr/>
        </p:nvSpPr>
        <p:spPr>
          <a:xfrm>
            <a:off x="6179603" y="1521498"/>
            <a:ext cx="1984195" cy="1615827"/>
          </a:xfrm>
          <a:prstGeom prst="rect">
            <a:avLst/>
          </a:prstGeom>
          <a:noFill/>
        </p:spPr>
        <p:txBody>
          <a:bodyPr wrap="square" rtlCol="0">
            <a:spAutoFit/>
          </a:bodyPr>
          <a:lstStyle/>
          <a:p>
            <a:pPr algn="ctr"/>
            <a:r>
              <a:rPr lang="en-US" sz="2000" b="1" dirty="0">
                <a:latin typeface="Century Gothic" panose="020B0502020202020204" pitchFamily="34" charset="0"/>
              </a:rPr>
              <a:t>Learning:</a:t>
            </a:r>
          </a:p>
          <a:p>
            <a:pPr algn="ctr"/>
            <a:endParaRPr lang="en-US" sz="2000" dirty="0">
              <a:latin typeface="Century Gothic" panose="020B0502020202020204" pitchFamily="34" charset="0"/>
            </a:endParaRPr>
          </a:p>
          <a:p>
            <a:pPr algn="ctr">
              <a:spcAft>
                <a:spcPts val="600"/>
              </a:spcAft>
            </a:pPr>
            <a:r>
              <a:rPr lang="en-US" sz="2000" dirty="0">
                <a:latin typeface="Century Gothic" panose="020B0502020202020204" pitchFamily="34" charset="0"/>
              </a:rPr>
              <a:t>incidental supervision</a:t>
            </a:r>
          </a:p>
          <a:p>
            <a:pPr lvl="0" algn="ctr"/>
            <a:r>
              <a:rPr lang="en-US" sz="1400" i="1" dirty="0">
                <a:solidFill>
                  <a:srgbClr val="FFFFFF"/>
                </a:solidFill>
                <a:latin typeface="Century Gothic" panose="020B0502020202020204" pitchFamily="34" charset="0"/>
              </a:rPr>
              <a:t>[Roth, AAAI’17]</a:t>
            </a:r>
          </a:p>
        </p:txBody>
      </p:sp>
      <p:sp>
        <p:nvSpPr>
          <p:cNvPr id="2" name="Title 1"/>
          <p:cNvSpPr>
            <a:spLocks noGrp="1"/>
          </p:cNvSpPr>
          <p:nvPr>
            <p:ph type="title"/>
          </p:nvPr>
        </p:nvSpPr>
        <p:spPr/>
        <p:txBody>
          <a:bodyPr/>
          <a:lstStyle/>
          <a:p>
            <a:r>
              <a:rPr lang="en-US" dirty="0"/>
              <a:t>What’s </a:t>
            </a:r>
            <a:r>
              <a:rPr lang="en-US" dirty="0" smtClean="0"/>
              <a:t>next</a:t>
            </a:r>
            <a:endParaRPr lang="en-US" dirty="0"/>
          </a:p>
        </p:txBody>
      </p:sp>
    </p:spTree>
    <p:extLst>
      <p:ext uri="{BB962C8B-B14F-4D97-AF65-F5344CB8AC3E}">
        <p14:creationId xmlns:p14="http://schemas.microsoft.com/office/powerpoint/2010/main" val="10288067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Roth-Penn-1">
  <a:themeElements>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lumMod val="50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icra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cra0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cra0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cra0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cra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cra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cra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ustom 5">
    <a:dk1>
      <a:srgbClr val="000000"/>
    </a:dk1>
    <a:lt1>
      <a:srgbClr val="FFFFFF"/>
    </a:lt1>
    <a:dk2>
      <a:srgbClr val="FAE1AF"/>
    </a:dk2>
    <a:lt2>
      <a:srgbClr val="FAC8AF"/>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5945</TotalTime>
  <Words>12711</Words>
  <Application>Microsoft Macintosh PowerPoint</Application>
  <PresentationFormat>On-screen Show (4:3)</PresentationFormat>
  <Paragraphs>1823</Paragraphs>
  <Slides>111</Slides>
  <Notes>104</Notes>
  <HiddenSlides>13</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111</vt:i4>
      </vt:variant>
    </vt:vector>
  </HeadingPairs>
  <TitlesOfParts>
    <vt:vector size="125" baseType="lpstr">
      <vt:lpstr>Arial Rounded MT Bold</vt:lpstr>
      <vt:lpstr>Arial Unicode MS</vt:lpstr>
      <vt:lpstr>Calibri</vt:lpstr>
      <vt:lpstr>Cambria Math</vt:lpstr>
      <vt:lpstr>Century Gothic</vt:lpstr>
      <vt:lpstr>Courier</vt:lpstr>
      <vt:lpstr>Mangal</vt:lpstr>
      <vt:lpstr>Times</vt:lpstr>
      <vt:lpstr>Times New Roman</vt:lpstr>
      <vt:lpstr>Wingdings</vt:lpstr>
      <vt:lpstr>宋体</vt:lpstr>
      <vt:lpstr>等线</vt:lpstr>
      <vt:lpstr>Arial</vt:lpstr>
      <vt:lpstr>Roth-Penn-1</vt:lpstr>
      <vt:lpstr>Understanding Events In Natural Language: -- Learning, Common Sense, Data Annotation, and What’s Next</vt:lpstr>
      <vt:lpstr>PowerPoint Presentation</vt:lpstr>
      <vt:lpstr>PowerPoint Presentation</vt:lpstr>
      <vt:lpstr>PowerPoint Presentation</vt:lpstr>
      <vt:lpstr>PowerPoint Presentation</vt:lpstr>
      <vt:lpstr>PowerPoint Presentation</vt:lpstr>
      <vt:lpstr>Natural language is natural for humans</vt:lpstr>
      <vt:lpstr>Natural language is not natural for computers</vt:lpstr>
      <vt:lpstr>Natural language is not natural for computers</vt:lpstr>
      <vt:lpstr>Natural language is not natural for computers</vt:lpstr>
      <vt:lpstr>PowerPoint Presentation</vt:lpstr>
      <vt:lpstr>PowerPoint Presentation</vt:lpstr>
      <vt:lpstr>PowerPoint Presentation</vt:lpstr>
      <vt:lpstr>PowerPoint Presentation</vt:lpstr>
      <vt:lpstr>PowerPoint Presentation</vt:lpstr>
      <vt:lpstr>Where are we in NLP?</vt:lpstr>
      <vt:lpstr>Let’s take a look at two events</vt:lpstr>
      <vt:lpstr>Reversing them</vt:lpstr>
      <vt:lpstr>Reversing them</vt:lpstr>
      <vt:lpstr>Temporal relation (TempRel)</vt:lpstr>
      <vt:lpstr>Multiple events form a situation</vt:lpstr>
      <vt:lpstr>PowerPoint Presentation</vt:lpstr>
      <vt:lpstr>PowerPoint Presentation</vt:lpstr>
      <vt:lpstr>PowerPoint Presentation</vt:lpstr>
      <vt:lpstr>Temporal graphs are structured</vt:lpstr>
      <vt:lpstr>Assume a model is already trained</vt:lpstr>
      <vt:lpstr>Global inference (a toy example)</vt:lpstr>
      <vt:lpstr>Global inference (a toy example)</vt:lpstr>
      <vt:lpstr>Global inference (a toy example)</vt:lpstr>
      <vt:lpstr>Global inference (a toy example)</vt:lpstr>
      <vt:lpstr>Global inference (a toy example)</vt:lpstr>
      <vt:lpstr>PowerPoint Presentation</vt:lpstr>
      <vt:lpstr>Benefit of global inference via ILP</vt:lpstr>
      <vt:lpstr>How was the model trained?</vt:lpstr>
      <vt:lpstr>Local learning in previous methods</vt:lpstr>
      <vt:lpstr>Local learning is not sufficient</vt:lpstr>
      <vt:lpstr>Structured (global) Learning</vt:lpstr>
      <vt:lpstr>Results</vt:lpstr>
      <vt:lpstr>Results</vt:lpstr>
      <vt:lpstr>Results</vt:lpstr>
      <vt:lpstr>PowerPoint Presentation</vt:lpstr>
      <vt:lpstr>PowerPoint Presentation</vt:lpstr>
      <vt:lpstr>More than 10 people have (event1: died), police said. A car (event2: exploded) on Friday in a group of men in north Pakistan. </vt:lpstr>
      <vt:lpstr>More than 10 people have (event1: died), police said. A car (event2: exploded) on Friday in a group of men in north Pakistan. </vt:lpstr>
      <vt:lpstr>When events are …</vt:lpstr>
      <vt:lpstr>When events are …</vt:lpstr>
      <vt:lpstr>TemProb [NAACL’18]: Temporal Relation Probabilistic Knowledge Base</vt:lpstr>
      <vt:lpstr>Event distributions from TemProb</vt:lpstr>
      <vt:lpstr>Event distributions from TemProb</vt:lpstr>
      <vt:lpstr>Event distributions from TemProb</vt:lpstr>
      <vt:lpstr>Event distributions from TemProb</vt:lpstr>
      <vt:lpstr>Apply TemProb in learning</vt:lpstr>
      <vt:lpstr>Apply TemProb in our task</vt:lpstr>
      <vt:lpstr>Further improvement by TemProb</vt:lpstr>
      <vt:lpstr>Results</vt:lpstr>
      <vt:lpstr>PowerPoint Presentation</vt:lpstr>
      <vt:lpstr>PowerPoint Presentation</vt:lpstr>
      <vt:lpstr>“Houston, we’ve had a problem here”</vt:lpstr>
      <vt:lpstr>Existing annotation schemes</vt:lpstr>
      <vt:lpstr>Existing annotation schemes</vt:lpstr>
      <vt:lpstr>Existing annotation schemes</vt:lpstr>
      <vt:lpstr>Proposed solution: multi-axis</vt:lpstr>
      <vt:lpstr>Proposed solution: multi-axis</vt:lpstr>
      <vt:lpstr>What we achieved</vt:lpstr>
      <vt:lpstr>Proposed scheme: multi-axis</vt:lpstr>
      <vt:lpstr>With a better IAA (&gt;80%)</vt:lpstr>
      <vt:lpstr>Discussion</vt:lpstr>
      <vt:lpstr>PowerPoint Presentation</vt:lpstr>
      <vt:lpstr>PowerPoint Presentation</vt:lpstr>
      <vt:lpstr>PowerPoint Presentation</vt:lpstr>
      <vt:lpstr>: a neural approach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Further Investigation: Neural Method</vt:lpstr>
      <vt:lpstr>Recap</vt:lpstr>
      <vt:lpstr>PowerPoint Presentation</vt:lpstr>
      <vt:lpstr>PowerPoint Presentation</vt:lpstr>
      <vt:lpstr>Silver lining of “partial”</vt:lpstr>
      <vt:lpstr>Partial or complete, that’s the question [NAACL’19]</vt:lpstr>
      <vt:lpstr>Partial or complete, that’s the question [NAACL’19]</vt:lpstr>
      <vt:lpstr>The quality of partially annotated structures</vt:lpstr>
      <vt:lpstr>The quality of partially annotated structures</vt:lpstr>
      <vt:lpstr>Diminishing return of new labels</vt:lpstr>
      <vt:lpstr>PowerPoint Presentation</vt:lpstr>
      <vt:lpstr>What is I_k actually?</vt:lpstr>
      <vt:lpstr>Unique view of structured annotation</vt:lpstr>
      <vt:lpstr>Achilles heel of standard paradigms</vt:lpstr>
      <vt:lpstr>What’s next</vt:lpstr>
      <vt:lpstr>What’s next</vt:lpstr>
      <vt:lpstr>PowerPoint Presentation</vt:lpstr>
      <vt:lpstr>What’s next</vt:lpstr>
      <vt:lpstr>What’s next</vt:lpstr>
      <vt:lpstr>Summary</vt:lpstr>
      <vt:lpstr>References</vt:lpstr>
      <vt:lpstr>Many thanks to my collaborators.</vt:lpstr>
      <vt:lpstr>PowerPoint Presentation</vt:lpstr>
      <vt:lpstr>Courses that I can teach</vt:lpstr>
      <vt:lpstr>Recap</vt:lpstr>
      <vt:lpstr>PowerPoint Presentation</vt:lpstr>
      <vt:lpstr>PowerPoint Presentation</vt:lpstr>
      <vt:lpstr>PowerPoint Presentation</vt:lpstr>
      <vt:lpstr>I_k is concave!</vt:lpstr>
      <vt:lpstr>What’s next</vt:lpstr>
      <vt:lpstr>What’s next</vt:lpstr>
    </vt:vector>
  </TitlesOfParts>
  <Company/>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Events In Natural Language: -- Learning, Commonsense, Annotation, and What’s Next</dc:title>
  <dc:creator>Microsoft Office User</dc:creator>
  <cp:lastModifiedBy>Ning, Qiang</cp:lastModifiedBy>
  <cp:revision>389</cp:revision>
  <dcterms:created xsi:type="dcterms:W3CDTF">2019-04-16T21:31:18Z</dcterms:created>
  <dcterms:modified xsi:type="dcterms:W3CDTF">2019-04-30T21:13:14Z</dcterms:modified>
</cp:coreProperties>
</file>