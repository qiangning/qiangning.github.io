
<file path=[Content_Types].xml><?xml version="1.0" encoding="utf-8"?>
<Types xmlns="http://schemas.openxmlformats.org/package/2006/content-types">
  <Default Extension="xml" ContentType="application/xml"/>
  <Default Extension="jpeg" ContentType="image/jpeg"/>
  <Default Extension="tiff" ContentType="image/tiff"/>
  <Default Extension="emf" ContentType="image/x-emf"/>
  <Default Extension="xlsx" ContentType="application/vnd.openxmlformats-officedocument.spreadsheetml.sheet"/>
  <Default Extension="rels" ContentType="application/vnd.openxmlformats-package.relationships+xml"/>
  <Default Extension="wdp" ContentType="image/vnd.ms-photo"/>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49.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1.xml" ContentType="application/vnd.openxmlformats-officedocument.themeOverr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2.xml" ContentType="application/vnd.openxmlformats-officedocument.themeOverride+xml"/>
  <Override PartName="/ppt/notesSlides/notesSlide50.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3.xml" ContentType="application/vnd.openxmlformats-officedocument.themeOverr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theme/themeOverride4.xml" ContentType="application/vnd.openxmlformats-officedocument.themeOverride+xml"/>
  <Override PartName="/ppt/notesSlides/notesSlide51.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notesSlides/notesSlide75.xml" ContentType="application/vnd.openxmlformats-officedocument.presentationml.notesSlid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76.xml" ContentType="application/vnd.openxmlformats-officedocument.presentationml.notesSlid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9" r:id="rId1"/>
  </p:sldMasterIdLst>
  <p:notesMasterIdLst>
    <p:notesMasterId r:id="rId106"/>
  </p:notesMasterIdLst>
  <p:handoutMasterIdLst>
    <p:handoutMasterId r:id="rId107"/>
  </p:handoutMasterIdLst>
  <p:sldIdLst>
    <p:sldId id="392" r:id="rId2"/>
    <p:sldId id="258" r:id="rId3"/>
    <p:sldId id="256" r:id="rId4"/>
    <p:sldId id="261" r:id="rId5"/>
    <p:sldId id="808" r:id="rId6"/>
    <p:sldId id="274" r:id="rId7"/>
    <p:sldId id="713" r:id="rId8"/>
    <p:sldId id="725" r:id="rId9"/>
    <p:sldId id="835" r:id="rId10"/>
    <p:sldId id="838" r:id="rId11"/>
    <p:sldId id="263" r:id="rId12"/>
    <p:sldId id="266" r:id="rId13"/>
    <p:sldId id="268" r:id="rId14"/>
    <p:sldId id="271" r:id="rId15"/>
    <p:sldId id="273" r:id="rId16"/>
    <p:sldId id="790" r:id="rId17"/>
    <p:sldId id="482" r:id="rId18"/>
    <p:sldId id="612" r:id="rId19"/>
    <p:sldId id="828" r:id="rId20"/>
    <p:sldId id="829" r:id="rId21"/>
    <p:sldId id="430" r:id="rId22"/>
    <p:sldId id="844" r:id="rId23"/>
    <p:sldId id="702" r:id="rId24"/>
    <p:sldId id="617" r:id="rId25"/>
    <p:sldId id="784" r:id="rId26"/>
    <p:sldId id="812" r:id="rId27"/>
    <p:sldId id="785" r:id="rId28"/>
    <p:sldId id="818" r:id="rId29"/>
    <p:sldId id="786" r:id="rId30"/>
    <p:sldId id="810" r:id="rId31"/>
    <p:sldId id="819" r:id="rId32"/>
    <p:sldId id="744" r:id="rId33"/>
    <p:sldId id="745" r:id="rId34"/>
    <p:sldId id="840" r:id="rId35"/>
    <p:sldId id="620" r:id="rId36"/>
    <p:sldId id="437" r:id="rId37"/>
    <p:sldId id="438" r:id="rId38"/>
    <p:sldId id="586" r:id="rId39"/>
    <p:sldId id="824" r:id="rId40"/>
    <p:sldId id="813" r:id="rId41"/>
    <p:sldId id="788" r:id="rId42"/>
    <p:sldId id="870" r:id="rId43"/>
    <p:sldId id="730" r:id="rId44"/>
    <p:sldId id="751" r:id="rId45"/>
    <p:sldId id="789" r:id="rId46"/>
    <p:sldId id="448" r:id="rId47"/>
    <p:sldId id="584" r:id="rId48"/>
    <p:sldId id="456" r:id="rId49"/>
    <p:sldId id="281" r:id="rId50"/>
    <p:sldId id="282" r:id="rId51"/>
    <p:sldId id="283" r:id="rId52"/>
    <p:sldId id="284" r:id="rId53"/>
    <p:sldId id="489" r:id="rId54"/>
    <p:sldId id="588" r:id="rId55"/>
    <p:sldId id="459" r:id="rId56"/>
    <p:sldId id="732" r:id="rId57"/>
    <p:sldId id="731" r:id="rId58"/>
    <p:sldId id="461" r:id="rId59"/>
    <p:sldId id="814" r:id="rId60"/>
    <p:sldId id="815" r:id="rId61"/>
    <p:sldId id="816" r:id="rId62"/>
    <p:sldId id="590" r:id="rId63"/>
    <p:sldId id="677" r:id="rId64"/>
    <p:sldId id="817" r:id="rId65"/>
    <p:sldId id="678" r:id="rId66"/>
    <p:sldId id="830" r:id="rId67"/>
    <p:sldId id="545" r:id="rId68"/>
    <p:sldId id="791" r:id="rId69"/>
    <p:sldId id="735" r:id="rId70"/>
    <p:sldId id="594" r:id="rId71"/>
    <p:sldId id="624" r:id="rId72"/>
    <p:sldId id="754" r:id="rId73"/>
    <p:sldId id="792" r:id="rId74"/>
    <p:sldId id="793" r:id="rId75"/>
    <p:sldId id="794" r:id="rId76"/>
    <p:sldId id="795" r:id="rId77"/>
    <p:sldId id="834" r:id="rId78"/>
    <p:sldId id="841" r:id="rId79"/>
    <p:sldId id="842" r:id="rId80"/>
    <p:sldId id="843" r:id="rId81"/>
    <p:sldId id="872" r:id="rId82"/>
    <p:sldId id="871" r:id="rId83"/>
    <p:sldId id="874" r:id="rId84"/>
    <p:sldId id="846" r:id="rId85"/>
    <p:sldId id="654" r:id="rId86"/>
    <p:sldId id="869" r:id="rId87"/>
    <p:sldId id="856" r:id="rId88"/>
    <p:sldId id="857" r:id="rId89"/>
    <p:sldId id="749" r:id="rId90"/>
    <p:sldId id="861" r:id="rId91"/>
    <p:sldId id="860" r:id="rId92"/>
    <p:sldId id="568" r:id="rId93"/>
    <p:sldId id="560" r:id="rId94"/>
    <p:sldId id="566" r:id="rId95"/>
    <p:sldId id="865" r:id="rId96"/>
    <p:sldId id="868" r:id="rId97"/>
    <p:sldId id="853" r:id="rId98"/>
    <p:sldId id="855" r:id="rId99"/>
    <p:sldId id="854" r:id="rId100"/>
    <p:sldId id="742" r:id="rId101"/>
    <p:sldId id="833" r:id="rId102"/>
    <p:sldId id="845" r:id="rId103"/>
    <p:sldId id="761" r:id="rId104"/>
    <p:sldId id="653" r:id="rId10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Introduction" id="{CAE413F7-FCE9-4DF7-A811-15A837271141}">
          <p14:sldIdLst>
            <p14:sldId id="392"/>
            <p14:sldId id="258"/>
            <p14:sldId id="256"/>
            <p14:sldId id="261"/>
            <p14:sldId id="808"/>
            <p14:sldId id="274"/>
            <p14:sldId id="713"/>
            <p14:sldId id="725"/>
            <p14:sldId id="835"/>
            <p14:sldId id="838"/>
            <p14:sldId id="263"/>
            <p14:sldId id="266"/>
            <p14:sldId id="268"/>
            <p14:sldId id="271"/>
            <p14:sldId id="273"/>
            <p14:sldId id="790"/>
          </p14:sldIdLst>
        </p14:section>
        <p14:section name="intro on time" id="{E1B3E0C8-6AA5-BD4D-B7D7-35CA02927C15}">
          <p14:sldIdLst>
            <p14:sldId id="482"/>
            <p14:sldId id="612"/>
            <p14:sldId id="828"/>
            <p14:sldId id="829"/>
            <p14:sldId id="430"/>
            <p14:sldId id="844"/>
            <p14:sldId id="702"/>
          </p14:sldIdLst>
        </p14:section>
        <p14:section name="structure" id="{8B5F7323-73AB-784A-8EA5-DA40F00F9D10}">
          <p14:sldIdLst>
            <p14:sldId id="617"/>
            <p14:sldId id="784"/>
            <p14:sldId id="812"/>
            <p14:sldId id="785"/>
            <p14:sldId id="818"/>
            <p14:sldId id="786"/>
            <p14:sldId id="810"/>
            <p14:sldId id="819"/>
            <p14:sldId id="744"/>
            <p14:sldId id="745"/>
            <p14:sldId id="840"/>
            <p14:sldId id="620"/>
            <p14:sldId id="437"/>
            <p14:sldId id="438"/>
            <p14:sldId id="586"/>
            <p14:sldId id="824"/>
            <p14:sldId id="813"/>
            <p14:sldId id="788"/>
          </p14:sldIdLst>
        </p14:section>
        <p14:section name="commonsense" id="{0DAEDA8F-25AA-2F49-9721-C063C82FF5F8}">
          <p14:sldIdLst>
            <p14:sldId id="870"/>
            <p14:sldId id="730"/>
            <p14:sldId id="751"/>
            <p14:sldId id="789"/>
            <p14:sldId id="448"/>
            <p14:sldId id="584"/>
            <p14:sldId id="456"/>
            <p14:sldId id="281"/>
            <p14:sldId id="282"/>
            <p14:sldId id="283"/>
            <p14:sldId id="284"/>
            <p14:sldId id="489"/>
            <p14:sldId id="588"/>
            <p14:sldId id="459"/>
            <p14:sldId id="732"/>
          </p14:sldIdLst>
        </p14:section>
        <p14:section name="data" id="{2A524990-8308-4F49-B077-4602C61A301E}">
          <p14:sldIdLst>
            <p14:sldId id="731"/>
            <p14:sldId id="461"/>
            <p14:sldId id="814"/>
            <p14:sldId id="815"/>
            <p14:sldId id="816"/>
            <p14:sldId id="590"/>
            <p14:sldId id="677"/>
            <p14:sldId id="817"/>
            <p14:sldId id="678"/>
            <p14:sldId id="830"/>
            <p14:sldId id="545"/>
            <p14:sldId id="791"/>
          </p14:sldIdLst>
        </p14:section>
        <p14:section name="all" id="{4079DC54-5E09-4643-BD98-334F9CB24160}">
          <p14:sldIdLst>
            <p14:sldId id="735"/>
            <p14:sldId id="594"/>
            <p14:sldId id="624"/>
            <p14:sldId id="754"/>
            <p14:sldId id="792"/>
            <p14:sldId id="793"/>
            <p14:sldId id="794"/>
            <p14:sldId id="795"/>
            <p14:sldId id="834"/>
            <p14:sldId id="841"/>
            <p14:sldId id="842"/>
          </p14:sldIdLst>
        </p14:section>
        <p14:section name="partial" id="{8C365CBE-CAC2-4249-8C19-9BBFC0AF519A}">
          <p14:sldIdLst>
            <p14:sldId id="843"/>
            <p14:sldId id="872"/>
            <p14:sldId id="871"/>
            <p14:sldId id="874"/>
            <p14:sldId id="846"/>
            <p14:sldId id="654"/>
            <p14:sldId id="869"/>
            <p14:sldId id="856"/>
            <p14:sldId id="857"/>
            <p14:sldId id="749"/>
            <p14:sldId id="861"/>
            <p14:sldId id="860"/>
            <p14:sldId id="568"/>
            <p14:sldId id="560"/>
            <p14:sldId id="566"/>
          </p14:sldIdLst>
        </p14:section>
        <p14:section name="Future" id="{4675AE86-9218-0B45-80E0-D02330CB98FE}">
          <p14:sldIdLst>
            <p14:sldId id="865"/>
            <p14:sldId id="868"/>
            <p14:sldId id="853"/>
            <p14:sldId id="855"/>
            <p14:sldId id="854"/>
            <p14:sldId id="742"/>
          </p14:sldIdLst>
        </p14:section>
        <p14:section name="summary" id="{AACFC7D9-4D21-154C-8ABF-F199BE30741F}">
          <p14:sldIdLst>
            <p14:sldId id="833"/>
            <p14:sldId id="845"/>
            <p14:sldId id="761"/>
            <p14:sldId id="653"/>
          </p14:sldIdLst>
        </p14:section>
        <p14:section name="Appendix" id="{2C93C3C5-77E9-AB4B-9DA9-8C47DDDC5B8D}">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7990"/>
    <a:srgbClr val="6881B4"/>
    <a:srgbClr val="F2CEC2"/>
    <a:srgbClr val="95A28E"/>
    <a:srgbClr val="665E8A"/>
    <a:srgbClr val="544F65"/>
    <a:srgbClr val="E6E5CE"/>
    <a:srgbClr val="C17A90"/>
    <a:srgbClr val="E6E5CF"/>
    <a:srgbClr val="0C0C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45" autoAdjust="0"/>
    <p:restoredTop sz="74659" autoAdjust="0"/>
  </p:normalViewPr>
  <p:slideViewPr>
    <p:cSldViewPr>
      <p:cViewPr varScale="1">
        <p:scale>
          <a:sx n="77" d="100"/>
          <a:sy n="77" d="100"/>
        </p:scale>
        <p:origin x="2704" y="184"/>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90" d="100"/>
        <a:sy n="90" d="100"/>
      </p:scale>
      <p:origin x="0" y="-7200"/>
    </p:cViewPr>
  </p:sorterViewPr>
  <p:notesViewPr>
    <p:cSldViewPr>
      <p:cViewPr varScale="1">
        <p:scale>
          <a:sx n="84" d="100"/>
          <a:sy n="84" d="100"/>
        </p:scale>
        <p:origin x="3960" y="200"/>
      </p:cViewPr>
      <p:guideLst/>
    </p:cSldViewPr>
  </p:notesViewPr>
  <p:gridSpacing cx="76200" cy="76200"/>
</p:viewPr>
</file>

<file path=ppt/_rels/presentation.xml.rels><?xml version="1.0" encoding="UTF-8" standalone="yes"?>
<Relationships xmlns="http://schemas.openxmlformats.org/package/2006/relationships"><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notesMaster" Target="notesMasters/notesMaster1.xml"/><Relationship Id="rId107" Type="http://schemas.openxmlformats.org/officeDocument/2006/relationships/handoutMaster" Target="handoutMasters/handout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8" Type="http://schemas.openxmlformats.org/officeDocument/2006/relationships/presProps" Target="presProps.xml"/><Relationship Id="rId109" Type="http://schemas.openxmlformats.org/officeDocument/2006/relationships/viewProps" Target="view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10" Type="http://schemas.openxmlformats.org/officeDocument/2006/relationships/theme" Target="theme/theme1.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11"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00" Type="http://schemas.openxmlformats.org/officeDocument/2006/relationships/slide" Target="slides/slide99.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4" Type="http://schemas.openxmlformats.org/officeDocument/2006/relationships/chartUserShapes" Target="../drawings/drawing1.xml"/><Relationship Id="rId1" Type="http://schemas.microsoft.com/office/2011/relationships/chartStyle" Target="style1.xml"/><Relationship Id="rId2"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1.xml"/><Relationship Id="rId4" Type="http://schemas.openxmlformats.org/officeDocument/2006/relationships/package" Target="../embeddings/Microsoft_Excel_Worksheet13.xlsx"/><Relationship Id="rId1" Type="http://schemas.microsoft.com/office/2011/relationships/chartStyle" Target="style13.xml"/><Relationship Id="rId2" Type="http://schemas.microsoft.com/office/2011/relationships/chartColorStyle" Target="colors13.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2.xml"/><Relationship Id="rId4" Type="http://schemas.openxmlformats.org/officeDocument/2006/relationships/package" Target="../embeddings/Microsoft_Excel_Worksheet14.xlsx"/><Relationship Id="rId1" Type="http://schemas.microsoft.com/office/2011/relationships/chartStyle" Target="style14.xml"/><Relationship Id="rId2" Type="http://schemas.microsoft.com/office/2011/relationships/chartColorStyle" Target="colors14.xm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3.xml"/><Relationship Id="rId4" Type="http://schemas.openxmlformats.org/officeDocument/2006/relationships/package" Target="../embeddings/Microsoft_Excel_Worksheet15.xlsx"/><Relationship Id="rId1" Type="http://schemas.microsoft.com/office/2011/relationships/chartStyle" Target="style15.xml"/><Relationship Id="rId2" Type="http://schemas.microsoft.com/office/2011/relationships/chartColorStyle" Target="colors15.xm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4.xml"/><Relationship Id="rId4" Type="http://schemas.openxmlformats.org/officeDocument/2006/relationships/package" Target="../embeddings/Microsoft_Excel_Worksheet16.xlsx"/><Relationship Id="rId1" Type="http://schemas.microsoft.com/office/2011/relationships/chartStyle" Target="style16.xml"/><Relationship Id="rId2" Type="http://schemas.microsoft.com/office/2011/relationships/chartColorStyle" Target="colors16.xml"/></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package" Target="../embeddings/Microsoft_Excel_Worksheet18.xlsx"/></Relationships>
</file>

<file path=ppt/charts/_rels/chart19.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package" Target="../embeddings/Microsoft_Excel_Worksheet19.xlsx"/></Relationships>
</file>

<file path=ppt/charts/_rels/chart20.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package" Target="../embeddings/Microsoft_Excel_Worksheet20.xlsx"/></Relationships>
</file>

<file path=ppt/charts/_rels/chart21.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package" Target="../embeddings/Microsoft_Excel_Worksheet21.xlsx"/></Relationships>
</file>

<file path=ppt/charts/_rels/chart22.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package" Target="../embeddings/Microsoft_Excel_Worksheet22.xlsx"/></Relationships>
</file>

<file path=ppt/charts/_rels/chart23.xml.rels><?xml version="1.0" encoding="UTF-8" standalone="yes"?>
<Relationships xmlns="http://schemas.openxmlformats.org/package/2006/relationships"><Relationship Id="rId1" Type="http://schemas.microsoft.com/office/2011/relationships/chartStyle" Target="style23.xml"/><Relationship Id="rId2" Type="http://schemas.microsoft.com/office/2011/relationships/chartColorStyle" Target="colors23.xml"/><Relationship Id="rId3" Type="http://schemas.openxmlformats.org/officeDocument/2006/relationships/package" Target="../embeddings/Microsoft_Excel_Worksheet23.xlsx"/></Relationships>
</file>

<file path=ppt/charts/_rels/chart24.xml.rels><?xml version="1.0" encoding="UTF-8" standalone="yes"?>
<Relationships xmlns="http://schemas.openxmlformats.org/package/2006/relationships"><Relationship Id="rId1" Type="http://schemas.microsoft.com/office/2011/relationships/chartStyle" Target="style24.xml"/><Relationship Id="rId2" Type="http://schemas.microsoft.com/office/2011/relationships/chartColorStyle" Target="colors24.xml"/><Relationship Id="rId3" Type="http://schemas.openxmlformats.org/officeDocument/2006/relationships/package" Target="../embeddings/Microsoft_Excel_Worksheet2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1" i="0" u="none" strike="noStrike" kern="1200" cap="none" spc="0" normalizeH="0" baseline="0">
                <a:solidFill>
                  <a:schemeClr val="dk1">
                    <a:lumMod val="50000"/>
                    <a:lumOff val="50000"/>
                  </a:schemeClr>
                </a:solidFill>
                <a:latin typeface="+mj-lt"/>
                <a:ea typeface="+mj-ea"/>
                <a:cs typeface="+mj-cs"/>
              </a:defRPr>
            </a:pPr>
            <a:r>
              <a:rPr lang="en-US" dirty="0">
                <a:latin typeface="Century Gothic" panose="020B0502020202020204" pitchFamily="34" charset="0"/>
              </a:rPr>
              <a:t>TempEval2013, Task C—Relation Only</a:t>
            </a:r>
          </a:p>
        </c:rich>
      </c:tx>
      <c:overlay val="0"/>
      <c:spPr>
        <a:noFill/>
        <a:ln>
          <a:noFill/>
        </a:ln>
        <a:effectLst/>
      </c:spPr>
      <c:txPr>
        <a:bodyPr rot="0" spcFirstLastPara="1" vertOverflow="ellipsis" vert="horz" wrap="square" anchor="ctr" anchorCtr="1"/>
        <a:lstStyle/>
        <a:p>
          <a:pPr>
            <a:defRPr sz="2160"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barChart>
        <c:barDir val="col"/>
        <c:grouping val="clustered"/>
        <c:varyColors val="0"/>
        <c:ser>
          <c:idx val="0"/>
          <c:order val="0"/>
          <c:tx>
            <c:strRef>
              <c:f>Sheet1!$B$1</c:f>
              <c:strCache>
                <c:ptCount val="1"/>
                <c:pt idx="0">
                  <c:v>UTTime</c:v>
                </c:pt>
              </c:strCache>
            </c:strRef>
          </c:tx>
          <c:spPr>
            <a:solidFill>
              <a:srgbClr val="F1CEC3"/>
            </a:solidFill>
            <a:ln>
              <a:noFill/>
            </a:ln>
            <a:effectLst/>
          </c:spPr>
          <c:invertIfNegative val="0"/>
          <c:cat>
            <c:strRef>
              <c:f>Sheet1!$A$2:$A$3</c:f>
              <c:strCache>
                <c:ptCount val="1"/>
                <c:pt idx="0">
                  <c:v>F1</c:v>
                </c:pt>
              </c:strCache>
            </c:strRef>
          </c:cat>
          <c:val>
            <c:numRef>
              <c:f>Sheet1!$B$2:$B$3</c:f>
              <c:numCache>
                <c:formatCode>General</c:formatCode>
                <c:ptCount val="2"/>
                <c:pt idx="0">
                  <c:v>56.5</c:v>
                </c:pt>
              </c:numCache>
            </c:numRef>
          </c:val>
          <c:extLst xmlns:c16r2="http://schemas.microsoft.com/office/drawing/2015/06/chart">
            <c:ext xmlns:c16="http://schemas.microsoft.com/office/drawing/2014/chart" uri="{C3380CC4-5D6E-409C-BE32-E72D297353CC}">
              <c16:uniqueId val="{00000000-1CB5-4344-BBAD-97662DB311E4}"/>
            </c:ext>
          </c:extLst>
        </c:ser>
        <c:ser>
          <c:idx val="1"/>
          <c:order val="1"/>
          <c:tx>
            <c:strRef>
              <c:f>Sheet1!$C$1</c:f>
              <c:strCache>
                <c:ptCount val="1"/>
                <c:pt idx="0">
                  <c:v>Perceptron</c:v>
                </c:pt>
              </c:strCache>
            </c:strRef>
          </c:tx>
          <c:spPr>
            <a:solidFill>
              <a:srgbClr val="7792CB"/>
            </a:solidFill>
            <a:ln>
              <a:noFill/>
            </a:ln>
            <a:effectLst/>
          </c:spPr>
          <c:invertIfNegative val="0"/>
          <c:cat>
            <c:strRef>
              <c:f>Sheet1!$A$2:$A$3</c:f>
              <c:strCache>
                <c:ptCount val="1"/>
                <c:pt idx="0">
                  <c:v>F1</c:v>
                </c:pt>
              </c:strCache>
            </c:strRef>
          </c:cat>
          <c:val>
            <c:numRef>
              <c:f>Sheet1!$C$2:$C$3</c:f>
              <c:numCache>
                <c:formatCode>General</c:formatCode>
                <c:ptCount val="2"/>
                <c:pt idx="0">
                  <c:v>56.6</c:v>
                </c:pt>
              </c:numCache>
            </c:numRef>
          </c:val>
          <c:extLst xmlns:c16r2="http://schemas.microsoft.com/office/drawing/2015/06/chart">
            <c:ext xmlns:c16="http://schemas.microsoft.com/office/drawing/2014/chart" uri="{C3380CC4-5D6E-409C-BE32-E72D297353CC}">
              <c16:uniqueId val="{00000001-1CB5-4344-BBAD-97662DB311E4}"/>
            </c:ext>
          </c:extLst>
        </c:ser>
        <c:ser>
          <c:idx val="2"/>
          <c:order val="2"/>
          <c:tx>
            <c:strRef>
              <c:f>Sheet1!$D$1</c:f>
              <c:strCache>
                <c:ptCount val="1"/>
                <c:pt idx="0">
                  <c:v>Perceptron+ILP</c:v>
                </c:pt>
              </c:strCache>
            </c:strRef>
          </c:tx>
          <c:spPr>
            <a:solidFill>
              <a:srgbClr val="C17A90"/>
            </a:solidFill>
            <a:ln>
              <a:noFill/>
            </a:ln>
            <a:effectLst/>
          </c:spPr>
          <c:invertIfNegative val="0"/>
          <c:cat>
            <c:strRef>
              <c:f>Sheet1!$A$2:$A$3</c:f>
              <c:strCache>
                <c:ptCount val="1"/>
                <c:pt idx="0">
                  <c:v>F1</c:v>
                </c:pt>
              </c:strCache>
            </c:strRef>
          </c:cat>
          <c:val>
            <c:numRef>
              <c:f>Sheet1!$D$2:$D$3</c:f>
              <c:numCache>
                <c:formatCode>General</c:formatCode>
                <c:ptCount val="2"/>
                <c:pt idx="0">
                  <c:v>61.6</c:v>
                </c:pt>
              </c:numCache>
            </c:numRef>
          </c:val>
          <c:extLst xmlns:c16r2="http://schemas.microsoft.com/office/drawing/2015/06/chart">
            <c:ext xmlns:c16="http://schemas.microsoft.com/office/drawing/2014/chart" uri="{C3380CC4-5D6E-409C-BE32-E72D297353CC}">
              <c16:uniqueId val="{00000002-1CB5-4344-BBAD-97662DB311E4}"/>
            </c:ext>
          </c:extLst>
        </c:ser>
        <c:ser>
          <c:idx val="3"/>
          <c:order val="3"/>
          <c:tx>
            <c:strRef>
              <c:f>Sheet1!$E$1</c:f>
              <c:strCache>
                <c:ptCount val="1"/>
                <c:pt idx="0">
                  <c:v>StructuredPerceptron+ILP</c:v>
                </c:pt>
              </c:strCache>
            </c:strRef>
          </c:tx>
          <c:spPr>
            <a:solidFill>
              <a:schemeClr val="accent4"/>
            </a:solidFill>
            <a:ln>
              <a:noFill/>
            </a:ln>
            <a:effectLst/>
          </c:spPr>
          <c:invertIfNegative val="0"/>
          <c:cat>
            <c:strRef>
              <c:f>Sheet1!$A$2:$A$3</c:f>
              <c:strCache>
                <c:ptCount val="1"/>
                <c:pt idx="0">
                  <c:v>F1</c:v>
                </c:pt>
              </c:strCache>
            </c:strRef>
          </c:cat>
          <c:val>
            <c:numRef>
              <c:f>Sheet1!$E$2:$E$3</c:f>
              <c:numCache>
                <c:formatCode>General</c:formatCode>
                <c:ptCount val="2"/>
                <c:pt idx="0">
                  <c:v>0.0</c:v>
                </c:pt>
              </c:numCache>
            </c:numRef>
          </c:val>
          <c:extLst xmlns:c16r2="http://schemas.microsoft.com/office/drawing/2015/06/chart">
            <c:ext xmlns:c16="http://schemas.microsoft.com/office/drawing/2014/chart" uri="{C3380CC4-5D6E-409C-BE32-E72D297353CC}">
              <c16:uniqueId val="{00000003-1CB5-4344-BBAD-97662DB311E4}"/>
            </c:ext>
          </c:extLst>
        </c:ser>
        <c:dLbls>
          <c:showLegendKey val="0"/>
          <c:showVal val="0"/>
          <c:showCatName val="0"/>
          <c:showSerName val="0"/>
          <c:showPercent val="0"/>
          <c:showBubbleSize val="0"/>
        </c:dLbls>
        <c:gapWidth val="267"/>
        <c:overlap val="-43"/>
        <c:axId val="870397024"/>
        <c:axId val="870400288"/>
      </c:barChart>
      <c:catAx>
        <c:axId val="870397024"/>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8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870400288"/>
        <c:crosses val="autoZero"/>
        <c:auto val="1"/>
        <c:lblAlgn val="ctr"/>
        <c:lblOffset val="100"/>
        <c:noMultiLvlLbl val="0"/>
      </c:catAx>
      <c:valAx>
        <c:axId val="870400288"/>
        <c:scaling>
          <c:orientation val="minMax"/>
          <c:max val="70.0"/>
          <c:min val="5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dk1">
                    <a:lumMod val="65000"/>
                    <a:lumOff val="35000"/>
                  </a:schemeClr>
                </a:solidFill>
                <a:latin typeface="+mn-lt"/>
                <a:ea typeface="+mn-ea"/>
                <a:cs typeface="+mn-cs"/>
              </a:defRPr>
            </a:pPr>
            <a:endParaRPr lang="en-US"/>
          </a:p>
        </c:txPr>
        <c:crossAx val="870397024"/>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1800"/>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r>
              <a:rPr lang="en-US" dirty="0">
                <a:latin typeface="Century Gothic" panose="020B0502020202020204" pitchFamily="34" charset="0"/>
              </a:rPr>
              <a:t>TempEval2013, Task C—Relation Only</a:t>
            </a:r>
          </a:p>
        </c:rich>
      </c:tx>
      <c:overlay val="0"/>
      <c:spPr>
        <a:noFill/>
        <a:ln>
          <a:noFill/>
        </a:ln>
        <a:effectLst/>
      </c:spPr>
      <c:txPr>
        <a:bodyPr rot="0" spcFirstLastPara="1" vertOverflow="ellipsis" vert="horz" wrap="square" anchor="ctr" anchorCtr="1"/>
        <a:lstStyle/>
        <a:p>
          <a:pPr>
            <a:defRPr sz="216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endParaRPr lang="en-US"/>
        </a:p>
      </c:txPr>
    </c:title>
    <c:autoTitleDeleted val="0"/>
    <c:plotArea>
      <c:layout/>
      <c:barChart>
        <c:barDir val="col"/>
        <c:grouping val="clustered"/>
        <c:varyColors val="0"/>
        <c:ser>
          <c:idx val="0"/>
          <c:order val="0"/>
          <c:tx>
            <c:strRef>
              <c:f>Sheet1!$B$1</c:f>
              <c:strCache>
                <c:ptCount val="1"/>
                <c:pt idx="0">
                  <c:v>UTTime</c:v>
                </c:pt>
              </c:strCache>
            </c:strRef>
          </c:tx>
          <c:spPr>
            <a:solidFill>
              <a:srgbClr val="F1CEC3"/>
            </a:solidFill>
            <a:ln>
              <a:noFill/>
            </a:ln>
            <a:effectLst/>
          </c:spPr>
          <c:invertIfNegative val="0"/>
          <c:cat>
            <c:strRef>
              <c:f>Sheet1!$A$2:$A$3</c:f>
              <c:strCache>
                <c:ptCount val="1"/>
                <c:pt idx="0">
                  <c:v>F1</c:v>
                </c:pt>
              </c:strCache>
            </c:strRef>
          </c:cat>
          <c:val>
            <c:numRef>
              <c:f>Sheet1!$B$2:$B$3</c:f>
              <c:numCache>
                <c:formatCode>General</c:formatCode>
                <c:ptCount val="2"/>
                <c:pt idx="0">
                  <c:v>56.5</c:v>
                </c:pt>
              </c:numCache>
            </c:numRef>
          </c:val>
          <c:extLst xmlns:c16r2="http://schemas.microsoft.com/office/drawing/2015/06/chart">
            <c:ext xmlns:c16="http://schemas.microsoft.com/office/drawing/2014/chart" uri="{C3380CC4-5D6E-409C-BE32-E72D297353CC}">
              <c16:uniqueId val="{00000000-1CB5-4344-BBAD-97662DB311E4}"/>
            </c:ext>
          </c:extLst>
        </c:ser>
        <c:ser>
          <c:idx val="1"/>
          <c:order val="1"/>
          <c:tx>
            <c:strRef>
              <c:f>Sheet1!$C$1</c:f>
              <c:strCache>
                <c:ptCount val="1"/>
                <c:pt idx="0">
                  <c:v>Perceptron</c:v>
                </c:pt>
              </c:strCache>
            </c:strRef>
          </c:tx>
          <c:spPr>
            <a:solidFill>
              <a:srgbClr val="7792CB"/>
            </a:solidFill>
            <a:ln>
              <a:noFill/>
            </a:ln>
            <a:effectLst/>
          </c:spPr>
          <c:invertIfNegative val="0"/>
          <c:cat>
            <c:strRef>
              <c:f>Sheet1!$A$2:$A$3</c:f>
              <c:strCache>
                <c:ptCount val="1"/>
                <c:pt idx="0">
                  <c:v>F1</c:v>
                </c:pt>
              </c:strCache>
            </c:strRef>
          </c:cat>
          <c:val>
            <c:numRef>
              <c:f>Sheet1!$C$2:$C$3</c:f>
              <c:numCache>
                <c:formatCode>General</c:formatCode>
                <c:ptCount val="2"/>
                <c:pt idx="0">
                  <c:v>56.6</c:v>
                </c:pt>
              </c:numCache>
            </c:numRef>
          </c:val>
          <c:extLst xmlns:c16r2="http://schemas.microsoft.com/office/drawing/2015/06/chart">
            <c:ext xmlns:c16="http://schemas.microsoft.com/office/drawing/2014/chart" uri="{C3380CC4-5D6E-409C-BE32-E72D297353CC}">
              <c16:uniqueId val="{00000001-1CB5-4344-BBAD-97662DB311E4}"/>
            </c:ext>
          </c:extLst>
        </c:ser>
        <c:ser>
          <c:idx val="2"/>
          <c:order val="2"/>
          <c:tx>
            <c:strRef>
              <c:f>Sheet1!$D$1</c:f>
              <c:strCache>
                <c:ptCount val="1"/>
                <c:pt idx="0">
                  <c:v>Perceptron+ILP</c:v>
                </c:pt>
              </c:strCache>
            </c:strRef>
          </c:tx>
          <c:spPr>
            <a:solidFill>
              <a:srgbClr val="C17A90"/>
            </a:solidFill>
            <a:ln>
              <a:noFill/>
            </a:ln>
            <a:effectLst/>
          </c:spPr>
          <c:invertIfNegative val="0"/>
          <c:cat>
            <c:strRef>
              <c:f>Sheet1!$A$2:$A$3</c:f>
              <c:strCache>
                <c:ptCount val="1"/>
                <c:pt idx="0">
                  <c:v>F1</c:v>
                </c:pt>
              </c:strCache>
            </c:strRef>
          </c:cat>
          <c:val>
            <c:numRef>
              <c:f>Sheet1!$D$2:$D$3</c:f>
              <c:numCache>
                <c:formatCode>General</c:formatCode>
                <c:ptCount val="2"/>
                <c:pt idx="0">
                  <c:v>61.6</c:v>
                </c:pt>
              </c:numCache>
            </c:numRef>
          </c:val>
          <c:extLst xmlns:c16r2="http://schemas.microsoft.com/office/drawing/2015/06/chart">
            <c:ext xmlns:c16="http://schemas.microsoft.com/office/drawing/2014/chart" uri="{C3380CC4-5D6E-409C-BE32-E72D297353CC}">
              <c16:uniqueId val="{00000002-1CB5-4344-BBAD-97662DB311E4}"/>
            </c:ext>
          </c:extLst>
        </c:ser>
        <c:ser>
          <c:idx val="3"/>
          <c:order val="3"/>
          <c:tx>
            <c:strRef>
              <c:f>Sheet1!$E$1</c:f>
              <c:strCache>
                <c:ptCount val="1"/>
                <c:pt idx="0">
                  <c:v>StructuredPerceptron+ILP</c:v>
                </c:pt>
              </c:strCache>
            </c:strRef>
          </c:tx>
          <c:spPr>
            <a:solidFill>
              <a:srgbClr val="757D78"/>
            </a:solidFill>
            <a:ln>
              <a:noFill/>
            </a:ln>
            <a:effectLst/>
          </c:spPr>
          <c:invertIfNegative val="0"/>
          <c:cat>
            <c:strRef>
              <c:f>Sheet1!$A$2:$A$3</c:f>
              <c:strCache>
                <c:ptCount val="1"/>
                <c:pt idx="0">
                  <c:v>F1</c:v>
                </c:pt>
              </c:strCache>
            </c:strRef>
          </c:cat>
          <c:val>
            <c:numRef>
              <c:f>Sheet1!$E$2:$E$3</c:f>
              <c:numCache>
                <c:formatCode>General</c:formatCode>
                <c:ptCount val="2"/>
                <c:pt idx="0">
                  <c:v>0.0</c:v>
                </c:pt>
              </c:numCache>
            </c:numRef>
          </c:val>
          <c:extLst xmlns:c16r2="http://schemas.microsoft.com/office/drawing/2015/06/chart">
            <c:ext xmlns:c16="http://schemas.microsoft.com/office/drawing/2014/chart" uri="{C3380CC4-5D6E-409C-BE32-E72D297353CC}">
              <c16:uniqueId val="{00000003-1CB5-4344-BBAD-97662DB311E4}"/>
            </c:ext>
          </c:extLst>
        </c:ser>
        <c:dLbls>
          <c:showLegendKey val="0"/>
          <c:showVal val="0"/>
          <c:showCatName val="0"/>
          <c:showSerName val="0"/>
          <c:showPercent val="0"/>
          <c:showBubbleSize val="0"/>
        </c:dLbls>
        <c:gapWidth val="267"/>
        <c:overlap val="-43"/>
        <c:axId val="869980032"/>
        <c:axId val="869982752"/>
      </c:barChart>
      <c:catAx>
        <c:axId val="869980032"/>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8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869982752"/>
        <c:crosses val="autoZero"/>
        <c:auto val="1"/>
        <c:lblAlgn val="ctr"/>
        <c:lblOffset val="100"/>
        <c:noMultiLvlLbl val="0"/>
      </c:catAx>
      <c:valAx>
        <c:axId val="869982752"/>
        <c:scaling>
          <c:orientation val="minMax"/>
          <c:max val="70.0"/>
          <c:min val="5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dk1">
                    <a:lumMod val="65000"/>
                    <a:lumOff val="35000"/>
                  </a:schemeClr>
                </a:solidFill>
                <a:latin typeface="+mn-lt"/>
                <a:ea typeface="+mn-ea"/>
                <a:cs typeface="+mn-cs"/>
              </a:defRPr>
            </a:pPr>
            <a:endParaRPr lang="en-US"/>
          </a:p>
        </c:txPr>
        <c:crossAx val="869980032"/>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18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r>
              <a:rPr lang="en-US" dirty="0">
                <a:latin typeface="Century Gothic" panose="020B0502020202020204" pitchFamily="34" charset="0"/>
              </a:rPr>
              <a:t>TempEval2013, Task C—Relation Only</a:t>
            </a:r>
          </a:p>
        </c:rich>
      </c:tx>
      <c:overlay val="0"/>
      <c:spPr>
        <a:noFill/>
        <a:ln>
          <a:noFill/>
        </a:ln>
        <a:effectLst/>
      </c:spPr>
      <c:txPr>
        <a:bodyPr rot="0" spcFirstLastPara="1" vertOverflow="ellipsis" vert="horz" wrap="square" anchor="ctr" anchorCtr="1"/>
        <a:lstStyle/>
        <a:p>
          <a:pPr>
            <a:defRPr sz="216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endParaRPr lang="en-US"/>
        </a:p>
      </c:txPr>
    </c:title>
    <c:autoTitleDeleted val="0"/>
    <c:plotArea>
      <c:layout/>
      <c:barChart>
        <c:barDir val="col"/>
        <c:grouping val="clustered"/>
        <c:varyColors val="0"/>
        <c:ser>
          <c:idx val="0"/>
          <c:order val="0"/>
          <c:tx>
            <c:strRef>
              <c:f>Sheet1!$B$1</c:f>
              <c:strCache>
                <c:ptCount val="1"/>
                <c:pt idx="0">
                  <c:v>UTTime</c:v>
                </c:pt>
              </c:strCache>
            </c:strRef>
          </c:tx>
          <c:spPr>
            <a:solidFill>
              <a:srgbClr val="F1CEC3"/>
            </a:solidFill>
            <a:ln>
              <a:noFill/>
            </a:ln>
            <a:effectLst/>
          </c:spPr>
          <c:invertIfNegative val="0"/>
          <c:cat>
            <c:strRef>
              <c:f>Sheet1!$A$2:$A$3</c:f>
              <c:strCache>
                <c:ptCount val="1"/>
                <c:pt idx="0">
                  <c:v>F1</c:v>
                </c:pt>
              </c:strCache>
            </c:strRef>
          </c:cat>
          <c:val>
            <c:numRef>
              <c:f>Sheet1!$B$2:$B$3</c:f>
              <c:numCache>
                <c:formatCode>General</c:formatCode>
                <c:ptCount val="2"/>
                <c:pt idx="0">
                  <c:v>56.5</c:v>
                </c:pt>
              </c:numCache>
            </c:numRef>
          </c:val>
          <c:extLst xmlns:c16r2="http://schemas.microsoft.com/office/drawing/2015/06/chart">
            <c:ext xmlns:c16="http://schemas.microsoft.com/office/drawing/2014/chart" uri="{C3380CC4-5D6E-409C-BE32-E72D297353CC}">
              <c16:uniqueId val="{00000000-1CB5-4344-BBAD-97662DB311E4}"/>
            </c:ext>
          </c:extLst>
        </c:ser>
        <c:ser>
          <c:idx val="1"/>
          <c:order val="1"/>
          <c:tx>
            <c:strRef>
              <c:f>Sheet1!$C$1</c:f>
              <c:strCache>
                <c:ptCount val="1"/>
                <c:pt idx="0">
                  <c:v>Perceptron</c:v>
                </c:pt>
              </c:strCache>
            </c:strRef>
          </c:tx>
          <c:spPr>
            <a:solidFill>
              <a:srgbClr val="7792CB"/>
            </a:solidFill>
            <a:ln>
              <a:noFill/>
            </a:ln>
            <a:effectLst/>
          </c:spPr>
          <c:invertIfNegative val="0"/>
          <c:cat>
            <c:strRef>
              <c:f>Sheet1!$A$2:$A$3</c:f>
              <c:strCache>
                <c:ptCount val="1"/>
                <c:pt idx="0">
                  <c:v>F1</c:v>
                </c:pt>
              </c:strCache>
            </c:strRef>
          </c:cat>
          <c:val>
            <c:numRef>
              <c:f>Sheet1!$C$2:$C$3</c:f>
              <c:numCache>
                <c:formatCode>General</c:formatCode>
                <c:ptCount val="2"/>
                <c:pt idx="0">
                  <c:v>56.6</c:v>
                </c:pt>
              </c:numCache>
            </c:numRef>
          </c:val>
          <c:extLst xmlns:c16r2="http://schemas.microsoft.com/office/drawing/2015/06/chart">
            <c:ext xmlns:c16="http://schemas.microsoft.com/office/drawing/2014/chart" uri="{C3380CC4-5D6E-409C-BE32-E72D297353CC}">
              <c16:uniqueId val="{00000001-1CB5-4344-BBAD-97662DB311E4}"/>
            </c:ext>
          </c:extLst>
        </c:ser>
        <c:ser>
          <c:idx val="2"/>
          <c:order val="2"/>
          <c:tx>
            <c:strRef>
              <c:f>Sheet1!$D$1</c:f>
              <c:strCache>
                <c:ptCount val="1"/>
                <c:pt idx="0">
                  <c:v>Perceptron+ILP</c:v>
                </c:pt>
              </c:strCache>
            </c:strRef>
          </c:tx>
          <c:spPr>
            <a:solidFill>
              <a:srgbClr val="C17A90"/>
            </a:solidFill>
            <a:ln>
              <a:noFill/>
            </a:ln>
            <a:effectLst/>
          </c:spPr>
          <c:invertIfNegative val="0"/>
          <c:cat>
            <c:strRef>
              <c:f>Sheet1!$A$2:$A$3</c:f>
              <c:strCache>
                <c:ptCount val="1"/>
                <c:pt idx="0">
                  <c:v>F1</c:v>
                </c:pt>
              </c:strCache>
            </c:strRef>
          </c:cat>
          <c:val>
            <c:numRef>
              <c:f>Sheet1!$D$2:$D$3</c:f>
              <c:numCache>
                <c:formatCode>General</c:formatCode>
                <c:ptCount val="2"/>
                <c:pt idx="0">
                  <c:v>61.6</c:v>
                </c:pt>
              </c:numCache>
            </c:numRef>
          </c:val>
          <c:extLst xmlns:c16r2="http://schemas.microsoft.com/office/drawing/2015/06/chart">
            <c:ext xmlns:c16="http://schemas.microsoft.com/office/drawing/2014/chart" uri="{C3380CC4-5D6E-409C-BE32-E72D297353CC}">
              <c16:uniqueId val="{00000002-1CB5-4344-BBAD-97662DB311E4}"/>
            </c:ext>
          </c:extLst>
        </c:ser>
        <c:ser>
          <c:idx val="3"/>
          <c:order val="3"/>
          <c:tx>
            <c:strRef>
              <c:f>Sheet1!$E$1</c:f>
              <c:strCache>
                <c:ptCount val="1"/>
                <c:pt idx="0">
                  <c:v>StructuredPerceptron+ILP</c:v>
                </c:pt>
              </c:strCache>
            </c:strRef>
          </c:tx>
          <c:spPr>
            <a:solidFill>
              <a:srgbClr val="757D78"/>
            </a:solidFill>
            <a:ln>
              <a:noFill/>
            </a:ln>
            <a:effectLst/>
          </c:spPr>
          <c:invertIfNegative val="0"/>
          <c:cat>
            <c:strRef>
              <c:f>Sheet1!$A$2:$A$3</c:f>
              <c:strCache>
                <c:ptCount val="1"/>
                <c:pt idx="0">
                  <c:v>F1</c:v>
                </c:pt>
              </c:strCache>
            </c:strRef>
          </c:cat>
          <c:val>
            <c:numRef>
              <c:f>Sheet1!$E$2:$E$3</c:f>
              <c:numCache>
                <c:formatCode>General</c:formatCode>
                <c:ptCount val="2"/>
                <c:pt idx="0">
                  <c:v>67.2</c:v>
                </c:pt>
              </c:numCache>
            </c:numRef>
          </c:val>
          <c:extLst xmlns:c16r2="http://schemas.microsoft.com/office/drawing/2015/06/chart">
            <c:ext xmlns:c16="http://schemas.microsoft.com/office/drawing/2014/chart" uri="{C3380CC4-5D6E-409C-BE32-E72D297353CC}">
              <c16:uniqueId val="{00000003-1CB5-4344-BBAD-97662DB311E4}"/>
            </c:ext>
          </c:extLst>
        </c:ser>
        <c:dLbls>
          <c:showLegendKey val="0"/>
          <c:showVal val="0"/>
          <c:showCatName val="0"/>
          <c:showSerName val="0"/>
          <c:showPercent val="0"/>
          <c:showBubbleSize val="0"/>
        </c:dLbls>
        <c:gapWidth val="267"/>
        <c:overlap val="-43"/>
        <c:axId val="870001472"/>
        <c:axId val="870004192"/>
      </c:barChart>
      <c:catAx>
        <c:axId val="870001472"/>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8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870004192"/>
        <c:crosses val="autoZero"/>
        <c:auto val="1"/>
        <c:lblAlgn val="ctr"/>
        <c:lblOffset val="100"/>
        <c:noMultiLvlLbl val="0"/>
      </c:catAx>
      <c:valAx>
        <c:axId val="870004192"/>
        <c:scaling>
          <c:orientation val="minMax"/>
          <c:max val="70.0"/>
          <c:min val="5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dk1">
                    <a:lumMod val="65000"/>
                    <a:lumOff val="35000"/>
                  </a:schemeClr>
                </a:solidFill>
                <a:latin typeface="+mn-lt"/>
                <a:ea typeface="+mn-ea"/>
                <a:cs typeface="+mn-cs"/>
              </a:defRPr>
            </a:pPr>
            <a:endParaRPr lang="en-US"/>
          </a:p>
        </c:txPr>
        <c:crossAx val="870001472"/>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18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r>
              <a:rPr lang="en-US" sz="2400" b="1" i="0" baseline="0" dirty="0">
                <a:effectLst/>
              </a:rPr>
              <a:t>TempEval2013, Task C</a:t>
            </a:r>
            <a:endParaRPr lang="en-US" sz="2400" dirty="0">
              <a:effectLst/>
            </a:endParaRPr>
          </a:p>
        </c:rich>
      </c:tx>
      <c:overlay val="0"/>
      <c:spPr>
        <a:noFill/>
        <a:ln>
          <a:noFill/>
        </a:ln>
        <a:effectLst/>
      </c:spPr>
      <c:txPr>
        <a:bodyPr rot="0" spcFirstLastPara="1" vertOverflow="ellipsis" vert="horz" wrap="square" anchor="ctr" anchorCtr="1"/>
        <a:lstStyle/>
        <a:p>
          <a:pPr>
            <a:defRPr sz="240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endParaRPr lang="en-US"/>
        </a:p>
      </c:txPr>
    </c:title>
    <c:autoTitleDeleted val="0"/>
    <c:plotArea>
      <c:layout/>
      <c:barChart>
        <c:barDir val="col"/>
        <c:grouping val="clustered"/>
        <c:varyColors val="0"/>
        <c:ser>
          <c:idx val="0"/>
          <c:order val="0"/>
          <c:tx>
            <c:strRef>
              <c:f>Sheet1!$B$1</c:f>
              <c:strCache>
                <c:ptCount val="1"/>
                <c:pt idx="0">
                  <c:v>CAEVO</c:v>
                </c:pt>
              </c:strCache>
            </c:strRef>
          </c:tx>
          <c:spPr>
            <a:solidFill>
              <a:srgbClr val="F1CEC3"/>
            </a:solidFill>
            <a:ln>
              <a:noFill/>
            </a:ln>
            <a:effectLst/>
          </c:spPr>
          <c:invertIfNegative val="0"/>
          <c:cat>
            <c:strRef>
              <c:f>Sheet1!$A$2</c:f>
              <c:strCache>
                <c:ptCount val="1"/>
                <c:pt idx="0">
                  <c:v>F1</c:v>
                </c:pt>
              </c:strCache>
            </c:strRef>
          </c:cat>
          <c:val>
            <c:numRef>
              <c:f>Sheet1!$B$2</c:f>
              <c:numCache>
                <c:formatCode>General</c:formatCode>
                <c:ptCount val="1"/>
                <c:pt idx="0">
                  <c:v>47.6</c:v>
                </c:pt>
              </c:numCache>
            </c:numRef>
          </c:val>
          <c:extLst xmlns:c16r2="http://schemas.microsoft.com/office/drawing/2015/06/chart">
            <c:ext xmlns:c16="http://schemas.microsoft.com/office/drawing/2014/chart" uri="{C3380CC4-5D6E-409C-BE32-E72D297353CC}">
              <c16:uniqueId val="{00000000-F82A-6D40-9B32-4726FDC8890B}"/>
            </c:ext>
          </c:extLst>
        </c:ser>
        <c:ser>
          <c:idx val="1"/>
          <c:order val="1"/>
          <c:tx>
            <c:strRef>
              <c:f>Sheet1!$C$1</c:f>
              <c:strCache>
                <c:ptCount val="1"/>
                <c:pt idx="0">
                  <c:v>EMNLP'17</c:v>
                </c:pt>
              </c:strCache>
            </c:strRef>
          </c:tx>
          <c:spPr>
            <a:solidFill>
              <a:srgbClr val="7792CB"/>
            </a:solidFill>
            <a:ln>
              <a:noFill/>
            </a:ln>
            <a:effectLst/>
          </c:spPr>
          <c:invertIfNegative val="0"/>
          <c:cat>
            <c:strRef>
              <c:f>Sheet1!$A$2</c:f>
              <c:strCache>
                <c:ptCount val="1"/>
                <c:pt idx="0">
                  <c:v>F1</c:v>
                </c:pt>
              </c:strCache>
            </c:strRef>
          </c:cat>
          <c:val>
            <c:numRef>
              <c:f>Sheet1!$C$2</c:f>
              <c:numCache>
                <c:formatCode>General</c:formatCode>
                <c:ptCount val="1"/>
                <c:pt idx="0">
                  <c:v>51.5</c:v>
                </c:pt>
              </c:numCache>
            </c:numRef>
          </c:val>
          <c:extLst xmlns:c16r2="http://schemas.microsoft.com/office/drawing/2015/06/chart">
            <c:ext xmlns:c16="http://schemas.microsoft.com/office/drawing/2014/chart" uri="{C3380CC4-5D6E-409C-BE32-E72D297353CC}">
              <c16:uniqueId val="{00000001-F82A-6D40-9B32-4726FDC8890B}"/>
            </c:ext>
          </c:extLst>
        </c:ser>
        <c:ser>
          <c:idx val="2"/>
          <c:order val="2"/>
          <c:tx>
            <c:strRef>
              <c:f>Sheet1!$D$1</c:f>
              <c:strCache>
                <c:ptCount val="1"/>
                <c:pt idx="0">
                  <c:v>EMNLP'17+TemProb</c:v>
                </c:pt>
              </c:strCache>
            </c:strRef>
          </c:tx>
          <c:spPr>
            <a:solidFill>
              <a:srgbClr val="CD95A6"/>
            </a:solidFill>
            <a:ln>
              <a:noFill/>
            </a:ln>
            <a:effectLst/>
          </c:spPr>
          <c:invertIfNegative val="0"/>
          <c:cat>
            <c:strRef>
              <c:f>Sheet1!$A$2</c:f>
              <c:strCache>
                <c:ptCount val="1"/>
                <c:pt idx="0">
                  <c:v>F1</c:v>
                </c:pt>
              </c:strCache>
            </c:strRef>
          </c:cat>
          <c:val>
            <c:numRef>
              <c:f>Sheet1!$D$2</c:f>
              <c:numCache>
                <c:formatCode>General</c:formatCode>
                <c:ptCount val="1"/>
                <c:pt idx="0">
                  <c:v>0.0</c:v>
                </c:pt>
              </c:numCache>
            </c:numRef>
          </c:val>
          <c:extLst xmlns:c16r2="http://schemas.microsoft.com/office/drawing/2015/06/chart">
            <c:ext xmlns:c16="http://schemas.microsoft.com/office/drawing/2014/chart" uri="{C3380CC4-5D6E-409C-BE32-E72D297353CC}">
              <c16:uniqueId val="{00000002-F82A-6D40-9B32-4726FDC8890B}"/>
            </c:ext>
          </c:extLst>
        </c:ser>
        <c:dLbls>
          <c:showLegendKey val="0"/>
          <c:showVal val="0"/>
          <c:showCatName val="0"/>
          <c:showSerName val="0"/>
          <c:showPercent val="0"/>
          <c:showBubbleSize val="0"/>
        </c:dLbls>
        <c:gapWidth val="267"/>
        <c:overlap val="-43"/>
        <c:axId val="870545856"/>
        <c:axId val="870548608"/>
      </c:barChart>
      <c:catAx>
        <c:axId val="870545856"/>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0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870548608"/>
        <c:crosses val="autoZero"/>
        <c:auto val="1"/>
        <c:lblAlgn val="ctr"/>
        <c:lblOffset val="100"/>
        <c:noMultiLvlLbl val="0"/>
      </c:catAx>
      <c:valAx>
        <c:axId val="870548608"/>
        <c:scaling>
          <c:orientation val="minMax"/>
          <c:max val="60.0"/>
          <c:min val="40.0"/>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crossAx val="870545856"/>
        <c:crosses val="autoZero"/>
        <c:crossBetween val="between"/>
        <c:majorUnit val="10.0"/>
        <c:minorUnit val="1.0"/>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0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dirty="0"/>
              <a:t>After “bomb”</a:t>
            </a:r>
          </a:p>
        </c:rich>
      </c:tx>
      <c:layout>
        <c:manualLayout>
          <c:xMode val="edge"/>
          <c:yMode val="edge"/>
          <c:x val="0.336582567688589"/>
          <c:y val="0.0277777777777778"/>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After "bomb"</c:v>
                </c:pt>
              </c:strCache>
            </c:strRef>
          </c:tx>
          <c:spPr>
            <a:solidFill>
              <a:srgbClr val="C27990"/>
            </a:solidFill>
            <a:ln>
              <a:noFill/>
            </a:ln>
            <a:effectLst/>
          </c:spPr>
          <c:invertIfNegative val="0"/>
          <c:cat>
            <c:strRef>
              <c:f>Sheet1!$A$2:$A$8</c:f>
              <c:strCache>
                <c:ptCount val="7"/>
                <c:pt idx="0">
                  <c:v>kill</c:v>
                </c:pt>
                <c:pt idx="1">
                  <c:v>destroy</c:v>
                </c:pt>
                <c:pt idx="2">
                  <c:v>suspect</c:v>
                </c:pt>
                <c:pt idx="3">
                  <c:v>strafe</c:v>
                </c:pt>
                <c:pt idx="4">
                  <c:v>include</c:v>
                </c:pt>
                <c:pt idx="5">
                  <c:v>shell</c:v>
                </c:pt>
                <c:pt idx="6">
                  <c:v>wound</c:v>
                </c:pt>
              </c:strCache>
            </c:strRef>
          </c:cat>
          <c:val>
            <c:numRef>
              <c:f>Sheet1!$B$2:$B$8</c:f>
              <c:numCache>
                <c:formatCode>General</c:formatCode>
                <c:ptCount val="7"/>
                <c:pt idx="0">
                  <c:v>27.05184686635042</c:v>
                </c:pt>
                <c:pt idx="1">
                  <c:v>8.826471039726724</c:v>
                </c:pt>
                <c:pt idx="2">
                  <c:v>6.473748318289405</c:v>
                </c:pt>
                <c:pt idx="3">
                  <c:v>6.473748318289405</c:v>
                </c:pt>
                <c:pt idx="4">
                  <c:v>5.572006814919987</c:v>
                </c:pt>
                <c:pt idx="5">
                  <c:v>4.991593906910217</c:v>
                </c:pt>
                <c:pt idx="6">
                  <c:v>4.700906107583276</c:v>
                </c:pt>
              </c:numCache>
            </c:numRef>
          </c:val>
          <c:extLst xmlns:c16r2="http://schemas.microsoft.com/office/drawing/2015/06/chart">
            <c:ext xmlns:c16="http://schemas.microsoft.com/office/drawing/2014/chart" uri="{C3380CC4-5D6E-409C-BE32-E72D297353CC}">
              <c16:uniqueId val="{00000000-9E49-4D1F-8FD4-3F88F59617CF}"/>
            </c:ext>
          </c:extLst>
        </c:ser>
        <c:dLbls>
          <c:showLegendKey val="0"/>
          <c:showVal val="0"/>
          <c:showCatName val="0"/>
          <c:showSerName val="0"/>
          <c:showPercent val="0"/>
          <c:showBubbleSize val="0"/>
        </c:dLbls>
        <c:gapWidth val="15"/>
        <c:overlap val="-19"/>
        <c:axId val="870639968"/>
        <c:axId val="870642720"/>
      </c:barChart>
      <c:catAx>
        <c:axId val="870639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642720"/>
        <c:crosses val="autoZero"/>
        <c:auto val="1"/>
        <c:lblAlgn val="ctr"/>
        <c:lblOffset val="100"/>
        <c:noMultiLvlLbl val="0"/>
      </c:catAx>
      <c:valAx>
        <c:axId val="870642720"/>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639968"/>
        <c:crosses val="autoZero"/>
        <c:crossBetween val="between"/>
        <c:majorUnit val="10.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a:t>Before “bomb”</a:t>
            </a:r>
          </a:p>
        </c:rich>
      </c:tx>
      <c:layout>
        <c:manualLayout>
          <c:xMode val="edge"/>
          <c:yMode val="edge"/>
          <c:x val="0.294747374630347"/>
          <c:y val="0.0272520590146557"/>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bomb</c:v>
                </c:pt>
              </c:strCache>
            </c:strRef>
          </c:tx>
          <c:spPr>
            <a:solidFill>
              <a:srgbClr val="C27990"/>
            </a:solidFill>
            <a:ln>
              <a:noFill/>
            </a:ln>
            <a:effectLst/>
          </c:spPr>
          <c:invertIfNegative val="0"/>
          <c:cat>
            <c:strRef>
              <c:f>Sheet1!$A$2:$A$8</c:f>
              <c:strCache>
                <c:ptCount val="7"/>
                <c:pt idx="0">
                  <c:v>report</c:v>
                </c:pt>
                <c:pt idx="1">
                  <c:v>fire</c:v>
                </c:pt>
                <c:pt idx="2">
                  <c:v>come</c:v>
                </c:pt>
                <c:pt idx="3">
                  <c:v>continue</c:v>
                </c:pt>
                <c:pt idx="4">
                  <c:v>lead</c:v>
                </c:pt>
                <c:pt idx="5">
                  <c:v>describe</c:v>
                </c:pt>
                <c:pt idx="6">
                  <c:v>refuse</c:v>
                </c:pt>
              </c:strCache>
            </c:strRef>
          </c:cat>
          <c:val>
            <c:numRef>
              <c:f>Sheet1!$B$2:$B$8</c:f>
              <c:numCache>
                <c:formatCode>General</c:formatCode>
                <c:ptCount val="7"/>
                <c:pt idx="0">
                  <c:v>6.158019887168881</c:v>
                </c:pt>
                <c:pt idx="1">
                  <c:v>6.158019887168881</c:v>
                </c:pt>
                <c:pt idx="2">
                  <c:v>4.211232157997035</c:v>
                </c:pt>
                <c:pt idx="3">
                  <c:v>3.447865276103125</c:v>
                </c:pt>
                <c:pt idx="4">
                  <c:v>2.311173210602129</c:v>
                </c:pt>
                <c:pt idx="5">
                  <c:v>2.311173210602129</c:v>
                </c:pt>
                <c:pt idx="6">
                  <c:v>1.911245796632637</c:v>
                </c:pt>
              </c:numCache>
            </c:numRef>
          </c:val>
          <c:extLst xmlns:c16r2="http://schemas.microsoft.com/office/drawing/2015/06/chart">
            <c:ext xmlns:c16="http://schemas.microsoft.com/office/drawing/2014/chart" uri="{C3380CC4-5D6E-409C-BE32-E72D297353CC}">
              <c16:uniqueId val="{00000000-19E8-4631-B497-C09F863AC72B}"/>
            </c:ext>
          </c:extLst>
        </c:ser>
        <c:dLbls>
          <c:showLegendKey val="0"/>
          <c:showVal val="0"/>
          <c:showCatName val="0"/>
          <c:showSerName val="0"/>
          <c:showPercent val="0"/>
          <c:showBubbleSize val="0"/>
        </c:dLbls>
        <c:gapWidth val="15"/>
        <c:overlap val="-19"/>
        <c:axId val="869184736"/>
        <c:axId val="869187488"/>
      </c:barChart>
      <c:catAx>
        <c:axId val="8691847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69187488"/>
        <c:crosses val="autoZero"/>
        <c:auto val="1"/>
        <c:lblAlgn val="ctr"/>
        <c:lblOffset val="100"/>
        <c:noMultiLvlLbl val="0"/>
      </c:catAx>
      <c:valAx>
        <c:axId val="869187488"/>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69184736"/>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a:t>After “investigate”</a:t>
            </a:r>
          </a:p>
        </c:rich>
      </c:tx>
      <c:layout>
        <c:manualLayout>
          <c:xMode val="edge"/>
          <c:yMode val="edge"/>
          <c:x val="0.277701576424971"/>
          <c:y val="0.0269156184764065"/>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Investigate</c:v>
                </c:pt>
              </c:strCache>
            </c:strRef>
          </c:tx>
          <c:spPr>
            <a:solidFill>
              <a:srgbClr val="95A28E"/>
            </a:solidFill>
            <a:ln>
              <a:noFill/>
            </a:ln>
            <a:effectLst/>
          </c:spPr>
          <c:invertIfNegative val="0"/>
          <c:cat>
            <c:strRef>
              <c:f>Sheet1!$A$2:$A$8</c:f>
              <c:strCache>
                <c:ptCount val="7"/>
                <c:pt idx="0">
                  <c:v>report</c:v>
                </c:pt>
                <c:pt idx="1">
                  <c:v>prosecute</c:v>
                </c:pt>
                <c:pt idx="2">
                  <c:v>violate</c:v>
                </c:pt>
                <c:pt idx="3">
                  <c:v>occur</c:v>
                </c:pt>
                <c:pt idx="4">
                  <c:v>pay</c:v>
                </c:pt>
                <c:pt idx="5">
                  <c:v>tell</c:v>
                </c:pt>
                <c:pt idx="6">
                  <c:v>punish</c:v>
                </c:pt>
              </c:strCache>
            </c:strRef>
          </c:cat>
          <c:val>
            <c:numRef>
              <c:f>Sheet1!$B$2:$B$8</c:f>
              <c:numCache>
                <c:formatCode>General</c:formatCode>
                <c:ptCount val="7"/>
                <c:pt idx="0">
                  <c:v>7.673365287895486</c:v>
                </c:pt>
                <c:pt idx="1">
                  <c:v>7.083408929052118</c:v>
                </c:pt>
                <c:pt idx="2">
                  <c:v>4.892753725239476</c:v>
                </c:pt>
                <c:pt idx="3">
                  <c:v>4.47164021134834</c:v>
                </c:pt>
                <c:pt idx="4">
                  <c:v>3.848776397610543</c:v>
                </c:pt>
                <c:pt idx="5">
                  <c:v>2.997430072325831</c:v>
                </c:pt>
                <c:pt idx="6">
                  <c:v>2.997430072325831</c:v>
                </c:pt>
              </c:numCache>
            </c:numRef>
          </c:val>
          <c:extLst xmlns:c16r2="http://schemas.microsoft.com/office/drawing/2015/06/chart">
            <c:ext xmlns:c16="http://schemas.microsoft.com/office/drawing/2014/chart" uri="{C3380CC4-5D6E-409C-BE32-E72D297353CC}">
              <c16:uniqueId val="{00000000-BA6E-48EE-8EC5-3953232382E0}"/>
            </c:ext>
          </c:extLst>
        </c:ser>
        <c:dLbls>
          <c:showLegendKey val="0"/>
          <c:showVal val="0"/>
          <c:showCatName val="0"/>
          <c:showSerName val="0"/>
          <c:showPercent val="0"/>
          <c:showBubbleSize val="0"/>
        </c:dLbls>
        <c:gapWidth val="15"/>
        <c:overlap val="-19"/>
        <c:axId val="870030928"/>
        <c:axId val="870033680"/>
      </c:barChart>
      <c:catAx>
        <c:axId val="870030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033680"/>
        <c:crosses val="autoZero"/>
        <c:auto val="1"/>
        <c:lblAlgn val="ctr"/>
        <c:lblOffset val="100"/>
        <c:noMultiLvlLbl val="0"/>
      </c:catAx>
      <c:valAx>
        <c:axId val="870033680"/>
        <c:scaling>
          <c:orientation val="minMax"/>
          <c:max val="8.0"/>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030928"/>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dirty="0"/>
              <a:t>Before “investigate”</a:t>
            </a:r>
          </a:p>
        </c:rich>
      </c:tx>
      <c:layout>
        <c:manualLayout>
          <c:xMode val="edge"/>
          <c:yMode val="edge"/>
          <c:x val="0.244126046359472"/>
          <c:y val="0.0272520590146557"/>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Investigate</c:v>
                </c:pt>
              </c:strCache>
            </c:strRef>
          </c:tx>
          <c:spPr>
            <a:solidFill>
              <a:srgbClr val="95A28E"/>
            </a:solidFill>
            <a:ln>
              <a:noFill/>
            </a:ln>
            <a:effectLst/>
          </c:spPr>
          <c:invertIfNegative val="0"/>
          <c:cat>
            <c:strRef>
              <c:f>Sheet1!$A$2:$A$8</c:f>
              <c:strCache>
                <c:ptCount val="7"/>
                <c:pt idx="0">
                  <c:v>involve</c:v>
                </c:pt>
                <c:pt idx="1">
                  <c:v>kill</c:v>
                </c:pt>
                <c:pt idx="2">
                  <c:v>suspect</c:v>
                </c:pt>
                <c:pt idx="3">
                  <c:v>know</c:v>
                </c:pt>
                <c:pt idx="4">
                  <c:v>link</c:v>
                </c:pt>
                <c:pt idx="5">
                  <c:v>raise</c:v>
                </c:pt>
                <c:pt idx="6">
                  <c:v>steal</c:v>
                </c:pt>
              </c:strCache>
            </c:strRef>
          </c:cat>
          <c:val>
            <c:numRef>
              <c:f>Sheet1!$B$2:$B$8</c:f>
              <c:numCache>
                <c:formatCode>General</c:formatCode>
                <c:ptCount val="7"/>
                <c:pt idx="0">
                  <c:v>7.52142247499327</c:v>
                </c:pt>
                <c:pt idx="1">
                  <c:v>5.684568819219575</c:v>
                </c:pt>
                <c:pt idx="2">
                  <c:v>5.46167368764078</c:v>
                </c:pt>
                <c:pt idx="3">
                  <c:v>3.027554745375815</c:v>
                </c:pt>
                <c:pt idx="4">
                  <c:v>1.89222858320994</c:v>
                </c:pt>
                <c:pt idx="5">
                  <c:v>1.564795710394166</c:v>
                </c:pt>
                <c:pt idx="6">
                  <c:v>1.387849294835929</c:v>
                </c:pt>
              </c:numCache>
            </c:numRef>
          </c:val>
          <c:extLst xmlns:c16r2="http://schemas.microsoft.com/office/drawing/2015/06/chart">
            <c:ext xmlns:c16="http://schemas.microsoft.com/office/drawing/2014/chart" uri="{C3380CC4-5D6E-409C-BE32-E72D297353CC}">
              <c16:uniqueId val="{00000000-BF8E-4B3C-A255-8AB206E08EB4}"/>
            </c:ext>
          </c:extLst>
        </c:ser>
        <c:dLbls>
          <c:showLegendKey val="0"/>
          <c:showVal val="0"/>
          <c:showCatName val="0"/>
          <c:showSerName val="0"/>
          <c:showPercent val="0"/>
          <c:showBubbleSize val="0"/>
        </c:dLbls>
        <c:gapWidth val="15"/>
        <c:overlap val="-19"/>
        <c:axId val="869209248"/>
        <c:axId val="869212000"/>
      </c:barChart>
      <c:catAx>
        <c:axId val="869209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69212000"/>
        <c:crosses val="autoZero"/>
        <c:auto val="1"/>
        <c:lblAlgn val="ctr"/>
        <c:lblOffset val="100"/>
        <c:noMultiLvlLbl val="0"/>
      </c:catAx>
      <c:valAx>
        <c:axId val="869212000"/>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69209248"/>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a:t>After “grant”</a:t>
            </a:r>
          </a:p>
        </c:rich>
      </c:tx>
      <c:layout>
        <c:manualLayout>
          <c:xMode val="edge"/>
          <c:yMode val="edge"/>
          <c:x val="0.333289108366128"/>
          <c:y val="0.0258558033384525"/>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After "bomb"</c:v>
                </c:pt>
              </c:strCache>
            </c:strRef>
          </c:tx>
          <c:spPr>
            <a:solidFill>
              <a:srgbClr val="665E8A"/>
            </a:solidFill>
            <a:ln>
              <a:noFill/>
            </a:ln>
            <a:effectLst/>
          </c:spPr>
          <c:invertIfNegative val="0"/>
          <c:cat>
            <c:strRef>
              <c:f>Sheet1!$A$2:$A$8</c:f>
              <c:strCache>
                <c:ptCount val="7"/>
                <c:pt idx="0">
                  <c:v>use</c:v>
                </c:pt>
                <c:pt idx="1">
                  <c:v>pay</c:v>
                </c:pt>
                <c:pt idx="2">
                  <c:v>include</c:v>
                </c:pt>
                <c:pt idx="3">
                  <c:v>leave</c:v>
                </c:pt>
                <c:pt idx="4">
                  <c:v>speak</c:v>
                </c:pt>
                <c:pt idx="5">
                  <c:v>help</c:v>
                </c:pt>
                <c:pt idx="6">
                  <c:v>work</c:v>
                </c:pt>
              </c:strCache>
            </c:strRef>
          </c:cat>
          <c:val>
            <c:numRef>
              <c:f>Sheet1!$B$2:$B$8</c:f>
              <c:numCache>
                <c:formatCode>General</c:formatCode>
                <c:ptCount val="7"/>
                <c:pt idx="0">
                  <c:v>5.143610573030378</c:v>
                </c:pt>
                <c:pt idx="1">
                  <c:v>4.08677143846407</c:v>
                </c:pt>
                <c:pt idx="2">
                  <c:v>3.51751677491213</c:v>
                </c:pt>
                <c:pt idx="3">
                  <c:v>3.345965457471272</c:v>
                </c:pt>
                <c:pt idx="4">
                  <c:v>3.247077233610587</c:v>
                </c:pt>
                <c:pt idx="5">
                  <c:v>2.967605144780944</c:v>
                </c:pt>
                <c:pt idx="6">
                  <c:v>2.879899158088242</c:v>
                </c:pt>
              </c:numCache>
            </c:numRef>
          </c:val>
          <c:extLst xmlns:c16r2="http://schemas.microsoft.com/office/drawing/2015/06/chart">
            <c:ext xmlns:c16="http://schemas.microsoft.com/office/drawing/2014/chart" uri="{C3380CC4-5D6E-409C-BE32-E72D297353CC}">
              <c16:uniqueId val="{00000000-9E49-4D1F-8FD4-3F88F59617CF}"/>
            </c:ext>
          </c:extLst>
        </c:ser>
        <c:dLbls>
          <c:showLegendKey val="0"/>
          <c:showVal val="0"/>
          <c:showCatName val="0"/>
          <c:showSerName val="0"/>
          <c:showPercent val="0"/>
          <c:showBubbleSize val="0"/>
        </c:dLbls>
        <c:gapWidth val="15"/>
        <c:overlap val="-19"/>
        <c:axId val="870659888"/>
        <c:axId val="870662640"/>
      </c:barChart>
      <c:catAx>
        <c:axId val="870659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662640"/>
        <c:crosses val="autoZero"/>
        <c:auto val="1"/>
        <c:lblAlgn val="ctr"/>
        <c:lblOffset val="100"/>
        <c:noMultiLvlLbl val="0"/>
      </c:catAx>
      <c:valAx>
        <c:axId val="870662640"/>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659888"/>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dirty="0"/>
              <a:t>Before “grant”</a:t>
            </a:r>
          </a:p>
        </c:rich>
      </c:tx>
      <c:layout>
        <c:manualLayout>
          <c:xMode val="edge"/>
          <c:yMode val="edge"/>
          <c:x val="0.307973241293372"/>
          <c:y val="0.0272520590146557"/>
        </c:manualLayout>
      </c:layout>
      <c:overlay val="0"/>
      <c:spPr>
        <a:noFill/>
        <a:ln>
          <a:noFill/>
        </a:ln>
        <a:effectLst/>
      </c:spPr>
      <c:txPr>
        <a:bodyPr rot="0" spcFirstLastPara="1" vertOverflow="ellipsis" vert="horz" wrap="square" anchor="ctr" anchorCtr="1"/>
        <a:lstStyle/>
        <a:p>
          <a:pPr>
            <a:defRPr sz="168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"mourn"</c:v>
                </c:pt>
              </c:strCache>
            </c:strRef>
          </c:tx>
          <c:spPr>
            <a:solidFill>
              <a:srgbClr val="665E8A"/>
            </a:solidFill>
            <a:ln>
              <a:noFill/>
            </a:ln>
            <a:effectLst/>
          </c:spPr>
          <c:invertIfNegative val="0"/>
          <c:cat>
            <c:strRef>
              <c:f>Sheet1!$A$2:$A$8</c:f>
              <c:strCache>
                <c:ptCount val="7"/>
                <c:pt idx="0">
                  <c:v>seek</c:v>
                </c:pt>
                <c:pt idx="1">
                  <c:v>know</c:v>
                </c:pt>
                <c:pt idx="2">
                  <c:v>need</c:v>
                </c:pt>
                <c:pt idx="3">
                  <c:v>zone</c:v>
                </c:pt>
                <c:pt idx="4">
                  <c:v>request</c:v>
                </c:pt>
                <c:pt idx="5">
                  <c:v>involve</c:v>
                </c:pt>
                <c:pt idx="6">
                  <c:v>write</c:v>
                </c:pt>
              </c:strCache>
            </c:strRef>
          </c:cat>
          <c:val>
            <c:numRef>
              <c:f>Sheet1!$B$2:$B$8</c:f>
              <c:numCache>
                <c:formatCode>General</c:formatCode>
                <c:ptCount val="7"/>
                <c:pt idx="0">
                  <c:v>4.795870710296421</c:v>
                </c:pt>
                <c:pt idx="1">
                  <c:v>2.997430072325831</c:v>
                </c:pt>
                <c:pt idx="2">
                  <c:v>2.357862006490233</c:v>
                </c:pt>
                <c:pt idx="3">
                  <c:v>1.989245217265162</c:v>
                </c:pt>
                <c:pt idx="4">
                  <c:v>1.989245217265162</c:v>
                </c:pt>
                <c:pt idx="5">
                  <c:v>1.989245217265162</c:v>
                </c:pt>
                <c:pt idx="6">
                  <c:v>1.911245796632637</c:v>
                </c:pt>
              </c:numCache>
            </c:numRef>
          </c:val>
          <c:extLst xmlns:c16r2="http://schemas.microsoft.com/office/drawing/2015/06/chart">
            <c:ext xmlns:c16="http://schemas.microsoft.com/office/drawing/2014/chart" uri="{C3380CC4-5D6E-409C-BE32-E72D297353CC}">
              <c16:uniqueId val="{00000000-19E8-4631-B497-C09F863AC72B}"/>
            </c:ext>
          </c:extLst>
        </c:ser>
        <c:dLbls>
          <c:showLegendKey val="0"/>
          <c:showVal val="0"/>
          <c:showCatName val="0"/>
          <c:showSerName val="0"/>
          <c:showPercent val="0"/>
          <c:showBubbleSize val="0"/>
        </c:dLbls>
        <c:gapWidth val="15"/>
        <c:overlap val="-19"/>
        <c:axId val="870690336"/>
        <c:axId val="870693088"/>
      </c:barChart>
      <c:catAx>
        <c:axId val="870690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693088"/>
        <c:crosses val="autoZero"/>
        <c:auto val="1"/>
        <c:lblAlgn val="ctr"/>
        <c:lblOffset val="100"/>
        <c:noMultiLvlLbl val="0"/>
      </c:catAx>
      <c:valAx>
        <c:axId val="870693088"/>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690336"/>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a:t>After “mourn”</a:t>
            </a:r>
          </a:p>
        </c:rich>
      </c:tx>
      <c:layout>
        <c:manualLayout>
          <c:xMode val="edge"/>
          <c:yMode val="edge"/>
          <c:x val="0.333289108366128"/>
          <c:y val="0.0258558033384525"/>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After "bomb"</c:v>
                </c:pt>
              </c:strCache>
            </c:strRef>
          </c:tx>
          <c:spPr>
            <a:solidFill>
              <a:srgbClr val="544F65"/>
            </a:solidFill>
            <a:ln>
              <a:noFill/>
            </a:ln>
            <a:effectLst/>
          </c:spPr>
          <c:invertIfNegative val="0"/>
          <c:cat>
            <c:strRef>
              <c:f>Sheet1!$A$2:$A$8</c:f>
              <c:strCache>
                <c:ptCount val="7"/>
                <c:pt idx="0">
                  <c:v>send</c:v>
                </c:pt>
                <c:pt idx="1">
                  <c:v>offer</c:v>
                </c:pt>
                <c:pt idx="2">
                  <c:v>play</c:v>
                </c:pt>
                <c:pt idx="3">
                  <c:v>remember</c:v>
                </c:pt>
                <c:pt idx="4">
                  <c:v>return</c:v>
                </c:pt>
                <c:pt idx="5">
                  <c:v>sign</c:v>
                </c:pt>
                <c:pt idx="6">
                  <c:v>share</c:v>
                </c:pt>
              </c:strCache>
            </c:strRef>
          </c:cat>
          <c:val>
            <c:numRef>
              <c:f>Sheet1!$B$2:$B$8</c:f>
              <c:numCache>
                <c:formatCode>General</c:formatCode>
                <c:ptCount val="7"/>
                <c:pt idx="0">
                  <c:v>16.08287882258843</c:v>
                </c:pt>
                <c:pt idx="1">
                  <c:v>9.37226952700606</c:v>
                </c:pt>
                <c:pt idx="2">
                  <c:v>7.907054051593438</c:v>
                </c:pt>
                <c:pt idx="3">
                  <c:v>7.673365287895486</c:v>
                </c:pt>
                <c:pt idx="4">
                  <c:v>3.312672544899874</c:v>
                </c:pt>
                <c:pt idx="5">
                  <c:v>3.119757514164995</c:v>
                </c:pt>
                <c:pt idx="6">
                  <c:v>2.739444818768368</c:v>
                </c:pt>
              </c:numCache>
            </c:numRef>
          </c:val>
          <c:extLst xmlns:c16r2="http://schemas.microsoft.com/office/drawing/2015/06/chart">
            <c:ext xmlns:c16="http://schemas.microsoft.com/office/drawing/2014/chart" uri="{C3380CC4-5D6E-409C-BE32-E72D297353CC}">
              <c16:uniqueId val="{00000000-9E49-4D1F-8FD4-3F88F59617CF}"/>
            </c:ext>
          </c:extLst>
        </c:ser>
        <c:dLbls>
          <c:showLegendKey val="0"/>
          <c:showVal val="0"/>
          <c:showCatName val="0"/>
          <c:showSerName val="0"/>
          <c:showPercent val="0"/>
          <c:showBubbleSize val="0"/>
        </c:dLbls>
        <c:gapWidth val="15"/>
        <c:overlap val="-19"/>
        <c:axId val="870065376"/>
        <c:axId val="870068128"/>
      </c:barChart>
      <c:catAx>
        <c:axId val="870065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068128"/>
        <c:crosses val="autoZero"/>
        <c:auto val="1"/>
        <c:lblAlgn val="ctr"/>
        <c:lblOffset val="100"/>
        <c:noMultiLvlLbl val="0"/>
      </c:catAx>
      <c:valAx>
        <c:axId val="870068128"/>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065376"/>
        <c:crosses val="autoZero"/>
        <c:crossBetween val="between"/>
        <c:majorUnit val="5.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a:t>Before “mourn”</a:t>
            </a:r>
          </a:p>
        </c:rich>
      </c:tx>
      <c:layout>
        <c:manualLayout>
          <c:xMode val="edge"/>
          <c:yMode val="edge"/>
          <c:x val="0.307973241293372"/>
          <c:y val="0.0272520590146557"/>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"mourn"</c:v>
                </c:pt>
              </c:strCache>
            </c:strRef>
          </c:tx>
          <c:spPr>
            <a:solidFill>
              <a:srgbClr val="544F65"/>
            </a:solidFill>
            <a:ln>
              <a:noFill/>
            </a:ln>
            <a:effectLst/>
          </c:spPr>
          <c:invertIfNegative val="0"/>
          <c:cat>
            <c:strRef>
              <c:f>Sheet1!$A$2:$A$8</c:f>
              <c:strCache>
                <c:ptCount val="7"/>
                <c:pt idx="0">
                  <c:v>pass</c:v>
                </c:pt>
                <c:pt idx="1">
                  <c:v>serve</c:v>
                </c:pt>
                <c:pt idx="2">
                  <c:v>respect</c:v>
                </c:pt>
                <c:pt idx="3">
                  <c:v>value</c:v>
                </c:pt>
                <c:pt idx="4">
                  <c:v>score</c:v>
                </c:pt>
                <c:pt idx="5">
                  <c:v>trust</c:v>
                </c:pt>
                <c:pt idx="6">
                  <c:v>retire</c:v>
                </c:pt>
              </c:strCache>
            </c:strRef>
          </c:cat>
          <c:val>
            <c:numRef>
              <c:f>Sheet1!$B$2:$B$8</c:f>
              <c:numCache>
                <c:formatCode>General</c:formatCode>
                <c:ptCount val="7"/>
                <c:pt idx="0">
                  <c:v>52.33970594843238</c:v>
                </c:pt>
                <c:pt idx="1">
                  <c:v>15.9228515045117</c:v>
                </c:pt>
                <c:pt idx="2">
                  <c:v>9.561601930543505</c:v>
                </c:pt>
                <c:pt idx="3">
                  <c:v>7.986521265955503</c:v>
                </c:pt>
                <c:pt idx="4">
                  <c:v>7.597014027577534</c:v>
                </c:pt>
                <c:pt idx="5">
                  <c:v>4.0461073832222</c:v>
                </c:pt>
                <c:pt idx="6">
                  <c:v>3.182780796509667</c:v>
                </c:pt>
              </c:numCache>
            </c:numRef>
          </c:val>
          <c:extLst xmlns:c16r2="http://schemas.microsoft.com/office/drawing/2015/06/chart">
            <c:ext xmlns:c16="http://schemas.microsoft.com/office/drawing/2014/chart" uri="{C3380CC4-5D6E-409C-BE32-E72D297353CC}">
              <c16:uniqueId val="{00000000-19E8-4631-B497-C09F863AC72B}"/>
            </c:ext>
          </c:extLst>
        </c:ser>
        <c:dLbls>
          <c:showLegendKey val="0"/>
          <c:showVal val="0"/>
          <c:showCatName val="0"/>
          <c:showSerName val="0"/>
          <c:showPercent val="0"/>
          <c:showBubbleSize val="0"/>
        </c:dLbls>
        <c:gapWidth val="15"/>
        <c:overlap val="-19"/>
        <c:axId val="870083424"/>
        <c:axId val="870086176"/>
      </c:barChart>
      <c:catAx>
        <c:axId val="870083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086176"/>
        <c:crosses val="autoZero"/>
        <c:auto val="1"/>
        <c:lblAlgn val="ctr"/>
        <c:lblOffset val="100"/>
        <c:noMultiLvlLbl val="0"/>
      </c:catAx>
      <c:valAx>
        <c:axId val="870086176"/>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083424"/>
        <c:crosses val="autoZero"/>
        <c:crossBetween val="between"/>
        <c:majorUnit val="20.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2" tx1="lt1" bg2="dk1" tx2="lt2" accent1="accent1" accent2="accent2" accent3="accent3" accent4="accent4" accent5="accent5" accent6="accent6" hlink="hlink" folHlink="folHlink"/>
  <c:chart>
    <c:title>
      <c:tx>
        <c:rich>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a:t>After “bomb”</a:t>
            </a:r>
          </a:p>
        </c:rich>
      </c:tx>
      <c:layout>
        <c:manualLayout>
          <c:xMode val="edge"/>
          <c:yMode val="edge"/>
          <c:x val="0.336582567688589"/>
          <c:y val="0.0277777777777778"/>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After "bomb"</c:v>
                </c:pt>
              </c:strCache>
            </c:strRef>
          </c:tx>
          <c:spPr>
            <a:solidFill>
              <a:srgbClr val="C27990"/>
            </a:solidFill>
            <a:ln>
              <a:noFill/>
            </a:ln>
            <a:effectLst/>
          </c:spPr>
          <c:invertIfNegative val="0"/>
          <c:cat>
            <c:strRef>
              <c:f>Sheet1!$A$2:$A$8</c:f>
              <c:strCache>
                <c:ptCount val="7"/>
                <c:pt idx="0">
                  <c:v>kill</c:v>
                </c:pt>
                <c:pt idx="1">
                  <c:v>destroy</c:v>
                </c:pt>
                <c:pt idx="2">
                  <c:v>suspect</c:v>
                </c:pt>
                <c:pt idx="3">
                  <c:v>strafe</c:v>
                </c:pt>
                <c:pt idx="4">
                  <c:v>include</c:v>
                </c:pt>
                <c:pt idx="5">
                  <c:v>shell</c:v>
                </c:pt>
                <c:pt idx="6">
                  <c:v>wound</c:v>
                </c:pt>
              </c:strCache>
            </c:strRef>
          </c:cat>
          <c:val>
            <c:numRef>
              <c:f>Sheet1!$B$2:$B$8</c:f>
              <c:numCache>
                <c:formatCode>General</c:formatCode>
                <c:ptCount val="7"/>
                <c:pt idx="0">
                  <c:v>27.05184686635042</c:v>
                </c:pt>
                <c:pt idx="1">
                  <c:v>8.826471039726724</c:v>
                </c:pt>
                <c:pt idx="2">
                  <c:v>6.473748318289405</c:v>
                </c:pt>
                <c:pt idx="3">
                  <c:v>6.473748318289405</c:v>
                </c:pt>
                <c:pt idx="4">
                  <c:v>5.572006814919987</c:v>
                </c:pt>
                <c:pt idx="5">
                  <c:v>4.991593906910217</c:v>
                </c:pt>
                <c:pt idx="6">
                  <c:v>4.700906107583276</c:v>
                </c:pt>
              </c:numCache>
            </c:numRef>
          </c:val>
          <c:extLst xmlns:c16r2="http://schemas.microsoft.com/office/drawing/2015/06/chart">
            <c:ext xmlns:c16="http://schemas.microsoft.com/office/drawing/2014/chart" uri="{C3380CC4-5D6E-409C-BE32-E72D297353CC}">
              <c16:uniqueId val="{00000000-53D8-7146-8ADB-C84287F4DA6A}"/>
            </c:ext>
          </c:extLst>
        </c:ser>
        <c:dLbls>
          <c:showLegendKey val="0"/>
          <c:showVal val="0"/>
          <c:showCatName val="0"/>
          <c:showSerName val="0"/>
          <c:showPercent val="0"/>
          <c:showBubbleSize val="0"/>
        </c:dLbls>
        <c:gapWidth val="15"/>
        <c:overlap val="-19"/>
        <c:axId val="869625296"/>
        <c:axId val="869627616"/>
      </c:barChart>
      <c:catAx>
        <c:axId val="869625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69627616"/>
        <c:crosses val="autoZero"/>
        <c:auto val="1"/>
        <c:lblAlgn val="ctr"/>
        <c:lblOffset val="100"/>
        <c:noMultiLvlLbl val="0"/>
      </c:catAx>
      <c:valAx>
        <c:axId val="869627616"/>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69625296"/>
        <c:crosses val="autoZero"/>
        <c:crossBetween val="between"/>
        <c:majorUnit val="10.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bg2"/>
          </a:solidFill>
          <a:latin typeface="Century Gothic" panose="020B0502020202020204" pitchFamily="34" charset="0"/>
          <a:cs typeface="Times New Roman" panose="02020603050405020304" pitchFamily="18" charset="0"/>
        </a:defRPr>
      </a:pPr>
      <a:endParaRPr lang="en-US"/>
    </a:p>
  </c:txPr>
  <c:externalData r:id="rId4">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2" tx1="lt1" bg2="dk1" tx2="lt2" accent1="accent1" accent2="accent2" accent3="accent3" accent4="accent4" accent5="accent5" accent6="accent6" hlink="hlink" folHlink="folHlink"/>
  <c:chart>
    <c:title>
      <c:tx>
        <c:rich>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a:t>Before “bomb”</a:t>
            </a:r>
          </a:p>
        </c:rich>
      </c:tx>
      <c:layout>
        <c:manualLayout>
          <c:xMode val="edge"/>
          <c:yMode val="edge"/>
          <c:x val="0.294747374630347"/>
          <c:y val="0.0272520590146557"/>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bomb</c:v>
                </c:pt>
              </c:strCache>
            </c:strRef>
          </c:tx>
          <c:spPr>
            <a:solidFill>
              <a:srgbClr val="C27990"/>
            </a:solidFill>
            <a:ln>
              <a:noFill/>
            </a:ln>
            <a:effectLst/>
          </c:spPr>
          <c:invertIfNegative val="0"/>
          <c:cat>
            <c:strRef>
              <c:f>Sheet1!$A$2:$A$8</c:f>
              <c:strCache>
                <c:ptCount val="7"/>
                <c:pt idx="0">
                  <c:v>report</c:v>
                </c:pt>
                <c:pt idx="1">
                  <c:v>fire</c:v>
                </c:pt>
                <c:pt idx="2">
                  <c:v>come</c:v>
                </c:pt>
                <c:pt idx="3">
                  <c:v>continue</c:v>
                </c:pt>
                <c:pt idx="4">
                  <c:v>lead</c:v>
                </c:pt>
                <c:pt idx="5">
                  <c:v>describe</c:v>
                </c:pt>
                <c:pt idx="6">
                  <c:v>refuse</c:v>
                </c:pt>
              </c:strCache>
            </c:strRef>
          </c:cat>
          <c:val>
            <c:numRef>
              <c:f>Sheet1!$B$2:$B$8</c:f>
              <c:numCache>
                <c:formatCode>General</c:formatCode>
                <c:ptCount val="7"/>
                <c:pt idx="0">
                  <c:v>6.158019887168881</c:v>
                </c:pt>
                <c:pt idx="1">
                  <c:v>6.158019887168881</c:v>
                </c:pt>
                <c:pt idx="2">
                  <c:v>4.211232157997035</c:v>
                </c:pt>
                <c:pt idx="3">
                  <c:v>3.447865276103125</c:v>
                </c:pt>
                <c:pt idx="4">
                  <c:v>2.311173210602129</c:v>
                </c:pt>
                <c:pt idx="5">
                  <c:v>2.311173210602129</c:v>
                </c:pt>
                <c:pt idx="6">
                  <c:v>1.911245796632637</c:v>
                </c:pt>
              </c:numCache>
            </c:numRef>
          </c:val>
          <c:extLst xmlns:c16r2="http://schemas.microsoft.com/office/drawing/2015/06/chart">
            <c:ext xmlns:c16="http://schemas.microsoft.com/office/drawing/2014/chart" uri="{C3380CC4-5D6E-409C-BE32-E72D297353CC}">
              <c16:uniqueId val="{00000000-6F65-694F-B682-8A82E6314B8C}"/>
            </c:ext>
          </c:extLst>
        </c:ser>
        <c:dLbls>
          <c:showLegendKey val="0"/>
          <c:showVal val="0"/>
          <c:showCatName val="0"/>
          <c:showSerName val="0"/>
          <c:showPercent val="0"/>
          <c:showBubbleSize val="0"/>
        </c:dLbls>
        <c:gapWidth val="15"/>
        <c:overlap val="-19"/>
        <c:axId val="869645216"/>
        <c:axId val="869647536"/>
      </c:barChart>
      <c:catAx>
        <c:axId val="869645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69647536"/>
        <c:crosses val="autoZero"/>
        <c:auto val="1"/>
        <c:lblAlgn val="ctr"/>
        <c:lblOffset val="100"/>
        <c:noMultiLvlLbl val="0"/>
      </c:catAx>
      <c:valAx>
        <c:axId val="869647536"/>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69645216"/>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bg2"/>
          </a:solidFill>
          <a:latin typeface="Century Gothic" panose="020B0502020202020204" pitchFamily="34"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2" tx1="lt1" bg2="dk1" tx2="lt2" accent1="accent1" accent2="accent2" accent3="accent3" accent4="accent4" accent5="accent5" accent6="accent6" hlink="hlink" folHlink="folHlink"/>
  <c:chart>
    <c:title>
      <c:tx>
        <c:rich>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a:t>After “investigate”</a:t>
            </a:r>
          </a:p>
        </c:rich>
      </c:tx>
      <c:layout>
        <c:manualLayout>
          <c:xMode val="edge"/>
          <c:yMode val="edge"/>
          <c:x val="0.277701576424971"/>
          <c:y val="0.0269156184764065"/>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Investigate</c:v>
                </c:pt>
              </c:strCache>
            </c:strRef>
          </c:tx>
          <c:spPr>
            <a:solidFill>
              <a:srgbClr val="95A28E"/>
            </a:solidFill>
            <a:ln>
              <a:noFill/>
            </a:ln>
            <a:effectLst/>
          </c:spPr>
          <c:invertIfNegative val="0"/>
          <c:cat>
            <c:strRef>
              <c:f>Sheet1!$A$2:$A$8</c:f>
              <c:strCache>
                <c:ptCount val="7"/>
                <c:pt idx="0">
                  <c:v>report</c:v>
                </c:pt>
                <c:pt idx="1">
                  <c:v>prosecute</c:v>
                </c:pt>
                <c:pt idx="2">
                  <c:v>violate</c:v>
                </c:pt>
                <c:pt idx="3">
                  <c:v>occur</c:v>
                </c:pt>
                <c:pt idx="4">
                  <c:v>pay</c:v>
                </c:pt>
                <c:pt idx="5">
                  <c:v>tell</c:v>
                </c:pt>
                <c:pt idx="6">
                  <c:v>punish</c:v>
                </c:pt>
              </c:strCache>
            </c:strRef>
          </c:cat>
          <c:val>
            <c:numRef>
              <c:f>Sheet1!$B$2:$B$8</c:f>
              <c:numCache>
                <c:formatCode>General</c:formatCode>
                <c:ptCount val="7"/>
                <c:pt idx="0">
                  <c:v>7.673365287895486</c:v>
                </c:pt>
                <c:pt idx="1">
                  <c:v>7.083408929052118</c:v>
                </c:pt>
                <c:pt idx="2">
                  <c:v>4.892753725239476</c:v>
                </c:pt>
                <c:pt idx="3">
                  <c:v>4.47164021134834</c:v>
                </c:pt>
                <c:pt idx="4">
                  <c:v>3.848776397610543</c:v>
                </c:pt>
                <c:pt idx="5">
                  <c:v>2.997430072325831</c:v>
                </c:pt>
                <c:pt idx="6">
                  <c:v>2.997430072325831</c:v>
                </c:pt>
              </c:numCache>
            </c:numRef>
          </c:val>
          <c:extLst xmlns:c16r2="http://schemas.microsoft.com/office/drawing/2015/06/chart">
            <c:ext xmlns:c16="http://schemas.microsoft.com/office/drawing/2014/chart" uri="{C3380CC4-5D6E-409C-BE32-E72D297353CC}">
              <c16:uniqueId val="{00000000-4F32-6F40-A1F5-5B09EFC4A681}"/>
            </c:ext>
          </c:extLst>
        </c:ser>
        <c:dLbls>
          <c:showLegendKey val="0"/>
          <c:showVal val="0"/>
          <c:showCatName val="0"/>
          <c:showSerName val="0"/>
          <c:showPercent val="0"/>
          <c:showBubbleSize val="0"/>
        </c:dLbls>
        <c:gapWidth val="15"/>
        <c:overlap val="-19"/>
        <c:axId val="870151696"/>
        <c:axId val="870154448"/>
      </c:barChart>
      <c:catAx>
        <c:axId val="870151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154448"/>
        <c:crosses val="autoZero"/>
        <c:auto val="1"/>
        <c:lblAlgn val="ctr"/>
        <c:lblOffset val="100"/>
        <c:noMultiLvlLbl val="0"/>
      </c:catAx>
      <c:valAx>
        <c:axId val="870154448"/>
        <c:scaling>
          <c:orientation val="minMax"/>
          <c:max val="8.0"/>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151696"/>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bg2"/>
          </a:solidFill>
          <a:latin typeface="Century Gothic" panose="020B0502020202020204" pitchFamily="34"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2" tx1="lt1" bg2="dk1" tx2="lt2" accent1="accent1" accent2="accent2" accent3="accent3" accent4="accent4" accent5="accent5" accent6="accent6" hlink="hlink" folHlink="folHlink"/>
  <c:chart>
    <c:title>
      <c:tx>
        <c:rich>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a:t>Before “investigate”</a:t>
            </a:r>
          </a:p>
        </c:rich>
      </c:tx>
      <c:layout>
        <c:manualLayout>
          <c:xMode val="edge"/>
          <c:yMode val="edge"/>
          <c:x val="0.244126046359472"/>
          <c:y val="0.0272520590146557"/>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Investigate</c:v>
                </c:pt>
              </c:strCache>
            </c:strRef>
          </c:tx>
          <c:spPr>
            <a:solidFill>
              <a:srgbClr val="95A28E"/>
            </a:solidFill>
            <a:ln>
              <a:noFill/>
            </a:ln>
            <a:effectLst/>
          </c:spPr>
          <c:invertIfNegative val="0"/>
          <c:cat>
            <c:strRef>
              <c:f>Sheet1!$A$2:$A$8</c:f>
              <c:strCache>
                <c:ptCount val="7"/>
                <c:pt idx="0">
                  <c:v>involve</c:v>
                </c:pt>
                <c:pt idx="1">
                  <c:v>kill</c:v>
                </c:pt>
                <c:pt idx="2">
                  <c:v>suspect</c:v>
                </c:pt>
                <c:pt idx="3">
                  <c:v>know</c:v>
                </c:pt>
                <c:pt idx="4">
                  <c:v>link</c:v>
                </c:pt>
                <c:pt idx="5">
                  <c:v>raise</c:v>
                </c:pt>
                <c:pt idx="6">
                  <c:v>steal</c:v>
                </c:pt>
              </c:strCache>
            </c:strRef>
          </c:cat>
          <c:val>
            <c:numRef>
              <c:f>Sheet1!$B$2:$B$8</c:f>
              <c:numCache>
                <c:formatCode>General</c:formatCode>
                <c:ptCount val="7"/>
                <c:pt idx="0">
                  <c:v>7.52142247499327</c:v>
                </c:pt>
                <c:pt idx="1">
                  <c:v>5.684568819219575</c:v>
                </c:pt>
                <c:pt idx="2">
                  <c:v>5.46167368764078</c:v>
                </c:pt>
                <c:pt idx="3">
                  <c:v>3.027554745375815</c:v>
                </c:pt>
                <c:pt idx="4">
                  <c:v>1.89222858320994</c:v>
                </c:pt>
                <c:pt idx="5">
                  <c:v>1.564795710394166</c:v>
                </c:pt>
                <c:pt idx="6">
                  <c:v>1.387849294835929</c:v>
                </c:pt>
              </c:numCache>
            </c:numRef>
          </c:val>
          <c:extLst xmlns:c16r2="http://schemas.microsoft.com/office/drawing/2015/06/chart">
            <c:ext xmlns:c16="http://schemas.microsoft.com/office/drawing/2014/chart" uri="{C3380CC4-5D6E-409C-BE32-E72D297353CC}">
              <c16:uniqueId val="{00000000-C832-FC4A-BAA8-2E48657F1D88}"/>
            </c:ext>
          </c:extLst>
        </c:ser>
        <c:dLbls>
          <c:showLegendKey val="0"/>
          <c:showVal val="0"/>
          <c:showCatName val="0"/>
          <c:showSerName val="0"/>
          <c:showPercent val="0"/>
          <c:showBubbleSize val="0"/>
        </c:dLbls>
        <c:gapWidth val="15"/>
        <c:overlap val="-19"/>
        <c:axId val="771462368"/>
        <c:axId val="870185616"/>
      </c:barChart>
      <c:catAx>
        <c:axId val="771462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185616"/>
        <c:crosses val="autoZero"/>
        <c:auto val="1"/>
        <c:lblAlgn val="ctr"/>
        <c:lblOffset val="100"/>
        <c:noMultiLvlLbl val="0"/>
      </c:catAx>
      <c:valAx>
        <c:axId val="870185616"/>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771462368"/>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bg2"/>
          </a:solidFill>
          <a:latin typeface="Century Gothic" panose="020B0502020202020204" pitchFamily="34"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a:t>After “grant”</a:t>
            </a:r>
          </a:p>
        </c:rich>
      </c:tx>
      <c:layout>
        <c:manualLayout>
          <c:xMode val="edge"/>
          <c:yMode val="edge"/>
          <c:x val="0.333289108366128"/>
          <c:y val="0.0258558033384525"/>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After "bomb"</c:v>
                </c:pt>
              </c:strCache>
            </c:strRef>
          </c:tx>
          <c:spPr>
            <a:solidFill>
              <a:srgbClr val="665E8A"/>
            </a:solidFill>
            <a:ln>
              <a:noFill/>
            </a:ln>
            <a:effectLst/>
          </c:spPr>
          <c:invertIfNegative val="0"/>
          <c:cat>
            <c:strRef>
              <c:f>Sheet1!$A$2:$A$8</c:f>
              <c:strCache>
                <c:ptCount val="7"/>
                <c:pt idx="0">
                  <c:v>use</c:v>
                </c:pt>
                <c:pt idx="1">
                  <c:v>pay</c:v>
                </c:pt>
                <c:pt idx="2">
                  <c:v>include</c:v>
                </c:pt>
                <c:pt idx="3">
                  <c:v>leave</c:v>
                </c:pt>
                <c:pt idx="4">
                  <c:v>speak</c:v>
                </c:pt>
                <c:pt idx="5">
                  <c:v>help</c:v>
                </c:pt>
                <c:pt idx="6">
                  <c:v>work</c:v>
                </c:pt>
              </c:strCache>
            </c:strRef>
          </c:cat>
          <c:val>
            <c:numRef>
              <c:f>Sheet1!$B$2:$B$8</c:f>
              <c:numCache>
                <c:formatCode>General</c:formatCode>
                <c:ptCount val="7"/>
                <c:pt idx="0">
                  <c:v>5.143610573030378</c:v>
                </c:pt>
                <c:pt idx="1">
                  <c:v>4.08677143846407</c:v>
                </c:pt>
                <c:pt idx="2">
                  <c:v>3.51751677491213</c:v>
                </c:pt>
                <c:pt idx="3">
                  <c:v>3.345965457471272</c:v>
                </c:pt>
                <c:pt idx="4">
                  <c:v>3.247077233610587</c:v>
                </c:pt>
                <c:pt idx="5">
                  <c:v>2.967605144780944</c:v>
                </c:pt>
                <c:pt idx="6">
                  <c:v>2.879899158088242</c:v>
                </c:pt>
              </c:numCache>
            </c:numRef>
          </c:val>
          <c:extLst xmlns:c16r2="http://schemas.microsoft.com/office/drawing/2015/06/chart">
            <c:ext xmlns:c16="http://schemas.microsoft.com/office/drawing/2014/chart" uri="{C3380CC4-5D6E-409C-BE32-E72D297353CC}">
              <c16:uniqueId val="{00000000-8F92-DE48-B680-0BDF824AA171}"/>
            </c:ext>
          </c:extLst>
        </c:ser>
        <c:dLbls>
          <c:showLegendKey val="0"/>
          <c:showVal val="0"/>
          <c:showCatName val="0"/>
          <c:showSerName val="0"/>
          <c:showPercent val="0"/>
          <c:showBubbleSize val="0"/>
        </c:dLbls>
        <c:gapWidth val="15"/>
        <c:overlap val="-19"/>
        <c:axId val="870227504"/>
        <c:axId val="870230256"/>
      </c:barChart>
      <c:catAx>
        <c:axId val="8702275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230256"/>
        <c:crosses val="autoZero"/>
        <c:auto val="1"/>
        <c:lblAlgn val="ctr"/>
        <c:lblOffset val="100"/>
        <c:noMultiLvlLbl val="0"/>
      </c:catAx>
      <c:valAx>
        <c:axId val="870230256"/>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227504"/>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a:t>Before “grant”</a:t>
            </a:r>
          </a:p>
        </c:rich>
      </c:tx>
      <c:layout>
        <c:manualLayout>
          <c:xMode val="edge"/>
          <c:yMode val="edge"/>
          <c:x val="0.307973241293372"/>
          <c:y val="0.0272520590146557"/>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"mourn"</c:v>
                </c:pt>
              </c:strCache>
            </c:strRef>
          </c:tx>
          <c:spPr>
            <a:solidFill>
              <a:srgbClr val="665E8A"/>
            </a:solidFill>
            <a:ln>
              <a:noFill/>
            </a:ln>
            <a:effectLst/>
          </c:spPr>
          <c:invertIfNegative val="0"/>
          <c:cat>
            <c:strRef>
              <c:f>Sheet1!$A$2:$A$8</c:f>
              <c:strCache>
                <c:ptCount val="7"/>
                <c:pt idx="0">
                  <c:v>seek</c:v>
                </c:pt>
                <c:pt idx="1">
                  <c:v>know</c:v>
                </c:pt>
                <c:pt idx="2">
                  <c:v>need</c:v>
                </c:pt>
                <c:pt idx="3">
                  <c:v>zone</c:v>
                </c:pt>
                <c:pt idx="4">
                  <c:v>request</c:v>
                </c:pt>
                <c:pt idx="5">
                  <c:v>involve</c:v>
                </c:pt>
                <c:pt idx="6">
                  <c:v>write</c:v>
                </c:pt>
              </c:strCache>
            </c:strRef>
          </c:cat>
          <c:val>
            <c:numRef>
              <c:f>Sheet1!$B$2:$B$8</c:f>
              <c:numCache>
                <c:formatCode>General</c:formatCode>
                <c:ptCount val="7"/>
                <c:pt idx="0">
                  <c:v>4.795870710296421</c:v>
                </c:pt>
                <c:pt idx="1">
                  <c:v>2.997430072325831</c:v>
                </c:pt>
                <c:pt idx="2">
                  <c:v>2.357862006490233</c:v>
                </c:pt>
                <c:pt idx="3">
                  <c:v>1.989245217265162</c:v>
                </c:pt>
                <c:pt idx="4">
                  <c:v>1.989245217265162</c:v>
                </c:pt>
                <c:pt idx="5">
                  <c:v>1.989245217265162</c:v>
                </c:pt>
                <c:pt idx="6">
                  <c:v>1.911245796632637</c:v>
                </c:pt>
              </c:numCache>
            </c:numRef>
          </c:val>
          <c:extLst xmlns:c16r2="http://schemas.microsoft.com/office/drawing/2015/06/chart">
            <c:ext xmlns:c16="http://schemas.microsoft.com/office/drawing/2014/chart" uri="{C3380CC4-5D6E-409C-BE32-E72D297353CC}">
              <c16:uniqueId val="{00000000-47FC-A644-A2C3-A2C749E02654}"/>
            </c:ext>
          </c:extLst>
        </c:ser>
        <c:dLbls>
          <c:showLegendKey val="0"/>
          <c:showVal val="0"/>
          <c:showCatName val="0"/>
          <c:showSerName val="0"/>
          <c:showPercent val="0"/>
          <c:showBubbleSize val="0"/>
        </c:dLbls>
        <c:gapWidth val="15"/>
        <c:overlap val="-19"/>
        <c:axId val="870251408"/>
        <c:axId val="870254160"/>
      </c:barChart>
      <c:catAx>
        <c:axId val="870251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254160"/>
        <c:crosses val="autoZero"/>
        <c:auto val="1"/>
        <c:lblAlgn val="ctr"/>
        <c:lblOffset val="100"/>
        <c:noMultiLvlLbl val="0"/>
      </c:catAx>
      <c:valAx>
        <c:axId val="870254160"/>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870251408"/>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CAEVO</c:v>
                </c:pt>
              </c:strCache>
            </c:strRef>
          </c:tx>
          <c:spPr>
            <a:solidFill>
              <a:srgbClr val="F1CEC3"/>
            </a:solidFill>
            <a:ln>
              <a:noFill/>
            </a:ln>
            <a:effectLst/>
          </c:spPr>
          <c:invertIfNegative val="0"/>
          <c:cat>
            <c:strRef>
              <c:f>Sheet1!$A$2</c:f>
              <c:strCache>
                <c:ptCount val="1"/>
                <c:pt idx="0">
                  <c:v>F1</c:v>
                </c:pt>
              </c:strCache>
            </c:strRef>
          </c:cat>
          <c:val>
            <c:numRef>
              <c:f>Sheet1!$B$2</c:f>
              <c:numCache>
                <c:formatCode>General</c:formatCode>
                <c:ptCount val="1"/>
                <c:pt idx="0">
                  <c:v>47.6</c:v>
                </c:pt>
              </c:numCache>
            </c:numRef>
          </c:val>
          <c:extLst xmlns:c16r2="http://schemas.microsoft.com/office/drawing/2015/06/chart">
            <c:ext xmlns:c16="http://schemas.microsoft.com/office/drawing/2014/chart" uri="{C3380CC4-5D6E-409C-BE32-E72D297353CC}">
              <c16:uniqueId val="{00000000-F82A-6D40-9B32-4726FDC8890B}"/>
            </c:ext>
          </c:extLst>
        </c:ser>
        <c:ser>
          <c:idx val="1"/>
          <c:order val="1"/>
          <c:tx>
            <c:strRef>
              <c:f>Sheet1!$C$1</c:f>
              <c:strCache>
                <c:ptCount val="1"/>
                <c:pt idx="0">
                  <c:v>EMNLP'17</c:v>
                </c:pt>
              </c:strCache>
            </c:strRef>
          </c:tx>
          <c:spPr>
            <a:solidFill>
              <a:srgbClr val="7792CB"/>
            </a:solidFill>
            <a:ln>
              <a:noFill/>
            </a:ln>
            <a:effectLst/>
          </c:spPr>
          <c:invertIfNegative val="0"/>
          <c:cat>
            <c:strRef>
              <c:f>Sheet1!$A$2</c:f>
              <c:strCache>
                <c:ptCount val="1"/>
                <c:pt idx="0">
                  <c:v>F1</c:v>
                </c:pt>
              </c:strCache>
            </c:strRef>
          </c:cat>
          <c:val>
            <c:numRef>
              <c:f>Sheet1!$C$2</c:f>
              <c:numCache>
                <c:formatCode>General</c:formatCode>
                <c:ptCount val="1"/>
                <c:pt idx="0">
                  <c:v>51.5</c:v>
                </c:pt>
              </c:numCache>
            </c:numRef>
          </c:val>
          <c:extLst xmlns:c16r2="http://schemas.microsoft.com/office/drawing/2015/06/chart">
            <c:ext xmlns:c16="http://schemas.microsoft.com/office/drawing/2014/chart" uri="{C3380CC4-5D6E-409C-BE32-E72D297353CC}">
              <c16:uniqueId val="{00000001-F82A-6D40-9B32-4726FDC8890B}"/>
            </c:ext>
          </c:extLst>
        </c:ser>
        <c:ser>
          <c:idx val="2"/>
          <c:order val="2"/>
          <c:tx>
            <c:strRef>
              <c:f>Sheet1!$D$1</c:f>
              <c:strCache>
                <c:ptCount val="1"/>
                <c:pt idx="0">
                  <c:v>EMNLP'17+TemProb</c:v>
                </c:pt>
              </c:strCache>
            </c:strRef>
          </c:tx>
          <c:spPr>
            <a:solidFill>
              <a:srgbClr val="CD95A6"/>
            </a:solidFill>
            <a:ln>
              <a:noFill/>
            </a:ln>
            <a:effectLst/>
          </c:spPr>
          <c:invertIfNegative val="0"/>
          <c:cat>
            <c:strRef>
              <c:f>Sheet1!$A$2</c:f>
              <c:strCache>
                <c:ptCount val="1"/>
                <c:pt idx="0">
                  <c:v>F1</c:v>
                </c:pt>
              </c:strCache>
            </c:strRef>
          </c:cat>
          <c:val>
            <c:numRef>
              <c:f>Sheet1!$D$2</c:f>
              <c:numCache>
                <c:formatCode>General</c:formatCode>
                <c:ptCount val="1"/>
                <c:pt idx="0">
                  <c:v>55.5</c:v>
                </c:pt>
              </c:numCache>
            </c:numRef>
          </c:val>
          <c:extLst xmlns:c16r2="http://schemas.microsoft.com/office/drawing/2015/06/chart">
            <c:ext xmlns:c16="http://schemas.microsoft.com/office/drawing/2014/chart" uri="{C3380CC4-5D6E-409C-BE32-E72D297353CC}">
              <c16:uniqueId val="{00000002-F82A-6D40-9B32-4726FDC8890B}"/>
            </c:ext>
          </c:extLst>
        </c:ser>
        <c:dLbls>
          <c:showLegendKey val="0"/>
          <c:showVal val="0"/>
          <c:showCatName val="0"/>
          <c:showSerName val="0"/>
          <c:showPercent val="0"/>
          <c:showBubbleSize val="0"/>
        </c:dLbls>
        <c:gapWidth val="267"/>
        <c:overlap val="-43"/>
        <c:axId val="862851632"/>
        <c:axId val="862853680"/>
      </c:barChart>
      <c:catAx>
        <c:axId val="862851632"/>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0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862853680"/>
        <c:crosses val="autoZero"/>
        <c:auto val="1"/>
        <c:lblAlgn val="ctr"/>
        <c:lblOffset val="100"/>
        <c:noMultiLvlLbl val="0"/>
      </c:catAx>
      <c:valAx>
        <c:axId val="862853680"/>
        <c:scaling>
          <c:orientation val="minMax"/>
          <c:max val="60.0"/>
          <c:min val="40.0"/>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crossAx val="862851632"/>
        <c:crosses val="autoZero"/>
        <c:crossBetween val="between"/>
        <c:majorUnit val="10.0"/>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000"/>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Old</c:v>
                </c:pt>
              </c:strCache>
            </c:strRef>
          </c:tx>
          <c:spPr>
            <a:solidFill>
              <a:srgbClr val="F1CEC3"/>
            </a:solidFill>
            <a:ln>
              <a:noFill/>
            </a:ln>
            <a:effectLst/>
          </c:spPr>
          <c:invertIfNegative val="0"/>
          <c:cat>
            <c:strRef>
              <c:f>Sheet1!$A$2:$A$3</c:f>
              <c:strCache>
                <c:ptCount val="2"/>
                <c:pt idx="0">
                  <c:v>Training F1</c:v>
                </c:pt>
                <c:pt idx="1">
                  <c:v>Testing F1</c:v>
                </c:pt>
              </c:strCache>
            </c:strRef>
          </c:cat>
          <c:val>
            <c:numRef>
              <c:f>Sheet1!$B$2:$B$3</c:f>
              <c:numCache>
                <c:formatCode>General</c:formatCode>
                <c:ptCount val="2"/>
                <c:pt idx="0">
                  <c:v>53.0</c:v>
                </c:pt>
                <c:pt idx="1">
                  <c:v>48.0</c:v>
                </c:pt>
              </c:numCache>
            </c:numRef>
          </c:val>
          <c:extLst xmlns:c16r2="http://schemas.microsoft.com/office/drawing/2015/06/chart">
            <c:ext xmlns:c16="http://schemas.microsoft.com/office/drawing/2014/chart" uri="{C3380CC4-5D6E-409C-BE32-E72D297353CC}">
              <c16:uniqueId val="{00000000-F82A-6D40-9B32-4726FDC8890B}"/>
            </c:ext>
          </c:extLst>
        </c:ser>
        <c:ser>
          <c:idx val="1"/>
          <c:order val="1"/>
          <c:tx>
            <c:strRef>
              <c:f>Sheet1!$C$1</c:f>
              <c:strCache>
                <c:ptCount val="1"/>
                <c:pt idx="0">
                  <c:v>New</c:v>
                </c:pt>
              </c:strCache>
            </c:strRef>
          </c:tx>
          <c:spPr>
            <a:solidFill>
              <a:srgbClr val="7792CB"/>
            </a:solidFill>
            <a:ln>
              <a:noFill/>
            </a:ln>
            <a:effectLst/>
          </c:spPr>
          <c:invertIfNegative val="0"/>
          <c:cat>
            <c:strRef>
              <c:f>Sheet1!$A$2:$A$3</c:f>
              <c:strCache>
                <c:ptCount val="2"/>
                <c:pt idx="0">
                  <c:v>Training F1</c:v>
                </c:pt>
                <c:pt idx="1">
                  <c:v>Testing F1</c:v>
                </c:pt>
              </c:strCache>
            </c:strRef>
          </c:cat>
          <c:val>
            <c:numRef>
              <c:f>Sheet1!$C$2:$C$3</c:f>
              <c:numCache>
                <c:formatCode>General</c:formatCode>
                <c:ptCount val="2"/>
                <c:pt idx="0">
                  <c:v>77.0</c:v>
                </c:pt>
                <c:pt idx="1">
                  <c:v>69.0</c:v>
                </c:pt>
              </c:numCache>
            </c:numRef>
          </c:val>
          <c:extLst xmlns:c16r2="http://schemas.microsoft.com/office/drawing/2015/06/chart">
            <c:ext xmlns:c16="http://schemas.microsoft.com/office/drawing/2014/chart" uri="{C3380CC4-5D6E-409C-BE32-E72D297353CC}">
              <c16:uniqueId val="{00000001-F82A-6D40-9B32-4726FDC8890B}"/>
            </c:ext>
          </c:extLst>
        </c:ser>
        <c:dLbls>
          <c:showLegendKey val="0"/>
          <c:showVal val="0"/>
          <c:showCatName val="0"/>
          <c:showSerName val="0"/>
          <c:showPercent val="0"/>
          <c:showBubbleSize val="0"/>
        </c:dLbls>
        <c:gapWidth val="267"/>
        <c:overlap val="-43"/>
        <c:axId val="871529936"/>
        <c:axId val="871532688"/>
      </c:barChart>
      <c:catAx>
        <c:axId val="871529936"/>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0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871532688"/>
        <c:crosses val="autoZero"/>
        <c:auto val="1"/>
        <c:lblAlgn val="ctr"/>
        <c:lblOffset val="100"/>
        <c:noMultiLvlLbl val="0"/>
      </c:catAx>
      <c:valAx>
        <c:axId val="871532688"/>
        <c:scaling>
          <c:orientation val="minMax"/>
          <c:max val="80.0"/>
          <c:min val="40.0"/>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crossAx val="871529936"/>
        <c:crosses val="autoZero"/>
        <c:crossBetween val="between"/>
        <c:majorUnit val="10.0"/>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000"/>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CAEVO</c:v>
                </c:pt>
              </c:strCache>
            </c:strRef>
          </c:tx>
          <c:spPr>
            <a:solidFill>
              <a:schemeClr val="accent1"/>
            </a:solidFill>
            <a:ln>
              <a:noFill/>
            </a:ln>
            <a:effectLst/>
          </c:spPr>
          <c:invertIfNegative val="0"/>
          <c:cat>
            <c:strRef>
              <c:f>Sheet1!$A$2</c:f>
              <c:strCache>
                <c:ptCount val="1"/>
                <c:pt idx="0">
                  <c:v>F1</c:v>
                </c:pt>
              </c:strCache>
            </c:strRef>
          </c:cat>
          <c:val>
            <c:numRef>
              <c:f>Sheet1!$B$2</c:f>
              <c:numCache>
                <c:formatCode>General</c:formatCode>
                <c:ptCount val="1"/>
                <c:pt idx="0">
                  <c:v>47.6</c:v>
                </c:pt>
              </c:numCache>
            </c:numRef>
          </c:val>
          <c:extLst xmlns:c16r2="http://schemas.microsoft.com/office/drawing/2015/06/chart">
            <c:ext xmlns:c16="http://schemas.microsoft.com/office/drawing/2014/chart" uri="{C3380CC4-5D6E-409C-BE32-E72D297353CC}">
              <c16:uniqueId val="{00000000-CC3B-6646-80D4-BE3961523A95}"/>
            </c:ext>
          </c:extLst>
        </c:ser>
        <c:ser>
          <c:idx val="1"/>
          <c:order val="1"/>
          <c:tx>
            <c:strRef>
              <c:f>Sheet1!$C$1</c:f>
              <c:strCache>
                <c:ptCount val="1"/>
                <c:pt idx="0">
                  <c:v>EMNLP'17</c:v>
                </c:pt>
              </c:strCache>
            </c:strRef>
          </c:tx>
          <c:spPr>
            <a:solidFill>
              <a:schemeClr val="accent2"/>
            </a:solidFill>
            <a:ln>
              <a:noFill/>
            </a:ln>
            <a:effectLst/>
          </c:spPr>
          <c:invertIfNegative val="0"/>
          <c:cat>
            <c:strRef>
              <c:f>Sheet1!$A$2</c:f>
              <c:strCache>
                <c:ptCount val="1"/>
                <c:pt idx="0">
                  <c:v>F1</c:v>
                </c:pt>
              </c:strCache>
            </c:strRef>
          </c:cat>
          <c:val>
            <c:numRef>
              <c:f>Sheet1!$C$2</c:f>
              <c:numCache>
                <c:formatCode>General</c:formatCode>
                <c:ptCount val="1"/>
                <c:pt idx="0">
                  <c:v>51.5</c:v>
                </c:pt>
              </c:numCache>
            </c:numRef>
          </c:val>
          <c:extLst xmlns:c16r2="http://schemas.microsoft.com/office/drawing/2015/06/chart">
            <c:ext xmlns:c16="http://schemas.microsoft.com/office/drawing/2014/chart" uri="{C3380CC4-5D6E-409C-BE32-E72D297353CC}">
              <c16:uniqueId val="{00000001-CC3B-6646-80D4-BE3961523A95}"/>
            </c:ext>
          </c:extLst>
        </c:ser>
        <c:ser>
          <c:idx val="2"/>
          <c:order val="2"/>
          <c:tx>
            <c:strRef>
              <c:f>Sheet1!$D$1</c:f>
              <c:strCache>
                <c:ptCount val="1"/>
                <c:pt idx="0">
                  <c:v>TemProb</c:v>
                </c:pt>
              </c:strCache>
            </c:strRef>
          </c:tx>
          <c:spPr>
            <a:solidFill>
              <a:schemeClr val="accent3"/>
            </a:solidFill>
            <a:ln>
              <a:noFill/>
            </a:ln>
            <a:effectLst/>
          </c:spPr>
          <c:invertIfNegative val="0"/>
          <c:cat>
            <c:strRef>
              <c:f>Sheet1!$A$2</c:f>
              <c:strCache>
                <c:ptCount val="1"/>
                <c:pt idx="0">
                  <c:v>F1</c:v>
                </c:pt>
              </c:strCache>
            </c:strRef>
          </c:cat>
          <c:val>
            <c:numRef>
              <c:f>Sheet1!$D$2</c:f>
              <c:numCache>
                <c:formatCode>General</c:formatCode>
                <c:ptCount val="1"/>
                <c:pt idx="0">
                  <c:v>55.5</c:v>
                </c:pt>
              </c:numCache>
            </c:numRef>
          </c:val>
          <c:extLst xmlns:c16r2="http://schemas.microsoft.com/office/drawing/2015/06/chart">
            <c:ext xmlns:c16="http://schemas.microsoft.com/office/drawing/2014/chart" uri="{C3380CC4-5D6E-409C-BE32-E72D297353CC}">
              <c16:uniqueId val="{00000002-CC3B-6646-80D4-BE3961523A95}"/>
            </c:ext>
          </c:extLst>
        </c:ser>
        <c:ser>
          <c:idx val="3"/>
          <c:order val="3"/>
          <c:tx>
            <c:strRef>
              <c:f>Sheet1!$E$1</c:f>
              <c:strCache>
                <c:ptCount val="1"/>
                <c:pt idx="0">
                  <c:v>CogCompTime</c:v>
                </c:pt>
              </c:strCache>
            </c:strRef>
          </c:tx>
          <c:spPr>
            <a:solidFill>
              <a:schemeClr val="accent4"/>
            </a:solidFill>
            <a:ln>
              <a:noFill/>
            </a:ln>
            <a:effectLst/>
          </c:spPr>
          <c:invertIfNegative val="0"/>
          <c:cat>
            <c:strRef>
              <c:f>Sheet1!$A$2</c:f>
              <c:strCache>
                <c:ptCount val="1"/>
                <c:pt idx="0">
                  <c:v>F1</c:v>
                </c:pt>
              </c:strCache>
            </c:strRef>
          </c:cat>
          <c:val>
            <c:numRef>
              <c:f>Sheet1!$E$2</c:f>
              <c:numCache>
                <c:formatCode>General</c:formatCode>
                <c:ptCount val="1"/>
                <c:pt idx="0">
                  <c:v>66.6</c:v>
                </c:pt>
              </c:numCache>
            </c:numRef>
          </c:val>
          <c:extLst xmlns:c16r2="http://schemas.microsoft.com/office/drawing/2015/06/chart">
            <c:ext xmlns:c16="http://schemas.microsoft.com/office/drawing/2014/chart" uri="{C3380CC4-5D6E-409C-BE32-E72D297353CC}">
              <c16:uniqueId val="{00000003-CC3B-6646-80D4-BE3961523A95}"/>
            </c:ext>
          </c:extLst>
        </c:ser>
        <c:ser>
          <c:idx val="4"/>
          <c:order val="4"/>
          <c:tx>
            <c:strRef>
              <c:f>Sheet1!$F$1</c:f>
              <c:strCache>
                <c:ptCount val="1"/>
                <c:pt idx="0">
                  <c:v>LSTM</c:v>
                </c:pt>
              </c:strCache>
            </c:strRef>
          </c:tx>
          <c:spPr>
            <a:solidFill>
              <a:schemeClr val="accent5"/>
            </a:solidFill>
            <a:ln>
              <a:noFill/>
            </a:ln>
            <a:effectLst/>
          </c:spPr>
          <c:invertIfNegative val="0"/>
          <c:cat>
            <c:strRef>
              <c:f>Sheet1!$A$2</c:f>
              <c:strCache>
                <c:ptCount val="1"/>
                <c:pt idx="0">
                  <c:v>F1</c:v>
                </c:pt>
              </c:strCache>
            </c:strRef>
          </c:cat>
          <c:val>
            <c:numRef>
              <c:f>Sheet1!$F$2</c:f>
              <c:numCache>
                <c:formatCode>General</c:formatCode>
                <c:ptCount val="1"/>
                <c:pt idx="0">
                  <c:v>0.0</c:v>
                </c:pt>
              </c:numCache>
            </c:numRef>
          </c:val>
          <c:extLst xmlns:c16r2="http://schemas.microsoft.com/office/drawing/2015/06/chart">
            <c:ext xmlns:c16="http://schemas.microsoft.com/office/drawing/2014/chart" uri="{C3380CC4-5D6E-409C-BE32-E72D297353CC}">
              <c16:uniqueId val="{00000004-CC3B-6646-80D4-BE3961523A95}"/>
            </c:ext>
          </c:extLst>
        </c:ser>
        <c:ser>
          <c:idx val="5"/>
          <c:order val="5"/>
          <c:tx>
            <c:strRef>
              <c:f>Sheet1!$G$1</c:f>
              <c:strCache>
                <c:ptCount val="1"/>
                <c:pt idx="0">
                  <c:v>LSTM (BERT)</c:v>
                </c:pt>
              </c:strCache>
            </c:strRef>
          </c:tx>
          <c:spPr>
            <a:solidFill>
              <a:schemeClr val="accent6"/>
            </a:solidFill>
            <a:ln>
              <a:noFill/>
            </a:ln>
            <a:effectLst/>
          </c:spPr>
          <c:invertIfNegative val="0"/>
          <c:cat>
            <c:strRef>
              <c:f>Sheet1!$A$2</c:f>
              <c:strCache>
                <c:ptCount val="1"/>
                <c:pt idx="0">
                  <c:v>F1</c:v>
                </c:pt>
              </c:strCache>
            </c:strRef>
          </c:cat>
          <c:val>
            <c:numRef>
              <c:f>Sheet1!$G$2</c:f>
              <c:numCache>
                <c:formatCode>General</c:formatCode>
                <c:ptCount val="1"/>
                <c:pt idx="0">
                  <c:v>0.0</c:v>
                </c:pt>
              </c:numCache>
            </c:numRef>
          </c:val>
          <c:extLst xmlns:c16r2="http://schemas.microsoft.com/office/drawing/2015/06/chart">
            <c:ext xmlns:c16="http://schemas.microsoft.com/office/drawing/2014/chart" uri="{C3380CC4-5D6E-409C-BE32-E72D297353CC}">
              <c16:uniqueId val="{00000005-CC3B-6646-80D4-BE3961523A95}"/>
            </c:ext>
          </c:extLst>
        </c:ser>
        <c:ser>
          <c:idx val="6"/>
          <c:order val="6"/>
          <c:tx>
            <c:strRef>
              <c:f>Sheet1!$H$1</c:f>
              <c:strCache>
                <c:ptCount val="1"/>
                <c:pt idx="0">
                  <c:v>LSTM+Siamese</c:v>
                </c:pt>
              </c:strCache>
            </c:strRef>
          </c:tx>
          <c:spPr>
            <a:solidFill>
              <a:schemeClr val="accent1">
                <a:lumMod val="60000"/>
              </a:schemeClr>
            </a:solidFill>
            <a:ln>
              <a:noFill/>
            </a:ln>
            <a:effectLst/>
          </c:spPr>
          <c:invertIfNegative val="0"/>
          <c:cat>
            <c:strRef>
              <c:f>Sheet1!$A$2</c:f>
              <c:strCache>
                <c:ptCount val="1"/>
                <c:pt idx="0">
                  <c:v>F1</c:v>
                </c:pt>
              </c:strCache>
            </c:strRef>
          </c:cat>
          <c:val>
            <c:numRef>
              <c:f>Sheet1!$H$2</c:f>
              <c:numCache>
                <c:formatCode>General</c:formatCode>
                <c:ptCount val="1"/>
                <c:pt idx="0">
                  <c:v>0.0</c:v>
                </c:pt>
              </c:numCache>
            </c:numRef>
          </c:val>
          <c:extLst xmlns:c16r2="http://schemas.microsoft.com/office/drawing/2015/06/chart">
            <c:ext xmlns:c16="http://schemas.microsoft.com/office/drawing/2014/chart" uri="{C3380CC4-5D6E-409C-BE32-E72D297353CC}">
              <c16:uniqueId val="{00000006-CC3B-6646-80D4-BE3961523A95}"/>
            </c:ext>
          </c:extLst>
        </c:ser>
        <c:dLbls>
          <c:showLegendKey val="0"/>
          <c:showVal val="0"/>
          <c:showCatName val="0"/>
          <c:showSerName val="0"/>
          <c:showPercent val="0"/>
          <c:showBubbleSize val="0"/>
        </c:dLbls>
        <c:gapWidth val="267"/>
        <c:overlap val="-43"/>
        <c:axId val="863938848"/>
        <c:axId val="863941600"/>
      </c:barChart>
      <c:catAx>
        <c:axId val="863938848"/>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4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863941600"/>
        <c:crosses val="autoZero"/>
        <c:auto val="1"/>
        <c:lblAlgn val="ctr"/>
        <c:lblOffset val="100"/>
        <c:noMultiLvlLbl val="0"/>
      </c:catAx>
      <c:valAx>
        <c:axId val="863941600"/>
        <c:scaling>
          <c:orientation val="minMax"/>
          <c:max val="80.0"/>
          <c:min val="4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dk1">
                    <a:lumMod val="65000"/>
                    <a:lumOff val="35000"/>
                  </a:schemeClr>
                </a:solidFill>
                <a:latin typeface="+mn-lt"/>
                <a:ea typeface="+mn-ea"/>
                <a:cs typeface="+mn-cs"/>
              </a:defRPr>
            </a:pPr>
            <a:endParaRPr lang="en-US"/>
          </a:p>
        </c:txPr>
        <c:crossAx val="863938848"/>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400"/>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CAEVO</c:v>
                </c:pt>
              </c:strCache>
            </c:strRef>
          </c:tx>
          <c:spPr>
            <a:solidFill>
              <a:schemeClr val="accent1"/>
            </a:solidFill>
            <a:ln>
              <a:noFill/>
            </a:ln>
            <a:effectLst/>
          </c:spPr>
          <c:invertIfNegative val="0"/>
          <c:cat>
            <c:strRef>
              <c:f>Sheet1!$A$2</c:f>
              <c:strCache>
                <c:ptCount val="1"/>
                <c:pt idx="0">
                  <c:v>F1</c:v>
                </c:pt>
              </c:strCache>
            </c:strRef>
          </c:cat>
          <c:val>
            <c:numRef>
              <c:f>Sheet1!$B$2</c:f>
              <c:numCache>
                <c:formatCode>General</c:formatCode>
                <c:ptCount val="1"/>
                <c:pt idx="0">
                  <c:v>47.6</c:v>
                </c:pt>
              </c:numCache>
            </c:numRef>
          </c:val>
          <c:extLst xmlns:c16r2="http://schemas.microsoft.com/office/drawing/2015/06/chart">
            <c:ext xmlns:c16="http://schemas.microsoft.com/office/drawing/2014/chart" uri="{C3380CC4-5D6E-409C-BE32-E72D297353CC}">
              <c16:uniqueId val="{00000000-CC3B-6646-80D4-BE3961523A95}"/>
            </c:ext>
          </c:extLst>
        </c:ser>
        <c:ser>
          <c:idx val="1"/>
          <c:order val="1"/>
          <c:tx>
            <c:strRef>
              <c:f>Sheet1!$C$1</c:f>
              <c:strCache>
                <c:ptCount val="1"/>
                <c:pt idx="0">
                  <c:v>EMNLP'17</c:v>
                </c:pt>
              </c:strCache>
            </c:strRef>
          </c:tx>
          <c:spPr>
            <a:solidFill>
              <a:schemeClr val="accent2"/>
            </a:solidFill>
            <a:ln>
              <a:noFill/>
            </a:ln>
            <a:effectLst/>
          </c:spPr>
          <c:invertIfNegative val="0"/>
          <c:cat>
            <c:strRef>
              <c:f>Sheet1!$A$2</c:f>
              <c:strCache>
                <c:ptCount val="1"/>
                <c:pt idx="0">
                  <c:v>F1</c:v>
                </c:pt>
              </c:strCache>
            </c:strRef>
          </c:cat>
          <c:val>
            <c:numRef>
              <c:f>Sheet1!$C$2</c:f>
              <c:numCache>
                <c:formatCode>General</c:formatCode>
                <c:ptCount val="1"/>
                <c:pt idx="0">
                  <c:v>51.5</c:v>
                </c:pt>
              </c:numCache>
            </c:numRef>
          </c:val>
          <c:extLst xmlns:c16r2="http://schemas.microsoft.com/office/drawing/2015/06/chart">
            <c:ext xmlns:c16="http://schemas.microsoft.com/office/drawing/2014/chart" uri="{C3380CC4-5D6E-409C-BE32-E72D297353CC}">
              <c16:uniqueId val="{00000001-CC3B-6646-80D4-BE3961523A95}"/>
            </c:ext>
          </c:extLst>
        </c:ser>
        <c:ser>
          <c:idx val="2"/>
          <c:order val="2"/>
          <c:tx>
            <c:strRef>
              <c:f>Sheet1!$D$1</c:f>
              <c:strCache>
                <c:ptCount val="1"/>
                <c:pt idx="0">
                  <c:v>TemProb</c:v>
                </c:pt>
              </c:strCache>
            </c:strRef>
          </c:tx>
          <c:spPr>
            <a:solidFill>
              <a:schemeClr val="accent3"/>
            </a:solidFill>
            <a:ln>
              <a:noFill/>
            </a:ln>
            <a:effectLst/>
          </c:spPr>
          <c:invertIfNegative val="0"/>
          <c:cat>
            <c:strRef>
              <c:f>Sheet1!$A$2</c:f>
              <c:strCache>
                <c:ptCount val="1"/>
                <c:pt idx="0">
                  <c:v>F1</c:v>
                </c:pt>
              </c:strCache>
            </c:strRef>
          </c:cat>
          <c:val>
            <c:numRef>
              <c:f>Sheet1!$D$2</c:f>
              <c:numCache>
                <c:formatCode>General</c:formatCode>
                <c:ptCount val="1"/>
                <c:pt idx="0">
                  <c:v>55.5</c:v>
                </c:pt>
              </c:numCache>
            </c:numRef>
          </c:val>
          <c:extLst xmlns:c16r2="http://schemas.microsoft.com/office/drawing/2015/06/chart">
            <c:ext xmlns:c16="http://schemas.microsoft.com/office/drawing/2014/chart" uri="{C3380CC4-5D6E-409C-BE32-E72D297353CC}">
              <c16:uniqueId val="{00000002-CC3B-6646-80D4-BE3961523A95}"/>
            </c:ext>
          </c:extLst>
        </c:ser>
        <c:ser>
          <c:idx val="3"/>
          <c:order val="3"/>
          <c:tx>
            <c:strRef>
              <c:f>Sheet1!$E$1</c:f>
              <c:strCache>
                <c:ptCount val="1"/>
                <c:pt idx="0">
                  <c:v>CogCompTime</c:v>
                </c:pt>
              </c:strCache>
            </c:strRef>
          </c:tx>
          <c:spPr>
            <a:solidFill>
              <a:schemeClr val="accent4"/>
            </a:solidFill>
            <a:ln>
              <a:noFill/>
            </a:ln>
            <a:effectLst/>
          </c:spPr>
          <c:invertIfNegative val="0"/>
          <c:cat>
            <c:strRef>
              <c:f>Sheet1!$A$2</c:f>
              <c:strCache>
                <c:ptCount val="1"/>
                <c:pt idx="0">
                  <c:v>F1</c:v>
                </c:pt>
              </c:strCache>
            </c:strRef>
          </c:cat>
          <c:val>
            <c:numRef>
              <c:f>Sheet1!$E$2</c:f>
              <c:numCache>
                <c:formatCode>General</c:formatCode>
                <c:ptCount val="1"/>
                <c:pt idx="0">
                  <c:v>66.6</c:v>
                </c:pt>
              </c:numCache>
            </c:numRef>
          </c:val>
          <c:extLst xmlns:c16r2="http://schemas.microsoft.com/office/drawing/2015/06/chart">
            <c:ext xmlns:c16="http://schemas.microsoft.com/office/drawing/2014/chart" uri="{C3380CC4-5D6E-409C-BE32-E72D297353CC}">
              <c16:uniqueId val="{00000003-CC3B-6646-80D4-BE3961523A95}"/>
            </c:ext>
          </c:extLst>
        </c:ser>
        <c:ser>
          <c:idx val="4"/>
          <c:order val="4"/>
          <c:tx>
            <c:strRef>
              <c:f>Sheet1!$F$1</c:f>
              <c:strCache>
                <c:ptCount val="1"/>
                <c:pt idx="0">
                  <c:v>LSTM</c:v>
                </c:pt>
              </c:strCache>
            </c:strRef>
          </c:tx>
          <c:spPr>
            <a:solidFill>
              <a:schemeClr val="accent5"/>
            </a:solidFill>
            <a:ln>
              <a:noFill/>
            </a:ln>
            <a:effectLst/>
          </c:spPr>
          <c:invertIfNegative val="0"/>
          <c:cat>
            <c:strRef>
              <c:f>Sheet1!$A$2</c:f>
              <c:strCache>
                <c:ptCount val="1"/>
                <c:pt idx="0">
                  <c:v>F1</c:v>
                </c:pt>
              </c:strCache>
            </c:strRef>
          </c:cat>
          <c:val>
            <c:numRef>
              <c:f>Sheet1!$F$2</c:f>
              <c:numCache>
                <c:formatCode>General</c:formatCode>
                <c:ptCount val="1"/>
                <c:pt idx="0">
                  <c:v>69.0</c:v>
                </c:pt>
              </c:numCache>
            </c:numRef>
          </c:val>
          <c:extLst xmlns:c16r2="http://schemas.microsoft.com/office/drawing/2015/06/chart">
            <c:ext xmlns:c16="http://schemas.microsoft.com/office/drawing/2014/chart" uri="{C3380CC4-5D6E-409C-BE32-E72D297353CC}">
              <c16:uniqueId val="{00000004-CC3B-6646-80D4-BE3961523A95}"/>
            </c:ext>
          </c:extLst>
        </c:ser>
        <c:ser>
          <c:idx val="5"/>
          <c:order val="5"/>
          <c:tx>
            <c:strRef>
              <c:f>Sheet1!$G$1</c:f>
              <c:strCache>
                <c:ptCount val="1"/>
                <c:pt idx="0">
                  <c:v>LSTM (BERT)</c:v>
                </c:pt>
              </c:strCache>
            </c:strRef>
          </c:tx>
          <c:spPr>
            <a:solidFill>
              <a:schemeClr val="accent6"/>
            </a:solidFill>
            <a:ln>
              <a:noFill/>
            </a:ln>
            <a:effectLst/>
          </c:spPr>
          <c:invertIfNegative val="0"/>
          <c:cat>
            <c:strRef>
              <c:f>Sheet1!$A$2</c:f>
              <c:strCache>
                <c:ptCount val="1"/>
                <c:pt idx="0">
                  <c:v>F1</c:v>
                </c:pt>
              </c:strCache>
            </c:strRef>
          </c:cat>
          <c:val>
            <c:numRef>
              <c:f>Sheet1!$G$2</c:f>
              <c:numCache>
                <c:formatCode>General</c:formatCode>
                <c:ptCount val="1"/>
                <c:pt idx="0">
                  <c:v>73.8</c:v>
                </c:pt>
              </c:numCache>
            </c:numRef>
          </c:val>
          <c:extLst xmlns:c16r2="http://schemas.microsoft.com/office/drawing/2015/06/chart">
            <c:ext xmlns:c16="http://schemas.microsoft.com/office/drawing/2014/chart" uri="{C3380CC4-5D6E-409C-BE32-E72D297353CC}">
              <c16:uniqueId val="{00000005-CC3B-6646-80D4-BE3961523A95}"/>
            </c:ext>
          </c:extLst>
        </c:ser>
        <c:ser>
          <c:idx val="6"/>
          <c:order val="6"/>
          <c:tx>
            <c:strRef>
              <c:f>Sheet1!$H$1</c:f>
              <c:strCache>
                <c:ptCount val="1"/>
                <c:pt idx="0">
                  <c:v>LSTM+Siamese</c:v>
                </c:pt>
              </c:strCache>
            </c:strRef>
          </c:tx>
          <c:spPr>
            <a:solidFill>
              <a:schemeClr val="accent1">
                <a:lumMod val="60000"/>
              </a:schemeClr>
            </a:solidFill>
            <a:ln>
              <a:noFill/>
            </a:ln>
            <a:effectLst/>
          </c:spPr>
          <c:invertIfNegative val="0"/>
          <c:cat>
            <c:strRef>
              <c:f>Sheet1!$A$2</c:f>
              <c:strCache>
                <c:ptCount val="1"/>
                <c:pt idx="0">
                  <c:v>F1</c:v>
                </c:pt>
              </c:strCache>
            </c:strRef>
          </c:cat>
          <c:val>
            <c:numRef>
              <c:f>Sheet1!$H$2</c:f>
              <c:numCache>
                <c:formatCode>General</c:formatCode>
                <c:ptCount val="1"/>
                <c:pt idx="0">
                  <c:v>76.5</c:v>
                </c:pt>
              </c:numCache>
            </c:numRef>
          </c:val>
          <c:extLst xmlns:c16r2="http://schemas.microsoft.com/office/drawing/2015/06/chart">
            <c:ext xmlns:c16="http://schemas.microsoft.com/office/drawing/2014/chart" uri="{C3380CC4-5D6E-409C-BE32-E72D297353CC}">
              <c16:uniqueId val="{00000006-CC3B-6646-80D4-BE3961523A95}"/>
            </c:ext>
          </c:extLst>
        </c:ser>
        <c:dLbls>
          <c:showLegendKey val="0"/>
          <c:showVal val="0"/>
          <c:showCatName val="0"/>
          <c:showSerName val="0"/>
          <c:showPercent val="0"/>
          <c:showBubbleSize val="0"/>
        </c:dLbls>
        <c:gapWidth val="267"/>
        <c:overlap val="-43"/>
        <c:axId val="867289024"/>
        <c:axId val="867291072"/>
      </c:barChart>
      <c:catAx>
        <c:axId val="867289024"/>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4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867291072"/>
        <c:crosses val="autoZero"/>
        <c:auto val="1"/>
        <c:lblAlgn val="ctr"/>
        <c:lblOffset val="100"/>
        <c:noMultiLvlLbl val="0"/>
      </c:catAx>
      <c:valAx>
        <c:axId val="867291072"/>
        <c:scaling>
          <c:orientation val="minMax"/>
          <c:max val="80.0"/>
          <c:min val="4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dk1">
                    <a:lumMod val="65000"/>
                    <a:lumOff val="35000"/>
                  </a:schemeClr>
                </a:solidFill>
                <a:latin typeface="+mn-lt"/>
                <a:ea typeface="+mn-ea"/>
                <a:cs typeface="+mn-cs"/>
              </a:defRPr>
            </a:pPr>
            <a:endParaRPr lang="en-US"/>
          </a:p>
        </c:txPr>
        <c:crossAx val="867289024"/>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400"/>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CAEVO</c:v>
                </c:pt>
              </c:strCache>
            </c:strRef>
          </c:tx>
          <c:spPr>
            <a:solidFill>
              <a:schemeClr val="accent1"/>
            </a:solidFill>
            <a:ln>
              <a:noFill/>
            </a:ln>
            <a:effectLst/>
          </c:spPr>
          <c:invertIfNegative val="0"/>
          <c:cat>
            <c:strRef>
              <c:f>Sheet1!$A$2</c:f>
              <c:strCache>
                <c:ptCount val="1"/>
                <c:pt idx="0">
                  <c:v>F1</c:v>
                </c:pt>
              </c:strCache>
            </c:strRef>
          </c:cat>
          <c:val>
            <c:numRef>
              <c:f>Sheet1!$B$2</c:f>
              <c:numCache>
                <c:formatCode>General</c:formatCode>
                <c:ptCount val="1"/>
                <c:pt idx="0">
                  <c:v>47.6</c:v>
                </c:pt>
              </c:numCache>
            </c:numRef>
          </c:val>
          <c:extLst xmlns:c16r2="http://schemas.microsoft.com/office/drawing/2015/06/chart">
            <c:ext xmlns:c16="http://schemas.microsoft.com/office/drawing/2014/chart" uri="{C3380CC4-5D6E-409C-BE32-E72D297353CC}">
              <c16:uniqueId val="{00000000-CC3B-6646-80D4-BE3961523A95}"/>
            </c:ext>
          </c:extLst>
        </c:ser>
        <c:ser>
          <c:idx val="1"/>
          <c:order val="1"/>
          <c:tx>
            <c:strRef>
              <c:f>Sheet1!$C$1</c:f>
              <c:strCache>
                <c:ptCount val="1"/>
                <c:pt idx="0">
                  <c:v>EMNLP'17</c:v>
                </c:pt>
              </c:strCache>
            </c:strRef>
          </c:tx>
          <c:spPr>
            <a:solidFill>
              <a:schemeClr val="accent2"/>
            </a:solidFill>
            <a:ln>
              <a:noFill/>
            </a:ln>
            <a:effectLst/>
          </c:spPr>
          <c:invertIfNegative val="0"/>
          <c:cat>
            <c:strRef>
              <c:f>Sheet1!$A$2</c:f>
              <c:strCache>
                <c:ptCount val="1"/>
                <c:pt idx="0">
                  <c:v>F1</c:v>
                </c:pt>
              </c:strCache>
            </c:strRef>
          </c:cat>
          <c:val>
            <c:numRef>
              <c:f>Sheet1!$C$2</c:f>
              <c:numCache>
                <c:formatCode>General</c:formatCode>
                <c:ptCount val="1"/>
                <c:pt idx="0">
                  <c:v>51.5</c:v>
                </c:pt>
              </c:numCache>
            </c:numRef>
          </c:val>
          <c:extLst xmlns:c16r2="http://schemas.microsoft.com/office/drawing/2015/06/chart">
            <c:ext xmlns:c16="http://schemas.microsoft.com/office/drawing/2014/chart" uri="{C3380CC4-5D6E-409C-BE32-E72D297353CC}">
              <c16:uniqueId val="{00000001-CC3B-6646-80D4-BE3961523A95}"/>
            </c:ext>
          </c:extLst>
        </c:ser>
        <c:ser>
          <c:idx val="2"/>
          <c:order val="2"/>
          <c:tx>
            <c:strRef>
              <c:f>Sheet1!$D$1</c:f>
              <c:strCache>
                <c:ptCount val="1"/>
                <c:pt idx="0">
                  <c:v>TemProb</c:v>
                </c:pt>
              </c:strCache>
            </c:strRef>
          </c:tx>
          <c:spPr>
            <a:solidFill>
              <a:schemeClr val="accent3"/>
            </a:solidFill>
            <a:ln>
              <a:noFill/>
            </a:ln>
            <a:effectLst/>
          </c:spPr>
          <c:invertIfNegative val="0"/>
          <c:cat>
            <c:strRef>
              <c:f>Sheet1!$A$2</c:f>
              <c:strCache>
                <c:ptCount val="1"/>
                <c:pt idx="0">
                  <c:v>F1</c:v>
                </c:pt>
              </c:strCache>
            </c:strRef>
          </c:cat>
          <c:val>
            <c:numRef>
              <c:f>Sheet1!$D$2</c:f>
              <c:numCache>
                <c:formatCode>General</c:formatCode>
                <c:ptCount val="1"/>
                <c:pt idx="0">
                  <c:v>55.5</c:v>
                </c:pt>
              </c:numCache>
            </c:numRef>
          </c:val>
          <c:extLst xmlns:c16r2="http://schemas.microsoft.com/office/drawing/2015/06/chart">
            <c:ext xmlns:c16="http://schemas.microsoft.com/office/drawing/2014/chart" uri="{C3380CC4-5D6E-409C-BE32-E72D297353CC}">
              <c16:uniqueId val="{00000002-CC3B-6646-80D4-BE3961523A95}"/>
            </c:ext>
          </c:extLst>
        </c:ser>
        <c:ser>
          <c:idx val="3"/>
          <c:order val="3"/>
          <c:tx>
            <c:strRef>
              <c:f>Sheet1!$E$1</c:f>
              <c:strCache>
                <c:ptCount val="1"/>
                <c:pt idx="0">
                  <c:v>CogCompTime</c:v>
                </c:pt>
              </c:strCache>
            </c:strRef>
          </c:tx>
          <c:spPr>
            <a:solidFill>
              <a:schemeClr val="accent4"/>
            </a:solidFill>
            <a:ln>
              <a:noFill/>
            </a:ln>
            <a:effectLst/>
          </c:spPr>
          <c:invertIfNegative val="0"/>
          <c:cat>
            <c:strRef>
              <c:f>Sheet1!$A$2</c:f>
              <c:strCache>
                <c:ptCount val="1"/>
                <c:pt idx="0">
                  <c:v>F1</c:v>
                </c:pt>
              </c:strCache>
            </c:strRef>
          </c:cat>
          <c:val>
            <c:numRef>
              <c:f>Sheet1!$E$2</c:f>
              <c:numCache>
                <c:formatCode>General</c:formatCode>
                <c:ptCount val="1"/>
                <c:pt idx="0">
                  <c:v>66.6</c:v>
                </c:pt>
              </c:numCache>
            </c:numRef>
          </c:val>
          <c:extLst xmlns:c16r2="http://schemas.microsoft.com/office/drawing/2015/06/chart">
            <c:ext xmlns:c16="http://schemas.microsoft.com/office/drawing/2014/chart" uri="{C3380CC4-5D6E-409C-BE32-E72D297353CC}">
              <c16:uniqueId val="{00000003-CC3B-6646-80D4-BE3961523A95}"/>
            </c:ext>
          </c:extLst>
        </c:ser>
        <c:ser>
          <c:idx val="4"/>
          <c:order val="4"/>
          <c:tx>
            <c:strRef>
              <c:f>Sheet1!$F$1</c:f>
              <c:strCache>
                <c:ptCount val="1"/>
                <c:pt idx="0">
                  <c:v>LSTM</c:v>
                </c:pt>
              </c:strCache>
            </c:strRef>
          </c:tx>
          <c:spPr>
            <a:solidFill>
              <a:schemeClr val="accent5"/>
            </a:solidFill>
            <a:ln>
              <a:noFill/>
            </a:ln>
            <a:effectLst/>
          </c:spPr>
          <c:invertIfNegative val="0"/>
          <c:cat>
            <c:strRef>
              <c:f>Sheet1!$A$2</c:f>
              <c:strCache>
                <c:ptCount val="1"/>
                <c:pt idx="0">
                  <c:v>F1</c:v>
                </c:pt>
              </c:strCache>
            </c:strRef>
          </c:cat>
          <c:val>
            <c:numRef>
              <c:f>Sheet1!$F$2</c:f>
              <c:numCache>
                <c:formatCode>General</c:formatCode>
                <c:ptCount val="1"/>
                <c:pt idx="0">
                  <c:v>69.0</c:v>
                </c:pt>
              </c:numCache>
            </c:numRef>
          </c:val>
          <c:extLst xmlns:c16r2="http://schemas.microsoft.com/office/drawing/2015/06/chart">
            <c:ext xmlns:c16="http://schemas.microsoft.com/office/drawing/2014/chart" uri="{C3380CC4-5D6E-409C-BE32-E72D297353CC}">
              <c16:uniqueId val="{00000004-CC3B-6646-80D4-BE3961523A95}"/>
            </c:ext>
          </c:extLst>
        </c:ser>
        <c:ser>
          <c:idx val="5"/>
          <c:order val="5"/>
          <c:tx>
            <c:strRef>
              <c:f>Sheet1!$G$1</c:f>
              <c:strCache>
                <c:ptCount val="1"/>
                <c:pt idx="0">
                  <c:v>LSTM (BERT)</c:v>
                </c:pt>
              </c:strCache>
            </c:strRef>
          </c:tx>
          <c:spPr>
            <a:solidFill>
              <a:schemeClr val="accent6"/>
            </a:solidFill>
            <a:ln>
              <a:noFill/>
            </a:ln>
            <a:effectLst/>
          </c:spPr>
          <c:invertIfNegative val="0"/>
          <c:cat>
            <c:strRef>
              <c:f>Sheet1!$A$2</c:f>
              <c:strCache>
                <c:ptCount val="1"/>
                <c:pt idx="0">
                  <c:v>F1</c:v>
                </c:pt>
              </c:strCache>
            </c:strRef>
          </c:cat>
          <c:val>
            <c:numRef>
              <c:f>Sheet1!$G$2</c:f>
              <c:numCache>
                <c:formatCode>General</c:formatCode>
                <c:ptCount val="1"/>
                <c:pt idx="0">
                  <c:v>73.8</c:v>
                </c:pt>
              </c:numCache>
            </c:numRef>
          </c:val>
          <c:extLst xmlns:c16r2="http://schemas.microsoft.com/office/drawing/2015/06/chart">
            <c:ext xmlns:c16="http://schemas.microsoft.com/office/drawing/2014/chart" uri="{C3380CC4-5D6E-409C-BE32-E72D297353CC}">
              <c16:uniqueId val="{00000005-CC3B-6646-80D4-BE3961523A95}"/>
            </c:ext>
          </c:extLst>
        </c:ser>
        <c:ser>
          <c:idx val="6"/>
          <c:order val="6"/>
          <c:tx>
            <c:strRef>
              <c:f>Sheet1!$H$1</c:f>
              <c:strCache>
                <c:ptCount val="1"/>
                <c:pt idx="0">
                  <c:v>LSTM+Siamese</c:v>
                </c:pt>
              </c:strCache>
            </c:strRef>
          </c:tx>
          <c:spPr>
            <a:solidFill>
              <a:schemeClr val="accent1">
                <a:lumMod val="60000"/>
              </a:schemeClr>
            </a:solidFill>
            <a:ln>
              <a:noFill/>
            </a:ln>
            <a:effectLst/>
          </c:spPr>
          <c:invertIfNegative val="0"/>
          <c:cat>
            <c:strRef>
              <c:f>Sheet1!$A$2</c:f>
              <c:strCache>
                <c:ptCount val="1"/>
                <c:pt idx="0">
                  <c:v>F1</c:v>
                </c:pt>
              </c:strCache>
            </c:strRef>
          </c:cat>
          <c:val>
            <c:numRef>
              <c:f>Sheet1!$H$2</c:f>
              <c:numCache>
                <c:formatCode>General</c:formatCode>
                <c:ptCount val="1"/>
                <c:pt idx="0">
                  <c:v>76.5</c:v>
                </c:pt>
              </c:numCache>
            </c:numRef>
          </c:val>
          <c:extLst xmlns:c16r2="http://schemas.microsoft.com/office/drawing/2015/06/chart">
            <c:ext xmlns:c16="http://schemas.microsoft.com/office/drawing/2014/chart" uri="{C3380CC4-5D6E-409C-BE32-E72D297353CC}">
              <c16:uniqueId val="{00000006-CC3B-6646-80D4-BE3961523A95}"/>
            </c:ext>
          </c:extLst>
        </c:ser>
        <c:dLbls>
          <c:showLegendKey val="0"/>
          <c:showVal val="0"/>
          <c:showCatName val="0"/>
          <c:showSerName val="0"/>
          <c:showPercent val="0"/>
          <c:showBubbleSize val="0"/>
        </c:dLbls>
        <c:gapWidth val="267"/>
        <c:overlap val="-43"/>
        <c:axId val="871107312"/>
        <c:axId val="871109520"/>
      </c:barChart>
      <c:catAx>
        <c:axId val="871107312"/>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4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871109520"/>
        <c:crosses val="autoZero"/>
        <c:auto val="1"/>
        <c:lblAlgn val="ctr"/>
        <c:lblOffset val="100"/>
        <c:noMultiLvlLbl val="0"/>
      </c:catAx>
      <c:valAx>
        <c:axId val="871109520"/>
        <c:scaling>
          <c:orientation val="minMax"/>
          <c:max val="80.0"/>
          <c:min val="4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dk1">
                    <a:lumMod val="65000"/>
                    <a:lumOff val="35000"/>
                  </a:schemeClr>
                </a:solidFill>
                <a:latin typeface="+mn-lt"/>
                <a:ea typeface="+mn-ea"/>
                <a:cs typeface="+mn-cs"/>
              </a:defRPr>
            </a:pPr>
            <a:endParaRPr lang="en-US"/>
          </a:p>
        </c:txPr>
        <c:crossAx val="871107312"/>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400"/>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CAEVO</c:v>
                </c:pt>
              </c:strCache>
            </c:strRef>
          </c:tx>
          <c:spPr>
            <a:solidFill>
              <a:schemeClr val="accent1"/>
            </a:solidFill>
            <a:ln>
              <a:noFill/>
            </a:ln>
            <a:effectLst/>
          </c:spPr>
          <c:invertIfNegative val="0"/>
          <c:cat>
            <c:strRef>
              <c:f>Sheet1!$A$2</c:f>
              <c:strCache>
                <c:ptCount val="1"/>
                <c:pt idx="0">
                  <c:v>F1</c:v>
                </c:pt>
              </c:strCache>
            </c:strRef>
          </c:cat>
          <c:val>
            <c:numRef>
              <c:f>Sheet1!$B$2</c:f>
              <c:numCache>
                <c:formatCode>General</c:formatCode>
                <c:ptCount val="1"/>
                <c:pt idx="0">
                  <c:v>47.6</c:v>
                </c:pt>
              </c:numCache>
            </c:numRef>
          </c:val>
          <c:extLst xmlns:c16r2="http://schemas.microsoft.com/office/drawing/2015/06/chart">
            <c:ext xmlns:c16="http://schemas.microsoft.com/office/drawing/2014/chart" uri="{C3380CC4-5D6E-409C-BE32-E72D297353CC}">
              <c16:uniqueId val="{00000000-CC3B-6646-80D4-BE3961523A95}"/>
            </c:ext>
          </c:extLst>
        </c:ser>
        <c:ser>
          <c:idx val="1"/>
          <c:order val="1"/>
          <c:tx>
            <c:strRef>
              <c:f>Sheet1!$C$1</c:f>
              <c:strCache>
                <c:ptCount val="1"/>
                <c:pt idx="0">
                  <c:v>EMNLP'17</c:v>
                </c:pt>
              </c:strCache>
            </c:strRef>
          </c:tx>
          <c:spPr>
            <a:solidFill>
              <a:schemeClr val="accent2"/>
            </a:solidFill>
            <a:ln>
              <a:noFill/>
            </a:ln>
            <a:effectLst/>
          </c:spPr>
          <c:invertIfNegative val="0"/>
          <c:cat>
            <c:strRef>
              <c:f>Sheet1!$A$2</c:f>
              <c:strCache>
                <c:ptCount val="1"/>
                <c:pt idx="0">
                  <c:v>F1</c:v>
                </c:pt>
              </c:strCache>
            </c:strRef>
          </c:cat>
          <c:val>
            <c:numRef>
              <c:f>Sheet1!$C$2</c:f>
              <c:numCache>
                <c:formatCode>General</c:formatCode>
                <c:ptCount val="1"/>
                <c:pt idx="0">
                  <c:v>51.5</c:v>
                </c:pt>
              </c:numCache>
            </c:numRef>
          </c:val>
          <c:extLst xmlns:c16r2="http://schemas.microsoft.com/office/drawing/2015/06/chart">
            <c:ext xmlns:c16="http://schemas.microsoft.com/office/drawing/2014/chart" uri="{C3380CC4-5D6E-409C-BE32-E72D297353CC}">
              <c16:uniqueId val="{00000001-CC3B-6646-80D4-BE3961523A95}"/>
            </c:ext>
          </c:extLst>
        </c:ser>
        <c:ser>
          <c:idx val="2"/>
          <c:order val="2"/>
          <c:tx>
            <c:strRef>
              <c:f>Sheet1!$D$1</c:f>
              <c:strCache>
                <c:ptCount val="1"/>
                <c:pt idx="0">
                  <c:v>TemProb</c:v>
                </c:pt>
              </c:strCache>
            </c:strRef>
          </c:tx>
          <c:spPr>
            <a:solidFill>
              <a:schemeClr val="accent3"/>
            </a:solidFill>
            <a:ln>
              <a:noFill/>
            </a:ln>
            <a:effectLst/>
          </c:spPr>
          <c:invertIfNegative val="0"/>
          <c:cat>
            <c:strRef>
              <c:f>Sheet1!$A$2</c:f>
              <c:strCache>
                <c:ptCount val="1"/>
                <c:pt idx="0">
                  <c:v>F1</c:v>
                </c:pt>
              </c:strCache>
            </c:strRef>
          </c:cat>
          <c:val>
            <c:numRef>
              <c:f>Sheet1!$D$2</c:f>
              <c:numCache>
                <c:formatCode>General</c:formatCode>
                <c:ptCount val="1"/>
                <c:pt idx="0">
                  <c:v>55.5</c:v>
                </c:pt>
              </c:numCache>
            </c:numRef>
          </c:val>
          <c:extLst xmlns:c16r2="http://schemas.microsoft.com/office/drawing/2015/06/chart">
            <c:ext xmlns:c16="http://schemas.microsoft.com/office/drawing/2014/chart" uri="{C3380CC4-5D6E-409C-BE32-E72D297353CC}">
              <c16:uniqueId val="{00000002-CC3B-6646-80D4-BE3961523A95}"/>
            </c:ext>
          </c:extLst>
        </c:ser>
        <c:ser>
          <c:idx val="3"/>
          <c:order val="3"/>
          <c:tx>
            <c:strRef>
              <c:f>Sheet1!$E$1</c:f>
              <c:strCache>
                <c:ptCount val="1"/>
                <c:pt idx="0">
                  <c:v>CogCompTime</c:v>
                </c:pt>
              </c:strCache>
            </c:strRef>
          </c:tx>
          <c:spPr>
            <a:solidFill>
              <a:schemeClr val="accent4"/>
            </a:solidFill>
            <a:ln>
              <a:noFill/>
            </a:ln>
            <a:effectLst/>
          </c:spPr>
          <c:invertIfNegative val="0"/>
          <c:cat>
            <c:strRef>
              <c:f>Sheet1!$A$2</c:f>
              <c:strCache>
                <c:ptCount val="1"/>
                <c:pt idx="0">
                  <c:v>F1</c:v>
                </c:pt>
              </c:strCache>
            </c:strRef>
          </c:cat>
          <c:val>
            <c:numRef>
              <c:f>Sheet1!$E$2</c:f>
              <c:numCache>
                <c:formatCode>General</c:formatCode>
                <c:ptCount val="1"/>
                <c:pt idx="0">
                  <c:v>66.6</c:v>
                </c:pt>
              </c:numCache>
            </c:numRef>
          </c:val>
          <c:extLst xmlns:c16r2="http://schemas.microsoft.com/office/drawing/2015/06/chart">
            <c:ext xmlns:c16="http://schemas.microsoft.com/office/drawing/2014/chart" uri="{C3380CC4-5D6E-409C-BE32-E72D297353CC}">
              <c16:uniqueId val="{00000003-CC3B-6646-80D4-BE3961523A95}"/>
            </c:ext>
          </c:extLst>
        </c:ser>
        <c:ser>
          <c:idx val="4"/>
          <c:order val="4"/>
          <c:tx>
            <c:strRef>
              <c:f>Sheet1!$F$1</c:f>
              <c:strCache>
                <c:ptCount val="1"/>
                <c:pt idx="0">
                  <c:v>LSTM</c:v>
                </c:pt>
              </c:strCache>
            </c:strRef>
          </c:tx>
          <c:spPr>
            <a:solidFill>
              <a:schemeClr val="accent5"/>
            </a:solidFill>
            <a:ln>
              <a:noFill/>
            </a:ln>
            <a:effectLst/>
          </c:spPr>
          <c:invertIfNegative val="0"/>
          <c:cat>
            <c:strRef>
              <c:f>Sheet1!$A$2</c:f>
              <c:strCache>
                <c:ptCount val="1"/>
                <c:pt idx="0">
                  <c:v>F1</c:v>
                </c:pt>
              </c:strCache>
            </c:strRef>
          </c:cat>
          <c:val>
            <c:numRef>
              <c:f>Sheet1!$F$2</c:f>
              <c:numCache>
                <c:formatCode>General</c:formatCode>
                <c:ptCount val="1"/>
                <c:pt idx="0">
                  <c:v>69.0</c:v>
                </c:pt>
              </c:numCache>
            </c:numRef>
          </c:val>
          <c:extLst xmlns:c16r2="http://schemas.microsoft.com/office/drawing/2015/06/chart">
            <c:ext xmlns:c16="http://schemas.microsoft.com/office/drawing/2014/chart" uri="{C3380CC4-5D6E-409C-BE32-E72D297353CC}">
              <c16:uniqueId val="{00000004-CC3B-6646-80D4-BE3961523A95}"/>
            </c:ext>
          </c:extLst>
        </c:ser>
        <c:ser>
          <c:idx val="5"/>
          <c:order val="5"/>
          <c:tx>
            <c:strRef>
              <c:f>Sheet1!$G$1</c:f>
              <c:strCache>
                <c:ptCount val="1"/>
                <c:pt idx="0">
                  <c:v>LSTM (BERT)</c:v>
                </c:pt>
              </c:strCache>
            </c:strRef>
          </c:tx>
          <c:spPr>
            <a:solidFill>
              <a:schemeClr val="accent6"/>
            </a:solidFill>
            <a:ln>
              <a:noFill/>
            </a:ln>
            <a:effectLst/>
          </c:spPr>
          <c:invertIfNegative val="0"/>
          <c:cat>
            <c:strRef>
              <c:f>Sheet1!$A$2</c:f>
              <c:strCache>
                <c:ptCount val="1"/>
                <c:pt idx="0">
                  <c:v>F1</c:v>
                </c:pt>
              </c:strCache>
            </c:strRef>
          </c:cat>
          <c:val>
            <c:numRef>
              <c:f>Sheet1!$G$2</c:f>
              <c:numCache>
                <c:formatCode>General</c:formatCode>
                <c:ptCount val="1"/>
                <c:pt idx="0">
                  <c:v>73.8</c:v>
                </c:pt>
              </c:numCache>
            </c:numRef>
          </c:val>
          <c:extLst xmlns:c16r2="http://schemas.microsoft.com/office/drawing/2015/06/chart">
            <c:ext xmlns:c16="http://schemas.microsoft.com/office/drawing/2014/chart" uri="{C3380CC4-5D6E-409C-BE32-E72D297353CC}">
              <c16:uniqueId val="{00000005-CC3B-6646-80D4-BE3961523A95}"/>
            </c:ext>
          </c:extLst>
        </c:ser>
        <c:ser>
          <c:idx val="6"/>
          <c:order val="6"/>
          <c:tx>
            <c:strRef>
              <c:f>Sheet1!$H$1</c:f>
              <c:strCache>
                <c:ptCount val="1"/>
                <c:pt idx="0">
                  <c:v>LSTM+Siamese</c:v>
                </c:pt>
              </c:strCache>
            </c:strRef>
          </c:tx>
          <c:spPr>
            <a:solidFill>
              <a:schemeClr val="accent1">
                <a:lumMod val="60000"/>
              </a:schemeClr>
            </a:solidFill>
            <a:ln>
              <a:noFill/>
            </a:ln>
            <a:effectLst/>
          </c:spPr>
          <c:invertIfNegative val="0"/>
          <c:cat>
            <c:strRef>
              <c:f>Sheet1!$A$2</c:f>
              <c:strCache>
                <c:ptCount val="1"/>
                <c:pt idx="0">
                  <c:v>F1</c:v>
                </c:pt>
              </c:strCache>
            </c:strRef>
          </c:cat>
          <c:val>
            <c:numRef>
              <c:f>Sheet1!$H$2</c:f>
              <c:numCache>
                <c:formatCode>General</c:formatCode>
                <c:ptCount val="1"/>
                <c:pt idx="0">
                  <c:v>76.5</c:v>
                </c:pt>
              </c:numCache>
            </c:numRef>
          </c:val>
          <c:extLst xmlns:c16r2="http://schemas.microsoft.com/office/drawing/2015/06/chart">
            <c:ext xmlns:c16="http://schemas.microsoft.com/office/drawing/2014/chart" uri="{C3380CC4-5D6E-409C-BE32-E72D297353CC}">
              <c16:uniqueId val="{00000006-CC3B-6646-80D4-BE3961523A95}"/>
            </c:ext>
          </c:extLst>
        </c:ser>
        <c:dLbls>
          <c:showLegendKey val="0"/>
          <c:showVal val="0"/>
          <c:showCatName val="0"/>
          <c:showSerName val="0"/>
          <c:showPercent val="0"/>
          <c:showBubbleSize val="0"/>
        </c:dLbls>
        <c:gapWidth val="267"/>
        <c:overlap val="-43"/>
        <c:axId val="881030288"/>
        <c:axId val="881033040"/>
      </c:barChart>
      <c:catAx>
        <c:axId val="881030288"/>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4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881033040"/>
        <c:crosses val="autoZero"/>
        <c:auto val="1"/>
        <c:lblAlgn val="ctr"/>
        <c:lblOffset val="100"/>
        <c:noMultiLvlLbl val="0"/>
      </c:catAx>
      <c:valAx>
        <c:axId val="881033040"/>
        <c:scaling>
          <c:orientation val="minMax"/>
          <c:max val="80.0"/>
          <c:min val="4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dk1">
                    <a:lumMod val="65000"/>
                    <a:lumOff val="35000"/>
                  </a:schemeClr>
                </a:solidFill>
                <a:latin typeface="+mn-lt"/>
                <a:ea typeface="+mn-ea"/>
                <a:cs typeface="+mn-cs"/>
              </a:defRPr>
            </a:pPr>
            <a:endParaRPr lang="en-US"/>
          </a:p>
        </c:txPr>
        <c:crossAx val="881030288"/>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4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3.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4.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0.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1.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2.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3.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4.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drawings/drawing1.xml><?xml version="1.0" encoding="utf-8"?>
<c:userShapes xmlns:c="http://schemas.openxmlformats.org/drawingml/2006/chart">
  <cdr:relSizeAnchor xmlns:cdr="http://schemas.openxmlformats.org/drawingml/2006/chartDrawing">
    <cdr:from>
      <cdr:x>0.48715</cdr:x>
      <cdr:y>0.91667</cdr:y>
    </cdr:from>
    <cdr:to>
      <cdr:x>0.94227</cdr:x>
      <cdr:y>0.98039</cdr:y>
    </cdr:to>
    <cdr:sp macro="" textlink="">
      <cdr:nvSpPr>
        <cdr:cNvPr id="2" name="Rectangle 1">
          <a:extLst xmlns:a="http://schemas.openxmlformats.org/drawingml/2006/main">
            <a:ext uri="{FF2B5EF4-FFF2-40B4-BE49-F238E27FC236}">
              <a16:creationId xmlns:a16="http://schemas.microsoft.com/office/drawing/2014/main" xmlns="" id="{F0555ACD-677D-3A40-98F7-2E699A47D7DE}"/>
            </a:ext>
          </a:extLst>
        </cdr:cNvPr>
        <cdr:cNvSpPr/>
      </cdr:nvSpPr>
      <cdr:spPr>
        <a:xfrm xmlns:a="http://schemas.openxmlformats.org/drawingml/2006/main">
          <a:off x="3387968" y="4384446"/>
          <a:ext cx="3165232" cy="304774"/>
        </a:xfrm>
        <a:prstGeom xmlns:a="http://schemas.openxmlformats.org/drawingml/2006/main" prst="rect">
          <a:avLst/>
        </a:prstGeom>
        <a:solidFill xmlns:a="http://schemas.openxmlformats.org/drawingml/2006/main">
          <a:schemeClr val="tx1"/>
        </a:solidFill>
        <a:ln xmlns:a="http://schemas.openxmlformats.org/drawingml/2006/main" w="3810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122F32DC-4741-2842-9503-8FA304F096F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891DD9F5-1011-F740-B157-FFB747B81C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C03380-269B-6F43-843B-D5D4B2B98FEE}" type="datetimeFigureOut">
              <a:rPr lang="en-US" smtClean="0"/>
              <a:t>5/9/19</a:t>
            </a:fld>
            <a:endParaRPr lang="en-US"/>
          </a:p>
        </p:txBody>
      </p:sp>
      <p:sp>
        <p:nvSpPr>
          <p:cNvPr id="4" name="Footer Placeholder 3">
            <a:extLst>
              <a:ext uri="{FF2B5EF4-FFF2-40B4-BE49-F238E27FC236}">
                <a16:creationId xmlns:a16="http://schemas.microsoft.com/office/drawing/2014/main" xmlns="" id="{CA6C1C79-6DAC-934C-A422-6120DBD3EB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FACFA3D4-7BFB-D942-B57F-7E1207CD90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EA46EA-72AE-4042-BF83-EE5894A2CFCD}" type="slidenum">
              <a:rPr lang="en-US" smtClean="0"/>
              <a:t>‹#›</a:t>
            </a:fld>
            <a:endParaRPr lang="en-US"/>
          </a:p>
        </p:txBody>
      </p:sp>
    </p:spTree>
    <p:extLst>
      <p:ext uri="{BB962C8B-B14F-4D97-AF65-F5344CB8AC3E}">
        <p14:creationId xmlns:p14="http://schemas.microsoft.com/office/powerpoint/2010/main" val="7482709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smtClean="0"/>
            </a:lvl1pPr>
          </a:lstStyle>
          <a:p>
            <a:pPr>
              <a:defRPr/>
            </a:pPr>
            <a:endParaRPr lang="en-US" altLang="en-US"/>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endParaRPr lang="en-US" altLang="en-US"/>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smtClean="0"/>
            </a:lvl1pPr>
          </a:lstStyle>
          <a:p>
            <a:pPr>
              <a:defRPr/>
            </a:pPr>
            <a:endParaRPr lang="en-US" alt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4F7D9C7A-1E92-449D-A064-B8AFA531E953}" type="slidenum">
              <a:rPr lang="en-US" altLang="en-US"/>
              <a:pPr>
                <a:defRPr/>
              </a:pPr>
              <a:t>‹#›</a:t>
            </a:fld>
            <a:endParaRPr lang="en-US" altLang="en-US"/>
          </a:p>
        </p:txBody>
      </p:sp>
    </p:spTree>
    <p:extLst>
      <p:ext uri="{BB962C8B-B14F-4D97-AF65-F5344CB8AC3E}">
        <p14:creationId xmlns:p14="http://schemas.microsoft.com/office/powerpoint/2010/main" val="14298270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DB753E5-623F-4C67-8206-272E28AD2ED8}" type="slidenum">
              <a:rPr lang="en-US" altLang="en-US"/>
              <a:pPr/>
              <a:t>0</a:t>
            </a:fld>
            <a:endParaRPr lang="en-US" altLang="en-US"/>
          </a:p>
        </p:txBody>
      </p:sp>
      <p:sp>
        <p:nvSpPr>
          <p:cNvPr id="4099" name="Rectangle 2"/>
          <p:cNvSpPr>
            <a:spLocks noGrp="1" noRot="1" noChangeAspect="1" noChangeArrowheads="1" noTextEdit="1"/>
          </p:cNvSpPr>
          <p:nvPr>
            <p:ph type="sldImg"/>
          </p:nvPr>
        </p:nvSpPr>
        <p:spPr>
          <a:xfrm>
            <a:off x="1144588" y="687388"/>
            <a:ext cx="4570412" cy="3427412"/>
          </a:xfrm>
          <a:ln/>
        </p:spPr>
      </p:sp>
      <p:sp>
        <p:nvSpPr>
          <p:cNvPr id="4100" name="Rectangle 3"/>
          <p:cNvSpPr>
            <a:spLocks noGrp="1" noChangeArrowheads="1"/>
          </p:cNvSpPr>
          <p:nvPr>
            <p:ph type="body" idx="1"/>
          </p:nvPr>
        </p:nvSpPr>
        <p:spPr>
          <a:xfrm>
            <a:off x="914400" y="4343400"/>
            <a:ext cx="5029200" cy="4113213"/>
          </a:xfrm>
          <a:noFill/>
        </p:spPr>
        <p:txBody>
          <a:bodyPr/>
          <a:lstStyle/>
          <a:p>
            <a:pPr eaLnBrk="1" hangingPunct="1"/>
            <a:r>
              <a:rPr lang="en-US" altLang="en-US" dirty="0"/>
              <a:t>Hello everyone. Many thanks for joining me today. I’m Qiang Ning from the ECE department at the University of Illinois. Today I’ll talk about event understanding in natural language</a:t>
            </a:r>
            <a:r>
              <a:rPr lang="en-US" altLang="en-US" baseline="0" dirty="0"/>
              <a:t> </a:t>
            </a:r>
            <a:r>
              <a:rPr lang="en-US" altLang="en-US" dirty="0"/>
              <a:t>from three aspects: machine learning, common sense knowledge acquisition, and data annotation. I will also discuss</a:t>
            </a:r>
            <a:r>
              <a:rPr lang="en-US" altLang="en-US" baseline="0" dirty="0"/>
              <a:t> my</a:t>
            </a:r>
            <a:r>
              <a:rPr lang="en-US" altLang="en-US" dirty="0"/>
              <a:t> vision about the important topics in this field in the next decade and talk about my research plan to carry it out.</a:t>
            </a:r>
          </a:p>
          <a:p>
            <a:pPr eaLnBrk="1" hangingPunct="1"/>
            <a:r>
              <a:rPr lang="en-US" altLang="en-US" dirty="0"/>
              <a:t>(30 sec)</a:t>
            </a:r>
          </a:p>
        </p:txBody>
      </p:sp>
    </p:spTree>
    <p:extLst>
      <p:ext uri="{BB962C8B-B14F-4D97-AF65-F5344CB8AC3E}">
        <p14:creationId xmlns:p14="http://schemas.microsoft.com/office/powerpoint/2010/main" val="951021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Speaking of natural language, last year I read a brief history of humankind by Prof. Harari.</a:t>
            </a:r>
            <a:r>
              <a:rPr lang="en-US" baseline="0" dirty="0"/>
              <a:t> O</a:t>
            </a:r>
            <a:r>
              <a:rPr lang="en-US" dirty="0"/>
              <a:t>ne of his arguments about language is very interesting.</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kern="1200" dirty="0">
              <a:solidFill>
                <a:schemeClr val="tx1"/>
              </a:solidFill>
              <a:effectLst/>
              <a:latin typeface="Arial" panose="020B0604020202020204" pitchFamily="34"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mn-cs"/>
              </a:rPr>
              <a:t>We know, about 2 and a half million years ago, multiple species of humans appeared on earth. A question that many historians wanted to answer was: since 70k </a:t>
            </a:r>
            <a:r>
              <a:rPr lang="en-US" sz="1200" b="0" i="0" kern="1200" dirty="0" err="1">
                <a:solidFill>
                  <a:schemeClr val="tx1"/>
                </a:solidFill>
                <a:effectLst/>
                <a:latin typeface="Arial" panose="020B0604020202020204" pitchFamily="34" charset="0"/>
                <a:ea typeface="+mn-ea"/>
                <a:cs typeface="+mn-cs"/>
              </a:rPr>
              <a:t>yrs</a:t>
            </a:r>
            <a:r>
              <a:rPr lang="en-US" sz="1200" b="0" i="0" kern="1200" dirty="0">
                <a:solidFill>
                  <a:schemeClr val="tx1"/>
                </a:solidFill>
                <a:effectLst/>
                <a:latin typeface="Arial" panose="020B0604020202020204" pitchFamily="34" charset="0"/>
                <a:ea typeface="+mn-ea"/>
                <a:cs typeface="+mn-cs"/>
              </a:rPr>
              <a:t> ago, why did Homo</a:t>
            </a:r>
            <a:r>
              <a:rPr lang="en-US" sz="1200" b="0" i="0" kern="1200" baseline="0" dirty="0">
                <a:solidFill>
                  <a:schemeClr val="tx1"/>
                </a:solidFill>
                <a:effectLst/>
                <a:latin typeface="Arial" panose="020B0604020202020204" pitchFamily="34" charset="0"/>
                <a:ea typeface="+mn-ea"/>
                <a:cs typeface="+mn-cs"/>
              </a:rPr>
              <a:t> sapiens </a:t>
            </a:r>
            <a:r>
              <a:rPr lang="en-US" sz="1200" b="0" i="0" kern="1200" dirty="0">
                <a:solidFill>
                  <a:schemeClr val="tx1"/>
                </a:solidFill>
                <a:effectLst/>
                <a:latin typeface="Arial" panose="020B0604020202020204" pitchFamily="34" charset="0"/>
                <a:ea typeface="+mn-ea"/>
                <a:cs typeface="+mn-cs"/>
              </a:rPr>
              <a:t>suddenly flood the earth and create glorious civilizations, while other species of humans disappeared? Prof. Harari attributes it to natural language! Because of the appearance of language during cognitive revolution, Homo sapiens were able to form complex social structures and collaborate on tasks that used to be difficult</a:t>
            </a:r>
            <a:r>
              <a:rPr lang="en-US" sz="1200" b="0" i="0" kern="1200" baseline="0" dirty="0">
                <a:solidFill>
                  <a:schemeClr val="tx1"/>
                </a:solidFill>
                <a:effectLst/>
                <a:latin typeface="Arial" panose="020B0604020202020204" pitchFamily="34" charset="0"/>
                <a:ea typeface="+mn-ea"/>
                <a:cs typeface="+mn-cs"/>
              </a:rPr>
              <a:t> for individuals</a:t>
            </a:r>
            <a:r>
              <a:rPr lang="en-US" sz="1200" b="0" i="0" kern="1200" dirty="0">
                <a:solidFill>
                  <a:schemeClr val="tx1"/>
                </a:solidFill>
                <a:effectLst/>
                <a:latin typeface="Arial" panose="020B0604020202020204" pitchFamily="34" charset="0"/>
                <a:ea typeface="+mn-ea"/>
                <a:cs typeface="+mn-cs"/>
              </a:rPr>
              <a:t>. </a:t>
            </a:r>
            <a:r>
              <a:rPr lang="en-US" dirty="0"/>
              <a:t>It’s fair enough to say that natural language played a</a:t>
            </a:r>
            <a:r>
              <a:rPr lang="en-US" baseline="0" dirty="0"/>
              <a:t> crucial role in </a:t>
            </a:r>
            <a:r>
              <a:rPr lang="en-US" dirty="0"/>
              <a:t>making us different. Now in</a:t>
            </a:r>
            <a:r>
              <a:rPr lang="zh-CN" altLang="en-US" baseline="0" dirty="0"/>
              <a:t> </a:t>
            </a:r>
            <a:r>
              <a:rPr lang="en-US" altLang="zh-CN" baseline="0" dirty="0"/>
              <a:t>the modern history</a:t>
            </a:r>
            <a:r>
              <a:rPr lang="en-US" dirty="0"/>
              <a:t>, language continues its important role in our life, in the form of various text data.</a:t>
            </a:r>
            <a:endParaRPr lang="en-US" sz="1200" b="0" i="0" kern="1200" dirty="0">
              <a:solidFill>
                <a:schemeClr val="tx1"/>
              </a:solidFill>
              <a:effectLst/>
              <a:latin typeface="Arial" panose="020B0604020202020204" pitchFamily="34"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mn-cs"/>
              </a:rPr>
              <a:t>(1 min)</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a:t>
            </a:fld>
            <a:endParaRPr lang="en-US" altLang="en-US"/>
          </a:p>
        </p:txBody>
      </p:sp>
    </p:spTree>
    <p:extLst>
      <p:ext uri="{BB962C8B-B14F-4D97-AF65-F5344CB8AC3E}">
        <p14:creationId xmlns:p14="http://schemas.microsoft.com/office/powerpoint/2010/main" val="42752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olidFill>
                  <a:schemeClr val="bg2"/>
                </a:solidFill>
              </a:rPr>
              <a:t>In the beginning, was the news. It made it easier to know the world. And the news multiplied, multiplied, and multiplied. We had stepped into an age of information explosion before we realized it.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olidFill>
                  <a:schemeClr val="bg2"/>
                </a:solidFill>
              </a:rPr>
              <a:t>(15 secs)</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a:t>
            </a:fld>
            <a:endParaRPr lang="en-US" altLang="en-US"/>
          </a:p>
        </p:txBody>
      </p:sp>
    </p:spTree>
    <p:extLst>
      <p:ext uri="{BB962C8B-B14F-4D97-AF65-F5344CB8AC3E}">
        <p14:creationId xmlns:p14="http://schemas.microsoft.com/office/powerpoint/2010/main" val="520944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day,</a:t>
            </a:r>
            <a:r>
              <a:rPr lang="en-US" baseline="0" dirty="0"/>
              <a:t> </a:t>
            </a:r>
            <a:r>
              <a:rPr lang="en-US" dirty="0"/>
              <a:t>1200 news stories are published on Washington Post, 2M blogs on </a:t>
            </a:r>
            <a:r>
              <a:rPr lang="en-US" dirty="0" err="1"/>
              <a:t>wordpress</a:t>
            </a:r>
            <a:r>
              <a:rPr lang="en-US" dirty="0"/>
              <a:t>, and 500M tweets on twitter. But we only have 24 hours a day and a single pair of eyes,</a:t>
            </a:r>
            <a:r>
              <a:rPr lang="en-US" baseline="0" dirty="0"/>
              <a:t> and cannot read so big data.</a:t>
            </a:r>
          </a:p>
          <a:p>
            <a:r>
              <a:rPr lang="en-US" baseline="0" dirty="0"/>
              <a:t>(20 sec)</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a:t>
            </a:fld>
            <a:endParaRPr lang="en-US" altLang="en-US"/>
          </a:p>
        </p:txBody>
      </p:sp>
    </p:spTree>
    <p:extLst>
      <p:ext uri="{BB962C8B-B14F-4D97-AF65-F5344CB8AC3E}">
        <p14:creationId xmlns:p14="http://schemas.microsoft.com/office/powerpoint/2010/main" val="746895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heard a lot about big data, but a less popular fact is that actually over 80% of it is natural language text. It’s undeniable that big text opens up big opportunities for NLP research.</a:t>
            </a:r>
          </a:p>
          <a:p>
            <a:r>
              <a:rPr lang="en-US" dirty="0"/>
              <a:t>(15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4</a:t>
            </a:fld>
            <a:endParaRPr lang="en-US" altLang="en-US"/>
          </a:p>
        </p:txBody>
      </p:sp>
    </p:spTree>
    <p:extLst>
      <p:ext uri="{BB962C8B-B14F-4D97-AF65-F5344CB8AC3E}">
        <p14:creationId xmlns:p14="http://schemas.microsoft.com/office/powerpoint/2010/main" val="1629199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Imagine...</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These are not outrageous imaginations</a:t>
            </a:r>
            <a:r>
              <a:rPr lang="en-US" baseline="0" dirty="0"/>
              <a:t> in fictions. Instead, hedge funds are already using NLP to get trade signals. The US government also spent 36 billion dollars to digitize medical records and there have been various NLP competitions on analyzing these data. But of course, these promising explorations doesn’t mean the problem is solved.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a:t>(1 min)</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7D9C7A-1E92-449D-A064-B8AFA531E95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4066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is, although natural language is natural for humans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6</a:t>
            </a:fld>
            <a:endParaRPr lang="en-US" altLang="en-US"/>
          </a:p>
        </p:txBody>
      </p:sp>
    </p:spTree>
    <p:extLst>
      <p:ext uri="{BB962C8B-B14F-4D97-AF65-F5344CB8AC3E}">
        <p14:creationId xmlns:p14="http://schemas.microsoft.com/office/powerpoint/2010/main" val="3796807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natural for computers; instead, it’s highly ambiguous.</a:t>
            </a:r>
          </a:p>
          <a:p>
            <a:r>
              <a:rPr lang="en-US" dirty="0"/>
              <a:t>(15 sec; overall 3.5 min)</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7</a:t>
            </a:fld>
            <a:endParaRPr lang="en-US" altLang="en-US"/>
          </a:p>
        </p:txBody>
      </p:sp>
    </p:spTree>
    <p:extLst>
      <p:ext uri="{BB962C8B-B14F-4D97-AF65-F5344CB8AC3E}">
        <p14:creationId xmlns:p14="http://schemas.microsoft.com/office/powerpoint/2010/main" val="1563577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look at this paragraph from PRI in 1998. (read the paragraph) I guess most of you have got the gist of it. Does any one find this ambiguous? How about these two appearances of “home”? Are they the same? Apparently the first home is an abstract meaning and the second concrete Again, will they monitor until 2019? Obviously not because that’s twenty years ago. Further, who are they? We know it’s the firefighters, but for computers, nearby homes is closer to it. Finally, earth cascaded vs shifting ground. They are totally different words, but have the same meaning.</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8</a:t>
            </a:fld>
            <a:endParaRPr lang="en-US" altLang="en-US"/>
          </a:p>
        </p:txBody>
      </p:sp>
    </p:spTree>
    <p:extLst>
      <p:ext uri="{BB962C8B-B14F-4D97-AF65-F5344CB8AC3E}">
        <p14:creationId xmlns:p14="http://schemas.microsoft.com/office/powerpoint/2010/main" val="2655906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questions are straightforward for humans and we don’t even realize the ambiguity before someone asks about it. But these questions are tricky for computers. That's why we are doing NLP research to help computers understand this ambiguity that are usually easy for humans.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a:t>
            </a:fld>
            <a:endParaRPr lang="en-US" altLang="en-US"/>
          </a:p>
        </p:txBody>
      </p:sp>
    </p:spTree>
    <p:extLst>
      <p:ext uri="{BB962C8B-B14F-4D97-AF65-F5344CB8AC3E}">
        <p14:creationId xmlns:p14="http://schemas.microsoft.com/office/powerpoint/2010/main" val="3037102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of resolving this ambiguity is </a:t>
            </a:r>
            <a:r>
              <a:rPr lang="en-US" baseline="0" dirty="0"/>
              <a:t>machine learning. We then tackle various problems at the token level, such as tokenization, lemmatization, and part-of-speech tagging. And at the sentence level, we have syntactic parsing which is to convert sentences into trees representing the relationship between tokens; semantic role labeling is to label the subjects, predicates, and objects in a sentence. A higher level is situation, where we often need a coherent understanding of several sentences or documents, and some common sense knowledge. Example tasks are events, Q&amp;A, and situation reasoning.</a:t>
            </a:r>
          </a:p>
          <a:p>
            <a:endParaRPr lang="en-US" baseline="0" dirty="0"/>
          </a:p>
          <a:p>
            <a:r>
              <a:rPr lang="en-US" baseline="0" dirty="0"/>
              <a:t>(1min)</a:t>
            </a:r>
          </a:p>
          <a:p>
            <a:endParaRPr lang="en-US" baseline="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dirty="0"/>
              <a:t>My vision is, based on the development achieved at the token and sentence level, it's time to work at a higher level, "situations", where we study events, try to answer questions, and perform reasoning based on the situations.</a:t>
            </a:r>
          </a:p>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10</a:t>
            </a:fld>
            <a:endParaRPr lang="en-US" altLang="en-US"/>
          </a:p>
        </p:txBody>
      </p:sp>
    </p:spTree>
    <p:extLst>
      <p:ext uri="{BB962C8B-B14F-4D97-AF65-F5344CB8AC3E}">
        <p14:creationId xmlns:p14="http://schemas.microsoft.com/office/powerpoint/2010/main" val="1333991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more detailed explanation of what I mean by each layer.</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11</a:t>
            </a:fld>
            <a:endParaRPr lang="en-US" altLang="en-US"/>
          </a:p>
        </p:txBody>
      </p:sp>
    </p:spTree>
    <p:extLst>
      <p:ext uri="{BB962C8B-B14F-4D97-AF65-F5344CB8AC3E}">
        <p14:creationId xmlns:p14="http://schemas.microsoft.com/office/powerpoint/2010/main" val="711663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sentence, a typical token level processing is to label the part-of-speech tags for each token. Here “George Lowe” is a noun phrase, “died” is the past tense of “die”, and “after” is a preposition, so on so forth. Current NLP is quite reliable in token level tasks, often in the high 90s.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12</a:t>
            </a:fld>
            <a:endParaRPr lang="en-US" altLang="en-US"/>
          </a:p>
        </p:txBody>
      </p:sp>
    </p:spTree>
    <p:extLst>
      <p:ext uri="{BB962C8B-B14F-4D97-AF65-F5344CB8AC3E}">
        <p14:creationId xmlns:p14="http://schemas.microsoft.com/office/powerpoint/2010/main" val="3825331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it comes to the sentence level. Here I’m showing a syntactic parsing tree, where “died” is the root, “Wednesday” is a temporal modifier, “long-term” is modifying “illness”, so on so forth. We are also quite robust in tasks at this level, with performance often in the high 80s or 90s.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13</a:t>
            </a:fld>
            <a:endParaRPr lang="en-US" altLang="en-US"/>
          </a:p>
        </p:txBody>
      </p:sp>
    </p:spTree>
    <p:extLst>
      <p:ext uri="{BB962C8B-B14F-4D97-AF65-F5344CB8AC3E}">
        <p14:creationId xmlns:p14="http://schemas.microsoft.com/office/powerpoint/2010/main" val="1630039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want to understand this sentence at the situation level, things become more complex. We need to know that “George Lowe” is not only a name, but also a person. We need to figure out when is this “Wednesday” in this situation. We also need to use our common sense to know that “long-term illness” is often more than 5 or 10 years, and that a person is not involved in further activities after death. There are many ongoing research in NLP working at the situation level, and we can imagine that the accuracies are usually not robust.</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14</a:t>
            </a:fld>
            <a:endParaRPr lang="en-US" altLang="en-US"/>
          </a:p>
        </p:txBody>
      </p:sp>
    </p:spTree>
    <p:extLst>
      <p:ext uri="{BB962C8B-B14F-4D97-AF65-F5344CB8AC3E}">
        <p14:creationId xmlns:p14="http://schemas.microsoft.com/office/powerpoint/2010/main" val="2317185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are we in NLP? I think we are very reliable at the token level roughly since 2000, very reliable at the sentence level roughly since 2010, and right now, it’s time to study events at the situation level; that is, what is going on, what is the cause and impact, and how things unfold along time.</a:t>
            </a:r>
          </a:p>
          <a:p>
            <a:r>
              <a:rPr lang="en-US" dirty="0"/>
              <a:t>(slides 9-here, 2.25 mins; overall ~ 7 min)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7D9C7A-1E92-449D-A064-B8AFA531E95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6239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dirty="0"/>
              <a:t>Now let's try to understand two events: people were angry and police used tear gas. If people were angry happened first, the understanding would be people ended in violent conflicts with the police, and the police used tear gas to restore order.</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16</a:t>
            </a:fld>
            <a:endParaRPr lang="en-US" altLang="en-US"/>
          </a:p>
        </p:txBody>
      </p:sp>
    </p:spTree>
    <p:extLst>
      <p:ext uri="{BB962C8B-B14F-4D97-AF65-F5344CB8AC3E}">
        <p14:creationId xmlns:p14="http://schemas.microsoft.com/office/powerpoint/2010/main" val="7254817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dirty="0"/>
              <a:t>If we simply reverse the order of these events, we get a new story, which says that police used tear gas and then people were angry at the police. We can see that time is crucial if we want to understand what’s going on in a situation.</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17</a:t>
            </a:fld>
            <a:endParaRPr lang="en-US" altLang="en-US"/>
          </a:p>
        </p:txBody>
      </p:sp>
    </p:spTree>
    <p:extLst>
      <p:ext uri="{BB962C8B-B14F-4D97-AF65-F5344CB8AC3E}">
        <p14:creationId xmlns:p14="http://schemas.microsoft.com/office/powerpoint/2010/main" val="1026045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dirty="0"/>
              <a:t>But in natural language, we never have timestamps like here telling us which one is earlier and which one is later. That leads to “temporal relations”</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18</a:t>
            </a:fld>
            <a:endParaRPr lang="en-US" altLang="en-US"/>
          </a:p>
        </p:txBody>
      </p:sp>
    </p:spTree>
    <p:extLst>
      <p:ext uri="{BB962C8B-B14F-4D97-AF65-F5344CB8AC3E}">
        <p14:creationId xmlns:p14="http://schemas.microsoft.com/office/powerpoint/2010/main" val="1395584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leads to the so called temporal relations. Here in this example, we have two events: met and leaving, and a time point Thursday. We have met before leaving, and leaving </a:t>
            </a:r>
            <a:r>
              <a:rPr lang="en-US" baseline="0" dirty="0"/>
              <a:t>included in Thursday. My system will first extract those events, and then label the </a:t>
            </a:r>
            <a:r>
              <a:rPr lang="en-US" baseline="0" dirty="0" err="1"/>
              <a:t>temprels</a:t>
            </a:r>
            <a:r>
              <a:rPr lang="en-US" baseline="0" dirty="0"/>
              <a:t> among them, but my talk today will mainly focus on </a:t>
            </a:r>
            <a:r>
              <a:rPr lang="en-US" baseline="0" dirty="0" err="1"/>
              <a:t>temprel</a:t>
            </a:r>
            <a:r>
              <a:rPr lang="en-US" baseline="0" dirty="0"/>
              <a:t> extraction, assuming those events are already extracted.</a:t>
            </a:r>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19</a:t>
            </a:fld>
            <a:endParaRPr lang="en-US" altLang="en-US"/>
          </a:p>
        </p:txBody>
      </p:sp>
    </p:spTree>
    <p:extLst>
      <p:ext uri="{BB962C8B-B14F-4D97-AF65-F5344CB8AC3E}">
        <p14:creationId xmlns:p14="http://schemas.microsoft.com/office/powerpoint/2010/main" val="3267500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have multiple events, they form a situation</a:t>
            </a:r>
            <a:r>
              <a:rPr lang="en-US" baseline="0" dirty="0"/>
              <a:t>.(read snippet) I</a:t>
            </a:r>
            <a:r>
              <a:rPr lang="en-US" dirty="0"/>
              <a:t>f we draw all the </a:t>
            </a:r>
            <a:r>
              <a:rPr lang="en-US" dirty="0" err="1"/>
              <a:t>temprels</a:t>
            </a:r>
            <a:r>
              <a:rPr lang="en-US" dirty="0"/>
              <a:t> in this situation, it would form a graph, which we call a</a:t>
            </a:r>
            <a:r>
              <a:rPr lang="en-US" baseline="0" dirty="0"/>
              <a:t> </a:t>
            </a:r>
            <a:r>
              <a:rPr lang="en-US" dirty="0"/>
              <a:t>temporal graph. In other words, we want to label those edges in a consistent way. This task is difficult and the literature F1's with or without gold events are both very low, which also reflects the difficulty of understanding a situation.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20</a:t>
            </a:fld>
            <a:endParaRPr lang="en-US" altLang="en-US"/>
          </a:p>
        </p:txBody>
      </p:sp>
    </p:spTree>
    <p:extLst>
      <p:ext uri="{BB962C8B-B14F-4D97-AF65-F5344CB8AC3E}">
        <p14:creationId xmlns:p14="http://schemas.microsoft.com/office/powerpoint/2010/main" val="2579482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think the challenges are three-fold.</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21</a:t>
            </a:fld>
            <a:endParaRPr lang="en-US" altLang="en-US"/>
          </a:p>
        </p:txBody>
      </p:sp>
    </p:spTree>
    <p:extLst>
      <p:ext uri="{BB962C8B-B14F-4D97-AF65-F5344CB8AC3E}">
        <p14:creationId xmlns:p14="http://schemas.microsoft.com/office/powerpoint/2010/main" val="37549607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this understanding, I have organized my relevant</a:t>
            </a:r>
            <a:r>
              <a:rPr lang="en-US" baseline="0" dirty="0"/>
              <a:t> </a:t>
            </a:r>
            <a:r>
              <a:rPr lang="en-US" dirty="0"/>
              <a:t>publications in such a structured way. I hope it makes it easier. I will discuss one from each category and how to put all pieces together.</a:t>
            </a:r>
          </a:p>
          <a:p>
            <a:r>
              <a:rPr lang="en-US" dirty="0"/>
              <a:t>(</a:t>
            </a:r>
            <a:r>
              <a:rPr lang="en-US" dirty="0" err="1"/>
              <a:t>phd</a:t>
            </a:r>
            <a:r>
              <a:rPr lang="en-US" dirty="0"/>
              <a:t> intro: 4.5 mins; overall 11.5 min)</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22</a:t>
            </a:fld>
            <a:endParaRPr lang="en-US" altLang="en-US"/>
          </a:p>
        </p:txBody>
      </p:sp>
    </p:spTree>
    <p:extLst>
      <p:ext uri="{BB962C8B-B14F-4D97-AF65-F5344CB8AC3E}">
        <p14:creationId xmlns:p14="http://schemas.microsoft.com/office/powerpoint/2010/main" val="4829557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part is on structured learning, which is our EMNLP'17 paper.</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23</a:t>
            </a:fld>
            <a:endParaRPr lang="en-US" altLang="en-US"/>
          </a:p>
        </p:txBody>
      </p:sp>
    </p:spTree>
    <p:extLst>
      <p:ext uri="{BB962C8B-B14F-4D97-AF65-F5344CB8AC3E}">
        <p14:creationId xmlns:p14="http://schemas.microsoft.com/office/powerpoint/2010/main" val="3798243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that temporal graphs are structured, or in other words, temporal relations are not independent. In the previous graph, assume that we are looking at ripping, cascaded, and ordered. Then because ripping is inside cascaded and cascaded is before ordered, the relation between ripping and ordered must be before. Existing methods are all local learning plus global inference. That is</a:t>
            </a:r>
          </a:p>
          <a:p>
            <a:r>
              <a:rPr lang="en-US" dirty="0"/>
              <a:t>(40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24</a:t>
            </a:fld>
            <a:endParaRPr lang="en-US" altLang="en-US"/>
          </a:p>
        </p:txBody>
      </p:sp>
    </p:spTree>
    <p:extLst>
      <p:ext uri="{BB962C8B-B14F-4D97-AF65-F5344CB8AC3E}">
        <p14:creationId xmlns:p14="http://schemas.microsoft.com/office/powerpoint/2010/main" val="11095031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resulting model from local learning is: given a pair of events, produce the confidence or </a:t>
            </a:r>
            <a:r>
              <a:rPr lang="en-US" dirty="0" err="1"/>
              <a:t>softmax</a:t>
            </a:r>
            <a:r>
              <a:rPr lang="en-US" dirty="0"/>
              <a:t> score for each label. Based on these confidence scores, we need to solve the final temporal graph.</a:t>
            </a:r>
          </a:p>
          <a:p>
            <a:r>
              <a:rPr lang="en-US" dirty="0"/>
              <a:t>(15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25</a:t>
            </a:fld>
            <a:endParaRPr lang="en-US" altLang="en-US"/>
          </a:p>
        </p:txBody>
      </p:sp>
    </p:spTree>
    <p:extLst>
      <p:ext uri="{BB962C8B-B14F-4D97-AF65-F5344CB8AC3E}">
        <p14:creationId xmlns:p14="http://schemas.microsoft.com/office/powerpoint/2010/main" val="39437014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toy example of how we solve for the final graph. The naive way is to select the best score for each edge. And we get a loop! However, time cannot be a loop. How should we avoid this situation?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26</a:t>
            </a:fld>
            <a:endParaRPr lang="en-US" altLang="en-US"/>
          </a:p>
        </p:txBody>
      </p:sp>
    </p:spTree>
    <p:extLst>
      <p:ext uri="{BB962C8B-B14F-4D97-AF65-F5344CB8AC3E}">
        <p14:creationId xmlns:p14="http://schemas.microsoft.com/office/powerpoint/2010/main" val="10663869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we should not only...but also...</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27</a:t>
            </a:fld>
            <a:endParaRPr lang="en-US" altLang="en-US"/>
          </a:p>
        </p:txBody>
      </p:sp>
    </p:spTree>
    <p:extLst>
      <p:ext uri="{BB962C8B-B14F-4D97-AF65-F5344CB8AC3E}">
        <p14:creationId xmlns:p14="http://schemas.microsoft.com/office/powerpoint/2010/main" val="22838799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do that, we actually have three options, as shown here. </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28</a:t>
            </a:fld>
            <a:endParaRPr lang="en-US" altLang="en-US"/>
          </a:p>
        </p:txBody>
      </p:sp>
    </p:spTree>
    <p:extLst>
      <p:ext uri="{BB962C8B-B14F-4D97-AF65-F5344CB8AC3E}">
        <p14:creationId xmlns:p14="http://schemas.microsoft.com/office/powerpoint/2010/main" val="10869527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sum up all the scores, and select the best one.</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29</a:t>
            </a:fld>
            <a:endParaRPr lang="en-US" altLang="en-US"/>
          </a:p>
        </p:txBody>
      </p:sp>
    </p:spTree>
    <p:extLst>
      <p:ext uri="{BB962C8B-B14F-4D97-AF65-F5344CB8AC3E}">
        <p14:creationId xmlns:p14="http://schemas.microsoft.com/office/powerpoint/2010/main" val="35192013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problem is how to formulate this procedure. Actually this type of problems have been studied quite early in our group. The answer is global inference via ILP.</a:t>
            </a:r>
          </a:p>
          <a:p>
            <a:r>
              <a:rPr lang="en-US" dirty="0"/>
              <a:t>(intro to ILP 1 min)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30</a:t>
            </a:fld>
            <a:endParaRPr lang="en-US" altLang="en-US"/>
          </a:p>
        </p:txBody>
      </p:sp>
    </p:spTree>
    <p:extLst>
      <p:ext uri="{BB962C8B-B14F-4D97-AF65-F5344CB8AC3E}">
        <p14:creationId xmlns:p14="http://schemas.microsoft.com/office/powerpoint/2010/main" val="55093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ILP stands for...We have two types of variables. Boolean variable I, indicating the relation between event </a:t>
            </a:r>
            <a:r>
              <a:rPr lang="en-US" dirty="0" err="1"/>
              <a:t>i</a:t>
            </a:r>
            <a:r>
              <a:rPr lang="en-US" dirty="0"/>
              <a:t> and event j. And real variable f, representing the confidence scores for each relation. We sum them up, enforce the no-loop constraint, and that's our mathematical formulation for this problem.</a:t>
            </a:r>
          </a:p>
          <a:p>
            <a:r>
              <a:rPr lang="en-US" dirty="0"/>
              <a:t>(30 sec)</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31</a:t>
            </a:fld>
            <a:endParaRPr lang="en-US" altLang="en-US"/>
          </a:p>
        </p:txBody>
      </p:sp>
    </p:spTree>
    <p:extLst>
      <p:ext uri="{BB962C8B-B14F-4D97-AF65-F5344CB8AC3E}">
        <p14:creationId xmlns:p14="http://schemas.microsoft.com/office/powerpoint/2010/main" val="22625006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this tempeval13 competition, </a:t>
            </a:r>
            <a:r>
              <a:rPr lang="en-US" noProof="0" dirty="0" err="1"/>
              <a:t>UTTime</a:t>
            </a:r>
            <a:r>
              <a:rPr lang="en-US" noProof="0" dirty="0"/>
              <a:t> was the best system. We implemented a perceptron based system and achieved comparable F1 to it. With the global inference and ILP formulation that we just introduced, we could achieve a significant improvement.</a:t>
            </a:r>
          </a:p>
          <a:p>
            <a:r>
              <a:rPr lang="en-US" noProof="0" dirty="0"/>
              <a:t>(30 sec; overall ~15 mins)</a:t>
            </a:r>
            <a:endParaRPr lang="en-US" dirty="0"/>
          </a:p>
          <a:p>
            <a:endParaRPr lang="en-US" noProof="0"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32</a:t>
            </a:fld>
            <a:endParaRPr lang="en-US" altLang="en-US"/>
          </a:p>
        </p:txBody>
      </p:sp>
    </p:spTree>
    <p:extLst>
      <p:ext uri="{BB962C8B-B14F-4D97-AF65-F5344CB8AC3E}">
        <p14:creationId xmlns:p14="http://schemas.microsoft.com/office/powerpoint/2010/main" val="24719171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that temporal graphs are structured, or in other words, temporal relations are not independent. In the previous graph, assume that we are looking at ripping, cascaded, and ordered. Then because ripping is inside cascaded and cascaded is before ordered, the relation between ripping and ordered must be before. Existing methods are all local learning plus global inference. That is</a:t>
            </a:r>
          </a:p>
          <a:p>
            <a:r>
              <a:rPr lang="en-US" dirty="0"/>
              <a:t>(40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33</a:t>
            </a:fld>
            <a:endParaRPr lang="en-US" altLang="en-US"/>
          </a:p>
        </p:txBody>
      </p:sp>
    </p:spTree>
    <p:extLst>
      <p:ext uri="{BB962C8B-B14F-4D97-AF65-F5344CB8AC3E}">
        <p14:creationId xmlns:p14="http://schemas.microsoft.com/office/powerpoint/2010/main" val="23284836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learning means during learning, we don't care about the structure; we decompose the graph into individual edges, and feed them to the learning algorithm, one by one. The algorithm can be neural nets, but it's still local learning.</a:t>
            </a:r>
          </a:p>
          <a:p>
            <a:r>
              <a:rPr lang="en-US" dirty="0"/>
              <a:t>(20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34</a:t>
            </a:fld>
            <a:endParaRPr lang="en-US" altLang="en-US"/>
          </a:p>
        </p:txBody>
      </p:sp>
    </p:spTree>
    <p:extLst>
      <p:ext uri="{BB962C8B-B14F-4D97-AF65-F5344CB8AC3E}">
        <p14:creationId xmlns:p14="http://schemas.microsoft.com/office/powerpoint/2010/main" val="11119139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our argument is: local learning is not sufficient. In the previous example, imagine a learning algorithm is looking at this pair: ripping and ordered. Even for humans, when we only look at the local context, we don't know the relation between ripping and ordered. But annotation says the label is "before", so the algorithm will simply update the local model to fit it, which leads to overfitting. If we bring in a third event, "cascaded", and since we know (</a:t>
            </a:r>
            <a:r>
              <a:rPr lang="en-US" dirty="0" err="1"/>
              <a:t>ripping,cascaded</a:t>
            </a:r>
            <a:r>
              <a:rPr lang="en-US" dirty="0"/>
              <a:t>)=included and (</a:t>
            </a:r>
            <a:r>
              <a:rPr lang="en-US" dirty="0" err="1"/>
              <a:t>cascaded,ordered</a:t>
            </a:r>
            <a:r>
              <a:rPr lang="en-US" dirty="0"/>
              <a:t>)=before, we immediately know (</a:t>
            </a:r>
            <a:r>
              <a:rPr lang="en-US" dirty="0" err="1"/>
              <a:t>ripping,ordered</a:t>
            </a:r>
            <a:r>
              <a:rPr lang="en-US" dirty="0"/>
              <a:t>)=before, and we don't rely on the local model itself to overfit this decision. That's why global information is specifically needed in this task. Again, the question is, how should we formulate it?</a:t>
            </a:r>
          </a:p>
          <a:p>
            <a:r>
              <a:rPr lang="en-US" dirty="0"/>
              <a:t>(1min)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35</a:t>
            </a:fld>
            <a:endParaRPr lang="en-US" altLang="en-US"/>
          </a:p>
        </p:txBody>
      </p:sp>
    </p:spTree>
    <p:extLst>
      <p:ext uri="{BB962C8B-B14F-4D97-AF65-F5344CB8AC3E}">
        <p14:creationId xmlns:p14="http://schemas.microsoft.com/office/powerpoint/2010/main" val="36848517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is a standard structured learning problem. If you're not familiar with it, let's use perceptron as an example to do a side-by-side comparison.</a:t>
            </a:r>
            <a:r>
              <a:rPr lang="en-US" b="0" baseline="0" dirty="0"/>
              <a:t> Left is the standard perceptron and right is structured perceptron. In local learning, an instance is a single pair of events, while in global learning, an instance is the entire situation, usually a paragraph, a document, or even multiple documents. Local learning is unaware of decisions in other pairs; global learning is using a global inference in-between so it's aware of the entire situation.</a:t>
            </a:r>
          </a:p>
          <a:p>
            <a:r>
              <a:rPr lang="en-US" b="0" baseline="0" dirty="0"/>
              <a:t>(40 secs)</a:t>
            </a:r>
            <a:endParaRPr lang="en-US" b="0"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36</a:t>
            </a:fld>
            <a:endParaRPr lang="en-US" altLang="en-US"/>
          </a:p>
        </p:txBody>
      </p:sp>
    </p:spTree>
    <p:extLst>
      <p:ext uri="{BB962C8B-B14F-4D97-AF65-F5344CB8AC3E}">
        <p14:creationId xmlns:p14="http://schemas.microsoft.com/office/powerpoint/2010/main" val="345788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also supported our intuition above. When we used structured perceptron, we achieved even more improvements on top of local </a:t>
            </a:r>
            <a:r>
              <a:rPr lang="en-US" dirty="0" err="1"/>
              <a:t>learning+global</a:t>
            </a:r>
            <a:r>
              <a:rPr lang="en-US" dirty="0"/>
              <a:t> inference.</a:t>
            </a:r>
            <a:endParaRPr lang="en-US" noProof="0"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37</a:t>
            </a:fld>
            <a:endParaRPr lang="en-US" altLang="en-US"/>
          </a:p>
        </p:txBody>
      </p:sp>
    </p:spTree>
    <p:extLst>
      <p:ext uri="{BB962C8B-B14F-4D97-AF65-F5344CB8AC3E}">
        <p14:creationId xmlns:p14="http://schemas.microsoft.com/office/powerpoint/2010/main" val="14821207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need to mention that in this setup, we know which event pairs have relations and we only need to classify it, as shown on the top right. </a:t>
            </a:r>
            <a:endParaRPr lang="en-US" noProof="0"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38</a:t>
            </a:fld>
            <a:endParaRPr lang="en-US" altLang="en-US"/>
          </a:p>
        </p:txBody>
      </p:sp>
    </p:spTree>
    <p:extLst>
      <p:ext uri="{BB962C8B-B14F-4D97-AF65-F5344CB8AC3E}">
        <p14:creationId xmlns:p14="http://schemas.microsoft.com/office/powerpoint/2010/main" val="39064374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more realistic and more difficult setup is: What if we don‘t know this? That means, we need</a:t>
            </a:r>
            <a:r>
              <a:rPr lang="en-US" baseline="0" dirty="0"/>
              <a:t> to extract pairs that we think are related, and then classify them. </a:t>
            </a:r>
            <a:r>
              <a:rPr lang="en-US" dirty="0"/>
              <a:t>In that setup, the best system was CAEVO. It’s conceptually local </a:t>
            </a:r>
            <a:r>
              <a:rPr lang="en-US" dirty="0" err="1"/>
              <a:t>learning+global</a:t>
            </a:r>
            <a:r>
              <a:rPr lang="en-US" dirty="0"/>
              <a:t> inference. When we use structured learning, we also</a:t>
            </a:r>
            <a:r>
              <a:rPr lang="zh-CN" altLang="en-US" dirty="0"/>
              <a:t> </a:t>
            </a:r>
            <a:r>
              <a:rPr lang="en-US" dirty="0"/>
              <a:t>get improvement on top of CAEVO,</a:t>
            </a:r>
            <a:r>
              <a:rPr lang="zh-CN" altLang="en-US" dirty="0"/>
              <a:t> </a:t>
            </a:r>
            <a:r>
              <a:rPr lang="en-US" altLang="zh-CN" dirty="0"/>
              <a:t>although the benefit is diluted due to this more difficult setting</a:t>
            </a:r>
            <a:r>
              <a:rPr lang="en-US" dirty="0"/>
              <a:t>. But don’t worry, we will achieve more, in a few minutes.</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39</a:t>
            </a:fld>
            <a:endParaRPr lang="en-US" altLang="en-US"/>
          </a:p>
        </p:txBody>
      </p:sp>
    </p:spTree>
    <p:extLst>
      <p:ext uri="{BB962C8B-B14F-4D97-AF65-F5344CB8AC3E}">
        <p14:creationId xmlns:p14="http://schemas.microsoft.com/office/powerpoint/2010/main" val="15056971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Now we have seen the benefit of structured learning for understanding time in a global situation, and that concludes our first part.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(conclude part I 1 min; part I total 6 min; overall ~18 mins)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40</a:t>
            </a:fld>
            <a:endParaRPr lang="en-US" altLang="en-US"/>
          </a:p>
        </p:txBody>
      </p:sp>
    </p:spTree>
    <p:extLst>
      <p:ext uri="{BB962C8B-B14F-4D97-AF65-F5344CB8AC3E}">
        <p14:creationId xmlns:p14="http://schemas.microsoft.com/office/powerpoint/2010/main" val="39490904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is common sense knowledge acquisition. This is our NAACL'18 paper.</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42</a:t>
            </a:fld>
            <a:endParaRPr lang="en-US" altLang="en-US"/>
          </a:p>
        </p:txBody>
      </p:sp>
    </p:spTree>
    <p:extLst>
      <p:ext uri="{BB962C8B-B14F-4D97-AF65-F5344CB8AC3E}">
        <p14:creationId xmlns:p14="http://schemas.microsoft.com/office/powerpoint/2010/main" val="2092223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based on such an intuition. In this example, I deleted the words describing the events themselves. (read it). I believe most people don't understand what's going on, let alone figuring out the temporal relation between these two events.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43</a:t>
            </a:fld>
            <a:endParaRPr lang="en-US" altLang="en-US"/>
          </a:p>
        </p:txBody>
      </p:sp>
    </p:spTree>
    <p:extLst>
      <p:ext uri="{BB962C8B-B14F-4D97-AF65-F5344CB8AC3E}">
        <p14:creationId xmlns:p14="http://schemas.microsoft.com/office/powerpoint/2010/main" val="9005849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if I told you, event1 is died, and event2 is exploded, most people would immediately say the explosion happened first.</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44</a:t>
            </a:fld>
            <a:endParaRPr lang="en-US" altLang="en-US"/>
          </a:p>
        </p:txBody>
      </p:sp>
    </p:spTree>
    <p:extLst>
      <p:ext uri="{BB962C8B-B14F-4D97-AF65-F5344CB8AC3E}">
        <p14:creationId xmlns:p14="http://schemas.microsoft.com/office/powerpoint/2010/main" val="34572060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means, </a:t>
            </a:r>
            <a:r>
              <a:rPr lang="en-US" baseline="0" dirty="0"/>
              <a:t>when the event content is missing, the problem is very difficult even for humans.</a:t>
            </a:r>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45</a:t>
            </a:fld>
            <a:endParaRPr lang="en-US" altLang="en-US"/>
          </a:p>
        </p:txBody>
      </p:sp>
    </p:spTree>
    <p:extLst>
      <p:ext uri="{BB962C8B-B14F-4D97-AF65-F5344CB8AC3E}">
        <p14:creationId xmlns:p14="http://schemas.microsoft.com/office/powerpoint/2010/main" val="11703862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when the event content is present, it's very easy because we can use common sense to support the decision. Motivated by such observations in practice, we would like to obtain this common sense knowledge first.</a:t>
            </a:r>
          </a:p>
          <a:p>
            <a:r>
              <a:rPr lang="en-US" dirty="0"/>
              <a:t>(intro to part II: 1min)</a:t>
            </a:r>
          </a:p>
        </p:txBody>
      </p:sp>
      <p:sp>
        <p:nvSpPr>
          <p:cNvPr id="4" name="Slide Number Placeholder 3"/>
          <p:cNvSpPr>
            <a:spLocks noGrp="1"/>
          </p:cNvSpPr>
          <p:nvPr>
            <p:ph type="sldNum" sz="quarter" idx="10"/>
          </p:nvPr>
        </p:nvSpPr>
        <p:spPr/>
        <p:txBody>
          <a:bodyPr/>
          <a:lstStyle/>
          <a:p>
            <a:fld id="{B454C183-30E9-E641-89DC-C5768775E5DD}" type="slidenum">
              <a:rPr lang="en-US" smtClean="0"/>
              <a:t>46</a:t>
            </a:fld>
            <a:endParaRPr lang="en-US"/>
          </a:p>
        </p:txBody>
      </p:sp>
    </p:spTree>
    <p:extLst>
      <p:ext uri="{BB962C8B-B14F-4D97-AF65-F5344CB8AC3E}">
        <p14:creationId xmlns:p14="http://schemas.microsoft.com/office/powerpoint/2010/main" val="11498861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NAACL'18, we proposed </a:t>
            </a:r>
            <a:r>
              <a:rPr lang="en-US" dirty="0" err="1"/>
              <a:t>TemProb</a:t>
            </a:r>
            <a:r>
              <a:rPr lang="en-US" dirty="0"/>
              <a:t>, short for ... The intuition is that humans get common sense through lots of life experience. We want to mimic this, so we collected over 1 million articles from new </a:t>
            </a:r>
            <a:r>
              <a:rPr lang="en-US" dirty="0" err="1"/>
              <a:t>york</a:t>
            </a:r>
            <a:r>
              <a:rPr lang="en-US" dirty="0"/>
              <a:t> times. We ran our system on top of it to imitate human's reading experience. To accelerate it, we used 100 AWS instances in parallel and finished it within one day. We find that simply by counting, we could get many interesting statistics. For example, we find ask before help, attend after schedule, accept after propose, and die after explode.</a:t>
            </a:r>
          </a:p>
          <a:p>
            <a:r>
              <a:rPr lang="en-US" dirty="0"/>
              <a:t>(1min)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47</a:t>
            </a:fld>
            <a:endParaRPr lang="en-US" altLang="en-US"/>
          </a:p>
        </p:txBody>
      </p:sp>
    </p:spTree>
    <p:extLst>
      <p:ext uri="{BB962C8B-B14F-4D97-AF65-F5344CB8AC3E}">
        <p14:creationId xmlns:p14="http://schemas.microsoft.com/office/powerpoint/2010/main" val="20945916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plotted the distribution of events that usually precede or follow specific events, of course, in terms of time. Although we only have the verbs here, we can still get some intuitive answers.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7D9C7A-1E92-449D-A064-B8AFA531E95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70935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before bomb, there is fire; after bomb, there are kill, destroy, and people get wound.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7D9C7A-1E92-449D-A064-B8AFA531E95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83017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7D9C7A-1E92-449D-A064-B8AFA531E95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88009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 like the most. I have a long list of such examples, and of course, there can be errors in it. But the good thing is, we mined these automatically and no more human annotations were used, so it's pretty nice. Imagine that if we could incorporate the common sense knowledge in </a:t>
            </a:r>
            <a:r>
              <a:rPr lang="en-US" dirty="0" err="1"/>
              <a:t>TemProb</a:t>
            </a:r>
            <a:r>
              <a:rPr lang="en-US" dirty="0"/>
              <a:t> into the temporal relation extraction task, then we can further improve the performance. The only question is how to apply </a:t>
            </a:r>
            <a:r>
              <a:rPr lang="en-US" dirty="0" err="1"/>
              <a:t>TemProb</a:t>
            </a:r>
            <a:r>
              <a:rPr lang="en-US" dirty="0"/>
              <a:t> in our task.</a:t>
            </a:r>
          </a:p>
          <a:p>
            <a:r>
              <a:rPr lang="en-US" dirty="0"/>
              <a:t>(1 min 20 sec)</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7D9C7A-1E92-449D-A064-B8AFA531E95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84082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52</a:t>
            </a:fld>
            <a:endParaRPr lang="en-US" altLang="en-US"/>
          </a:p>
        </p:txBody>
      </p:sp>
    </p:spTree>
    <p:extLst>
      <p:ext uri="{BB962C8B-B14F-4D97-AF65-F5344CB8AC3E}">
        <p14:creationId xmlns:p14="http://schemas.microsoft.com/office/powerpoint/2010/main" val="8692952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I tried to use </a:t>
            </a:r>
            <a:r>
              <a:rPr lang="en-US" dirty="0" err="1"/>
              <a:t>TemProb</a:t>
            </a:r>
            <a:r>
              <a:rPr lang="en-US" dirty="0"/>
              <a:t> in both learning and inference. During learning, we can add the prior obtained in </a:t>
            </a:r>
            <a:r>
              <a:rPr lang="en-US" dirty="0" err="1"/>
              <a:t>TemProb</a:t>
            </a:r>
            <a:r>
              <a:rPr lang="en-US" dirty="0"/>
              <a:t> as an addition feature, so that we should simply retrain the system.</a:t>
            </a:r>
          </a:p>
          <a:p>
            <a:r>
              <a:rPr lang="en-US" dirty="0"/>
              <a:t>During inference, we can further add the prior as regularization terms, to drive the prediction to favor our common sense. Here the grey</a:t>
            </a:r>
            <a:r>
              <a:rPr lang="en-US" baseline="0" dirty="0"/>
              <a:t> part was the ILP formulation we used earlier, and the red part is the newly added common sense regularizations.</a:t>
            </a:r>
          </a:p>
          <a:p>
            <a:r>
              <a:rPr lang="en-US" baseline="0" dirty="0"/>
              <a:t>These are pretty convenient modifications to our old system. My research philosophy is, if one is doing it right, the solution should not be complicated in most cases.</a:t>
            </a:r>
          </a:p>
          <a:p>
            <a:r>
              <a:rPr lang="en-US" baseline="0" dirty="0"/>
              <a:t>(40 sec)</a:t>
            </a:r>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53</a:t>
            </a:fld>
            <a:endParaRPr lang="en-US" altLang="en-US"/>
          </a:p>
        </p:txBody>
      </p:sp>
    </p:spTree>
    <p:extLst>
      <p:ext uri="{BB962C8B-B14F-4D97-AF65-F5344CB8AC3E}">
        <p14:creationId xmlns:p14="http://schemas.microsoft.com/office/powerpoint/2010/main" val="6378285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do support our claim. When we add </a:t>
            </a:r>
            <a:r>
              <a:rPr lang="en-US" dirty="0" err="1"/>
              <a:t>TemProb</a:t>
            </a:r>
            <a:r>
              <a:rPr lang="en-US" dirty="0"/>
              <a:t> on top of our EMNLP’17 system, we get additional 3-4 points gain in precision, recall, and F1.</a:t>
            </a:r>
          </a:p>
          <a:p>
            <a:r>
              <a:rPr lang="en-US" dirty="0"/>
              <a:t>(15 sec)</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54</a:t>
            </a:fld>
            <a:endParaRPr lang="en-US" altLang="en-US"/>
          </a:p>
        </p:txBody>
      </p:sp>
    </p:spTree>
    <p:extLst>
      <p:ext uri="{BB962C8B-B14F-4D97-AF65-F5344CB8AC3E}">
        <p14:creationId xmlns:p14="http://schemas.microsoft.com/office/powerpoint/2010/main" val="24602085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concludes the second part: common sense knowledge acquisition.</a:t>
            </a:r>
          </a:p>
          <a:p>
            <a:r>
              <a:rPr lang="en-US" dirty="0"/>
              <a:t>(part 2: 4.25 min; overall 22 mins)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55</a:t>
            </a:fld>
            <a:endParaRPr lang="en-US" altLang="en-US"/>
          </a:p>
        </p:txBody>
      </p:sp>
    </p:spTree>
    <p:extLst>
      <p:ext uri="{BB962C8B-B14F-4D97-AF65-F5344CB8AC3E}">
        <p14:creationId xmlns:p14="http://schemas.microsoft.com/office/powerpoint/2010/main" val="179435098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that we are not satisfied with our performance. Even if we have addressed it from structured learning and common sense, it’s still very low. As I showed earlier, with gold events, we have managed to come to high 50s. What I didn’t show is that without gold events, we are still in the 30s range, which means downstream systems cannot get reliable signals at all. I think this problem is due to the small size and low quality of existing datasets. Previous datasets are not scalable because they require the annotators to be NLP experts on this task. Honestly, those datasets were only annotated by the authors of those papers. In addition, we find that they all have very low inter-annotator agreements, or IAA, which conceptually measures the chance of agreement if different human annotators work on the task without discussion. I listed a few previous datasets and you can see the IAAs were not more than 60%, which also partly explains why it had been so difficult to further improve our system. To summarize, the annotation task was difficult even for the researchers who designed the annotation guidelines. Something must be wrong.</a:t>
            </a:r>
          </a:p>
          <a:p>
            <a:r>
              <a:rPr lang="en-US" dirty="0"/>
              <a:t>(1.5 min)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57</a:t>
            </a:fld>
            <a:endParaRPr lang="en-US" altLang="en-US"/>
          </a:p>
        </p:txBody>
      </p:sp>
    </p:spTree>
    <p:extLst>
      <p:ext uri="{BB962C8B-B14F-4D97-AF65-F5344CB8AC3E}">
        <p14:creationId xmlns:p14="http://schemas.microsoft.com/office/powerpoint/2010/main" val="243907644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introduce our annotation scheme, let's use this example to see those previous ones.</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58</a:t>
            </a:fld>
            <a:endParaRPr lang="en-US" altLang="en-US"/>
          </a:p>
        </p:txBody>
      </p:sp>
    </p:spTree>
    <p:extLst>
      <p:ext uri="{BB962C8B-B14F-4D97-AF65-F5344CB8AC3E}">
        <p14:creationId xmlns:p14="http://schemas.microsoft.com/office/powerpoint/2010/main" val="19126014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59</a:t>
            </a:fld>
            <a:endParaRPr lang="en-US" altLang="en-US"/>
          </a:p>
        </p:txBody>
      </p:sp>
    </p:spTree>
    <p:extLst>
      <p:ext uri="{BB962C8B-B14F-4D97-AF65-F5344CB8AC3E}">
        <p14:creationId xmlns:p14="http://schemas.microsoft.com/office/powerpoint/2010/main" val="18437515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60</a:t>
            </a:fld>
            <a:endParaRPr lang="en-US" altLang="en-US"/>
          </a:p>
        </p:txBody>
      </p:sp>
    </p:spTree>
    <p:extLst>
      <p:ext uri="{BB962C8B-B14F-4D97-AF65-F5344CB8AC3E}">
        <p14:creationId xmlns:p14="http://schemas.microsoft.com/office/powerpoint/2010/main" val="4167856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particular example, we used intention axis. We also define other axes, such as opinion and hypothesis.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61</a:t>
            </a:fld>
            <a:endParaRPr lang="en-US" altLang="en-US"/>
          </a:p>
        </p:txBody>
      </p:sp>
    </p:spTree>
    <p:extLst>
      <p:ext uri="{BB962C8B-B14F-4D97-AF65-F5344CB8AC3E}">
        <p14:creationId xmlns:p14="http://schemas.microsoft.com/office/powerpoint/2010/main" val="311954806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 this particular example, we used intention axis. We also define other axes, such as opinion and hypothesis.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62</a:t>
            </a:fld>
            <a:endParaRPr lang="en-US" altLang="en-US"/>
          </a:p>
        </p:txBody>
      </p:sp>
    </p:spTree>
    <p:extLst>
      <p:ext uri="{BB962C8B-B14F-4D97-AF65-F5344CB8AC3E}">
        <p14:creationId xmlns:p14="http://schemas.microsoft.com/office/powerpoint/2010/main" val="19796255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contrast, what we achieved is: we annotated 20 thousand temporal relations within one week, with the help of </a:t>
            </a:r>
            <a:r>
              <a:rPr lang="en-US" dirty="0" err="1"/>
              <a:t>crowdsourcers</a:t>
            </a:r>
            <a:r>
              <a:rPr lang="en-US" dirty="0"/>
              <a:t>. At the same time, we improved the IAA from literature’s 60% to more than 80%. The reason that we were able to do this was we started to re-think the task and annotation scheme. And as we show later, if the task is defined well, then it’s easy even for laymen </a:t>
            </a:r>
            <a:r>
              <a:rPr lang="en-US" dirty="0" err="1"/>
              <a:t>crowdsourcers</a:t>
            </a:r>
            <a:r>
              <a:rPr lang="en-US" dirty="0"/>
              <a:t>. After all, that’s the way it should be.</a:t>
            </a:r>
          </a:p>
          <a:p>
            <a:r>
              <a:rPr lang="en-US" dirty="0"/>
              <a:t>(30 sec)</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63</a:t>
            </a:fld>
            <a:endParaRPr lang="en-US" altLang="en-US"/>
          </a:p>
        </p:txBody>
      </p:sp>
    </p:spTree>
    <p:extLst>
      <p:ext uri="{BB962C8B-B14F-4D97-AF65-F5344CB8AC3E}">
        <p14:creationId xmlns:p14="http://schemas.microsoft.com/office/powerpoint/2010/main" val="15483989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better quality, we can achieve even higher improvements. </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65</a:t>
            </a:fld>
            <a:endParaRPr lang="en-US" altLang="en-US"/>
          </a:p>
        </p:txBody>
      </p:sp>
    </p:spTree>
    <p:extLst>
      <p:ext uri="{BB962C8B-B14F-4D97-AF65-F5344CB8AC3E}">
        <p14:creationId xmlns:p14="http://schemas.microsoft.com/office/powerpoint/2010/main" val="197068102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understanding is that these axes are various forms</a:t>
            </a:r>
            <a:r>
              <a:rPr lang="en-US" baseline="0" dirty="0"/>
              <a:t> of imaginations.</a:t>
            </a:r>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66</a:t>
            </a:fld>
            <a:endParaRPr lang="en-US" altLang="en-US"/>
          </a:p>
        </p:txBody>
      </p:sp>
    </p:spTree>
    <p:extLst>
      <p:ext uri="{BB962C8B-B14F-4D97-AF65-F5344CB8AC3E}">
        <p14:creationId xmlns:p14="http://schemas.microsoft.com/office/powerpoint/2010/main" val="104134990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scheme 5 mins; part III 7 mins; over all 29 mins)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67</a:t>
            </a:fld>
            <a:endParaRPr lang="en-US" altLang="en-US"/>
          </a:p>
        </p:txBody>
      </p:sp>
    </p:spTree>
    <p:extLst>
      <p:ext uri="{BB962C8B-B14F-4D97-AF65-F5344CB8AC3E}">
        <p14:creationId xmlns:p14="http://schemas.microsoft.com/office/powerpoint/2010/main" val="125836540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have confirmed the improvement brought by structured learning, common sense acquisition, and multi-axis annotation. A natural question is how about putting all pieces together? I’m going to mainly discuss our neural approach in submission.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68</a:t>
            </a:fld>
            <a:endParaRPr lang="en-US" altLang="en-US"/>
          </a:p>
        </p:txBody>
      </p:sp>
    </p:spTree>
    <p:extLst>
      <p:ext uri="{BB962C8B-B14F-4D97-AF65-F5344CB8AC3E}">
        <p14:creationId xmlns:p14="http://schemas.microsoft.com/office/powerpoint/2010/main" val="221202215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before the neural approach, we have an EMNLP’18 paper, </a:t>
            </a:r>
            <a:r>
              <a:rPr lang="en-US" dirty="0" err="1"/>
              <a:t>CogCompTime</a:t>
            </a:r>
            <a:r>
              <a:rPr lang="en-US" dirty="0"/>
              <a:t>, that is also putting all together, but not neural-net based. We can see </a:t>
            </a:r>
            <a:r>
              <a:rPr lang="en-US" dirty="0" err="1"/>
              <a:t>CogCompTime</a:t>
            </a:r>
            <a:r>
              <a:rPr lang="en-US" dirty="0"/>
              <a:t> achieved 11% gain on top of our previous system using </a:t>
            </a:r>
            <a:r>
              <a:rPr lang="en-US" dirty="0" err="1"/>
              <a:t>TemProb</a:t>
            </a:r>
            <a:r>
              <a:rPr lang="en-US" dirty="0"/>
              <a:t>. Note that this is not a fair comparison since the test set is re-labeled now. However, this still shows that we can get more reliable temporal signals with all these efforts. Now, based on </a:t>
            </a:r>
            <a:r>
              <a:rPr lang="en-US" dirty="0" err="1"/>
              <a:t>CogCompTime</a:t>
            </a:r>
            <a:r>
              <a:rPr lang="en-US" dirty="0"/>
              <a:t>, how can we use neural nets to make it even better?</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69</a:t>
            </a:fld>
            <a:endParaRPr lang="en-US" altLang="en-US"/>
          </a:p>
        </p:txBody>
      </p:sp>
    </p:spTree>
    <p:extLst>
      <p:ext uri="{BB962C8B-B14F-4D97-AF65-F5344CB8AC3E}">
        <p14:creationId xmlns:p14="http://schemas.microsoft.com/office/powerpoint/2010/main" val="349626310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proposal is to use long short-term memory network (LSTM) to represent structured learning, a feedforward neural net to get supervision from our new dataset, and a Siamese network to represent common sense. Let me quickly go through the high-level ideas behind it.</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70</a:t>
            </a:fld>
            <a:endParaRPr lang="en-US" altLang="en-US"/>
          </a:p>
        </p:txBody>
      </p:sp>
    </p:spTree>
    <p:extLst>
      <p:ext uri="{BB962C8B-B14F-4D97-AF65-F5344CB8AC3E}">
        <p14:creationId xmlns:p14="http://schemas.microsoft.com/office/powerpoint/2010/main" val="34158110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Specifically, LSTM takes a sequence of word embeddings as input</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71</a:t>
            </a:fld>
            <a:endParaRPr lang="en-US" altLang="en-US"/>
          </a:p>
        </p:txBody>
      </p:sp>
    </p:spTree>
    <p:extLst>
      <p:ext uri="{BB962C8B-B14F-4D97-AF65-F5344CB8AC3E}">
        <p14:creationId xmlns:p14="http://schemas.microsoft.com/office/powerpoint/2010/main" val="216553656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generates hidden vectors to represent those events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72</a:t>
            </a:fld>
            <a:endParaRPr lang="en-US" altLang="en-US"/>
          </a:p>
        </p:txBody>
      </p:sp>
    </p:spTree>
    <p:extLst>
      <p:ext uri="{BB962C8B-B14F-4D97-AF65-F5344CB8AC3E}">
        <p14:creationId xmlns:p14="http://schemas.microsoft.com/office/powerpoint/2010/main" val="196110105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event representations are stacked as input to the feedforward neural net, which generates the final temporal relation label</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73</a:t>
            </a:fld>
            <a:endParaRPr lang="en-US" altLang="en-US"/>
          </a:p>
        </p:txBody>
      </p:sp>
    </p:spTree>
    <p:extLst>
      <p:ext uri="{BB962C8B-B14F-4D97-AF65-F5344CB8AC3E}">
        <p14:creationId xmlns:p14="http://schemas.microsoft.com/office/powerpoint/2010/main" val="303033376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a separate Siamese network fits the statistics in </a:t>
            </a:r>
            <a:r>
              <a:rPr lang="en-US" dirty="0" err="1"/>
              <a:t>TemProb</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74</a:t>
            </a:fld>
            <a:endParaRPr lang="en-US" altLang="en-US"/>
          </a:p>
        </p:txBody>
      </p:sp>
    </p:spTree>
    <p:extLst>
      <p:ext uri="{BB962C8B-B14F-4D97-AF65-F5344CB8AC3E}">
        <p14:creationId xmlns:p14="http://schemas.microsoft.com/office/powerpoint/2010/main" val="7140568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provides additional embeddings that can be used in the feedforward neural net.</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75</a:t>
            </a:fld>
            <a:endParaRPr lang="en-US" altLang="en-US"/>
          </a:p>
        </p:txBody>
      </p:sp>
    </p:spTree>
    <p:extLst>
      <p:ext uri="{BB962C8B-B14F-4D97-AF65-F5344CB8AC3E}">
        <p14:creationId xmlns:p14="http://schemas.microsoft.com/office/powerpoint/2010/main" val="113343812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final summary for our progress on this task. CAEVO is the previous SOTA, structured learning 2%, common sense 4%, new dataset 11%, LSTM with standard word embeddings 3%, LSTM with BERT embeddings 4% (BERT is the most recent word embedding), and Siamese another 3%. </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76</a:t>
            </a:fld>
            <a:endParaRPr lang="en-US" altLang="en-US"/>
          </a:p>
        </p:txBody>
      </p:sp>
    </p:spTree>
    <p:extLst>
      <p:ext uri="{BB962C8B-B14F-4D97-AF65-F5344CB8AC3E}">
        <p14:creationId xmlns:p14="http://schemas.microsoft.com/office/powerpoint/2010/main" val="205213134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 if we gain a deep understanding of the challenges of a task, we can move in the correct direction and improvement just comes naturally. I think the process of finding the correct direction is very fun.</a:t>
            </a:r>
          </a:p>
          <a:p>
            <a:r>
              <a:rPr lang="en-US" dirty="0"/>
              <a:t>(neural 2.5 min)</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77</a:t>
            </a:fld>
            <a:endParaRPr lang="en-US" altLang="en-US"/>
          </a:p>
        </p:txBody>
      </p:sp>
    </p:spTree>
    <p:extLst>
      <p:ext uri="{BB962C8B-B14F-4D97-AF65-F5344CB8AC3E}">
        <p14:creationId xmlns:p14="http://schemas.microsoft.com/office/powerpoint/2010/main" val="337969161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 if we gain a deep understanding of the challenges of a task, we can move in the correct direction and improvement just comes naturally. I think the process of finding the correct direction is very fun.</a:t>
            </a:r>
          </a:p>
          <a:p>
            <a:r>
              <a:rPr lang="en-US" dirty="0"/>
              <a:t>(neural 2.5 min)</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78</a:t>
            </a:fld>
            <a:endParaRPr lang="en-US" altLang="en-US"/>
          </a:p>
        </p:txBody>
      </p:sp>
    </p:spTree>
    <p:extLst>
      <p:ext uri="{BB962C8B-B14F-4D97-AF65-F5344CB8AC3E}">
        <p14:creationId xmlns:p14="http://schemas.microsoft.com/office/powerpoint/2010/main" val="16761860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recap: we have discussed </a:t>
            </a:r>
            <a:r>
              <a:rPr lang="mr-IN" dirty="0"/>
              <a:t>…</a:t>
            </a:r>
            <a:r>
              <a:rPr lang="en-US" baseline="0" dirty="0"/>
              <a:t> In structured learning, we discussed that the structure information should be taken into consideration during the inference phase and during the learning phase. A natural question is: can we push it deeper, to an even earlier stage, that is, the data annotation stage? As you will see in the next few slides, this problem is a natural extension of what I talked about today, but is also a very general machine learning topic.</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79</a:t>
            </a:fld>
            <a:endParaRPr lang="en-US" altLang="en-US"/>
          </a:p>
        </p:txBody>
      </p:sp>
    </p:spTree>
    <p:extLst>
      <p:ext uri="{BB962C8B-B14F-4D97-AF65-F5344CB8AC3E}">
        <p14:creationId xmlns:p14="http://schemas.microsoft.com/office/powerpoint/2010/main" val="251283536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recap: we have discussed </a:t>
            </a:r>
            <a:r>
              <a:rPr lang="mr-IN" dirty="0"/>
              <a:t>…</a:t>
            </a:r>
            <a:r>
              <a:rPr lang="en-US" baseline="0" dirty="0"/>
              <a:t> In structured learning, we discussed that the structure information should be taken into consideration during the inference phase and during the learning phase. A natural question is: can we push it deeper, to an even earlier stage, that is, the data annotation stage? As you will see in the next few slides, this problem is a natural extension of what I talked about today, but is also a very general machine learning topic.</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80</a:t>
            </a:fld>
            <a:endParaRPr lang="en-US" altLang="en-US"/>
          </a:p>
        </p:txBody>
      </p:sp>
    </p:spTree>
    <p:extLst>
      <p:ext uri="{BB962C8B-B14F-4D97-AF65-F5344CB8AC3E}">
        <p14:creationId xmlns:p14="http://schemas.microsoft.com/office/powerpoint/2010/main" val="206228099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recap: we have discussed </a:t>
            </a:r>
            <a:r>
              <a:rPr lang="mr-IN" dirty="0"/>
              <a:t>…</a:t>
            </a:r>
            <a:r>
              <a:rPr lang="en-US" baseline="0" dirty="0"/>
              <a:t> In structured learning, we discussed that the structure information should be taken into consideration during the inference phase and during the learning phase. A natural question is: can we push it deeper, to an even earlier stage, that is, the data annotation stage? As you will see in the next few slides, this problem is a natural extension of what I talked about today, but is also a very general machine learning topic.</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81</a:t>
            </a:fld>
            <a:endParaRPr lang="en-US" altLang="en-US"/>
          </a:p>
        </p:txBody>
      </p:sp>
    </p:spTree>
    <p:extLst>
      <p:ext uri="{BB962C8B-B14F-4D97-AF65-F5344CB8AC3E}">
        <p14:creationId xmlns:p14="http://schemas.microsoft.com/office/powerpoint/2010/main" val="50645709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recap: we have discussed </a:t>
            </a:r>
            <a:r>
              <a:rPr lang="mr-IN" dirty="0"/>
              <a:t>…</a:t>
            </a:r>
            <a:r>
              <a:rPr lang="en-US" baseline="0" dirty="0"/>
              <a:t> In structured learning, we discussed that the structure information should be taken into consideration during the inference phase and during the learning phase. A natural question is: can we push it deeper, to an even earlier stage, that is, the data annotation stage? As you will see in the next few slides, this problem is a natural extension of what I talked about today, but is also a very general machine learning topic.</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82</a:t>
            </a:fld>
            <a:endParaRPr lang="en-US" altLang="en-US"/>
          </a:p>
        </p:txBody>
      </p:sp>
    </p:spTree>
    <p:extLst>
      <p:ext uri="{BB962C8B-B14F-4D97-AF65-F5344CB8AC3E}">
        <p14:creationId xmlns:p14="http://schemas.microsoft.com/office/powerpoint/2010/main" val="23415960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83</a:t>
            </a:fld>
            <a:endParaRPr lang="en-US" altLang="en-US"/>
          </a:p>
        </p:txBody>
      </p:sp>
    </p:spTree>
    <p:extLst>
      <p:ext uri="{BB962C8B-B14F-4D97-AF65-F5344CB8AC3E}">
        <p14:creationId xmlns:p14="http://schemas.microsoft.com/office/powerpoint/2010/main" val="423228251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84</a:t>
            </a:fld>
            <a:endParaRPr lang="en-US" altLang="en-US"/>
          </a:p>
        </p:txBody>
      </p:sp>
    </p:spTree>
    <p:extLst>
      <p:ext uri="{BB962C8B-B14F-4D97-AF65-F5344CB8AC3E}">
        <p14:creationId xmlns:p14="http://schemas.microsoft.com/office/powerpoint/2010/main" val="76408506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85</a:t>
            </a:fld>
            <a:endParaRPr lang="en-US" altLang="en-US"/>
          </a:p>
        </p:txBody>
      </p:sp>
    </p:spTree>
    <p:extLst>
      <p:ext uri="{BB962C8B-B14F-4D97-AF65-F5344CB8AC3E}">
        <p14:creationId xmlns:p14="http://schemas.microsoft.com/office/powerpoint/2010/main" val="10921721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a:solidFill>
                  <a:srgbClr val="000000"/>
                </a:solidFill>
              </a:rPr>
              <a:pPr>
                <a:defRPr/>
              </a:pPr>
              <a:t>86</a:t>
            </a:fld>
            <a:endParaRPr lang="en-US" altLang="en-US">
              <a:solidFill>
                <a:srgbClr val="000000"/>
              </a:solidFill>
            </a:endParaRPr>
          </a:p>
        </p:txBody>
      </p:sp>
    </p:spTree>
    <p:extLst>
      <p:ext uri="{BB962C8B-B14F-4D97-AF65-F5344CB8AC3E}">
        <p14:creationId xmlns:p14="http://schemas.microsoft.com/office/powerpoint/2010/main" val="104866566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a:solidFill>
                  <a:srgbClr val="000000"/>
                </a:solidFill>
              </a:rPr>
              <a:pPr>
                <a:defRPr/>
              </a:pPr>
              <a:t>87</a:t>
            </a:fld>
            <a:endParaRPr lang="en-US" altLang="en-US">
              <a:solidFill>
                <a:srgbClr val="000000"/>
              </a:solidFill>
            </a:endParaRPr>
          </a:p>
        </p:txBody>
      </p:sp>
    </p:spTree>
    <p:extLst>
      <p:ext uri="{BB962C8B-B14F-4D97-AF65-F5344CB8AC3E}">
        <p14:creationId xmlns:p14="http://schemas.microsoft.com/office/powerpoint/2010/main" val="101016751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structure. It’s a vector of random variables. L is the label set that each variable can choose from. Usually the structure Y lies in a constrained space of </a:t>
            </a:r>
            <a:r>
              <a:rPr lang="en-US" dirty="0" err="1"/>
              <a:t>L^d</a:t>
            </a:r>
            <a:r>
              <a:rPr lang="en-US" dirty="0"/>
              <a:t> since not all assignments are valid; just like in a temporal graph, there cannot be loops. The complete annotation for a structure means all variables are labeled and thus a unique point in C is determined. Partial annotation means only some of the variables are labeled. Then a subset of C is determined and that contains the true structure. Let </a:t>
            </a:r>
            <a:r>
              <a:rPr lang="en-US" dirty="0" err="1"/>
              <a:t>f_k</a:t>
            </a:r>
            <a:r>
              <a:rPr lang="en-US" dirty="0"/>
              <a:t> be the size of the subset if k variables are labeled. We know f_0 means no variables are labeled yet, so f_0 is the cardinality of C. Then </a:t>
            </a:r>
            <a:r>
              <a:rPr lang="en-US" dirty="0" err="1"/>
              <a:t>f_k</a:t>
            </a:r>
            <a:r>
              <a:rPr lang="en-US" dirty="0"/>
              <a:t> decreases as more variables are labeled, and at the end, </a:t>
            </a:r>
            <a:r>
              <a:rPr lang="en-US" dirty="0" err="1"/>
              <a:t>f_d</a:t>
            </a:r>
            <a:r>
              <a:rPr lang="en-US" dirty="0"/>
              <a:t> means all variables are labeled and only one point is left. We define quantity </a:t>
            </a:r>
            <a:r>
              <a:rPr lang="en-US" dirty="0" err="1"/>
              <a:t>I_k</a:t>
            </a:r>
            <a:r>
              <a:rPr lang="en-US" dirty="0"/>
              <a:t> as the difference between the original feasible set and the feasible set at step k, and it measures how much of C has been disqualified by k labels. In other words, that is the benefit of k labels. And furthermore, </a:t>
            </a:r>
            <a:r>
              <a:rPr lang="en-US" dirty="0" err="1"/>
              <a:t>Delta_k</a:t>
            </a:r>
            <a:r>
              <a:rPr lang="en-US" dirty="0"/>
              <a:t> is the benefit of the k-</a:t>
            </a:r>
            <a:r>
              <a:rPr lang="en-US" dirty="0" err="1"/>
              <a:t>th</a:t>
            </a:r>
            <a:r>
              <a:rPr lang="en-US" dirty="0"/>
              <a:t> label</a:t>
            </a:r>
          </a:p>
          <a:p>
            <a:r>
              <a:rPr lang="en-US" dirty="0"/>
              <a:t>(1 min)</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88</a:t>
            </a:fld>
            <a:endParaRPr lang="en-US" altLang="en-US"/>
          </a:p>
        </p:txBody>
      </p:sp>
    </p:spTree>
    <p:extLst>
      <p:ext uri="{BB962C8B-B14F-4D97-AF65-F5344CB8AC3E}">
        <p14:creationId xmlns:p14="http://schemas.microsoft.com/office/powerpoint/2010/main" val="296816097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structure. It’s a vector of random variables. L is the label set that each variable can choose from. Usually the structure Y lies in a constrained space of </a:t>
            </a:r>
            <a:r>
              <a:rPr lang="en-US" dirty="0" err="1"/>
              <a:t>L^d</a:t>
            </a:r>
            <a:r>
              <a:rPr lang="en-US" dirty="0"/>
              <a:t> since not all assignments are valid; just like in a temporal graph, there cannot be loops. The complete annotation for a structure means all variables are labeled and thus a unique point in C is determined. Partial annotation means only some of the variables are labeled. Then a subset of C is determined and that contains the true structure. Let </a:t>
            </a:r>
            <a:r>
              <a:rPr lang="en-US" dirty="0" err="1"/>
              <a:t>f_k</a:t>
            </a:r>
            <a:r>
              <a:rPr lang="en-US" dirty="0"/>
              <a:t> be the size of the subset if k variables are labeled. We know f_0 means no variables are labeled yet, so f_0 is the cardinality of C. Then </a:t>
            </a:r>
            <a:r>
              <a:rPr lang="en-US" dirty="0" err="1"/>
              <a:t>f_k</a:t>
            </a:r>
            <a:r>
              <a:rPr lang="en-US" dirty="0"/>
              <a:t> decreases as more variables are labeled, and at the end, </a:t>
            </a:r>
            <a:r>
              <a:rPr lang="en-US" dirty="0" err="1"/>
              <a:t>f_d</a:t>
            </a:r>
            <a:r>
              <a:rPr lang="en-US" dirty="0"/>
              <a:t> means all variables are labeled and only one point is left. We define quantity </a:t>
            </a:r>
            <a:r>
              <a:rPr lang="en-US" dirty="0" err="1"/>
              <a:t>I_k</a:t>
            </a:r>
            <a:r>
              <a:rPr lang="en-US" dirty="0"/>
              <a:t> as the difference between the original feasible set and the feasible set at step k, and it measures how much of C has been disqualified by k labels. In other words, that is the benefit of k labels. And furthermore, </a:t>
            </a:r>
            <a:r>
              <a:rPr lang="en-US" dirty="0" err="1"/>
              <a:t>Delta_k</a:t>
            </a:r>
            <a:r>
              <a:rPr lang="en-US" dirty="0"/>
              <a:t> is the benefit of the k-</a:t>
            </a:r>
            <a:r>
              <a:rPr lang="en-US" dirty="0" err="1"/>
              <a:t>th</a:t>
            </a:r>
            <a:r>
              <a:rPr lang="en-US" dirty="0"/>
              <a:t> label</a:t>
            </a:r>
          </a:p>
          <a:p>
            <a:r>
              <a:rPr lang="en-US" dirty="0"/>
              <a:t>(1 min)</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89</a:t>
            </a:fld>
            <a:endParaRPr lang="en-US" altLang="en-US"/>
          </a:p>
        </p:txBody>
      </p:sp>
    </p:spTree>
    <p:extLst>
      <p:ext uri="{BB962C8B-B14F-4D97-AF65-F5344CB8AC3E}">
        <p14:creationId xmlns:p14="http://schemas.microsoft.com/office/powerpoint/2010/main" val="120032915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this figure, we know from </a:t>
            </a:r>
            <a:r>
              <a:rPr lang="en-US" dirty="0" err="1"/>
              <a:t>seq</a:t>
            </a:r>
            <a:r>
              <a:rPr lang="en-US" dirty="0"/>
              <a:t> tagging, to bipartite, to chain, </a:t>
            </a:r>
            <a:r>
              <a:rPr lang="en-US" dirty="0" err="1"/>
              <a:t>I_k</a:t>
            </a:r>
            <a:r>
              <a:rPr lang="en-US" dirty="0"/>
              <a:t> is more concave. We selected three tasks: shallow parsing, semantic role classification, and our temporal relation extraction. They represent the </a:t>
            </a:r>
            <a:r>
              <a:rPr lang="en-US" dirty="0" err="1"/>
              <a:t>seq</a:t>
            </a:r>
            <a:r>
              <a:rPr lang="en-US" dirty="0"/>
              <a:t> tagging structure, the bipartite structure, and the chain structure. We can see the benefit of partial is indeed larger as </a:t>
            </a:r>
            <a:r>
              <a:rPr lang="en-US" dirty="0" err="1"/>
              <a:t>I_k</a:t>
            </a:r>
            <a:r>
              <a:rPr lang="en-US" dirty="0"/>
              <a:t> is more concave. Now we have seen the power of using </a:t>
            </a:r>
            <a:r>
              <a:rPr lang="en-US" dirty="0" err="1"/>
              <a:t>I_k</a:t>
            </a:r>
            <a:r>
              <a:rPr lang="en-US" dirty="0"/>
              <a:t> to analyze the benefit of partial data. Can we say more about </a:t>
            </a:r>
            <a:r>
              <a:rPr lang="en-US" dirty="0" err="1"/>
              <a:t>I_k</a:t>
            </a:r>
            <a:r>
              <a:rPr lang="en-US" dirty="0"/>
              <a:t>?</a:t>
            </a:r>
          </a:p>
          <a:p>
            <a:r>
              <a:rPr lang="en-US" dirty="0"/>
              <a:t>(30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91</a:t>
            </a:fld>
            <a:endParaRPr lang="en-US" altLang="en-US"/>
          </a:p>
        </p:txBody>
      </p:sp>
    </p:spTree>
    <p:extLst>
      <p:ext uri="{BB962C8B-B14F-4D97-AF65-F5344CB8AC3E}">
        <p14:creationId xmlns:p14="http://schemas.microsoft.com/office/powerpoint/2010/main" val="405647913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define k-partial annotation as a vector of random variables </a:t>
            </a:r>
            <a:r>
              <a:rPr lang="en-US" dirty="0" err="1"/>
              <a:t>A_k</a:t>
            </a:r>
            <a:r>
              <a:rPr lang="en-US" dirty="0"/>
              <a:t>. You don’t need to read the formulations below. The translation is: </a:t>
            </a:r>
            <a:r>
              <a:rPr lang="en-US" dirty="0" err="1"/>
              <a:t>A_k</a:t>
            </a:r>
            <a:r>
              <a:rPr lang="en-US" dirty="0"/>
              <a:t> means k variables are labeled in Y. Then actually we can prove, that </a:t>
            </a:r>
            <a:r>
              <a:rPr lang="en-US" dirty="0" err="1"/>
              <a:t>I_k</a:t>
            </a:r>
            <a:r>
              <a:rPr lang="en-US" dirty="0"/>
              <a:t> is the mutual information between structure Y and the k-partial annotation </a:t>
            </a:r>
            <a:r>
              <a:rPr lang="en-US" dirty="0" err="1"/>
              <a:t>A_k</a:t>
            </a:r>
            <a:r>
              <a:rPr lang="en-US" dirty="0"/>
              <a:t>, when they follow certain uniform distributions. This is a very interesting finding.</a:t>
            </a:r>
          </a:p>
          <a:p>
            <a:r>
              <a:rPr lang="en-US" dirty="0"/>
              <a:t>(30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92</a:t>
            </a:fld>
            <a:endParaRPr lang="en-US" altLang="en-US"/>
          </a:p>
        </p:txBody>
      </p:sp>
    </p:spTree>
    <p:extLst>
      <p:ext uri="{BB962C8B-B14F-4D97-AF65-F5344CB8AC3E}">
        <p14:creationId xmlns:p14="http://schemas.microsoft.com/office/powerpoint/2010/main" val="389837542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(partial 5 min)</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93</a:t>
            </a:fld>
            <a:endParaRPr lang="en-US" altLang="en-US"/>
          </a:p>
        </p:txBody>
      </p:sp>
    </p:spTree>
    <p:extLst>
      <p:ext uri="{BB962C8B-B14F-4D97-AF65-F5344CB8AC3E}">
        <p14:creationId xmlns:p14="http://schemas.microsoft.com/office/powerpoint/2010/main" val="4788020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Our NAACL’19 paper is itself a complete</a:t>
            </a:r>
            <a:r>
              <a:rPr lang="en-US" baseline="0" dirty="0" smtClean="0"/>
              <a:t> story, but is also </a:t>
            </a:r>
            <a:r>
              <a:rPr lang="en-US" dirty="0" smtClean="0"/>
              <a:t>a good starting point to study incidental supervision.</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95</a:t>
            </a:fld>
            <a:endParaRPr lang="en-US" altLang="en-US"/>
          </a:p>
        </p:txBody>
      </p:sp>
    </p:spTree>
    <p:extLst>
      <p:ext uri="{BB962C8B-B14F-4D97-AF65-F5344CB8AC3E}">
        <p14:creationId xmlns:p14="http://schemas.microsoft.com/office/powerpoint/2010/main" val="26161229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Specifically, I have already started doing joint extraction of events and relations in multi-task learning. I will make my multi-axis temporal parser more robust, which I think will be important for trustworthiness. And also, temporal common sense.</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96</a:t>
            </a:fld>
            <a:endParaRPr lang="en-US" altLang="en-US"/>
          </a:p>
        </p:txBody>
      </p:sp>
    </p:spTree>
    <p:extLst>
      <p:ext uri="{BB962C8B-B14F-4D97-AF65-F5344CB8AC3E}">
        <p14:creationId xmlns:p14="http://schemas.microsoft.com/office/powerpoint/2010/main" val="80750536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sense studied in this talk is about ordering, but there are actually more aspects about temporal common sense. For example, duration, stationary vs transient, absolute time point, and frequency. We are the first to systematically study all types of temporal common sense, we collected 10 thousand Q&amp;A pairs on it, and have already achieved roughly 70% accuracy on it. This paper is currently in submission. But of</a:t>
            </a:r>
            <a:r>
              <a:rPr lang="en-US" baseline="0" dirty="0"/>
              <a:t> course this is an initial step and there’re many interesting research we can do here</a:t>
            </a:r>
            <a:r>
              <a:rPr lang="en-US" baseline="0" dirty="0" smtClean="0"/>
              <a:t>.</a:t>
            </a:r>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97</a:t>
            </a:fld>
            <a:endParaRPr lang="en-US" altLang="en-US"/>
          </a:p>
        </p:txBody>
      </p:sp>
    </p:spTree>
    <p:extLst>
      <p:ext uri="{BB962C8B-B14F-4D97-AF65-F5344CB8AC3E}">
        <p14:creationId xmlns:p14="http://schemas.microsoft.com/office/powerpoint/2010/main" val="160898546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event level, I would also like to investigate summarization, what happens next, and event hierarchies. We have one paper in ISIT this year, and another paper in submission, but these is still a long way to go.</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98</a:t>
            </a:fld>
            <a:endParaRPr lang="en-US" altLang="en-US"/>
          </a:p>
        </p:txBody>
      </p:sp>
    </p:spTree>
    <p:extLst>
      <p:ext uri="{BB962C8B-B14F-4D97-AF65-F5344CB8AC3E}">
        <p14:creationId xmlns:p14="http://schemas.microsoft.com/office/powerpoint/2010/main" val="133711806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the short term, we want to build a more robust temporal parser and try to make that a standard parser when people want to study events...mid term...long term...Those are on the NLP side. </a:t>
            </a:r>
          </a:p>
          <a:p>
            <a:r>
              <a:rPr lang="en-US" dirty="0"/>
              <a:t>(practice at Julia’s group: 40 mins up to now)</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99</a:t>
            </a:fld>
            <a:endParaRPr lang="en-US" altLang="en-US"/>
          </a:p>
        </p:txBody>
      </p:sp>
    </p:spTree>
    <p:extLst>
      <p:ext uri="{BB962C8B-B14F-4D97-AF65-F5344CB8AC3E}">
        <p14:creationId xmlns:p14="http://schemas.microsoft.com/office/powerpoint/2010/main" val="298872594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That’s all I’m talking today. It’s been a long talk and I hope you don’t get sleepy. To summarize it, in the age of big text, we have big opportunities for NLP. Regarding where we are, I think we are standing at the situation-level, and that’s the next important thing to do in the field. To that end, temporal relation extraction is a crucial component, and we have addressed it from structured learning, common sense knowledge acquisition, new task definition which leads to an improved dataset, and how to combine them using neural nets. Finally, besides future work on time and event, I think incidental supervision</a:t>
            </a:r>
          </a:p>
          <a:p>
            <a:r>
              <a:rPr lang="en-US" dirty="0"/>
              <a:t>(1 min)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100</a:t>
            </a:fld>
            <a:endParaRPr lang="en-US" altLang="en-US"/>
          </a:p>
        </p:txBody>
      </p:sp>
    </p:spTree>
    <p:extLst>
      <p:ext uri="{BB962C8B-B14F-4D97-AF65-F5344CB8AC3E}">
        <p14:creationId xmlns:p14="http://schemas.microsoft.com/office/powerpoint/2010/main" val="324958953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thanks to my advisor and collaborators.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102</a:t>
            </a:fld>
            <a:endParaRPr lang="en-US" altLang="en-US"/>
          </a:p>
        </p:txBody>
      </p:sp>
    </p:spTree>
    <p:extLst>
      <p:ext uri="{BB962C8B-B14F-4D97-AF65-F5344CB8AC3E}">
        <p14:creationId xmlns:p14="http://schemas.microsoft.com/office/powerpoint/2010/main" val="8467329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jpeg"/><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Upenn-1-Aust">
    <p:spTree>
      <p:nvGrpSpPr>
        <p:cNvPr id="1" name=""/>
        <p:cNvGrpSpPr/>
        <p:nvPr/>
      </p:nvGrpSpPr>
      <p:grpSpPr>
        <a:xfrm>
          <a:off x="0" y="0"/>
          <a:ext cx="0" cy="0"/>
          <a:chOff x="0" y="0"/>
          <a:chExt cx="0" cy="0"/>
        </a:xfrm>
      </p:grpSpPr>
      <p:sp>
        <p:nvSpPr>
          <p:cNvPr id="2" name="Title 1"/>
          <p:cNvSpPr>
            <a:spLocks noGrp="1"/>
          </p:cNvSpPr>
          <p:nvPr>
            <p:ph type="ctrTitle"/>
          </p:nvPr>
        </p:nvSpPr>
        <p:spPr>
          <a:xfrm>
            <a:off x="0" y="1122363"/>
            <a:ext cx="9144000" cy="2387600"/>
          </a:xfrm>
        </p:spPr>
        <p:txBody>
          <a:bodyPr anchor="b"/>
          <a:lstStyle>
            <a:lvl1pPr algn="ctr">
              <a:defRPr sz="6000">
                <a:latin typeface="Century Gothic" panose="020B0502020202020204" pitchFamily="34" charset="0"/>
              </a:defRPr>
            </a:lvl1pPr>
          </a:lstStyle>
          <a:p>
            <a:r>
              <a:rPr lang="en-US" dirty="0"/>
              <a:t>Click to edit Master title style</a:t>
            </a:r>
          </a:p>
        </p:txBody>
      </p:sp>
      <p:sp>
        <p:nvSpPr>
          <p:cNvPr id="3" name="Subtitle 2"/>
          <p:cNvSpPr>
            <a:spLocks noGrp="1"/>
          </p:cNvSpPr>
          <p:nvPr>
            <p:ph type="subTitle" idx="1"/>
          </p:nvPr>
        </p:nvSpPr>
        <p:spPr>
          <a:xfrm>
            <a:off x="0" y="3602038"/>
            <a:ext cx="9144000" cy="1655762"/>
          </a:xfrm>
        </p:spPr>
        <p:txBody>
          <a:bodyPr/>
          <a:lstStyle>
            <a:lvl1pPr marL="0" indent="0" algn="ctr">
              <a:buNone/>
              <a:defRPr sz="2400">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Line 2">
            <a:extLst>
              <a:ext uri="{FF2B5EF4-FFF2-40B4-BE49-F238E27FC236}">
                <a16:creationId xmlns:a16="http://schemas.microsoft.com/office/drawing/2014/main" xmlns="" id="{2A1A4DA9-C618-C347-A8F8-7F7552A5C3FC}"/>
              </a:ext>
            </a:extLst>
          </p:cNvPr>
          <p:cNvSpPr>
            <a:spLocks noChangeShapeType="1"/>
          </p:cNvSpPr>
          <p:nvPr userDrawn="1"/>
        </p:nvSpPr>
        <p:spPr bwMode="auto">
          <a:xfrm>
            <a:off x="8526571" y="6475072"/>
            <a:ext cx="617427" cy="0"/>
          </a:xfrm>
          <a:prstGeom prst="line">
            <a:avLst/>
          </a:prstGeom>
          <a:noFill/>
          <a:ln w="12700">
            <a:solidFill>
              <a:srgbClr val="A8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11">
            <a:extLst>
              <a:ext uri="{FF2B5EF4-FFF2-40B4-BE49-F238E27FC236}">
                <a16:creationId xmlns:a16="http://schemas.microsoft.com/office/drawing/2014/main" xmlns="" id="{49AF8940-A5DD-EB43-9FC7-C00AAEF0D0B9}"/>
              </a:ext>
            </a:extLst>
          </p:cNvPr>
          <p:cNvSpPr>
            <a:spLocks noChangeShapeType="1"/>
          </p:cNvSpPr>
          <p:nvPr userDrawn="1"/>
        </p:nvSpPr>
        <p:spPr bwMode="auto">
          <a:xfrm>
            <a:off x="5550256" y="6475072"/>
            <a:ext cx="1383944" cy="0"/>
          </a:xfrm>
          <a:prstGeom prst="line">
            <a:avLst/>
          </a:prstGeom>
          <a:noFill/>
          <a:ln w="12700">
            <a:solidFill>
              <a:srgbClr val="A8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rtl="0"/>
            <a:endParaRPr lang="en-US" dirty="0"/>
          </a:p>
        </p:txBody>
      </p:sp>
      <p:sp>
        <p:nvSpPr>
          <p:cNvPr id="9" name="Line 12">
            <a:extLst>
              <a:ext uri="{FF2B5EF4-FFF2-40B4-BE49-F238E27FC236}">
                <a16:creationId xmlns:a16="http://schemas.microsoft.com/office/drawing/2014/main" xmlns="" id="{EC827BF2-3CB8-9844-87F5-63E4166EB182}"/>
              </a:ext>
            </a:extLst>
          </p:cNvPr>
          <p:cNvSpPr>
            <a:spLocks noChangeShapeType="1"/>
          </p:cNvSpPr>
          <p:nvPr userDrawn="1"/>
        </p:nvSpPr>
        <p:spPr bwMode="auto">
          <a:xfrm>
            <a:off x="2362200" y="6475072"/>
            <a:ext cx="1371600" cy="0"/>
          </a:xfrm>
          <a:prstGeom prst="line">
            <a:avLst/>
          </a:prstGeom>
          <a:noFill/>
          <a:ln w="12700">
            <a:solidFill>
              <a:srgbClr val="A8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13">
            <a:extLst>
              <a:ext uri="{FF2B5EF4-FFF2-40B4-BE49-F238E27FC236}">
                <a16:creationId xmlns:a16="http://schemas.microsoft.com/office/drawing/2014/main" xmlns="" id="{E4A6E229-32C0-CA49-995F-F3B996D1934A}"/>
              </a:ext>
            </a:extLst>
          </p:cNvPr>
          <p:cNvSpPr>
            <a:spLocks noChangeShapeType="1"/>
          </p:cNvSpPr>
          <p:nvPr userDrawn="1"/>
        </p:nvSpPr>
        <p:spPr bwMode="auto">
          <a:xfrm>
            <a:off x="0" y="6475072"/>
            <a:ext cx="457200" cy="0"/>
          </a:xfrm>
          <a:prstGeom prst="line">
            <a:avLst/>
          </a:prstGeom>
          <a:noFill/>
          <a:ln w="12700">
            <a:solidFill>
              <a:srgbClr val="A8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10"/>
          <p:cNvSpPr/>
          <p:nvPr userDrawn="1"/>
        </p:nvSpPr>
        <p:spPr>
          <a:xfrm>
            <a:off x="8459643" y="6577752"/>
            <a:ext cx="457200" cy="204048"/>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p:cNvGrpSpPr/>
          <p:nvPr userDrawn="1"/>
        </p:nvGrpSpPr>
        <p:grpSpPr>
          <a:xfrm>
            <a:off x="617430" y="6136384"/>
            <a:ext cx="7909141" cy="583757"/>
            <a:chOff x="674086" y="6136384"/>
            <a:chExt cx="7909141" cy="583757"/>
          </a:xfrm>
        </p:grpSpPr>
        <p:pic>
          <p:nvPicPr>
            <p:cNvPr id="4" name="Picture 3">
              <a:extLst>
                <a:ext uri="{FF2B5EF4-FFF2-40B4-BE49-F238E27FC236}">
                  <a16:creationId xmlns:a16="http://schemas.microsoft.com/office/drawing/2014/main" xmlns="" id="{C7831C99-0458-DE4E-A174-1CE53B05FBC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74086" y="6221786"/>
              <a:ext cx="1675702" cy="457200"/>
            </a:xfrm>
            <a:prstGeom prst="rect">
              <a:avLst/>
            </a:prstGeom>
          </p:spPr>
        </p:pic>
        <p:pic>
          <p:nvPicPr>
            <p:cNvPr id="12" name="Picture 11">
              <a:extLst>
                <a:ext uri="{FF2B5EF4-FFF2-40B4-BE49-F238E27FC236}">
                  <a16:creationId xmlns:a16="http://schemas.microsoft.com/office/drawing/2014/main" xmlns="" id="{FE4CFCCF-0316-4943-B915-87B3874D7E9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905677" y="6136384"/>
              <a:ext cx="1701235" cy="583757"/>
            </a:xfrm>
            <a:prstGeom prst="rect">
              <a:avLst/>
            </a:prstGeom>
          </p:spPr>
        </p:pic>
        <p:pic>
          <p:nvPicPr>
            <p:cNvPr id="6" name="Picture 5" descr="A picture containing clipart&#13;&#10;&#13;&#10;Description automatically generated">
              <a:extLst>
                <a:ext uri="{FF2B5EF4-FFF2-40B4-BE49-F238E27FC236}">
                  <a16:creationId xmlns:a16="http://schemas.microsoft.com/office/drawing/2014/main" xmlns="" id="{34E2DC30-6B04-054F-856D-59E11092907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162800" y="6248400"/>
              <a:ext cx="1420427" cy="457200"/>
            </a:xfrm>
            <a:prstGeom prst="rect">
              <a:avLst/>
            </a:prstGeom>
          </p:spPr>
        </p:pic>
      </p:grpSp>
    </p:spTree>
    <p:extLst>
      <p:ext uri="{BB962C8B-B14F-4D97-AF65-F5344CB8AC3E}">
        <p14:creationId xmlns:p14="http://schemas.microsoft.com/office/powerpoint/2010/main" val="3128124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bg2"/>
                </a:solidFill>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005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dirty="0"/>
              <a:t>Edit Master text styles</a:t>
            </a:r>
          </a:p>
        </p:txBody>
      </p:sp>
    </p:spTree>
    <p:extLst>
      <p:ext uri="{BB962C8B-B14F-4D97-AF65-F5344CB8AC3E}">
        <p14:creationId xmlns:p14="http://schemas.microsoft.com/office/powerpoint/2010/main" val="1777838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381000" y="1219200"/>
            <a:ext cx="41910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4400" y="1219200"/>
            <a:ext cx="41910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8110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dirty="0"/>
              <a:t>Click to edit Master title style</a:t>
            </a:r>
          </a:p>
        </p:txBody>
      </p:sp>
      <p:sp>
        <p:nvSpPr>
          <p:cNvPr id="3" name="Text Placeholder 2"/>
          <p:cNvSpPr>
            <a:spLocks noGrp="1"/>
          </p:cNvSpPr>
          <p:nvPr>
            <p:ph type="body" idx="1"/>
          </p:nvPr>
        </p:nvSpPr>
        <p:spPr>
          <a:xfrm>
            <a:off x="630238" y="1681163"/>
            <a:ext cx="3868737" cy="4524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133600"/>
            <a:ext cx="3868737" cy="40560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4524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133600"/>
            <a:ext cx="3887788" cy="4056063"/>
          </a:xfrm>
        </p:spPr>
        <p:txBody>
          <a:bodyPr/>
          <a:lstStyle/>
          <a:p>
            <a:pPr lvl="0"/>
            <a:r>
              <a:rPr lang="en-US"/>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9478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636793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4695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796326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212636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1488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457200"/>
            <a:ext cx="21336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457200"/>
            <a:ext cx="6248400"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1934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41045A-FD6C-7B4E-8808-15B6E80C79A3}"/>
              </a:ext>
            </a:extLst>
          </p:cNvPr>
          <p:cNvSpPr>
            <a:spLocks noGrp="1"/>
          </p:cNvSpPr>
          <p:nvPr>
            <p:ph type="title"/>
          </p:nvPr>
        </p:nvSpPr>
        <p:spPr>
          <a:xfrm>
            <a:off x="0" y="3162300"/>
            <a:ext cx="9144000" cy="533400"/>
          </a:xfrm>
        </p:spPr>
        <p:txBody>
          <a:bodyPr/>
          <a:lstStyle>
            <a:lvl1pPr algn="ctr">
              <a:defRPr lang="en-US" cap="none" baseline="0" dirty="0" smtClean="0">
                <a:latin typeface="Century Gothic" panose="020B0502020202020204" pitchFamily="34" charset="0"/>
              </a:defRPr>
            </a:lvl1pPr>
          </a:lstStyle>
          <a:p>
            <a:r>
              <a:rPr lang="en-US" dirty="0"/>
              <a:t>Click to edit Master title style</a:t>
            </a:r>
          </a:p>
        </p:txBody>
      </p:sp>
    </p:spTree>
    <p:extLst>
      <p:ext uri="{BB962C8B-B14F-4D97-AF65-F5344CB8AC3E}">
        <p14:creationId xmlns:p14="http://schemas.microsoft.com/office/powerpoint/2010/main" val="39509070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41045A-FD6C-7B4E-8808-15B6E80C79A3}"/>
              </a:ext>
            </a:extLst>
          </p:cNvPr>
          <p:cNvSpPr>
            <a:spLocks noGrp="1"/>
          </p:cNvSpPr>
          <p:nvPr>
            <p:ph type="title"/>
          </p:nvPr>
        </p:nvSpPr>
        <p:spPr>
          <a:xfrm>
            <a:off x="0" y="3162300"/>
            <a:ext cx="9144000" cy="533400"/>
          </a:xfrm>
        </p:spPr>
        <p:txBody>
          <a:bodyPr/>
          <a:lstStyle>
            <a:lvl1pPr algn="ctr">
              <a:defRPr lang="en-US" cap="none" baseline="0" dirty="0" smtClean="0">
                <a:latin typeface="Century Gothic" panose="020B0502020202020204" pitchFamily="34" charset="0"/>
              </a:defRPr>
            </a:lvl1pPr>
          </a:lstStyle>
          <a:p>
            <a:r>
              <a:rPr lang="en-US" dirty="0"/>
              <a:t>Click to edit Master title style</a:t>
            </a:r>
          </a:p>
        </p:txBody>
      </p:sp>
    </p:spTree>
    <p:extLst>
      <p:ext uri="{BB962C8B-B14F-4D97-AF65-F5344CB8AC3E}">
        <p14:creationId xmlns:p14="http://schemas.microsoft.com/office/powerpoint/2010/main" val="420148660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body" idx="1"/>
          </p:nvPr>
        </p:nvSpPr>
        <p:spPr bwMode="auto">
          <a:xfrm>
            <a:off x="381000" y="1219200"/>
            <a:ext cx="85344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title"/>
          </p:nvPr>
        </p:nvSpPr>
        <p:spPr bwMode="auto">
          <a:xfrm>
            <a:off x="676274" y="228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en-US" altLang="zh-CN" dirty="0"/>
              <a:t> Click to Edit Master Title Style</a:t>
            </a:r>
          </a:p>
        </p:txBody>
      </p:sp>
      <p:sp>
        <p:nvSpPr>
          <p:cNvPr id="1030" name="Rectangle 6"/>
          <p:cNvSpPr>
            <a:spLocks noChangeArrowheads="1"/>
          </p:cNvSpPr>
          <p:nvPr userDrawn="1"/>
        </p:nvSpPr>
        <p:spPr bwMode="auto">
          <a:xfrm>
            <a:off x="8494030" y="6491233"/>
            <a:ext cx="45204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50308F2-B355-B943-A2CF-451A9FDD88CE}" type="slidenum">
              <a:rPr lang="zh-CN" altLang="en-US" sz="1800" smtClean="0">
                <a:solidFill>
                  <a:srgbClr val="A7001B"/>
                </a:solidFill>
                <a:latin typeface="Times New Roman" panose="02020603050405020304" pitchFamily="18" charset="0"/>
                <a:ea typeface="宋体" panose="02010600030101010101" pitchFamily="2" charset="-122"/>
              </a:rPr>
              <a:t>‹#›</a:t>
            </a:fld>
            <a:endParaRPr lang="en-US" altLang="zh-CN" sz="1800" dirty="0">
              <a:solidFill>
                <a:srgbClr val="A7001B"/>
              </a:solidFill>
              <a:latin typeface="Times New Roman" panose="02020603050405020304" pitchFamily="18" charset="0"/>
              <a:ea typeface="宋体" panose="02010600030101010101" pitchFamily="2" charset="-122"/>
            </a:endParaRPr>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74" r:id="rId13"/>
  </p:sldLayoutIdLst>
  <p:hf sldNum="0" hdr="0" ftr="0" dt="0"/>
  <p:txStyles>
    <p:title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p:titleStyle>
    <p:bodyStyle>
      <a:lvl1pPr marL="342900" indent="-342900" algn="l" rtl="0" eaLnBrk="0" fontAlgn="base" hangingPunct="0">
        <a:spcBef>
          <a:spcPct val="20000"/>
        </a:spcBef>
        <a:spcAft>
          <a:spcPct val="0"/>
        </a:spcAft>
        <a:buClr>
          <a:srgbClr val="545164"/>
        </a:buClr>
        <a:buSzPct val="65000"/>
        <a:buFont typeface="Wingdings" pitchFamily="2" charset="2"/>
        <a:buChar char="q"/>
        <a:defRPr sz="2800" kern="1200">
          <a:solidFill>
            <a:schemeClr val="bg2">
              <a:lumMod val="85000"/>
              <a:lumOff val="15000"/>
            </a:schemeClr>
          </a:solidFill>
          <a:latin typeface="Century Gothic" panose="020B0502020202020204" pitchFamily="34" charset="0"/>
          <a:ea typeface="+mn-ea"/>
          <a:cs typeface="Calibri" panose="020F0502020204030204" pitchFamily="34" charset="0"/>
        </a:defRPr>
      </a:lvl1pPr>
      <a:lvl2pPr marL="800100" indent="-342900" algn="l" rtl="0" eaLnBrk="0" fontAlgn="base" hangingPunct="0">
        <a:spcBef>
          <a:spcPct val="20000"/>
        </a:spcBef>
        <a:spcAft>
          <a:spcPct val="0"/>
        </a:spcAft>
        <a:buClr>
          <a:srgbClr val="545164"/>
        </a:buClr>
        <a:buSzPct val="65000"/>
        <a:buFont typeface="Wingdings" pitchFamily="2" charset="2"/>
        <a:buChar char="q"/>
        <a:defRPr sz="2400" kern="1200">
          <a:solidFill>
            <a:schemeClr val="bg2">
              <a:lumMod val="75000"/>
              <a:lumOff val="25000"/>
            </a:schemeClr>
          </a:solidFill>
          <a:latin typeface="Century Gothic" panose="020B0502020202020204" pitchFamily="34" charset="0"/>
          <a:ea typeface="+mn-ea"/>
          <a:cs typeface="Calibri" panose="020F0502020204030204" pitchFamily="34" charset="0"/>
        </a:defRPr>
      </a:lvl2pPr>
      <a:lvl3pPr marL="1143000" indent="-285750" algn="l" rtl="0" eaLnBrk="0" fontAlgn="base" hangingPunct="0">
        <a:spcBef>
          <a:spcPct val="20000"/>
        </a:spcBef>
        <a:spcAft>
          <a:spcPct val="0"/>
        </a:spcAft>
        <a:buClr>
          <a:srgbClr val="545164"/>
        </a:buClr>
        <a:buSzPct val="65000"/>
        <a:buFont typeface="Wingdings" pitchFamily="2" charset="2"/>
        <a:buChar char="q"/>
        <a:defRPr sz="2000" kern="1200">
          <a:solidFill>
            <a:schemeClr val="bg2">
              <a:lumMod val="75000"/>
              <a:lumOff val="25000"/>
            </a:schemeClr>
          </a:solidFill>
          <a:latin typeface="Century Gothic" panose="020B0502020202020204" pitchFamily="34" charset="0"/>
          <a:ea typeface="+mn-ea"/>
          <a:cs typeface="Calibri" panose="020F0502020204030204" pitchFamily="34" charset="0"/>
        </a:defRPr>
      </a:lvl3pPr>
      <a:lvl4pPr marL="1485900" indent="-285750" algn="l" rtl="0" eaLnBrk="0" fontAlgn="base" hangingPunct="0">
        <a:spcBef>
          <a:spcPct val="20000"/>
        </a:spcBef>
        <a:spcAft>
          <a:spcPct val="0"/>
        </a:spcAft>
        <a:buClr>
          <a:srgbClr val="545164"/>
        </a:buClr>
        <a:buSzPct val="65000"/>
        <a:buFont typeface="Wingdings" pitchFamily="2" charset="2"/>
        <a:buChar char="q"/>
        <a:defRPr sz="1800" kern="1200">
          <a:solidFill>
            <a:schemeClr val="bg2">
              <a:lumMod val="75000"/>
              <a:lumOff val="25000"/>
            </a:schemeClr>
          </a:solidFill>
          <a:latin typeface="Century Gothic" panose="020B0502020202020204" pitchFamily="34" charset="0"/>
          <a:ea typeface="+mn-ea"/>
          <a:cs typeface="Calibri" panose="020F0502020204030204" pitchFamily="34" charset="0"/>
        </a:defRPr>
      </a:lvl4pPr>
      <a:lvl5pPr marL="1828800" indent="-285750" algn="l" rtl="0" eaLnBrk="0" fontAlgn="base" hangingPunct="0">
        <a:spcBef>
          <a:spcPct val="20000"/>
        </a:spcBef>
        <a:spcAft>
          <a:spcPct val="0"/>
        </a:spcAft>
        <a:buClr>
          <a:srgbClr val="545164"/>
        </a:buClr>
        <a:buSzPct val="65000"/>
        <a:buFont typeface="Wingdings" pitchFamily="2" charset="2"/>
        <a:buChar char="q"/>
        <a:defRPr sz="1600" kern="1200">
          <a:solidFill>
            <a:schemeClr val="bg2">
              <a:lumMod val="75000"/>
              <a:lumOff val="25000"/>
            </a:schemeClr>
          </a:solidFill>
          <a:latin typeface="Century Gothic" panose="020B050202020202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image" Target="../media/image10.png"/><Relationship Id="rId12" Type="http://schemas.openxmlformats.org/officeDocument/2006/relationships/image" Target="../media/image11.tiff"/><Relationship Id="rId13" Type="http://schemas.openxmlformats.org/officeDocument/2006/relationships/image" Target="../media/image12.tiff"/><Relationship Id="rId14" Type="http://schemas.openxmlformats.org/officeDocument/2006/relationships/image" Target="../media/image13.png"/><Relationship Id="rId15" Type="http://schemas.openxmlformats.org/officeDocument/2006/relationships/image" Target="../media/image14.tiff"/><Relationship Id="rId16" Type="http://schemas.openxmlformats.org/officeDocument/2006/relationships/image" Target="../media/image15.tiff"/><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microsoft.com/office/2007/relationships/hdphoto" Target="../media/hdphoto1.wdp"/><Relationship Id="rId5" Type="http://schemas.openxmlformats.org/officeDocument/2006/relationships/image" Target="../media/image5.png"/><Relationship Id="rId6" Type="http://schemas.microsoft.com/office/2007/relationships/hdphoto" Target="../media/hdphoto2.wdp"/><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s>
</file>

<file path=ppt/slides/_rels/slide3.xml.rels><?xml version="1.0" encoding="UTF-8" standalone="yes"?>
<Relationships xmlns="http://schemas.openxmlformats.org/package/2006/relationships"><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6.jpeg"/><Relationship Id="rId4" Type="http://schemas.openxmlformats.org/officeDocument/2006/relationships/image" Target="../media/image17.png"/><Relationship Id="rId5" Type="http://schemas.openxmlformats.org/officeDocument/2006/relationships/image" Target="../media/image18.jpe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31.tiff"/><Relationship Id="rId4" Type="http://schemas.openxmlformats.org/officeDocument/2006/relationships/image" Target="../media/image32.tiff"/><Relationship Id="rId5" Type="http://schemas.openxmlformats.org/officeDocument/2006/relationships/image" Target="../media/image33.tiff"/><Relationship Id="rId6" Type="http://schemas.openxmlformats.org/officeDocument/2006/relationships/image" Target="../media/image34.tiff"/><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31.tiff"/><Relationship Id="rId4" Type="http://schemas.openxmlformats.org/officeDocument/2006/relationships/image" Target="../media/image32.tiff"/><Relationship Id="rId5" Type="http://schemas.openxmlformats.org/officeDocument/2006/relationships/image" Target="../media/image33.tiff"/><Relationship Id="rId6" Type="http://schemas.openxmlformats.org/officeDocument/2006/relationships/image" Target="../media/image34.tiff"/><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35.tiff"/><Relationship Id="rId4" Type="http://schemas.openxmlformats.org/officeDocument/2006/relationships/image" Target="../media/image36.tiff"/><Relationship Id="rId5" Type="http://schemas.openxmlformats.org/officeDocument/2006/relationships/image" Target="../media/image37.tiff"/><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38.jpeg"/><Relationship Id="rId4" Type="http://schemas.openxmlformats.org/officeDocument/2006/relationships/image" Target="../media/image39.png"/><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38.jpeg"/><Relationship Id="rId4" Type="http://schemas.openxmlformats.org/officeDocument/2006/relationships/image" Target="../media/image39.png"/><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38.jpeg"/><Relationship Id="rId4" Type="http://schemas.openxmlformats.org/officeDocument/2006/relationships/image" Target="../media/image39.png"/><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image" Target="../media/image360.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0.png"/><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chart" Target="../charts/char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4" Type="http://schemas.openxmlformats.org/officeDocument/2006/relationships/image" Target="../media/image400.png"/><Relationship Id="rId5" Type="http://schemas.openxmlformats.org/officeDocument/2006/relationships/image" Target="../media/image410.png"/><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chart" Target="../charts/char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chart" Target="../charts/char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chart" Target="../charts/chart4.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chart" Target="../charts/chart7.xml"/><Relationship Id="rId6" Type="http://schemas.openxmlformats.org/officeDocument/2006/relationships/chart" Target="../charts/chart8.xml"/><Relationship Id="rId7" Type="http://schemas.openxmlformats.org/officeDocument/2006/relationships/chart" Target="../charts/chart9.xml"/><Relationship Id="rId8" Type="http://schemas.openxmlformats.org/officeDocument/2006/relationships/chart" Target="../charts/chart10.xml"/><Relationship Id="rId9" Type="http://schemas.openxmlformats.org/officeDocument/2006/relationships/chart" Target="../charts/chart11.xml"/><Relationship Id="rId10" Type="http://schemas.openxmlformats.org/officeDocument/2006/relationships/chart" Target="../charts/chart12.xml"/><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3" Type="http://schemas.openxmlformats.org/officeDocument/2006/relationships/chart" Target="../charts/chart13.xml"/><Relationship Id="rId4" Type="http://schemas.openxmlformats.org/officeDocument/2006/relationships/chart" Target="../charts/chart14.xml"/><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3" Type="http://schemas.openxmlformats.org/officeDocument/2006/relationships/chart" Target="../charts/chart15.xml"/><Relationship Id="rId4" Type="http://schemas.openxmlformats.org/officeDocument/2006/relationships/chart" Target="../charts/chart16.xml"/><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3" Type="http://schemas.openxmlformats.org/officeDocument/2006/relationships/chart" Target="../charts/chart17.xml"/><Relationship Id="rId4" Type="http://schemas.openxmlformats.org/officeDocument/2006/relationships/chart" Target="../charts/chart18.xml"/><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image" Target="../media/image42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chart" Target="../charts/chart19.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image" Target="../media/image4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chart" Target="../charts/chart2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5.tiff"/></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43.png"/><Relationship Id="rId5" Type="http://schemas.openxmlformats.org/officeDocument/2006/relationships/image" Target="../media/image44.png"/><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chart" Target="../charts/chart2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chart" Target="../charts/chart2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chart" Target="../charts/chart2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chart" Target="../charts/chart24.xml"/></Relationships>
</file>

<file path=ppt/slides/_rels/slide80.xml.rels><?xml version="1.0" encoding="UTF-8" standalone="yes"?>
<Relationships xmlns="http://schemas.openxmlformats.org/package/2006/relationships"><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1"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1"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 Id="rId7" Type="http://schemas.openxmlformats.org/officeDocument/2006/relationships/image" Target="NULL"/></Relationships>
</file>

<file path=ppt/slides/_rels/slide88.xml.rels><?xml version="1.0" encoding="UTF-8" standalone="yes"?>
<Relationships xmlns="http://schemas.openxmlformats.org/package/2006/relationships"><Relationship Id="rId3" Type="http://schemas.openxmlformats.org/officeDocument/2006/relationships/image" Target="../media/image49.emf"/><Relationship Id="rId7" Type="http://schemas.openxmlformats.org/officeDocument/2006/relationships/image" Target="NULL"/><Relationship Id="rId1"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9.xml.rels><?xml version="1.0" encoding="UTF-8" standalone="yes"?>
<Relationships xmlns="http://schemas.openxmlformats.org/package/2006/relationships"><Relationship Id="rId3" Type="http://schemas.openxmlformats.org/officeDocument/2006/relationships/image" Target="../media/image451.png"/><Relationship Id="rId4" Type="http://schemas.openxmlformats.org/officeDocument/2006/relationships/image" Target="../media/image440.png"/><Relationship Id="rId5" Type="http://schemas.openxmlformats.org/officeDocument/2006/relationships/image" Target="../media/image480.png"/><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90.xml.rels><?xml version="1.0" encoding="UTF-8" standalone="yes"?>
<Relationships xmlns="http://schemas.openxmlformats.org/package/2006/relationships"><Relationship Id="rId3" Type="http://schemas.openxmlformats.org/officeDocument/2006/relationships/image" Target="../media/image440.png"/><Relationship Id="rId4" Type="http://schemas.openxmlformats.org/officeDocument/2006/relationships/image" Target="../media/image450.png"/><Relationship Id="rId5" Type="http://schemas.openxmlformats.org/officeDocument/2006/relationships/image" Target="../media/image49.png"/><Relationship Id="rId6" Type="http://schemas.openxmlformats.org/officeDocument/2006/relationships/image" Target="../media/image50.png"/><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91.xml.rels><?xml version="1.0" encoding="UTF-8" standalone="yes"?>
<Relationships xmlns="http://schemas.openxmlformats.org/package/2006/relationships"><Relationship Id="rId3" Type="http://schemas.openxmlformats.org/officeDocument/2006/relationships/image" Target="../media/image51.png"/><Relationship Id="rId4" Type="http://schemas.openxmlformats.org/officeDocument/2006/relationships/image" Target="../media/image52.png"/><Relationship Id="rId1" Type="http://schemas.openxmlformats.org/officeDocument/2006/relationships/slideLayout" Target="../slideLayouts/slideLayout6.xml"/><Relationship Id="rId2" Type="http://schemas.openxmlformats.org/officeDocument/2006/relationships/image" Target="../media/image50.emf"/></Relationships>
</file>

<file path=ppt/slides/_rels/slide92.xml.rels><?xml version="1.0" encoding="UTF-8" standalone="yes"?>
<Relationships xmlns="http://schemas.openxmlformats.org/package/2006/relationships"><Relationship Id="rId3" Type="http://schemas.openxmlformats.org/officeDocument/2006/relationships/image" Target="../media/image49.emf"/><Relationship Id="rId4" Type="http://schemas.openxmlformats.org/officeDocument/2006/relationships/image" Target="../media/image51.emf"/><Relationship Id="rId5" Type="http://schemas.openxmlformats.org/officeDocument/2006/relationships/image" Target="../media/image52.emf"/><Relationship Id="rId6" Type="http://schemas.openxmlformats.org/officeDocument/2006/relationships/image" Target="../media/image541.png"/><Relationship Id="rId7" Type="http://schemas.openxmlformats.org/officeDocument/2006/relationships/image" Target="../media/image53.png"/><Relationship Id="rId8" Type="http://schemas.openxmlformats.org/officeDocument/2006/relationships/image" Target="../media/image62.png"/><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3" Type="http://schemas.openxmlformats.org/officeDocument/2006/relationships/image" Target="../media/image54.png"/><Relationship Id="rId4" Type="http://schemas.openxmlformats.org/officeDocument/2006/relationships/image" Target="../media/image55.png"/><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5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1"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7.xml.rels><?xml version="1.0" encoding="UTF-8" standalone="yes"?>
<Relationships xmlns="http://schemas.openxmlformats.org/package/2006/relationships"><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1" Type="http://schemas.openxmlformats.org/officeDocument/2006/relationships/slideLayout" Target="../slideLayouts/slideLayout6.xml"/><Relationship Id="rId2" Type="http://schemas.openxmlformats.org/officeDocument/2006/relationships/notesSlide" Target="../notesSlides/notesSlide9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9.xml.rels><?xml version="1.0" encoding="UTF-8" standalone="yes"?>
<Relationships xmlns="http://schemas.openxmlformats.org/package/2006/relationships"><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3.png"/><Relationship Id="rId1"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100.xml.rels><?xml version="1.0" encoding="UTF-8" standalone="yes"?>
<Relationships xmlns="http://schemas.openxmlformats.org/package/2006/relationships"><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3.png"/><Relationship Id="rId1" Type="http://schemas.openxmlformats.org/officeDocument/2006/relationships/slideLayout" Target="../slideLayouts/slideLayout6.xml"/><Relationship Id="rId2" Type="http://schemas.openxmlformats.org/officeDocument/2006/relationships/notesSlide" Target="../notesSlides/notesSlide9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1" Type="http://schemas.openxmlformats.org/officeDocument/2006/relationships/image" Target="../media/image72.jpeg"/><Relationship Id="rId12" Type="http://schemas.openxmlformats.org/officeDocument/2006/relationships/image" Target="../media/image73.tiff"/><Relationship Id="rId13" Type="http://schemas.openxmlformats.org/officeDocument/2006/relationships/image" Target="../media/image74.tiff"/><Relationship Id="rId14" Type="http://schemas.openxmlformats.org/officeDocument/2006/relationships/image" Target="../media/image75.tiff"/><Relationship Id="rId15" Type="http://schemas.openxmlformats.org/officeDocument/2006/relationships/image" Target="../media/image76.tiff"/><Relationship Id="rId16" Type="http://schemas.openxmlformats.org/officeDocument/2006/relationships/image" Target="../media/image77.tiff"/><Relationship Id="rId17" Type="http://schemas.openxmlformats.org/officeDocument/2006/relationships/image" Target="../media/image78.tiff"/><Relationship Id="rId1" Type="http://schemas.openxmlformats.org/officeDocument/2006/relationships/slideLayout" Target="../slideLayouts/slideLayout6.xml"/><Relationship Id="rId2" Type="http://schemas.openxmlformats.org/officeDocument/2006/relationships/notesSlide" Target="../notesSlides/notesSlide97.xml"/><Relationship Id="rId3" Type="http://schemas.openxmlformats.org/officeDocument/2006/relationships/image" Target="../media/image64.tiff"/><Relationship Id="rId4" Type="http://schemas.openxmlformats.org/officeDocument/2006/relationships/image" Target="../media/image65.tiff"/><Relationship Id="rId5" Type="http://schemas.openxmlformats.org/officeDocument/2006/relationships/image" Target="../media/image66.png"/><Relationship Id="rId6" Type="http://schemas.openxmlformats.org/officeDocument/2006/relationships/image" Target="../media/image67.tiff"/><Relationship Id="rId7" Type="http://schemas.openxmlformats.org/officeDocument/2006/relationships/image" Target="../media/image68.tiff"/><Relationship Id="rId8" Type="http://schemas.openxmlformats.org/officeDocument/2006/relationships/image" Target="../media/image69.tiff"/><Relationship Id="rId9" Type="http://schemas.openxmlformats.org/officeDocument/2006/relationships/image" Target="../media/image70.jpeg"/><Relationship Id="rId10" Type="http://schemas.openxmlformats.org/officeDocument/2006/relationships/image" Target="../media/image71.tif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5"/>
          <p:cNvSpPr>
            <a:spLocks noGrp="1" noChangeArrowheads="1"/>
          </p:cNvSpPr>
          <p:nvPr>
            <p:ph type="ctrTitle"/>
          </p:nvPr>
        </p:nvSpPr>
        <p:spPr/>
        <p:txBody>
          <a:bodyPr anchor="ctr"/>
          <a:lstStyle/>
          <a:p>
            <a:pPr eaLnBrk="1" hangingPunct="1"/>
            <a:r>
              <a:rPr lang="en-US" sz="4000" dirty="0"/>
              <a:t>Understanding Events In Natural Language:</a:t>
            </a:r>
            <a:br>
              <a:rPr lang="en-US" sz="4000" dirty="0"/>
            </a:br>
            <a:r>
              <a:rPr lang="en-US" sz="2800" dirty="0"/>
              <a:t>-- Learning, Common Sense, Data Annotation, and What’s Next</a:t>
            </a:r>
            <a:endParaRPr lang="en-US" altLang="en-US" sz="4000" dirty="0"/>
          </a:p>
        </p:txBody>
      </p:sp>
      <p:sp>
        <p:nvSpPr>
          <p:cNvPr id="3074" name="Rectangle 4"/>
          <p:cNvSpPr>
            <a:spLocks noGrp="1" noChangeArrowheads="1"/>
          </p:cNvSpPr>
          <p:nvPr>
            <p:ph type="subTitle" idx="1"/>
          </p:nvPr>
        </p:nvSpPr>
        <p:spPr>
          <a:xfrm>
            <a:off x="0" y="4114800"/>
            <a:ext cx="9144000" cy="1447800"/>
          </a:xfrm>
        </p:spPr>
        <p:txBody>
          <a:bodyPr/>
          <a:lstStyle/>
          <a:p>
            <a:r>
              <a:rPr lang="en-US" dirty="0"/>
              <a:t>Qiang Ning</a:t>
            </a:r>
          </a:p>
          <a:p>
            <a:r>
              <a:rPr lang="en-US" dirty="0"/>
              <a:t>Electrical and Computer Engineering</a:t>
            </a:r>
          </a:p>
          <a:p>
            <a:r>
              <a:rPr lang="en-US" dirty="0"/>
              <a:t>University of Illinois at Urbana-Champaign</a:t>
            </a:r>
          </a:p>
        </p:txBody>
      </p:sp>
    </p:spTree>
    <p:extLst>
      <p:ext uri="{BB962C8B-B14F-4D97-AF65-F5344CB8AC3E}">
        <p14:creationId xmlns:p14="http://schemas.microsoft.com/office/powerpoint/2010/main" val="3168569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email">
            <a:extLst>
              <a:ext uri="{BEBA8EAE-BF5A-486C-A8C5-ECC9F3942E4B}">
                <a14:imgProps xmlns:a14="http://schemas.microsoft.com/office/drawing/2010/main">
                  <a14:imgLayer r:embed="rId4">
                    <a14:imgEffect>
                      <a14:backgroundRemoval t="0" b="100000" l="2020" r="100000">
                        <a14:foregroundMark x1="47475" y1="48905" x2="47475" y2="48905"/>
                        <a14:foregroundMark x1="25253" y1="54745" x2="25253" y2="54745"/>
                      </a14:backgroundRemoval>
                    </a14:imgEffect>
                  </a14:imgLayer>
                </a14:imgProps>
              </a:ext>
              <a:ext uri="{28A0092B-C50C-407E-A947-70E740481C1C}">
                <a14:useLocalDpi xmlns:a14="http://schemas.microsoft.com/office/drawing/2010/main"/>
              </a:ext>
            </a:extLst>
          </a:blip>
          <a:srcRect/>
          <a:stretch/>
        </p:blipFill>
        <p:spPr>
          <a:xfrm>
            <a:off x="581492" y="3293079"/>
            <a:ext cx="454998" cy="626590"/>
          </a:xfrm>
          <a:prstGeom prst="rect">
            <a:avLst/>
          </a:prstGeom>
        </p:spPr>
      </p:pic>
      <p:pic>
        <p:nvPicPr>
          <p:cNvPr id="4" name="Picture 3"/>
          <p:cNvPicPr>
            <a:picLocks noChangeAspect="1"/>
          </p:cNvPicPr>
          <p:nvPr/>
        </p:nvPicPr>
        <p:blipFill rotWithShape="1">
          <a:blip r:embed="rId5" cstate="email">
            <a:extLst>
              <a:ext uri="{BEBA8EAE-BF5A-486C-A8C5-ECC9F3942E4B}">
                <a14:imgProps xmlns:a14="http://schemas.microsoft.com/office/drawing/2010/main">
                  <a14:imgLayer r:embed="rId6">
                    <a14:imgEffect>
                      <a14:backgroundRemoval t="0" b="100000" l="0" r="100000">
                        <a14:foregroundMark x1="34409" y1="40361" x2="34409" y2="40361"/>
                      </a14:backgroundRemoval>
                    </a14:imgEffect>
                  </a14:imgLayer>
                </a14:imgProps>
              </a:ext>
              <a:ext uri="{28A0092B-C50C-407E-A947-70E740481C1C}">
                <a14:useLocalDpi xmlns:a14="http://schemas.microsoft.com/office/drawing/2010/main"/>
              </a:ext>
            </a:extLst>
          </a:blip>
          <a:srcRect/>
          <a:stretch/>
        </p:blipFill>
        <p:spPr>
          <a:xfrm>
            <a:off x="944881" y="3262270"/>
            <a:ext cx="426719" cy="762000"/>
          </a:xfrm>
          <a:prstGeom prst="rect">
            <a:avLst/>
          </a:prstGeom>
        </p:spPr>
      </p:pic>
      <p:pic>
        <p:nvPicPr>
          <p:cNvPr id="5" name="Picture 4"/>
          <p:cNvPicPr>
            <a:picLocks noChangeAspect="1"/>
          </p:cNvPicPr>
          <p:nvPr/>
        </p:nvPicPr>
        <p:blipFill rotWithShape="1">
          <a:blip r:embed="rId7" cstate="email">
            <a:extLst>
              <a:ext uri="{BEBA8EAE-BF5A-486C-A8C5-ECC9F3942E4B}">
                <a14:imgProps xmlns:a14="http://schemas.microsoft.com/office/drawing/2010/main">
                  <a14:imgLayer r:embed="rId6">
                    <a14:imgEffect>
                      <a14:backgroundRemoval t="0" b="100000" l="0" r="100000">
                        <a14:foregroundMark x1="50862" y1="43000" x2="50862" y2="43000"/>
                      </a14:backgroundRemoval>
                    </a14:imgEffect>
                  </a14:imgLayer>
                </a14:imgProps>
              </a:ext>
              <a:ext uri="{28A0092B-C50C-407E-A947-70E740481C1C}">
                <a14:useLocalDpi xmlns:a14="http://schemas.microsoft.com/office/drawing/2010/main"/>
              </a:ext>
            </a:extLst>
          </a:blip>
          <a:srcRect/>
          <a:stretch/>
        </p:blipFill>
        <p:spPr>
          <a:xfrm>
            <a:off x="1219200" y="3111369"/>
            <a:ext cx="530929" cy="921505"/>
          </a:xfrm>
          <a:prstGeom prst="rect">
            <a:avLst/>
          </a:prstGeom>
        </p:spPr>
      </p:pic>
      <p:pic>
        <p:nvPicPr>
          <p:cNvPr id="6" name="Picture 5"/>
          <p:cNvPicPr>
            <a:picLocks noChangeAspect="1"/>
          </p:cNvPicPr>
          <p:nvPr/>
        </p:nvPicPr>
        <p:blipFill rotWithShape="1">
          <a:blip r:embed="rId8" cstate="email">
            <a:extLst>
              <a:ext uri="{BEBA8EAE-BF5A-486C-A8C5-ECC9F3942E4B}">
                <a14:imgProps xmlns:a14="http://schemas.microsoft.com/office/drawing/2010/main">
                  <a14:imgLayer r:embed="rId6">
                    <a14:imgEffect>
                      <a14:backgroundRemoval t="394" b="100000" l="0" r="100000">
                        <a14:foregroundMark x1="49618" y1="47244" x2="49618" y2="47244"/>
                      </a14:backgroundRemoval>
                    </a14:imgEffect>
                  </a14:imgLayer>
                </a14:imgProps>
              </a:ext>
              <a:ext uri="{28A0092B-C50C-407E-A947-70E740481C1C}">
                <a14:useLocalDpi xmlns:a14="http://schemas.microsoft.com/office/drawing/2010/main"/>
              </a:ext>
            </a:extLst>
          </a:blip>
          <a:srcRect/>
          <a:stretch/>
        </p:blipFill>
        <p:spPr>
          <a:xfrm>
            <a:off x="1585983" y="2907498"/>
            <a:ext cx="603108" cy="1165123"/>
          </a:xfrm>
          <a:prstGeom prst="rect">
            <a:avLst/>
          </a:prstGeom>
        </p:spPr>
      </p:pic>
      <p:pic>
        <p:nvPicPr>
          <p:cNvPr id="8" name="Picture 7"/>
          <p:cNvPicPr>
            <a:picLocks noChangeAspect="1"/>
          </p:cNvPicPr>
          <p:nvPr/>
        </p:nvPicPr>
        <p:blipFill rotWithShape="1">
          <a:blip r:embed="rId9" cstate="email">
            <a:extLst>
              <a:ext uri="{BEBA8EAE-BF5A-486C-A8C5-ECC9F3942E4B}">
                <a14:imgProps xmlns:a14="http://schemas.microsoft.com/office/drawing/2010/main">
                  <a14:imgLayer r:embed="rId6">
                    <a14:imgEffect>
                      <a14:backgroundRemoval t="0" b="100000" l="0" r="100000">
                        <a14:foregroundMark x1="48515" y1="35772" x2="48515" y2="35772"/>
                      </a14:backgroundRemoval>
                    </a14:imgEffect>
                  </a14:imgLayer>
                </a14:imgProps>
              </a:ext>
              <a:ext uri="{28A0092B-C50C-407E-A947-70E740481C1C}">
                <a14:useLocalDpi xmlns:a14="http://schemas.microsoft.com/office/drawing/2010/main"/>
              </a:ext>
            </a:extLst>
          </a:blip>
          <a:srcRect/>
          <a:stretch/>
        </p:blipFill>
        <p:spPr>
          <a:xfrm>
            <a:off x="3421776" y="2925982"/>
            <a:ext cx="463137" cy="1128156"/>
          </a:xfrm>
          <a:prstGeom prst="rect">
            <a:avLst/>
          </a:prstGeom>
        </p:spPr>
      </p:pic>
      <p:pic>
        <p:nvPicPr>
          <p:cNvPr id="9" name="Picture 8"/>
          <p:cNvPicPr>
            <a:picLocks noChangeAspect="1"/>
          </p:cNvPicPr>
          <p:nvPr/>
        </p:nvPicPr>
        <p:blipFill rotWithShape="1">
          <a:blip r:embed="rId10" cstate="email">
            <a:extLst>
              <a:ext uri="{BEBA8EAE-BF5A-486C-A8C5-ECC9F3942E4B}">
                <a14:imgProps xmlns:a14="http://schemas.microsoft.com/office/drawing/2010/main">
                  <a14:imgLayer r:embed="rId6">
                    <a14:imgEffect>
                      <a14:backgroundRemoval t="816" b="100000" l="0" r="97196">
                        <a14:foregroundMark x1="35514" y1="32245" x2="35514" y2="32245"/>
                        <a14:foregroundMark x1="85981" y1="17959" x2="85981" y2="17959"/>
                        <a14:foregroundMark x1="89720" y1="21224" x2="89720" y2="21224"/>
                        <a14:foregroundMark x1="74766" y1="20408" x2="74766" y2="20408"/>
                      </a14:backgroundRemoval>
                    </a14:imgEffect>
                  </a14:imgLayer>
                </a14:imgProps>
              </a:ext>
              <a:ext uri="{28A0092B-C50C-407E-A947-70E740481C1C}">
                <a14:useLocalDpi xmlns:a14="http://schemas.microsoft.com/office/drawing/2010/main"/>
              </a:ext>
            </a:extLst>
          </a:blip>
          <a:srcRect r="-3766"/>
          <a:stretch/>
        </p:blipFill>
        <p:spPr>
          <a:xfrm>
            <a:off x="7946253" y="2808453"/>
            <a:ext cx="510639" cy="1125552"/>
          </a:xfrm>
          <a:prstGeom prst="rect">
            <a:avLst/>
          </a:prstGeom>
        </p:spPr>
      </p:pic>
      <p:cxnSp>
        <p:nvCxnSpPr>
          <p:cNvPr id="10" name="Straight Arrow Connector 9">
            <a:extLst>
              <a:ext uri="{FF2B5EF4-FFF2-40B4-BE49-F238E27FC236}">
                <a16:creationId xmlns:a16="http://schemas.microsoft.com/office/drawing/2014/main" xmlns="" id="{5A579F8B-2B44-8249-A691-21665A2A7161}"/>
              </a:ext>
            </a:extLst>
          </p:cNvPr>
          <p:cNvCxnSpPr>
            <a:cxnSpLocks/>
          </p:cNvCxnSpPr>
          <p:nvPr/>
        </p:nvCxnSpPr>
        <p:spPr>
          <a:xfrm>
            <a:off x="152400" y="4100323"/>
            <a:ext cx="8991600" cy="0"/>
          </a:xfrm>
          <a:prstGeom prst="straightConnector1">
            <a:avLst/>
          </a:prstGeom>
          <a:ln w="76200">
            <a:solidFill>
              <a:srgbClr val="635D85"/>
            </a:solidFill>
            <a:tailEnd type="triangle"/>
          </a:ln>
        </p:spPr>
        <p:style>
          <a:lnRef idx="1">
            <a:schemeClr val="accent2"/>
          </a:lnRef>
          <a:fillRef idx="0">
            <a:schemeClr val="accent2"/>
          </a:fillRef>
          <a:effectRef idx="0">
            <a:schemeClr val="accent2"/>
          </a:effectRef>
          <a:fontRef idx="minor">
            <a:schemeClr val="tx1"/>
          </a:fontRef>
        </p:style>
      </p:cxnSp>
      <p:sp>
        <p:nvSpPr>
          <p:cNvPr id="12" name="Oval 11">
            <a:extLst>
              <a:ext uri="{FF2B5EF4-FFF2-40B4-BE49-F238E27FC236}">
                <a16:creationId xmlns:a16="http://schemas.microsoft.com/office/drawing/2014/main" xmlns="" id="{644E204D-55E0-5F43-AFFD-7CE62AFAC18F}"/>
              </a:ext>
            </a:extLst>
          </p:cNvPr>
          <p:cNvSpPr/>
          <p:nvPr/>
        </p:nvSpPr>
        <p:spPr>
          <a:xfrm>
            <a:off x="1215278" y="3993497"/>
            <a:ext cx="182880" cy="182880"/>
          </a:xfrm>
          <a:prstGeom prst="ellipse">
            <a:avLst/>
          </a:prstGeom>
          <a:solidFill>
            <a:srgbClr val="635D85"/>
          </a:solidFill>
          <a:ln>
            <a:solidFill>
              <a:srgbClr val="635D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050" dirty="0">
              <a:solidFill>
                <a:srgbClr val="000000"/>
              </a:solidFill>
            </a:endParaRPr>
          </a:p>
        </p:txBody>
      </p:sp>
      <p:sp>
        <p:nvSpPr>
          <p:cNvPr id="13" name="TextBox 12">
            <a:extLst>
              <a:ext uri="{FF2B5EF4-FFF2-40B4-BE49-F238E27FC236}">
                <a16:creationId xmlns:a16="http://schemas.microsoft.com/office/drawing/2014/main" xmlns="" id="{66DDB09F-2A8F-A64F-990D-48FB4C45879B}"/>
              </a:ext>
            </a:extLst>
          </p:cNvPr>
          <p:cNvSpPr txBox="1"/>
          <p:nvPr/>
        </p:nvSpPr>
        <p:spPr>
          <a:xfrm>
            <a:off x="709407" y="4159166"/>
            <a:ext cx="1269191" cy="338554"/>
          </a:xfrm>
          <a:prstGeom prst="rect">
            <a:avLst/>
          </a:prstGeom>
          <a:noFill/>
        </p:spPr>
        <p:txBody>
          <a:bodyPr wrap="square" rtlCol="0">
            <a:spAutoFit/>
          </a:bodyPr>
          <a:lstStyle/>
          <a:p>
            <a:pPr algn="ctr" eaLnBrk="0" fontAlgn="base" hangingPunct="0">
              <a:spcBef>
                <a:spcPct val="0"/>
              </a:spcBef>
              <a:spcAft>
                <a:spcPct val="0"/>
              </a:spcAft>
            </a:pPr>
            <a:r>
              <a:rPr lang="en-US" altLang="zh-CN" sz="1600" b="1" dirty="0">
                <a:solidFill>
                  <a:srgbClr val="000000"/>
                </a:solidFill>
                <a:latin typeface="Century Gothic" charset="0"/>
                <a:ea typeface="Century Gothic" charset="0"/>
                <a:cs typeface="Century Gothic" charset="0"/>
              </a:rPr>
              <a:t>2.5M ago</a:t>
            </a:r>
            <a:endParaRPr lang="en-US" sz="1600" b="1" dirty="0">
              <a:solidFill>
                <a:srgbClr val="000000"/>
              </a:solidFill>
              <a:latin typeface="Century Gothic" charset="0"/>
              <a:ea typeface="Century Gothic" charset="0"/>
              <a:cs typeface="Century Gothic" charset="0"/>
            </a:endParaRPr>
          </a:p>
        </p:txBody>
      </p:sp>
      <p:sp>
        <p:nvSpPr>
          <p:cNvPr id="14" name="TextBox 13">
            <a:extLst>
              <a:ext uri="{FF2B5EF4-FFF2-40B4-BE49-F238E27FC236}">
                <a16:creationId xmlns:a16="http://schemas.microsoft.com/office/drawing/2014/main" xmlns="" id="{61E1DDB9-2070-954C-99FC-35529870FDD6}"/>
              </a:ext>
            </a:extLst>
          </p:cNvPr>
          <p:cNvSpPr txBox="1"/>
          <p:nvPr/>
        </p:nvSpPr>
        <p:spPr>
          <a:xfrm>
            <a:off x="0" y="4484721"/>
            <a:ext cx="2530435" cy="584775"/>
          </a:xfrm>
          <a:prstGeom prst="rect">
            <a:avLst/>
          </a:prstGeom>
          <a:noFill/>
        </p:spPr>
        <p:txBody>
          <a:bodyPr wrap="square" rtlCol="0">
            <a:spAutoFit/>
          </a:bodyPr>
          <a:lstStyle/>
          <a:p>
            <a:pPr algn="ctr" eaLnBrk="0" fontAlgn="base" hangingPunct="0">
              <a:spcBef>
                <a:spcPct val="0"/>
              </a:spcBef>
              <a:spcAft>
                <a:spcPct val="0"/>
              </a:spcAft>
            </a:pPr>
            <a:r>
              <a:rPr lang="en-US" sz="1600" dirty="0">
                <a:solidFill>
                  <a:srgbClr val="000000"/>
                </a:solidFill>
                <a:latin typeface="Century Gothic" panose="020B0502020202020204" pitchFamily="34" charset="0"/>
              </a:rPr>
              <a:t>Multiple species of humans appeared</a:t>
            </a:r>
          </a:p>
        </p:txBody>
      </p:sp>
      <p:grpSp>
        <p:nvGrpSpPr>
          <p:cNvPr id="21" name="Group 20"/>
          <p:cNvGrpSpPr/>
          <p:nvPr/>
        </p:nvGrpSpPr>
        <p:grpSpPr>
          <a:xfrm>
            <a:off x="4926946" y="2892367"/>
            <a:ext cx="635533" cy="1161771"/>
            <a:chOff x="3696719" y="997528"/>
            <a:chExt cx="635533" cy="1161771"/>
          </a:xfrm>
        </p:grpSpPr>
        <p:pic>
          <p:nvPicPr>
            <p:cNvPr id="7" name="Picture 6"/>
            <p:cNvPicPr>
              <a:picLocks noChangeAspect="1"/>
            </p:cNvPicPr>
            <p:nvPr/>
          </p:nvPicPr>
          <p:blipFill rotWithShape="1">
            <a:blip r:embed="rId11" cstate="email">
              <a:extLst>
                <a:ext uri="{BEBA8EAE-BF5A-486C-A8C5-ECC9F3942E4B}">
                  <a14:imgProps xmlns:a14="http://schemas.microsoft.com/office/drawing/2010/main">
                    <a14:imgLayer r:embed="rId6">
                      <a14:imgEffect>
                        <a14:backgroundRemoval t="0" b="100000" l="0" r="100000">
                          <a14:foregroundMark x1="48515" y1="34387" x2="48515" y2="34387"/>
                        </a14:backgroundRemoval>
                      </a14:imgEffect>
                    </a14:imgLayer>
                  </a14:imgProps>
                </a:ext>
                <a:ext uri="{28A0092B-C50C-407E-A947-70E740481C1C}">
                  <a14:useLocalDpi xmlns:a14="http://schemas.microsoft.com/office/drawing/2010/main"/>
                </a:ext>
              </a:extLst>
            </a:blip>
            <a:srcRect/>
            <a:stretch/>
          </p:blipFill>
          <p:spPr>
            <a:xfrm>
              <a:off x="3696719" y="997528"/>
              <a:ext cx="463137" cy="1161771"/>
            </a:xfrm>
            <a:prstGeom prst="rect">
              <a:avLst/>
            </a:prstGeom>
          </p:spPr>
        </p:pic>
        <p:pic>
          <p:nvPicPr>
            <p:cNvPr id="20" name="Picture 19"/>
            <p:cNvPicPr>
              <a:picLocks noChangeAspect="1"/>
            </p:cNvPicPr>
            <p:nvPr/>
          </p:nvPicPr>
          <p:blipFill rotWithShape="1">
            <a:blip r:embed="rId1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rot="989125">
              <a:off x="3987458" y="1253614"/>
              <a:ext cx="344794" cy="281667"/>
            </a:xfrm>
            <a:prstGeom prst="rect">
              <a:avLst/>
            </a:prstGeom>
          </p:spPr>
        </p:pic>
      </p:grpSp>
      <p:sp>
        <p:nvSpPr>
          <p:cNvPr id="22" name="Oval 21">
            <a:extLst>
              <a:ext uri="{FF2B5EF4-FFF2-40B4-BE49-F238E27FC236}">
                <a16:creationId xmlns:a16="http://schemas.microsoft.com/office/drawing/2014/main" xmlns="" id="{644E204D-55E0-5F43-AFFD-7CE62AFAC18F}"/>
              </a:ext>
            </a:extLst>
          </p:cNvPr>
          <p:cNvSpPr/>
          <p:nvPr/>
        </p:nvSpPr>
        <p:spPr>
          <a:xfrm>
            <a:off x="6604512" y="3993497"/>
            <a:ext cx="182880" cy="182880"/>
          </a:xfrm>
          <a:prstGeom prst="ellipse">
            <a:avLst/>
          </a:prstGeom>
          <a:solidFill>
            <a:srgbClr val="635D85"/>
          </a:solidFill>
          <a:ln>
            <a:solidFill>
              <a:srgbClr val="635D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050" dirty="0">
              <a:solidFill>
                <a:srgbClr val="000000"/>
              </a:solidFill>
            </a:endParaRPr>
          </a:p>
        </p:txBody>
      </p:sp>
      <p:sp>
        <p:nvSpPr>
          <p:cNvPr id="23" name="TextBox 22">
            <a:extLst>
              <a:ext uri="{FF2B5EF4-FFF2-40B4-BE49-F238E27FC236}">
                <a16:creationId xmlns:a16="http://schemas.microsoft.com/office/drawing/2014/main" xmlns="" id="{66DDB09F-2A8F-A64F-990D-48FB4C45879B}"/>
              </a:ext>
            </a:extLst>
          </p:cNvPr>
          <p:cNvSpPr txBox="1"/>
          <p:nvPr/>
        </p:nvSpPr>
        <p:spPr>
          <a:xfrm>
            <a:off x="4602992" y="4159166"/>
            <a:ext cx="1269191" cy="338554"/>
          </a:xfrm>
          <a:prstGeom prst="rect">
            <a:avLst/>
          </a:prstGeom>
          <a:noFill/>
        </p:spPr>
        <p:txBody>
          <a:bodyPr wrap="square" rtlCol="0">
            <a:spAutoFit/>
          </a:bodyPr>
          <a:lstStyle/>
          <a:p>
            <a:pPr algn="ctr" eaLnBrk="0" fontAlgn="base" hangingPunct="0">
              <a:spcBef>
                <a:spcPct val="0"/>
              </a:spcBef>
              <a:spcAft>
                <a:spcPct val="0"/>
              </a:spcAft>
            </a:pPr>
            <a:r>
              <a:rPr lang="en-US" altLang="zh-CN" sz="1600" b="1" dirty="0">
                <a:solidFill>
                  <a:srgbClr val="000000"/>
                </a:solidFill>
                <a:latin typeface="Century Gothic" charset="0"/>
                <a:ea typeface="Century Gothic" charset="0"/>
                <a:cs typeface="Century Gothic" charset="0"/>
              </a:rPr>
              <a:t>12K ago</a:t>
            </a:r>
            <a:endParaRPr lang="en-US" sz="1600" b="1" dirty="0">
              <a:solidFill>
                <a:srgbClr val="000000"/>
              </a:solidFill>
              <a:latin typeface="Century Gothic" charset="0"/>
              <a:ea typeface="Century Gothic" charset="0"/>
              <a:cs typeface="Century Gothic" charset="0"/>
            </a:endParaRPr>
          </a:p>
        </p:txBody>
      </p:sp>
      <p:sp>
        <p:nvSpPr>
          <p:cNvPr id="24" name="TextBox 23">
            <a:extLst>
              <a:ext uri="{FF2B5EF4-FFF2-40B4-BE49-F238E27FC236}">
                <a16:creationId xmlns:a16="http://schemas.microsoft.com/office/drawing/2014/main" xmlns="" id="{61E1DDB9-2070-954C-99FC-35529870FDD6}"/>
              </a:ext>
            </a:extLst>
          </p:cNvPr>
          <p:cNvSpPr txBox="1"/>
          <p:nvPr/>
        </p:nvSpPr>
        <p:spPr>
          <a:xfrm>
            <a:off x="4404758" y="4484721"/>
            <a:ext cx="1571143" cy="646331"/>
          </a:xfrm>
          <a:prstGeom prst="rect">
            <a:avLst/>
          </a:prstGeom>
          <a:noFill/>
        </p:spPr>
        <p:txBody>
          <a:bodyPr wrap="square" rtlCol="0">
            <a:spAutoFit/>
          </a:bodyPr>
          <a:lstStyle/>
          <a:p>
            <a:pPr algn="ctr" eaLnBrk="0" fontAlgn="base" hangingPunct="0">
              <a:spcBef>
                <a:spcPct val="0"/>
              </a:spcBef>
              <a:spcAft>
                <a:spcPct val="0"/>
              </a:spcAft>
            </a:pPr>
            <a:r>
              <a:rPr lang="en-US" dirty="0">
                <a:solidFill>
                  <a:srgbClr val="000000"/>
                </a:solidFill>
                <a:latin typeface="Century Gothic" panose="020B0502020202020204" pitchFamily="34" charset="0"/>
              </a:rPr>
              <a:t>Agricultural revolution</a:t>
            </a:r>
          </a:p>
        </p:txBody>
      </p:sp>
      <p:sp>
        <p:nvSpPr>
          <p:cNvPr id="25" name="Oval 24">
            <a:extLst>
              <a:ext uri="{FF2B5EF4-FFF2-40B4-BE49-F238E27FC236}">
                <a16:creationId xmlns:a16="http://schemas.microsoft.com/office/drawing/2014/main" xmlns="" id="{644E204D-55E0-5F43-AFFD-7CE62AFAC18F}"/>
              </a:ext>
            </a:extLst>
          </p:cNvPr>
          <p:cNvSpPr/>
          <p:nvPr/>
        </p:nvSpPr>
        <p:spPr>
          <a:xfrm>
            <a:off x="8110133" y="3993497"/>
            <a:ext cx="182880" cy="182880"/>
          </a:xfrm>
          <a:prstGeom prst="ellipse">
            <a:avLst/>
          </a:prstGeom>
          <a:solidFill>
            <a:srgbClr val="635D85"/>
          </a:solidFill>
          <a:ln>
            <a:solidFill>
              <a:srgbClr val="635D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050" dirty="0">
              <a:solidFill>
                <a:srgbClr val="000000"/>
              </a:solidFill>
            </a:endParaRPr>
          </a:p>
        </p:txBody>
      </p:sp>
      <p:sp>
        <p:nvSpPr>
          <p:cNvPr id="26" name="Oval 25">
            <a:extLst>
              <a:ext uri="{FF2B5EF4-FFF2-40B4-BE49-F238E27FC236}">
                <a16:creationId xmlns:a16="http://schemas.microsoft.com/office/drawing/2014/main" xmlns="" id="{644E204D-55E0-5F43-AFFD-7CE62AFAC18F}"/>
              </a:ext>
            </a:extLst>
          </p:cNvPr>
          <p:cNvSpPr/>
          <p:nvPr/>
        </p:nvSpPr>
        <p:spPr>
          <a:xfrm>
            <a:off x="3593268" y="3993497"/>
            <a:ext cx="182880" cy="182880"/>
          </a:xfrm>
          <a:prstGeom prst="ellipse">
            <a:avLst/>
          </a:prstGeom>
          <a:solidFill>
            <a:srgbClr val="635D85"/>
          </a:solidFill>
          <a:ln>
            <a:solidFill>
              <a:srgbClr val="635D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050" dirty="0">
              <a:solidFill>
                <a:srgbClr val="000000"/>
              </a:solidFill>
            </a:endParaRPr>
          </a:p>
        </p:txBody>
      </p:sp>
      <p:sp>
        <p:nvSpPr>
          <p:cNvPr id="27" name="TextBox 26">
            <a:extLst>
              <a:ext uri="{FF2B5EF4-FFF2-40B4-BE49-F238E27FC236}">
                <a16:creationId xmlns:a16="http://schemas.microsoft.com/office/drawing/2014/main" xmlns="" id="{66DDB09F-2A8F-A64F-990D-48FB4C45879B}"/>
              </a:ext>
            </a:extLst>
          </p:cNvPr>
          <p:cNvSpPr txBox="1"/>
          <p:nvPr/>
        </p:nvSpPr>
        <p:spPr>
          <a:xfrm>
            <a:off x="7571075" y="4159166"/>
            <a:ext cx="1269191" cy="338554"/>
          </a:xfrm>
          <a:prstGeom prst="rect">
            <a:avLst/>
          </a:prstGeom>
          <a:noFill/>
        </p:spPr>
        <p:txBody>
          <a:bodyPr wrap="square" rtlCol="0">
            <a:spAutoFit/>
          </a:bodyPr>
          <a:lstStyle/>
          <a:p>
            <a:pPr algn="ctr" eaLnBrk="0" fontAlgn="base" hangingPunct="0">
              <a:spcBef>
                <a:spcPct val="0"/>
              </a:spcBef>
              <a:spcAft>
                <a:spcPct val="0"/>
              </a:spcAft>
            </a:pPr>
            <a:r>
              <a:rPr lang="en-US" altLang="zh-CN" sz="1600" b="1" dirty="0">
                <a:solidFill>
                  <a:srgbClr val="000000"/>
                </a:solidFill>
                <a:latin typeface="Century Gothic" charset="0"/>
                <a:ea typeface="Century Gothic" charset="0"/>
                <a:cs typeface="Century Gothic" charset="0"/>
              </a:rPr>
              <a:t>Now</a:t>
            </a:r>
            <a:endParaRPr lang="en-US" sz="1600" b="1" dirty="0">
              <a:solidFill>
                <a:srgbClr val="000000"/>
              </a:solidFill>
              <a:latin typeface="Century Gothic" charset="0"/>
              <a:ea typeface="Century Gothic" charset="0"/>
              <a:cs typeface="Century Gothic" charset="0"/>
            </a:endParaRPr>
          </a:p>
        </p:txBody>
      </p:sp>
      <p:sp>
        <p:nvSpPr>
          <p:cNvPr id="28" name="TextBox 27">
            <a:extLst>
              <a:ext uri="{FF2B5EF4-FFF2-40B4-BE49-F238E27FC236}">
                <a16:creationId xmlns:a16="http://schemas.microsoft.com/office/drawing/2014/main" xmlns="" id="{61E1DDB9-2070-954C-99FC-35529870FDD6}"/>
              </a:ext>
            </a:extLst>
          </p:cNvPr>
          <p:cNvSpPr txBox="1"/>
          <p:nvPr/>
        </p:nvSpPr>
        <p:spPr>
          <a:xfrm>
            <a:off x="7571075" y="4484721"/>
            <a:ext cx="1571143" cy="646331"/>
          </a:xfrm>
          <a:prstGeom prst="rect">
            <a:avLst/>
          </a:prstGeom>
          <a:noFill/>
        </p:spPr>
        <p:txBody>
          <a:bodyPr wrap="square" rtlCol="0">
            <a:spAutoFit/>
          </a:bodyPr>
          <a:lstStyle/>
          <a:p>
            <a:pPr algn="ctr" eaLnBrk="0" fontAlgn="base" hangingPunct="0">
              <a:spcBef>
                <a:spcPct val="0"/>
              </a:spcBef>
              <a:spcAft>
                <a:spcPct val="0"/>
              </a:spcAft>
            </a:pPr>
            <a:r>
              <a:rPr lang="en-US" dirty="0">
                <a:solidFill>
                  <a:srgbClr val="000000"/>
                </a:solidFill>
                <a:latin typeface="Century Gothic" panose="020B0502020202020204" pitchFamily="34" charset="0"/>
              </a:rPr>
              <a:t>Computer</a:t>
            </a:r>
          </a:p>
          <a:p>
            <a:pPr algn="ctr" eaLnBrk="0" fontAlgn="base" hangingPunct="0">
              <a:spcBef>
                <a:spcPct val="0"/>
              </a:spcBef>
              <a:spcAft>
                <a:spcPct val="0"/>
              </a:spcAft>
            </a:pPr>
            <a:r>
              <a:rPr lang="en-US" dirty="0">
                <a:solidFill>
                  <a:srgbClr val="000000"/>
                </a:solidFill>
                <a:latin typeface="Century Gothic" panose="020B0502020202020204" pitchFamily="34" charset="0"/>
              </a:rPr>
              <a:t>revolution</a:t>
            </a:r>
          </a:p>
        </p:txBody>
      </p:sp>
      <p:sp>
        <p:nvSpPr>
          <p:cNvPr id="29" name="Oval 28">
            <a:extLst>
              <a:ext uri="{FF2B5EF4-FFF2-40B4-BE49-F238E27FC236}">
                <a16:creationId xmlns:a16="http://schemas.microsoft.com/office/drawing/2014/main" xmlns="" id="{644E204D-55E0-5F43-AFFD-7CE62AFAC18F}"/>
              </a:ext>
            </a:extLst>
          </p:cNvPr>
          <p:cNvSpPr/>
          <p:nvPr/>
        </p:nvSpPr>
        <p:spPr>
          <a:xfrm>
            <a:off x="5098890" y="3993497"/>
            <a:ext cx="182880" cy="182880"/>
          </a:xfrm>
          <a:prstGeom prst="ellipse">
            <a:avLst/>
          </a:prstGeom>
          <a:solidFill>
            <a:srgbClr val="635D85"/>
          </a:solidFill>
          <a:ln>
            <a:solidFill>
              <a:srgbClr val="635D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050" dirty="0">
              <a:solidFill>
                <a:srgbClr val="000000"/>
              </a:solidFill>
            </a:endParaRPr>
          </a:p>
        </p:txBody>
      </p:sp>
      <p:sp>
        <p:nvSpPr>
          <p:cNvPr id="31" name="TextBox 30">
            <a:extLst>
              <a:ext uri="{FF2B5EF4-FFF2-40B4-BE49-F238E27FC236}">
                <a16:creationId xmlns:a16="http://schemas.microsoft.com/office/drawing/2014/main" xmlns="" id="{66DDB09F-2A8F-A64F-990D-48FB4C45879B}"/>
              </a:ext>
            </a:extLst>
          </p:cNvPr>
          <p:cNvSpPr txBox="1"/>
          <p:nvPr/>
        </p:nvSpPr>
        <p:spPr>
          <a:xfrm>
            <a:off x="6047190" y="4159166"/>
            <a:ext cx="1269191" cy="338554"/>
          </a:xfrm>
          <a:prstGeom prst="rect">
            <a:avLst/>
          </a:prstGeom>
          <a:noFill/>
        </p:spPr>
        <p:txBody>
          <a:bodyPr wrap="square" rtlCol="0">
            <a:spAutoFit/>
          </a:bodyPr>
          <a:lstStyle/>
          <a:p>
            <a:pPr algn="ctr" eaLnBrk="0" fontAlgn="base" hangingPunct="0">
              <a:spcBef>
                <a:spcPct val="0"/>
              </a:spcBef>
              <a:spcAft>
                <a:spcPct val="0"/>
              </a:spcAft>
            </a:pPr>
            <a:r>
              <a:rPr lang="en-US" altLang="zh-CN" sz="1600" b="1" dirty="0">
                <a:solidFill>
                  <a:srgbClr val="000000"/>
                </a:solidFill>
                <a:latin typeface="Century Gothic" charset="0"/>
                <a:ea typeface="Century Gothic" charset="0"/>
                <a:cs typeface="Century Gothic" charset="0"/>
              </a:rPr>
              <a:t>500 ago</a:t>
            </a:r>
            <a:endParaRPr lang="en-US" sz="1600" b="1" dirty="0">
              <a:solidFill>
                <a:srgbClr val="000000"/>
              </a:solidFill>
              <a:latin typeface="Century Gothic" charset="0"/>
              <a:ea typeface="Century Gothic" charset="0"/>
              <a:cs typeface="Century Gothic" charset="0"/>
            </a:endParaRPr>
          </a:p>
        </p:txBody>
      </p:sp>
      <p:sp>
        <p:nvSpPr>
          <p:cNvPr id="32" name="TextBox 31">
            <a:extLst>
              <a:ext uri="{FF2B5EF4-FFF2-40B4-BE49-F238E27FC236}">
                <a16:creationId xmlns:a16="http://schemas.microsoft.com/office/drawing/2014/main" xmlns="" id="{61E1DDB9-2070-954C-99FC-35529870FDD6}"/>
              </a:ext>
            </a:extLst>
          </p:cNvPr>
          <p:cNvSpPr txBox="1"/>
          <p:nvPr/>
        </p:nvSpPr>
        <p:spPr>
          <a:xfrm>
            <a:off x="5848956" y="4484721"/>
            <a:ext cx="1571143" cy="646331"/>
          </a:xfrm>
          <a:prstGeom prst="rect">
            <a:avLst/>
          </a:prstGeom>
          <a:noFill/>
        </p:spPr>
        <p:txBody>
          <a:bodyPr wrap="square" rtlCol="0">
            <a:spAutoFit/>
          </a:bodyPr>
          <a:lstStyle/>
          <a:p>
            <a:pPr algn="ctr" eaLnBrk="0" fontAlgn="base" hangingPunct="0">
              <a:spcBef>
                <a:spcPct val="0"/>
              </a:spcBef>
              <a:spcAft>
                <a:spcPct val="0"/>
              </a:spcAft>
            </a:pPr>
            <a:r>
              <a:rPr lang="en-US" dirty="0">
                <a:solidFill>
                  <a:srgbClr val="000000"/>
                </a:solidFill>
                <a:latin typeface="Century Gothic" panose="020B0502020202020204" pitchFamily="34" charset="0"/>
              </a:rPr>
              <a:t>Scientific revolution</a:t>
            </a:r>
          </a:p>
        </p:txBody>
      </p:sp>
      <p:cxnSp>
        <p:nvCxnSpPr>
          <p:cNvPr id="44" name="Elbow Connector 43"/>
          <p:cNvCxnSpPr>
            <a:cxnSpLocks/>
          </p:cNvCxnSpPr>
          <p:nvPr/>
        </p:nvCxnSpPr>
        <p:spPr>
          <a:xfrm>
            <a:off x="4140794" y="4121588"/>
            <a:ext cx="1557188" cy="1432386"/>
          </a:xfrm>
          <a:prstGeom prst="bentConnector3">
            <a:avLst>
              <a:gd name="adj1" fmla="val 17377"/>
            </a:avLst>
          </a:prstGeom>
          <a:ln w="38100">
            <a:solidFill>
              <a:srgbClr val="635D85"/>
            </a:solidFill>
            <a:prstDash val="sysDot"/>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xmlns="" id="{61E1DDB9-2070-954C-99FC-35529870FDD6}"/>
              </a:ext>
            </a:extLst>
          </p:cNvPr>
          <p:cNvSpPr txBox="1"/>
          <p:nvPr/>
        </p:nvSpPr>
        <p:spPr>
          <a:xfrm>
            <a:off x="3887226" y="5732453"/>
            <a:ext cx="3028736" cy="646331"/>
          </a:xfrm>
          <a:prstGeom prst="rect">
            <a:avLst/>
          </a:prstGeom>
          <a:noFill/>
        </p:spPr>
        <p:txBody>
          <a:bodyPr wrap="square" rtlCol="0">
            <a:spAutoFit/>
          </a:bodyPr>
          <a:lstStyle/>
          <a:p>
            <a:pPr algn="ctr" eaLnBrk="0" fontAlgn="base" hangingPunct="0">
              <a:spcBef>
                <a:spcPct val="0"/>
              </a:spcBef>
              <a:spcAft>
                <a:spcPct val="0"/>
              </a:spcAft>
            </a:pPr>
            <a:r>
              <a:rPr lang="en-US" dirty="0">
                <a:solidFill>
                  <a:srgbClr val="000000"/>
                </a:solidFill>
                <a:latin typeface="Century Gothic" panose="020B0502020202020204" pitchFamily="34" charset="0"/>
              </a:rPr>
              <a:t>Other species of humans </a:t>
            </a:r>
          </a:p>
          <a:p>
            <a:pPr algn="ctr" eaLnBrk="0" fontAlgn="base" hangingPunct="0">
              <a:spcBef>
                <a:spcPct val="0"/>
              </a:spcBef>
              <a:spcAft>
                <a:spcPct val="0"/>
              </a:spcAft>
            </a:pPr>
            <a:r>
              <a:rPr lang="en-US" dirty="0">
                <a:solidFill>
                  <a:srgbClr val="000000"/>
                </a:solidFill>
                <a:latin typeface="Century Gothic" panose="020B0502020202020204" pitchFamily="34" charset="0"/>
              </a:rPr>
              <a:t>disappeared</a:t>
            </a:r>
          </a:p>
        </p:txBody>
      </p:sp>
      <p:sp>
        <p:nvSpPr>
          <p:cNvPr id="52" name="TextBox 51">
            <a:extLst>
              <a:ext uri="{FF2B5EF4-FFF2-40B4-BE49-F238E27FC236}">
                <a16:creationId xmlns:a16="http://schemas.microsoft.com/office/drawing/2014/main" xmlns="" id="{508543FF-0647-0F41-8188-8C143161A17D}"/>
              </a:ext>
            </a:extLst>
          </p:cNvPr>
          <p:cNvSpPr txBox="1"/>
          <p:nvPr/>
        </p:nvSpPr>
        <p:spPr>
          <a:xfrm>
            <a:off x="250725" y="367549"/>
            <a:ext cx="8683526" cy="523220"/>
          </a:xfrm>
          <a:prstGeom prst="rect">
            <a:avLst/>
          </a:prstGeom>
          <a:noFill/>
        </p:spPr>
        <p:txBody>
          <a:bodyPr wrap="square" rtlCol="0">
            <a:spAutoFit/>
          </a:bodyPr>
          <a:lstStyle/>
          <a:p>
            <a:pPr algn="ctr" eaLnBrk="0" fontAlgn="base" hangingPunct="0">
              <a:spcBef>
                <a:spcPct val="0"/>
              </a:spcBef>
              <a:spcAft>
                <a:spcPct val="0"/>
              </a:spcAft>
            </a:pPr>
            <a:r>
              <a:rPr lang="en-US" sz="2800" dirty="0">
                <a:solidFill>
                  <a:srgbClr val="000000"/>
                </a:solidFill>
                <a:latin typeface="Century Gothic" charset="0"/>
                <a:ea typeface="Century Gothic" charset="0"/>
                <a:cs typeface="Century Gothic" charset="0"/>
              </a:rPr>
              <a:t>Why did Homo sapiens suddenly flood the earth?</a:t>
            </a:r>
          </a:p>
        </p:txBody>
      </p:sp>
      <p:sp>
        <p:nvSpPr>
          <p:cNvPr id="53" name="TextBox 52">
            <a:extLst>
              <a:ext uri="{FF2B5EF4-FFF2-40B4-BE49-F238E27FC236}">
                <a16:creationId xmlns:a16="http://schemas.microsoft.com/office/drawing/2014/main" xmlns="" id="{66DDB09F-2A8F-A64F-990D-48FB4C45879B}"/>
              </a:ext>
            </a:extLst>
          </p:cNvPr>
          <p:cNvSpPr txBox="1"/>
          <p:nvPr/>
        </p:nvSpPr>
        <p:spPr>
          <a:xfrm>
            <a:off x="3055076" y="4159166"/>
            <a:ext cx="1269191" cy="338554"/>
          </a:xfrm>
          <a:prstGeom prst="rect">
            <a:avLst/>
          </a:prstGeom>
          <a:noFill/>
        </p:spPr>
        <p:txBody>
          <a:bodyPr wrap="square" rtlCol="0">
            <a:spAutoFit/>
          </a:bodyPr>
          <a:lstStyle/>
          <a:p>
            <a:pPr algn="ctr" eaLnBrk="0" fontAlgn="base" hangingPunct="0">
              <a:spcBef>
                <a:spcPct val="0"/>
              </a:spcBef>
              <a:spcAft>
                <a:spcPct val="0"/>
              </a:spcAft>
            </a:pPr>
            <a:r>
              <a:rPr lang="en-US" altLang="zh-CN" sz="1600" b="1" dirty="0">
                <a:solidFill>
                  <a:srgbClr val="000000"/>
                </a:solidFill>
                <a:latin typeface="Century Gothic" charset="0"/>
                <a:ea typeface="Century Gothic" charset="0"/>
                <a:cs typeface="Century Gothic" charset="0"/>
              </a:rPr>
              <a:t>70K ago</a:t>
            </a:r>
            <a:endParaRPr lang="en-US" sz="1600" b="1" dirty="0">
              <a:solidFill>
                <a:srgbClr val="000000"/>
              </a:solidFill>
              <a:latin typeface="Century Gothic" charset="0"/>
              <a:ea typeface="Century Gothic" charset="0"/>
              <a:cs typeface="Century Gothic" charset="0"/>
            </a:endParaRPr>
          </a:p>
        </p:txBody>
      </p:sp>
      <p:sp>
        <p:nvSpPr>
          <p:cNvPr id="54" name="TextBox 53">
            <a:extLst>
              <a:ext uri="{FF2B5EF4-FFF2-40B4-BE49-F238E27FC236}">
                <a16:creationId xmlns:a16="http://schemas.microsoft.com/office/drawing/2014/main" xmlns="" id="{61E1DDB9-2070-954C-99FC-35529870FDD6}"/>
              </a:ext>
            </a:extLst>
          </p:cNvPr>
          <p:cNvSpPr txBox="1"/>
          <p:nvPr/>
        </p:nvSpPr>
        <p:spPr>
          <a:xfrm>
            <a:off x="2856842" y="4484721"/>
            <a:ext cx="1571143" cy="646331"/>
          </a:xfrm>
          <a:prstGeom prst="rect">
            <a:avLst/>
          </a:prstGeom>
          <a:noFill/>
        </p:spPr>
        <p:txBody>
          <a:bodyPr wrap="square" rtlCol="0">
            <a:spAutoFit/>
          </a:bodyPr>
          <a:lstStyle/>
          <a:p>
            <a:pPr algn="ctr" eaLnBrk="0" fontAlgn="base" hangingPunct="0">
              <a:spcBef>
                <a:spcPct val="0"/>
              </a:spcBef>
              <a:spcAft>
                <a:spcPct val="0"/>
              </a:spcAft>
            </a:pPr>
            <a:r>
              <a:rPr lang="en-US" dirty="0">
                <a:solidFill>
                  <a:srgbClr val="000000"/>
                </a:solidFill>
                <a:latin typeface="Century Gothic" panose="020B0502020202020204" pitchFamily="34" charset="0"/>
              </a:rPr>
              <a:t>Cognitive</a:t>
            </a:r>
          </a:p>
          <a:p>
            <a:pPr algn="ctr" eaLnBrk="0" fontAlgn="base" hangingPunct="0">
              <a:spcBef>
                <a:spcPct val="0"/>
              </a:spcBef>
              <a:spcAft>
                <a:spcPct val="0"/>
              </a:spcAft>
            </a:pPr>
            <a:r>
              <a:rPr lang="en-US" dirty="0">
                <a:solidFill>
                  <a:srgbClr val="000000"/>
                </a:solidFill>
                <a:latin typeface="Century Gothic" panose="020B0502020202020204" pitchFamily="34" charset="0"/>
              </a:rPr>
              <a:t>revolution</a:t>
            </a:r>
          </a:p>
        </p:txBody>
      </p:sp>
      <p:pic>
        <p:nvPicPr>
          <p:cNvPr id="55" name="Picture 54"/>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3725032" y="2853112"/>
            <a:ext cx="390024" cy="390024"/>
          </a:xfrm>
          <a:prstGeom prst="rect">
            <a:avLst/>
          </a:prstGeom>
        </p:spPr>
      </p:pic>
      <p:sp>
        <p:nvSpPr>
          <p:cNvPr id="56" name="TextBox 55">
            <a:extLst>
              <a:ext uri="{FF2B5EF4-FFF2-40B4-BE49-F238E27FC236}">
                <a16:creationId xmlns:a16="http://schemas.microsoft.com/office/drawing/2014/main" xmlns="" id="{104AC1A0-2034-7F47-B329-CD504622B2C5}"/>
              </a:ext>
            </a:extLst>
          </p:cNvPr>
          <p:cNvSpPr txBox="1"/>
          <p:nvPr/>
        </p:nvSpPr>
        <p:spPr>
          <a:xfrm>
            <a:off x="2133600" y="1339435"/>
            <a:ext cx="5029200" cy="523220"/>
          </a:xfrm>
          <a:prstGeom prst="rect">
            <a:avLst/>
          </a:prstGeom>
          <a:noFill/>
        </p:spPr>
        <p:txBody>
          <a:bodyPr wrap="square" rtlCol="0">
            <a:spAutoFit/>
          </a:bodyPr>
          <a:lstStyle/>
          <a:p>
            <a:pPr algn="ctr" eaLnBrk="0" fontAlgn="base" hangingPunct="0">
              <a:spcBef>
                <a:spcPct val="0"/>
              </a:spcBef>
              <a:spcAft>
                <a:spcPct val="0"/>
              </a:spcAft>
            </a:pPr>
            <a:r>
              <a:rPr lang="en-US" sz="2800" dirty="0">
                <a:solidFill>
                  <a:srgbClr val="000000"/>
                </a:solidFill>
                <a:latin typeface="Century Gothic" charset="0"/>
                <a:ea typeface="Century Gothic" charset="0"/>
                <a:cs typeface="Century Gothic" charset="0"/>
              </a:rPr>
              <a:t>Natural language!</a:t>
            </a:r>
          </a:p>
        </p:txBody>
      </p:sp>
      <p:grpSp>
        <p:nvGrpSpPr>
          <p:cNvPr id="36" name="Group 35">
            <a:extLst>
              <a:ext uri="{FF2B5EF4-FFF2-40B4-BE49-F238E27FC236}">
                <a16:creationId xmlns:a16="http://schemas.microsoft.com/office/drawing/2014/main" xmlns="" id="{9342745D-F475-944D-A2DB-6068EF0F3B18}"/>
              </a:ext>
            </a:extLst>
          </p:cNvPr>
          <p:cNvGrpSpPr/>
          <p:nvPr/>
        </p:nvGrpSpPr>
        <p:grpSpPr>
          <a:xfrm>
            <a:off x="6424543" y="2808453"/>
            <a:ext cx="787634" cy="1125552"/>
            <a:chOff x="6324600" y="2133600"/>
            <a:chExt cx="787634" cy="1125552"/>
          </a:xfrm>
        </p:grpSpPr>
        <p:pic>
          <p:nvPicPr>
            <p:cNvPr id="37" name="Picture 36">
              <a:extLst>
                <a:ext uri="{FF2B5EF4-FFF2-40B4-BE49-F238E27FC236}">
                  <a16:creationId xmlns:a16="http://schemas.microsoft.com/office/drawing/2014/main" xmlns="" id="{2295C0F6-1684-F743-981C-6BC503C08390}"/>
                </a:ext>
              </a:extLst>
            </p:cNvPr>
            <p:cNvPicPr>
              <a:picLocks noChangeAspect="1"/>
            </p:cNvPicPr>
            <p:nvPr/>
          </p:nvPicPr>
          <p:blipFill rotWithShape="1">
            <a:blip r:embed="rId14" cstate="email">
              <a:extLst>
                <a:ext uri="{BEBA8EAE-BF5A-486C-A8C5-ECC9F3942E4B}">
                  <a14:imgProps xmlns:a14="http://schemas.microsoft.com/office/drawing/2010/main">
                    <a14:imgLayer r:embed="rId6">
                      <a14:imgEffect>
                        <a14:backgroundRemoval t="816" b="100000" l="0" r="97196">
                          <a14:foregroundMark x1="35514" y1="32245" x2="35514" y2="32245"/>
                          <a14:foregroundMark x1="85981" y1="17959" x2="85981" y2="17959"/>
                          <a14:foregroundMark x1="74766" y1="20408" x2="74766" y2="20408"/>
                          <a14:foregroundMark x1="83178" y1="26531" x2="83178" y2="26531"/>
                          <a14:foregroundMark x1="84112" y1="26531" x2="84112" y2="26531"/>
                          <a14:foregroundMark x1="83178" y1="25306" x2="83178" y2="25306"/>
                          <a14:backgroundMark x1="84112" y1="20816" x2="84112" y2="20816"/>
                          <a14:backgroundMark x1="84112" y1="17551" x2="84112" y2="17551"/>
                          <a14:backgroundMark x1="87850" y1="17551" x2="87850" y2="17551"/>
                          <a14:backgroundMark x1="86916" y1="22857" x2="86916" y2="22857"/>
                          <a14:backgroundMark x1="85047" y1="22857" x2="89720" y2="24898"/>
                          <a14:backgroundMark x1="85047" y1="23265" x2="85047" y2="23265"/>
                        </a14:backgroundRemoval>
                      </a14:imgEffect>
                    </a14:imgLayer>
                  </a14:imgProps>
                </a:ext>
                <a:ext uri="{28A0092B-C50C-407E-A947-70E740481C1C}">
                  <a14:useLocalDpi xmlns:a14="http://schemas.microsoft.com/office/drawing/2010/main"/>
                </a:ext>
              </a:extLst>
            </a:blip>
            <a:srcRect r="-3766"/>
            <a:stretch/>
          </p:blipFill>
          <p:spPr>
            <a:xfrm>
              <a:off x="6324600" y="2133600"/>
              <a:ext cx="510639" cy="1125552"/>
            </a:xfrm>
            <a:prstGeom prst="rect">
              <a:avLst/>
            </a:prstGeom>
          </p:spPr>
        </p:pic>
        <p:pic>
          <p:nvPicPr>
            <p:cNvPr id="38" name="Picture 37">
              <a:extLst>
                <a:ext uri="{FF2B5EF4-FFF2-40B4-BE49-F238E27FC236}">
                  <a16:creationId xmlns:a16="http://schemas.microsoft.com/office/drawing/2014/main" xmlns="" id="{0031334A-A926-3044-8DF5-49BE65730798}"/>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6666727" y="2270234"/>
              <a:ext cx="445507" cy="386106"/>
            </a:xfrm>
            <a:prstGeom prst="rect">
              <a:avLst/>
            </a:prstGeom>
          </p:spPr>
        </p:pic>
      </p:grpSp>
      <p:pic>
        <p:nvPicPr>
          <p:cNvPr id="39" name="Picture 38">
            <a:extLst>
              <a:ext uri="{FF2B5EF4-FFF2-40B4-BE49-F238E27FC236}">
                <a16:creationId xmlns:a16="http://schemas.microsoft.com/office/drawing/2014/main" xmlns="" id="{83A306A2-1EA1-F94C-AAB0-C3C994C98DAB}"/>
              </a:ext>
            </a:extLst>
          </p:cNvPr>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500347" y="895335"/>
            <a:ext cx="1742506" cy="1939990"/>
          </a:xfrm>
          <a:prstGeom prst="rect">
            <a:avLst/>
          </a:prstGeom>
          <a:effectLst>
            <a:softEdge rad="0"/>
          </a:effectLst>
        </p:spPr>
      </p:pic>
    </p:spTree>
    <p:extLst>
      <p:ext uri="{BB962C8B-B14F-4D97-AF65-F5344CB8AC3E}">
        <p14:creationId xmlns:p14="http://schemas.microsoft.com/office/powerpoint/2010/main" val="1334180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par>
                          <p:cTn id="29" fill="hold">
                            <p:stCondLst>
                              <p:cond delay="2500"/>
                            </p:stCondLst>
                            <p:childTnLst>
                              <p:par>
                                <p:cTn id="30" presetID="22" presetClass="entr" presetSubtype="8"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ipe(left)">
                                      <p:cBhvr>
                                        <p:cTn id="40" dur="500"/>
                                        <p:tgtEl>
                                          <p:spTgt spid="53"/>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left)">
                                      <p:cBhvr>
                                        <p:cTn id="43" dur="5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fade">
                                      <p:cBhvr>
                                        <p:cTn id="46" dur="500"/>
                                        <p:tgtEl>
                                          <p:spTgt spid="52"/>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wipe(left)">
                                      <p:cBhvr>
                                        <p:cTn id="50" dur="500"/>
                                        <p:tgtEl>
                                          <p:spTgt spid="29"/>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left)">
                                      <p:cBhvr>
                                        <p:cTn id="53" dur="500"/>
                                        <p:tgtEl>
                                          <p:spTgt spid="23"/>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par>
                                <p:cTn id="57" presetID="22" presetClass="entr" presetSubtype="8"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wipe(left)">
                                      <p:cBhvr>
                                        <p:cTn id="59" dur="500"/>
                                        <p:tgtEl>
                                          <p:spTgt spid="21"/>
                                        </p:tgtEl>
                                      </p:cBhvr>
                                    </p:animEffect>
                                  </p:childTnLst>
                                </p:cTn>
                              </p:par>
                            </p:childTnLst>
                          </p:cTn>
                        </p:par>
                        <p:par>
                          <p:cTn id="60" fill="hold">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wipe(left)">
                                      <p:cBhvr>
                                        <p:cTn id="63" dur="500"/>
                                        <p:tgtEl>
                                          <p:spTgt spid="22"/>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wipe(left)">
                                      <p:cBhvr>
                                        <p:cTn id="66" dur="500"/>
                                        <p:tgtEl>
                                          <p:spTgt spid="31"/>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wipe(left)">
                                      <p:cBhvr>
                                        <p:cTn id="69" dur="500"/>
                                        <p:tgtEl>
                                          <p:spTgt spid="32"/>
                                        </p:tgtEl>
                                      </p:cBhvr>
                                    </p:animEffect>
                                  </p:childTnLst>
                                </p:cTn>
                              </p:par>
                              <p:par>
                                <p:cTn id="70" presetID="22" presetClass="entr" presetSubtype="8" fill="hold"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wipe(left)">
                                      <p:cBhvr>
                                        <p:cTn id="72" dur="500"/>
                                        <p:tgtEl>
                                          <p:spTgt spid="36"/>
                                        </p:tgtEl>
                                      </p:cBhvr>
                                    </p:animEffect>
                                  </p:childTnLst>
                                </p:cTn>
                              </p:par>
                            </p:childTnLst>
                          </p:cTn>
                        </p:par>
                        <p:par>
                          <p:cTn id="73" fill="hold">
                            <p:stCondLst>
                              <p:cond delay="1500"/>
                            </p:stCondLst>
                            <p:childTnLst>
                              <p:par>
                                <p:cTn id="74" presetID="22" presetClass="entr" presetSubtype="8" fill="hold" grpId="0" nodeType="after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wipe(left)">
                                      <p:cBhvr>
                                        <p:cTn id="76" dur="500"/>
                                        <p:tgtEl>
                                          <p:spTgt spid="25"/>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wipe(left)">
                                      <p:cBhvr>
                                        <p:cTn id="79" dur="500"/>
                                        <p:tgtEl>
                                          <p:spTgt spid="28"/>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wipe(left)">
                                      <p:cBhvr>
                                        <p:cTn id="82" dur="500"/>
                                        <p:tgtEl>
                                          <p:spTgt spid="27"/>
                                        </p:tgtEl>
                                      </p:cBhvr>
                                    </p:animEffect>
                                  </p:childTnLst>
                                </p:cTn>
                              </p:par>
                              <p:par>
                                <p:cTn id="83" presetID="22" presetClass="entr" presetSubtype="8" fill="hold" nodeType="with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wipe(left)">
                                      <p:cBhvr>
                                        <p:cTn id="85" dur="500"/>
                                        <p:tgtEl>
                                          <p:spTgt spid="9"/>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44"/>
                                        </p:tgtEl>
                                        <p:attrNameLst>
                                          <p:attrName>style.visibility</p:attrName>
                                        </p:attrNameLst>
                                      </p:cBhvr>
                                      <p:to>
                                        <p:strVal val="visible"/>
                                      </p:to>
                                    </p:set>
                                    <p:animEffect transition="in" filter="wipe(left)">
                                      <p:cBhvr>
                                        <p:cTn id="90" dur="500"/>
                                        <p:tgtEl>
                                          <p:spTgt spid="44"/>
                                        </p:tgtEl>
                                      </p:cBhvr>
                                    </p:animEffect>
                                  </p:childTnLst>
                                </p:cTn>
                              </p:par>
                              <p:par>
                                <p:cTn id="91" presetID="22" presetClass="entr" presetSubtype="8" fill="hold" grpId="0" nodeType="withEffect">
                                  <p:stCondLst>
                                    <p:cond delay="0"/>
                                  </p:stCondLst>
                                  <p:childTnLst>
                                    <p:set>
                                      <p:cBhvr>
                                        <p:cTn id="92" dur="1" fill="hold">
                                          <p:stCondLst>
                                            <p:cond delay="0"/>
                                          </p:stCondLst>
                                        </p:cTn>
                                        <p:tgtEl>
                                          <p:spTgt spid="50"/>
                                        </p:tgtEl>
                                        <p:attrNameLst>
                                          <p:attrName>style.visibility</p:attrName>
                                        </p:attrNameLst>
                                      </p:cBhvr>
                                      <p:to>
                                        <p:strVal val="visible"/>
                                      </p:to>
                                    </p:set>
                                    <p:animEffect transition="in" filter="wipe(left)">
                                      <p:cBhvr>
                                        <p:cTn id="93" dur="500"/>
                                        <p:tgtEl>
                                          <p:spTgt spid="50"/>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grpId="0" nodeType="clickEffect">
                                  <p:stCondLst>
                                    <p:cond delay="0"/>
                                  </p:stCondLst>
                                  <p:childTnLst>
                                    <p:set>
                                      <p:cBhvr>
                                        <p:cTn id="97" dur="1" fill="hold">
                                          <p:stCondLst>
                                            <p:cond delay="0"/>
                                          </p:stCondLst>
                                        </p:cTn>
                                        <p:tgtEl>
                                          <p:spTgt spid="54"/>
                                        </p:tgtEl>
                                        <p:attrNameLst>
                                          <p:attrName>style.visibility</p:attrName>
                                        </p:attrNameLst>
                                      </p:cBhvr>
                                      <p:to>
                                        <p:strVal val="visible"/>
                                      </p:to>
                                    </p:set>
                                    <p:anim calcmode="lin" valueType="num">
                                      <p:cBhvr>
                                        <p:cTn id="98" dur="500" fill="hold"/>
                                        <p:tgtEl>
                                          <p:spTgt spid="54"/>
                                        </p:tgtEl>
                                        <p:attrNameLst>
                                          <p:attrName>ppt_w</p:attrName>
                                        </p:attrNameLst>
                                      </p:cBhvr>
                                      <p:tavLst>
                                        <p:tav tm="0">
                                          <p:val>
                                            <p:fltVal val="0"/>
                                          </p:val>
                                        </p:tav>
                                        <p:tav tm="100000">
                                          <p:val>
                                            <p:strVal val="#ppt_w"/>
                                          </p:val>
                                        </p:tav>
                                      </p:tavLst>
                                    </p:anim>
                                    <p:anim calcmode="lin" valueType="num">
                                      <p:cBhvr>
                                        <p:cTn id="99" dur="500" fill="hold"/>
                                        <p:tgtEl>
                                          <p:spTgt spid="54"/>
                                        </p:tgtEl>
                                        <p:attrNameLst>
                                          <p:attrName>ppt_h</p:attrName>
                                        </p:attrNameLst>
                                      </p:cBhvr>
                                      <p:tavLst>
                                        <p:tav tm="0">
                                          <p:val>
                                            <p:fltVal val="0"/>
                                          </p:val>
                                        </p:tav>
                                        <p:tav tm="100000">
                                          <p:val>
                                            <p:strVal val="#ppt_h"/>
                                          </p:val>
                                        </p:tav>
                                      </p:tavLst>
                                    </p:anim>
                                    <p:animEffect transition="in" filter="fade">
                                      <p:cBhvr>
                                        <p:cTn id="100" dur="500"/>
                                        <p:tgtEl>
                                          <p:spTgt spid="54"/>
                                        </p:tgtEl>
                                      </p:cBhvr>
                                    </p:animEffect>
                                  </p:childTnLst>
                                </p:cTn>
                              </p:par>
                              <p:par>
                                <p:cTn id="101" presetID="53" presetClass="entr" presetSubtype="16" fill="hold" nodeType="withEffect">
                                  <p:stCondLst>
                                    <p:cond delay="0"/>
                                  </p:stCondLst>
                                  <p:childTnLst>
                                    <p:set>
                                      <p:cBhvr>
                                        <p:cTn id="102" dur="1" fill="hold">
                                          <p:stCondLst>
                                            <p:cond delay="0"/>
                                          </p:stCondLst>
                                        </p:cTn>
                                        <p:tgtEl>
                                          <p:spTgt spid="55"/>
                                        </p:tgtEl>
                                        <p:attrNameLst>
                                          <p:attrName>style.visibility</p:attrName>
                                        </p:attrNameLst>
                                      </p:cBhvr>
                                      <p:to>
                                        <p:strVal val="visible"/>
                                      </p:to>
                                    </p:set>
                                    <p:anim calcmode="lin" valueType="num">
                                      <p:cBhvr>
                                        <p:cTn id="103" dur="500" fill="hold"/>
                                        <p:tgtEl>
                                          <p:spTgt spid="55"/>
                                        </p:tgtEl>
                                        <p:attrNameLst>
                                          <p:attrName>ppt_w</p:attrName>
                                        </p:attrNameLst>
                                      </p:cBhvr>
                                      <p:tavLst>
                                        <p:tav tm="0">
                                          <p:val>
                                            <p:fltVal val="0"/>
                                          </p:val>
                                        </p:tav>
                                        <p:tav tm="100000">
                                          <p:val>
                                            <p:strVal val="#ppt_w"/>
                                          </p:val>
                                        </p:tav>
                                      </p:tavLst>
                                    </p:anim>
                                    <p:anim calcmode="lin" valueType="num">
                                      <p:cBhvr>
                                        <p:cTn id="104" dur="500" fill="hold"/>
                                        <p:tgtEl>
                                          <p:spTgt spid="55"/>
                                        </p:tgtEl>
                                        <p:attrNameLst>
                                          <p:attrName>ppt_h</p:attrName>
                                        </p:attrNameLst>
                                      </p:cBhvr>
                                      <p:tavLst>
                                        <p:tav tm="0">
                                          <p:val>
                                            <p:fltVal val="0"/>
                                          </p:val>
                                        </p:tav>
                                        <p:tav tm="100000">
                                          <p:val>
                                            <p:strVal val="#ppt_h"/>
                                          </p:val>
                                        </p:tav>
                                      </p:tavLst>
                                    </p:anim>
                                    <p:animEffect transition="in" filter="fade">
                                      <p:cBhvr>
                                        <p:cTn id="105" dur="500"/>
                                        <p:tgtEl>
                                          <p:spTgt spid="55"/>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56"/>
                                        </p:tgtEl>
                                        <p:attrNameLst>
                                          <p:attrName>style.visibility</p:attrName>
                                        </p:attrNameLst>
                                      </p:cBhvr>
                                      <p:to>
                                        <p:strVal val="visible"/>
                                      </p:to>
                                    </p:set>
                                    <p:anim calcmode="lin" valueType="num">
                                      <p:cBhvr>
                                        <p:cTn id="108" dur="500" fill="hold"/>
                                        <p:tgtEl>
                                          <p:spTgt spid="56"/>
                                        </p:tgtEl>
                                        <p:attrNameLst>
                                          <p:attrName>ppt_w</p:attrName>
                                        </p:attrNameLst>
                                      </p:cBhvr>
                                      <p:tavLst>
                                        <p:tav tm="0">
                                          <p:val>
                                            <p:fltVal val="0"/>
                                          </p:val>
                                        </p:tav>
                                        <p:tav tm="100000">
                                          <p:val>
                                            <p:strVal val="#ppt_w"/>
                                          </p:val>
                                        </p:tav>
                                      </p:tavLst>
                                    </p:anim>
                                    <p:anim calcmode="lin" valueType="num">
                                      <p:cBhvr>
                                        <p:cTn id="109" dur="500" fill="hold"/>
                                        <p:tgtEl>
                                          <p:spTgt spid="56"/>
                                        </p:tgtEl>
                                        <p:attrNameLst>
                                          <p:attrName>ppt_h</p:attrName>
                                        </p:attrNameLst>
                                      </p:cBhvr>
                                      <p:tavLst>
                                        <p:tav tm="0">
                                          <p:val>
                                            <p:fltVal val="0"/>
                                          </p:val>
                                        </p:tav>
                                        <p:tav tm="100000">
                                          <p:val>
                                            <p:strVal val="#ppt_h"/>
                                          </p:val>
                                        </p:tav>
                                      </p:tavLst>
                                    </p:anim>
                                    <p:animEffect transition="in" filter="fade">
                                      <p:cBhvr>
                                        <p:cTn id="110"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P spid="22" grpId="0" animBg="1"/>
      <p:bldP spid="23" grpId="0"/>
      <p:bldP spid="24" grpId="0"/>
      <p:bldP spid="25" grpId="0" animBg="1"/>
      <p:bldP spid="26" grpId="0" animBg="1"/>
      <p:bldP spid="27" grpId="0"/>
      <p:bldP spid="28" grpId="0"/>
      <p:bldP spid="29" grpId="0" animBg="1"/>
      <p:bldP spid="31" grpId="0"/>
      <p:bldP spid="32" grpId="0"/>
      <p:bldP spid="50" grpId="0"/>
      <p:bldP spid="52" grpId="0"/>
      <p:bldP spid="53" grpId="0"/>
      <p:bldP spid="54" grpId="0"/>
      <p:bldP spid="5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1.bp.blogspot.com/-Risdqwt1DCY/V2fnBUQygJI/AAAAAAACQAo/e8SklXJWnSUokr4zcZ0ww4Z_EAF-uwoYQCLcB/s640/headlines-of-the-past-22.jpg">
            <a:extLst>
              <a:ext uri="{FF2B5EF4-FFF2-40B4-BE49-F238E27FC236}">
                <a16:creationId xmlns:a16="http://schemas.microsoft.com/office/drawing/2014/main" xmlns="" id="{55418607-B8EB-4EEC-9C68-EB20E6C548E5}"/>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2719" y="-467591"/>
            <a:ext cx="9949620" cy="1582091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the atomic bombing of hiroshima and nagasaki on newspaper">
            <a:extLst>
              <a:ext uri="{FF2B5EF4-FFF2-40B4-BE49-F238E27FC236}">
                <a16:creationId xmlns:a16="http://schemas.microsoft.com/office/drawing/2014/main" xmlns="" id="{B4976089-866A-49A6-8229-A52D6FEACEDE}"/>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rot="1056756">
            <a:off x="218268" y="2647949"/>
            <a:ext cx="9081882" cy="51653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e the source image">
            <a:extLst>
              <a:ext uri="{FF2B5EF4-FFF2-40B4-BE49-F238E27FC236}">
                <a16:creationId xmlns:a16="http://schemas.microsoft.com/office/drawing/2014/main" xmlns="" id="{E991394E-5120-4466-A11F-F2641019F367}"/>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295650" y="16132"/>
            <a:ext cx="5848350" cy="1000985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50333" y="0"/>
            <a:ext cx="9494333" cy="7934945"/>
          </a:xfrm>
          <a:prstGeom prst="rect">
            <a:avLst/>
          </a:prstGeom>
        </p:spPr>
      </p:pic>
      <p:pic>
        <p:nvPicPr>
          <p:cNvPr id="5" name="Picture 4"/>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50334" y="0"/>
            <a:ext cx="9498889" cy="7721600"/>
          </a:xfrm>
          <a:prstGeom prst="rect">
            <a:avLst/>
          </a:prstGeom>
        </p:spPr>
      </p:pic>
      <p:pic>
        <p:nvPicPr>
          <p:cNvPr id="7" name="Picture 6"/>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54889" y="16132"/>
            <a:ext cx="9498889" cy="6324454"/>
          </a:xfrm>
          <a:prstGeom prst="rect">
            <a:avLst/>
          </a:prstGeom>
        </p:spPr>
      </p:pic>
      <p:pic>
        <p:nvPicPr>
          <p:cNvPr id="8" name="Picture 7"/>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50335" y="16132"/>
            <a:ext cx="9676834" cy="6841868"/>
          </a:xfrm>
          <a:prstGeom prst="rect">
            <a:avLst/>
          </a:prstGeom>
        </p:spPr>
      </p:pic>
      <p:pic>
        <p:nvPicPr>
          <p:cNvPr id="9" name="Picture 8"/>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359445" y="0"/>
            <a:ext cx="9497931" cy="7721600"/>
          </a:xfrm>
          <a:prstGeom prst="rect">
            <a:avLst/>
          </a:prstGeom>
        </p:spPr>
      </p:pic>
      <p:pic>
        <p:nvPicPr>
          <p:cNvPr id="10" name="Picture 9"/>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330264" y="63417"/>
            <a:ext cx="9825936" cy="7278306"/>
          </a:xfrm>
          <a:prstGeom prst="rect">
            <a:avLst/>
          </a:prstGeom>
        </p:spPr>
      </p:pic>
      <p:pic>
        <p:nvPicPr>
          <p:cNvPr id="12" name="Picture 11"/>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48751" y="63417"/>
            <a:ext cx="9189537" cy="9203920"/>
          </a:xfrm>
          <a:prstGeom prst="rect">
            <a:avLst/>
          </a:prstGeom>
        </p:spPr>
      </p:pic>
      <p:grpSp>
        <p:nvGrpSpPr>
          <p:cNvPr id="3" name="Group 2"/>
          <p:cNvGrpSpPr/>
          <p:nvPr/>
        </p:nvGrpSpPr>
        <p:grpSpPr>
          <a:xfrm>
            <a:off x="-50402" y="131394"/>
            <a:ext cx="9184436" cy="7017416"/>
            <a:chOff x="-1" y="-8142"/>
            <a:chExt cx="9184436" cy="7017416"/>
          </a:xfrm>
        </p:grpSpPr>
        <p:pic>
          <p:nvPicPr>
            <p:cNvPr id="2" name="Picture 1"/>
            <p:cNvPicPr>
              <a:picLocks noChangeAspect="1"/>
            </p:cNvPicPr>
            <p:nvPr/>
          </p:nvPicPr>
          <p:blipFill rotWithShape="1">
            <a:blip r:embed="rId13" cstate="email">
              <a:extLst>
                <a:ext uri="{28A0092B-C50C-407E-A947-70E740481C1C}">
                  <a14:useLocalDpi xmlns:a14="http://schemas.microsoft.com/office/drawing/2010/main"/>
                </a:ext>
              </a:extLst>
            </a:blip>
            <a:srcRect/>
            <a:stretch/>
          </p:blipFill>
          <p:spPr>
            <a:xfrm>
              <a:off x="-1" y="-8142"/>
              <a:ext cx="9184435" cy="2243342"/>
            </a:xfrm>
            <a:prstGeom prst="rect">
              <a:avLst/>
            </a:prstGeom>
          </p:spPr>
        </p:pic>
        <p:pic>
          <p:nvPicPr>
            <p:cNvPr id="6" name="Picture 5"/>
            <p:cNvPicPr>
              <a:picLocks noChangeAspect="1"/>
            </p:cNvPicPr>
            <p:nvPr/>
          </p:nvPicPr>
          <p:blipFill rotWithShape="1">
            <a:blip r:embed="rId14" cstate="email">
              <a:extLst>
                <a:ext uri="{28A0092B-C50C-407E-A947-70E740481C1C}">
                  <a14:useLocalDpi xmlns:a14="http://schemas.microsoft.com/office/drawing/2010/main"/>
                </a:ext>
              </a:extLst>
            </a:blip>
            <a:srcRect/>
            <a:stretch/>
          </p:blipFill>
          <p:spPr>
            <a:xfrm>
              <a:off x="0" y="2235200"/>
              <a:ext cx="9184435" cy="4774074"/>
            </a:xfrm>
            <a:prstGeom prst="rect">
              <a:avLst/>
            </a:prstGeom>
          </p:spPr>
        </p:pic>
      </p:grpSp>
      <p:pic>
        <p:nvPicPr>
          <p:cNvPr id="13" name="Picture 12"/>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170036" y="70176"/>
            <a:ext cx="9608922" cy="7581248"/>
          </a:xfrm>
          <a:prstGeom prst="rect">
            <a:avLst/>
          </a:prstGeom>
        </p:spPr>
      </p:pic>
      <p:pic>
        <p:nvPicPr>
          <p:cNvPr id="14" name="Picture 13"/>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53111" y="60628"/>
            <a:ext cx="9144000" cy="6793255"/>
          </a:xfrm>
          <a:prstGeom prst="rect">
            <a:avLst/>
          </a:prstGeom>
        </p:spPr>
      </p:pic>
      <p:pic>
        <p:nvPicPr>
          <p:cNvPr id="15" name="Picture 14"/>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2473345" y="104802"/>
            <a:ext cx="6726468" cy="6995875"/>
          </a:xfrm>
          <a:prstGeom prst="rect">
            <a:avLst/>
          </a:prstGeom>
        </p:spPr>
      </p:pic>
    </p:spTree>
    <p:extLst>
      <p:ext uri="{BB962C8B-B14F-4D97-AF65-F5344CB8AC3E}">
        <p14:creationId xmlns:p14="http://schemas.microsoft.com/office/powerpoint/2010/main" val="110125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2000" fill="hold"/>
                                        <p:tgtEl>
                                          <p:spTgt spid="1026"/>
                                        </p:tgtEl>
                                      </p:cBhvr>
                                      <p:by x="60000" y="60000"/>
                                    </p:animScale>
                                  </p:childTnLst>
                                </p:cTn>
                              </p:par>
                              <p:par>
                                <p:cTn id="7" presetID="42" presetClass="path" presetSubtype="0" accel="50000" decel="50000" fill="hold" nodeType="withEffect">
                                  <p:stCondLst>
                                    <p:cond delay="0"/>
                                  </p:stCondLst>
                                  <p:childTnLst>
                                    <p:animMotion origin="layout" path="M -2.77778E-6 4.81481E-6 L 0.0066 -0.42408 " pathEditMode="relative" rAng="0" ptsTypes="AA">
                                      <p:cBhvr>
                                        <p:cTn id="8" dur="2000" fill="hold"/>
                                        <p:tgtEl>
                                          <p:spTgt spid="1026"/>
                                        </p:tgtEl>
                                        <p:attrNameLst>
                                          <p:attrName>ppt_x</p:attrName>
                                          <p:attrName>ppt_y</p:attrName>
                                        </p:attrNameLst>
                                      </p:cBhvr>
                                      <p:rCtr x="330" y="-21204"/>
                                    </p:animMotion>
                                  </p:childTnLst>
                                </p:cTn>
                              </p:par>
                            </p:childTnLst>
                          </p:cTn>
                        </p:par>
                        <p:par>
                          <p:cTn id="9" fill="hold">
                            <p:stCondLst>
                              <p:cond delay="2000"/>
                            </p:stCondLst>
                            <p:childTnLst>
                              <p:par>
                                <p:cTn id="10" presetID="10" presetClass="entr" presetSubtype="0" fill="hold" nodeType="afterEffect">
                                  <p:stCondLst>
                                    <p:cond delay="0"/>
                                  </p:stCondLst>
                                  <p:childTnLst>
                                    <p:set>
                                      <p:cBhvr>
                                        <p:cTn id="11" dur="1" fill="hold">
                                          <p:stCondLst>
                                            <p:cond delay="0"/>
                                          </p:stCondLst>
                                        </p:cTn>
                                        <p:tgtEl>
                                          <p:spTgt spid="1030"/>
                                        </p:tgtEl>
                                        <p:attrNameLst>
                                          <p:attrName>style.visibility</p:attrName>
                                        </p:attrNameLst>
                                      </p:cBhvr>
                                      <p:to>
                                        <p:strVal val="visible"/>
                                      </p:to>
                                    </p:set>
                                    <p:animEffect transition="in" filter="fade">
                                      <p:cBhvr>
                                        <p:cTn id="12" dur="2000"/>
                                        <p:tgtEl>
                                          <p:spTgt spid="1030"/>
                                        </p:tgtEl>
                                      </p:cBhvr>
                                    </p:animEffect>
                                  </p:childTnLst>
                                </p:cTn>
                              </p:par>
                              <p:par>
                                <p:cTn id="13" presetID="8" presetClass="emph" presetSubtype="0" fill="hold" nodeType="withEffect">
                                  <p:stCondLst>
                                    <p:cond delay="0"/>
                                  </p:stCondLst>
                                  <p:childTnLst>
                                    <p:animRot by="-600000">
                                      <p:cBhvr>
                                        <p:cTn id="14" dur="2000" fill="hold"/>
                                        <p:tgtEl>
                                          <p:spTgt spid="1030"/>
                                        </p:tgtEl>
                                        <p:attrNameLst>
                                          <p:attrName>r</p:attrName>
                                        </p:attrNameLst>
                                      </p:cBhvr>
                                    </p:animRot>
                                  </p:childTnLst>
                                </p:cTn>
                              </p:par>
                              <p:par>
                                <p:cTn id="15" presetID="10" presetClass="entr" presetSubtype="0" fill="hold" nodeType="withEffect">
                                  <p:stCondLst>
                                    <p:cond delay="2000"/>
                                  </p:stCondLst>
                                  <p:childTnLst>
                                    <p:set>
                                      <p:cBhvr>
                                        <p:cTn id="16" dur="1" fill="hold">
                                          <p:stCondLst>
                                            <p:cond delay="0"/>
                                          </p:stCondLst>
                                        </p:cTn>
                                        <p:tgtEl>
                                          <p:spTgt spid="1028"/>
                                        </p:tgtEl>
                                        <p:attrNameLst>
                                          <p:attrName>style.visibility</p:attrName>
                                        </p:attrNameLst>
                                      </p:cBhvr>
                                      <p:to>
                                        <p:strVal val="visible"/>
                                      </p:to>
                                    </p:set>
                                    <p:animEffect transition="in" filter="fade">
                                      <p:cBhvr>
                                        <p:cTn id="17" dur="2000"/>
                                        <p:tgtEl>
                                          <p:spTgt spid="1028"/>
                                        </p:tgtEl>
                                      </p:cBhvr>
                                    </p:animEffect>
                                  </p:childTnLst>
                                </p:cTn>
                              </p:par>
                              <p:par>
                                <p:cTn id="18" presetID="35" presetClass="path" presetSubtype="0" accel="50000" decel="50000" fill="hold" nodeType="withEffect">
                                  <p:stCondLst>
                                    <p:cond delay="2000"/>
                                  </p:stCondLst>
                                  <p:childTnLst>
                                    <p:animMotion origin="layout" path="M 1.66667E-6 4.07407E-6 L -0.25 4.07407E-6 " pathEditMode="relative" rAng="0" ptsTypes="AA">
                                      <p:cBhvr>
                                        <p:cTn id="19" dur="2000" fill="hold"/>
                                        <p:tgtEl>
                                          <p:spTgt spid="1028"/>
                                        </p:tgtEl>
                                        <p:attrNameLst>
                                          <p:attrName>ppt_x</p:attrName>
                                          <p:attrName>ppt_y</p:attrName>
                                        </p:attrNameLst>
                                      </p:cBhvr>
                                      <p:rCtr x="-12500" y="0"/>
                                    </p:animMotion>
                                  </p:childTnLst>
                                </p:cTn>
                              </p:par>
                            </p:childTnLst>
                          </p:cTn>
                        </p:par>
                        <p:par>
                          <p:cTn id="20" fill="hold">
                            <p:stCondLst>
                              <p:cond delay="6000"/>
                            </p:stCondLst>
                            <p:childTnLst>
                              <p:par>
                                <p:cTn id="21" presetID="10" presetClass="entr" presetSubtype="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par>
                          <p:cTn id="24" fill="hold">
                            <p:stCondLst>
                              <p:cond delay="6500"/>
                            </p:stCondLst>
                            <p:childTnLst>
                              <p:par>
                                <p:cTn id="25" presetID="10" presetClass="entr" presetSubtype="0"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par>
                          <p:cTn id="28" fill="hold">
                            <p:stCondLst>
                              <p:cond delay="7000"/>
                            </p:stCondLst>
                            <p:childTnLst>
                              <p:par>
                                <p:cTn id="29" presetID="10" presetClass="entr" presetSubtype="0"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par>
                          <p:cTn id="32" fill="hold">
                            <p:stCondLst>
                              <p:cond delay="7500"/>
                            </p:stCondLst>
                            <p:childTnLst>
                              <p:par>
                                <p:cTn id="33" presetID="10" presetClass="entr" presetSubtype="0"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par>
                          <p:cTn id="36" fill="hold">
                            <p:stCondLst>
                              <p:cond delay="8000"/>
                            </p:stCondLst>
                            <p:childTnLst>
                              <p:par>
                                <p:cTn id="37" presetID="10" presetClass="entr" presetSubtype="0"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childTnLst>
                          </p:cTn>
                        </p:par>
                        <p:par>
                          <p:cTn id="40" fill="hold">
                            <p:stCondLst>
                              <p:cond delay="8500"/>
                            </p:stCondLst>
                            <p:childTnLst>
                              <p:par>
                                <p:cTn id="41" presetID="10" presetClass="entr" presetSubtype="0"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childTnLst>
                          </p:cTn>
                        </p:par>
                        <p:par>
                          <p:cTn id="44" fill="hold">
                            <p:stCondLst>
                              <p:cond delay="9000"/>
                            </p:stCondLst>
                            <p:childTnLst>
                              <p:par>
                                <p:cTn id="45" presetID="10" presetClass="entr" presetSubtype="0" fill="hold"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par>
                          <p:cTn id="48" fill="hold">
                            <p:stCondLst>
                              <p:cond delay="9500"/>
                            </p:stCondLst>
                            <p:childTnLst>
                              <p:par>
                                <p:cTn id="49" presetID="10" presetClass="entr" presetSubtype="0" fill="hold" nodeType="after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fade">
                                      <p:cBhvr>
                                        <p:cTn id="51" dur="500"/>
                                        <p:tgtEl>
                                          <p:spTgt spid="3"/>
                                        </p:tgtEl>
                                      </p:cBhvr>
                                    </p:animEffect>
                                  </p:childTnLst>
                                </p:cTn>
                              </p:par>
                            </p:childTnLst>
                          </p:cTn>
                        </p:par>
                        <p:par>
                          <p:cTn id="52" fill="hold">
                            <p:stCondLst>
                              <p:cond delay="10000"/>
                            </p:stCondLst>
                            <p:childTnLst>
                              <p:par>
                                <p:cTn id="53" presetID="10" presetClass="entr" presetSubtype="0" fill="hold"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childTnLst>
                                </p:cTn>
                              </p:par>
                            </p:childTnLst>
                          </p:cTn>
                        </p:par>
                        <p:par>
                          <p:cTn id="56" fill="hold">
                            <p:stCondLst>
                              <p:cond delay="10500"/>
                            </p:stCondLst>
                            <p:childTnLst>
                              <p:par>
                                <p:cTn id="57" presetID="10" presetClass="entr" presetSubtype="0"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childTnLst>
                          </p:cTn>
                        </p:par>
                        <p:par>
                          <p:cTn id="60" fill="hold">
                            <p:stCondLst>
                              <p:cond delay="11000"/>
                            </p:stCondLst>
                            <p:childTnLst>
                              <p:par>
                                <p:cTn id="61" presetID="10" presetClass="entr" presetSubtype="0" fill="hold" nodeType="after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xmlns="" id="{2F09468E-0D7E-8D48-A283-328CB7BBC679}"/>
              </a:ext>
            </a:extLst>
          </p:cNvPr>
          <p:cNvGrpSpPr/>
          <p:nvPr/>
        </p:nvGrpSpPr>
        <p:grpSpPr>
          <a:xfrm>
            <a:off x="2674616" y="4897099"/>
            <a:ext cx="3022488" cy="600869"/>
            <a:chOff x="5341616" y="1757294"/>
            <a:chExt cx="3022488" cy="600869"/>
          </a:xfrm>
        </p:grpSpPr>
        <p:sp>
          <p:nvSpPr>
            <p:cNvPr id="23" name="Rectangle 22"/>
            <p:cNvSpPr/>
            <p:nvPr/>
          </p:nvSpPr>
          <p:spPr>
            <a:xfrm>
              <a:off x="5943600" y="1834943"/>
              <a:ext cx="2420504"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500M</a:t>
              </a:r>
              <a:r>
                <a:rPr lang="zh-CN" altLang="en-US" sz="2800" dirty="0">
                  <a:solidFill>
                    <a:schemeClr val="bg2"/>
                  </a:solidFill>
                  <a:latin typeface="Century Gothic" charset="0"/>
                  <a:ea typeface="Century Gothic" charset="0"/>
                  <a:cs typeface="Century Gothic" charset="0"/>
                </a:rPr>
                <a:t> </a:t>
              </a:r>
              <a:r>
                <a:rPr lang="en-US" altLang="zh-CN" sz="2800" dirty="0">
                  <a:solidFill>
                    <a:schemeClr val="bg2"/>
                  </a:solidFill>
                  <a:latin typeface="Century Gothic" charset="0"/>
                  <a:ea typeface="Century Gothic" charset="0"/>
                  <a:cs typeface="Century Gothic" charset="0"/>
                </a:rPr>
                <a:t>tweets</a:t>
              </a:r>
              <a:r>
                <a:rPr lang="zh-CN" altLang="en-US" sz="2800" dirty="0">
                  <a:solidFill>
                    <a:schemeClr val="bg2"/>
                  </a:solidFill>
                  <a:latin typeface="Century Gothic" charset="0"/>
                  <a:ea typeface="Century Gothic" charset="0"/>
                  <a:cs typeface="Century Gothic" charset="0"/>
                </a:rPr>
                <a:t> </a:t>
              </a:r>
              <a:endParaRPr lang="en-US" sz="2800" dirty="0">
                <a:solidFill>
                  <a:schemeClr val="bg2"/>
                </a:solidFill>
                <a:latin typeface="Century Gothic" charset="0"/>
                <a:ea typeface="Century Gothic" charset="0"/>
                <a:cs typeface="Century Gothic" charset="0"/>
              </a:endParaRPr>
            </a:p>
          </p:txBody>
        </p:sp>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41616" y="1757294"/>
              <a:ext cx="555408" cy="555408"/>
            </a:xfrm>
            <a:prstGeom prst="rect">
              <a:avLst/>
            </a:prstGeom>
          </p:spPr>
        </p:pic>
      </p:grpSp>
      <p:sp>
        <p:nvSpPr>
          <p:cNvPr id="2" name="TextBox 1">
            <a:extLst>
              <a:ext uri="{FF2B5EF4-FFF2-40B4-BE49-F238E27FC236}">
                <a16:creationId xmlns:a16="http://schemas.microsoft.com/office/drawing/2014/main" xmlns="" id="{438FD18B-5B7F-8B40-8061-39DC34F5B5C8}"/>
              </a:ext>
            </a:extLst>
          </p:cNvPr>
          <p:cNvSpPr txBox="1"/>
          <p:nvPr/>
        </p:nvSpPr>
        <p:spPr>
          <a:xfrm>
            <a:off x="2789779" y="762000"/>
            <a:ext cx="3363421" cy="584775"/>
          </a:xfrm>
          <a:prstGeom prst="rect">
            <a:avLst/>
          </a:prstGeom>
          <a:noFill/>
        </p:spPr>
        <p:txBody>
          <a:bodyPr wrap="none" rtlCol="0">
            <a:spAutoFit/>
          </a:bodyPr>
          <a:lstStyle/>
          <a:p>
            <a:r>
              <a:rPr lang="en-US" sz="3200" dirty="0">
                <a:solidFill>
                  <a:schemeClr val="bg2"/>
                </a:solidFill>
                <a:latin typeface="Century Gothic" panose="020B0502020202020204" pitchFamily="34" charset="0"/>
              </a:rPr>
              <a:t>Every single day</a:t>
            </a:r>
          </a:p>
        </p:txBody>
      </p:sp>
      <p:grpSp>
        <p:nvGrpSpPr>
          <p:cNvPr id="14" name="Group 13">
            <a:extLst>
              <a:ext uri="{FF2B5EF4-FFF2-40B4-BE49-F238E27FC236}">
                <a16:creationId xmlns:a16="http://schemas.microsoft.com/office/drawing/2014/main" xmlns="" id="{5ADD8F19-7A24-D045-AE41-EF54CEC49F99}"/>
              </a:ext>
            </a:extLst>
          </p:cNvPr>
          <p:cNvGrpSpPr/>
          <p:nvPr/>
        </p:nvGrpSpPr>
        <p:grpSpPr>
          <a:xfrm>
            <a:off x="2514600" y="3810000"/>
            <a:ext cx="3928008" cy="707886"/>
            <a:chOff x="5239904" y="2641007"/>
            <a:chExt cx="3398454" cy="707886"/>
          </a:xfrm>
        </p:grpSpPr>
        <p:pic>
          <p:nvPicPr>
            <p:cNvPr id="4" name="Picture 3">
              <a:extLst>
                <a:ext uri="{FF2B5EF4-FFF2-40B4-BE49-F238E27FC236}">
                  <a16:creationId xmlns:a16="http://schemas.microsoft.com/office/drawing/2014/main" xmlns="" id="{08AC6C16-8480-8347-BEC5-05E3F46DD47B}"/>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5239904" y="2641007"/>
              <a:ext cx="740074" cy="707886"/>
            </a:xfrm>
            <a:prstGeom prst="rect">
              <a:avLst/>
            </a:prstGeom>
          </p:spPr>
        </p:pic>
        <p:sp>
          <p:nvSpPr>
            <p:cNvPr id="17" name="Rectangle 16">
              <a:extLst>
                <a:ext uri="{FF2B5EF4-FFF2-40B4-BE49-F238E27FC236}">
                  <a16:creationId xmlns:a16="http://schemas.microsoft.com/office/drawing/2014/main" xmlns="" id="{1AEC122D-63B4-604B-BE9F-F995DB47BC0B}"/>
                </a:ext>
              </a:extLst>
            </p:cNvPr>
            <p:cNvSpPr/>
            <p:nvPr/>
          </p:nvSpPr>
          <p:spPr>
            <a:xfrm>
              <a:off x="5943600" y="2794895"/>
              <a:ext cx="2694758"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2M </a:t>
              </a:r>
              <a:r>
                <a:rPr lang="en-US" altLang="zh-CN" sz="2800" dirty="0">
                  <a:solidFill>
                    <a:schemeClr val="bg2"/>
                  </a:solidFill>
                  <a:latin typeface="Century Gothic" charset="0"/>
                  <a:ea typeface="Century Gothic" charset="0"/>
                  <a:cs typeface="Century Gothic" charset="0"/>
                </a:rPr>
                <a:t>blog posts</a:t>
              </a:r>
              <a:endParaRPr lang="en-US" sz="2800" dirty="0">
                <a:solidFill>
                  <a:schemeClr val="bg2"/>
                </a:solidFill>
                <a:latin typeface="Century Gothic" charset="0"/>
                <a:ea typeface="Century Gothic" charset="0"/>
                <a:cs typeface="Century Gothic" charset="0"/>
              </a:endParaRPr>
            </a:p>
          </p:txBody>
        </p:sp>
      </p:grpSp>
      <p:grpSp>
        <p:nvGrpSpPr>
          <p:cNvPr id="10" name="Group 9">
            <a:extLst>
              <a:ext uri="{FF2B5EF4-FFF2-40B4-BE49-F238E27FC236}">
                <a16:creationId xmlns:a16="http://schemas.microsoft.com/office/drawing/2014/main" xmlns="" id="{A60BA430-754C-284D-9CD0-40CDF941B913}"/>
              </a:ext>
            </a:extLst>
          </p:cNvPr>
          <p:cNvGrpSpPr/>
          <p:nvPr/>
        </p:nvGrpSpPr>
        <p:grpSpPr>
          <a:xfrm>
            <a:off x="2613171" y="1821729"/>
            <a:ext cx="4231699" cy="671577"/>
            <a:chOff x="5280171" y="3708584"/>
            <a:chExt cx="4231699" cy="671577"/>
          </a:xfrm>
        </p:grpSpPr>
        <p:sp>
          <p:nvSpPr>
            <p:cNvPr id="21" name="Rectangle 20"/>
            <p:cNvSpPr/>
            <p:nvPr/>
          </p:nvSpPr>
          <p:spPr>
            <a:xfrm>
              <a:off x="5994947" y="3844317"/>
              <a:ext cx="3516923"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1200</a:t>
              </a:r>
              <a:r>
                <a:rPr lang="zh-CN" altLang="en-US" sz="2800" dirty="0">
                  <a:solidFill>
                    <a:schemeClr val="bg2"/>
                  </a:solidFill>
                  <a:latin typeface="Century Gothic" charset="0"/>
                  <a:ea typeface="Century Gothic" charset="0"/>
                  <a:cs typeface="Century Gothic" charset="0"/>
                </a:rPr>
                <a:t> </a:t>
              </a:r>
              <a:r>
                <a:rPr lang="en-US" altLang="zh-CN" sz="2800" dirty="0">
                  <a:solidFill>
                    <a:schemeClr val="bg2"/>
                  </a:solidFill>
                  <a:latin typeface="Century Gothic" charset="0"/>
                  <a:ea typeface="Century Gothic" charset="0"/>
                  <a:cs typeface="Century Gothic" charset="0"/>
                </a:rPr>
                <a:t>news stories</a:t>
              </a:r>
              <a:endParaRPr lang="en-US" sz="2800" dirty="0">
                <a:solidFill>
                  <a:schemeClr val="bg2"/>
                </a:solidFill>
                <a:latin typeface="Century Gothic" charset="0"/>
                <a:ea typeface="Century Gothic" charset="0"/>
                <a:cs typeface="Century Gothic" charset="0"/>
              </a:endParaRPr>
            </a:p>
          </p:txBody>
        </p:sp>
        <p:pic>
          <p:nvPicPr>
            <p:cNvPr id="9" name="Picture 8">
              <a:extLst>
                <a:ext uri="{FF2B5EF4-FFF2-40B4-BE49-F238E27FC236}">
                  <a16:creationId xmlns:a16="http://schemas.microsoft.com/office/drawing/2014/main" xmlns="" id="{72769A42-CCD8-7B43-B1E3-92BF09E9C644}"/>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280171" y="3708584"/>
              <a:ext cx="693945" cy="671577"/>
            </a:xfrm>
            <a:prstGeom prst="rect">
              <a:avLst/>
            </a:prstGeom>
          </p:spPr>
        </p:pic>
      </p:grpSp>
      <p:grpSp>
        <p:nvGrpSpPr>
          <p:cNvPr id="7" name="Group 6">
            <a:extLst>
              <a:ext uri="{FF2B5EF4-FFF2-40B4-BE49-F238E27FC236}">
                <a16:creationId xmlns:a16="http://schemas.microsoft.com/office/drawing/2014/main" xmlns="" id="{98BF6A51-3286-FF48-9FF7-FAA269C94C48}"/>
              </a:ext>
            </a:extLst>
          </p:cNvPr>
          <p:cNvGrpSpPr/>
          <p:nvPr/>
        </p:nvGrpSpPr>
        <p:grpSpPr>
          <a:xfrm>
            <a:off x="2340816" y="2891668"/>
            <a:ext cx="4491515" cy="572045"/>
            <a:chOff x="2340816" y="2891668"/>
            <a:chExt cx="4491515" cy="572045"/>
          </a:xfrm>
        </p:grpSpPr>
        <p:pic>
          <p:nvPicPr>
            <p:cNvPr id="6" name="Picture 5">
              <a:extLst>
                <a:ext uri="{FF2B5EF4-FFF2-40B4-BE49-F238E27FC236}">
                  <a16:creationId xmlns:a16="http://schemas.microsoft.com/office/drawing/2014/main" xmlns="" id="{F140A6A9-F798-8A40-B5F0-42533855BDD8}"/>
                </a:ext>
              </a:extLst>
            </p:cNvPr>
            <p:cNvPicPr>
              <a:picLocks noChangeAspect="1"/>
            </p:cNvPicPr>
            <p:nvPr/>
          </p:nvPicPr>
          <p:blipFill>
            <a:blip r:embed="rId6" cstate="email">
              <a:biLevel thresh="75000"/>
              <a:extLst>
                <a:ext uri="{28A0092B-C50C-407E-A947-70E740481C1C}">
                  <a14:useLocalDpi xmlns:a14="http://schemas.microsoft.com/office/drawing/2010/main"/>
                </a:ext>
              </a:extLst>
            </a:blip>
            <a:stretch>
              <a:fillRect/>
            </a:stretch>
          </p:blipFill>
          <p:spPr>
            <a:xfrm>
              <a:off x="2340816" y="2897866"/>
              <a:ext cx="1077804" cy="565847"/>
            </a:xfrm>
            <a:prstGeom prst="rect">
              <a:avLst/>
            </a:prstGeom>
          </p:spPr>
        </p:pic>
        <p:sp>
          <p:nvSpPr>
            <p:cNvPr id="16" name="Rectangle 15">
              <a:extLst>
                <a:ext uri="{FF2B5EF4-FFF2-40B4-BE49-F238E27FC236}">
                  <a16:creationId xmlns:a16="http://schemas.microsoft.com/office/drawing/2014/main" xmlns="" id="{641FD881-B68F-EE46-A587-F754D7E84E1B}"/>
                </a:ext>
              </a:extLst>
            </p:cNvPr>
            <p:cNvSpPr/>
            <p:nvPr/>
          </p:nvSpPr>
          <p:spPr>
            <a:xfrm>
              <a:off x="3315408" y="2891668"/>
              <a:ext cx="3516923"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4000</a:t>
              </a:r>
              <a:r>
                <a:rPr lang="zh-CN" altLang="en-US" sz="2800" dirty="0">
                  <a:solidFill>
                    <a:schemeClr val="bg2"/>
                  </a:solidFill>
                  <a:latin typeface="Century Gothic" charset="0"/>
                  <a:ea typeface="Century Gothic" charset="0"/>
                  <a:cs typeface="Century Gothic" charset="0"/>
                </a:rPr>
                <a:t> </a:t>
              </a:r>
              <a:r>
                <a:rPr lang="en-US" altLang="zh-CN" sz="2800" dirty="0">
                  <a:solidFill>
                    <a:schemeClr val="bg2"/>
                  </a:solidFill>
                  <a:latin typeface="Century Gothic" charset="0"/>
                  <a:ea typeface="Century Gothic" charset="0"/>
                  <a:cs typeface="Century Gothic" charset="0"/>
                </a:rPr>
                <a:t>papers</a:t>
              </a:r>
              <a:endParaRPr lang="en-US" sz="2800" dirty="0">
                <a:solidFill>
                  <a:schemeClr val="bg2"/>
                </a:solidFill>
                <a:latin typeface="Century Gothic" charset="0"/>
                <a:ea typeface="Century Gothic" charset="0"/>
                <a:cs typeface="Century Gothic" charset="0"/>
              </a:endParaRPr>
            </a:p>
          </p:txBody>
        </p:sp>
      </p:grpSp>
    </p:spTree>
    <p:extLst>
      <p:ext uri="{BB962C8B-B14F-4D97-AF65-F5344CB8AC3E}">
        <p14:creationId xmlns:p14="http://schemas.microsoft.com/office/powerpoint/2010/main" val="91840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xmlns="" id="{CA0BFD39-AE71-D547-8E23-0D7740D83C60}"/>
              </a:ext>
            </a:extLst>
          </p:cNvPr>
          <p:cNvSpPr txBox="1"/>
          <p:nvPr/>
        </p:nvSpPr>
        <p:spPr>
          <a:xfrm>
            <a:off x="0" y="5779924"/>
            <a:ext cx="9144000" cy="523220"/>
          </a:xfrm>
          <a:prstGeom prst="rect">
            <a:avLst/>
          </a:prstGeom>
          <a:noFill/>
        </p:spPr>
        <p:txBody>
          <a:bodyPr wrap="square" rtlCol="0">
            <a:spAutoFit/>
          </a:bodyPr>
          <a:lstStyle/>
          <a:p>
            <a:pPr algn="ctr"/>
            <a:r>
              <a:rPr lang="en-US" sz="2800" dirty="0">
                <a:solidFill>
                  <a:schemeClr val="bg2"/>
                </a:solidFill>
                <a:latin typeface="Century Gothic" charset="0"/>
                <a:ea typeface="Century Gothic" charset="0"/>
                <a:cs typeface="Century Gothic" charset="0"/>
              </a:rPr>
              <a:t>Big text, big opportunities</a:t>
            </a:r>
          </a:p>
        </p:txBody>
      </p:sp>
      <p:sp>
        <p:nvSpPr>
          <p:cNvPr id="16" name="Oval 15">
            <a:extLst>
              <a:ext uri="{FF2B5EF4-FFF2-40B4-BE49-F238E27FC236}">
                <a16:creationId xmlns:a16="http://schemas.microsoft.com/office/drawing/2014/main" xmlns="" id="{BB70CB1E-9193-434A-A851-E74830B5EEC9}"/>
              </a:ext>
            </a:extLst>
          </p:cNvPr>
          <p:cNvSpPr/>
          <p:nvPr/>
        </p:nvSpPr>
        <p:spPr>
          <a:xfrm>
            <a:off x="5230102" y="1347560"/>
            <a:ext cx="3114661" cy="3114661"/>
          </a:xfrm>
          <a:prstGeom prst="ellipse">
            <a:avLst/>
          </a:prstGeom>
          <a:solidFill>
            <a:srgbClr val="7691CD">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xmlns="" id="{5A08079B-9B35-214B-874E-CC9D218C4D1C}"/>
              </a:ext>
            </a:extLst>
          </p:cNvPr>
          <p:cNvGrpSpPr/>
          <p:nvPr/>
        </p:nvGrpSpPr>
        <p:grpSpPr>
          <a:xfrm>
            <a:off x="5230102" y="1347560"/>
            <a:ext cx="3114661" cy="3114661"/>
            <a:chOff x="5273040" y="1524000"/>
            <a:chExt cx="3657600" cy="3657600"/>
          </a:xfrm>
        </p:grpSpPr>
        <p:sp>
          <p:nvSpPr>
            <p:cNvPr id="19" name="Arc 18">
              <a:extLst>
                <a:ext uri="{FF2B5EF4-FFF2-40B4-BE49-F238E27FC236}">
                  <a16:creationId xmlns:a16="http://schemas.microsoft.com/office/drawing/2014/main" xmlns="" id="{569DDDB2-9A8A-D64D-A589-7600334D277B}"/>
                </a:ext>
              </a:extLst>
            </p:cNvPr>
            <p:cNvSpPr/>
            <p:nvPr/>
          </p:nvSpPr>
          <p:spPr>
            <a:xfrm>
              <a:off x="5273040" y="1524000"/>
              <a:ext cx="3657600" cy="3657600"/>
            </a:xfrm>
            <a:prstGeom prst="arc">
              <a:avLst>
                <a:gd name="adj1" fmla="val 16200000"/>
                <a:gd name="adj2" fmla="val 11773345"/>
              </a:avLst>
            </a:prstGeom>
            <a:solidFill>
              <a:srgbClr val="D9ADB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Oval 19">
              <a:extLst>
                <a:ext uri="{FF2B5EF4-FFF2-40B4-BE49-F238E27FC236}">
                  <a16:creationId xmlns:a16="http://schemas.microsoft.com/office/drawing/2014/main" xmlns="" id="{30B4507B-8546-EF44-B87F-9A47BAF06DE4}"/>
                </a:ext>
              </a:extLst>
            </p:cNvPr>
            <p:cNvSpPr/>
            <p:nvPr/>
          </p:nvSpPr>
          <p:spPr>
            <a:xfrm>
              <a:off x="5273040" y="1524000"/>
              <a:ext cx="3657600" cy="3657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Arc 21">
            <a:extLst>
              <a:ext uri="{FF2B5EF4-FFF2-40B4-BE49-F238E27FC236}">
                <a16:creationId xmlns:a16="http://schemas.microsoft.com/office/drawing/2014/main" xmlns="" id="{0043A662-5D1A-5D4E-9408-DE1597058612}"/>
              </a:ext>
            </a:extLst>
          </p:cNvPr>
          <p:cNvSpPr/>
          <p:nvPr/>
        </p:nvSpPr>
        <p:spPr>
          <a:xfrm>
            <a:off x="5230102" y="1347560"/>
            <a:ext cx="3114661" cy="3114661"/>
          </a:xfrm>
          <a:prstGeom prst="arc">
            <a:avLst>
              <a:gd name="adj1" fmla="val 11795820"/>
              <a:gd name="adj2" fmla="val 16199135"/>
            </a:avLst>
          </a:prstGeom>
          <a:solidFill>
            <a:srgbClr val="B4C3E4"/>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xmlns="" id="{C43479C6-6E6A-764F-84CB-4C7226DAE116}"/>
              </a:ext>
            </a:extLst>
          </p:cNvPr>
          <p:cNvSpPr txBox="1"/>
          <p:nvPr/>
        </p:nvSpPr>
        <p:spPr>
          <a:xfrm>
            <a:off x="5141824" y="1837236"/>
            <a:ext cx="2211026" cy="338554"/>
          </a:xfrm>
          <a:prstGeom prst="rect">
            <a:avLst/>
          </a:prstGeom>
          <a:noFill/>
        </p:spPr>
        <p:txBody>
          <a:bodyPr wrap="square" rtlCol="0">
            <a:spAutoFit/>
          </a:bodyPr>
          <a:lstStyle/>
          <a:p>
            <a:pPr algn="ctr"/>
            <a:r>
              <a:rPr lang="en-US" sz="1600" dirty="0">
                <a:solidFill>
                  <a:schemeClr val="bg2"/>
                </a:solidFill>
                <a:latin typeface="Century Gothic" charset="0"/>
                <a:ea typeface="Century Gothic" charset="0"/>
                <a:cs typeface="Century Gothic" charset="0"/>
              </a:rPr>
              <a:t>Big Data</a:t>
            </a:r>
          </a:p>
        </p:txBody>
      </p:sp>
      <p:sp>
        <p:nvSpPr>
          <p:cNvPr id="27" name="Rectangle 26">
            <a:extLst>
              <a:ext uri="{FF2B5EF4-FFF2-40B4-BE49-F238E27FC236}">
                <a16:creationId xmlns:a16="http://schemas.microsoft.com/office/drawing/2014/main" xmlns="" id="{0EAC6D86-7CEE-534D-ACE0-FA22D0B8FA49}"/>
              </a:ext>
            </a:extLst>
          </p:cNvPr>
          <p:cNvSpPr/>
          <p:nvPr/>
        </p:nvSpPr>
        <p:spPr>
          <a:xfrm>
            <a:off x="6296933" y="3540659"/>
            <a:ext cx="1576534" cy="523220"/>
          </a:xfrm>
          <a:prstGeom prst="rect">
            <a:avLst/>
          </a:prstGeom>
        </p:spPr>
        <p:txBody>
          <a:bodyPr wrap="square">
            <a:spAutoFit/>
          </a:bodyPr>
          <a:lstStyle/>
          <a:p>
            <a:pPr algn="ctr"/>
            <a:r>
              <a:rPr lang="en-US" sz="2800" dirty="0">
                <a:solidFill>
                  <a:schemeClr val="bg2"/>
                </a:solidFill>
                <a:latin typeface="Century Gothic" charset="0"/>
                <a:ea typeface="Century Gothic" charset="0"/>
                <a:cs typeface="Century Gothic" charset="0"/>
              </a:rPr>
              <a:t>Big Text</a:t>
            </a:r>
          </a:p>
        </p:txBody>
      </p:sp>
      <p:sp>
        <p:nvSpPr>
          <p:cNvPr id="5" name="TextBox 4">
            <a:extLst>
              <a:ext uri="{FF2B5EF4-FFF2-40B4-BE49-F238E27FC236}">
                <a16:creationId xmlns:a16="http://schemas.microsoft.com/office/drawing/2014/main" xmlns="" id="{36BC1D3D-28EC-4142-8D9B-AEE3589A8CA3}"/>
              </a:ext>
            </a:extLst>
          </p:cNvPr>
          <p:cNvSpPr txBox="1"/>
          <p:nvPr/>
        </p:nvSpPr>
        <p:spPr>
          <a:xfrm>
            <a:off x="4226859" y="5007946"/>
            <a:ext cx="4903908" cy="584775"/>
          </a:xfrm>
          <a:prstGeom prst="rect">
            <a:avLst/>
          </a:prstGeom>
          <a:noFill/>
        </p:spPr>
        <p:txBody>
          <a:bodyPr wrap="none" rtlCol="0">
            <a:spAutoFit/>
          </a:bodyPr>
          <a:lstStyle/>
          <a:p>
            <a:pPr algn="r"/>
            <a:r>
              <a:rPr lang="en-US" dirty="0">
                <a:solidFill>
                  <a:schemeClr val="bg2"/>
                </a:solidFill>
                <a:latin typeface="Century Gothic" panose="020B0502020202020204" pitchFamily="34" charset="0"/>
              </a:rPr>
              <a:t>&gt;80% of the world’s data unstructured text</a:t>
            </a:r>
          </a:p>
          <a:p>
            <a:pPr algn="r"/>
            <a:r>
              <a:rPr lang="en-US" sz="1400" i="1" dirty="0">
                <a:solidFill>
                  <a:schemeClr val="bg2"/>
                </a:solidFill>
                <a:latin typeface="Century Gothic" panose="020B0502020202020204" pitchFamily="34" charset="0"/>
              </a:rPr>
              <a:t>[by breakthrough analysis]</a:t>
            </a:r>
          </a:p>
        </p:txBody>
      </p:sp>
      <p:grpSp>
        <p:nvGrpSpPr>
          <p:cNvPr id="26" name="Group 25">
            <a:extLst>
              <a:ext uri="{FF2B5EF4-FFF2-40B4-BE49-F238E27FC236}">
                <a16:creationId xmlns:a16="http://schemas.microsoft.com/office/drawing/2014/main" xmlns="" id="{1F774C2C-5707-A94F-8FCF-4F8DDC7C7DF0}"/>
              </a:ext>
            </a:extLst>
          </p:cNvPr>
          <p:cNvGrpSpPr/>
          <p:nvPr/>
        </p:nvGrpSpPr>
        <p:grpSpPr>
          <a:xfrm>
            <a:off x="559508" y="4897099"/>
            <a:ext cx="3022488" cy="600869"/>
            <a:chOff x="5341616" y="1757294"/>
            <a:chExt cx="3022488" cy="600869"/>
          </a:xfrm>
        </p:grpSpPr>
        <p:sp>
          <p:nvSpPr>
            <p:cNvPr id="28" name="Rectangle 27">
              <a:extLst>
                <a:ext uri="{FF2B5EF4-FFF2-40B4-BE49-F238E27FC236}">
                  <a16:creationId xmlns:a16="http://schemas.microsoft.com/office/drawing/2014/main" xmlns="" id="{4A8E2983-1774-4F47-A955-817A5855AF95}"/>
                </a:ext>
              </a:extLst>
            </p:cNvPr>
            <p:cNvSpPr/>
            <p:nvPr/>
          </p:nvSpPr>
          <p:spPr>
            <a:xfrm>
              <a:off x="5943600" y="1834943"/>
              <a:ext cx="2420504"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500M</a:t>
              </a:r>
              <a:r>
                <a:rPr lang="zh-CN" altLang="en-US" sz="2800" dirty="0">
                  <a:solidFill>
                    <a:schemeClr val="bg2"/>
                  </a:solidFill>
                  <a:latin typeface="Century Gothic" charset="0"/>
                  <a:ea typeface="Century Gothic" charset="0"/>
                  <a:cs typeface="Century Gothic" charset="0"/>
                </a:rPr>
                <a:t> </a:t>
              </a:r>
              <a:r>
                <a:rPr lang="en-US" altLang="zh-CN" sz="2800" dirty="0">
                  <a:solidFill>
                    <a:schemeClr val="bg2"/>
                  </a:solidFill>
                  <a:latin typeface="Century Gothic" charset="0"/>
                  <a:ea typeface="Century Gothic" charset="0"/>
                  <a:cs typeface="Century Gothic" charset="0"/>
                </a:rPr>
                <a:t>tweets</a:t>
              </a:r>
              <a:r>
                <a:rPr lang="zh-CN" altLang="en-US" sz="2800" dirty="0">
                  <a:solidFill>
                    <a:schemeClr val="bg2"/>
                  </a:solidFill>
                  <a:latin typeface="Century Gothic" charset="0"/>
                  <a:ea typeface="Century Gothic" charset="0"/>
                  <a:cs typeface="Century Gothic" charset="0"/>
                </a:rPr>
                <a:t> </a:t>
              </a:r>
              <a:endParaRPr lang="en-US" sz="2800" dirty="0">
                <a:solidFill>
                  <a:schemeClr val="bg2"/>
                </a:solidFill>
                <a:latin typeface="Century Gothic" charset="0"/>
                <a:ea typeface="Century Gothic" charset="0"/>
                <a:cs typeface="Century Gothic" charset="0"/>
              </a:endParaRPr>
            </a:p>
          </p:txBody>
        </p:sp>
        <p:pic>
          <p:nvPicPr>
            <p:cNvPr id="29" name="Picture 28">
              <a:extLst>
                <a:ext uri="{FF2B5EF4-FFF2-40B4-BE49-F238E27FC236}">
                  <a16:creationId xmlns:a16="http://schemas.microsoft.com/office/drawing/2014/main" xmlns="" id="{F82B0692-7B64-B846-BB9D-3C6A4E86FFA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41616" y="1757294"/>
              <a:ext cx="555408" cy="555408"/>
            </a:xfrm>
            <a:prstGeom prst="rect">
              <a:avLst/>
            </a:prstGeom>
          </p:spPr>
        </p:pic>
      </p:grpSp>
      <p:sp>
        <p:nvSpPr>
          <p:cNvPr id="30" name="TextBox 29">
            <a:extLst>
              <a:ext uri="{FF2B5EF4-FFF2-40B4-BE49-F238E27FC236}">
                <a16:creationId xmlns:a16="http://schemas.microsoft.com/office/drawing/2014/main" xmlns="" id="{4D9EE2A0-9FC2-594D-8165-5ABFBE241BF7}"/>
              </a:ext>
            </a:extLst>
          </p:cNvPr>
          <p:cNvSpPr txBox="1"/>
          <p:nvPr/>
        </p:nvSpPr>
        <p:spPr>
          <a:xfrm>
            <a:off x="674671" y="762000"/>
            <a:ext cx="3363421" cy="584775"/>
          </a:xfrm>
          <a:prstGeom prst="rect">
            <a:avLst/>
          </a:prstGeom>
          <a:noFill/>
        </p:spPr>
        <p:txBody>
          <a:bodyPr wrap="none" rtlCol="0">
            <a:spAutoFit/>
          </a:bodyPr>
          <a:lstStyle/>
          <a:p>
            <a:r>
              <a:rPr lang="en-US" sz="3200" dirty="0">
                <a:solidFill>
                  <a:schemeClr val="bg2"/>
                </a:solidFill>
                <a:latin typeface="Century Gothic" panose="020B0502020202020204" pitchFamily="34" charset="0"/>
              </a:rPr>
              <a:t>Every single day</a:t>
            </a:r>
          </a:p>
        </p:txBody>
      </p:sp>
      <p:grpSp>
        <p:nvGrpSpPr>
          <p:cNvPr id="31" name="Group 30">
            <a:extLst>
              <a:ext uri="{FF2B5EF4-FFF2-40B4-BE49-F238E27FC236}">
                <a16:creationId xmlns:a16="http://schemas.microsoft.com/office/drawing/2014/main" xmlns="" id="{28A72A20-D650-5A43-98A8-8264E143DC6E}"/>
              </a:ext>
            </a:extLst>
          </p:cNvPr>
          <p:cNvGrpSpPr/>
          <p:nvPr/>
        </p:nvGrpSpPr>
        <p:grpSpPr>
          <a:xfrm>
            <a:off x="399492" y="3810000"/>
            <a:ext cx="3928008" cy="707886"/>
            <a:chOff x="5239904" y="2641007"/>
            <a:chExt cx="3398454" cy="707886"/>
          </a:xfrm>
        </p:grpSpPr>
        <p:pic>
          <p:nvPicPr>
            <p:cNvPr id="32" name="Picture 31">
              <a:extLst>
                <a:ext uri="{FF2B5EF4-FFF2-40B4-BE49-F238E27FC236}">
                  <a16:creationId xmlns:a16="http://schemas.microsoft.com/office/drawing/2014/main" xmlns="" id="{7A43C2B2-12BC-9F44-9191-6DA1DFFF9CB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5239904" y="2641007"/>
              <a:ext cx="740074" cy="707886"/>
            </a:xfrm>
            <a:prstGeom prst="rect">
              <a:avLst/>
            </a:prstGeom>
          </p:spPr>
        </p:pic>
        <p:sp>
          <p:nvSpPr>
            <p:cNvPr id="33" name="Rectangle 32">
              <a:extLst>
                <a:ext uri="{FF2B5EF4-FFF2-40B4-BE49-F238E27FC236}">
                  <a16:creationId xmlns:a16="http://schemas.microsoft.com/office/drawing/2014/main" xmlns="" id="{7E6DED6D-D80A-FB4B-9437-838AAE1B8352}"/>
                </a:ext>
              </a:extLst>
            </p:cNvPr>
            <p:cNvSpPr/>
            <p:nvPr/>
          </p:nvSpPr>
          <p:spPr>
            <a:xfrm>
              <a:off x="5943600" y="2794895"/>
              <a:ext cx="2694758"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2M </a:t>
              </a:r>
              <a:r>
                <a:rPr lang="en-US" altLang="zh-CN" sz="2800" dirty="0">
                  <a:solidFill>
                    <a:schemeClr val="bg2"/>
                  </a:solidFill>
                  <a:latin typeface="Century Gothic" charset="0"/>
                  <a:ea typeface="Century Gothic" charset="0"/>
                  <a:cs typeface="Century Gothic" charset="0"/>
                </a:rPr>
                <a:t>blog posts</a:t>
              </a:r>
              <a:endParaRPr lang="en-US" sz="2800" dirty="0">
                <a:solidFill>
                  <a:schemeClr val="bg2"/>
                </a:solidFill>
                <a:latin typeface="Century Gothic" charset="0"/>
                <a:ea typeface="Century Gothic" charset="0"/>
                <a:cs typeface="Century Gothic" charset="0"/>
              </a:endParaRPr>
            </a:p>
          </p:txBody>
        </p:sp>
      </p:grpSp>
      <p:grpSp>
        <p:nvGrpSpPr>
          <p:cNvPr id="34" name="Group 33">
            <a:extLst>
              <a:ext uri="{FF2B5EF4-FFF2-40B4-BE49-F238E27FC236}">
                <a16:creationId xmlns:a16="http://schemas.microsoft.com/office/drawing/2014/main" xmlns="" id="{9A689547-9C07-AD43-8BF4-264B298FEA0B}"/>
              </a:ext>
            </a:extLst>
          </p:cNvPr>
          <p:cNvGrpSpPr/>
          <p:nvPr/>
        </p:nvGrpSpPr>
        <p:grpSpPr>
          <a:xfrm>
            <a:off x="498063" y="1821729"/>
            <a:ext cx="4231699" cy="671577"/>
            <a:chOff x="5280171" y="3708584"/>
            <a:chExt cx="4231699" cy="671577"/>
          </a:xfrm>
        </p:grpSpPr>
        <p:sp>
          <p:nvSpPr>
            <p:cNvPr id="35" name="Rectangle 34">
              <a:extLst>
                <a:ext uri="{FF2B5EF4-FFF2-40B4-BE49-F238E27FC236}">
                  <a16:creationId xmlns:a16="http://schemas.microsoft.com/office/drawing/2014/main" xmlns="" id="{439FA16B-F3B9-A346-8A9D-7BA0D553EF12}"/>
                </a:ext>
              </a:extLst>
            </p:cNvPr>
            <p:cNvSpPr/>
            <p:nvPr/>
          </p:nvSpPr>
          <p:spPr>
            <a:xfrm>
              <a:off x="5994947" y="3844317"/>
              <a:ext cx="3516923"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1200</a:t>
              </a:r>
              <a:r>
                <a:rPr lang="zh-CN" altLang="en-US" sz="2800" dirty="0">
                  <a:solidFill>
                    <a:schemeClr val="bg2"/>
                  </a:solidFill>
                  <a:latin typeface="Century Gothic" charset="0"/>
                  <a:ea typeface="Century Gothic" charset="0"/>
                  <a:cs typeface="Century Gothic" charset="0"/>
                </a:rPr>
                <a:t> </a:t>
              </a:r>
              <a:r>
                <a:rPr lang="en-US" altLang="zh-CN" sz="2800" dirty="0">
                  <a:solidFill>
                    <a:schemeClr val="bg2"/>
                  </a:solidFill>
                  <a:latin typeface="Century Gothic" charset="0"/>
                  <a:ea typeface="Century Gothic" charset="0"/>
                  <a:cs typeface="Century Gothic" charset="0"/>
                </a:rPr>
                <a:t>news stories</a:t>
              </a:r>
              <a:endParaRPr lang="en-US" sz="2800" dirty="0">
                <a:solidFill>
                  <a:schemeClr val="bg2"/>
                </a:solidFill>
                <a:latin typeface="Century Gothic" charset="0"/>
                <a:ea typeface="Century Gothic" charset="0"/>
                <a:cs typeface="Century Gothic" charset="0"/>
              </a:endParaRPr>
            </a:p>
          </p:txBody>
        </p:sp>
        <p:pic>
          <p:nvPicPr>
            <p:cNvPr id="36" name="Picture 35">
              <a:extLst>
                <a:ext uri="{FF2B5EF4-FFF2-40B4-BE49-F238E27FC236}">
                  <a16:creationId xmlns:a16="http://schemas.microsoft.com/office/drawing/2014/main" xmlns="" id="{F560C4E4-C191-9A47-AB23-CE9F52FFE3F4}"/>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280171" y="3708584"/>
              <a:ext cx="693945" cy="671577"/>
            </a:xfrm>
            <a:prstGeom prst="rect">
              <a:avLst/>
            </a:prstGeom>
          </p:spPr>
        </p:pic>
      </p:grpSp>
      <p:grpSp>
        <p:nvGrpSpPr>
          <p:cNvPr id="37" name="Group 36">
            <a:extLst>
              <a:ext uri="{FF2B5EF4-FFF2-40B4-BE49-F238E27FC236}">
                <a16:creationId xmlns:a16="http://schemas.microsoft.com/office/drawing/2014/main" xmlns="" id="{01AE9257-886F-C04B-85B4-4DC8622229A3}"/>
              </a:ext>
            </a:extLst>
          </p:cNvPr>
          <p:cNvGrpSpPr/>
          <p:nvPr/>
        </p:nvGrpSpPr>
        <p:grpSpPr>
          <a:xfrm>
            <a:off x="225708" y="2891668"/>
            <a:ext cx="4491515" cy="572045"/>
            <a:chOff x="2340816" y="2891668"/>
            <a:chExt cx="4491515" cy="572045"/>
          </a:xfrm>
        </p:grpSpPr>
        <p:pic>
          <p:nvPicPr>
            <p:cNvPr id="38" name="Picture 37">
              <a:extLst>
                <a:ext uri="{FF2B5EF4-FFF2-40B4-BE49-F238E27FC236}">
                  <a16:creationId xmlns:a16="http://schemas.microsoft.com/office/drawing/2014/main" xmlns="" id="{BC375E3D-728E-9548-8948-75FD3C5D310D}"/>
                </a:ext>
              </a:extLst>
            </p:cNvPr>
            <p:cNvPicPr>
              <a:picLocks noChangeAspect="1"/>
            </p:cNvPicPr>
            <p:nvPr/>
          </p:nvPicPr>
          <p:blipFill>
            <a:blip r:embed="rId6" cstate="email">
              <a:biLevel thresh="75000"/>
              <a:extLst>
                <a:ext uri="{28A0092B-C50C-407E-A947-70E740481C1C}">
                  <a14:useLocalDpi xmlns:a14="http://schemas.microsoft.com/office/drawing/2010/main"/>
                </a:ext>
              </a:extLst>
            </a:blip>
            <a:stretch>
              <a:fillRect/>
            </a:stretch>
          </p:blipFill>
          <p:spPr>
            <a:xfrm>
              <a:off x="2340816" y="2897866"/>
              <a:ext cx="1077804" cy="565847"/>
            </a:xfrm>
            <a:prstGeom prst="rect">
              <a:avLst/>
            </a:prstGeom>
          </p:spPr>
        </p:pic>
        <p:sp>
          <p:nvSpPr>
            <p:cNvPr id="39" name="Rectangle 38">
              <a:extLst>
                <a:ext uri="{FF2B5EF4-FFF2-40B4-BE49-F238E27FC236}">
                  <a16:creationId xmlns:a16="http://schemas.microsoft.com/office/drawing/2014/main" xmlns="" id="{D02475B1-F36D-F54C-B2DA-9467EDDB5C0D}"/>
                </a:ext>
              </a:extLst>
            </p:cNvPr>
            <p:cNvSpPr/>
            <p:nvPr/>
          </p:nvSpPr>
          <p:spPr>
            <a:xfrm>
              <a:off x="3315408" y="2891668"/>
              <a:ext cx="3516923"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4000</a:t>
              </a:r>
              <a:r>
                <a:rPr lang="zh-CN" altLang="en-US" sz="2800" dirty="0">
                  <a:solidFill>
                    <a:schemeClr val="bg2"/>
                  </a:solidFill>
                  <a:latin typeface="Century Gothic" charset="0"/>
                  <a:ea typeface="Century Gothic" charset="0"/>
                  <a:cs typeface="Century Gothic" charset="0"/>
                </a:rPr>
                <a:t> </a:t>
              </a:r>
              <a:r>
                <a:rPr lang="en-US" altLang="zh-CN" sz="2800" dirty="0">
                  <a:solidFill>
                    <a:schemeClr val="bg2"/>
                  </a:solidFill>
                  <a:latin typeface="Century Gothic" charset="0"/>
                  <a:ea typeface="Century Gothic" charset="0"/>
                  <a:cs typeface="Century Gothic" charset="0"/>
                </a:rPr>
                <a:t>papers</a:t>
              </a:r>
              <a:endParaRPr lang="en-US" sz="2800" dirty="0">
                <a:solidFill>
                  <a:schemeClr val="bg2"/>
                </a:solidFill>
                <a:latin typeface="Century Gothic" charset="0"/>
                <a:ea typeface="Century Gothic" charset="0"/>
                <a:cs typeface="Century Gothic" charset="0"/>
              </a:endParaRPr>
            </a:p>
          </p:txBody>
        </p:sp>
      </p:grpSp>
    </p:spTree>
    <p:extLst>
      <p:ext uri="{BB962C8B-B14F-4D97-AF65-F5344CB8AC3E}">
        <p14:creationId xmlns:p14="http://schemas.microsoft.com/office/powerpoint/2010/main" val="2636880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heel(1)">
                                      <p:cBhvr>
                                        <p:cTn id="11" dur="1000"/>
                                        <p:tgtEl>
                                          <p:spTgt spid="18"/>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par>
                          <p:cTn id="16" fill="hold">
                            <p:stCondLst>
                              <p:cond delay="2000"/>
                            </p:stCondLst>
                            <p:childTnLst>
                              <p:par>
                                <p:cTn id="17" presetID="1" presetClass="exit" presetSubtype="0" fill="hold" grpId="0" nodeType="afterEffect">
                                  <p:stCondLst>
                                    <p:cond delay="0"/>
                                  </p:stCondLst>
                                  <p:childTnLst>
                                    <p:set>
                                      <p:cBhvr>
                                        <p:cTn id="18" dur="1" fill="hold">
                                          <p:stCondLst>
                                            <p:cond delay="0"/>
                                          </p:stCondLst>
                                        </p:cTn>
                                        <p:tgtEl>
                                          <p:spTgt spid="16"/>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par>
                          <p:cTn id="21" fill="hold">
                            <p:stCondLst>
                              <p:cond delay="2000"/>
                            </p:stCondLst>
                            <p:childTnLst>
                              <p:par>
                                <p:cTn id="22" presetID="42" presetClass="path" presetSubtype="0" accel="50000" decel="50000" fill="hold" nodeType="afterEffect">
                                  <p:stCondLst>
                                    <p:cond delay="0"/>
                                  </p:stCondLst>
                                  <p:childTnLst>
                                    <p:animMotion origin="layout" path="M -1.11111E-6 -1.11111E-6 L 0.06719 0.07176 " pathEditMode="relative" rAng="0" ptsTypes="AA">
                                      <p:cBhvr>
                                        <p:cTn id="23" dur="1000" fill="hold"/>
                                        <p:tgtEl>
                                          <p:spTgt spid="18"/>
                                        </p:tgtEl>
                                        <p:attrNameLst>
                                          <p:attrName>ppt_x</p:attrName>
                                          <p:attrName>ppt_y</p:attrName>
                                        </p:attrNameLst>
                                      </p:cBhvr>
                                      <p:rCtr x="3351" y="3588"/>
                                    </p:animMotion>
                                  </p:childTnLst>
                                </p:cTn>
                              </p:par>
                              <p:par>
                                <p:cTn id="24" presetID="42" presetClass="path" presetSubtype="0" accel="50000" decel="50000" fill="hold" grpId="1" nodeType="withEffect">
                                  <p:stCondLst>
                                    <p:cond delay="0"/>
                                  </p:stCondLst>
                                  <p:childTnLst>
                                    <p:animMotion origin="layout" path="M 3.61111E-6 1.85185E-6 L 0.06701 0.06967 " pathEditMode="relative" rAng="0" ptsTypes="AA">
                                      <p:cBhvr>
                                        <p:cTn id="25" dur="1000" fill="hold"/>
                                        <p:tgtEl>
                                          <p:spTgt spid="27"/>
                                        </p:tgtEl>
                                        <p:attrNameLst>
                                          <p:attrName>ppt_x</p:attrName>
                                          <p:attrName>ppt_y</p:attrName>
                                        </p:attrNameLst>
                                      </p:cBhvr>
                                      <p:rCtr x="3351" y="3472"/>
                                    </p:animMotion>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1000"/>
                                        <p:tgtEl>
                                          <p:spTgt spid="24"/>
                                        </p:tgtEl>
                                      </p:cBhvr>
                                    </p:animEffect>
                                    <p:anim calcmode="lin" valueType="num">
                                      <p:cBhvr>
                                        <p:cTn id="35" dur="1000" fill="hold"/>
                                        <p:tgtEl>
                                          <p:spTgt spid="24"/>
                                        </p:tgtEl>
                                        <p:attrNameLst>
                                          <p:attrName>ppt_x</p:attrName>
                                        </p:attrNameLst>
                                      </p:cBhvr>
                                      <p:tavLst>
                                        <p:tav tm="0">
                                          <p:val>
                                            <p:strVal val="#ppt_x"/>
                                          </p:val>
                                        </p:tav>
                                        <p:tav tm="100000">
                                          <p:val>
                                            <p:strVal val="#ppt_x"/>
                                          </p:val>
                                        </p:tav>
                                      </p:tavLst>
                                    </p:anim>
                                    <p:anim calcmode="lin" valueType="num">
                                      <p:cBhvr>
                                        <p:cTn id="3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6" grpId="0" animBg="1"/>
      <p:bldP spid="22" grpId="0" animBg="1"/>
      <p:bldP spid="25" grpId="0"/>
      <p:bldP spid="27" grpId="0"/>
      <p:bldP spid="27" grpId="1"/>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230831" y="1669712"/>
            <a:ext cx="491352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assess the health of a company</a:t>
            </a:r>
          </a:p>
        </p:txBody>
      </p:sp>
      <p:sp>
        <p:nvSpPr>
          <p:cNvPr id="12" name="TextBox 11"/>
          <p:cNvSpPr txBox="1"/>
          <p:nvPr/>
        </p:nvSpPr>
        <p:spPr>
          <a:xfrm>
            <a:off x="3230831" y="1670272"/>
            <a:ext cx="522931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study causality in medical records</a:t>
            </a:r>
          </a:p>
        </p:txBody>
      </p:sp>
      <p:pic>
        <p:nvPicPr>
          <p:cNvPr id="4" name="Picture 3">
            <a:extLst>
              <a:ext uri="{FF2B5EF4-FFF2-40B4-BE49-F238E27FC236}">
                <a16:creationId xmlns:a16="http://schemas.microsoft.com/office/drawing/2014/main" xmlns="" id="{898E66DF-BFC0-7A48-8164-CD9BBDFD20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80609" y="3198911"/>
            <a:ext cx="4535465" cy="2993408"/>
          </a:xfrm>
          <a:prstGeom prst="roundRect">
            <a:avLst/>
          </a:prstGeom>
          <a:ln>
            <a:solidFill>
              <a:schemeClr val="bg2"/>
            </a:solidFill>
          </a:ln>
        </p:spPr>
      </p:pic>
      <p:pic>
        <p:nvPicPr>
          <p:cNvPr id="17" name="Picture 1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18648" y="3224517"/>
            <a:ext cx="5929017" cy="2964509"/>
          </a:xfrm>
          <a:prstGeom prst="roundRect">
            <a:avLst>
              <a:gd name="adj" fmla="val 8594"/>
            </a:avLst>
          </a:prstGeom>
          <a:solidFill>
            <a:srgbClr val="FFFFFF">
              <a:shade val="85000"/>
            </a:srgbClr>
          </a:solidFill>
          <a:ln>
            <a:solidFill>
              <a:schemeClr val="bg2"/>
            </a:solidFill>
          </a:ln>
          <a:effectLst/>
        </p:spPr>
      </p:pic>
      <p:pic>
        <p:nvPicPr>
          <p:cNvPr id="19" name="Picture 1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54760" y="3224229"/>
            <a:ext cx="4587164" cy="3058656"/>
          </a:xfrm>
          <a:prstGeom prst="roundRect">
            <a:avLst>
              <a:gd name="adj" fmla="val 8594"/>
            </a:avLst>
          </a:prstGeom>
          <a:solidFill>
            <a:srgbClr val="FFFFFF">
              <a:shade val="85000"/>
            </a:srgbClr>
          </a:solidFill>
          <a:ln>
            <a:solidFill>
              <a:schemeClr val="bg2"/>
            </a:solidFill>
          </a:ln>
          <a:effectLst/>
        </p:spPr>
      </p:pic>
      <p:sp>
        <p:nvSpPr>
          <p:cNvPr id="6" name="TextBox 5">
            <a:extLst>
              <a:ext uri="{FF2B5EF4-FFF2-40B4-BE49-F238E27FC236}">
                <a16:creationId xmlns:a16="http://schemas.microsoft.com/office/drawing/2014/main" xmlns="" id="{D3AD5257-747E-5142-B9F2-FB58AE31DC5B}"/>
              </a:ext>
            </a:extLst>
          </p:cNvPr>
          <p:cNvSpPr txBox="1"/>
          <p:nvPr/>
        </p:nvSpPr>
        <p:spPr>
          <a:xfrm>
            <a:off x="685800" y="1665806"/>
            <a:ext cx="28194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If we manage to</a:t>
            </a:r>
          </a:p>
        </p:txBody>
      </p:sp>
      <p:sp>
        <p:nvSpPr>
          <p:cNvPr id="7" name="TextBox 6">
            <a:extLst>
              <a:ext uri="{FF2B5EF4-FFF2-40B4-BE49-F238E27FC236}">
                <a16:creationId xmlns:a16="http://schemas.microsoft.com/office/drawing/2014/main" xmlns="" id="{C6556243-2113-8F42-91F5-00CD30D8E354}"/>
              </a:ext>
            </a:extLst>
          </p:cNvPr>
          <p:cNvSpPr txBox="1"/>
          <p:nvPr/>
        </p:nvSpPr>
        <p:spPr>
          <a:xfrm>
            <a:off x="5862" y="290263"/>
            <a:ext cx="9144000" cy="523220"/>
          </a:xfrm>
          <a:prstGeom prst="rect">
            <a:avLst/>
          </a:prstGeom>
          <a:noFill/>
        </p:spPr>
        <p:txBody>
          <a:bodyPr wrap="square" rtlCol="0">
            <a:spAutoFit/>
          </a:bodyPr>
          <a:lstStyle/>
          <a:p>
            <a:pPr algn="ctr"/>
            <a:r>
              <a:rPr lang="en-US" sz="2800" dirty="0">
                <a:solidFill>
                  <a:schemeClr val="bg2"/>
                </a:solidFill>
                <a:latin typeface="Century Gothic" charset="0"/>
                <a:ea typeface="Century Gothic" charset="0"/>
                <a:cs typeface="Century Gothic" charset="0"/>
              </a:rPr>
              <a:t>Big text, big opportunities</a:t>
            </a:r>
          </a:p>
        </p:txBody>
      </p:sp>
      <p:sp>
        <p:nvSpPr>
          <p:cNvPr id="8" name="TextBox 7">
            <a:extLst>
              <a:ext uri="{FF2B5EF4-FFF2-40B4-BE49-F238E27FC236}">
                <a16:creationId xmlns:a16="http://schemas.microsoft.com/office/drawing/2014/main" xmlns="" id="{4ABA6C32-5FC0-0C41-979B-31D10D6E7B4D}"/>
              </a:ext>
            </a:extLst>
          </p:cNvPr>
          <p:cNvSpPr txBox="1"/>
          <p:nvPr/>
        </p:nvSpPr>
        <p:spPr>
          <a:xfrm>
            <a:off x="685800" y="2433935"/>
            <a:ext cx="28194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perhaps we can</a:t>
            </a:r>
          </a:p>
        </p:txBody>
      </p:sp>
      <p:sp>
        <p:nvSpPr>
          <p:cNvPr id="3" name="TextBox 2"/>
          <p:cNvSpPr txBox="1"/>
          <p:nvPr/>
        </p:nvSpPr>
        <p:spPr>
          <a:xfrm>
            <a:off x="3230831" y="1672610"/>
            <a:ext cx="56412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read and compare multiple sources</a:t>
            </a:r>
          </a:p>
        </p:txBody>
      </p:sp>
      <p:sp>
        <p:nvSpPr>
          <p:cNvPr id="9" name="TextBox 8"/>
          <p:cNvSpPr txBox="1"/>
          <p:nvPr/>
        </p:nvSpPr>
        <p:spPr>
          <a:xfrm>
            <a:off x="3206195" y="2440739"/>
            <a:ext cx="367280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fight against fake news</a:t>
            </a:r>
          </a:p>
        </p:txBody>
      </p:sp>
      <p:sp>
        <p:nvSpPr>
          <p:cNvPr id="11" name="TextBox 10"/>
          <p:cNvSpPr txBox="1"/>
          <p:nvPr/>
        </p:nvSpPr>
        <p:spPr>
          <a:xfrm>
            <a:off x="3211695" y="2447543"/>
            <a:ext cx="485421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better predict the market trend</a:t>
            </a:r>
          </a:p>
        </p:txBody>
      </p:sp>
      <p:sp>
        <p:nvSpPr>
          <p:cNvPr id="13" name="TextBox 12"/>
          <p:cNvSpPr txBox="1"/>
          <p:nvPr/>
        </p:nvSpPr>
        <p:spPr>
          <a:xfrm>
            <a:off x="3206195" y="2437446"/>
            <a:ext cx="409759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provide better diagnostics</a:t>
            </a:r>
          </a:p>
        </p:txBody>
      </p:sp>
      <p:sp>
        <p:nvSpPr>
          <p:cNvPr id="14" name="Rectangle 13"/>
          <p:cNvSpPr/>
          <p:nvPr/>
        </p:nvSpPr>
        <p:spPr>
          <a:xfrm>
            <a:off x="2569021" y="6274971"/>
            <a:ext cx="4420219" cy="25391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err="1">
                <a:solidFill>
                  <a:srgbClr val="333333"/>
                </a:solidFill>
                <a:latin typeface="Century Gothic" charset="0"/>
                <a:ea typeface="Century Gothic" charset="0"/>
                <a:cs typeface="Century Gothic" charset="0"/>
              </a:rPr>
              <a:t>Legalzoom</a:t>
            </a:r>
            <a:r>
              <a:rPr lang="en-US" sz="1050" dirty="0">
                <a:solidFill>
                  <a:srgbClr val="333333"/>
                </a:solidFill>
                <a:latin typeface="Century Gothic" charset="0"/>
                <a:ea typeface="Century Gothic" charset="0"/>
                <a:cs typeface="Century Gothic" charset="0"/>
              </a:rPr>
              <a:t>: Fake news, what laws are designed to protect</a:t>
            </a:r>
            <a:endParaRPr kumimoji="0" lang="en-US" sz="1050" b="0" i="0" u="none" strike="noStrike" kern="1200" cap="none" spc="0" normalizeH="0" baseline="0" noProof="0" dirty="0">
              <a:ln>
                <a:noFill/>
              </a:ln>
              <a:solidFill>
                <a:srgbClr val="333333"/>
              </a:solidFill>
              <a:effectLst/>
              <a:uLnTx/>
              <a:uFillTx/>
              <a:latin typeface="Century Gothic" charset="0"/>
              <a:ea typeface="Century Gothic" charset="0"/>
              <a:cs typeface="Century Gothic" charset="0"/>
            </a:endParaRPr>
          </a:p>
        </p:txBody>
      </p:sp>
      <p:sp>
        <p:nvSpPr>
          <p:cNvPr id="18" name="Rectangle 17"/>
          <p:cNvSpPr/>
          <p:nvPr/>
        </p:nvSpPr>
        <p:spPr>
          <a:xfrm>
            <a:off x="3792230" y="6280886"/>
            <a:ext cx="1571264" cy="2616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lumMod val="85000"/>
                    <a:lumOff val="15000"/>
                  </a:srgbClr>
                </a:solidFill>
                <a:effectLst/>
                <a:uLnTx/>
                <a:uFillTx/>
                <a:latin typeface="Century Gothic" charset="0"/>
                <a:ea typeface="Century Gothic" charset="0"/>
                <a:cs typeface="Century Gothic" charset="0"/>
              </a:rPr>
              <a:t>www.milesweb.com</a:t>
            </a:r>
            <a:endParaRPr kumimoji="0" lang="en-US" sz="1100" b="0" i="0" u="none" strike="noStrike" kern="1200" cap="none" spc="0" normalizeH="0" baseline="0" noProof="0" dirty="0">
              <a:ln>
                <a:noFill/>
              </a:ln>
              <a:solidFill>
                <a:srgbClr val="000000">
                  <a:lumMod val="85000"/>
                  <a:lumOff val="15000"/>
                </a:srgbClr>
              </a:solidFill>
              <a:effectLst/>
              <a:uLnTx/>
              <a:uFillTx/>
              <a:latin typeface="Century Gothic" charset="0"/>
              <a:ea typeface="Century Gothic" charset="0"/>
              <a:cs typeface="Century Gothic" charset="0"/>
            </a:endParaRPr>
          </a:p>
        </p:txBody>
      </p:sp>
      <p:sp>
        <p:nvSpPr>
          <p:cNvPr id="20" name="Rectangle 19"/>
          <p:cNvSpPr/>
          <p:nvPr/>
        </p:nvSpPr>
        <p:spPr>
          <a:xfrm>
            <a:off x="1618648" y="6427113"/>
            <a:ext cx="6802021" cy="43088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lumMod val="85000"/>
                    <a:lumOff val="15000"/>
                  </a:srgbClr>
                </a:solidFill>
                <a:effectLst/>
                <a:uLnTx/>
                <a:uFillTx/>
                <a:latin typeface="Century Gothic" charset="0"/>
                <a:ea typeface="Century Gothic" charset="0"/>
                <a:cs typeface="Century Gothic" charset="0"/>
              </a:rPr>
              <a:t>Engineersjournal</a:t>
            </a:r>
            <a:r>
              <a:rPr kumimoji="0" lang="en-US" sz="1100" b="0" i="0" u="none" strike="noStrike" kern="1200" cap="none" spc="0" normalizeH="0" baseline="0" noProof="0" dirty="0">
                <a:ln>
                  <a:noFill/>
                </a:ln>
                <a:solidFill>
                  <a:srgbClr val="000000">
                    <a:lumMod val="85000"/>
                    <a:lumOff val="15000"/>
                  </a:srgbClr>
                </a:solidFill>
                <a:effectLst/>
                <a:uLnTx/>
                <a:uFillTx/>
                <a:latin typeface="Century Gothic" charset="0"/>
                <a:ea typeface="Century Gothic" charset="0"/>
                <a:cs typeface="Century Gothic" charset="0"/>
              </a:rPr>
              <a:t>: </a:t>
            </a:r>
            <a:r>
              <a:rPr kumimoji="0" lang="en-US" sz="1100" b="0" i="0" u="none" strike="noStrike" kern="1200" cap="none" spc="0" normalizeH="0" baseline="0" noProof="0" dirty="0" err="1">
                <a:ln>
                  <a:noFill/>
                </a:ln>
                <a:solidFill>
                  <a:srgbClr val="000000">
                    <a:lumMod val="85000"/>
                    <a:lumOff val="15000"/>
                  </a:srgbClr>
                </a:solidFill>
                <a:effectLst/>
                <a:uLnTx/>
                <a:uFillTx/>
                <a:latin typeface="Century Gothic" charset="0"/>
                <a:ea typeface="Century Gothic" charset="0"/>
                <a:cs typeface="Century Gothic" charset="0"/>
              </a:rPr>
              <a:t>BioInnovate</a:t>
            </a:r>
            <a:r>
              <a:rPr kumimoji="0" lang="en-US" sz="1100" b="0" i="0" u="none" strike="noStrike" kern="1200" cap="none" spc="0" normalizeH="0" baseline="0" noProof="0" dirty="0">
                <a:ln>
                  <a:noFill/>
                </a:ln>
                <a:solidFill>
                  <a:srgbClr val="000000">
                    <a:lumMod val="85000"/>
                    <a:lumOff val="15000"/>
                  </a:srgbClr>
                </a:solidFill>
                <a:effectLst/>
                <a:uLnTx/>
                <a:uFillTx/>
                <a:latin typeface="Century Gothic" charset="0"/>
                <a:ea typeface="Century Gothic" charset="0"/>
                <a:cs typeface="Century Gothic" charset="0"/>
              </a:rPr>
              <a:t> Ireland Fellowship: innovating tomorrow’s medical devices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lumMod val="85000"/>
                  <a:lumOff val="15000"/>
                </a:srgbClr>
              </a:solidFill>
              <a:effectLst/>
              <a:uLnTx/>
              <a:uFillTx/>
              <a:latin typeface="Century Gothic" charset="0"/>
              <a:ea typeface="Century Gothic" charset="0"/>
              <a:cs typeface="Century Gothic" charset="0"/>
            </a:endParaRPr>
          </a:p>
        </p:txBody>
      </p:sp>
    </p:spTree>
    <p:extLst>
      <p:ext uri="{BB962C8B-B14F-4D97-AF65-F5344CB8AC3E}">
        <p14:creationId xmlns:p14="http://schemas.microsoft.com/office/powerpoint/2010/main" val="347585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47" presetClass="exit" presetSubtype="0" fill="hold" grpId="1" nodeType="clickEffect">
                                  <p:stCondLst>
                                    <p:cond delay="0"/>
                                  </p:stCondLst>
                                  <p:childTnLst>
                                    <p:animEffect transition="out" filter="fade">
                                      <p:cBhvr>
                                        <p:cTn id="25" dur="1000"/>
                                        <p:tgtEl>
                                          <p:spTgt spid="10"/>
                                        </p:tgtEl>
                                      </p:cBhvr>
                                    </p:animEffect>
                                    <p:anim calcmode="lin" valueType="num">
                                      <p:cBhvr>
                                        <p:cTn id="26" dur="1000"/>
                                        <p:tgtEl>
                                          <p:spTgt spid="10"/>
                                        </p:tgtEl>
                                        <p:attrNameLst>
                                          <p:attrName>ppt_x</p:attrName>
                                        </p:attrNameLst>
                                      </p:cBhvr>
                                      <p:tavLst>
                                        <p:tav tm="0">
                                          <p:val>
                                            <p:strVal val="ppt_x"/>
                                          </p:val>
                                        </p:tav>
                                        <p:tav tm="100000">
                                          <p:val>
                                            <p:strVal val="ppt_x"/>
                                          </p:val>
                                        </p:tav>
                                      </p:tavLst>
                                    </p:anim>
                                    <p:anim calcmode="lin" valueType="num">
                                      <p:cBhvr>
                                        <p:cTn id="27" dur="1000"/>
                                        <p:tgtEl>
                                          <p:spTgt spid="10"/>
                                        </p:tgtEl>
                                        <p:attrNameLst>
                                          <p:attrName>ppt_y</p:attrName>
                                        </p:attrNameLst>
                                      </p:cBhvr>
                                      <p:tavLst>
                                        <p:tav tm="0">
                                          <p:val>
                                            <p:strVal val="ppt_y"/>
                                          </p:val>
                                        </p:tav>
                                        <p:tav tm="100000">
                                          <p:val>
                                            <p:strVal val="ppt_y-.1"/>
                                          </p:val>
                                        </p:tav>
                                      </p:tavLst>
                                    </p:anim>
                                    <p:set>
                                      <p:cBhvr>
                                        <p:cTn id="28" dur="1" fill="hold">
                                          <p:stCondLst>
                                            <p:cond delay="999"/>
                                          </p:stCondLst>
                                        </p:cTn>
                                        <p:tgtEl>
                                          <p:spTgt spid="10"/>
                                        </p:tgtEl>
                                        <p:attrNameLst>
                                          <p:attrName>style.visibility</p:attrName>
                                        </p:attrNameLst>
                                      </p:cBhvr>
                                      <p:to>
                                        <p:strVal val="hidden"/>
                                      </p:to>
                                    </p:set>
                                  </p:childTnLst>
                                </p:cTn>
                              </p:par>
                              <p:par>
                                <p:cTn id="29" presetID="47" presetClass="exit" presetSubtype="0" fill="hold" grpId="1" nodeType="withEffect">
                                  <p:stCondLst>
                                    <p:cond delay="0"/>
                                  </p:stCondLst>
                                  <p:childTnLst>
                                    <p:animEffect transition="out" filter="fade">
                                      <p:cBhvr>
                                        <p:cTn id="30" dur="1000"/>
                                        <p:tgtEl>
                                          <p:spTgt spid="11"/>
                                        </p:tgtEl>
                                      </p:cBhvr>
                                    </p:animEffect>
                                    <p:anim calcmode="lin" valueType="num">
                                      <p:cBhvr>
                                        <p:cTn id="31" dur="1000"/>
                                        <p:tgtEl>
                                          <p:spTgt spid="11"/>
                                        </p:tgtEl>
                                        <p:attrNameLst>
                                          <p:attrName>ppt_x</p:attrName>
                                        </p:attrNameLst>
                                      </p:cBhvr>
                                      <p:tavLst>
                                        <p:tav tm="0">
                                          <p:val>
                                            <p:strVal val="ppt_x"/>
                                          </p:val>
                                        </p:tav>
                                        <p:tav tm="100000">
                                          <p:val>
                                            <p:strVal val="ppt_x"/>
                                          </p:val>
                                        </p:tav>
                                      </p:tavLst>
                                    </p:anim>
                                    <p:anim calcmode="lin" valueType="num">
                                      <p:cBhvr>
                                        <p:cTn id="32" dur="1000"/>
                                        <p:tgtEl>
                                          <p:spTgt spid="11"/>
                                        </p:tgtEl>
                                        <p:attrNameLst>
                                          <p:attrName>ppt_y</p:attrName>
                                        </p:attrNameLst>
                                      </p:cBhvr>
                                      <p:tavLst>
                                        <p:tav tm="0">
                                          <p:val>
                                            <p:strVal val="ppt_y"/>
                                          </p:val>
                                        </p:tav>
                                        <p:tav tm="100000">
                                          <p:val>
                                            <p:strVal val="ppt_y-.1"/>
                                          </p:val>
                                        </p:tav>
                                      </p:tavLst>
                                    </p:anim>
                                    <p:set>
                                      <p:cBhvr>
                                        <p:cTn id="33" dur="1" fill="hold">
                                          <p:stCondLst>
                                            <p:cond delay="999"/>
                                          </p:stCondLst>
                                        </p:cTn>
                                        <p:tgtEl>
                                          <p:spTgt spid="11"/>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17"/>
                                        </p:tgtEl>
                                        <p:attrNameLst>
                                          <p:attrName>style.visibility</p:attrName>
                                        </p:attrNameLst>
                                      </p:cBhvr>
                                      <p:to>
                                        <p:strVal val="hidden"/>
                                      </p:to>
                                    </p:set>
                                  </p:childTnLst>
                                </p:cTn>
                              </p:par>
                              <p:par>
                                <p:cTn id="36" presetID="1" presetClass="exit" presetSubtype="0" fill="hold" grpId="1" nodeType="withEffect">
                                  <p:stCondLst>
                                    <p:cond delay="0"/>
                                  </p:stCondLst>
                                  <p:childTnLst>
                                    <p:set>
                                      <p:cBhvr>
                                        <p:cTn id="37" dur="1" fill="hold">
                                          <p:stCondLst>
                                            <p:cond delay="0"/>
                                          </p:stCondLst>
                                        </p:cTn>
                                        <p:tgtEl>
                                          <p:spTgt spid="18"/>
                                        </p:tgtEl>
                                        <p:attrNameLst>
                                          <p:attrName>style.visibility</p:attrName>
                                        </p:attrNameLst>
                                      </p:cBhvr>
                                      <p:to>
                                        <p:strVal val="hidden"/>
                                      </p:to>
                                    </p:set>
                                  </p:childTnLst>
                                </p:cTn>
                              </p:par>
                              <p:par>
                                <p:cTn id="38" presetID="42" presetClass="entr" presetSubtype="0" fill="hold" grpId="1"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1000"/>
                                        <p:tgtEl>
                                          <p:spTgt spid="3"/>
                                        </p:tgtEl>
                                      </p:cBhvr>
                                    </p:animEffect>
                                    <p:anim calcmode="lin" valueType="num">
                                      <p:cBhvr>
                                        <p:cTn id="41" dur="1000" fill="hold"/>
                                        <p:tgtEl>
                                          <p:spTgt spid="3"/>
                                        </p:tgtEl>
                                        <p:attrNameLst>
                                          <p:attrName>ppt_x</p:attrName>
                                        </p:attrNameLst>
                                      </p:cBhvr>
                                      <p:tavLst>
                                        <p:tav tm="0">
                                          <p:val>
                                            <p:strVal val="#ppt_x"/>
                                          </p:val>
                                        </p:tav>
                                        <p:tav tm="100000">
                                          <p:val>
                                            <p:strVal val="#ppt_x"/>
                                          </p:val>
                                        </p:tav>
                                      </p:tavLst>
                                    </p:anim>
                                    <p:anim calcmode="lin" valueType="num">
                                      <p:cBhvr>
                                        <p:cTn id="42" dur="1000" fill="hold"/>
                                        <p:tgtEl>
                                          <p:spTgt spid="3"/>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42" presetClass="entr" presetSubtype="0" fill="hold" grpId="1"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000"/>
                                        <p:tgtEl>
                                          <p:spTgt spid="9"/>
                                        </p:tgtEl>
                                      </p:cBhvr>
                                    </p:animEffect>
                                    <p:anim calcmode="lin" valueType="num">
                                      <p:cBhvr>
                                        <p:cTn id="47" dur="1000" fill="hold"/>
                                        <p:tgtEl>
                                          <p:spTgt spid="9"/>
                                        </p:tgtEl>
                                        <p:attrNameLst>
                                          <p:attrName>ppt_x</p:attrName>
                                        </p:attrNameLst>
                                      </p:cBhvr>
                                      <p:tavLst>
                                        <p:tav tm="0">
                                          <p:val>
                                            <p:strVal val="#ppt_x"/>
                                          </p:val>
                                        </p:tav>
                                        <p:tav tm="100000">
                                          <p:val>
                                            <p:strVal val="#ppt_x"/>
                                          </p:val>
                                        </p:tav>
                                      </p:tavLst>
                                    </p:anim>
                                    <p:anim calcmode="lin" valueType="num">
                                      <p:cBhvr>
                                        <p:cTn id="48" dur="1000" fill="hold"/>
                                        <p:tgtEl>
                                          <p:spTgt spid="9"/>
                                        </p:tgtEl>
                                        <p:attrNameLst>
                                          <p:attrName>ppt_y</p:attrName>
                                        </p:attrNameLst>
                                      </p:cBhvr>
                                      <p:tavLst>
                                        <p:tav tm="0">
                                          <p:val>
                                            <p:strVal val="#ppt_y+.1"/>
                                          </p:val>
                                        </p:tav>
                                        <p:tav tm="100000">
                                          <p:val>
                                            <p:strVal val="#ppt_y"/>
                                          </p:val>
                                        </p:tav>
                                      </p:tavLst>
                                    </p:anim>
                                  </p:childTnLst>
                                </p:cTn>
                              </p:par>
                              <p:par>
                                <p:cTn id="49" presetID="10" presetClass="entr" presetSubtype="0" fill="hold" nodeType="with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fade">
                                      <p:cBhvr>
                                        <p:cTn id="51" dur="500"/>
                                        <p:tgtEl>
                                          <p:spTgt spid="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47" presetClass="exit" presetSubtype="0" fill="hold" grpId="0" nodeType="clickEffect">
                                  <p:stCondLst>
                                    <p:cond delay="0"/>
                                  </p:stCondLst>
                                  <p:childTnLst>
                                    <p:animEffect transition="out" filter="fade">
                                      <p:cBhvr>
                                        <p:cTn id="58" dur="1000"/>
                                        <p:tgtEl>
                                          <p:spTgt spid="3"/>
                                        </p:tgtEl>
                                      </p:cBhvr>
                                    </p:animEffect>
                                    <p:anim calcmode="lin" valueType="num">
                                      <p:cBhvr>
                                        <p:cTn id="59" dur="1000"/>
                                        <p:tgtEl>
                                          <p:spTgt spid="3"/>
                                        </p:tgtEl>
                                        <p:attrNameLst>
                                          <p:attrName>ppt_x</p:attrName>
                                        </p:attrNameLst>
                                      </p:cBhvr>
                                      <p:tavLst>
                                        <p:tav tm="0">
                                          <p:val>
                                            <p:strVal val="ppt_x"/>
                                          </p:val>
                                        </p:tav>
                                        <p:tav tm="100000">
                                          <p:val>
                                            <p:strVal val="ppt_x"/>
                                          </p:val>
                                        </p:tav>
                                      </p:tavLst>
                                    </p:anim>
                                    <p:anim calcmode="lin" valueType="num">
                                      <p:cBhvr>
                                        <p:cTn id="60" dur="1000"/>
                                        <p:tgtEl>
                                          <p:spTgt spid="3"/>
                                        </p:tgtEl>
                                        <p:attrNameLst>
                                          <p:attrName>ppt_y</p:attrName>
                                        </p:attrNameLst>
                                      </p:cBhvr>
                                      <p:tavLst>
                                        <p:tav tm="0">
                                          <p:val>
                                            <p:strVal val="ppt_y"/>
                                          </p:val>
                                        </p:tav>
                                        <p:tav tm="100000">
                                          <p:val>
                                            <p:strVal val="ppt_y-.1"/>
                                          </p:val>
                                        </p:tav>
                                      </p:tavLst>
                                    </p:anim>
                                    <p:set>
                                      <p:cBhvr>
                                        <p:cTn id="61" dur="1" fill="hold">
                                          <p:stCondLst>
                                            <p:cond delay="999"/>
                                          </p:stCondLst>
                                        </p:cTn>
                                        <p:tgtEl>
                                          <p:spTgt spid="3"/>
                                        </p:tgtEl>
                                        <p:attrNameLst>
                                          <p:attrName>style.visibility</p:attrName>
                                        </p:attrNameLst>
                                      </p:cBhvr>
                                      <p:to>
                                        <p:strVal val="hidden"/>
                                      </p:to>
                                    </p:set>
                                  </p:childTnLst>
                                </p:cTn>
                              </p:par>
                              <p:par>
                                <p:cTn id="62" presetID="47" presetClass="exit" presetSubtype="0" fill="hold" grpId="0" nodeType="withEffect">
                                  <p:stCondLst>
                                    <p:cond delay="0"/>
                                  </p:stCondLst>
                                  <p:childTnLst>
                                    <p:animEffect transition="out" filter="fade">
                                      <p:cBhvr>
                                        <p:cTn id="63" dur="1000"/>
                                        <p:tgtEl>
                                          <p:spTgt spid="9"/>
                                        </p:tgtEl>
                                      </p:cBhvr>
                                    </p:animEffect>
                                    <p:anim calcmode="lin" valueType="num">
                                      <p:cBhvr>
                                        <p:cTn id="64" dur="1000"/>
                                        <p:tgtEl>
                                          <p:spTgt spid="9"/>
                                        </p:tgtEl>
                                        <p:attrNameLst>
                                          <p:attrName>ppt_x</p:attrName>
                                        </p:attrNameLst>
                                      </p:cBhvr>
                                      <p:tavLst>
                                        <p:tav tm="0">
                                          <p:val>
                                            <p:strVal val="ppt_x"/>
                                          </p:val>
                                        </p:tav>
                                        <p:tav tm="100000">
                                          <p:val>
                                            <p:strVal val="ppt_x"/>
                                          </p:val>
                                        </p:tav>
                                      </p:tavLst>
                                    </p:anim>
                                    <p:anim calcmode="lin" valueType="num">
                                      <p:cBhvr>
                                        <p:cTn id="65" dur="1000"/>
                                        <p:tgtEl>
                                          <p:spTgt spid="9"/>
                                        </p:tgtEl>
                                        <p:attrNameLst>
                                          <p:attrName>ppt_y</p:attrName>
                                        </p:attrNameLst>
                                      </p:cBhvr>
                                      <p:tavLst>
                                        <p:tav tm="0">
                                          <p:val>
                                            <p:strVal val="ppt_y"/>
                                          </p:val>
                                        </p:tav>
                                        <p:tav tm="100000">
                                          <p:val>
                                            <p:strVal val="ppt_y-.1"/>
                                          </p:val>
                                        </p:tav>
                                      </p:tavLst>
                                    </p:anim>
                                    <p:set>
                                      <p:cBhvr>
                                        <p:cTn id="66" dur="1" fill="hold">
                                          <p:stCondLst>
                                            <p:cond delay="999"/>
                                          </p:stCondLst>
                                        </p:cTn>
                                        <p:tgtEl>
                                          <p:spTgt spid="9"/>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14"/>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4"/>
                                        </p:tgtEl>
                                        <p:attrNameLst>
                                          <p:attrName>style.visibility</p:attrName>
                                        </p:attrNameLst>
                                      </p:cBhvr>
                                      <p:to>
                                        <p:strVal val="hidden"/>
                                      </p:to>
                                    </p:set>
                                  </p:childTnLst>
                                </p:cTn>
                              </p:par>
                              <p:par>
                                <p:cTn id="71" presetID="42" presetClass="entr" presetSubtype="0" fill="hold" grpId="0" nodeType="with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fade">
                                      <p:cBhvr>
                                        <p:cTn id="73" dur="1000"/>
                                        <p:tgtEl>
                                          <p:spTgt spid="12"/>
                                        </p:tgtEl>
                                      </p:cBhvr>
                                    </p:animEffect>
                                    <p:anim calcmode="lin" valueType="num">
                                      <p:cBhvr>
                                        <p:cTn id="74" dur="1000" fill="hold"/>
                                        <p:tgtEl>
                                          <p:spTgt spid="12"/>
                                        </p:tgtEl>
                                        <p:attrNameLst>
                                          <p:attrName>ppt_x</p:attrName>
                                        </p:attrNameLst>
                                      </p:cBhvr>
                                      <p:tavLst>
                                        <p:tav tm="0">
                                          <p:val>
                                            <p:strVal val="#ppt_x"/>
                                          </p:val>
                                        </p:tav>
                                        <p:tav tm="100000">
                                          <p:val>
                                            <p:strVal val="#ppt_x"/>
                                          </p:val>
                                        </p:tav>
                                      </p:tavLst>
                                    </p:anim>
                                    <p:anim calcmode="lin" valueType="num">
                                      <p:cBhvr>
                                        <p:cTn id="75" dur="1000" fill="hold"/>
                                        <p:tgtEl>
                                          <p:spTgt spid="12"/>
                                        </p:tgtEl>
                                        <p:attrNameLst>
                                          <p:attrName>ppt_y</p:attrName>
                                        </p:attrNameLst>
                                      </p:cBhvr>
                                      <p:tavLst>
                                        <p:tav tm="0">
                                          <p:val>
                                            <p:strVal val="#ppt_y+.1"/>
                                          </p:val>
                                        </p:tav>
                                        <p:tav tm="100000">
                                          <p:val>
                                            <p:strVal val="#ppt_y"/>
                                          </p:val>
                                        </p:tav>
                                      </p:tavLst>
                                    </p:anim>
                                  </p:childTnLst>
                                </p:cTn>
                              </p:par>
                            </p:childTnLst>
                          </p:cTn>
                        </p:par>
                        <p:par>
                          <p:cTn id="76" fill="hold">
                            <p:stCondLst>
                              <p:cond delay="1000"/>
                            </p:stCondLst>
                            <p:childTnLst>
                              <p:par>
                                <p:cTn id="77" presetID="42" presetClass="entr" presetSubtype="0" fill="hold" grpId="0" nodeType="after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1000"/>
                                        <p:tgtEl>
                                          <p:spTgt spid="13"/>
                                        </p:tgtEl>
                                      </p:cBhvr>
                                    </p:animEffect>
                                    <p:anim calcmode="lin" valueType="num">
                                      <p:cBhvr>
                                        <p:cTn id="80" dur="1000" fill="hold"/>
                                        <p:tgtEl>
                                          <p:spTgt spid="13"/>
                                        </p:tgtEl>
                                        <p:attrNameLst>
                                          <p:attrName>ppt_x</p:attrName>
                                        </p:attrNameLst>
                                      </p:cBhvr>
                                      <p:tavLst>
                                        <p:tav tm="0">
                                          <p:val>
                                            <p:strVal val="#ppt_x"/>
                                          </p:val>
                                        </p:tav>
                                        <p:tav tm="100000">
                                          <p:val>
                                            <p:strVal val="#ppt_x"/>
                                          </p:val>
                                        </p:tav>
                                      </p:tavLst>
                                    </p:anim>
                                    <p:anim calcmode="lin" valueType="num">
                                      <p:cBhvr>
                                        <p:cTn id="81" dur="1000" fill="hold"/>
                                        <p:tgtEl>
                                          <p:spTgt spid="13"/>
                                        </p:tgtEl>
                                        <p:attrNameLst>
                                          <p:attrName>ppt_y</p:attrName>
                                        </p:attrNameLst>
                                      </p:cBhvr>
                                      <p:tavLst>
                                        <p:tav tm="0">
                                          <p:val>
                                            <p:strVal val="#ppt_y+.1"/>
                                          </p:val>
                                        </p:tav>
                                        <p:tav tm="100000">
                                          <p:val>
                                            <p:strVal val="#ppt_y"/>
                                          </p:val>
                                        </p:tav>
                                      </p:tavLst>
                                    </p:anim>
                                  </p:childTnLst>
                                </p:cTn>
                              </p:par>
                              <p:par>
                                <p:cTn id="82" presetID="10" presetClass="entr" presetSubtype="0" fill="hold" grpId="0" nodeType="with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500"/>
                                        <p:tgtEl>
                                          <p:spTgt spid="20"/>
                                        </p:tgtEl>
                                      </p:cBhvr>
                                    </p:animEffect>
                                  </p:childTnLst>
                                </p:cTn>
                              </p:par>
                              <p:par>
                                <p:cTn id="85" presetID="10" presetClass="entr" presetSubtype="0" fill="hold" nodeType="with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2" grpId="0"/>
      <p:bldP spid="3" grpId="0"/>
      <p:bldP spid="3" grpId="1"/>
      <p:bldP spid="9" grpId="0"/>
      <p:bldP spid="9" grpId="1"/>
      <p:bldP spid="11" grpId="0"/>
      <p:bldP spid="11" grpId="1"/>
      <p:bldP spid="13" grpId="0"/>
      <p:bldP spid="14" grpId="0"/>
      <p:bldP spid="14" grpId="1"/>
      <p:bldP spid="18" grpId="0"/>
      <p:bldP spid="18" grpId="1"/>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030AE1-6751-9545-9AE7-4CD6E11CE8A4}"/>
              </a:ext>
            </a:extLst>
          </p:cNvPr>
          <p:cNvSpPr>
            <a:spLocks noGrp="1"/>
          </p:cNvSpPr>
          <p:nvPr>
            <p:ph type="title"/>
          </p:nvPr>
        </p:nvSpPr>
        <p:spPr>
          <a:xfrm>
            <a:off x="0" y="3162300"/>
            <a:ext cx="9144000" cy="533400"/>
          </a:xfrm>
        </p:spPr>
        <p:txBody>
          <a:bodyPr/>
          <a:lstStyle/>
          <a:p>
            <a:r>
              <a:rPr lang="en-US" dirty="0"/>
              <a:t>Natural language is natural for </a:t>
            </a:r>
            <a:r>
              <a:rPr lang="en-US" dirty="0">
                <a:solidFill>
                  <a:srgbClr val="C17A90"/>
                </a:solidFill>
              </a:rPr>
              <a:t>humans</a:t>
            </a:r>
          </a:p>
        </p:txBody>
      </p:sp>
    </p:spTree>
    <p:extLst>
      <p:ext uri="{BB962C8B-B14F-4D97-AF65-F5344CB8AC3E}">
        <p14:creationId xmlns:p14="http://schemas.microsoft.com/office/powerpoint/2010/main" val="1116501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030AE1-6751-9545-9AE7-4CD6E11CE8A4}"/>
              </a:ext>
            </a:extLst>
          </p:cNvPr>
          <p:cNvSpPr>
            <a:spLocks noGrp="1"/>
          </p:cNvSpPr>
          <p:nvPr>
            <p:ph type="title"/>
          </p:nvPr>
        </p:nvSpPr>
        <p:spPr>
          <a:xfrm>
            <a:off x="-152400" y="3162300"/>
            <a:ext cx="9448800" cy="533400"/>
          </a:xfrm>
        </p:spPr>
        <p:txBody>
          <a:bodyPr/>
          <a:lstStyle/>
          <a:p>
            <a:r>
              <a:rPr lang="en-US" dirty="0"/>
              <a:t>Natural language is </a:t>
            </a:r>
            <a:r>
              <a:rPr lang="en-US" dirty="0">
                <a:solidFill>
                  <a:srgbClr val="C17A90"/>
                </a:solidFill>
              </a:rPr>
              <a:t>not</a:t>
            </a:r>
            <a:r>
              <a:rPr lang="en-US" dirty="0"/>
              <a:t> natural for </a:t>
            </a:r>
            <a:r>
              <a:rPr lang="en-US" dirty="0">
                <a:solidFill>
                  <a:srgbClr val="C17A90"/>
                </a:solidFill>
              </a:rPr>
              <a:t>computers</a:t>
            </a:r>
          </a:p>
        </p:txBody>
      </p:sp>
    </p:spTree>
    <p:extLst>
      <p:ext uri="{BB962C8B-B14F-4D97-AF65-F5344CB8AC3E}">
        <p14:creationId xmlns:p14="http://schemas.microsoft.com/office/powerpoint/2010/main" val="1951576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534400" cy="4038600"/>
          </a:xfrm>
        </p:spPr>
        <p:txBody>
          <a:bodyPr/>
          <a:lstStyle/>
          <a:p>
            <a:pPr marL="0" indent="0">
              <a:lnSpc>
                <a:spcPct val="200000"/>
              </a:lnSpc>
              <a:buNone/>
            </a:pPr>
            <a:r>
              <a:rPr lang="en-US" sz="2000" b="1" i="1" dirty="0"/>
              <a:t>Public Radio International (1998/02/13 Friday)</a:t>
            </a:r>
          </a:p>
          <a:p>
            <a:pPr marL="0" indent="0">
              <a:lnSpc>
                <a:spcPct val="200000"/>
              </a:lnSpc>
              <a:buNone/>
            </a:pPr>
            <a:r>
              <a:rPr lang="en-US" sz="2000" dirty="0"/>
              <a:t>In Los Angeles that lesson was brought home Friday when tons of earth cascaded down a hillside, ripping two houses from their foundations. No one was hurt, but firefighters ordered the evacuation of nearby homes and said they'll monitor the shifting ground until March 23</a:t>
            </a:r>
            <a:r>
              <a:rPr lang="en-US" sz="2000" baseline="30000" dirty="0"/>
              <a:t>rd</a:t>
            </a:r>
            <a:r>
              <a:rPr lang="en-US" sz="2000" dirty="0"/>
              <a:t>.</a:t>
            </a:r>
          </a:p>
        </p:txBody>
      </p:sp>
      <p:sp>
        <p:nvSpPr>
          <p:cNvPr id="52" name="Title 1">
            <a:extLst>
              <a:ext uri="{FF2B5EF4-FFF2-40B4-BE49-F238E27FC236}">
                <a16:creationId xmlns:a16="http://schemas.microsoft.com/office/drawing/2014/main" xmlns="" id="{A1C9E7F4-E30C-B24C-BA27-35E162585019}"/>
              </a:ext>
            </a:extLst>
          </p:cNvPr>
          <p:cNvSpPr>
            <a:spLocks noGrp="1"/>
          </p:cNvSpPr>
          <p:nvPr>
            <p:ph type="title"/>
          </p:nvPr>
        </p:nvSpPr>
        <p:spPr>
          <a:xfrm>
            <a:off x="0" y="0"/>
            <a:ext cx="9448800" cy="533400"/>
          </a:xfrm>
        </p:spPr>
        <p:txBody>
          <a:bodyPr/>
          <a:lstStyle/>
          <a:p>
            <a:r>
              <a:rPr lang="en-US" dirty="0"/>
              <a:t>Natural language is </a:t>
            </a:r>
            <a:r>
              <a:rPr lang="en-US" dirty="0">
                <a:solidFill>
                  <a:srgbClr val="C17A90"/>
                </a:solidFill>
              </a:rPr>
              <a:t>not</a:t>
            </a:r>
            <a:r>
              <a:rPr lang="en-US" dirty="0"/>
              <a:t> natural for </a:t>
            </a:r>
            <a:r>
              <a:rPr lang="en-US" dirty="0">
                <a:solidFill>
                  <a:srgbClr val="C17A90"/>
                </a:solidFill>
              </a:rPr>
              <a:t>computers</a:t>
            </a:r>
          </a:p>
        </p:txBody>
      </p:sp>
      <p:sp>
        <p:nvSpPr>
          <p:cNvPr id="8" name="Rounded Rectangle 7">
            <a:extLst>
              <a:ext uri="{FF2B5EF4-FFF2-40B4-BE49-F238E27FC236}">
                <a16:creationId xmlns:a16="http://schemas.microsoft.com/office/drawing/2014/main" xmlns="" id="{16633DCF-1E6C-C04F-8508-8BE3308C84B2}"/>
              </a:ext>
            </a:extLst>
          </p:cNvPr>
          <p:cNvSpPr/>
          <p:nvPr/>
        </p:nvSpPr>
        <p:spPr>
          <a:xfrm>
            <a:off x="5181602" y="2057399"/>
            <a:ext cx="838200" cy="462987"/>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xmlns="" id="{08A866E6-EFFE-9B47-970C-4CD32D858CF7}"/>
              </a:ext>
            </a:extLst>
          </p:cNvPr>
          <p:cNvSpPr/>
          <p:nvPr/>
        </p:nvSpPr>
        <p:spPr>
          <a:xfrm>
            <a:off x="3200400" y="3859192"/>
            <a:ext cx="914400" cy="487102"/>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a:extLst>
              <a:ext uri="{FF2B5EF4-FFF2-40B4-BE49-F238E27FC236}">
                <a16:creationId xmlns:a16="http://schemas.microsoft.com/office/drawing/2014/main" xmlns="" id="{AE940E84-698E-1D4C-B449-11802F596241}"/>
              </a:ext>
            </a:extLst>
          </p:cNvPr>
          <p:cNvSpPr/>
          <p:nvPr/>
        </p:nvSpPr>
        <p:spPr>
          <a:xfrm>
            <a:off x="1981200" y="4437926"/>
            <a:ext cx="1371600" cy="517967"/>
          </a:xfrm>
          <a:prstGeom prst="roundRect">
            <a:avLst/>
          </a:prstGeom>
          <a:noFill/>
          <a:ln w="38100">
            <a:solidFill>
              <a:srgbClr val="6881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ounded Rectangle 56">
            <a:extLst>
              <a:ext uri="{FF2B5EF4-FFF2-40B4-BE49-F238E27FC236}">
                <a16:creationId xmlns:a16="http://schemas.microsoft.com/office/drawing/2014/main" xmlns="" id="{7A55E6D1-981D-A04E-B54C-2AAED620E991}"/>
              </a:ext>
            </a:extLst>
          </p:cNvPr>
          <p:cNvSpPr/>
          <p:nvPr/>
        </p:nvSpPr>
        <p:spPr>
          <a:xfrm>
            <a:off x="5225970" y="3893916"/>
            <a:ext cx="565232" cy="441541"/>
          </a:xfrm>
          <a:prstGeom prst="roundRect">
            <a:avLst/>
          </a:prstGeom>
          <a:noFill/>
          <a:ln w="38100">
            <a:solidFill>
              <a:srgbClr val="757D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ounded Rectangle 57">
            <a:extLst>
              <a:ext uri="{FF2B5EF4-FFF2-40B4-BE49-F238E27FC236}">
                <a16:creationId xmlns:a16="http://schemas.microsoft.com/office/drawing/2014/main" xmlns="" id="{C9FECEC8-CBD0-0A41-A110-02CC31A99200}"/>
              </a:ext>
            </a:extLst>
          </p:cNvPr>
          <p:cNvSpPr/>
          <p:nvPr/>
        </p:nvSpPr>
        <p:spPr>
          <a:xfrm>
            <a:off x="457200" y="2655425"/>
            <a:ext cx="2054505" cy="533400"/>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ounded Rectangle 58">
            <a:extLst>
              <a:ext uri="{FF2B5EF4-FFF2-40B4-BE49-F238E27FC236}">
                <a16:creationId xmlns:a16="http://schemas.microsoft.com/office/drawing/2014/main" xmlns="" id="{4955F000-BB71-5743-AACB-67C9DCE7DC05}"/>
              </a:ext>
            </a:extLst>
          </p:cNvPr>
          <p:cNvSpPr/>
          <p:nvPr/>
        </p:nvSpPr>
        <p:spPr>
          <a:xfrm>
            <a:off x="7494609" y="3859192"/>
            <a:ext cx="887392" cy="533400"/>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ounded Rectangle 59">
            <a:extLst>
              <a:ext uri="{FF2B5EF4-FFF2-40B4-BE49-F238E27FC236}">
                <a16:creationId xmlns:a16="http://schemas.microsoft.com/office/drawing/2014/main" xmlns="" id="{6B539AC9-7C4F-C048-9CA0-DBE0E364B644}"/>
              </a:ext>
            </a:extLst>
          </p:cNvPr>
          <p:cNvSpPr/>
          <p:nvPr/>
        </p:nvSpPr>
        <p:spPr>
          <a:xfrm>
            <a:off x="422477" y="4437927"/>
            <a:ext cx="949124" cy="533400"/>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xmlns="" id="{C6225061-A074-EB48-98B9-344CC39F254A}"/>
              </a:ext>
            </a:extLst>
          </p:cNvPr>
          <p:cNvSpPr txBox="1"/>
          <p:nvPr/>
        </p:nvSpPr>
        <p:spPr>
          <a:xfrm>
            <a:off x="3425390" y="4439627"/>
            <a:ext cx="5197257" cy="369332"/>
          </a:xfrm>
          <a:prstGeom prst="rect">
            <a:avLst/>
          </a:prstGeom>
          <a:noFill/>
        </p:spPr>
        <p:txBody>
          <a:bodyPr wrap="none" rtlCol="0">
            <a:spAutoFit/>
          </a:bodyPr>
          <a:lstStyle/>
          <a:p>
            <a:r>
              <a:rPr lang="en-US" dirty="0">
                <a:solidFill>
                  <a:srgbClr val="C17A90"/>
                </a:solidFill>
                <a:latin typeface="Century Gothic" panose="020B0502020202020204" pitchFamily="34" charset="0"/>
              </a:rPr>
              <a:t>Plural form of “home” as in “brought home”?</a:t>
            </a:r>
          </a:p>
        </p:txBody>
      </p:sp>
      <p:sp>
        <p:nvSpPr>
          <p:cNvPr id="62" name="TextBox 61">
            <a:extLst>
              <a:ext uri="{FF2B5EF4-FFF2-40B4-BE49-F238E27FC236}">
                <a16:creationId xmlns:a16="http://schemas.microsoft.com/office/drawing/2014/main" xmlns="" id="{91C9A096-EC8A-C543-9843-B6D9172D4F8C}"/>
              </a:ext>
            </a:extLst>
          </p:cNvPr>
          <p:cNvSpPr txBox="1"/>
          <p:nvPr/>
        </p:nvSpPr>
        <p:spPr>
          <a:xfrm>
            <a:off x="2174111" y="4992638"/>
            <a:ext cx="3988592" cy="369332"/>
          </a:xfrm>
          <a:prstGeom prst="rect">
            <a:avLst/>
          </a:prstGeom>
          <a:noFill/>
        </p:spPr>
        <p:txBody>
          <a:bodyPr wrap="none" rtlCol="0">
            <a:spAutoFit/>
          </a:bodyPr>
          <a:lstStyle/>
          <a:p>
            <a:r>
              <a:rPr lang="en-US" dirty="0">
                <a:solidFill>
                  <a:srgbClr val="6881B4"/>
                </a:solidFill>
                <a:latin typeface="Century Gothic" panose="020B0502020202020204" pitchFamily="34" charset="0"/>
              </a:rPr>
              <a:t>Will they monitor until </a:t>
            </a:r>
            <a:r>
              <a:rPr lang="en-US" b="1" dirty="0">
                <a:solidFill>
                  <a:srgbClr val="6881B4"/>
                </a:solidFill>
                <a:latin typeface="Century Gothic" panose="020B0502020202020204" pitchFamily="34" charset="0"/>
              </a:rPr>
              <a:t>2019/03/23</a:t>
            </a:r>
            <a:r>
              <a:rPr lang="en-US" dirty="0">
                <a:solidFill>
                  <a:srgbClr val="6881B4"/>
                </a:solidFill>
                <a:latin typeface="Century Gothic" panose="020B0502020202020204" pitchFamily="34" charset="0"/>
              </a:rPr>
              <a:t>?</a:t>
            </a:r>
          </a:p>
        </p:txBody>
      </p:sp>
      <p:sp>
        <p:nvSpPr>
          <p:cNvPr id="63" name="TextBox 62">
            <a:extLst>
              <a:ext uri="{FF2B5EF4-FFF2-40B4-BE49-F238E27FC236}">
                <a16:creationId xmlns:a16="http://schemas.microsoft.com/office/drawing/2014/main" xmlns="" id="{B8755574-3FE7-494C-ACB1-CBF22D65C53E}"/>
              </a:ext>
            </a:extLst>
          </p:cNvPr>
          <p:cNvSpPr txBox="1"/>
          <p:nvPr/>
        </p:nvSpPr>
        <p:spPr>
          <a:xfrm>
            <a:off x="5600702" y="3573342"/>
            <a:ext cx="3674404" cy="369332"/>
          </a:xfrm>
          <a:prstGeom prst="rect">
            <a:avLst/>
          </a:prstGeom>
          <a:noFill/>
        </p:spPr>
        <p:txBody>
          <a:bodyPr wrap="none" rtlCol="0">
            <a:spAutoFit/>
          </a:bodyPr>
          <a:lstStyle/>
          <a:p>
            <a:r>
              <a:rPr lang="en-US" dirty="0">
                <a:solidFill>
                  <a:srgbClr val="757D78"/>
                </a:solidFill>
                <a:latin typeface="Century Gothic" panose="020B0502020202020204" pitchFamily="34" charset="0"/>
              </a:rPr>
              <a:t>Who are they? Nearby homes?</a:t>
            </a:r>
          </a:p>
        </p:txBody>
      </p:sp>
      <p:sp>
        <p:nvSpPr>
          <p:cNvPr id="64" name="TextBox 63">
            <a:extLst>
              <a:ext uri="{FF2B5EF4-FFF2-40B4-BE49-F238E27FC236}">
                <a16:creationId xmlns:a16="http://schemas.microsoft.com/office/drawing/2014/main" xmlns="" id="{7F3C7217-4982-1B4B-867B-01A75115F88A}"/>
              </a:ext>
            </a:extLst>
          </p:cNvPr>
          <p:cNvSpPr txBox="1"/>
          <p:nvPr/>
        </p:nvSpPr>
        <p:spPr>
          <a:xfrm>
            <a:off x="385823" y="5113737"/>
            <a:ext cx="824265" cy="369332"/>
          </a:xfrm>
          <a:prstGeom prst="rect">
            <a:avLst/>
          </a:prstGeom>
          <a:noFill/>
        </p:spPr>
        <p:txBody>
          <a:bodyPr wrap="none" rtlCol="0">
            <a:spAutoFit/>
          </a:bodyPr>
          <a:lstStyle/>
          <a:p>
            <a:r>
              <a:rPr lang="en-US" dirty="0">
                <a:solidFill>
                  <a:srgbClr val="666089"/>
                </a:solidFill>
                <a:latin typeface="Century Gothic" panose="020B0502020202020204" pitchFamily="34" charset="0"/>
              </a:rPr>
              <a:t>Same</a:t>
            </a:r>
          </a:p>
        </p:txBody>
      </p:sp>
    </p:spTree>
    <p:extLst>
      <p:ext uri="{BB962C8B-B14F-4D97-AF65-F5344CB8AC3E}">
        <p14:creationId xmlns:p14="http://schemas.microsoft.com/office/powerpoint/2010/main" val="36337275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54"/>
                                        </p:tgtEl>
                                        <p:attrNameLst>
                                          <p:attrName>style.visibility</p:attrName>
                                        </p:attrNameLst>
                                      </p:cBhvr>
                                      <p:to>
                                        <p:strVal val="visible"/>
                                      </p:to>
                                    </p:set>
                                    <p:animEffect transition="in" filter="dissolve">
                                      <p:cBhvr>
                                        <p:cTn id="20" dur="500"/>
                                        <p:tgtEl>
                                          <p:spTgt spid="54"/>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dissolv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xit" presetSubtype="0" fill="hold" grpId="1" nodeType="clickEffect">
                                  <p:stCondLst>
                                    <p:cond delay="0"/>
                                  </p:stCondLst>
                                  <p:childTnLst>
                                    <p:animEffect transition="out" filter="dissolve">
                                      <p:cBhvr>
                                        <p:cTn id="27" dur="500"/>
                                        <p:tgtEl>
                                          <p:spTgt spid="8"/>
                                        </p:tgtEl>
                                      </p:cBhvr>
                                    </p:animEffect>
                                    <p:set>
                                      <p:cBhvr>
                                        <p:cTn id="28" dur="1" fill="hold">
                                          <p:stCondLst>
                                            <p:cond delay="499"/>
                                          </p:stCondLst>
                                        </p:cTn>
                                        <p:tgtEl>
                                          <p:spTgt spid="8"/>
                                        </p:tgtEl>
                                        <p:attrNameLst>
                                          <p:attrName>style.visibility</p:attrName>
                                        </p:attrNameLst>
                                      </p:cBhvr>
                                      <p:to>
                                        <p:strVal val="hidden"/>
                                      </p:to>
                                    </p:set>
                                  </p:childTnLst>
                                </p:cTn>
                              </p:par>
                              <p:par>
                                <p:cTn id="29" presetID="9" presetClass="exit" presetSubtype="0" fill="hold" grpId="1" nodeType="withEffect">
                                  <p:stCondLst>
                                    <p:cond delay="0"/>
                                  </p:stCondLst>
                                  <p:childTnLst>
                                    <p:animEffect transition="out" filter="dissolve">
                                      <p:cBhvr>
                                        <p:cTn id="30" dur="500"/>
                                        <p:tgtEl>
                                          <p:spTgt spid="54"/>
                                        </p:tgtEl>
                                      </p:cBhvr>
                                    </p:animEffect>
                                    <p:set>
                                      <p:cBhvr>
                                        <p:cTn id="31" dur="1" fill="hold">
                                          <p:stCondLst>
                                            <p:cond delay="499"/>
                                          </p:stCondLst>
                                        </p:cTn>
                                        <p:tgtEl>
                                          <p:spTgt spid="54"/>
                                        </p:tgtEl>
                                        <p:attrNameLst>
                                          <p:attrName>style.visibility</p:attrName>
                                        </p:attrNameLst>
                                      </p:cBhvr>
                                      <p:to>
                                        <p:strVal val="hidden"/>
                                      </p:to>
                                    </p:set>
                                  </p:childTnLst>
                                </p:cTn>
                              </p:par>
                              <p:par>
                                <p:cTn id="32" presetID="9" presetClass="exit" presetSubtype="0" fill="hold" grpId="1" nodeType="withEffect">
                                  <p:stCondLst>
                                    <p:cond delay="0"/>
                                  </p:stCondLst>
                                  <p:childTnLst>
                                    <p:animEffect transition="out" filter="dissolve">
                                      <p:cBhvr>
                                        <p:cTn id="33" dur="500"/>
                                        <p:tgtEl>
                                          <p:spTgt spid="10"/>
                                        </p:tgtEl>
                                      </p:cBhvr>
                                    </p:animEffect>
                                    <p:set>
                                      <p:cBhvr>
                                        <p:cTn id="34" dur="1" fill="hold">
                                          <p:stCondLst>
                                            <p:cond delay="499"/>
                                          </p:stCondLst>
                                        </p:cTn>
                                        <p:tgtEl>
                                          <p:spTgt spid="10"/>
                                        </p:tgtEl>
                                        <p:attrNameLst>
                                          <p:attrName>style.visibility</p:attrName>
                                        </p:attrNameLst>
                                      </p:cBhvr>
                                      <p:to>
                                        <p:strVal val="hidden"/>
                                      </p:to>
                                    </p:se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dissolve">
                                      <p:cBhvr>
                                        <p:cTn id="38" dur="500"/>
                                        <p:tgtEl>
                                          <p:spTgt spid="58"/>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dissolve">
                                      <p:cBhvr>
                                        <p:cTn id="41" dur="500"/>
                                        <p:tgtEl>
                                          <p:spTgt spid="59"/>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dissolve">
                                      <p:cBhvr>
                                        <p:cTn id="44" dur="500"/>
                                        <p:tgtEl>
                                          <p:spTgt spid="60"/>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64"/>
                                        </p:tgtEl>
                                        <p:attrNameLst>
                                          <p:attrName>style.visibility</p:attrName>
                                        </p:attrNameLst>
                                      </p:cBhvr>
                                      <p:to>
                                        <p:strVal val="visible"/>
                                      </p:to>
                                    </p:set>
                                    <p:animEffect transition="in" filter="dissolve">
                                      <p:cBhvr>
                                        <p:cTn id="47" dur="500"/>
                                        <p:tgtEl>
                                          <p:spTgt spid="6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xit" presetSubtype="0" fill="hold" grpId="1" nodeType="clickEffect">
                                  <p:stCondLst>
                                    <p:cond delay="0"/>
                                  </p:stCondLst>
                                  <p:childTnLst>
                                    <p:animEffect transition="out" filter="dissolve">
                                      <p:cBhvr>
                                        <p:cTn id="51" dur="500"/>
                                        <p:tgtEl>
                                          <p:spTgt spid="58"/>
                                        </p:tgtEl>
                                      </p:cBhvr>
                                    </p:animEffect>
                                    <p:set>
                                      <p:cBhvr>
                                        <p:cTn id="52" dur="1" fill="hold">
                                          <p:stCondLst>
                                            <p:cond delay="499"/>
                                          </p:stCondLst>
                                        </p:cTn>
                                        <p:tgtEl>
                                          <p:spTgt spid="58"/>
                                        </p:tgtEl>
                                        <p:attrNameLst>
                                          <p:attrName>style.visibility</p:attrName>
                                        </p:attrNameLst>
                                      </p:cBhvr>
                                      <p:to>
                                        <p:strVal val="hidden"/>
                                      </p:to>
                                    </p:set>
                                  </p:childTnLst>
                                </p:cTn>
                              </p:par>
                              <p:par>
                                <p:cTn id="53" presetID="9" presetClass="exit" presetSubtype="0" fill="hold" grpId="1" nodeType="withEffect">
                                  <p:stCondLst>
                                    <p:cond delay="0"/>
                                  </p:stCondLst>
                                  <p:childTnLst>
                                    <p:animEffect transition="out" filter="dissolve">
                                      <p:cBhvr>
                                        <p:cTn id="54" dur="500"/>
                                        <p:tgtEl>
                                          <p:spTgt spid="59"/>
                                        </p:tgtEl>
                                      </p:cBhvr>
                                    </p:animEffect>
                                    <p:set>
                                      <p:cBhvr>
                                        <p:cTn id="55" dur="1" fill="hold">
                                          <p:stCondLst>
                                            <p:cond delay="499"/>
                                          </p:stCondLst>
                                        </p:cTn>
                                        <p:tgtEl>
                                          <p:spTgt spid="59"/>
                                        </p:tgtEl>
                                        <p:attrNameLst>
                                          <p:attrName>style.visibility</p:attrName>
                                        </p:attrNameLst>
                                      </p:cBhvr>
                                      <p:to>
                                        <p:strVal val="hidden"/>
                                      </p:to>
                                    </p:set>
                                  </p:childTnLst>
                                </p:cTn>
                              </p:par>
                              <p:par>
                                <p:cTn id="56" presetID="9" presetClass="exit" presetSubtype="0" fill="hold" grpId="1" nodeType="withEffect">
                                  <p:stCondLst>
                                    <p:cond delay="0"/>
                                  </p:stCondLst>
                                  <p:childTnLst>
                                    <p:animEffect transition="out" filter="dissolve">
                                      <p:cBhvr>
                                        <p:cTn id="57" dur="500"/>
                                        <p:tgtEl>
                                          <p:spTgt spid="60"/>
                                        </p:tgtEl>
                                      </p:cBhvr>
                                    </p:animEffect>
                                    <p:set>
                                      <p:cBhvr>
                                        <p:cTn id="58" dur="1" fill="hold">
                                          <p:stCondLst>
                                            <p:cond delay="499"/>
                                          </p:stCondLst>
                                        </p:cTn>
                                        <p:tgtEl>
                                          <p:spTgt spid="60"/>
                                        </p:tgtEl>
                                        <p:attrNameLst>
                                          <p:attrName>style.visibility</p:attrName>
                                        </p:attrNameLst>
                                      </p:cBhvr>
                                      <p:to>
                                        <p:strVal val="hidden"/>
                                      </p:to>
                                    </p:set>
                                  </p:childTnLst>
                                </p:cTn>
                              </p:par>
                              <p:par>
                                <p:cTn id="59" presetID="9" presetClass="exit" presetSubtype="0" fill="hold" grpId="1" nodeType="withEffect">
                                  <p:stCondLst>
                                    <p:cond delay="0"/>
                                  </p:stCondLst>
                                  <p:childTnLst>
                                    <p:animEffect transition="out" filter="dissolve">
                                      <p:cBhvr>
                                        <p:cTn id="60" dur="500"/>
                                        <p:tgtEl>
                                          <p:spTgt spid="64"/>
                                        </p:tgtEl>
                                      </p:cBhvr>
                                    </p:animEffect>
                                    <p:set>
                                      <p:cBhvr>
                                        <p:cTn id="61" dur="1" fill="hold">
                                          <p:stCondLst>
                                            <p:cond delay="499"/>
                                          </p:stCondLst>
                                        </p:cTn>
                                        <p:tgtEl>
                                          <p:spTgt spid="64"/>
                                        </p:tgtEl>
                                        <p:attrNameLst>
                                          <p:attrName>style.visibility</p:attrName>
                                        </p:attrNameLst>
                                      </p:cBhvr>
                                      <p:to>
                                        <p:strVal val="hidden"/>
                                      </p:to>
                                    </p:se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dissolve">
                                      <p:cBhvr>
                                        <p:cTn id="65" dur="500"/>
                                        <p:tgtEl>
                                          <p:spTgt spid="56"/>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62"/>
                                        </p:tgtEl>
                                        <p:attrNameLst>
                                          <p:attrName>style.visibility</p:attrName>
                                        </p:attrNameLst>
                                      </p:cBhvr>
                                      <p:to>
                                        <p:strVal val="visible"/>
                                      </p:to>
                                    </p:set>
                                    <p:animEffect transition="in" filter="dissolve">
                                      <p:cBhvr>
                                        <p:cTn id="68" dur="500"/>
                                        <p:tgtEl>
                                          <p:spTgt spid="62"/>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xit" presetSubtype="0" fill="hold" grpId="1" nodeType="clickEffect">
                                  <p:stCondLst>
                                    <p:cond delay="0"/>
                                  </p:stCondLst>
                                  <p:childTnLst>
                                    <p:animEffect transition="out" filter="dissolve">
                                      <p:cBhvr>
                                        <p:cTn id="72" dur="500"/>
                                        <p:tgtEl>
                                          <p:spTgt spid="56"/>
                                        </p:tgtEl>
                                      </p:cBhvr>
                                    </p:animEffect>
                                    <p:set>
                                      <p:cBhvr>
                                        <p:cTn id="73" dur="1" fill="hold">
                                          <p:stCondLst>
                                            <p:cond delay="499"/>
                                          </p:stCondLst>
                                        </p:cTn>
                                        <p:tgtEl>
                                          <p:spTgt spid="56"/>
                                        </p:tgtEl>
                                        <p:attrNameLst>
                                          <p:attrName>style.visibility</p:attrName>
                                        </p:attrNameLst>
                                      </p:cBhvr>
                                      <p:to>
                                        <p:strVal val="hidden"/>
                                      </p:to>
                                    </p:set>
                                  </p:childTnLst>
                                </p:cTn>
                              </p:par>
                              <p:par>
                                <p:cTn id="74" presetID="9" presetClass="exit" presetSubtype="0" fill="hold" grpId="1" nodeType="withEffect">
                                  <p:stCondLst>
                                    <p:cond delay="0"/>
                                  </p:stCondLst>
                                  <p:childTnLst>
                                    <p:animEffect transition="out" filter="dissolve">
                                      <p:cBhvr>
                                        <p:cTn id="75" dur="500"/>
                                        <p:tgtEl>
                                          <p:spTgt spid="62"/>
                                        </p:tgtEl>
                                      </p:cBhvr>
                                    </p:animEffect>
                                    <p:set>
                                      <p:cBhvr>
                                        <p:cTn id="76" dur="1" fill="hold">
                                          <p:stCondLst>
                                            <p:cond delay="499"/>
                                          </p:stCondLst>
                                        </p:cTn>
                                        <p:tgtEl>
                                          <p:spTgt spid="62"/>
                                        </p:tgtEl>
                                        <p:attrNameLst>
                                          <p:attrName>style.visibility</p:attrName>
                                        </p:attrNameLst>
                                      </p:cBhvr>
                                      <p:to>
                                        <p:strVal val="hidden"/>
                                      </p:to>
                                    </p:set>
                                  </p:childTnLst>
                                </p:cTn>
                              </p:par>
                            </p:childTnLst>
                          </p:cTn>
                        </p:par>
                        <p:par>
                          <p:cTn id="77" fill="hold">
                            <p:stCondLst>
                              <p:cond delay="500"/>
                            </p:stCondLst>
                            <p:childTnLst>
                              <p:par>
                                <p:cTn id="78" presetID="9" presetClass="entr" presetSubtype="0" fill="hold" grpId="0" nodeType="afterEffect">
                                  <p:stCondLst>
                                    <p:cond delay="0"/>
                                  </p:stCondLst>
                                  <p:childTnLst>
                                    <p:set>
                                      <p:cBhvr>
                                        <p:cTn id="79" dur="1" fill="hold">
                                          <p:stCondLst>
                                            <p:cond delay="0"/>
                                          </p:stCondLst>
                                        </p:cTn>
                                        <p:tgtEl>
                                          <p:spTgt spid="57"/>
                                        </p:tgtEl>
                                        <p:attrNameLst>
                                          <p:attrName>style.visibility</p:attrName>
                                        </p:attrNameLst>
                                      </p:cBhvr>
                                      <p:to>
                                        <p:strVal val="visible"/>
                                      </p:to>
                                    </p:set>
                                    <p:animEffect transition="in" filter="dissolve">
                                      <p:cBhvr>
                                        <p:cTn id="80" dur="500"/>
                                        <p:tgtEl>
                                          <p:spTgt spid="57"/>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63"/>
                                        </p:tgtEl>
                                        <p:attrNameLst>
                                          <p:attrName>style.visibility</p:attrName>
                                        </p:attrNameLst>
                                      </p:cBhvr>
                                      <p:to>
                                        <p:strVal val="visible"/>
                                      </p:to>
                                    </p:set>
                                    <p:animEffect transition="in" filter="dissolve">
                                      <p:cBhvr>
                                        <p:cTn id="83"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P spid="8" grpId="1" animBg="1"/>
      <p:bldP spid="54" grpId="0" animBg="1"/>
      <p:bldP spid="54" grpId="1" animBg="1"/>
      <p:bldP spid="56" grpId="0" animBg="1"/>
      <p:bldP spid="56" grpId="1" animBg="1"/>
      <p:bldP spid="57" grpId="0" animBg="1"/>
      <p:bldP spid="58" grpId="0" animBg="1"/>
      <p:bldP spid="58" grpId="1" animBg="1"/>
      <p:bldP spid="59" grpId="0" animBg="1"/>
      <p:bldP spid="59" grpId="1" animBg="1"/>
      <p:bldP spid="60" grpId="0" animBg="1"/>
      <p:bldP spid="60" grpId="1" animBg="1"/>
      <p:bldP spid="10" grpId="0"/>
      <p:bldP spid="10" grpId="1"/>
      <p:bldP spid="62" grpId="0"/>
      <p:bldP spid="62" grpId="1"/>
      <p:bldP spid="63" grpId="0"/>
      <p:bldP spid="64" grpId="0"/>
      <p:bldP spid="64"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534400" cy="4038600"/>
          </a:xfrm>
        </p:spPr>
        <p:txBody>
          <a:bodyPr/>
          <a:lstStyle/>
          <a:p>
            <a:pPr marL="0" indent="0">
              <a:lnSpc>
                <a:spcPct val="200000"/>
              </a:lnSpc>
              <a:buNone/>
            </a:pPr>
            <a:r>
              <a:rPr lang="en-US" sz="2000" b="1" i="1" dirty="0"/>
              <a:t>Public Radio International (1998/02/13 Friday)</a:t>
            </a:r>
          </a:p>
          <a:p>
            <a:pPr marL="0" indent="0">
              <a:lnSpc>
                <a:spcPct val="200000"/>
              </a:lnSpc>
              <a:buNone/>
            </a:pPr>
            <a:r>
              <a:rPr lang="en-US" sz="2000" dirty="0"/>
              <a:t>In Los Angeles that lesson was brought home Friday when tons of earth cascaded down a hillside, ripping two houses from their foundations. No one was hurt, but firefighters ordered the evacuation of nearby homes and said they'll monitor the shifting ground until March 23</a:t>
            </a:r>
            <a:r>
              <a:rPr lang="en-US" sz="2000" baseline="30000" dirty="0"/>
              <a:t>rd</a:t>
            </a:r>
            <a:r>
              <a:rPr lang="en-US" sz="2000" dirty="0"/>
              <a:t>.</a:t>
            </a:r>
          </a:p>
        </p:txBody>
      </p:sp>
      <p:sp>
        <p:nvSpPr>
          <p:cNvPr id="52" name="Title 1">
            <a:extLst>
              <a:ext uri="{FF2B5EF4-FFF2-40B4-BE49-F238E27FC236}">
                <a16:creationId xmlns:a16="http://schemas.microsoft.com/office/drawing/2014/main" xmlns="" id="{A1C9E7F4-E30C-B24C-BA27-35E162585019}"/>
              </a:ext>
            </a:extLst>
          </p:cNvPr>
          <p:cNvSpPr>
            <a:spLocks noGrp="1"/>
          </p:cNvSpPr>
          <p:nvPr>
            <p:ph type="title"/>
          </p:nvPr>
        </p:nvSpPr>
        <p:spPr>
          <a:xfrm>
            <a:off x="0" y="0"/>
            <a:ext cx="9448800" cy="533400"/>
          </a:xfrm>
        </p:spPr>
        <p:txBody>
          <a:bodyPr/>
          <a:lstStyle/>
          <a:p>
            <a:r>
              <a:rPr lang="en-US" dirty="0"/>
              <a:t>Natural language is </a:t>
            </a:r>
            <a:r>
              <a:rPr lang="en-US" dirty="0">
                <a:solidFill>
                  <a:srgbClr val="C17A90"/>
                </a:solidFill>
              </a:rPr>
              <a:t>not</a:t>
            </a:r>
            <a:r>
              <a:rPr lang="en-US" dirty="0"/>
              <a:t> natural for </a:t>
            </a:r>
            <a:r>
              <a:rPr lang="en-US" dirty="0">
                <a:solidFill>
                  <a:srgbClr val="C17A90"/>
                </a:solidFill>
              </a:rPr>
              <a:t>computers</a:t>
            </a:r>
          </a:p>
        </p:txBody>
      </p:sp>
      <p:sp>
        <p:nvSpPr>
          <p:cNvPr id="8" name="Rounded Rectangle 7">
            <a:extLst>
              <a:ext uri="{FF2B5EF4-FFF2-40B4-BE49-F238E27FC236}">
                <a16:creationId xmlns:a16="http://schemas.microsoft.com/office/drawing/2014/main" xmlns="" id="{16633DCF-1E6C-C04F-8508-8BE3308C84B2}"/>
              </a:ext>
            </a:extLst>
          </p:cNvPr>
          <p:cNvSpPr/>
          <p:nvPr/>
        </p:nvSpPr>
        <p:spPr>
          <a:xfrm>
            <a:off x="5181602" y="2057399"/>
            <a:ext cx="838200" cy="462987"/>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xmlns="" id="{08A866E6-EFFE-9B47-970C-4CD32D858CF7}"/>
              </a:ext>
            </a:extLst>
          </p:cNvPr>
          <p:cNvSpPr/>
          <p:nvPr/>
        </p:nvSpPr>
        <p:spPr>
          <a:xfrm>
            <a:off x="3200400" y="3859192"/>
            <a:ext cx="914400" cy="487102"/>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a:extLst>
              <a:ext uri="{FF2B5EF4-FFF2-40B4-BE49-F238E27FC236}">
                <a16:creationId xmlns:a16="http://schemas.microsoft.com/office/drawing/2014/main" xmlns="" id="{AE940E84-698E-1D4C-B449-11802F596241}"/>
              </a:ext>
            </a:extLst>
          </p:cNvPr>
          <p:cNvSpPr/>
          <p:nvPr/>
        </p:nvSpPr>
        <p:spPr>
          <a:xfrm>
            <a:off x="1981200" y="4437926"/>
            <a:ext cx="1371600" cy="517967"/>
          </a:xfrm>
          <a:prstGeom prst="roundRect">
            <a:avLst/>
          </a:prstGeom>
          <a:noFill/>
          <a:ln w="38100">
            <a:solidFill>
              <a:srgbClr val="6881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ounded Rectangle 56">
            <a:extLst>
              <a:ext uri="{FF2B5EF4-FFF2-40B4-BE49-F238E27FC236}">
                <a16:creationId xmlns:a16="http://schemas.microsoft.com/office/drawing/2014/main" xmlns="" id="{7A55E6D1-981D-A04E-B54C-2AAED620E991}"/>
              </a:ext>
            </a:extLst>
          </p:cNvPr>
          <p:cNvSpPr/>
          <p:nvPr/>
        </p:nvSpPr>
        <p:spPr>
          <a:xfrm>
            <a:off x="5225970" y="3893916"/>
            <a:ext cx="565232" cy="441541"/>
          </a:xfrm>
          <a:prstGeom prst="roundRect">
            <a:avLst/>
          </a:prstGeom>
          <a:noFill/>
          <a:ln w="38100">
            <a:solidFill>
              <a:srgbClr val="757D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ounded Rectangle 57">
            <a:extLst>
              <a:ext uri="{FF2B5EF4-FFF2-40B4-BE49-F238E27FC236}">
                <a16:creationId xmlns:a16="http://schemas.microsoft.com/office/drawing/2014/main" xmlns="" id="{C9FECEC8-CBD0-0A41-A110-02CC31A99200}"/>
              </a:ext>
            </a:extLst>
          </p:cNvPr>
          <p:cNvSpPr/>
          <p:nvPr/>
        </p:nvSpPr>
        <p:spPr>
          <a:xfrm>
            <a:off x="457200" y="2655425"/>
            <a:ext cx="2054505" cy="533400"/>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ounded Rectangle 58">
            <a:extLst>
              <a:ext uri="{FF2B5EF4-FFF2-40B4-BE49-F238E27FC236}">
                <a16:creationId xmlns:a16="http://schemas.microsoft.com/office/drawing/2014/main" xmlns="" id="{4955F000-BB71-5743-AACB-67C9DCE7DC05}"/>
              </a:ext>
            </a:extLst>
          </p:cNvPr>
          <p:cNvSpPr/>
          <p:nvPr/>
        </p:nvSpPr>
        <p:spPr>
          <a:xfrm>
            <a:off x="7494609" y="3859192"/>
            <a:ext cx="887392" cy="533400"/>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ounded Rectangle 59">
            <a:extLst>
              <a:ext uri="{FF2B5EF4-FFF2-40B4-BE49-F238E27FC236}">
                <a16:creationId xmlns:a16="http://schemas.microsoft.com/office/drawing/2014/main" xmlns="" id="{6B539AC9-7C4F-C048-9CA0-DBE0E364B644}"/>
              </a:ext>
            </a:extLst>
          </p:cNvPr>
          <p:cNvSpPr/>
          <p:nvPr/>
        </p:nvSpPr>
        <p:spPr>
          <a:xfrm>
            <a:off x="422477" y="4437927"/>
            <a:ext cx="949124" cy="533400"/>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xmlns="" id="{C6225061-A074-EB48-98B9-344CC39F254A}"/>
              </a:ext>
            </a:extLst>
          </p:cNvPr>
          <p:cNvSpPr txBox="1"/>
          <p:nvPr/>
        </p:nvSpPr>
        <p:spPr>
          <a:xfrm>
            <a:off x="3425390" y="4439627"/>
            <a:ext cx="5197257" cy="369332"/>
          </a:xfrm>
          <a:prstGeom prst="rect">
            <a:avLst/>
          </a:prstGeom>
          <a:noFill/>
        </p:spPr>
        <p:txBody>
          <a:bodyPr wrap="none" rtlCol="0">
            <a:spAutoFit/>
          </a:bodyPr>
          <a:lstStyle/>
          <a:p>
            <a:r>
              <a:rPr lang="en-US" dirty="0">
                <a:solidFill>
                  <a:srgbClr val="C17A90"/>
                </a:solidFill>
                <a:latin typeface="Century Gothic" panose="020B0502020202020204" pitchFamily="34" charset="0"/>
              </a:rPr>
              <a:t>Plural form of “home” as in “brought home”?</a:t>
            </a:r>
          </a:p>
        </p:txBody>
      </p:sp>
      <p:sp>
        <p:nvSpPr>
          <p:cNvPr id="62" name="TextBox 61">
            <a:extLst>
              <a:ext uri="{FF2B5EF4-FFF2-40B4-BE49-F238E27FC236}">
                <a16:creationId xmlns:a16="http://schemas.microsoft.com/office/drawing/2014/main" xmlns="" id="{91C9A096-EC8A-C543-9843-B6D9172D4F8C}"/>
              </a:ext>
            </a:extLst>
          </p:cNvPr>
          <p:cNvSpPr txBox="1"/>
          <p:nvPr/>
        </p:nvSpPr>
        <p:spPr>
          <a:xfrm>
            <a:off x="2174111" y="4992638"/>
            <a:ext cx="3988592" cy="369332"/>
          </a:xfrm>
          <a:prstGeom prst="rect">
            <a:avLst/>
          </a:prstGeom>
          <a:noFill/>
        </p:spPr>
        <p:txBody>
          <a:bodyPr wrap="none" rtlCol="0">
            <a:spAutoFit/>
          </a:bodyPr>
          <a:lstStyle/>
          <a:p>
            <a:r>
              <a:rPr lang="en-US" dirty="0">
                <a:solidFill>
                  <a:srgbClr val="6881B4"/>
                </a:solidFill>
                <a:latin typeface="Century Gothic" panose="020B0502020202020204" pitchFamily="34" charset="0"/>
              </a:rPr>
              <a:t>Will they monitor until </a:t>
            </a:r>
            <a:r>
              <a:rPr lang="en-US" b="1" dirty="0">
                <a:solidFill>
                  <a:srgbClr val="6881B4"/>
                </a:solidFill>
                <a:latin typeface="Century Gothic" panose="020B0502020202020204" pitchFamily="34" charset="0"/>
              </a:rPr>
              <a:t>2019/03/23</a:t>
            </a:r>
            <a:r>
              <a:rPr lang="en-US" dirty="0">
                <a:solidFill>
                  <a:srgbClr val="6881B4"/>
                </a:solidFill>
                <a:latin typeface="Century Gothic" panose="020B0502020202020204" pitchFamily="34" charset="0"/>
              </a:rPr>
              <a:t>?</a:t>
            </a:r>
          </a:p>
        </p:txBody>
      </p:sp>
      <p:sp>
        <p:nvSpPr>
          <p:cNvPr id="63" name="TextBox 62">
            <a:extLst>
              <a:ext uri="{FF2B5EF4-FFF2-40B4-BE49-F238E27FC236}">
                <a16:creationId xmlns:a16="http://schemas.microsoft.com/office/drawing/2014/main" xmlns="" id="{B8755574-3FE7-494C-ACB1-CBF22D65C53E}"/>
              </a:ext>
            </a:extLst>
          </p:cNvPr>
          <p:cNvSpPr txBox="1"/>
          <p:nvPr/>
        </p:nvSpPr>
        <p:spPr>
          <a:xfrm>
            <a:off x="5600702" y="3573342"/>
            <a:ext cx="3674404" cy="369332"/>
          </a:xfrm>
          <a:prstGeom prst="rect">
            <a:avLst/>
          </a:prstGeom>
          <a:noFill/>
        </p:spPr>
        <p:txBody>
          <a:bodyPr wrap="none" rtlCol="0">
            <a:spAutoFit/>
          </a:bodyPr>
          <a:lstStyle/>
          <a:p>
            <a:r>
              <a:rPr lang="en-US" dirty="0">
                <a:solidFill>
                  <a:srgbClr val="757D78"/>
                </a:solidFill>
                <a:latin typeface="Century Gothic" panose="020B0502020202020204" pitchFamily="34" charset="0"/>
              </a:rPr>
              <a:t>Who are they? Nearby homes?</a:t>
            </a:r>
          </a:p>
        </p:txBody>
      </p:sp>
      <p:sp>
        <p:nvSpPr>
          <p:cNvPr id="64" name="TextBox 63">
            <a:extLst>
              <a:ext uri="{FF2B5EF4-FFF2-40B4-BE49-F238E27FC236}">
                <a16:creationId xmlns:a16="http://schemas.microsoft.com/office/drawing/2014/main" xmlns="" id="{7F3C7217-4982-1B4B-867B-01A75115F88A}"/>
              </a:ext>
            </a:extLst>
          </p:cNvPr>
          <p:cNvSpPr txBox="1"/>
          <p:nvPr/>
        </p:nvSpPr>
        <p:spPr>
          <a:xfrm>
            <a:off x="385823" y="5113737"/>
            <a:ext cx="824265" cy="369332"/>
          </a:xfrm>
          <a:prstGeom prst="rect">
            <a:avLst/>
          </a:prstGeom>
          <a:noFill/>
        </p:spPr>
        <p:txBody>
          <a:bodyPr wrap="none" rtlCol="0">
            <a:spAutoFit/>
          </a:bodyPr>
          <a:lstStyle/>
          <a:p>
            <a:r>
              <a:rPr lang="en-US" dirty="0">
                <a:solidFill>
                  <a:srgbClr val="666089"/>
                </a:solidFill>
                <a:latin typeface="Century Gothic" panose="020B0502020202020204" pitchFamily="34" charset="0"/>
              </a:rPr>
              <a:t>Same</a:t>
            </a:r>
          </a:p>
        </p:txBody>
      </p:sp>
      <p:sp>
        <p:nvSpPr>
          <p:cNvPr id="65" name="Title 2">
            <a:extLst>
              <a:ext uri="{FF2B5EF4-FFF2-40B4-BE49-F238E27FC236}">
                <a16:creationId xmlns:a16="http://schemas.microsoft.com/office/drawing/2014/main" xmlns="" id="{8DD5DBB4-2664-2F4A-B76D-E12BD42B5C14}"/>
              </a:ext>
            </a:extLst>
          </p:cNvPr>
          <p:cNvSpPr txBox="1">
            <a:spLocks/>
          </p:cNvSpPr>
          <p:nvPr/>
        </p:nvSpPr>
        <p:spPr bwMode="auto">
          <a:xfrm>
            <a:off x="152400" y="5979287"/>
            <a:ext cx="8763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lang="en-US" sz="2800" b="0" kern="1200" cap="none" baseline="0" dirty="0" smtClean="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rgbClr val="000000">
                    <a:lumMod val="95000"/>
                    <a:lumOff val="5000"/>
                  </a:srgbClr>
                </a:solidFill>
              </a:rPr>
              <a:t>NLP is to help computers resolve the </a:t>
            </a:r>
            <a:r>
              <a:rPr lang="en-US" b="1" dirty="0">
                <a:solidFill>
                  <a:srgbClr val="000000">
                    <a:lumMod val="95000"/>
                    <a:lumOff val="5000"/>
                  </a:srgbClr>
                </a:solidFill>
              </a:rPr>
              <a:t>ambiguity</a:t>
            </a:r>
            <a:r>
              <a:rPr lang="en-US" dirty="0">
                <a:solidFill>
                  <a:srgbClr val="000000">
                    <a:lumMod val="95000"/>
                    <a:lumOff val="5000"/>
                  </a:srgbClr>
                </a:solidFill>
              </a:rPr>
              <a:t> that are seemingly easy for humans</a:t>
            </a:r>
            <a:endParaRPr dirty="0">
              <a:solidFill>
                <a:srgbClr val="000000">
                  <a:lumMod val="95000"/>
                  <a:lumOff val="5000"/>
                </a:srgbClr>
              </a:solidFill>
            </a:endParaRPr>
          </a:p>
        </p:txBody>
      </p:sp>
    </p:spTree>
    <p:extLst>
      <p:ext uri="{BB962C8B-B14F-4D97-AF65-F5344CB8AC3E}">
        <p14:creationId xmlns:p14="http://schemas.microsoft.com/office/powerpoint/2010/main" val="2113105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1000"/>
                                        <p:tgtEl>
                                          <p:spTgt spid="65"/>
                                        </p:tgtEl>
                                      </p:cBhvr>
                                    </p:animEffect>
                                    <p:anim calcmode="lin" valueType="num">
                                      <p:cBhvr>
                                        <p:cTn id="8" dur="1000" fill="hold"/>
                                        <p:tgtEl>
                                          <p:spTgt spid="65"/>
                                        </p:tgtEl>
                                        <p:attrNameLst>
                                          <p:attrName>ppt_x</p:attrName>
                                        </p:attrNameLst>
                                      </p:cBhvr>
                                      <p:tavLst>
                                        <p:tav tm="0">
                                          <p:val>
                                            <p:strVal val="#ppt_x"/>
                                          </p:val>
                                        </p:tav>
                                        <p:tav tm="100000">
                                          <p:val>
                                            <p:strVal val="#ppt_x"/>
                                          </p:val>
                                        </p:tav>
                                      </p:tavLst>
                                    </p:anim>
                                    <p:anim calcmode="lin" valueType="num">
                                      <p:cBhvr>
                                        <p:cTn id="9"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Freeform 49">
            <a:extLst>
              <a:ext uri="{FF2B5EF4-FFF2-40B4-BE49-F238E27FC236}">
                <a16:creationId xmlns:a16="http://schemas.microsoft.com/office/drawing/2014/main" xmlns="" id="{F7DC9E12-84B9-D542-BB2D-F925103A20E8}"/>
              </a:ext>
            </a:extLst>
          </p:cNvPr>
          <p:cNvSpPr/>
          <p:nvPr/>
        </p:nvSpPr>
        <p:spPr>
          <a:xfrm>
            <a:off x="3423253" y="1229210"/>
            <a:ext cx="897436" cy="825062"/>
          </a:xfrm>
          <a:custGeom>
            <a:avLst/>
            <a:gdLst>
              <a:gd name="connsiteX0" fmla="*/ 614319 w 1228638"/>
              <a:gd name="connsiteY0" fmla="*/ 0 h 1129554"/>
              <a:gd name="connsiteX1" fmla="*/ 1228638 w 1228638"/>
              <a:gd name="connsiteY1" fmla="*/ 1129554 h 1129554"/>
              <a:gd name="connsiteX2" fmla="*/ 0 w 1228638"/>
              <a:gd name="connsiteY2" fmla="*/ 1129554 h 1129554"/>
              <a:gd name="connsiteX3" fmla="*/ 614319 w 1228638"/>
              <a:gd name="connsiteY3" fmla="*/ 0 h 1129554"/>
            </a:gdLst>
            <a:ahLst/>
            <a:cxnLst>
              <a:cxn ang="0">
                <a:pos x="connsiteX0" y="connsiteY0"/>
              </a:cxn>
              <a:cxn ang="0">
                <a:pos x="connsiteX1" y="connsiteY1"/>
              </a:cxn>
              <a:cxn ang="0">
                <a:pos x="connsiteX2" y="connsiteY2"/>
              </a:cxn>
              <a:cxn ang="0">
                <a:pos x="connsiteX3" y="connsiteY3"/>
              </a:cxn>
            </a:cxnLst>
            <a:rect l="l" t="t" r="r" b="b"/>
            <a:pathLst>
              <a:path w="1228638" h="1129554">
                <a:moveTo>
                  <a:pt x="614319" y="0"/>
                </a:moveTo>
                <a:lnTo>
                  <a:pt x="1228638" y="1129554"/>
                </a:lnTo>
                <a:lnTo>
                  <a:pt x="0" y="1129554"/>
                </a:lnTo>
                <a:lnTo>
                  <a:pt x="614319" y="0"/>
                </a:lnTo>
                <a:close/>
              </a:path>
            </a:pathLst>
          </a:custGeom>
          <a:solidFill>
            <a:srgbClr val="666089">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1" name="Freeform 50">
            <a:extLst>
              <a:ext uri="{FF2B5EF4-FFF2-40B4-BE49-F238E27FC236}">
                <a16:creationId xmlns:a16="http://schemas.microsoft.com/office/drawing/2014/main" xmlns="" id="{978E545B-EB76-8148-A35B-150C48ADB264}"/>
              </a:ext>
            </a:extLst>
          </p:cNvPr>
          <p:cNvSpPr/>
          <p:nvPr/>
        </p:nvSpPr>
        <p:spPr>
          <a:xfrm>
            <a:off x="2926459" y="2142670"/>
            <a:ext cx="1891025" cy="825062"/>
          </a:xfrm>
          <a:custGeom>
            <a:avLst/>
            <a:gdLst>
              <a:gd name="connsiteX0" fmla="*/ 614319 w 2588914"/>
              <a:gd name="connsiteY0" fmla="*/ 0 h 1129554"/>
              <a:gd name="connsiteX1" fmla="*/ 1974595 w 2588914"/>
              <a:gd name="connsiteY1" fmla="*/ 0 h 1129554"/>
              <a:gd name="connsiteX2" fmla="*/ 2588914 w 2588914"/>
              <a:gd name="connsiteY2" fmla="*/ 1129554 h 1129554"/>
              <a:gd name="connsiteX3" fmla="*/ 0 w 2588914"/>
              <a:gd name="connsiteY3" fmla="*/ 1129554 h 1129554"/>
              <a:gd name="connsiteX4" fmla="*/ 614319 w 2588914"/>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914" h="1129554">
                <a:moveTo>
                  <a:pt x="614319" y="0"/>
                </a:moveTo>
                <a:lnTo>
                  <a:pt x="1974595" y="0"/>
                </a:lnTo>
                <a:lnTo>
                  <a:pt x="2588914" y="1129554"/>
                </a:lnTo>
                <a:lnTo>
                  <a:pt x="0" y="1129554"/>
                </a:lnTo>
                <a:lnTo>
                  <a:pt x="614319" y="0"/>
                </a:lnTo>
                <a:close/>
              </a:path>
            </a:pathLst>
          </a:custGeom>
          <a:solidFill>
            <a:srgbClr val="7792C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2" name="Freeform 51">
            <a:extLst>
              <a:ext uri="{FF2B5EF4-FFF2-40B4-BE49-F238E27FC236}">
                <a16:creationId xmlns:a16="http://schemas.microsoft.com/office/drawing/2014/main" xmlns="" id="{6CB448AD-9002-E140-A24C-AFF375496F61}"/>
              </a:ext>
            </a:extLst>
          </p:cNvPr>
          <p:cNvSpPr/>
          <p:nvPr/>
        </p:nvSpPr>
        <p:spPr>
          <a:xfrm>
            <a:off x="2429664" y="3056131"/>
            <a:ext cx="2884614" cy="825062"/>
          </a:xfrm>
          <a:custGeom>
            <a:avLst/>
            <a:gdLst>
              <a:gd name="connsiteX0" fmla="*/ 614319 w 3949190"/>
              <a:gd name="connsiteY0" fmla="*/ 0 h 1129554"/>
              <a:gd name="connsiteX1" fmla="*/ 3334871 w 3949190"/>
              <a:gd name="connsiteY1" fmla="*/ 0 h 1129554"/>
              <a:gd name="connsiteX2" fmla="*/ 3949190 w 3949190"/>
              <a:gd name="connsiteY2" fmla="*/ 1129554 h 1129554"/>
              <a:gd name="connsiteX3" fmla="*/ 0 w 3949190"/>
              <a:gd name="connsiteY3" fmla="*/ 1129554 h 1129554"/>
              <a:gd name="connsiteX4" fmla="*/ 614319 w 3949190"/>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90" h="1129554">
                <a:moveTo>
                  <a:pt x="614319" y="0"/>
                </a:moveTo>
                <a:lnTo>
                  <a:pt x="3334871" y="0"/>
                </a:lnTo>
                <a:lnTo>
                  <a:pt x="3949190" y="1129554"/>
                </a:lnTo>
                <a:lnTo>
                  <a:pt x="0" y="1129554"/>
                </a:lnTo>
                <a:lnTo>
                  <a:pt x="614319" y="0"/>
                </a:lnTo>
                <a:close/>
              </a:path>
            </a:pathLst>
          </a:custGeom>
          <a:solidFill>
            <a:srgbClr val="C17A9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3" name="Freeform 52">
            <a:extLst>
              <a:ext uri="{FF2B5EF4-FFF2-40B4-BE49-F238E27FC236}">
                <a16:creationId xmlns:a16="http://schemas.microsoft.com/office/drawing/2014/main" xmlns="" id="{1A54A3CF-BC91-5C43-8730-A8564FAEDE43}"/>
              </a:ext>
            </a:extLst>
          </p:cNvPr>
          <p:cNvSpPr/>
          <p:nvPr/>
        </p:nvSpPr>
        <p:spPr>
          <a:xfrm>
            <a:off x="1932870" y="3969591"/>
            <a:ext cx="3878202" cy="825062"/>
          </a:xfrm>
          <a:custGeom>
            <a:avLst/>
            <a:gdLst>
              <a:gd name="connsiteX0" fmla="*/ 614319 w 5309465"/>
              <a:gd name="connsiteY0" fmla="*/ 0 h 1129554"/>
              <a:gd name="connsiteX1" fmla="*/ 4695147 w 5309465"/>
              <a:gd name="connsiteY1" fmla="*/ 0 h 1129554"/>
              <a:gd name="connsiteX2" fmla="*/ 5309465 w 5309465"/>
              <a:gd name="connsiteY2" fmla="*/ 1129554 h 1129554"/>
              <a:gd name="connsiteX3" fmla="*/ 0 w 5309465"/>
              <a:gd name="connsiteY3" fmla="*/ 1129554 h 1129554"/>
              <a:gd name="connsiteX4" fmla="*/ 614319 w 5309465"/>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9465" h="1129554">
                <a:moveTo>
                  <a:pt x="614319" y="0"/>
                </a:moveTo>
                <a:lnTo>
                  <a:pt x="4695147" y="0"/>
                </a:lnTo>
                <a:lnTo>
                  <a:pt x="5309465" y="1129554"/>
                </a:lnTo>
                <a:lnTo>
                  <a:pt x="0" y="1129554"/>
                </a:lnTo>
                <a:lnTo>
                  <a:pt x="614319" y="0"/>
                </a:lnTo>
                <a:close/>
              </a:path>
            </a:pathLst>
          </a:cu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4" name="Freeform 53">
            <a:extLst>
              <a:ext uri="{FF2B5EF4-FFF2-40B4-BE49-F238E27FC236}">
                <a16:creationId xmlns:a16="http://schemas.microsoft.com/office/drawing/2014/main" xmlns="" id="{2B6AC4F5-A568-3B49-B6A4-D98D933D56BE}"/>
              </a:ext>
            </a:extLst>
          </p:cNvPr>
          <p:cNvSpPr/>
          <p:nvPr/>
        </p:nvSpPr>
        <p:spPr>
          <a:xfrm>
            <a:off x="1436076" y="4883052"/>
            <a:ext cx="4871791" cy="825062"/>
          </a:xfrm>
          <a:custGeom>
            <a:avLst/>
            <a:gdLst>
              <a:gd name="connsiteX0" fmla="*/ 614319 w 6669741"/>
              <a:gd name="connsiteY0" fmla="*/ 0 h 1129554"/>
              <a:gd name="connsiteX1" fmla="*/ 6055422 w 6669741"/>
              <a:gd name="connsiteY1" fmla="*/ 0 h 1129554"/>
              <a:gd name="connsiteX2" fmla="*/ 6669741 w 6669741"/>
              <a:gd name="connsiteY2" fmla="*/ 1129554 h 1129554"/>
              <a:gd name="connsiteX3" fmla="*/ 0 w 6669741"/>
              <a:gd name="connsiteY3" fmla="*/ 1129554 h 1129554"/>
              <a:gd name="connsiteX4" fmla="*/ 614319 w 6669741"/>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9741" h="1129554">
                <a:moveTo>
                  <a:pt x="614319" y="0"/>
                </a:moveTo>
                <a:lnTo>
                  <a:pt x="6055422" y="0"/>
                </a:lnTo>
                <a:lnTo>
                  <a:pt x="6669741" y="1129554"/>
                </a:lnTo>
                <a:lnTo>
                  <a:pt x="0" y="1129554"/>
                </a:lnTo>
                <a:lnTo>
                  <a:pt x="614319" y="0"/>
                </a:lnTo>
                <a:close/>
              </a:path>
            </a:pathLst>
          </a:custGeom>
          <a:solidFill>
            <a:srgbClr val="E6E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7" name="TextBox 56">
            <a:extLst>
              <a:ext uri="{FF2B5EF4-FFF2-40B4-BE49-F238E27FC236}">
                <a16:creationId xmlns:a16="http://schemas.microsoft.com/office/drawing/2014/main" xmlns="" id="{21578E08-3306-D141-9336-BE27C3B572BE}"/>
              </a:ext>
            </a:extLst>
          </p:cNvPr>
          <p:cNvSpPr txBox="1"/>
          <p:nvPr/>
        </p:nvSpPr>
        <p:spPr>
          <a:xfrm>
            <a:off x="2983776" y="5134052"/>
            <a:ext cx="1874231" cy="400110"/>
          </a:xfrm>
          <a:prstGeom prst="rect">
            <a:avLst/>
          </a:prstGeom>
          <a:noFill/>
        </p:spPr>
        <p:txBody>
          <a:bodyPr wrap="non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Methodology</a:t>
            </a:r>
          </a:p>
        </p:txBody>
      </p:sp>
      <p:sp>
        <p:nvSpPr>
          <p:cNvPr id="58" name="TextBox 57">
            <a:extLst>
              <a:ext uri="{FF2B5EF4-FFF2-40B4-BE49-F238E27FC236}">
                <a16:creationId xmlns:a16="http://schemas.microsoft.com/office/drawing/2014/main" xmlns="" id="{96968A2D-772B-4144-9FC4-7A79BDD1E1A3}"/>
              </a:ext>
            </a:extLst>
          </p:cNvPr>
          <p:cNvSpPr txBox="1"/>
          <p:nvPr/>
        </p:nvSpPr>
        <p:spPr>
          <a:xfrm>
            <a:off x="3384142" y="4203486"/>
            <a:ext cx="914033" cy="400110"/>
          </a:xfrm>
          <a:prstGeom prst="rect">
            <a:avLst/>
          </a:prstGeom>
          <a:noFill/>
        </p:spPr>
        <p:txBody>
          <a:bodyPr wrap="non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Token</a:t>
            </a:r>
          </a:p>
        </p:txBody>
      </p:sp>
      <p:sp>
        <p:nvSpPr>
          <p:cNvPr id="59" name="TextBox 58">
            <a:extLst>
              <a:ext uri="{FF2B5EF4-FFF2-40B4-BE49-F238E27FC236}">
                <a16:creationId xmlns:a16="http://schemas.microsoft.com/office/drawing/2014/main" xmlns="" id="{F88526CA-D4E4-FB49-89F2-2806E3495275}"/>
              </a:ext>
            </a:extLst>
          </p:cNvPr>
          <p:cNvSpPr txBox="1"/>
          <p:nvPr/>
        </p:nvSpPr>
        <p:spPr>
          <a:xfrm>
            <a:off x="3198995" y="3281075"/>
            <a:ext cx="1380506" cy="400110"/>
          </a:xfrm>
          <a:prstGeom prst="rect">
            <a:avLst/>
          </a:prstGeom>
          <a:noFill/>
        </p:spPr>
        <p:txBody>
          <a:bodyPr wrap="non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Sentence</a:t>
            </a:r>
          </a:p>
        </p:txBody>
      </p:sp>
      <p:sp>
        <p:nvSpPr>
          <p:cNvPr id="60" name="TextBox 59">
            <a:extLst>
              <a:ext uri="{FF2B5EF4-FFF2-40B4-BE49-F238E27FC236}">
                <a16:creationId xmlns:a16="http://schemas.microsoft.com/office/drawing/2014/main" xmlns="" id="{2B959E80-D18F-244D-9D76-4CE865449B00}"/>
              </a:ext>
            </a:extLst>
          </p:cNvPr>
          <p:cNvSpPr txBox="1"/>
          <p:nvPr/>
        </p:nvSpPr>
        <p:spPr>
          <a:xfrm>
            <a:off x="3251894" y="2388673"/>
            <a:ext cx="1244251" cy="400110"/>
          </a:xfrm>
          <a:prstGeom prst="rect">
            <a:avLst/>
          </a:prstGeom>
          <a:noFill/>
        </p:spPr>
        <p:txBody>
          <a:bodyPr wrap="non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Situation</a:t>
            </a:r>
          </a:p>
        </p:txBody>
      </p:sp>
      <p:sp>
        <p:nvSpPr>
          <p:cNvPr id="61" name="TextBox 60">
            <a:extLst>
              <a:ext uri="{FF2B5EF4-FFF2-40B4-BE49-F238E27FC236}">
                <a16:creationId xmlns:a16="http://schemas.microsoft.com/office/drawing/2014/main" xmlns="" id="{7AA7B7CC-C790-A545-89A7-FA40D780D755}"/>
              </a:ext>
            </a:extLst>
          </p:cNvPr>
          <p:cNvSpPr txBox="1"/>
          <p:nvPr/>
        </p:nvSpPr>
        <p:spPr>
          <a:xfrm>
            <a:off x="6449455" y="1433336"/>
            <a:ext cx="415498" cy="369332"/>
          </a:xfrm>
          <a:prstGeom prst="rect">
            <a:avLst/>
          </a:prstGeom>
          <a:noFill/>
        </p:spPr>
        <p:txBody>
          <a:bodyPr wrap="none" rtlCol="0">
            <a:spAutoFit/>
          </a:bodyPr>
          <a:lstStyle/>
          <a:p>
            <a:pPr eaLnBrk="0" fontAlgn="base" hangingPunct="0">
              <a:spcBef>
                <a:spcPct val="0"/>
              </a:spcBef>
              <a:spcAft>
                <a:spcPct val="0"/>
              </a:spcAft>
            </a:pPr>
            <a:r>
              <a:rPr lang="en-US" dirty="0">
                <a:solidFill>
                  <a:srgbClr val="000000"/>
                </a:solidFill>
                <a:latin typeface="Century Gothic" charset="0"/>
                <a:ea typeface="Century Gothic" charset="0"/>
                <a:cs typeface="Century Gothic" charset="0"/>
              </a:rPr>
              <a:t>…</a:t>
            </a:r>
          </a:p>
        </p:txBody>
      </p:sp>
      <p:sp>
        <p:nvSpPr>
          <p:cNvPr id="64" name="TextBox 63">
            <a:extLst>
              <a:ext uri="{FF2B5EF4-FFF2-40B4-BE49-F238E27FC236}">
                <a16:creationId xmlns:a16="http://schemas.microsoft.com/office/drawing/2014/main" xmlns="" id="{08E7DAE2-E902-D740-B555-1E19FAEAD5E8}"/>
              </a:ext>
            </a:extLst>
          </p:cNvPr>
          <p:cNvSpPr txBox="1"/>
          <p:nvPr/>
        </p:nvSpPr>
        <p:spPr>
          <a:xfrm>
            <a:off x="3699336" y="1525669"/>
            <a:ext cx="440765" cy="276999"/>
          </a:xfrm>
          <a:prstGeom prst="rect">
            <a:avLst/>
          </a:prstGeom>
          <a:noFill/>
        </p:spPr>
        <p:txBody>
          <a:bodyPr wrap="square" rtlCol="0">
            <a:spAutoFit/>
          </a:bodyPr>
          <a:lstStyle/>
          <a:p>
            <a:pPr eaLnBrk="0" fontAlgn="base" hangingPunct="0">
              <a:spcBef>
                <a:spcPct val="0"/>
              </a:spcBef>
              <a:spcAft>
                <a:spcPct val="0"/>
              </a:spcAft>
            </a:pPr>
            <a:r>
              <a:rPr lang="en-US" sz="1200" dirty="0">
                <a:solidFill>
                  <a:srgbClr val="000000"/>
                </a:solidFill>
                <a:latin typeface="Century Gothic" charset="0"/>
                <a:ea typeface="Century Gothic" charset="0"/>
                <a:cs typeface="Century Gothic" charset="0"/>
              </a:rPr>
              <a:t>…</a:t>
            </a:r>
          </a:p>
        </p:txBody>
      </p:sp>
      <p:sp>
        <p:nvSpPr>
          <p:cNvPr id="30" name="Title 2">
            <a:extLst>
              <a:ext uri="{FF2B5EF4-FFF2-40B4-BE49-F238E27FC236}">
                <a16:creationId xmlns:a16="http://schemas.microsoft.com/office/drawing/2014/main" xmlns="" id="{76929319-9B86-4842-96F1-0CFDF5989586}"/>
              </a:ext>
            </a:extLst>
          </p:cNvPr>
          <p:cNvSpPr txBox="1">
            <a:spLocks/>
          </p:cNvSpPr>
          <p:nvPr/>
        </p:nvSpPr>
        <p:spPr bwMode="auto">
          <a:xfrm>
            <a:off x="676274" y="228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lang="en-US" sz="2800" b="0" kern="1200" cap="none" baseline="0" dirty="0" smtClean="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rgbClr val="000000">
                    <a:lumMod val="95000"/>
                    <a:lumOff val="5000"/>
                  </a:srgbClr>
                </a:solidFill>
              </a:rPr>
              <a:t>A brief overview of NLP</a:t>
            </a:r>
            <a:endParaRPr dirty="0">
              <a:solidFill>
                <a:srgbClr val="000000">
                  <a:lumMod val="95000"/>
                  <a:lumOff val="5000"/>
                </a:srgbClr>
              </a:solidFill>
            </a:endParaRPr>
          </a:p>
        </p:txBody>
      </p:sp>
      <p:cxnSp>
        <p:nvCxnSpPr>
          <p:cNvPr id="4" name="Straight Connector 3">
            <a:extLst>
              <a:ext uri="{FF2B5EF4-FFF2-40B4-BE49-F238E27FC236}">
                <a16:creationId xmlns:a16="http://schemas.microsoft.com/office/drawing/2014/main" xmlns="" id="{A316032E-3D1B-3945-AEC6-8B477BEEEF3B}"/>
              </a:ext>
            </a:extLst>
          </p:cNvPr>
          <p:cNvCxnSpPr>
            <a:cxnSpLocks/>
          </p:cNvCxnSpPr>
          <p:nvPr/>
        </p:nvCxnSpPr>
        <p:spPr>
          <a:xfrm>
            <a:off x="4093563" y="1675997"/>
            <a:ext cx="2290289" cy="0"/>
          </a:xfrm>
          <a:prstGeom prst="line">
            <a:avLst/>
          </a:prstGeom>
          <a:ln w="19050">
            <a:solidFill>
              <a:schemeClr val="tx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xmlns="" id="{C62C1B77-516B-7441-9CC6-302A4DE9AD7A}"/>
              </a:ext>
            </a:extLst>
          </p:cNvPr>
          <p:cNvSpPr/>
          <p:nvPr/>
        </p:nvSpPr>
        <p:spPr>
          <a:xfrm>
            <a:off x="6384852" y="1493117"/>
            <a:ext cx="45719" cy="365760"/>
          </a:xfrm>
          <a:prstGeom prst="rect">
            <a:avLst/>
          </a:prstGeom>
          <a:solidFill>
            <a:srgbClr val="666089">
              <a:alpha val="80392"/>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endParaRPr>
          </a:p>
        </p:txBody>
      </p:sp>
      <p:grpSp>
        <p:nvGrpSpPr>
          <p:cNvPr id="8" name="Group 7"/>
          <p:cNvGrpSpPr/>
          <p:nvPr/>
        </p:nvGrpSpPr>
        <p:grpSpPr>
          <a:xfrm>
            <a:off x="4652595" y="2353667"/>
            <a:ext cx="4422827" cy="584775"/>
            <a:chOff x="4652595" y="2412230"/>
            <a:chExt cx="4422827" cy="584775"/>
          </a:xfrm>
        </p:grpSpPr>
        <p:sp>
          <p:nvSpPr>
            <p:cNvPr id="63" name="TextBox 62">
              <a:extLst>
                <a:ext uri="{FF2B5EF4-FFF2-40B4-BE49-F238E27FC236}">
                  <a16:creationId xmlns:a16="http://schemas.microsoft.com/office/drawing/2014/main" xmlns="" id="{5F4D6A67-4F31-644F-91DE-F9A8D8255F94}"/>
                </a:ext>
              </a:extLst>
            </p:cNvPr>
            <p:cNvSpPr txBox="1"/>
            <p:nvPr/>
          </p:nvSpPr>
          <p:spPr>
            <a:xfrm>
              <a:off x="6426595" y="2412230"/>
              <a:ext cx="2648827" cy="584775"/>
            </a:xfrm>
            <a:prstGeom prst="rect">
              <a:avLst/>
            </a:prstGeom>
            <a:noFill/>
          </p:spPr>
          <p:txBody>
            <a:bodyPr wrap="squar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Events, Q&amp;A, reasoning, </a:t>
              </a:r>
              <a:r>
                <a:rPr lang="mr-IN" sz="1600" dirty="0">
                  <a:solidFill>
                    <a:srgbClr val="000000"/>
                  </a:solidFill>
                  <a:latin typeface="Century Gothic" charset="0"/>
                  <a:ea typeface="Century Gothic" charset="0"/>
                  <a:cs typeface="Century Gothic" charset="0"/>
                </a:rPr>
                <a:t>…</a:t>
              </a:r>
              <a:endParaRPr lang="en-US" sz="1600" dirty="0">
                <a:solidFill>
                  <a:srgbClr val="000000"/>
                </a:solidFill>
                <a:latin typeface="Century Gothic" charset="0"/>
                <a:ea typeface="Century Gothic" charset="0"/>
                <a:cs typeface="Century Gothic" charset="0"/>
              </a:endParaRPr>
            </a:p>
          </p:txBody>
        </p:sp>
        <p:sp>
          <p:nvSpPr>
            <p:cNvPr id="69" name="Rectangle 68">
              <a:extLst>
                <a:ext uri="{FF2B5EF4-FFF2-40B4-BE49-F238E27FC236}">
                  <a16:creationId xmlns:a16="http://schemas.microsoft.com/office/drawing/2014/main" xmlns="" id="{465F5AF8-2701-6848-9257-11144BCBE7EB}"/>
                </a:ext>
              </a:extLst>
            </p:cNvPr>
            <p:cNvSpPr/>
            <p:nvPr/>
          </p:nvSpPr>
          <p:spPr>
            <a:xfrm>
              <a:off x="6384852" y="2495807"/>
              <a:ext cx="45719" cy="457200"/>
            </a:xfrm>
            <a:prstGeom prst="rect">
              <a:avLst/>
            </a:prstGeom>
            <a:solidFill>
              <a:srgbClr val="8FA4D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endParaRPr>
            </a:p>
          </p:txBody>
        </p:sp>
        <p:cxnSp>
          <p:nvCxnSpPr>
            <p:cNvPr id="33" name="Straight Connector 32">
              <a:extLst>
                <a:ext uri="{FF2B5EF4-FFF2-40B4-BE49-F238E27FC236}">
                  <a16:creationId xmlns:a16="http://schemas.microsoft.com/office/drawing/2014/main" xmlns="" id="{1F790ABA-E141-D54C-A3B1-4383305D7629}"/>
                </a:ext>
              </a:extLst>
            </p:cNvPr>
            <p:cNvCxnSpPr>
              <a:cxnSpLocks/>
            </p:cNvCxnSpPr>
            <p:nvPr/>
          </p:nvCxnSpPr>
          <p:spPr>
            <a:xfrm>
              <a:off x="4652595" y="2672459"/>
              <a:ext cx="1731257" cy="0"/>
            </a:xfrm>
            <a:prstGeom prst="line">
              <a:avLst/>
            </a:prstGeom>
            <a:ln w="19050">
              <a:solidFill>
                <a:schemeClr val="tx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5105400" y="3165215"/>
            <a:ext cx="4040701" cy="830997"/>
            <a:chOff x="5105400" y="3165215"/>
            <a:chExt cx="4040701" cy="830997"/>
          </a:xfrm>
        </p:grpSpPr>
        <p:sp>
          <p:nvSpPr>
            <p:cNvPr id="62" name="TextBox 61">
              <a:extLst>
                <a:ext uri="{FF2B5EF4-FFF2-40B4-BE49-F238E27FC236}">
                  <a16:creationId xmlns:a16="http://schemas.microsoft.com/office/drawing/2014/main" xmlns="" id="{FFD3B948-62D0-D44B-9EC7-771836A4E4C4}"/>
                </a:ext>
              </a:extLst>
            </p:cNvPr>
            <p:cNvSpPr txBox="1"/>
            <p:nvPr/>
          </p:nvSpPr>
          <p:spPr>
            <a:xfrm>
              <a:off x="6426595" y="3165215"/>
              <a:ext cx="2719506" cy="830997"/>
            </a:xfrm>
            <a:prstGeom prst="rect">
              <a:avLst/>
            </a:prstGeom>
            <a:noFill/>
          </p:spPr>
          <p:txBody>
            <a:bodyPr wrap="squar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Syntactic parsing, semantic role labeling, language modeling, …</a:t>
              </a:r>
            </a:p>
          </p:txBody>
        </p:sp>
        <p:sp>
          <p:nvSpPr>
            <p:cNvPr id="70" name="Rectangle 69">
              <a:extLst>
                <a:ext uri="{FF2B5EF4-FFF2-40B4-BE49-F238E27FC236}">
                  <a16:creationId xmlns:a16="http://schemas.microsoft.com/office/drawing/2014/main" xmlns="" id="{CA42FABA-CF1B-4C4C-95F6-29CDDBAF18F8}"/>
                </a:ext>
              </a:extLst>
            </p:cNvPr>
            <p:cNvSpPr/>
            <p:nvPr/>
          </p:nvSpPr>
          <p:spPr>
            <a:xfrm>
              <a:off x="6384852" y="3279120"/>
              <a:ext cx="45719" cy="640080"/>
            </a:xfrm>
            <a:prstGeom prst="rect">
              <a:avLst/>
            </a:prstGeom>
            <a:solidFill>
              <a:srgbClr val="CD95A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endParaRPr>
            </a:p>
          </p:txBody>
        </p:sp>
        <p:cxnSp>
          <p:nvCxnSpPr>
            <p:cNvPr id="34" name="Straight Connector 33">
              <a:extLst>
                <a:ext uri="{FF2B5EF4-FFF2-40B4-BE49-F238E27FC236}">
                  <a16:creationId xmlns:a16="http://schemas.microsoft.com/office/drawing/2014/main" xmlns="" id="{777132F1-1BB7-4848-89AF-03E4F2D0A017}"/>
                </a:ext>
              </a:extLst>
            </p:cNvPr>
            <p:cNvCxnSpPr>
              <a:cxnSpLocks/>
            </p:cNvCxnSpPr>
            <p:nvPr/>
          </p:nvCxnSpPr>
          <p:spPr>
            <a:xfrm>
              <a:off x="5105400" y="3481351"/>
              <a:ext cx="1278452" cy="0"/>
            </a:xfrm>
            <a:prstGeom prst="line">
              <a:avLst/>
            </a:prstGeom>
            <a:ln w="19050">
              <a:solidFill>
                <a:schemeClr val="tx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 name="Group 4"/>
          <p:cNvGrpSpPr/>
          <p:nvPr/>
        </p:nvGrpSpPr>
        <p:grpSpPr>
          <a:xfrm>
            <a:off x="5562600" y="4092792"/>
            <a:ext cx="3608445" cy="830997"/>
            <a:chOff x="5562600" y="4092792"/>
            <a:chExt cx="3608445" cy="830997"/>
          </a:xfrm>
        </p:grpSpPr>
        <p:sp>
          <p:nvSpPr>
            <p:cNvPr id="56" name="TextBox 55">
              <a:extLst>
                <a:ext uri="{FF2B5EF4-FFF2-40B4-BE49-F238E27FC236}">
                  <a16:creationId xmlns:a16="http://schemas.microsoft.com/office/drawing/2014/main" xmlns="" id="{EDC14C06-9282-CA48-B2A7-9C4C4A92D4BC}"/>
                </a:ext>
              </a:extLst>
            </p:cNvPr>
            <p:cNvSpPr txBox="1"/>
            <p:nvPr/>
          </p:nvSpPr>
          <p:spPr>
            <a:xfrm>
              <a:off x="6469339" y="4092792"/>
              <a:ext cx="2701706" cy="830997"/>
            </a:xfrm>
            <a:prstGeom prst="rect">
              <a:avLst/>
            </a:prstGeom>
            <a:noFill/>
          </p:spPr>
          <p:txBody>
            <a:bodyPr wrap="squar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Tokenization, lemmatization, POS tagging, chunking, …</a:t>
              </a:r>
            </a:p>
          </p:txBody>
        </p:sp>
        <p:sp>
          <p:nvSpPr>
            <p:cNvPr id="71" name="Rectangle 70">
              <a:extLst>
                <a:ext uri="{FF2B5EF4-FFF2-40B4-BE49-F238E27FC236}">
                  <a16:creationId xmlns:a16="http://schemas.microsoft.com/office/drawing/2014/main" xmlns="" id="{AB047353-15FD-5D42-9EA1-2ADAA9E8C476}"/>
                </a:ext>
              </a:extLst>
            </p:cNvPr>
            <p:cNvSpPr/>
            <p:nvPr/>
          </p:nvSpPr>
          <p:spPr>
            <a:xfrm>
              <a:off x="6383852" y="4179313"/>
              <a:ext cx="45719" cy="640080"/>
            </a:xfrm>
            <a:prstGeom prst="rect">
              <a:avLst/>
            </a:prstGeom>
            <a:solidFill>
              <a:srgbClr val="F1CEC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endParaRPr>
            </a:p>
          </p:txBody>
        </p:sp>
        <p:cxnSp>
          <p:nvCxnSpPr>
            <p:cNvPr id="35" name="Straight Connector 34">
              <a:extLst>
                <a:ext uri="{FF2B5EF4-FFF2-40B4-BE49-F238E27FC236}">
                  <a16:creationId xmlns:a16="http://schemas.microsoft.com/office/drawing/2014/main" xmlns="" id="{56AD4553-47FA-C742-AB31-8E4526073504}"/>
                </a:ext>
              </a:extLst>
            </p:cNvPr>
            <p:cNvCxnSpPr>
              <a:cxnSpLocks/>
            </p:cNvCxnSpPr>
            <p:nvPr/>
          </p:nvCxnSpPr>
          <p:spPr>
            <a:xfrm>
              <a:off x="5562600" y="4360581"/>
              <a:ext cx="821252" cy="0"/>
            </a:xfrm>
            <a:prstGeom prst="line">
              <a:avLst/>
            </a:prstGeom>
            <a:ln w="19050">
              <a:solidFill>
                <a:schemeClr val="tx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Group 2"/>
          <p:cNvGrpSpPr/>
          <p:nvPr/>
        </p:nvGrpSpPr>
        <p:grpSpPr>
          <a:xfrm>
            <a:off x="6096000" y="5020370"/>
            <a:ext cx="2392679" cy="584775"/>
            <a:chOff x="6096000" y="5020370"/>
            <a:chExt cx="2392679" cy="584775"/>
          </a:xfrm>
        </p:grpSpPr>
        <p:sp>
          <p:nvSpPr>
            <p:cNvPr id="55" name="TextBox 54">
              <a:extLst>
                <a:ext uri="{FF2B5EF4-FFF2-40B4-BE49-F238E27FC236}">
                  <a16:creationId xmlns:a16="http://schemas.microsoft.com/office/drawing/2014/main" xmlns="" id="{3D0DEEB9-74B1-0C47-9C02-E52DAA56675B}"/>
                </a:ext>
              </a:extLst>
            </p:cNvPr>
            <p:cNvSpPr txBox="1"/>
            <p:nvPr/>
          </p:nvSpPr>
          <p:spPr>
            <a:xfrm>
              <a:off x="6449454" y="5020370"/>
              <a:ext cx="2039225" cy="584775"/>
            </a:xfrm>
            <a:prstGeom prst="rect">
              <a:avLst/>
            </a:prstGeom>
            <a:noFill/>
          </p:spPr>
          <p:txBody>
            <a:bodyPr wrap="square" rtlCol="0">
              <a:spAutoFit/>
            </a:bodyPr>
            <a:lstStyle/>
            <a:p>
              <a:r>
                <a:rPr lang="en-US" sz="1600" dirty="0">
                  <a:solidFill>
                    <a:srgbClr val="000000"/>
                  </a:solidFill>
                  <a:latin typeface="Century Gothic" charset="0"/>
                  <a:ea typeface="Century Gothic" charset="0"/>
                  <a:cs typeface="Century Gothic" charset="0"/>
                </a:rPr>
                <a:t>Machine learning, linguistics, …</a:t>
              </a:r>
            </a:p>
          </p:txBody>
        </p:sp>
        <p:sp>
          <p:nvSpPr>
            <p:cNvPr id="72" name="Rectangle 71">
              <a:extLst>
                <a:ext uri="{FF2B5EF4-FFF2-40B4-BE49-F238E27FC236}">
                  <a16:creationId xmlns:a16="http://schemas.microsoft.com/office/drawing/2014/main" xmlns="" id="{C3561EAD-ED1D-EE4E-ADF0-15BA112B9F86}"/>
                </a:ext>
              </a:extLst>
            </p:cNvPr>
            <p:cNvSpPr/>
            <p:nvPr/>
          </p:nvSpPr>
          <p:spPr>
            <a:xfrm>
              <a:off x="6383851" y="5099100"/>
              <a:ext cx="45719" cy="435062"/>
            </a:xfrm>
            <a:prstGeom prst="rect">
              <a:avLst/>
            </a:prstGeom>
            <a:solidFill>
              <a:srgbClr val="DDDFE0">
                <a:alpha val="80392"/>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endParaRPr>
            </a:p>
          </p:txBody>
        </p:sp>
        <p:cxnSp>
          <p:nvCxnSpPr>
            <p:cNvPr id="36" name="Straight Connector 35">
              <a:extLst>
                <a:ext uri="{FF2B5EF4-FFF2-40B4-BE49-F238E27FC236}">
                  <a16:creationId xmlns:a16="http://schemas.microsoft.com/office/drawing/2014/main" xmlns="" id="{F3393D08-7F8C-D642-8CE8-3A7F9FB73400}"/>
                </a:ext>
              </a:extLst>
            </p:cNvPr>
            <p:cNvCxnSpPr>
              <a:cxnSpLocks/>
            </p:cNvCxnSpPr>
            <p:nvPr/>
          </p:nvCxnSpPr>
          <p:spPr>
            <a:xfrm>
              <a:off x="6096000" y="5321874"/>
              <a:ext cx="287852" cy="0"/>
            </a:xfrm>
            <a:prstGeom prst="line">
              <a:avLst/>
            </a:prstGeom>
            <a:ln w="19050">
              <a:solidFill>
                <a:schemeClr val="tx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8820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500"/>
                                        <p:tgtEl>
                                          <p:spTgt spid="5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fade">
                                      <p:cBhvr>
                                        <p:cTn id="22" dur="500"/>
                                        <p:tgtEl>
                                          <p:spTgt spid="58"/>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fade">
                                      <p:cBhvr>
                                        <p:cTn id="31" dur="500"/>
                                        <p:tgtEl>
                                          <p:spTgt spid="5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500"/>
                                        <p:tgtEl>
                                          <p:spTgt spid="59"/>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fade">
                                      <p:cBhvr>
                                        <p:cTn id="43" dur="500"/>
                                        <p:tgtEl>
                                          <p:spTgt spid="5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fade">
                                      <p:cBhvr>
                                        <p:cTn id="46" dur="500"/>
                                        <p:tgtEl>
                                          <p:spTgt spid="60"/>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left)">
                                      <p:cBhvr>
                                        <p:cTn id="50" dur="500"/>
                                        <p:tgtEl>
                                          <p:spTgt spid="8"/>
                                        </p:tgtEl>
                                      </p:cBhvr>
                                    </p:animEffect>
                                  </p:childTnLst>
                                </p:cTn>
                              </p:par>
                            </p:childTnLst>
                          </p:cTn>
                        </p:par>
                        <p:par>
                          <p:cTn id="51" fill="hold">
                            <p:stCondLst>
                              <p:cond delay="1000"/>
                            </p:stCondLst>
                            <p:childTnLst>
                              <p:par>
                                <p:cTn id="52" presetID="10" presetClass="entr" presetSubtype="0" fill="hold" grpId="0" nodeType="after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fade">
                                      <p:cBhvr>
                                        <p:cTn id="54" dur="500"/>
                                        <p:tgtEl>
                                          <p:spTgt spid="5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animEffect transition="in" filter="fade">
                                      <p:cBhvr>
                                        <p:cTn id="57" dur="500"/>
                                        <p:tgtEl>
                                          <p:spTgt spid="6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4"/>
                                        </p:tgtEl>
                                        <p:attrNameLst>
                                          <p:attrName>style.visibility</p:attrName>
                                        </p:attrNameLst>
                                      </p:cBhvr>
                                      <p:to>
                                        <p:strVal val="visible"/>
                                      </p:to>
                                    </p:set>
                                    <p:animEffect transition="in" filter="fade">
                                      <p:cBhvr>
                                        <p:cTn id="60" dur="500"/>
                                        <p:tgtEl>
                                          <p:spTgt spid="64"/>
                                        </p:tgtEl>
                                      </p:cBhvr>
                                    </p:animEffect>
                                  </p:childTnLst>
                                </p:cTn>
                              </p:par>
                              <p:par>
                                <p:cTn id="61" presetID="10" presetClass="entr" presetSubtype="0" fill="hold" nodeType="with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fade">
                                      <p:cBhvr>
                                        <p:cTn id="63" dur="500"/>
                                        <p:tgtEl>
                                          <p:spTgt spid="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fade">
                                      <p:cBhvr>
                                        <p:cTn id="6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P spid="53" grpId="0" animBg="1"/>
      <p:bldP spid="54" grpId="0" animBg="1"/>
      <p:bldP spid="57" grpId="0"/>
      <p:bldP spid="58" grpId="0"/>
      <p:bldP spid="59" grpId="0"/>
      <p:bldP spid="60" grpId="0"/>
      <p:bldP spid="61" grpId="0"/>
      <p:bldP spid="64" grpId="0"/>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reeform 50">
            <a:extLst>
              <a:ext uri="{FF2B5EF4-FFF2-40B4-BE49-F238E27FC236}">
                <a16:creationId xmlns:a16="http://schemas.microsoft.com/office/drawing/2014/main" xmlns="" id="{978E545B-EB76-8148-A35B-150C48ADB264}"/>
              </a:ext>
            </a:extLst>
          </p:cNvPr>
          <p:cNvSpPr/>
          <p:nvPr/>
        </p:nvSpPr>
        <p:spPr>
          <a:xfrm>
            <a:off x="2660523" y="1529542"/>
            <a:ext cx="3794456" cy="1409445"/>
          </a:xfrm>
          <a:custGeom>
            <a:avLst/>
            <a:gdLst>
              <a:gd name="connsiteX0" fmla="*/ 614319 w 2588914"/>
              <a:gd name="connsiteY0" fmla="*/ 0 h 1129554"/>
              <a:gd name="connsiteX1" fmla="*/ 1974595 w 2588914"/>
              <a:gd name="connsiteY1" fmla="*/ 0 h 1129554"/>
              <a:gd name="connsiteX2" fmla="*/ 2588914 w 2588914"/>
              <a:gd name="connsiteY2" fmla="*/ 1129554 h 1129554"/>
              <a:gd name="connsiteX3" fmla="*/ 0 w 2588914"/>
              <a:gd name="connsiteY3" fmla="*/ 1129554 h 1129554"/>
              <a:gd name="connsiteX4" fmla="*/ 614319 w 2588914"/>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914" h="1129554">
                <a:moveTo>
                  <a:pt x="614319" y="0"/>
                </a:moveTo>
                <a:lnTo>
                  <a:pt x="1974595" y="0"/>
                </a:lnTo>
                <a:lnTo>
                  <a:pt x="2588914" y="1129554"/>
                </a:lnTo>
                <a:lnTo>
                  <a:pt x="0" y="1129554"/>
                </a:lnTo>
                <a:lnTo>
                  <a:pt x="614319" y="0"/>
                </a:lnTo>
                <a:close/>
              </a:path>
            </a:pathLst>
          </a:custGeom>
          <a:solidFill>
            <a:srgbClr val="7792C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2" name="Freeform 51">
            <a:extLst>
              <a:ext uri="{FF2B5EF4-FFF2-40B4-BE49-F238E27FC236}">
                <a16:creationId xmlns:a16="http://schemas.microsoft.com/office/drawing/2014/main" xmlns="" id="{6CB448AD-9002-E140-A24C-AFF375496F61}"/>
              </a:ext>
            </a:extLst>
          </p:cNvPr>
          <p:cNvSpPr/>
          <p:nvPr/>
        </p:nvSpPr>
        <p:spPr>
          <a:xfrm>
            <a:off x="1663674" y="3089998"/>
            <a:ext cx="5788153" cy="1409445"/>
          </a:xfrm>
          <a:custGeom>
            <a:avLst/>
            <a:gdLst>
              <a:gd name="connsiteX0" fmla="*/ 614319 w 3949190"/>
              <a:gd name="connsiteY0" fmla="*/ 0 h 1129554"/>
              <a:gd name="connsiteX1" fmla="*/ 3334871 w 3949190"/>
              <a:gd name="connsiteY1" fmla="*/ 0 h 1129554"/>
              <a:gd name="connsiteX2" fmla="*/ 3949190 w 3949190"/>
              <a:gd name="connsiteY2" fmla="*/ 1129554 h 1129554"/>
              <a:gd name="connsiteX3" fmla="*/ 0 w 3949190"/>
              <a:gd name="connsiteY3" fmla="*/ 1129554 h 1129554"/>
              <a:gd name="connsiteX4" fmla="*/ 614319 w 3949190"/>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90" h="1129554">
                <a:moveTo>
                  <a:pt x="614319" y="0"/>
                </a:moveTo>
                <a:lnTo>
                  <a:pt x="3334871" y="0"/>
                </a:lnTo>
                <a:lnTo>
                  <a:pt x="3949190" y="1129554"/>
                </a:lnTo>
                <a:lnTo>
                  <a:pt x="0" y="1129554"/>
                </a:lnTo>
                <a:lnTo>
                  <a:pt x="614319" y="0"/>
                </a:lnTo>
                <a:close/>
              </a:path>
            </a:pathLst>
          </a:custGeom>
          <a:solidFill>
            <a:srgbClr val="C17A9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3" name="Freeform 52">
            <a:extLst>
              <a:ext uri="{FF2B5EF4-FFF2-40B4-BE49-F238E27FC236}">
                <a16:creationId xmlns:a16="http://schemas.microsoft.com/office/drawing/2014/main" xmlns="" id="{1A54A3CF-BC91-5C43-8730-A8564FAEDE43}"/>
              </a:ext>
            </a:extLst>
          </p:cNvPr>
          <p:cNvSpPr/>
          <p:nvPr/>
        </p:nvSpPr>
        <p:spPr>
          <a:xfrm>
            <a:off x="666827" y="4650452"/>
            <a:ext cx="7781847" cy="1409445"/>
          </a:xfrm>
          <a:custGeom>
            <a:avLst/>
            <a:gdLst>
              <a:gd name="connsiteX0" fmla="*/ 614319 w 5309465"/>
              <a:gd name="connsiteY0" fmla="*/ 0 h 1129554"/>
              <a:gd name="connsiteX1" fmla="*/ 4695147 w 5309465"/>
              <a:gd name="connsiteY1" fmla="*/ 0 h 1129554"/>
              <a:gd name="connsiteX2" fmla="*/ 5309465 w 5309465"/>
              <a:gd name="connsiteY2" fmla="*/ 1129554 h 1129554"/>
              <a:gd name="connsiteX3" fmla="*/ 0 w 5309465"/>
              <a:gd name="connsiteY3" fmla="*/ 1129554 h 1129554"/>
              <a:gd name="connsiteX4" fmla="*/ 614319 w 5309465"/>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9465" h="1129554">
                <a:moveTo>
                  <a:pt x="614319" y="0"/>
                </a:moveTo>
                <a:lnTo>
                  <a:pt x="4695147" y="0"/>
                </a:lnTo>
                <a:lnTo>
                  <a:pt x="5309465" y="1129554"/>
                </a:lnTo>
                <a:lnTo>
                  <a:pt x="0" y="1129554"/>
                </a:lnTo>
                <a:lnTo>
                  <a:pt x="614319" y="0"/>
                </a:lnTo>
                <a:close/>
              </a:path>
            </a:pathLst>
          </a:cu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5" name="TextBox 54">
            <a:extLst>
              <a:ext uri="{FF2B5EF4-FFF2-40B4-BE49-F238E27FC236}">
                <a16:creationId xmlns:a16="http://schemas.microsoft.com/office/drawing/2014/main" xmlns="" id="{3D0DEEB9-74B1-0C47-9C02-E52DAA56675B}"/>
              </a:ext>
            </a:extLst>
          </p:cNvPr>
          <p:cNvSpPr txBox="1"/>
          <p:nvPr/>
        </p:nvSpPr>
        <p:spPr>
          <a:xfrm>
            <a:off x="1117277" y="6210906"/>
            <a:ext cx="714557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30" name="Title 2">
            <a:extLst>
              <a:ext uri="{FF2B5EF4-FFF2-40B4-BE49-F238E27FC236}">
                <a16:creationId xmlns:a16="http://schemas.microsoft.com/office/drawing/2014/main" xmlns="" id="{76929319-9B86-4842-96F1-0CFDF5989586}"/>
              </a:ext>
            </a:extLst>
          </p:cNvPr>
          <p:cNvSpPr txBox="1">
            <a:spLocks/>
          </p:cNvSpPr>
          <p:nvPr/>
        </p:nvSpPr>
        <p:spPr bwMode="auto">
          <a:xfrm>
            <a:off x="676274" y="228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lang="en-US" sz="2800" b="0" kern="1200" cap="none" baseline="0" dirty="0" smtClean="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rgbClr val="000000">
                    <a:lumMod val="95000"/>
                    <a:lumOff val="5000"/>
                  </a:srgbClr>
                </a:solidFill>
              </a:rPr>
              <a:t>A brief overview of NLP</a:t>
            </a:r>
          </a:p>
        </p:txBody>
      </p:sp>
      <p:sp>
        <p:nvSpPr>
          <p:cNvPr id="38" name="TextBox 37">
            <a:extLst>
              <a:ext uri="{FF2B5EF4-FFF2-40B4-BE49-F238E27FC236}">
                <a16:creationId xmlns:a16="http://schemas.microsoft.com/office/drawing/2014/main" xmlns="" id="{3D0DEEB9-74B1-0C47-9C02-E52DAA56675B}"/>
              </a:ext>
            </a:extLst>
          </p:cNvPr>
          <p:cNvSpPr txBox="1"/>
          <p:nvPr/>
        </p:nvSpPr>
        <p:spPr>
          <a:xfrm>
            <a:off x="1117277" y="6210906"/>
            <a:ext cx="834676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47" name="TextBox 46">
            <a:extLst>
              <a:ext uri="{FF2B5EF4-FFF2-40B4-BE49-F238E27FC236}">
                <a16:creationId xmlns:a16="http://schemas.microsoft.com/office/drawing/2014/main" xmlns="" id="{96968A2D-772B-4144-9FC4-7A79BDD1E1A3}"/>
              </a:ext>
            </a:extLst>
          </p:cNvPr>
          <p:cNvSpPr txBox="1"/>
          <p:nvPr/>
        </p:nvSpPr>
        <p:spPr>
          <a:xfrm>
            <a:off x="159946" y="1188070"/>
            <a:ext cx="700833"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Level</a:t>
            </a:r>
          </a:p>
        </p:txBody>
      </p:sp>
      <p:sp>
        <p:nvSpPr>
          <p:cNvPr id="48" name="TextBox 47">
            <a:extLst>
              <a:ext uri="{FF2B5EF4-FFF2-40B4-BE49-F238E27FC236}">
                <a16:creationId xmlns:a16="http://schemas.microsoft.com/office/drawing/2014/main" xmlns="" id="{96968A2D-772B-4144-9FC4-7A79BDD1E1A3}"/>
              </a:ext>
            </a:extLst>
          </p:cNvPr>
          <p:cNvSpPr txBox="1"/>
          <p:nvPr/>
        </p:nvSpPr>
        <p:spPr>
          <a:xfrm>
            <a:off x="7750890" y="1188070"/>
            <a:ext cx="1173719" cy="338554"/>
          </a:xfrm>
          <a:prstGeom prst="rect">
            <a:avLst/>
          </a:prstGeom>
          <a:noFill/>
        </p:spPr>
        <p:txBody>
          <a:bodyPr wrap="none" rtlCol="0">
            <a:spAutoFit/>
          </a:bodyPr>
          <a:lstStyle/>
          <a:p>
            <a:pPr eaLnBrk="0" fontAlgn="base" hangingPunct="0">
              <a:spcBef>
                <a:spcPct val="0"/>
              </a:spcBef>
              <a:spcAft>
                <a:spcPct val="0"/>
              </a:spcAft>
            </a:pPr>
            <a:r>
              <a:rPr lang="en-US" sz="1600">
                <a:solidFill>
                  <a:srgbClr val="000000"/>
                </a:solidFill>
                <a:latin typeface="Century Gothic" charset="0"/>
                <a:ea typeface="Century Gothic" charset="0"/>
                <a:cs typeface="Century Gothic" charset="0"/>
              </a:rPr>
              <a:t>Accuracy</a:t>
            </a:r>
            <a:endParaRPr lang="en-US" sz="1600" dirty="0">
              <a:solidFill>
                <a:srgbClr val="000000"/>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33479305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reeform 50">
            <a:extLst>
              <a:ext uri="{FF2B5EF4-FFF2-40B4-BE49-F238E27FC236}">
                <a16:creationId xmlns:a16="http://schemas.microsoft.com/office/drawing/2014/main" xmlns="" id="{978E545B-EB76-8148-A35B-150C48ADB264}"/>
              </a:ext>
            </a:extLst>
          </p:cNvPr>
          <p:cNvSpPr/>
          <p:nvPr/>
        </p:nvSpPr>
        <p:spPr>
          <a:xfrm>
            <a:off x="2660523" y="1529542"/>
            <a:ext cx="3794456" cy="1409445"/>
          </a:xfrm>
          <a:custGeom>
            <a:avLst/>
            <a:gdLst>
              <a:gd name="connsiteX0" fmla="*/ 614319 w 2588914"/>
              <a:gd name="connsiteY0" fmla="*/ 0 h 1129554"/>
              <a:gd name="connsiteX1" fmla="*/ 1974595 w 2588914"/>
              <a:gd name="connsiteY1" fmla="*/ 0 h 1129554"/>
              <a:gd name="connsiteX2" fmla="*/ 2588914 w 2588914"/>
              <a:gd name="connsiteY2" fmla="*/ 1129554 h 1129554"/>
              <a:gd name="connsiteX3" fmla="*/ 0 w 2588914"/>
              <a:gd name="connsiteY3" fmla="*/ 1129554 h 1129554"/>
              <a:gd name="connsiteX4" fmla="*/ 614319 w 2588914"/>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914" h="1129554">
                <a:moveTo>
                  <a:pt x="614319" y="0"/>
                </a:moveTo>
                <a:lnTo>
                  <a:pt x="1974595" y="0"/>
                </a:lnTo>
                <a:lnTo>
                  <a:pt x="2588914" y="1129554"/>
                </a:lnTo>
                <a:lnTo>
                  <a:pt x="0" y="1129554"/>
                </a:lnTo>
                <a:lnTo>
                  <a:pt x="614319" y="0"/>
                </a:lnTo>
                <a:close/>
              </a:path>
            </a:pathLst>
          </a:custGeom>
          <a:solidFill>
            <a:srgbClr val="7792C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2" name="Freeform 51">
            <a:extLst>
              <a:ext uri="{FF2B5EF4-FFF2-40B4-BE49-F238E27FC236}">
                <a16:creationId xmlns:a16="http://schemas.microsoft.com/office/drawing/2014/main" xmlns="" id="{6CB448AD-9002-E140-A24C-AFF375496F61}"/>
              </a:ext>
            </a:extLst>
          </p:cNvPr>
          <p:cNvSpPr/>
          <p:nvPr/>
        </p:nvSpPr>
        <p:spPr>
          <a:xfrm>
            <a:off x="1663674" y="3089998"/>
            <a:ext cx="5788153" cy="1409445"/>
          </a:xfrm>
          <a:custGeom>
            <a:avLst/>
            <a:gdLst>
              <a:gd name="connsiteX0" fmla="*/ 614319 w 3949190"/>
              <a:gd name="connsiteY0" fmla="*/ 0 h 1129554"/>
              <a:gd name="connsiteX1" fmla="*/ 3334871 w 3949190"/>
              <a:gd name="connsiteY1" fmla="*/ 0 h 1129554"/>
              <a:gd name="connsiteX2" fmla="*/ 3949190 w 3949190"/>
              <a:gd name="connsiteY2" fmla="*/ 1129554 h 1129554"/>
              <a:gd name="connsiteX3" fmla="*/ 0 w 3949190"/>
              <a:gd name="connsiteY3" fmla="*/ 1129554 h 1129554"/>
              <a:gd name="connsiteX4" fmla="*/ 614319 w 3949190"/>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90" h="1129554">
                <a:moveTo>
                  <a:pt x="614319" y="0"/>
                </a:moveTo>
                <a:lnTo>
                  <a:pt x="3334871" y="0"/>
                </a:lnTo>
                <a:lnTo>
                  <a:pt x="3949190" y="1129554"/>
                </a:lnTo>
                <a:lnTo>
                  <a:pt x="0" y="1129554"/>
                </a:lnTo>
                <a:lnTo>
                  <a:pt x="614319" y="0"/>
                </a:lnTo>
                <a:close/>
              </a:path>
            </a:pathLst>
          </a:custGeom>
          <a:solidFill>
            <a:srgbClr val="C17A9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3" name="Freeform 52">
            <a:extLst>
              <a:ext uri="{FF2B5EF4-FFF2-40B4-BE49-F238E27FC236}">
                <a16:creationId xmlns:a16="http://schemas.microsoft.com/office/drawing/2014/main" xmlns="" id="{1A54A3CF-BC91-5C43-8730-A8564FAEDE43}"/>
              </a:ext>
            </a:extLst>
          </p:cNvPr>
          <p:cNvSpPr/>
          <p:nvPr/>
        </p:nvSpPr>
        <p:spPr>
          <a:xfrm>
            <a:off x="666827" y="4650452"/>
            <a:ext cx="7781847" cy="1409445"/>
          </a:xfrm>
          <a:custGeom>
            <a:avLst/>
            <a:gdLst>
              <a:gd name="connsiteX0" fmla="*/ 614319 w 5309465"/>
              <a:gd name="connsiteY0" fmla="*/ 0 h 1129554"/>
              <a:gd name="connsiteX1" fmla="*/ 4695147 w 5309465"/>
              <a:gd name="connsiteY1" fmla="*/ 0 h 1129554"/>
              <a:gd name="connsiteX2" fmla="*/ 5309465 w 5309465"/>
              <a:gd name="connsiteY2" fmla="*/ 1129554 h 1129554"/>
              <a:gd name="connsiteX3" fmla="*/ 0 w 5309465"/>
              <a:gd name="connsiteY3" fmla="*/ 1129554 h 1129554"/>
              <a:gd name="connsiteX4" fmla="*/ 614319 w 5309465"/>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9465" h="1129554">
                <a:moveTo>
                  <a:pt x="614319" y="0"/>
                </a:moveTo>
                <a:lnTo>
                  <a:pt x="4695147" y="0"/>
                </a:lnTo>
                <a:lnTo>
                  <a:pt x="5309465" y="1129554"/>
                </a:lnTo>
                <a:lnTo>
                  <a:pt x="0" y="1129554"/>
                </a:lnTo>
                <a:lnTo>
                  <a:pt x="614319" y="0"/>
                </a:lnTo>
                <a:close/>
              </a:path>
            </a:pathLst>
          </a:cu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5" name="TextBox 54">
            <a:extLst>
              <a:ext uri="{FF2B5EF4-FFF2-40B4-BE49-F238E27FC236}">
                <a16:creationId xmlns:a16="http://schemas.microsoft.com/office/drawing/2014/main" xmlns="" id="{3D0DEEB9-74B1-0C47-9C02-E52DAA56675B}"/>
              </a:ext>
            </a:extLst>
          </p:cNvPr>
          <p:cNvSpPr txBox="1"/>
          <p:nvPr/>
        </p:nvSpPr>
        <p:spPr>
          <a:xfrm>
            <a:off x="1117277" y="6210906"/>
            <a:ext cx="714557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58" name="TextBox 57">
            <a:extLst>
              <a:ext uri="{FF2B5EF4-FFF2-40B4-BE49-F238E27FC236}">
                <a16:creationId xmlns:a16="http://schemas.microsoft.com/office/drawing/2014/main" xmlns="" id="{96968A2D-772B-4144-9FC4-7A79BDD1E1A3}"/>
              </a:ext>
            </a:extLst>
          </p:cNvPr>
          <p:cNvSpPr txBox="1"/>
          <p:nvPr/>
        </p:nvSpPr>
        <p:spPr>
          <a:xfrm>
            <a:off x="141141" y="5185897"/>
            <a:ext cx="768159" cy="584775"/>
          </a:xfrm>
          <a:prstGeom prst="rect">
            <a:avLst/>
          </a:prstGeom>
          <a:noFill/>
        </p:spPr>
        <p:txBody>
          <a:bodyPr wrap="none" rtlCol="0">
            <a:spAutoFit/>
          </a:bodyPr>
          <a:lstStyle/>
          <a:p>
            <a:r>
              <a:rPr lang="en-US" sz="1600" dirty="0">
                <a:solidFill>
                  <a:srgbClr val="000000"/>
                </a:solidFill>
                <a:latin typeface="Century Gothic" charset="0"/>
                <a:ea typeface="Century Gothic" charset="0"/>
                <a:cs typeface="Century Gothic" charset="0"/>
              </a:rPr>
              <a:t>Token</a:t>
            </a:r>
          </a:p>
          <a:p>
            <a:r>
              <a:rPr lang="en-US" sz="1600" dirty="0">
                <a:solidFill>
                  <a:srgbClr val="000000"/>
                </a:solidFill>
                <a:latin typeface="Century Gothic" charset="0"/>
                <a:ea typeface="Century Gothic" charset="0"/>
                <a:cs typeface="Century Gothic" charset="0"/>
              </a:rPr>
              <a:t>(POS)</a:t>
            </a:r>
          </a:p>
        </p:txBody>
      </p:sp>
      <p:sp>
        <p:nvSpPr>
          <p:cNvPr id="30" name="Title 2">
            <a:extLst>
              <a:ext uri="{FF2B5EF4-FFF2-40B4-BE49-F238E27FC236}">
                <a16:creationId xmlns:a16="http://schemas.microsoft.com/office/drawing/2014/main" xmlns="" id="{76929319-9B86-4842-96F1-0CFDF5989586}"/>
              </a:ext>
            </a:extLst>
          </p:cNvPr>
          <p:cNvSpPr txBox="1">
            <a:spLocks/>
          </p:cNvSpPr>
          <p:nvPr/>
        </p:nvSpPr>
        <p:spPr bwMode="auto">
          <a:xfrm>
            <a:off x="676274" y="228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lang="en-US" sz="2800" b="0" kern="1200" cap="none" baseline="0" dirty="0" smtClean="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rgbClr val="000000">
                    <a:lumMod val="95000"/>
                    <a:lumOff val="5000"/>
                  </a:srgbClr>
                </a:solidFill>
              </a:rPr>
              <a:t>A brief overview of NLP</a:t>
            </a:r>
          </a:p>
        </p:txBody>
      </p:sp>
      <p:sp>
        <p:nvSpPr>
          <p:cNvPr id="38" name="TextBox 37">
            <a:extLst>
              <a:ext uri="{FF2B5EF4-FFF2-40B4-BE49-F238E27FC236}">
                <a16:creationId xmlns:a16="http://schemas.microsoft.com/office/drawing/2014/main" xmlns="" id="{3D0DEEB9-74B1-0C47-9C02-E52DAA56675B}"/>
              </a:ext>
            </a:extLst>
          </p:cNvPr>
          <p:cNvSpPr txBox="1"/>
          <p:nvPr/>
        </p:nvSpPr>
        <p:spPr>
          <a:xfrm>
            <a:off x="1117277" y="5124341"/>
            <a:ext cx="834676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5" name="Rounded Rectangle 4"/>
          <p:cNvSpPr/>
          <p:nvPr/>
        </p:nvSpPr>
        <p:spPr>
          <a:xfrm>
            <a:off x="1192601" y="5159676"/>
            <a:ext cx="985334"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NNP</a:t>
            </a:r>
          </a:p>
        </p:txBody>
      </p:sp>
      <p:sp>
        <p:nvSpPr>
          <p:cNvPr id="39" name="Rounded Rectangle 38"/>
          <p:cNvSpPr/>
          <p:nvPr/>
        </p:nvSpPr>
        <p:spPr>
          <a:xfrm>
            <a:off x="2209519" y="5159676"/>
            <a:ext cx="683311"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a:p>
            <a:pPr algn="ctr"/>
            <a:r>
              <a:rPr lang="en-US" dirty="0">
                <a:solidFill>
                  <a:srgbClr val="C00000"/>
                </a:solidFill>
              </a:rPr>
              <a:t>NNP</a:t>
            </a:r>
          </a:p>
        </p:txBody>
      </p:sp>
      <p:sp>
        <p:nvSpPr>
          <p:cNvPr id="40" name="Rounded Rectangle 39"/>
          <p:cNvSpPr/>
          <p:nvPr/>
        </p:nvSpPr>
        <p:spPr>
          <a:xfrm>
            <a:off x="2924414" y="5159676"/>
            <a:ext cx="650059"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VBD</a:t>
            </a:r>
          </a:p>
        </p:txBody>
      </p:sp>
      <p:sp>
        <p:nvSpPr>
          <p:cNvPr id="41" name="Rounded Rectangle 40"/>
          <p:cNvSpPr/>
          <p:nvPr/>
        </p:nvSpPr>
        <p:spPr>
          <a:xfrm>
            <a:off x="3612083" y="5159676"/>
            <a:ext cx="1500830"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NNP</a:t>
            </a:r>
          </a:p>
        </p:txBody>
      </p:sp>
      <p:sp>
        <p:nvSpPr>
          <p:cNvPr id="42" name="Rounded Rectangle 41"/>
          <p:cNvSpPr/>
          <p:nvPr/>
        </p:nvSpPr>
        <p:spPr>
          <a:xfrm>
            <a:off x="5166158" y="5159676"/>
            <a:ext cx="610017"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IN</a:t>
            </a:r>
          </a:p>
        </p:txBody>
      </p:sp>
      <p:sp>
        <p:nvSpPr>
          <p:cNvPr id="43" name="Rounded Rectangle 42"/>
          <p:cNvSpPr/>
          <p:nvPr/>
        </p:nvSpPr>
        <p:spPr>
          <a:xfrm>
            <a:off x="5829419" y="5159676"/>
            <a:ext cx="154733" cy="69210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7" name="Rectangle 6"/>
          <p:cNvSpPr/>
          <p:nvPr/>
        </p:nvSpPr>
        <p:spPr>
          <a:xfrm>
            <a:off x="5572765" y="5505726"/>
            <a:ext cx="681643" cy="646331"/>
          </a:xfrm>
          <a:prstGeom prst="rect">
            <a:avLst/>
          </a:prstGeom>
        </p:spPr>
        <p:txBody>
          <a:bodyPr wrap="square">
            <a:spAutoFit/>
          </a:bodyPr>
          <a:lstStyle/>
          <a:p>
            <a:pPr algn="ctr"/>
            <a:endParaRPr lang="en-US" dirty="0">
              <a:solidFill>
                <a:srgbClr val="C00000"/>
              </a:solidFill>
            </a:endParaRPr>
          </a:p>
          <a:p>
            <a:pPr algn="ctr"/>
            <a:r>
              <a:rPr lang="en-US" dirty="0">
                <a:solidFill>
                  <a:srgbClr val="C00000"/>
                </a:solidFill>
              </a:rPr>
              <a:t>DT</a:t>
            </a:r>
          </a:p>
        </p:txBody>
      </p:sp>
      <p:sp>
        <p:nvSpPr>
          <p:cNvPr id="44" name="Rounded Rectangle 43"/>
          <p:cNvSpPr/>
          <p:nvPr/>
        </p:nvSpPr>
        <p:spPr>
          <a:xfrm>
            <a:off x="6050997" y="5159676"/>
            <a:ext cx="1209774"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JJ</a:t>
            </a:r>
          </a:p>
        </p:txBody>
      </p:sp>
      <p:sp>
        <p:nvSpPr>
          <p:cNvPr id="45" name="Rounded Rectangle 44"/>
          <p:cNvSpPr/>
          <p:nvPr/>
        </p:nvSpPr>
        <p:spPr>
          <a:xfrm>
            <a:off x="7305844" y="5159676"/>
            <a:ext cx="683311"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a:t>
            </a:r>
          </a:p>
        </p:txBody>
      </p:sp>
      <p:sp>
        <p:nvSpPr>
          <p:cNvPr id="46" name="TextBox 45">
            <a:extLst>
              <a:ext uri="{FF2B5EF4-FFF2-40B4-BE49-F238E27FC236}">
                <a16:creationId xmlns:a16="http://schemas.microsoft.com/office/drawing/2014/main" xmlns="" id="{96968A2D-772B-4144-9FC4-7A79BDD1E1A3}"/>
              </a:ext>
            </a:extLst>
          </p:cNvPr>
          <p:cNvSpPr txBox="1"/>
          <p:nvPr/>
        </p:nvSpPr>
        <p:spPr>
          <a:xfrm>
            <a:off x="8228585" y="5261402"/>
            <a:ext cx="696024"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&gt;95%</a:t>
            </a:r>
          </a:p>
        </p:txBody>
      </p:sp>
      <p:sp>
        <p:nvSpPr>
          <p:cNvPr id="47" name="TextBox 46">
            <a:extLst>
              <a:ext uri="{FF2B5EF4-FFF2-40B4-BE49-F238E27FC236}">
                <a16:creationId xmlns:a16="http://schemas.microsoft.com/office/drawing/2014/main" xmlns="" id="{96968A2D-772B-4144-9FC4-7A79BDD1E1A3}"/>
              </a:ext>
            </a:extLst>
          </p:cNvPr>
          <p:cNvSpPr txBox="1"/>
          <p:nvPr/>
        </p:nvSpPr>
        <p:spPr>
          <a:xfrm>
            <a:off x="159946" y="1188070"/>
            <a:ext cx="700833"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Level</a:t>
            </a:r>
          </a:p>
        </p:txBody>
      </p:sp>
      <p:sp>
        <p:nvSpPr>
          <p:cNvPr id="48" name="TextBox 47">
            <a:extLst>
              <a:ext uri="{FF2B5EF4-FFF2-40B4-BE49-F238E27FC236}">
                <a16:creationId xmlns:a16="http://schemas.microsoft.com/office/drawing/2014/main" xmlns="" id="{96968A2D-772B-4144-9FC4-7A79BDD1E1A3}"/>
              </a:ext>
            </a:extLst>
          </p:cNvPr>
          <p:cNvSpPr txBox="1"/>
          <p:nvPr/>
        </p:nvSpPr>
        <p:spPr>
          <a:xfrm>
            <a:off x="7750890" y="1188070"/>
            <a:ext cx="1173719" cy="338554"/>
          </a:xfrm>
          <a:prstGeom prst="rect">
            <a:avLst/>
          </a:prstGeom>
          <a:noFill/>
        </p:spPr>
        <p:txBody>
          <a:bodyPr wrap="none" rtlCol="0">
            <a:spAutoFit/>
          </a:bodyPr>
          <a:lstStyle/>
          <a:p>
            <a:pPr eaLnBrk="0" fontAlgn="base" hangingPunct="0">
              <a:spcBef>
                <a:spcPct val="0"/>
              </a:spcBef>
              <a:spcAft>
                <a:spcPct val="0"/>
              </a:spcAft>
            </a:pPr>
            <a:r>
              <a:rPr lang="en-US" sz="1600">
                <a:solidFill>
                  <a:srgbClr val="000000"/>
                </a:solidFill>
                <a:latin typeface="Century Gothic" charset="0"/>
                <a:ea typeface="Century Gothic" charset="0"/>
                <a:cs typeface="Century Gothic" charset="0"/>
              </a:rPr>
              <a:t>Accuracy</a:t>
            </a:r>
            <a:endParaRPr lang="en-US" sz="1600" dirty="0">
              <a:solidFill>
                <a:srgbClr val="000000"/>
              </a:solidFill>
              <a:latin typeface="Century Gothic" charset="0"/>
              <a:ea typeface="Century Gothic" charset="0"/>
              <a:cs typeface="Century Gothic" charset="0"/>
            </a:endParaRPr>
          </a:p>
        </p:txBody>
      </p:sp>
      <p:sp>
        <p:nvSpPr>
          <p:cNvPr id="23" name="TextBox 22">
            <a:extLst>
              <a:ext uri="{FF2B5EF4-FFF2-40B4-BE49-F238E27FC236}">
                <a16:creationId xmlns:a16="http://schemas.microsoft.com/office/drawing/2014/main" xmlns="" id="{3D0DEEB9-74B1-0C47-9C02-E52DAA56675B}"/>
              </a:ext>
            </a:extLst>
          </p:cNvPr>
          <p:cNvSpPr txBox="1"/>
          <p:nvPr/>
        </p:nvSpPr>
        <p:spPr>
          <a:xfrm>
            <a:off x="1117277" y="5124341"/>
            <a:ext cx="714557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Tree>
    <p:extLst>
      <p:ext uri="{BB962C8B-B14F-4D97-AF65-F5344CB8AC3E}">
        <p14:creationId xmlns:p14="http://schemas.microsoft.com/office/powerpoint/2010/main" val="7889615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up)">
                                      <p:cBhvr>
                                        <p:cTn id="15" dur="500"/>
                                        <p:tgtEl>
                                          <p:spTgt spid="39"/>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wipe(up)">
                                      <p:cBhvr>
                                        <p:cTn id="18" dur="500"/>
                                        <p:tgtEl>
                                          <p:spTgt spid="40"/>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up)">
                                      <p:cBhvr>
                                        <p:cTn id="21" dur="500"/>
                                        <p:tgtEl>
                                          <p:spTgt spid="41"/>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wipe(up)">
                                      <p:cBhvr>
                                        <p:cTn id="24" dur="500"/>
                                        <p:tgtEl>
                                          <p:spTgt spid="42"/>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up)">
                                      <p:cBhvr>
                                        <p:cTn id="27" dur="500"/>
                                        <p:tgtEl>
                                          <p:spTgt spid="43"/>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ipe(up)">
                                      <p:cBhvr>
                                        <p:cTn id="33" dur="500"/>
                                        <p:tgtEl>
                                          <p:spTgt spid="44"/>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wipe(up)">
                                      <p:cBhvr>
                                        <p:cTn id="36" dur="500"/>
                                        <p:tgtEl>
                                          <p:spTgt spid="4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500"/>
                                        <p:tgtEl>
                                          <p:spTgt spid="46"/>
                                        </p:tgtEl>
                                      </p:cBhvr>
                                    </p:animEffect>
                                  </p:childTnLst>
                                </p:cTn>
                              </p:par>
                              <p:par>
                                <p:cTn id="42" presetID="1"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 grpId="0" animBg="1"/>
      <p:bldP spid="39" grpId="0" animBg="1"/>
      <p:bldP spid="40" grpId="0" animBg="1"/>
      <p:bldP spid="41" grpId="0" animBg="1"/>
      <p:bldP spid="42" grpId="0" animBg="1"/>
      <p:bldP spid="43" grpId="0" animBg="1"/>
      <p:bldP spid="7" grpId="0"/>
      <p:bldP spid="44" grpId="0" animBg="1"/>
      <p:bldP spid="45" grpId="0" animBg="1"/>
      <p:bldP spid="46" grpId="0"/>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reeform 50">
            <a:extLst>
              <a:ext uri="{FF2B5EF4-FFF2-40B4-BE49-F238E27FC236}">
                <a16:creationId xmlns:a16="http://schemas.microsoft.com/office/drawing/2014/main" xmlns="" id="{978E545B-EB76-8148-A35B-150C48ADB264}"/>
              </a:ext>
            </a:extLst>
          </p:cNvPr>
          <p:cNvSpPr/>
          <p:nvPr/>
        </p:nvSpPr>
        <p:spPr>
          <a:xfrm>
            <a:off x="2660523" y="1529542"/>
            <a:ext cx="3794456" cy="1409445"/>
          </a:xfrm>
          <a:custGeom>
            <a:avLst/>
            <a:gdLst>
              <a:gd name="connsiteX0" fmla="*/ 614319 w 2588914"/>
              <a:gd name="connsiteY0" fmla="*/ 0 h 1129554"/>
              <a:gd name="connsiteX1" fmla="*/ 1974595 w 2588914"/>
              <a:gd name="connsiteY1" fmla="*/ 0 h 1129554"/>
              <a:gd name="connsiteX2" fmla="*/ 2588914 w 2588914"/>
              <a:gd name="connsiteY2" fmla="*/ 1129554 h 1129554"/>
              <a:gd name="connsiteX3" fmla="*/ 0 w 2588914"/>
              <a:gd name="connsiteY3" fmla="*/ 1129554 h 1129554"/>
              <a:gd name="connsiteX4" fmla="*/ 614319 w 2588914"/>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914" h="1129554">
                <a:moveTo>
                  <a:pt x="614319" y="0"/>
                </a:moveTo>
                <a:lnTo>
                  <a:pt x="1974595" y="0"/>
                </a:lnTo>
                <a:lnTo>
                  <a:pt x="2588914" y="1129554"/>
                </a:lnTo>
                <a:lnTo>
                  <a:pt x="0" y="1129554"/>
                </a:lnTo>
                <a:lnTo>
                  <a:pt x="614319" y="0"/>
                </a:lnTo>
                <a:close/>
              </a:path>
            </a:pathLst>
          </a:custGeom>
          <a:solidFill>
            <a:srgbClr val="7792C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2" name="Freeform 51">
            <a:extLst>
              <a:ext uri="{FF2B5EF4-FFF2-40B4-BE49-F238E27FC236}">
                <a16:creationId xmlns:a16="http://schemas.microsoft.com/office/drawing/2014/main" xmlns="" id="{6CB448AD-9002-E140-A24C-AFF375496F61}"/>
              </a:ext>
            </a:extLst>
          </p:cNvPr>
          <p:cNvSpPr/>
          <p:nvPr/>
        </p:nvSpPr>
        <p:spPr>
          <a:xfrm>
            <a:off x="1663674" y="3089998"/>
            <a:ext cx="5788153" cy="1409445"/>
          </a:xfrm>
          <a:custGeom>
            <a:avLst/>
            <a:gdLst>
              <a:gd name="connsiteX0" fmla="*/ 614319 w 3949190"/>
              <a:gd name="connsiteY0" fmla="*/ 0 h 1129554"/>
              <a:gd name="connsiteX1" fmla="*/ 3334871 w 3949190"/>
              <a:gd name="connsiteY1" fmla="*/ 0 h 1129554"/>
              <a:gd name="connsiteX2" fmla="*/ 3949190 w 3949190"/>
              <a:gd name="connsiteY2" fmla="*/ 1129554 h 1129554"/>
              <a:gd name="connsiteX3" fmla="*/ 0 w 3949190"/>
              <a:gd name="connsiteY3" fmla="*/ 1129554 h 1129554"/>
              <a:gd name="connsiteX4" fmla="*/ 614319 w 3949190"/>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90" h="1129554">
                <a:moveTo>
                  <a:pt x="614319" y="0"/>
                </a:moveTo>
                <a:lnTo>
                  <a:pt x="3334871" y="0"/>
                </a:lnTo>
                <a:lnTo>
                  <a:pt x="3949190" y="1129554"/>
                </a:lnTo>
                <a:lnTo>
                  <a:pt x="0" y="1129554"/>
                </a:lnTo>
                <a:lnTo>
                  <a:pt x="614319" y="0"/>
                </a:lnTo>
                <a:close/>
              </a:path>
            </a:pathLst>
          </a:custGeom>
          <a:solidFill>
            <a:srgbClr val="C17A9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3" name="Freeform 52">
            <a:extLst>
              <a:ext uri="{FF2B5EF4-FFF2-40B4-BE49-F238E27FC236}">
                <a16:creationId xmlns:a16="http://schemas.microsoft.com/office/drawing/2014/main" xmlns="" id="{1A54A3CF-BC91-5C43-8730-A8564FAEDE43}"/>
              </a:ext>
            </a:extLst>
          </p:cNvPr>
          <p:cNvSpPr/>
          <p:nvPr/>
        </p:nvSpPr>
        <p:spPr>
          <a:xfrm>
            <a:off x="666827" y="4650452"/>
            <a:ext cx="7781847" cy="1409445"/>
          </a:xfrm>
          <a:custGeom>
            <a:avLst/>
            <a:gdLst>
              <a:gd name="connsiteX0" fmla="*/ 614319 w 5309465"/>
              <a:gd name="connsiteY0" fmla="*/ 0 h 1129554"/>
              <a:gd name="connsiteX1" fmla="*/ 4695147 w 5309465"/>
              <a:gd name="connsiteY1" fmla="*/ 0 h 1129554"/>
              <a:gd name="connsiteX2" fmla="*/ 5309465 w 5309465"/>
              <a:gd name="connsiteY2" fmla="*/ 1129554 h 1129554"/>
              <a:gd name="connsiteX3" fmla="*/ 0 w 5309465"/>
              <a:gd name="connsiteY3" fmla="*/ 1129554 h 1129554"/>
              <a:gd name="connsiteX4" fmla="*/ 614319 w 5309465"/>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9465" h="1129554">
                <a:moveTo>
                  <a:pt x="614319" y="0"/>
                </a:moveTo>
                <a:lnTo>
                  <a:pt x="4695147" y="0"/>
                </a:lnTo>
                <a:lnTo>
                  <a:pt x="5309465" y="1129554"/>
                </a:lnTo>
                <a:lnTo>
                  <a:pt x="0" y="1129554"/>
                </a:lnTo>
                <a:lnTo>
                  <a:pt x="614319" y="0"/>
                </a:lnTo>
                <a:close/>
              </a:path>
            </a:pathLst>
          </a:cu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5" name="TextBox 54">
            <a:extLst>
              <a:ext uri="{FF2B5EF4-FFF2-40B4-BE49-F238E27FC236}">
                <a16:creationId xmlns:a16="http://schemas.microsoft.com/office/drawing/2014/main" xmlns="" id="{3D0DEEB9-74B1-0C47-9C02-E52DAA56675B}"/>
              </a:ext>
            </a:extLst>
          </p:cNvPr>
          <p:cNvSpPr txBox="1"/>
          <p:nvPr/>
        </p:nvSpPr>
        <p:spPr>
          <a:xfrm>
            <a:off x="1117277" y="6210906"/>
            <a:ext cx="714557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58" name="TextBox 57">
            <a:extLst>
              <a:ext uri="{FF2B5EF4-FFF2-40B4-BE49-F238E27FC236}">
                <a16:creationId xmlns:a16="http://schemas.microsoft.com/office/drawing/2014/main" xmlns="" id="{96968A2D-772B-4144-9FC4-7A79BDD1E1A3}"/>
              </a:ext>
            </a:extLst>
          </p:cNvPr>
          <p:cNvSpPr txBox="1"/>
          <p:nvPr/>
        </p:nvSpPr>
        <p:spPr>
          <a:xfrm>
            <a:off x="141141" y="5185897"/>
            <a:ext cx="768159" cy="584775"/>
          </a:xfrm>
          <a:prstGeom prst="rect">
            <a:avLst/>
          </a:prstGeom>
          <a:noFill/>
        </p:spPr>
        <p:txBody>
          <a:bodyPr wrap="none" rtlCol="0">
            <a:spAutoFit/>
          </a:bodyPr>
          <a:lstStyle/>
          <a:p>
            <a:r>
              <a:rPr lang="en-US" sz="1600" dirty="0">
                <a:solidFill>
                  <a:srgbClr val="000000"/>
                </a:solidFill>
                <a:latin typeface="Century Gothic" charset="0"/>
                <a:ea typeface="Century Gothic" charset="0"/>
                <a:cs typeface="Century Gothic" charset="0"/>
              </a:rPr>
              <a:t>Token</a:t>
            </a:r>
          </a:p>
          <a:p>
            <a:r>
              <a:rPr lang="en-US" sz="1600" dirty="0">
                <a:solidFill>
                  <a:srgbClr val="000000"/>
                </a:solidFill>
                <a:latin typeface="Century Gothic" charset="0"/>
                <a:ea typeface="Century Gothic" charset="0"/>
                <a:cs typeface="Century Gothic" charset="0"/>
              </a:rPr>
              <a:t>(POS)</a:t>
            </a:r>
          </a:p>
        </p:txBody>
      </p:sp>
      <p:sp>
        <p:nvSpPr>
          <p:cNvPr id="30" name="Title 2">
            <a:extLst>
              <a:ext uri="{FF2B5EF4-FFF2-40B4-BE49-F238E27FC236}">
                <a16:creationId xmlns:a16="http://schemas.microsoft.com/office/drawing/2014/main" xmlns="" id="{76929319-9B86-4842-96F1-0CFDF5989586}"/>
              </a:ext>
            </a:extLst>
          </p:cNvPr>
          <p:cNvSpPr txBox="1">
            <a:spLocks/>
          </p:cNvSpPr>
          <p:nvPr/>
        </p:nvSpPr>
        <p:spPr bwMode="auto">
          <a:xfrm>
            <a:off x="676274" y="228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lang="en-US" sz="2800" b="0" kern="1200" cap="none" baseline="0" dirty="0" smtClean="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rgbClr val="000000">
                    <a:lumMod val="95000"/>
                    <a:lumOff val="5000"/>
                  </a:srgbClr>
                </a:solidFill>
              </a:rPr>
              <a:t>A brief overview of NLP</a:t>
            </a:r>
          </a:p>
        </p:txBody>
      </p:sp>
      <p:sp>
        <p:nvSpPr>
          <p:cNvPr id="38" name="TextBox 37">
            <a:extLst>
              <a:ext uri="{FF2B5EF4-FFF2-40B4-BE49-F238E27FC236}">
                <a16:creationId xmlns:a16="http://schemas.microsoft.com/office/drawing/2014/main" xmlns="" id="{3D0DEEB9-74B1-0C47-9C02-E52DAA56675B}"/>
              </a:ext>
            </a:extLst>
          </p:cNvPr>
          <p:cNvSpPr txBox="1"/>
          <p:nvPr/>
        </p:nvSpPr>
        <p:spPr>
          <a:xfrm>
            <a:off x="1117277" y="5124341"/>
            <a:ext cx="834676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5" name="Rounded Rectangle 4"/>
          <p:cNvSpPr/>
          <p:nvPr/>
        </p:nvSpPr>
        <p:spPr>
          <a:xfrm>
            <a:off x="1192601" y="5159676"/>
            <a:ext cx="985334"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NNP</a:t>
            </a:r>
          </a:p>
        </p:txBody>
      </p:sp>
      <p:sp>
        <p:nvSpPr>
          <p:cNvPr id="39" name="Rounded Rectangle 38"/>
          <p:cNvSpPr/>
          <p:nvPr/>
        </p:nvSpPr>
        <p:spPr>
          <a:xfrm>
            <a:off x="2209519" y="5159676"/>
            <a:ext cx="683311"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a:p>
            <a:pPr algn="ctr"/>
            <a:r>
              <a:rPr lang="en-US" dirty="0">
                <a:solidFill>
                  <a:srgbClr val="C00000"/>
                </a:solidFill>
              </a:rPr>
              <a:t>NNP</a:t>
            </a:r>
          </a:p>
        </p:txBody>
      </p:sp>
      <p:sp>
        <p:nvSpPr>
          <p:cNvPr id="40" name="Rounded Rectangle 39"/>
          <p:cNvSpPr/>
          <p:nvPr/>
        </p:nvSpPr>
        <p:spPr>
          <a:xfrm>
            <a:off x="2924414" y="5159676"/>
            <a:ext cx="650059"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VBD</a:t>
            </a:r>
          </a:p>
        </p:txBody>
      </p:sp>
      <p:sp>
        <p:nvSpPr>
          <p:cNvPr id="41" name="Rounded Rectangle 40"/>
          <p:cNvSpPr/>
          <p:nvPr/>
        </p:nvSpPr>
        <p:spPr>
          <a:xfrm>
            <a:off x="3612083" y="5159676"/>
            <a:ext cx="1500830"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NNP</a:t>
            </a:r>
          </a:p>
        </p:txBody>
      </p:sp>
      <p:sp>
        <p:nvSpPr>
          <p:cNvPr id="42" name="Rounded Rectangle 41"/>
          <p:cNvSpPr/>
          <p:nvPr/>
        </p:nvSpPr>
        <p:spPr>
          <a:xfrm>
            <a:off x="5166158" y="5159676"/>
            <a:ext cx="610017"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IN</a:t>
            </a:r>
          </a:p>
        </p:txBody>
      </p:sp>
      <p:sp>
        <p:nvSpPr>
          <p:cNvPr id="43" name="Rounded Rectangle 42"/>
          <p:cNvSpPr/>
          <p:nvPr/>
        </p:nvSpPr>
        <p:spPr>
          <a:xfrm>
            <a:off x="5829419" y="5159676"/>
            <a:ext cx="154733" cy="69210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7" name="Rectangle 6"/>
          <p:cNvSpPr/>
          <p:nvPr/>
        </p:nvSpPr>
        <p:spPr>
          <a:xfrm>
            <a:off x="5572765" y="5505726"/>
            <a:ext cx="681643" cy="646331"/>
          </a:xfrm>
          <a:prstGeom prst="rect">
            <a:avLst/>
          </a:prstGeom>
        </p:spPr>
        <p:txBody>
          <a:bodyPr wrap="square">
            <a:spAutoFit/>
          </a:bodyPr>
          <a:lstStyle/>
          <a:p>
            <a:pPr algn="ctr"/>
            <a:endParaRPr lang="en-US" dirty="0">
              <a:solidFill>
                <a:srgbClr val="C00000"/>
              </a:solidFill>
            </a:endParaRPr>
          </a:p>
          <a:p>
            <a:pPr algn="ctr"/>
            <a:r>
              <a:rPr lang="en-US" dirty="0">
                <a:solidFill>
                  <a:srgbClr val="C00000"/>
                </a:solidFill>
              </a:rPr>
              <a:t>DT</a:t>
            </a:r>
          </a:p>
        </p:txBody>
      </p:sp>
      <p:sp>
        <p:nvSpPr>
          <p:cNvPr id="44" name="Rounded Rectangle 43"/>
          <p:cNvSpPr/>
          <p:nvPr/>
        </p:nvSpPr>
        <p:spPr>
          <a:xfrm>
            <a:off x="6050997" y="5159676"/>
            <a:ext cx="1209774"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JJ</a:t>
            </a:r>
          </a:p>
        </p:txBody>
      </p:sp>
      <p:sp>
        <p:nvSpPr>
          <p:cNvPr id="45" name="Rounded Rectangle 44"/>
          <p:cNvSpPr/>
          <p:nvPr/>
        </p:nvSpPr>
        <p:spPr>
          <a:xfrm>
            <a:off x="7305844" y="5159676"/>
            <a:ext cx="683311"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a:t>
            </a:r>
          </a:p>
        </p:txBody>
      </p:sp>
      <p:sp>
        <p:nvSpPr>
          <p:cNvPr id="46" name="TextBox 45">
            <a:extLst>
              <a:ext uri="{FF2B5EF4-FFF2-40B4-BE49-F238E27FC236}">
                <a16:creationId xmlns:a16="http://schemas.microsoft.com/office/drawing/2014/main" xmlns="" id="{96968A2D-772B-4144-9FC4-7A79BDD1E1A3}"/>
              </a:ext>
            </a:extLst>
          </p:cNvPr>
          <p:cNvSpPr txBox="1"/>
          <p:nvPr/>
        </p:nvSpPr>
        <p:spPr>
          <a:xfrm>
            <a:off x="8228585" y="5261402"/>
            <a:ext cx="696024"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&gt;95%</a:t>
            </a:r>
          </a:p>
        </p:txBody>
      </p:sp>
      <p:sp>
        <p:nvSpPr>
          <p:cNvPr id="47" name="TextBox 46">
            <a:extLst>
              <a:ext uri="{FF2B5EF4-FFF2-40B4-BE49-F238E27FC236}">
                <a16:creationId xmlns:a16="http://schemas.microsoft.com/office/drawing/2014/main" xmlns="" id="{96968A2D-772B-4144-9FC4-7A79BDD1E1A3}"/>
              </a:ext>
            </a:extLst>
          </p:cNvPr>
          <p:cNvSpPr txBox="1"/>
          <p:nvPr/>
        </p:nvSpPr>
        <p:spPr>
          <a:xfrm>
            <a:off x="159946" y="1188070"/>
            <a:ext cx="700833"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Level</a:t>
            </a:r>
          </a:p>
        </p:txBody>
      </p:sp>
      <p:sp>
        <p:nvSpPr>
          <p:cNvPr id="48" name="TextBox 47">
            <a:extLst>
              <a:ext uri="{FF2B5EF4-FFF2-40B4-BE49-F238E27FC236}">
                <a16:creationId xmlns:a16="http://schemas.microsoft.com/office/drawing/2014/main" xmlns="" id="{96968A2D-772B-4144-9FC4-7A79BDD1E1A3}"/>
              </a:ext>
            </a:extLst>
          </p:cNvPr>
          <p:cNvSpPr txBox="1"/>
          <p:nvPr/>
        </p:nvSpPr>
        <p:spPr>
          <a:xfrm>
            <a:off x="7750890" y="1188070"/>
            <a:ext cx="1173719" cy="338554"/>
          </a:xfrm>
          <a:prstGeom prst="rect">
            <a:avLst/>
          </a:prstGeom>
          <a:noFill/>
        </p:spPr>
        <p:txBody>
          <a:bodyPr wrap="none" rtlCol="0">
            <a:spAutoFit/>
          </a:bodyPr>
          <a:lstStyle/>
          <a:p>
            <a:pPr eaLnBrk="0" fontAlgn="base" hangingPunct="0">
              <a:spcBef>
                <a:spcPct val="0"/>
              </a:spcBef>
              <a:spcAft>
                <a:spcPct val="0"/>
              </a:spcAft>
            </a:pPr>
            <a:r>
              <a:rPr lang="en-US" sz="1600">
                <a:solidFill>
                  <a:srgbClr val="000000"/>
                </a:solidFill>
                <a:latin typeface="Century Gothic" charset="0"/>
                <a:ea typeface="Century Gothic" charset="0"/>
                <a:cs typeface="Century Gothic" charset="0"/>
              </a:rPr>
              <a:t>Accuracy</a:t>
            </a:r>
            <a:endParaRPr lang="en-US" sz="1600" dirty="0">
              <a:solidFill>
                <a:srgbClr val="000000"/>
              </a:solidFill>
              <a:latin typeface="Century Gothic" charset="0"/>
              <a:ea typeface="Century Gothic" charset="0"/>
              <a:cs typeface="Century Gothic" charset="0"/>
            </a:endParaRPr>
          </a:p>
        </p:txBody>
      </p:sp>
      <p:sp>
        <p:nvSpPr>
          <p:cNvPr id="23" name="TextBox 22">
            <a:extLst>
              <a:ext uri="{FF2B5EF4-FFF2-40B4-BE49-F238E27FC236}">
                <a16:creationId xmlns:a16="http://schemas.microsoft.com/office/drawing/2014/main" xmlns="" id="{3D0DEEB9-74B1-0C47-9C02-E52DAA56675B}"/>
              </a:ext>
            </a:extLst>
          </p:cNvPr>
          <p:cNvSpPr txBox="1"/>
          <p:nvPr/>
        </p:nvSpPr>
        <p:spPr>
          <a:xfrm>
            <a:off x="2358552" y="3440223"/>
            <a:ext cx="4398396" cy="707886"/>
          </a:xfrm>
          <a:prstGeom prst="rect">
            <a:avLst/>
          </a:prstGeom>
          <a:noFill/>
        </p:spPr>
        <p:txBody>
          <a:bodyPr wrap="square" rtlCol="0">
            <a:spAutoFit/>
          </a:bodyPr>
          <a:lstStyle/>
          <a:p>
            <a:pPr algn="ct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22" name="TextBox 21">
            <a:extLst>
              <a:ext uri="{FF2B5EF4-FFF2-40B4-BE49-F238E27FC236}">
                <a16:creationId xmlns:a16="http://schemas.microsoft.com/office/drawing/2014/main" xmlns="" id="{F88526CA-D4E4-FB49-89F2-2806E3495275}"/>
              </a:ext>
            </a:extLst>
          </p:cNvPr>
          <p:cNvSpPr txBox="1"/>
          <p:nvPr/>
        </p:nvSpPr>
        <p:spPr>
          <a:xfrm>
            <a:off x="159946" y="3638348"/>
            <a:ext cx="1649811" cy="584775"/>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Sentence</a:t>
            </a:r>
          </a:p>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(dependency)</a:t>
            </a:r>
          </a:p>
        </p:txBody>
      </p:sp>
      <p:sp>
        <p:nvSpPr>
          <p:cNvPr id="25" name="TextBox 24">
            <a:extLst>
              <a:ext uri="{FF2B5EF4-FFF2-40B4-BE49-F238E27FC236}">
                <a16:creationId xmlns:a16="http://schemas.microsoft.com/office/drawing/2014/main" xmlns="" id="{3D0DEEB9-74B1-0C47-9C02-E52DAA56675B}"/>
              </a:ext>
            </a:extLst>
          </p:cNvPr>
          <p:cNvSpPr txBox="1"/>
          <p:nvPr/>
        </p:nvSpPr>
        <p:spPr>
          <a:xfrm>
            <a:off x="2273155" y="3441383"/>
            <a:ext cx="4569190" cy="707886"/>
          </a:xfrm>
          <a:prstGeom prst="rect">
            <a:avLst/>
          </a:prstGeom>
          <a:noFill/>
        </p:spPr>
        <p:txBody>
          <a:bodyPr wrap="square" rtlCol="0">
            <a:spAutoFit/>
          </a:bodyPr>
          <a:lstStyle/>
          <a:p>
            <a:pPr algn="ct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grpSp>
        <p:nvGrpSpPr>
          <p:cNvPr id="26" name="Group 25"/>
          <p:cNvGrpSpPr/>
          <p:nvPr/>
        </p:nvGrpSpPr>
        <p:grpSpPr>
          <a:xfrm>
            <a:off x="3640671" y="3297792"/>
            <a:ext cx="635431" cy="228600"/>
            <a:chOff x="4633993" y="2250441"/>
            <a:chExt cx="635431" cy="228600"/>
          </a:xfrm>
        </p:grpSpPr>
        <p:sp>
          <p:nvSpPr>
            <p:cNvPr id="27" name="Rounded Rectangle 26"/>
            <p:cNvSpPr/>
            <p:nvPr/>
          </p:nvSpPr>
          <p:spPr>
            <a:xfrm>
              <a:off x="4726983" y="2250441"/>
              <a:ext cx="457200"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4633993" y="2265939"/>
              <a:ext cx="635431" cy="169277"/>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SBJ</a:t>
              </a:r>
            </a:p>
          </p:txBody>
        </p:sp>
      </p:grpSp>
      <p:grpSp>
        <p:nvGrpSpPr>
          <p:cNvPr id="29" name="Group 28"/>
          <p:cNvGrpSpPr/>
          <p:nvPr/>
        </p:nvGrpSpPr>
        <p:grpSpPr>
          <a:xfrm>
            <a:off x="2707071" y="3297792"/>
            <a:ext cx="789337" cy="228600"/>
            <a:chOff x="4633993" y="2242203"/>
            <a:chExt cx="789337" cy="228600"/>
          </a:xfrm>
        </p:grpSpPr>
        <p:sp>
          <p:nvSpPr>
            <p:cNvPr id="31" name="Rounded Rectangle 30"/>
            <p:cNvSpPr/>
            <p:nvPr/>
          </p:nvSpPr>
          <p:spPr>
            <a:xfrm>
              <a:off x="4735220" y="2242203"/>
              <a:ext cx="586053"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31"/>
            <p:cNvSpPr/>
            <p:nvPr/>
          </p:nvSpPr>
          <p:spPr>
            <a:xfrm>
              <a:off x="4633993" y="2265939"/>
              <a:ext cx="789337" cy="135681"/>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NAME</a:t>
              </a:r>
            </a:p>
          </p:txBody>
        </p:sp>
      </p:grpSp>
      <p:grpSp>
        <p:nvGrpSpPr>
          <p:cNvPr id="33" name="Group 32"/>
          <p:cNvGrpSpPr/>
          <p:nvPr/>
        </p:nvGrpSpPr>
        <p:grpSpPr>
          <a:xfrm>
            <a:off x="5486711" y="3297792"/>
            <a:ext cx="635431" cy="228600"/>
            <a:chOff x="4633993" y="2250441"/>
            <a:chExt cx="635431" cy="228600"/>
          </a:xfrm>
        </p:grpSpPr>
        <p:sp>
          <p:nvSpPr>
            <p:cNvPr id="34" name="Rounded Rectangle 33"/>
            <p:cNvSpPr/>
            <p:nvPr/>
          </p:nvSpPr>
          <p:spPr>
            <a:xfrm>
              <a:off x="4726983" y="2250441"/>
              <a:ext cx="457200"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p:cNvSpPr/>
            <p:nvPr/>
          </p:nvSpPr>
          <p:spPr>
            <a:xfrm>
              <a:off x="4633993" y="2265939"/>
              <a:ext cx="635431" cy="169277"/>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C00000"/>
                  </a:solidFill>
                </a:rPr>
                <a:t>TMP</a:t>
              </a:r>
            </a:p>
          </p:txBody>
        </p:sp>
      </p:grpSp>
      <p:grpSp>
        <p:nvGrpSpPr>
          <p:cNvPr id="36" name="Group 35"/>
          <p:cNvGrpSpPr/>
          <p:nvPr/>
        </p:nvGrpSpPr>
        <p:grpSpPr>
          <a:xfrm>
            <a:off x="2948549" y="4169419"/>
            <a:ext cx="635431" cy="228600"/>
            <a:chOff x="4633993" y="2250441"/>
            <a:chExt cx="635431" cy="228600"/>
          </a:xfrm>
        </p:grpSpPr>
        <p:sp>
          <p:nvSpPr>
            <p:cNvPr id="37" name="Rounded Rectangle 36"/>
            <p:cNvSpPr/>
            <p:nvPr/>
          </p:nvSpPr>
          <p:spPr>
            <a:xfrm>
              <a:off x="4726983" y="2250441"/>
              <a:ext cx="457200"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ounded Rectangle 48"/>
            <p:cNvSpPr/>
            <p:nvPr/>
          </p:nvSpPr>
          <p:spPr>
            <a:xfrm>
              <a:off x="4633993" y="2265939"/>
              <a:ext cx="635431" cy="169277"/>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TMP</a:t>
              </a:r>
            </a:p>
          </p:txBody>
        </p:sp>
      </p:grpSp>
      <p:grpSp>
        <p:nvGrpSpPr>
          <p:cNvPr id="50" name="Group 49"/>
          <p:cNvGrpSpPr/>
          <p:nvPr/>
        </p:nvGrpSpPr>
        <p:grpSpPr>
          <a:xfrm>
            <a:off x="4283851" y="3297792"/>
            <a:ext cx="789337" cy="228600"/>
            <a:chOff x="4633993" y="2242203"/>
            <a:chExt cx="789337" cy="228600"/>
          </a:xfrm>
        </p:grpSpPr>
        <p:sp>
          <p:nvSpPr>
            <p:cNvPr id="54" name="Rounded Rectangle 53"/>
            <p:cNvSpPr/>
            <p:nvPr/>
          </p:nvSpPr>
          <p:spPr>
            <a:xfrm>
              <a:off x="4735220" y="2242203"/>
              <a:ext cx="586053"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p:cNvSpPr/>
            <p:nvPr/>
          </p:nvSpPr>
          <p:spPr>
            <a:xfrm>
              <a:off x="4633993" y="2265939"/>
              <a:ext cx="789337" cy="135681"/>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ROOT</a:t>
              </a:r>
            </a:p>
          </p:txBody>
        </p:sp>
      </p:grpSp>
      <p:grpSp>
        <p:nvGrpSpPr>
          <p:cNvPr id="57" name="Group 56"/>
          <p:cNvGrpSpPr/>
          <p:nvPr/>
        </p:nvGrpSpPr>
        <p:grpSpPr>
          <a:xfrm>
            <a:off x="3425087" y="4169419"/>
            <a:ext cx="899546" cy="228600"/>
            <a:chOff x="4601041" y="2242203"/>
            <a:chExt cx="899546" cy="228600"/>
          </a:xfrm>
        </p:grpSpPr>
        <p:sp>
          <p:nvSpPr>
            <p:cNvPr id="59" name="Rounded Rectangle 58"/>
            <p:cNvSpPr/>
            <p:nvPr/>
          </p:nvSpPr>
          <p:spPr>
            <a:xfrm>
              <a:off x="4735220" y="2242203"/>
              <a:ext cx="631595"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ounded Rectangle 59"/>
            <p:cNvSpPr/>
            <p:nvPr/>
          </p:nvSpPr>
          <p:spPr>
            <a:xfrm>
              <a:off x="4601041" y="2274177"/>
              <a:ext cx="899546" cy="136044"/>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NMOD</a:t>
              </a:r>
            </a:p>
          </p:txBody>
        </p:sp>
      </p:grpSp>
      <p:grpSp>
        <p:nvGrpSpPr>
          <p:cNvPr id="61" name="Group 60"/>
          <p:cNvGrpSpPr/>
          <p:nvPr/>
        </p:nvGrpSpPr>
        <p:grpSpPr>
          <a:xfrm>
            <a:off x="4258571" y="4169419"/>
            <a:ext cx="899546" cy="228600"/>
            <a:chOff x="4601041" y="2242203"/>
            <a:chExt cx="899546" cy="228600"/>
          </a:xfrm>
        </p:grpSpPr>
        <p:sp>
          <p:nvSpPr>
            <p:cNvPr id="62" name="Rounded Rectangle 61"/>
            <p:cNvSpPr/>
            <p:nvPr/>
          </p:nvSpPr>
          <p:spPr>
            <a:xfrm>
              <a:off x="4735220" y="2242203"/>
              <a:ext cx="631595"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ounded Rectangle 62"/>
            <p:cNvSpPr/>
            <p:nvPr/>
          </p:nvSpPr>
          <p:spPr>
            <a:xfrm>
              <a:off x="4601041" y="2274177"/>
              <a:ext cx="899546" cy="136044"/>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NMOD</a:t>
              </a:r>
            </a:p>
          </p:txBody>
        </p:sp>
      </p:grpSp>
      <p:grpSp>
        <p:nvGrpSpPr>
          <p:cNvPr id="64" name="Group 63"/>
          <p:cNvGrpSpPr/>
          <p:nvPr/>
        </p:nvGrpSpPr>
        <p:grpSpPr>
          <a:xfrm>
            <a:off x="5164960" y="4169419"/>
            <a:ext cx="899546" cy="228600"/>
            <a:chOff x="4601041" y="2242203"/>
            <a:chExt cx="899546" cy="228600"/>
          </a:xfrm>
        </p:grpSpPr>
        <p:sp>
          <p:nvSpPr>
            <p:cNvPr id="65" name="Rounded Rectangle 64"/>
            <p:cNvSpPr/>
            <p:nvPr/>
          </p:nvSpPr>
          <p:spPr>
            <a:xfrm>
              <a:off x="4735220" y="2242203"/>
              <a:ext cx="631595"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ounded Rectangle 65"/>
            <p:cNvSpPr/>
            <p:nvPr/>
          </p:nvSpPr>
          <p:spPr>
            <a:xfrm>
              <a:off x="4601041" y="2274177"/>
              <a:ext cx="899546" cy="136044"/>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PMOD</a:t>
              </a:r>
            </a:p>
          </p:txBody>
        </p:sp>
      </p:grpSp>
      <p:cxnSp>
        <p:nvCxnSpPr>
          <p:cNvPr id="67" name="Curved Connector 66"/>
          <p:cNvCxnSpPr/>
          <p:nvPr/>
        </p:nvCxnSpPr>
        <p:spPr>
          <a:xfrm rot="16200000" flipH="1" flipV="1">
            <a:off x="3525945" y="2889085"/>
            <a:ext cx="8238" cy="856647"/>
          </a:xfrm>
          <a:prstGeom prst="curvedConnector3">
            <a:avLst>
              <a:gd name="adj1" fmla="val -2774945"/>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Curved Connector 67"/>
          <p:cNvCxnSpPr/>
          <p:nvPr/>
        </p:nvCxnSpPr>
        <p:spPr>
          <a:xfrm rot="16200000" flipV="1">
            <a:off x="4314335" y="2957342"/>
            <a:ext cx="8238" cy="720133"/>
          </a:xfrm>
          <a:prstGeom prst="curvedConnector3">
            <a:avLst>
              <a:gd name="adj1" fmla="val 2874945"/>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Curved Connector 68"/>
          <p:cNvCxnSpPr/>
          <p:nvPr/>
        </p:nvCxnSpPr>
        <p:spPr>
          <a:xfrm rot="5400000" flipH="1" flipV="1">
            <a:off x="5237354" y="2754456"/>
            <a:ext cx="8238" cy="1125907"/>
          </a:xfrm>
          <a:prstGeom prst="curvedConnector3">
            <a:avLst>
              <a:gd name="adj1" fmla="val 2874945"/>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Curved Connector 69"/>
          <p:cNvCxnSpPr>
            <a:stCxn id="56" idx="0"/>
          </p:cNvCxnSpPr>
          <p:nvPr/>
        </p:nvCxnSpPr>
        <p:spPr>
          <a:xfrm rot="16200000" flipH="1" flipV="1">
            <a:off x="3456060" y="3131734"/>
            <a:ext cx="1032666" cy="1412254"/>
          </a:xfrm>
          <a:prstGeom prst="curvedConnector4">
            <a:avLst>
              <a:gd name="adj1" fmla="val -27586"/>
              <a:gd name="adj2" fmla="val 166573"/>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Curved Connector 70"/>
          <p:cNvCxnSpPr/>
          <p:nvPr/>
        </p:nvCxnSpPr>
        <p:spPr>
          <a:xfrm rot="16200000" flipH="1">
            <a:off x="4418689" y="3201770"/>
            <a:ext cx="43825" cy="2348672"/>
          </a:xfrm>
          <a:prstGeom prst="curvedConnector3">
            <a:avLst>
              <a:gd name="adj1" fmla="val 621620"/>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Curved Connector 71"/>
          <p:cNvCxnSpPr/>
          <p:nvPr/>
        </p:nvCxnSpPr>
        <p:spPr>
          <a:xfrm rot="5400000">
            <a:off x="5161743" y="3944825"/>
            <a:ext cx="12700" cy="906389"/>
          </a:xfrm>
          <a:prstGeom prst="curvedConnector3">
            <a:avLst>
              <a:gd name="adj1" fmla="val 1800000"/>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Curved Connector 72"/>
          <p:cNvCxnSpPr/>
          <p:nvPr/>
        </p:nvCxnSpPr>
        <p:spPr>
          <a:xfrm rot="5400000">
            <a:off x="4745001" y="3528083"/>
            <a:ext cx="12700" cy="1739873"/>
          </a:xfrm>
          <a:prstGeom prst="curvedConnector3">
            <a:avLst>
              <a:gd name="adj1" fmla="val 1800000"/>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xmlns="" id="{96968A2D-772B-4144-9FC4-7A79BDD1E1A3}"/>
              </a:ext>
            </a:extLst>
          </p:cNvPr>
          <p:cNvSpPr txBox="1"/>
          <p:nvPr/>
        </p:nvSpPr>
        <p:spPr>
          <a:xfrm>
            <a:off x="8228811" y="3638348"/>
            <a:ext cx="696024" cy="338554"/>
          </a:xfrm>
          <a:prstGeom prst="rect">
            <a:avLst/>
          </a:prstGeom>
          <a:noFill/>
        </p:spPr>
        <p:txBody>
          <a:bodyPr wrap="none" rtlCol="0">
            <a:spAutoFit/>
          </a:bodyPr>
          <a:lstStyle/>
          <a:p>
            <a:pPr eaLnBrk="0" fontAlgn="base" hangingPunct="0">
              <a:spcBef>
                <a:spcPct val="0"/>
              </a:spcBef>
              <a:spcAft>
                <a:spcPct val="0"/>
              </a:spcAft>
            </a:pPr>
            <a:r>
              <a:rPr lang="en-US" sz="1600">
                <a:solidFill>
                  <a:srgbClr val="000000"/>
                </a:solidFill>
                <a:latin typeface="Century Gothic" charset="0"/>
                <a:ea typeface="Century Gothic" charset="0"/>
                <a:cs typeface="Century Gothic" charset="0"/>
              </a:rPr>
              <a:t>~90%</a:t>
            </a:r>
            <a:endParaRPr lang="en-US" sz="1600" dirty="0">
              <a:solidFill>
                <a:srgbClr val="000000"/>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3319526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par>
                                <p:cTn id="15" presetID="10"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500"/>
                                        <p:tgtEl>
                                          <p:spTgt spid="50"/>
                                        </p:tgtEl>
                                      </p:cBhvr>
                                    </p:animEffect>
                                  </p:childTnLst>
                                </p:cTn>
                              </p:par>
                              <p:par>
                                <p:cTn id="18" presetID="10" presetClass="entr" presetSubtype="0" fill="hold"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500"/>
                                        <p:tgtEl>
                                          <p:spTgt spid="33"/>
                                        </p:tgtEl>
                                      </p:cBhvr>
                                    </p:animEffect>
                                  </p:childTnLst>
                                </p:cTn>
                              </p:par>
                              <p:par>
                                <p:cTn id="21" presetID="10" presetClass="entr" presetSubtype="0"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500"/>
                                        <p:tgtEl>
                                          <p:spTgt spid="36"/>
                                        </p:tgtEl>
                                      </p:cBhvr>
                                    </p:animEffect>
                                  </p:childTnLst>
                                </p:cTn>
                              </p:par>
                              <p:par>
                                <p:cTn id="24" presetID="10" presetClass="entr" presetSubtype="0" fill="hold" nodeType="with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fade">
                                      <p:cBhvr>
                                        <p:cTn id="26" dur="500"/>
                                        <p:tgtEl>
                                          <p:spTgt spid="57"/>
                                        </p:tgtEl>
                                      </p:cBhvr>
                                    </p:animEffect>
                                  </p:childTnLst>
                                </p:cTn>
                              </p:par>
                              <p:par>
                                <p:cTn id="27" presetID="10"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fade">
                                      <p:cBhvr>
                                        <p:cTn id="29" dur="500"/>
                                        <p:tgtEl>
                                          <p:spTgt spid="61"/>
                                        </p:tgtEl>
                                      </p:cBhvr>
                                    </p:animEffect>
                                  </p:childTnLst>
                                </p:cTn>
                              </p:par>
                              <p:par>
                                <p:cTn id="30" presetID="10" presetClass="entr" presetSubtype="0" fill="hold" nodeType="withEffect">
                                  <p:stCondLst>
                                    <p:cond delay="0"/>
                                  </p:stCondLst>
                                  <p:childTnLst>
                                    <p:set>
                                      <p:cBhvr>
                                        <p:cTn id="31" dur="1" fill="hold">
                                          <p:stCondLst>
                                            <p:cond delay="0"/>
                                          </p:stCondLst>
                                        </p:cTn>
                                        <p:tgtEl>
                                          <p:spTgt spid="64"/>
                                        </p:tgtEl>
                                        <p:attrNameLst>
                                          <p:attrName>style.visibility</p:attrName>
                                        </p:attrNameLst>
                                      </p:cBhvr>
                                      <p:to>
                                        <p:strVal val="visible"/>
                                      </p:to>
                                    </p:set>
                                    <p:animEffect transition="in" filter="fade">
                                      <p:cBhvr>
                                        <p:cTn id="32" dur="500"/>
                                        <p:tgtEl>
                                          <p:spTgt spid="6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wipe(left)">
                                      <p:cBhvr>
                                        <p:cTn id="37" dur="500"/>
                                        <p:tgtEl>
                                          <p:spTgt spid="6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72"/>
                                        </p:tgtEl>
                                        <p:attrNameLst>
                                          <p:attrName>style.visibility</p:attrName>
                                        </p:attrNameLst>
                                      </p:cBhvr>
                                      <p:to>
                                        <p:strVal val="visible"/>
                                      </p:to>
                                    </p:set>
                                    <p:animEffect transition="in" filter="wipe(right)">
                                      <p:cBhvr>
                                        <p:cTn id="42" dur="500"/>
                                        <p:tgtEl>
                                          <p:spTgt spid="7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fade">
                                      <p:cBhvr>
                                        <p:cTn id="47" dur="500"/>
                                        <p:tgtEl>
                                          <p:spTgt spid="70"/>
                                        </p:tgtEl>
                                      </p:cBhvr>
                                    </p:animEffect>
                                  </p:childTnLst>
                                </p:cTn>
                              </p:par>
                              <p:par>
                                <p:cTn id="48" presetID="10" presetClass="entr" presetSubtype="0" fill="hold" nodeType="with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fade">
                                      <p:cBhvr>
                                        <p:cTn id="50" dur="500"/>
                                        <p:tgtEl>
                                          <p:spTgt spid="67"/>
                                        </p:tgtEl>
                                      </p:cBhvr>
                                    </p:animEffect>
                                  </p:childTnLst>
                                </p:cTn>
                              </p:par>
                              <p:par>
                                <p:cTn id="51" presetID="10" presetClass="entr" presetSubtype="0" fill="hold" nodeType="withEffect">
                                  <p:stCondLst>
                                    <p:cond delay="0"/>
                                  </p:stCondLst>
                                  <p:childTnLst>
                                    <p:set>
                                      <p:cBhvr>
                                        <p:cTn id="52" dur="1" fill="hold">
                                          <p:stCondLst>
                                            <p:cond delay="0"/>
                                          </p:stCondLst>
                                        </p:cTn>
                                        <p:tgtEl>
                                          <p:spTgt spid="68"/>
                                        </p:tgtEl>
                                        <p:attrNameLst>
                                          <p:attrName>style.visibility</p:attrName>
                                        </p:attrNameLst>
                                      </p:cBhvr>
                                      <p:to>
                                        <p:strVal val="visible"/>
                                      </p:to>
                                    </p:set>
                                    <p:animEffect transition="in" filter="fade">
                                      <p:cBhvr>
                                        <p:cTn id="53" dur="500"/>
                                        <p:tgtEl>
                                          <p:spTgt spid="68"/>
                                        </p:tgtEl>
                                      </p:cBhvr>
                                    </p:animEffect>
                                  </p:childTnLst>
                                </p:cTn>
                              </p:par>
                              <p:par>
                                <p:cTn id="54" presetID="10" presetClass="entr" presetSubtype="0" fill="hold" nodeType="withEffect">
                                  <p:stCondLst>
                                    <p:cond delay="0"/>
                                  </p:stCondLst>
                                  <p:childTnLst>
                                    <p:set>
                                      <p:cBhvr>
                                        <p:cTn id="55" dur="1" fill="hold">
                                          <p:stCondLst>
                                            <p:cond delay="0"/>
                                          </p:stCondLst>
                                        </p:cTn>
                                        <p:tgtEl>
                                          <p:spTgt spid="71"/>
                                        </p:tgtEl>
                                        <p:attrNameLst>
                                          <p:attrName>style.visibility</p:attrName>
                                        </p:attrNameLst>
                                      </p:cBhvr>
                                      <p:to>
                                        <p:strVal val="visible"/>
                                      </p:to>
                                    </p:set>
                                    <p:animEffect transition="in" filter="fade">
                                      <p:cBhvr>
                                        <p:cTn id="56" dur="500"/>
                                        <p:tgtEl>
                                          <p:spTgt spid="71"/>
                                        </p:tgtEl>
                                      </p:cBhvr>
                                    </p:animEffect>
                                  </p:childTnLst>
                                </p:cTn>
                              </p:par>
                              <p:par>
                                <p:cTn id="57" presetID="10" presetClass="entr" presetSubtype="0" fill="hold" nodeType="withEffect">
                                  <p:stCondLst>
                                    <p:cond delay="0"/>
                                  </p:stCondLst>
                                  <p:childTnLst>
                                    <p:set>
                                      <p:cBhvr>
                                        <p:cTn id="58" dur="1" fill="hold">
                                          <p:stCondLst>
                                            <p:cond delay="0"/>
                                          </p:stCondLst>
                                        </p:cTn>
                                        <p:tgtEl>
                                          <p:spTgt spid="73"/>
                                        </p:tgtEl>
                                        <p:attrNameLst>
                                          <p:attrName>style.visibility</p:attrName>
                                        </p:attrNameLst>
                                      </p:cBhvr>
                                      <p:to>
                                        <p:strVal val="visible"/>
                                      </p:to>
                                    </p:set>
                                    <p:animEffect transition="in" filter="fade">
                                      <p:cBhvr>
                                        <p:cTn id="59" dur="500"/>
                                        <p:tgtEl>
                                          <p:spTgt spid="7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74"/>
                                        </p:tgtEl>
                                        <p:attrNameLst>
                                          <p:attrName>style.visibility</p:attrName>
                                        </p:attrNameLst>
                                      </p:cBhvr>
                                      <p:to>
                                        <p:strVal val="visible"/>
                                      </p:to>
                                    </p:set>
                                    <p:animEffect transition="in" filter="fade">
                                      <p:cBhvr>
                                        <p:cTn id="64" dur="500"/>
                                        <p:tgtEl>
                                          <p:spTgt spid="74"/>
                                        </p:tgtEl>
                                      </p:cBhvr>
                                    </p:animEffect>
                                  </p:childTnLst>
                                </p:cTn>
                              </p:par>
                              <p:par>
                                <p:cTn id="65" presetID="1"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5" grpId="0"/>
      <p:bldP spid="7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reeform 50">
            <a:extLst>
              <a:ext uri="{FF2B5EF4-FFF2-40B4-BE49-F238E27FC236}">
                <a16:creationId xmlns:a16="http://schemas.microsoft.com/office/drawing/2014/main" xmlns="" id="{978E545B-EB76-8148-A35B-150C48ADB264}"/>
              </a:ext>
            </a:extLst>
          </p:cNvPr>
          <p:cNvSpPr/>
          <p:nvPr/>
        </p:nvSpPr>
        <p:spPr>
          <a:xfrm>
            <a:off x="2660523" y="1529542"/>
            <a:ext cx="3794456" cy="1409445"/>
          </a:xfrm>
          <a:custGeom>
            <a:avLst/>
            <a:gdLst>
              <a:gd name="connsiteX0" fmla="*/ 614319 w 2588914"/>
              <a:gd name="connsiteY0" fmla="*/ 0 h 1129554"/>
              <a:gd name="connsiteX1" fmla="*/ 1974595 w 2588914"/>
              <a:gd name="connsiteY1" fmla="*/ 0 h 1129554"/>
              <a:gd name="connsiteX2" fmla="*/ 2588914 w 2588914"/>
              <a:gd name="connsiteY2" fmla="*/ 1129554 h 1129554"/>
              <a:gd name="connsiteX3" fmla="*/ 0 w 2588914"/>
              <a:gd name="connsiteY3" fmla="*/ 1129554 h 1129554"/>
              <a:gd name="connsiteX4" fmla="*/ 614319 w 2588914"/>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914" h="1129554">
                <a:moveTo>
                  <a:pt x="614319" y="0"/>
                </a:moveTo>
                <a:lnTo>
                  <a:pt x="1974595" y="0"/>
                </a:lnTo>
                <a:lnTo>
                  <a:pt x="2588914" y="1129554"/>
                </a:lnTo>
                <a:lnTo>
                  <a:pt x="0" y="1129554"/>
                </a:lnTo>
                <a:lnTo>
                  <a:pt x="614319" y="0"/>
                </a:lnTo>
                <a:close/>
              </a:path>
            </a:pathLst>
          </a:custGeom>
          <a:solidFill>
            <a:srgbClr val="7792C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2" name="Freeform 51">
            <a:extLst>
              <a:ext uri="{FF2B5EF4-FFF2-40B4-BE49-F238E27FC236}">
                <a16:creationId xmlns:a16="http://schemas.microsoft.com/office/drawing/2014/main" xmlns="" id="{6CB448AD-9002-E140-A24C-AFF375496F61}"/>
              </a:ext>
            </a:extLst>
          </p:cNvPr>
          <p:cNvSpPr/>
          <p:nvPr/>
        </p:nvSpPr>
        <p:spPr>
          <a:xfrm>
            <a:off x="1663674" y="3089998"/>
            <a:ext cx="5788153" cy="1409445"/>
          </a:xfrm>
          <a:custGeom>
            <a:avLst/>
            <a:gdLst>
              <a:gd name="connsiteX0" fmla="*/ 614319 w 3949190"/>
              <a:gd name="connsiteY0" fmla="*/ 0 h 1129554"/>
              <a:gd name="connsiteX1" fmla="*/ 3334871 w 3949190"/>
              <a:gd name="connsiteY1" fmla="*/ 0 h 1129554"/>
              <a:gd name="connsiteX2" fmla="*/ 3949190 w 3949190"/>
              <a:gd name="connsiteY2" fmla="*/ 1129554 h 1129554"/>
              <a:gd name="connsiteX3" fmla="*/ 0 w 3949190"/>
              <a:gd name="connsiteY3" fmla="*/ 1129554 h 1129554"/>
              <a:gd name="connsiteX4" fmla="*/ 614319 w 3949190"/>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90" h="1129554">
                <a:moveTo>
                  <a:pt x="614319" y="0"/>
                </a:moveTo>
                <a:lnTo>
                  <a:pt x="3334871" y="0"/>
                </a:lnTo>
                <a:lnTo>
                  <a:pt x="3949190" y="1129554"/>
                </a:lnTo>
                <a:lnTo>
                  <a:pt x="0" y="1129554"/>
                </a:lnTo>
                <a:lnTo>
                  <a:pt x="614319" y="0"/>
                </a:lnTo>
                <a:close/>
              </a:path>
            </a:pathLst>
          </a:custGeom>
          <a:solidFill>
            <a:srgbClr val="C17A9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3" name="Freeform 52">
            <a:extLst>
              <a:ext uri="{FF2B5EF4-FFF2-40B4-BE49-F238E27FC236}">
                <a16:creationId xmlns:a16="http://schemas.microsoft.com/office/drawing/2014/main" xmlns="" id="{1A54A3CF-BC91-5C43-8730-A8564FAEDE43}"/>
              </a:ext>
            </a:extLst>
          </p:cNvPr>
          <p:cNvSpPr/>
          <p:nvPr/>
        </p:nvSpPr>
        <p:spPr>
          <a:xfrm>
            <a:off x="666827" y="4650452"/>
            <a:ext cx="7781847" cy="1409445"/>
          </a:xfrm>
          <a:custGeom>
            <a:avLst/>
            <a:gdLst>
              <a:gd name="connsiteX0" fmla="*/ 614319 w 5309465"/>
              <a:gd name="connsiteY0" fmla="*/ 0 h 1129554"/>
              <a:gd name="connsiteX1" fmla="*/ 4695147 w 5309465"/>
              <a:gd name="connsiteY1" fmla="*/ 0 h 1129554"/>
              <a:gd name="connsiteX2" fmla="*/ 5309465 w 5309465"/>
              <a:gd name="connsiteY2" fmla="*/ 1129554 h 1129554"/>
              <a:gd name="connsiteX3" fmla="*/ 0 w 5309465"/>
              <a:gd name="connsiteY3" fmla="*/ 1129554 h 1129554"/>
              <a:gd name="connsiteX4" fmla="*/ 614319 w 5309465"/>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9465" h="1129554">
                <a:moveTo>
                  <a:pt x="614319" y="0"/>
                </a:moveTo>
                <a:lnTo>
                  <a:pt x="4695147" y="0"/>
                </a:lnTo>
                <a:lnTo>
                  <a:pt x="5309465" y="1129554"/>
                </a:lnTo>
                <a:lnTo>
                  <a:pt x="0" y="1129554"/>
                </a:lnTo>
                <a:lnTo>
                  <a:pt x="614319" y="0"/>
                </a:lnTo>
                <a:close/>
              </a:path>
            </a:pathLst>
          </a:cu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5" name="TextBox 54">
            <a:extLst>
              <a:ext uri="{FF2B5EF4-FFF2-40B4-BE49-F238E27FC236}">
                <a16:creationId xmlns:a16="http://schemas.microsoft.com/office/drawing/2014/main" xmlns="" id="{3D0DEEB9-74B1-0C47-9C02-E52DAA56675B}"/>
              </a:ext>
            </a:extLst>
          </p:cNvPr>
          <p:cNvSpPr txBox="1"/>
          <p:nvPr/>
        </p:nvSpPr>
        <p:spPr>
          <a:xfrm>
            <a:off x="1117277" y="6210906"/>
            <a:ext cx="714557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58" name="TextBox 57">
            <a:extLst>
              <a:ext uri="{FF2B5EF4-FFF2-40B4-BE49-F238E27FC236}">
                <a16:creationId xmlns:a16="http://schemas.microsoft.com/office/drawing/2014/main" xmlns="" id="{96968A2D-772B-4144-9FC4-7A79BDD1E1A3}"/>
              </a:ext>
            </a:extLst>
          </p:cNvPr>
          <p:cNvSpPr txBox="1"/>
          <p:nvPr/>
        </p:nvSpPr>
        <p:spPr>
          <a:xfrm>
            <a:off x="141141" y="5185897"/>
            <a:ext cx="768159" cy="338554"/>
          </a:xfrm>
          <a:prstGeom prst="rect">
            <a:avLst/>
          </a:prstGeom>
          <a:noFill/>
        </p:spPr>
        <p:txBody>
          <a:bodyPr wrap="none" rtlCol="0">
            <a:spAutoFit/>
          </a:bodyPr>
          <a:lstStyle/>
          <a:p>
            <a:r>
              <a:rPr lang="en-US" sz="1600" dirty="0">
                <a:solidFill>
                  <a:srgbClr val="000000"/>
                </a:solidFill>
                <a:latin typeface="Century Gothic" charset="0"/>
                <a:ea typeface="Century Gothic" charset="0"/>
                <a:cs typeface="Century Gothic" charset="0"/>
              </a:rPr>
              <a:t>Token</a:t>
            </a:r>
          </a:p>
        </p:txBody>
      </p:sp>
      <p:sp>
        <p:nvSpPr>
          <p:cNvPr id="30" name="Title 2">
            <a:extLst>
              <a:ext uri="{FF2B5EF4-FFF2-40B4-BE49-F238E27FC236}">
                <a16:creationId xmlns:a16="http://schemas.microsoft.com/office/drawing/2014/main" xmlns="" id="{76929319-9B86-4842-96F1-0CFDF5989586}"/>
              </a:ext>
            </a:extLst>
          </p:cNvPr>
          <p:cNvSpPr txBox="1">
            <a:spLocks/>
          </p:cNvSpPr>
          <p:nvPr/>
        </p:nvSpPr>
        <p:spPr bwMode="auto">
          <a:xfrm>
            <a:off x="676274" y="228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lang="en-US" sz="2800" b="0" kern="1200" cap="none" baseline="0" dirty="0" smtClean="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rgbClr val="000000">
                    <a:lumMod val="95000"/>
                    <a:lumOff val="5000"/>
                  </a:srgbClr>
                </a:solidFill>
              </a:rPr>
              <a:t>A brief overview of NLP</a:t>
            </a:r>
          </a:p>
        </p:txBody>
      </p:sp>
      <p:sp>
        <p:nvSpPr>
          <p:cNvPr id="38" name="TextBox 37">
            <a:extLst>
              <a:ext uri="{FF2B5EF4-FFF2-40B4-BE49-F238E27FC236}">
                <a16:creationId xmlns:a16="http://schemas.microsoft.com/office/drawing/2014/main" xmlns="" id="{3D0DEEB9-74B1-0C47-9C02-E52DAA56675B}"/>
              </a:ext>
            </a:extLst>
          </p:cNvPr>
          <p:cNvSpPr txBox="1"/>
          <p:nvPr/>
        </p:nvSpPr>
        <p:spPr>
          <a:xfrm>
            <a:off x="1117277" y="5124341"/>
            <a:ext cx="834676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5" name="Rounded Rectangle 4"/>
          <p:cNvSpPr/>
          <p:nvPr/>
        </p:nvSpPr>
        <p:spPr>
          <a:xfrm>
            <a:off x="1192601" y="5159676"/>
            <a:ext cx="985334"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NNP</a:t>
            </a:r>
          </a:p>
        </p:txBody>
      </p:sp>
      <p:sp>
        <p:nvSpPr>
          <p:cNvPr id="39" name="Rounded Rectangle 38"/>
          <p:cNvSpPr/>
          <p:nvPr/>
        </p:nvSpPr>
        <p:spPr>
          <a:xfrm>
            <a:off x="2209519" y="5159676"/>
            <a:ext cx="683311"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a:p>
            <a:pPr algn="ctr"/>
            <a:r>
              <a:rPr lang="en-US" dirty="0">
                <a:solidFill>
                  <a:srgbClr val="C00000"/>
                </a:solidFill>
              </a:rPr>
              <a:t>NNP</a:t>
            </a:r>
          </a:p>
        </p:txBody>
      </p:sp>
      <p:sp>
        <p:nvSpPr>
          <p:cNvPr id="40" name="Rounded Rectangle 39"/>
          <p:cNvSpPr/>
          <p:nvPr/>
        </p:nvSpPr>
        <p:spPr>
          <a:xfrm>
            <a:off x="2924414" y="5159676"/>
            <a:ext cx="650059"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VBD</a:t>
            </a:r>
          </a:p>
        </p:txBody>
      </p:sp>
      <p:sp>
        <p:nvSpPr>
          <p:cNvPr id="41" name="Rounded Rectangle 40"/>
          <p:cNvSpPr/>
          <p:nvPr/>
        </p:nvSpPr>
        <p:spPr>
          <a:xfrm>
            <a:off x="3612083" y="5159676"/>
            <a:ext cx="1500830"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NNP</a:t>
            </a:r>
          </a:p>
        </p:txBody>
      </p:sp>
      <p:sp>
        <p:nvSpPr>
          <p:cNvPr id="42" name="Rounded Rectangle 41"/>
          <p:cNvSpPr/>
          <p:nvPr/>
        </p:nvSpPr>
        <p:spPr>
          <a:xfrm>
            <a:off x="5166158" y="5159676"/>
            <a:ext cx="610017"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IN</a:t>
            </a:r>
          </a:p>
        </p:txBody>
      </p:sp>
      <p:sp>
        <p:nvSpPr>
          <p:cNvPr id="43" name="Rounded Rectangle 42"/>
          <p:cNvSpPr/>
          <p:nvPr/>
        </p:nvSpPr>
        <p:spPr>
          <a:xfrm>
            <a:off x="5829419" y="5159676"/>
            <a:ext cx="154733" cy="69210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7" name="Rectangle 6"/>
          <p:cNvSpPr/>
          <p:nvPr/>
        </p:nvSpPr>
        <p:spPr>
          <a:xfrm>
            <a:off x="5572765" y="5505726"/>
            <a:ext cx="681643" cy="646331"/>
          </a:xfrm>
          <a:prstGeom prst="rect">
            <a:avLst/>
          </a:prstGeom>
        </p:spPr>
        <p:txBody>
          <a:bodyPr wrap="square">
            <a:spAutoFit/>
          </a:bodyPr>
          <a:lstStyle/>
          <a:p>
            <a:pPr algn="ctr"/>
            <a:endParaRPr lang="en-US" dirty="0">
              <a:solidFill>
                <a:srgbClr val="C00000"/>
              </a:solidFill>
            </a:endParaRPr>
          </a:p>
          <a:p>
            <a:pPr algn="ctr"/>
            <a:r>
              <a:rPr lang="en-US" dirty="0">
                <a:solidFill>
                  <a:srgbClr val="C00000"/>
                </a:solidFill>
              </a:rPr>
              <a:t>DT</a:t>
            </a:r>
          </a:p>
        </p:txBody>
      </p:sp>
      <p:sp>
        <p:nvSpPr>
          <p:cNvPr id="44" name="Rounded Rectangle 43"/>
          <p:cNvSpPr/>
          <p:nvPr/>
        </p:nvSpPr>
        <p:spPr>
          <a:xfrm>
            <a:off x="6050997" y="5159676"/>
            <a:ext cx="1209774"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JJ</a:t>
            </a:r>
          </a:p>
        </p:txBody>
      </p:sp>
      <p:sp>
        <p:nvSpPr>
          <p:cNvPr id="45" name="Rounded Rectangle 44"/>
          <p:cNvSpPr/>
          <p:nvPr/>
        </p:nvSpPr>
        <p:spPr>
          <a:xfrm>
            <a:off x="7305844" y="5159676"/>
            <a:ext cx="683311"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a:t>
            </a:r>
          </a:p>
        </p:txBody>
      </p:sp>
      <p:sp>
        <p:nvSpPr>
          <p:cNvPr id="46" name="TextBox 45">
            <a:extLst>
              <a:ext uri="{FF2B5EF4-FFF2-40B4-BE49-F238E27FC236}">
                <a16:creationId xmlns:a16="http://schemas.microsoft.com/office/drawing/2014/main" xmlns="" id="{96968A2D-772B-4144-9FC4-7A79BDD1E1A3}"/>
              </a:ext>
            </a:extLst>
          </p:cNvPr>
          <p:cNvSpPr txBox="1"/>
          <p:nvPr/>
        </p:nvSpPr>
        <p:spPr>
          <a:xfrm>
            <a:off x="8264340" y="5261402"/>
            <a:ext cx="696024"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&gt;95%</a:t>
            </a:r>
          </a:p>
        </p:txBody>
      </p:sp>
      <p:sp>
        <p:nvSpPr>
          <p:cNvPr id="47" name="TextBox 46">
            <a:extLst>
              <a:ext uri="{FF2B5EF4-FFF2-40B4-BE49-F238E27FC236}">
                <a16:creationId xmlns:a16="http://schemas.microsoft.com/office/drawing/2014/main" xmlns="" id="{96968A2D-772B-4144-9FC4-7A79BDD1E1A3}"/>
              </a:ext>
            </a:extLst>
          </p:cNvPr>
          <p:cNvSpPr txBox="1"/>
          <p:nvPr/>
        </p:nvSpPr>
        <p:spPr>
          <a:xfrm>
            <a:off x="159946" y="1188070"/>
            <a:ext cx="700833"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Level</a:t>
            </a:r>
          </a:p>
        </p:txBody>
      </p:sp>
      <p:sp>
        <p:nvSpPr>
          <p:cNvPr id="48" name="TextBox 47">
            <a:extLst>
              <a:ext uri="{FF2B5EF4-FFF2-40B4-BE49-F238E27FC236}">
                <a16:creationId xmlns:a16="http://schemas.microsoft.com/office/drawing/2014/main" xmlns="" id="{96968A2D-772B-4144-9FC4-7A79BDD1E1A3}"/>
              </a:ext>
            </a:extLst>
          </p:cNvPr>
          <p:cNvSpPr txBox="1"/>
          <p:nvPr/>
        </p:nvSpPr>
        <p:spPr>
          <a:xfrm>
            <a:off x="7786645" y="1188070"/>
            <a:ext cx="1173719"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Accuracy</a:t>
            </a:r>
          </a:p>
        </p:txBody>
      </p:sp>
      <p:sp>
        <p:nvSpPr>
          <p:cNvPr id="23" name="TextBox 22">
            <a:extLst>
              <a:ext uri="{FF2B5EF4-FFF2-40B4-BE49-F238E27FC236}">
                <a16:creationId xmlns:a16="http://schemas.microsoft.com/office/drawing/2014/main" xmlns="" id="{3D0DEEB9-74B1-0C47-9C02-E52DAA56675B}"/>
              </a:ext>
            </a:extLst>
          </p:cNvPr>
          <p:cNvSpPr txBox="1"/>
          <p:nvPr/>
        </p:nvSpPr>
        <p:spPr>
          <a:xfrm>
            <a:off x="2358552" y="3440223"/>
            <a:ext cx="4398396" cy="707886"/>
          </a:xfrm>
          <a:prstGeom prst="rect">
            <a:avLst/>
          </a:prstGeom>
          <a:noFill/>
        </p:spPr>
        <p:txBody>
          <a:bodyPr wrap="square" rtlCol="0">
            <a:spAutoFit/>
          </a:bodyPr>
          <a:lstStyle/>
          <a:p>
            <a:pPr algn="ct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22" name="TextBox 21">
            <a:extLst>
              <a:ext uri="{FF2B5EF4-FFF2-40B4-BE49-F238E27FC236}">
                <a16:creationId xmlns:a16="http://schemas.microsoft.com/office/drawing/2014/main" xmlns="" id="{F88526CA-D4E4-FB49-89F2-2806E3495275}"/>
              </a:ext>
            </a:extLst>
          </p:cNvPr>
          <p:cNvSpPr txBox="1"/>
          <p:nvPr/>
        </p:nvSpPr>
        <p:spPr>
          <a:xfrm>
            <a:off x="159946" y="3638348"/>
            <a:ext cx="1138453" cy="338554"/>
          </a:xfrm>
          <a:prstGeom prst="rect">
            <a:avLst/>
          </a:prstGeom>
          <a:noFill/>
        </p:spPr>
        <p:txBody>
          <a:bodyPr wrap="none" rtlCol="0">
            <a:spAutoFit/>
          </a:bodyPr>
          <a:lstStyle/>
          <a:p>
            <a:r>
              <a:rPr lang="en-US" sz="1600" dirty="0">
                <a:solidFill>
                  <a:srgbClr val="000000"/>
                </a:solidFill>
                <a:latin typeface="Century Gothic" charset="0"/>
                <a:ea typeface="Century Gothic" charset="0"/>
                <a:cs typeface="Century Gothic" charset="0"/>
              </a:rPr>
              <a:t>Sentence</a:t>
            </a:r>
          </a:p>
        </p:txBody>
      </p:sp>
      <p:grpSp>
        <p:nvGrpSpPr>
          <p:cNvPr id="26" name="Group 25"/>
          <p:cNvGrpSpPr/>
          <p:nvPr/>
        </p:nvGrpSpPr>
        <p:grpSpPr>
          <a:xfrm>
            <a:off x="3640671" y="3297792"/>
            <a:ext cx="635431" cy="228600"/>
            <a:chOff x="4633993" y="2250441"/>
            <a:chExt cx="635431" cy="228600"/>
          </a:xfrm>
        </p:grpSpPr>
        <p:sp>
          <p:nvSpPr>
            <p:cNvPr id="27" name="Rounded Rectangle 26"/>
            <p:cNvSpPr/>
            <p:nvPr/>
          </p:nvSpPr>
          <p:spPr>
            <a:xfrm>
              <a:off x="4726983" y="2250441"/>
              <a:ext cx="457200"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4633993" y="2265939"/>
              <a:ext cx="635431" cy="169277"/>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SBJ</a:t>
              </a:r>
            </a:p>
          </p:txBody>
        </p:sp>
      </p:grpSp>
      <p:grpSp>
        <p:nvGrpSpPr>
          <p:cNvPr id="29" name="Group 28"/>
          <p:cNvGrpSpPr/>
          <p:nvPr/>
        </p:nvGrpSpPr>
        <p:grpSpPr>
          <a:xfrm>
            <a:off x="2707071" y="3297792"/>
            <a:ext cx="789337" cy="228600"/>
            <a:chOff x="4633993" y="2242203"/>
            <a:chExt cx="789337" cy="228600"/>
          </a:xfrm>
        </p:grpSpPr>
        <p:sp>
          <p:nvSpPr>
            <p:cNvPr id="31" name="Rounded Rectangle 30"/>
            <p:cNvSpPr/>
            <p:nvPr/>
          </p:nvSpPr>
          <p:spPr>
            <a:xfrm>
              <a:off x="4735220" y="2242203"/>
              <a:ext cx="586053"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31"/>
            <p:cNvSpPr/>
            <p:nvPr/>
          </p:nvSpPr>
          <p:spPr>
            <a:xfrm>
              <a:off x="4633993" y="2265939"/>
              <a:ext cx="789337" cy="135681"/>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NAME</a:t>
              </a:r>
            </a:p>
          </p:txBody>
        </p:sp>
      </p:grpSp>
      <p:grpSp>
        <p:nvGrpSpPr>
          <p:cNvPr id="33" name="Group 32"/>
          <p:cNvGrpSpPr/>
          <p:nvPr/>
        </p:nvGrpSpPr>
        <p:grpSpPr>
          <a:xfrm>
            <a:off x="5486711" y="3297792"/>
            <a:ext cx="635431" cy="228600"/>
            <a:chOff x="4633993" y="2250441"/>
            <a:chExt cx="635431" cy="228600"/>
          </a:xfrm>
        </p:grpSpPr>
        <p:sp>
          <p:nvSpPr>
            <p:cNvPr id="34" name="Rounded Rectangle 33"/>
            <p:cNvSpPr/>
            <p:nvPr/>
          </p:nvSpPr>
          <p:spPr>
            <a:xfrm>
              <a:off x="4726983" y="2250441"/>
              <a:ext cx="457200"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p:cNvSpPr/>
            <p:nvPr/>
          </p:nvSpPr>
          <p:spPr>
            <a:xfrm>
              <a:off x="4633993" y="2265939"/>
              <a:ext cx="635431" cy="169277"/>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C00000"/>
                  </a:solidFill>
                </a:rPr>
                <a:t>TMP</a:t>
              </a:r>
            </a:p>
          </p:txBody>
        </p:sp>
      </p:grpSp>
      <p:grpSp>
        <p:nvGrpSpPr>
          <p:cNvPr id="36" name="Group 35"/>
          <p:cNvGrpSpPr/>
          <p:nvPr/>
        </p:nvGrpSpPr>
        <p:grpSpPr>
          <a:xfrm>
            <a:off x="2948549" y="4169419"/>
            <a:ext cx="635431" cy="228600"/>
            <a:chOff x="4633993" y="2250441"/>
            <a:chExt cx="635431" cy="228600"/>
          </a:xfrm>
        </p:grpSpPr>
        <p:sp>
          <p:nvSpPr>
            <p:cNvPr id="37" name="Rounded Rectangle 36"/>
            <p:cNvSpPr/>
            <p:nvPr/>
          </p:nvSpPr>
          <p:spPr>
            <a:xfrm>
              <a:off x="4726983" y="2250441"/>
              <a:ext cx="457200"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ounded Rectangle 48"/>
            <p:cNvSpPr/>
            <p:nvPr/>
          </p:nvSpPr>
          <p:spPr>
            <a:xfrm>
              <a:off x="4633993" y="2265939"/>
              <a:ext cx="635431" cy="169277"/>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TMP</a:t>
              </a:r>
            </a:p>
          </p:txBody>
        </p:sp>
      </p:grpSp>
      <p:grpSp>
        <p:nvGrpSpPr>
          <p:cNvPr id="50" name="Group 49"/>
          <p:cNvGrpSpPr/>
          <p:nvPr/>
        </p:nvGrpSpPr>
        <p:grpSpPr>
          <a:xfrm>
            <a:off x="4283851" y="3297792"/>
            <a:ext cx="789337" cy="228600"/>
            <a:chOff x="4633993" y="2242203"/>
            <a:chExt cx="789337" cy="228600"/>
          </a:xfrm>
        </p:grpSpPr>
        <p:sp>
          <p:nvSpPr>
            <p:cNvPr id="54" name="Rounded Rectangle 53"/>
            <p:cNvSpPr/>
            <p:nvPr/>
          </p:nvSpPr>
          <p:spPr>
            <a:xfrm>
              <a:off x="4735220" y="2242203"/>
              <a:ext cx="586053"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p:cNvSpPr/>
            <p:nvPr/>
          </p:nvSpPr>
          <p:spPr>
            <a:xfrm>
              <a:off x="4633993" y="2265939"/>
              <a:ext cx="789337" cy="135681"/>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ROOT</a:t>
              </a:r>
            </a:p>
          </p:txBody>
        </p:sp>
      </p:grpSp>
      <p:grpSp>
        <p:nvGrpSpPr>
          <p:cNvPr id="57" name="Group 56"/>
          <p:cNvGrpSpPr/>
          <p:nvPr/>
        </p:nvGrpSpPr>
        <p:grpSpPr>
          <a:xfrm>
            <a:off x="3425087" y="4169419"/>
            <a:ext cx="899546" cy="228600"/>
            <a:chOff x="4601041" y="2242203"/>
            <a:chExt cx="899546" cy="228600"/>
          </a:xfrm>
        </p:grpSpPr>
        <p:sp>
          <p:nvSpPr>
            <p:cNvPr id="59" name="Rounded Rectangle 58"/>
            <p:cNvSpPr/>
            <p:nvPr/>
          </p:nvSpPr>
          <p:spPr>
            <a:xfrm>
              <a:off x="4735220" y="2242203"/>
              <a:ext cx="631595"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ounded Rectangle 59"/>
            <p:cNvSpPr/>
            <p:nvPr/>
          </p:nvSpPr>
          <p:spPr>
            <a:xfrm>
              <a:off x="4601041" y="2274177"/>
              <a:ext cx="899546" cy="136044"/>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NMOD</a:t>
              </a:r>
            </a:p>
          </p:txBody>
        </p:sp>
      </p:grpSp>
      <p:grpSp>
        <p:nvGrpSpPr>
          <p:cNvPr id="61" name="Group 60"/>
          <p:cNvGrpSpPr/>
          <p:nvPr/>
        </p:nvGrpSpPr>
        <p:grpSpPr>
          <a:xfrm>
            <a:off x="4258571" y="4169419"/>
            <a:ext cx="899546" cy="228600"/>
            <a:chOff x="4601041" y="2242203"/>
            <a:chExt cx="899546" cy="228600"/>
          </a:xfrm>
        </p:grpSpPr>
        <p:sp>
          <p:nvSpPr>
            <p:cNvPr id="62" name="Rounded Rectangle 61"/>
            <p:cNvSpPr/>
            <p:nvPr/>
          </p:nvSpPr>
          <p:spPr>
            <a:xfrm>
              <a:off x="4735220" y="2242203"/>
              <a:ext cx="631595"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ounded Rectangle 62"/>
            <p:cNvSpPr/>
            <p:nvPr/>
          </p:nvSpPr>
          <p:spPr>
            <a:xfrm>
              <a:off x="4601041" y="2274177"/>
              <a:ext cx="899546" cy="136044"/>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NMOD</a:t>
              </a:r>
            </a:p>
          </p:txBody>
        </p:sp>
      </p:grpSp>
      <p:grpSp>
        <p:nvGrpSpPr>
          <p:cNvPr id="64" name="Group 63"/>
          <p:cNvGrpSpPr/>
          <p:nvPr/>
        </p:nvGrpSpPr>
        <p:grpSpPr>
          <a:xfrm>
            <a:off x="5164960" y="4169419"/>
            <a:ext cx="899546" cy="228600"/>
            <a:chOff x="4601041" y="2242203"/>
            <a:chExt cx="899546" cy="228600"/>
          </a:xfrm>
        </p:grpSpPr>
        <p:sp>
          <p:nvSpPr>
            <p:cNvPr id="65" name="Rounded Rectangle 64"/>
            <p:cNvSpPr/>
            <p:nvPr/>
          </p:nvSpPr>
          <p:spPr>
            <a:xfrm>
              <a:off x="4735220" y="2242203"/>
              <a:ext cx="631595"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ounded Rectangle 65"/>
            <p:cNvSpPr/>
            <p:nvPr/>
          </p:nvSpPr>
          <p:spPr>
            <a:xfrm>
              <a:off x="4601041" y="2274177"/>
              <a:ext cx="899546" cy="136044"/>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PMOD</a:t>
              </a:r>
            </a:p>
          </p:txBody>
        </p:sp>
      </p:grpSp>
      <p:cxnSp>
        <p:nvCxnSpPr>
          <p:cNvPr id="67" name="Curved Connector 66"/>
          <p:cNvCxnSpPr/>
          <p:nvPr/>
        </p:nvCxnSpPr>
        <p:spPr>
          <a:xfrm rot="16200000" flipH="1" flipV="1">
            <a:off x="3525945" y="2889085"/>
            <a:ext cx="8238" cy="856647"/>
          </a:xfrm>
          <a:prstGeom prst="curvedConnector3">
            <a:avLst>
              <a:gd name="adj1" fmla="val -2774945"/>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Curved Connector 67"/>
          <p:cNvCxnSpPr/>
          <p:nvPr/>
        </p:nvCxnSpPr>
        <p:spPr>
          <a:xfrm rot="16200000" flipV="1">
            <a:off x="4314335" y="2957342"/>
            <a:ext cx="8238" cy="720133"/>
          </a:xfrm>
          <a:prstGeom prst="curvedConnector3">
            <a:avLst>
              <a:gd name="adj1" fmla="val 2874945"/>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Curved Connector 68"/>
          <p:cNvCxnSpPr/>
          <p:nvPr/>
        </p:nvCxnSpPr>
        <p:spPr>
          <a:xfrm rot="5400000" flipH="1" flipV="1">
            <a:off x="5237354" y="2754456"/>
            <a:ext cx="8238" cy="1125907"/>
          </a:xfrm>
          <a:prstGeom prst="curvedConnector3">
            <a:avLst>
              <a:gd name="adj1" fmla="val 2874945"/>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Curved Connector 69"/>
          <p:cNvCxnSpPr>
            <a:stCxn id="56" idx="0"/>
          </p:cNvCxnSpPr>
          <p:nvPr/>
        </p:nvCxnSpPr>
        <p:spPr>
          <a:xfrm rot="16200000" flipH="1" flipV="1">
            <a:off x="3456060" y="3131734"/>
            <a:ext cx="1032666" cy="1412254"/>
          </a:xfrm>
          <a:prstGeom prst="curvedConnector4">
            <a:avLst>
              <a:gd name="adj1" fmla="val -27586"/>
              <a:gd name="adj2" fmla="val 166573"/>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Curved Connector 70"/>
          <p:cNvCxnSpPr/>
          <p:nvPr/>
        </p:nvCxnSpPr>
        <p:spPr>
          <a:xfrm rot="16200000" flipH="1">
            <a:off x="4418689" y="3201770"/>
            <a:ext cx="43825" cy="2348672"/>
          </a:xfrm>
          <a:prstGeom prst="curvedConnector3">
            <a:avLst>
              <a:gd name="adj1" fmla="val 621620"/>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Curved Connector 71"/>
          <p:cNvCxnSpPr/>
          <p:nvPr/>
        </p:nvCxnSpPr>
        <p:spPr>
          <a:xfrm rot="5400000">
            <a:off x="5161743" y="3944825"/>
            <a:ext cx="12700" cy="906389"/>
          </a:xfrm>
          <a:prstGeom prst="curvedConnector3">
            <a:avLst>
              <a:gd name="adj1" fmla="val 1800000"/>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Curved Connector 72"/>
          <p:cNvCxnSpPr/>
          <p:nvPr/>
        </p:nvCxnSpPr>
        <p:spPr>
          <a:xfrm rot="5400000">
            <a:off x="4745001" y="3528083"/>
            <a:ext cx="12700" cy="1739873"/>
          </a:xfrm>
          <a:prstGeom prst="curvedConnector3">
            <a:avLst>
              <a:gd name="adj1" fmla="val 1800000"/>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xmlns="" id="{96968A2D-772B-4144-9FC4-7A79BDD1E1A3}"/>
              </a:ext>
            </a:extLst>
          </p:cNvPr>
          <p:cNvSpPr txBox="1"/>
          <p:nvPr/>
        </p:nvSpPr>
        <p:spPr>
          <a:xfrm>
            <a:off x="8264340" y="3638348"/>
            <a:ext cx="696024"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~90%</a:t>
            </a:r>
          </a:p>
        </p:txBody>
      </p:sp>
      <p:sp>
        <p:nvSpPr>
          <p:cNvPr id="75" name="TextBox 74">
            <a:extLst>
              <a:ext uri="{FF2B5EF4-FFF2-40B4-BE49-F238E27FC236}">
                <a16:creationId xmlns:a16="http://schemas.microsoft.com/office/drawing/2014/main" xmlns="" id="{3D0DEEB9-74B1-0C47-9C02-E52DAA56675B}"/>
              </a:ext>
            </a:extLst>
          </p:cNvPr>
          <p:cNvSpPr txBox="1"/>
          <p:nvPr/>
        </p:nvSpPr>
        <p:spPr>
          <a:xfrm>
            <a:off x="3120713" y="2080884"/>
            <a:ext cx="3016970" cy="707886"/>
          </a:xfrm>
          <a:prstGeom prst="rect">
            <a:avLst/>
          </a:prstGeom>
          <a:noFill/>
        </p:spPr>
        <p:txBody>
          <a:bodyPr wrap="square" rtlCol="0">
            <a:spAutoFit/>
          </a:bodyPr>
          <a:lstStyle/>
          <a:p>
            <a:pPr algn="ct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Lowe: long-term illness --&gt; died on 03-20-2013</a:t>
            </a:r>
          </a:p>
        </p:txBody>
      </p:sp>
      <p:sp>
        <p:nvSpPr>
          <p:cNvPr id="77" name="TextBox 76">
            <a:extLst>
              <a:ext uri="{FF2B5EF4-FFF2-40B4-BE49-F238E27FC236}">
                <a16:creationId xmlns:a16="http://schemas.microsoft.com/office/drawing/2014/main" xmlns="" id="{2B959E80-D18F-244D-9D76-4CE865449B00}"/>
              </a:ext>
            </a:extLst>
          </p:cNvPr>
          <p:cNvSpPr txBox="1"/>
          <p:nvPr/>
        </p:nvSpPr>
        <p:spPr>
          <a:xfrm>
            <a:off x="159946" y="2030897"/>
            <a:ext cx="1032655"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Situation</a:t>
            </a:r>
          </a:p>
        </p:txBody>
      </p:sp>
      <p:sp>
        <p:nvSpPr>
          <p:cNvPr id="78" name="Rounded Rectangle 77"/>
          <p:cNvSpPr/>
          <p:nvPr/>
        </p:nvSpPr>
        <p:spPr>
          <a:xfrm>
            <a:off x="5930734" y="2830079"/>
            <a:ext cx="3174732" cy="330727"/>
          </a:xfrm>
          <a:prstGeom prst="roundRect">
            <a:avLst/>
          </a:prstGeom>
          <a:solidFill>
            <a:srgbClr val="B4C3E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5916827" y="2817317"/>
            <a:ext cx="3221402" cy="400110"/>
          </a:xfrm>
          <a:prstGeom prst="rect">
            <a:avLst/>
          </a:prstGeom>
        </p:spPr>
        <p:txBody>
          <a:bodyPr wrap="square">
            <a:spAutoFit/>
          </a:bodyPr>
          <a:lstStyle/>
          <a:p>
            <a:r>
              <a:rPr lang="en-US" sz="2000" dirty="0">
                <a:solidFill>
                  <a:srgbClr val="000000"/>
                </a:solidFill>
                <a:latin typeface="Century Gothic" charset="0"/>
                <a:ea typeface="Century Gothic" charset="0"/>
                <a:cs typeface="Century Gothic" charset="0"/>
              </a:rPr>
              <a:t>no activities after death</a:t>
            </a:r>
            <a:endParaRPr lang="en-US" dirty="0"/>
          </a:p>
        </p:txBody>
      </p:sp>
      <p:grpSp>
        <p:nvGrpSpPr>
          <p:cNvPr id="79" name="Group 78"/>
          <p:cNvGrpSpPr/>
          <p:nvPr/>
        </p:nvGrpSpPr>
        <p:grpSpPr>
          <a:xfrm>
            <a:off x="3943053" y="1564425"/>
            <a:ext cx="2405686" cy="616675"/>
            <a:chOff x="4049293" y="1414219"/>
            <a:chExt cx="2405686" cy="616675"/>
          </a:xfrm>
        </p:grpSpPr>
        <p:sp>
          <p:nvSpPr>
            <p:cNvPr id="80" name="Right Brace 79"/>
            <p:cNvSpPr/>
            <p:nvPr/>
          </p:nvSpPr>
          <p:spPr>
            <a:xfrm rot="16200000">
              <a:off x="5041678" y="939768"/>
              <a:ext cx="240309" cy="1941944"/>
            </a:xfrm>
            <a:prstGeom prst="rightBrace">
              <a:avLst>
                <a:gd name="adj1" fmla="val 31295"/>
                <a:gd name="adj2" fmla="val 50000"/>
              </a:avLst>
            </a:prstGeom>
            <a:ln w="3810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1" name="Rounded Rectangle 80"/>
            <p:cNvSpPr/>
            <p:nvPr/>
          </p:nvSpPr>
          <p:spPr>
            <a:xfrm>
              <a:off x="4172343" y="1475816"/>
              <a:ext cx="1938360" cy="278234"/>
            </a:xfrm>
            <a:prstGeom prst="roundRect">
              <a:avLst/>
            </a:prstGeom>
            <a:solidFill>
              <a:srgbClr val="B4C3E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4049293" y="1414219"/>
              <a:ext cx="2405686" cy="400110"/>
            </a:xfrm>
            <a:prstGeom prst="rect">
              <a:avLst/>
            </a:prstGeom>
          </p:spPr>
          <p:txBody>
            <a:bodyPr wrap="square">
              <a:spAutoFit/>
            </a:bodyPr>
            <a:lstStyle/>
            <a:p>
              <a:r>
                <a:rPr lang="en-US" sz="2000" dirty="0">
                  <a:solidFill>
                    <a:srgbClr val="000000"/>
                  </a:solidFill>
                  <a:latin typeface="Century Gothic" charset="0"/>
                  <a:ea typeface="Century Gothic" charset="0"/>
                  <a:cs typeface="Century Gothic" charset="0"/>
                </a:rPr>
                <a:t> often &gt;10 years </a:t>
              </a:r>
              <a:endParaRPr lang="en-US" dirty="0"/>
            </a:p>
          </p:txBody>
        </p:sp>
      </p:grpSp>
      <p:sp>
        <p:nvSpPr>
          <p:cNvPr id="2" name="Right Brace 1"/>
          <p:cNvSpPr/>
          <p:nvPr/>
        </p:nvSpPr>
        <p:spPr>
          <a:xfrm rot="5400000">
            <a:off x="4688333" y="1646279"/>
            <a:ext cx="240309" cy="2335633"/>
          </a:xfrm>
          <a:prstGeom prst="rightBrace">
            <a:avLst>
              <a:gd name="adj1" fmla="val 31295"/>
              <a:gd name="adj2" fmla="val 12327"/>
            </a:avLst>
          </a:prstGeom>
          <a:ln w="3810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TextBox 82">
            <a:extLst>
              <a:ext uri="{FF2B5EF4-FFF2-40B4-BE49-F238E27FC236}">
                <a16:creationId xmlns:a16="http://schemas.microsoft.com/office/drawing/2014/main" xmlns="" id="{96968A2D-772B-4144-9FC4-7A79BDD1E1A3}"/>
              </a:ext>
            </a:extLst>
          </p:cNvPr>
          <p:cNvSpPr txBox="1"/>
          <p:nvPr/>
        </p:nvSpPr>
        <p:spPr>
          <a:xfrm>
            <a:off x="7844983" y="2034159"/>
            <a:ext cx="1207382"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Not robust</a:t>
            </a:r>
          </a:p>
        </p:txBody>
      </p:sp>
      <p:grpSp>
        <p:nvGrpSpPr>
          <p:cNvPr id="85" name="Group 84">
            <a:extLst>
              <a:ext uri="{FF2B5EF4-FFF2-40B4-BE49-F238E27FC236}">
                <a16:creationId xmlns:a16="http://schemas.microsoft.com/office/drawing/2014/main" xmlns="" id="{67B446AE-8101-E345-8C46-B2BBABEDEFB0}"/>
              </a:ext>
            </a:extLst>
          </p:cNvPr>
          <p:cNvGrpSpPr/>
          <p:nvPr/>
        </p:nvGrpSpPr>
        <p:grpSpPr>
          <a:xfrm>
            <a:off x="2752953" y="1740736"/>
            <a:ext cx="1078981" cy="400110"/>
            <a:chOff x="4120647" y="1414219"/>
            <a:chExt cx="1078981" cy="400110"/>
          </a:xfrm>
        </p:grpSpPr>
        <p:sp>
          <p:nvSpPr>
            <p:cNvPr id="87" name="Rounded Rectangle 86">
              <a:extLst>
                <a:ext uri="{FF2B5EF4-FFF2-40B4-BE49-F238E27FC236}">
                  <a16:creationId xmlns:a16="http://schemas.microsoft.com/office/drawing/2014/main" xmlns="" id="{AF875A60-C5F0-564B-84D0-F4ED12BCF84E}"/>
                </a:ext>
              </a:extLst>
            </p:cNvPr>
            <p:cNvSpPr/>
            <p:nvPr/>
          </p:nvSpPr>
          <p:spPr>
            <a:xfrm>
              <a:off x="4172343" y="1475815"/>
              <a:ext cx="883249" cy="304427"/>
            </a:xfrm>
            <a:prstGeom prst="roundRect">
              <a:avLst/>
            </a:prstGeom>
            <a:solidFill>
              <a:srgbClr val="B4C3E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xmlns="" id="{E816D95B-1E5C-784A-B19A-0B949FB152E9}"/>
                </a:ext>
              </a:extLst>
            </p:cNvPr>
            <p:cNvSpPr/>
            <p:nvPr/>
          </p:nvSpPr>
          <p:spPr>
            <a:xfrm>
              <a:off x="4120647" y="1414219"/>
              <a:ext cx="1078981" cy="400110"/>
            </a:xfrm>
            <a:prstGeom prst="rect">
              <a:avLst/>
            </a:prstGeom>
          </p:spPr>
          <p:txBody>
            <a:bodyPr wrap="square">
              <a:spAutoFit/>
            </a:bodyPr>
            <a:lstStyle/>
            <a:p>
              <a:r>
                <a:rPr lang="en-US" sz="2000" dirty="0">
                  <a:solidFill>
                    <a:srgbClr val="000000"/>
                  </a:solidFill>
                  <a:latin typeface="Century Gothic" charset="0"/>
                  <a:ea typeface="Century Gothic" charset="0"/>
                  <a:cs typeface="Century Gothic" charset="0"/>
                </a:rPr>
                <a:t>Person</a:t>
              </a:r>
              <a:endParaRPr lang="en-US" dirty="0"/>
            </a:p>
          </p:txBody>
        </p:sp>
      </p:grpSp>
      <p:grpSp>
        <p:nvGrpSpPr>
          <p:cNvPr id="89" name="Group 88">
            <a:extLst>
              <a:ext uri="{FF2B5EF4-FFF2-40B4-BE49-F238E27FC236}">
                <a16:creationId xmlns:a16="http://schemas.microsoft.com/office/drawing/2014/main" xmlns="" id="{B81320A0-B808-024A-86D8-A09B9B9A65BF}"/>
              </a:ext>
            </a:extLst>
          </p:cNvPr>
          <p:cNvGrpSpPr/>
          <p:nvPr/>
        </p:nvGrpSpPr>
        <p:grpSpPr>
          <a:xfrm>
            <a:off x="5954747" y="2350271"/>
            <a:ext cx="1890235" cy="707886"/>
            <a:chOff x="4120647" y="1414219"/>
            <a:chExt cx="1078981" cy="707886"/>
          </a:xfrm>
        </p:grpSpPr>
        <p:sp>
          <p:nvSpPr>
            <p:cNvPr id="90" name="Rounded Rectangle 89">
              <a:extLst>
                <a:ext uri="{FF2B5EF4-FFF2-40B4-BE49-F238E27FC236}">
                  <a16:creationId xmlns:a16="http://schemas.microsoft.com/office/drawing/2014/main" xmlns="" id="{E76454BE-6E80-2944-A6AF-A84193CC5705}"/>
                </a:ext>
              </a:extLst>
            </p:cNvPr>
            <p:cNvSpPr/>
            <p:nvPr/>
          </p:nvSpPr>
          <p:spPr>
            <a:xfrm>
              <a:off x="4172343" y="1475815"/>
              <a:ext cx="883249" cy="304427"/>
            </a:xfrm>
            <a:prstGeom prst="roundRect">
              <a:avLst/>
            </a:prstGeom>
            <a:solidFill>
              <a:srgbClr val="B4C3E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xmlns="" id="{EFF1F376-B936-6D47-AF8D-DCF03DAA85B6}"/>
                </a:ext>
              </a:extLst>
            </p:cNvPr>
            <p:cNvSpPr/>
            <p:nvPr/>
          </p:nvSpPr>
          <p:spPr>
            <a:xfrm>
              <a:off x="4120647" y="1414219"/>
              <a:ext cx="1078981" cy="707886"/>
            </a:xfrm>
            <a:prstGeom prst="rect">
              <a:avLst/>
            </a:prstGeom>
          </p:spPr>
          <p:txBody>
            <a:bodyPr wrap="square">
              <a:spAutoFit/>
            </a:bodyPr>
            <a:lstStyle/>
            <a:p>
              <a:r>
                <a:rPr lang="en-US" sz="2000" dirty="0">
                  <a:solidFill>
                    <a:srgbClr val="000000"/>
                  </a:solidFill>
                  <a:latin typeface="Century Gothic" charset="0"/>
                  <a:ea typeface="Century Gothic" charset="0"/>
                  <a:cs typeface="Century Gothic" charset="0"/>
                </a:rPr>
                <a:t>Wednesday</a:t>
              </a:r>
              <a:endParaRPr lang="en-US" sz="1200" dirty="0"/>
            </a:p>
          </p:txBody>
        </p:sp>
      </p:grpSp>
      <p:sp>
        <p:nvSpPr>
          <p:cNvPr id="84" name="TextBox 83">
            <a:extLst>
              <a:ext uri="{FF2B5EF4-FFF2-40B4-BE49-F238E27FC236}">
                <a16:creationId xmlns:a16="http://schemas.microsoft.com/office/drawing/2014/main" xmlns="" id="{4D37E9D0-9282-6646-A180-8D6C816E8EB4}"/>
              </a:ext>
            </a:extLst>
          </p:cNvPr>
          <p:cNvSpPr txBox="1"/>
          <p:nvPr/>
        </p:nvSpPr>
        <p:spPr>
          <a:xfrm>
            <a:off x="159946" y="3927716"/>
            <a:ext cx="1649811" cy="338554"/>
          </a:xfrm>
          <a:prstGeom prst="rect">
            <a:avLst/>
          </a:prstGeom>
          <a:noFill/>
        </p:spPr>
        <p:txBody>
          <a:bodyPr wrap="none" rtlCol="0">
            <a:spAutoFit/>
          </a:bodyPr>
          <a:lstStyle/>
          <a:p>
            <a:r>
              <a:rPr lang="en-US" sz="1600" dirty="0">
                <a:solidFill>
                  <a:srgbClr val="000000"/>
                </a:solidFill>
                <a:latin typeface="Century Gothic" charset="0"/>
                <a:ea typeface="Century Gothic" charset="0"/>
                <a:cs typeface="Century Gothic" charset="0"/>
              </a:rPr>
              <a:t>(dependency)</a:t>
            </a:r>
          </a:p>
        </p:txBody>
      </p:sp>
      <p:sp>
        <p:nvSpPr>
          <p:cNvPr id="86" name="TextBox 85">
            <a:extLst>
              <a:ext uri="{FF2B5EF4-FFF2-40B4-BE49-F238E27FC236}">
                <a16:creationId xmlns:a16="http://schemas.microsoft.com/office/drawing/2014/main" xmlns="" id="{5D6B4F21-01D2-6D45-8B73-B56A928ECB19}"/>
              </a:ext>
            </a:extLst>
          </p:cNvPr>
          <p:cNvSpPr txBox="1"/>
          <p:nvPr/>
        </p:nvSpPr>
        <p:spPr>
          <a:xfrm>
            <a:off x="141141" y="5452115"/>
            <a:ext cx="737702" cy="338554"/>
          </a:xfrm>
          <a:prstGeom prst="rect">
            <a:avLst/>
          </a:prstGeom>
          <a:noFill/>
        </p:spPr>
        <p:txBody>
          <a:bodyPr wrap="none" rtlCol="0">
            <a:spAutoFit/>
          </a:bodyPr>
          <a:lstStyle/>
          <a:p>
            <a:r>
              <a:rPr lang="en-US" sz="1600" dirty="0">
                <a:solidFill>
                  <a:srgbClr val="000000"/>
                </a:solidFill>
                <a:latin typeface="Century Gothic" charset="0"/>
                <a:ea typeface="Century Gothic" charset="0"/>
                <a:cs typeface="Century Gothic" charset="0"/>
              </a:rPr>
              <a:t>(POS)</a:t>
            </a:r>
          </a:p>
        </p:txBody>
      </p:sp>
    </p:spTree>
    <p:extLst>
      <p:ext uri="{BB962C8B-B14F-4D97-AF65-F5344CB8AC3E}">
        <p14:creationId xmlns:p14="http://schemas.microsoft.com/office/powerpoint/2010/main" val="254920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wipe(down)">
                                      <p:cBhvr>
                                        <p:cTn id="12" dur="500"/>
                                        <p:tgtEl>
                                          <p:spTgt spid="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9"/>
                                        </p:tgtEl>
                                        <p:attrNameLst>
                                          <p:attrName>style.visibility</p:attrName>
                                        </p:attrNameLst>
                                      </p:cBhvr>
                                      <p:to>
                                        <p:strVal val="visible"/>
                                      </p:to>
                                    </p:set>
                                    <p:animEffect transition="in" filter="wipe(down)">
                                      <p:cBhvr>
                                        <p:cTn id="17" dur="500"/>
                                        <p:tgtEl>
                                          <p:spTgt spid="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9"/>
                                        </p:tgtEl>
                                        <p:attrNameLst>
                                          <p:attrName>style.visibility</p:attrName>
                                        </p:attrNameLst>
                                      </p:cBhvr>
                                      <p:to>
                                        <p:strVal val="visible"/>
                                      </p:to>
                                    </p:set>
                                    <p:animEffect transition="in" filter="wipe(down)">
                                      <p:cBhvr>
                                        <p:cTn id="22" dur="500"/>
                                        <p:tgtEl>
                                          <p:spTgt spid="7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76"/>
                                        </p:tgtEl>
                                        <p:attrNameLst>
                                          <p:attrName>style.visibility</p:attrName>
                                        </p:attrNameLst>
                                      </p:cBhvr>
                                      <p:to>
                                        <p:strVal val="visible"/>
                                      </p:to>
                                    </p:set>
                                    <p:animEffect transition="in" filter="wipe(left)">
                                      <p:cBhvr>
                                        <p:cTn id="31" dur="500"/>
                                        <p:tgtEl>
                                          <p:spTgt spid="7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78"/>
                                        </p:tgtEl>
                                        <p:attrNameLst>
                                          <p:attrName>style.visibility</p:attrName>
                                        </p:attrNameLst>
                                      </p:cBhvr>
                                      <p:to>
                                        <p:strVal val="visible"/>
                                      </p:to>
                                    </p:set>
                                    <p:animEffect transition="in" filter="wipe(left)">
                                      <p:cBhvr>
                                        <p:cTn id="34" dur="500"/>
                                        <p:tgtEl>
                                          <p:spTgt spid="7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3"/>
                                        </p:tgtEl>
                                        <p:attrNameLst>
                                          <p:attrName>style.visibility</p:attrName>
                                        </p:attrNameLst>
                                      </p:cBhvr>
                                      <p:to>
                                        <p:strVal val="visible"/>
                                      </p:to>
                                    </p:set>
                                    <p:animEffect transition="in" filter="fade">
                                      <p:cBhvr>
                                        <p:cTn id="39"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animBg="1"/>
      <p:bldP spid="76" grpId="0"/>
      <p:bldP spid="2" grpId="0" animBg="1"/>
      <p:bldP spid="8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8C9AF2-5F5D-1A46-9E57-BE3CEC358E4A}"/>
              </a:ext>
            </a:extLst>
          </p:cNvPr>
          <p:cNvSpPr>
            <a:spLocks noGrp="1"/>
          </p:cNvSpPr>
          <p:nvPr>
            <p:ph type="title"/>
          </p:nvPr>
        </p:nvSpPr>
        <p:spPr/>
        <p:txBody>
          <a:bodyPr/>
          <a:lstStyle/>
          <a:p>
            <a:pPr algn="ctr"/>
            <a:r>
              <a:rPr lang="en-US" dirty="0">
                <a:solidFill>
                  <a:srgbClr val="000000">
                    <a:lumMod val="95000"/>
                    <a:lumOff val="5000"/>
                  </a:srgbClr>
                </a:solidFill>
              </a:rPr>
              <a:t>Where are we in NLP?</a:t>
            </a:r>
            <a:endParaRPr lang="en-US" dirty="0"/>
          </a:p>
        </p:txBody>
      </p:sp>
      <p:sp>
        <p:nvSpPr>
          <p:cNvPr id="3" name="Content Placeholder 2">
            <a:extLst>
              <a:ext uri="{FF2B5EF4-FFF2-40B4-BE49-F238E27FC236}">
                <a16:creationId xmlns:a16="http://schemas.microsoft.com/office/drawing/2014/main" xmlns="" id="{5FE34008-2C2B-F843-93BB-4F25DC2DFFFF}"/>
              </a:ext>
            </a:extLst>
          </p:cNvPr>
          <p:cNvSpPr>
            <a:spLocks noGrp="1"/>
          </p:cNvSpPr>
          <p:nvPr>
            <p:ph idx="1"/>
          </p:nvPr>
        </p:nvSpPr>
        <p:spPr>
          <a:xfrm>
            <a:off x="3928899" y="1037398"/>
            <a:ext cx="5291301" cy="2127753"/>
          </a:xfrm>
        </p:spPr>
        <p:txBody>
          <a:bodyPr/>
          <a:lstStyle/>
          <a:p>
            <a:pPr marL="0" indent="0">
              <a:buNone/>
            </a:pPr>
            <a:r>
              <a:rPr lang="en-US" b="1" dirty="0">
                <a:solidFill>
                  <a:schemeClr val="bg2">
                    <a:lumMod val="85000"/>
                    <a:lumOff val="15000"/>
                  </a:schemeClr>
                </a:solidFill>
              </a:rPr>
              <a:t>It’s time to study situation and event</a:t>
            </a:r>
          </a:p>
          <a:p>
            <a:pPr lvl="1"/>
            <a:r>
              <a:rPr lang="en-US" dirty="0">
                <a:solidFill>
                  <a:schemeClr val="bg2">
                    <a:lumMod val="85000"/>
                    <a:lumOff val="15000"/>
                  </a:schemeClr>
                </a:solidFill>
              </a:rPr>
              <a:t>what is going on</a:t>
            </a:r>
          </a:p>
          <a:p>
            <a:pPr lvl="1"/>
            <a:r>
              <a:rPr lang="en-US" dirty="0">
                <a:solidFill>
                  <a:schemeClr val="bg2">
                    <a:lumMod val="85000"/>
                    <a:lumOff val="15000"/>
                  </a:schemeClr>
                </a:solidFill>
              </a:rPr>
              <a:t>what is the cause and effect</a:t>
            </a:r>
          </a:p>
          <a:p>
            <a:pPr lvl="1"/>
            <a:r>
              <a:rPr lang="en-US" dirty="0">
                <a:solidFill>
                  <a:schemeClr val="bg2">
                    <a:lumMod val="85000"/>
                    <a:lumOff val="15000"/>
                  </a:schemeClr>
                </a:solidFill>
              </a:rPr>
              <a:t>how things unfold along time</a:t>
            </a:r>
          </a:p>
          <a:p>
            <a:endParaRPr lang="en-US" dirty="0"/>
          </a:p>
        </p:txBody>
      </p:sp>
      <p:sp>
        <p:nvSpPr>
          <p:cNvPr id="4" name="Freeform 3">
            <a:extLst>
              <a:ext uri="{FF2B5EF4-FFF2-40B4-BE49-F238E27FC236}">
                <a16:creationId xmlns:a16="http://schemas.microsoft.com/office/drawing/2014/main" xmlns="" id="{F7DC9E12-84B9-D542-BB2D-F925103A20E8}"/>
              </a:ext>
            </a:extLst>
          </p:cNvPr>
          <p:cNvSpPr/>
          <p:nvPr/>
        </p:nvSpPr>
        <p:spPr>
          <a:xfrm>
            <a:off x="3053977" y="2061158"/>
            <a:ext cx="897436" cy="825062"/>
          </a:xfrm>
          <a:custGeom>
            <a:avLst/>
            <a:gdLst>
              <a:gd name="connsiteX0" fmla="*/ 614319 w 1228638"/>
              <a:gd name="connsiteY0" fmla="*/ 0 h 1129554"/>
              <a:gd name="connsiteX1" fmla="*/ 1228638 w 1228638"/>
              <a:gd name="connsiteY1" fmla="*/ 1129554 h 1129554"/>
              <a:gd name="connsiteX2" fmla="*/ 0 w 1228638"/>
              <a:gd name="connsiteY2" fmla="*/ 1129554 h 1129554"/>
              <a:gd name="connsiteX3" fmla="*/ 614319 w 1228638"/>
              <a:gd name="connsiteY3" fmla="*/ 0 h 1129554"/>
            </a:gdLst>
            <a:ahLst/>
            <a:cxnLst>
              <a:cxn ang="0">
                <a:pos x="connsiteX0" y="connsiteY0"/>
              </a:cxn>
              <a:cxn ang="0">
                <a:pos x="connsiteX1" y="connsiteY1"/>
              </a:cxn>
              <a:cxn ang="0">
                <a:pos x="connsiteX2" y="connsiteY2"/>
              </a:cxn>
              <a:cxn ang="0">
                <a:pos x="connsiteX3" y="connsiteY3"/>
              </a:cxn>
            </a:cxnLst>
            <a:rect l="l" t="t" r="r" b="b"/>
            <a:pathLst>
              <a:path w="1228638" h="1129554">
                <a:moveTo>
                  <a:pt x="614319" y="0"/>
                </a:moveTo>
                <a:lnTo>
                  <a:pt x="1228638" y="1129554"/>
                </a:lnTo>
                <a:lnTo>
                  <a:pt x="0" y="1129554"/>
                </a:lnTo>
                <a:lnTo>
                  <a:pt x="614319" y="0"/>
                </a:lnTo>
                <a:close/>
              </a:path>
            </a:pathLst>
          </a:custGeom>
          <a:solidFill>
            <a:srgbClr val="666089">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entury Gothic" charset="0"/>
              <a:ea typeface="Century Gothic" charset="0"/>
              <a:cs typeface="Century Gothic" charset="0"/>
            </a:endParaRPr>
          </a:p>
        </p:txBody>
      </p:sp>
      <p:sp>
        <p:nvSpPr>
          <p:cNvPr id="5" name="Freeform 4">
            <a:extLst>
              <a:ext uri="{FF2B5EF4-FFF2-40B4-BE49-F238E27FC236}">
                <a16:creationId xmlns:a16="http://schemas.microsoft.com/office/drawing/2014/main" xmlns="" id="{978E545B-EB76-8148-A35B-150C48ADB264}"/>
              </a:ext>
            </a:extLst>
          </p:cNvPr>
          <p:cNvSpPr/>
          <p:nvPr/>
        </p:nvSpPr>
        <p:spPr>
          <a:xfrm>
            <a:off x="2557183" y="2974618"/>
            <a:ext cx="1891025" cy="825062"/>
          </a:xfrm>
          <a:custGeom>
            <a:avLst/>
            <a:gdLst>
              <a:gd name="connsiteX0" fmla="*/ 614319 w 2588914"/>
              <a:gd name="connsiteY0" fmla="*/ 0 h 1129554"/>
              <a:gd name="connsiteX1" fmla="*/ 1974595 w 2588914"/>
              <a:gd name="connsiteY1" fmla="*/ 0 h 1129554"/>
              <a:gd name="connsiteX2" fmla="*/ 2588914 w 2588914"/>
              <a:gd name="connsiteY2" fmla="*/ 1129554 h 1129554"/>
              <a:gd name="connsiteX3" fmla="*/ 0 w 2588914"/>
              <a:gd name="connsiteY3" fmla="*/ 1129554 h 1129554"/>
              <a:gd name="connsiteX4" fmla="*/ 614319 w 2588914"/>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914" h="1129554">
                <a:moveTo>
                  <a:pt x="614319" y="0"/>
                </a:moveTo>
                <a:lnTo>
                  <a:pt x="1974595" y="0"/>
                </a:lnTo>
                <a:lnTo>
                  <a:pt x="2588914" y="1129554"/>
                </a:lnTo>
                <a:lnTo>
                  <a:pt x="0" y="1129554"/>
                </a:lnTo>
                <a:lnTo>
                  <a:pt x="614319" y="0"/>
                </a:lnTo>
                <a:close/>
              </a:path>
            </a:pathLst>
          </a:custGeom>
          <a:solidFill>
            <a:srgbClr val="7792C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entury Gothic" charset="0"/>
              <a:ea typeface="Century Gothic" charset="0"/>
              <a:cs typeface="Century Gothic" charset="0"/>
            </a:endParaRPr>
          </a:p>
        </p:txBody>
      </p:sp>
      <p:sp>
        <p:nvSpPr>
          <p:cNvPr id="6" name="Freeform 5">
            <a:extLst>
              <a:ext uri="{FF2B5EF4-FFF2-40B4-BE49-F238E27FC236}">
                <a16:creationId xmlns:a16="http://schemas.microsoft.com/office/drawing/2014/main" xmlns="" id="{6CB448AD-9002-E140-A24C-AFF375496F61}"/>
              </a:ext>
            </a:extLst>
          </p:cNvPr>
          <p:cNvSpPr/>
          <p:nvPr/>
        </p:nvSpPr>
        <p:spPr>
          <a:xfrm>
            <a:off x="2060388" y="3888079"/>
            <a:ext cx="2884614" cy="825062"/>
          </a:xfrm>
          <a:custGeom>
            <a:avLst/>
            <a:gdLst>
              <a:gd name="connsiteX0" fmla="*/ 614319 w 3949190"/>
              <a:gd name="connsiteY0" fmla="*/ 0 h 1129554"/>
              <a:gd name="connsiteX1" fmla="*/ 3334871 w 3949190"/>
              <a:gd name="connsiteY1" fmla="*/ 0 h 1129554"/>
              <a:gd name="connsiteX2" fmla="*/ 3949190 w 3949190"/>
              <a:gd name="connsiteY2" fmla="*/ 1129554 h 1129554"/>
              <a:gd name="connsiteX3" fmla="*/ 0 w 3949190"/>
              <a:gd name="connsiteY3" fmla="*/ 1129554 h 1129554"/>
              <a:gd name="connsiteX4" fmla="*/ 614319 w 3949190"/>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90" h="1129554">
                <a:moveTo>
                  <a:pt x="614319" y="0"/>
                </a:moveTo>
                <a:lnTo>
                  <a:pt x="3334871" y="0"/>
                </a:lnTo>
                <a:lnTo>
                  <a:pt x="3949190" y="1129554"/>
                </a:lnTo>
                <a:lnTo>
                  <a:pt x="0" y="1129554"/>
                </a:lnTo>
                <a:lnTo>
                  <a:pt x="614319" y="0"/>
                </a:lnTo>
                <a:close/>
              </a:path>
            </a:pathLst>
          </a:custGeom>
          <a:solidFill>
            <a:srgbClr val="C17A9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entury Gothic" charset="0"/>
              <a:ea typeface="Century Gothic" charset="0"/>
              <a:cs typeface="Century Gothic" charset="0"/>
            </a:endParaRPr>
          </a:p>
        </p:txBody>
      </p:sp>
      <p:sp>
        <p:nvSpPr>
          <p:cNvPr id="7" name="Freeform 6">
            <a:extLst>
              <a:ext uri="{FF2B5EF4-FFF2-40B4-BE49-F238E27FC236}">
                <a16:creationId xmlns:a16="http://schemas.microsoft.com/office/drawing/2014/main" xmlns="" id="{1A54A3CF-BC91-5C43-8730-A8564FAEDE43}"/>
              </a:ext>
            </a:extLst>
          </p:cNvPr>
          <p:cNvSpPr/>
          <p:nvPr/>
        </p:nvSpPr>
        <p:spPr>
          <a:xfrm>
            <a:off x="1563594" y="4801539"/>
            <a:ext cx="3878202" cy="825062"/>
          </a:xfrm>
          <a:custGeom>
            <a:avLst/>
            <a:gdLst>
              <a:gd name="connsiteX0" fmla="*/ 614319 w 5309465"/>
              <a:gd name="connsiteY0" fmla="*/ 0 h 1129554"/>
              <a:gd name="connsiteX1" fmla="*/ 4695147 w 5309465"/>
              <a:gd name="connsiteY1" fmla="*/ 0 h 1129554"/>
              <a:gd name="connsiteX2" fmla="*/ 5309465 w 5309465"/>
              <a:gd name="connsiteY2" fmla="*/ 1129554 h 1129554"/>
              <a:gd name="connsiteX3" fmla="*/ 0 w 5309465"/>
              <a:gd name="connsiteY3" fmla="*/ 1129554 h 1129554"/>
              <a:gd name="connsiteX4" fmla="*/ 614319 w 5309465"/>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9465" h="1129554">
                <a:moveTo>
                  <a:pt x="614319" y="0"/>
                </a:moveTo>
                <a:lnTo>
                  <a:pt x="4695147" y="0"/>
                </a:lnTo>
                <a:lnTo>
                  <a:pt x="5309465" y="1129554"/>
                </a:lnTo>
                <a:lnTo>
                  <a:pt x="0" y="1129554"/>
                </a:lnTo>
                <a:lnTo>
                  <a:pt x="614319" y="0"/>
                </a:lnTo>
                <a:close/>
              </a:path>
            </a:pathLst>
          </a:cu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entury Gothic" charset="0"/>
              <a:ea typeface="Century Gothic" charset="0"/>
              <a:cs typeface="Century Gothic" charset="0"/>
            </a:endParaRPr>
          </a:p>
        </p:txBody>
      </p:sp>
      <p:sp>
        <p:nvSpPr>
          <p:cNvPr id="8" name="Freeform 7">
            <a:extLst>
              <a:ext uri="{FF2B5EF4-FFF2-40B4-BE49-F238E27FC236}">
                <a16:creationId xmlns:a16="http://schemas.microsoft.com/office/drawing/2014/main" xmlns="" id="{2B6AC4F5-A568-3B49-B6A4-D98D933D56BE}"/>
              </a:ext>
            </a:extLst>
          </p:cNvPr>
          <p:cNvSpPr/>
          <p:nvPr/>
        </p:nvSpPr>
        <p:spPr>
          <a:xfrm>
            <a:off x="1066800" y="5715000"/>
            <a:ext cx="4871791" cy="825062"/>
          </a:xfrm>
          <a:custGeom>
            <a:avLst/>
            <a:gdLst>
              <a:gd name="connsiteX0" fmla="*/ 614319 w 6669741"/>
              <a:gd name="connsiteY0" fmla="*/ 0 h 1129554"/>
              <a:gd name="connsiteX1" fmla="*/ 6055422 w 6669741"/>
              <a:gd name="connsiteY1" fmla="*/ 0 h 1129554"/>
              <a:gd name="connsiteX2" fmla="*/ 6669741 w 6669741"/>
              <a:gd name="connsiteY2" fmla="*/ 1129554 h 1129554"/>
              <a:gd name="connsiteX3" fmla="*/ 0 w 6669741"/>
              <a:gd name="connsiteY3" fmla="*/ 1129554 h 1129554"/>
              <a:gd name="connsiteX4" fmla="*/ 614319 w 6669741"/>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9741" h="1129554">
                <a:moveTo>
                  <a:pt x="614319" y="0"/>
                </a:moveTo>
                <a:lnTo>
                  <a:pt x="6055422" y="0"/>
                </a:lnTo>
                <a:lnTo>
                  <a:pt x="6669741" y="1129554"/>
                </a:lnTo>
                <a:lnTo>
                  <a:pt x="0" y="1129554"/>
                </a:lnTo>
                <a:lnTo>
                  <a:pt x="614319" y="0"/>
                </a:lnTo>
                <a:close/>
              </a:path>
            </a:pathLst>
          </a:custGeom>
          <a:solidFill>
            <a:srgbClr val="E6E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entury Gothic" charset="0"/>
              <a:ea typeface="Century Gothic" charset="0"/>
              <a:cs typeface="Century Gothic" charset="0"/>
            </a:endParaRPr>
          </a:p>
        </p:txBody>
      </p:sp>
      <p:sp>
        <p:nvSpPr>
          <p:cNvPr id="9" name="TextBox 8">
            <a:extLst>
              <a:ext uri="{FF2B5EF4-FFF2-40B4-BE49-F238E27FC236}">
                <a16:creationId xmlns:a16="http://schemas.microsoft.com/office/drawing/2014/main" xmlns="" id="{21578E08-3306-D141-9336-BE27C3B572BE}"/>
              </a:ext>
            </a:extLst>
          </p:cNvPr>
          <p:cNvSpPr txBox="1"/>
          <p:nvPr/>
        </p:nvSpPr>
        <p:spPr>
          <a:xfrm>
            <a:off x="2630946" y="5966000"/>
            <a:ext cx="1874231"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Methodology</a:t>
            </a:r>
          </a:p>
        </p:txBody>
      </p:sp>
      <p:sp>
        <p:nvSpPr>
          <p:cNvPr id="10" name="TextBox 9">
            <a:extLst>
              <a:ext uri="{FF2B5EF4-FFF2-40B4-BE49-F238E27FC236}">
                <a16:creationId xmlns:a16="http://schemas.microsoft.com/office/drawing/2014/main" xmlns="" id="{96968A2D-772B-4144-9FC4-7A79BDD1E1A3}"/>
              </a:ext>
            </a:extLst>
          </p:cNvPr>
          <p:cNvSpPr txBox="1"/>
          <p:nvPr/>
        </p:nvSpPr>
        <p:spPr>
          <a:xfrm>
            <a:off x="3014866" y="5035434"/>
            <a:ext cx="914033"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Token</a:t>
            </a:r>
          </a:p>
        </p:txBody>
      </p:sp>
      <p:sp>
        <p:nvSpPr>
          <p:cNvPr id="11" name="TextBox 10">
            <a:extLst>
              <a:ext uri="{FF2B5EF4-FFF2-40B4-BE49-F238E27FC236}">
                <a16:creationId xmlns:a16="http://schemas.microsoft.com/office/drawing/2014/main" xmlns="" id="{F88526CA-D4E4-FB49-89F2-2806E3495275}"/>
              </a:ext>
            </a:extLst>
          </p:cNvPr>
          <p:cNvSpPr txBox="1"/>
          <p:nvPr/>
        </p:nvSpPr>
        <p:spPr>
          <a:xfrm>
            <a:off x="2829719" y="4113023"/>
            <a:ext cx="1380506"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Sentence</a:t>
            </a:r>
          </a:p>
        </p:txBody>
      </p:sp>
      <p:sp>
        <p:nvSpPr>
          <p:cNvPr id="12" name="TextBox 11">
            <a:extLst>
              <a:ext uri="{FF2B5EF4-FFF2-40B4-BE49-F238E27FC236}">
                <a16:creationId xmlns:a16="http://schemas.microsoft.com/office/drawing/2014/main" xmlns="" id="{2B959E80-D18F-244D-9D76-4CE865449B00}"/>
              </a:ext>
            </a:extLst>
          </p:cNvPr>
          <p:cNvSpPr txBox="1"/>
          <p:nvPr/>
        </p:nvSpPr>
        <p:spPr>
          <a:xfrm>
            <a:off x="2882618" y="3279184"/>
            <a:ext cx="1244251"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Situation</a:t>
            </a:r>
          </a:p>
        </p:txBody>
      </p:sp>
      <p:sp>
        <p:nvSpPr>
          <p:cNvPr id="14" name="TextBox 13">
            <a:extLst>
              <a:ext uri="{FF2B5EF4-FFF2-40B4-BE49-F238E27FC236}">
                <a16:creationId xmlns:a16="http://schemas.microsoft.com/office/drawing/2014/main" xmlns="" id="{08E7DAE2-E902-D740-B555-1E19FAEAD5E8}"/>
              </a:ext>
            </a:extLst>
          </p:cNvPr>
          <p:cNvSpPr txBox="1"/>
          <p:nvPr/>
        </p:nvSpPr>
        <p:spPr>
          <a:xfrm>
            <a:off x="3330060" y="2357617"/>
            <a:ext cx="440765" cy="27699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a:t>
            </a:r>
          </a:p>
        </p:txBody>
      </p:sp>
      <p:sp>
        <p:nvSpPr>
          <p:cNvPr id="38" name="Rectangle 37"/>
          <p:cNvSpPr/>
          <p:nvPr/>
        </p:nvSpPr>
        <p:spPr>
          <a:xfrm>
            <a:off x="7203338" y="4629146"/>
            <a:ext cx="1024639"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Calibri" panose="020F0502020204030204" pitchFamily="34" charset="0"/>
              </a:rPr>
              <a:t>Robust</a:t>
            </a: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0" name="Right Brace 39"/>
          <p:cNvSpPr/>
          <p:nvPr/>
        </p:nvSpPr>
        <p:spPr>
          <a:xfrm>
            <a:off x="6663634" y="3943401"/>
            <a:ext cx="229434" cy="1683199"/>
          </a:xfrm>
          <a:prstGeom prst="rightBrac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7" name="Down Arrow 16">
            <a:extLst>
              <a:ext uri="{FF2B5EF4-FFF2-40B4-BE49-F238E27FC236}">
                <a16:creationId xmlns:a16="http://schemas.microsoft.com/office/drawing/2014/main" xmlns="" id="{DDE9B552-1758-344E-9337-CA491979E956}"/>
              </a:ext>
            </a:extLst>
          </p:cNvPr>
          <p:cNvSpPr/>
          <p:nvPr/>
        </p:nvSpPr>
        <p:spPr>
          <a:xfrm rot="10800000">
            <a:off x="916023" y="2357617"/>
            <a:ext cx="229432" cy="4194923"/>
          </a:xfrm>
          <a:prstGeom prst="downArrow">
            <a:avLst>
              <a:gd name="adj1" fmla="val 50000"/>
              <a:gd name="adj2" fmla="val 70102"/>
            </a:avLst>
          </a:prstGeom>
          <a:solidFill>
            <a:schemeClr val="bg2">
              <a:lumMod val="65000"/>
              <a:lumOff val="3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18" name="TextBox 17">
            <a:extLst>
              <a:ext uri="{FF2B5EF4-FFF2-40B4-BE49-F238E27FC236}">
                <a16:creationId xmlns:a16="http://schemas.microsoft.com/office/drawing/2014/main" xmlns="" id="{60DBB43A-B76B-0C43-916A-D709C49AD867}"/>
              </a:ext>
            </a:extLst>
          </p:cNvPr>
          <p:cNvSpPr txBox="1"/>
          <p:nvPr/>
        </p:nvSpPr>
        <p:spPr>
          <a:xfrm>
            <a:off x="-26083" y="6035199"/>
            <a:ext cx="917239"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~1990’s</a:t>
            </a:r>
          </a:p>
        </p:txBody>
      </p:sp>
      <p:sp>
        <p:nvSpPr>
          <p:cNvPr id="19" name="TextBox 18">
            <a:extLst>
              <a:ext uri="{FF2B5EF4-FFF2-40B4-BE49-F238E27FC236}">
                <a16:creationId xmlns:a16="http://schemas.microsoft.com/office/drawing/2014/main" xmlns="" id="{7824D9F7-202E-F64A-9EF0-F86EA068650D}"/>
              </a:ext>
            </a:extLst>
          </p:cNvPr>
          <p:cNvSpPr txBox="1"/>
          <p:nvPr/>
        </p:nvSpPr>
        <p:spPr>
          <a:xfrm>
            <a:off x="-26083" y="5073907"/>
            <a:ext cx="917239"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~2000’s</a:t>
            </a:r>
          </a:p>
        </p:txBody>
      </p:sp>
      <p:sp>
        <p:nvSpPr>
          <p:cNvPr id="20" name="TextBox 19">
            <a:extLst>
              <a:ext uri="{FF2B5EF4-FFF2-40B4-BE49-F238E27FC236}">
                <a16:creationId xmlns:a16="http://schemas.microsoft.com/office/drawing/2014/main" xmlns="" id="{3A8633E4-1687-264E-9B16-3718E9C7ABB1}"/>
              </a:ext>
            </a:extLst>
          </p:cNvPr>
          <p:cNvSpPr txBox="1"/>
          <p:nvPr/>
        </p:nvSpPr>
        <p:spPr>
          <a:xfrm>
            <a:off x="-26083" y="4124337"/>
            <a:ext cx="917239"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~2010’s</a:t>
            </a:r>
          </a:p>
        </p:txBody>
      </p:sp>
      <p:sp>
        <p:nvSpPr>
          <p:cNvPr id="21" name="TextBox 20">
            <a:extLst>
              <a:ext uri="{FF2B5EF4-FFF2-40B4-BE49-F238E27FC236}">
                <a16:creationId xmlns:a16="http://schemas.microsoft.com/office/drawing/2014/main" xmlns="" id="{A50A0C54-1B53-0A4A-8152-06EA84A59EF8}"/>
              </a:ext>
            </a:extLst>
          </p:cNvPr>
          <p:cNvSpPr txBox="1"/>
          <p:nvPr/>
        </p:nvSpPr>
        <p:spPr>
          <a:xfrm>
            <a:off x="59664" y="3174767"/>
            <a:ext cx="736914" cy="338554"/>
          </a:xfrm>
          <a:prstGeom prst="rect">
            <a:avLst/>
          </a:prstGeom>
          <a:noFill/>
        </p:spPr>
        <p:txBody>
          <a:bodyPr wrap="squar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Now</a:t>
            </a:r>
          </a:p>
        </p:txBody>
      </p:sp>
      <p:sp>
        <p:nvSpPr>
          <p:cNvPr id="22" name="Rectangle 21">
            <a:extLst>
              <a:ext uri="{FF2B5EF4-FFF2-40B4-BE49-F238E27FC236}">
                <a16:creationId xmlns:a16="http://schemas.microsoft.com/office/drawing/2014/main" xmlns="" id="{02E79A62-F4FD-004E-BD3A-65A987B6695D}"/>
              </a:ext>
            </a:extLst>
          </p:cNvPr>
          <p:cNvSpPr/>
          <p:nvPr/>
        </p:nvSpPr>
        <p:spPr>
          <a:xfrm>
            <a:off x="6324600" y="5973643"/>
            <a:ext cx="237276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Calibri" panose="020F0502020204030204" pitchFamily="34" charset="0"/>
              </a:rPr>
              <a:t>Machine learning</a:t>
            </a: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3533987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250"/>
                                        <p:tgtEl>
                                          <p:spTgt spid="40"/>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500"/>
                                        <p:tgtEl>
                                          <p:spTgt spid="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5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500"/>
                                        <p:tgtEl>
                                          <p:spTgt spid="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8" grpId="0"/>
      <p:bldP spid="40" grpId="0" animBg="1"/>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xmlns="" id="{AC3F64C7-D547-7746-8C3C-26DBDC066795}"/>
              </a:ext>
            </a:extLst>
          </p:cNvPr>
          <p:cNvCxnSpPr>
            <a:cxnSpLocks/>
          </p:cNvCxnSpPr>
          <p:nvPr/>
        </p:nvCxnSpPr>
        <p:spPr>
          <a:xfrm flipV="1">
            <a:off x="6858000" y="4055517"/>
            <a:ext cx="0" cy="1073219"/>
          </a:xfrm>
          <a:prstGeom prst="line">
            <a:avLst/>
          </a:prstGeom>
          <a:ln w="19050">
            <a:solidFill>
              <a:srgbClr val="7792C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0AB4AD11-0FDB-5249-84F9-25A3E58D69FF}"/>
              </a:ext>
            </a:extLst>
          </p:cNvPr>
          <p:cNvCxnSpPr>
            <a:cxnSpLocks/>
          </p:cNvCxnSpPr>
          <p:nvPr/>
        </p:nvCxnSpPr>
        <p:spPr>
          <a:xfrm flipV="1">
            <a:off x="2286000" y="4055517"/>
            <a:ext cx="0" cy="1073219"/>
          </a:xfrm>
          <a:prstGeom prst="line">
            <a:avLst/>
          </a:prstGeom>
          <a:ln w="19050">
            <a:solidFill>
              <a:srgbClr val="F1CEC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xmlns="" id="{2490A4AA-906D-4691-8965-B46C5599291D}"/>
              </a:ext>
            </a:extLst>
          </p:cNvPr>
          <p:cNvGrpSpPr/>
          <p:nvPr/>
        </p:nvGrpSpPr>
        <p:grpSpPr>
          <a:xfrm>
            <a:off x="5257800" y="1549908"/>
            <a:ext cx="3062010" cy="2505609"/>
            <a:chOff x="5275728" y="1024238"/>
            <a:chExt cx="3062010" cy="2505609"/>
          </a:xfrm>
        </p:grpSpPr>
        <p:sp>
          <p:nvSpPr>
            <p:cNvPr id="6" name="Rectangle: Rounded Corners 5">
              <a:extLst>
                <a:ext uri="{FF2B5EF4-FFF2-40B4-BE49-F238E27FC236}">
                  <a16:creationId xmlns:a16="http://schemas.microsoft.com/office/drawing/2014/main" xmlns="" id="{995E8A5A-0790-4245-98FE-C03CC313DCF1}"/>
                </a:ext>
              </a:extLst>
            </p:cNvPr>
            <p:cNvSpPr/>
            <p:nvPr/>
          </p:nvSpPr>
          <p:spPr>
            <a:xfrm>
              <a:off x="5275728" y="2539247"/>
              <a:ext cx="3062010" cy="990600"/>
            </a:xfrm>
            <a:prstGeom prst="roundRect">
              <a:avLst/>
            </a:prstGeom>
            <a:solidFill>
              <a:srgbClr val="7792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chemeClr val="bg2"/>
                  </a:solidFill>
                  <a:latin typeface="Century Gothic" panose="020B0502020202020204" pitchFamily="34" charset="0"/>
                </a:rPr>
                <a:t>Police used tear gas</a:t>
              </a:r>
            </a:p>
          </p:txBody>
        </p:sp>
        <p:pic>
          <p:nvPicPr>
            <p:cNvPr id="2050" name="Picture 2" descr="Image result for police tear gas">
              <a:extLst>
                <a:ext uri="{FF2B5EF4-FFF2-40B4-BE49-F238E27FC236}">
                  <a16:creationId xmlns:a16="http://schemas.microsoft.com/office/drawing/2014/main" xmlns="" id="{C1288562-6DD3-4876-8B01-E51542E277D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637959" y="1024238"/>
              <a:ext cx="2337547" cy="14253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xmlns="" id="{E129D606-D205-4B1D-9975-395A797DFC52}"/>
              </a:ext>
            </a:extLst>
          </p:cNvPr>
          <p:cNvGrpSpPr/>
          <p:nvPr/>
        </p:nvGrpSpPr>
        <p:grpSpPr>
          <a:xfrm>
            <a:off x="806262" y="1545402"/>
            <a:ext cx="3062009" cy="2510115"/>
            <a:chOff x="806262" y="1019732"/>
            <a:chExt cx="3062009" cy="2510115"/>
          </a:xfrm>
        </p:grpSpPr>
        <p:sp>
          <p:nvSpPr>
            <p:cNvPr id="5" name="Rectangle: Rounded Corners 4">
              <a:extLst>
                <a:ext uri="{FF2B5EF4-FFF2-40B4-BE49-F238E27FC236}">
                  <a16:creationId xmlns:a16="http://schemas.microsoft.com/office/drawing/2014/main" xmlns="" id="{70CFC6B0-C1C5-4697-8152-600DD0770FAD}"/>
                </a:ext>
              </a:extLst>
            </p:cNvPr>
            <p:cNvSpPr/>
            <p:nvPr/>
          </p:nvSpPr>
          <p:spPr>
            <a:xfrm>
              <a:off x="806262" y="2539247"/>
              <a:ext cx="3062009" cy="990600"/>
            </a:xfrm>
            <a:prstGeom prst="roundRect">
              <a:avLst/>
            </a:pr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chemeClr val="bg2"/>
                  </a:solidFill>
                  <a:latin typeface="Century Gothic" panose="020B0502020202020204" pitchFamily="34" charset="0"/>
                </a:rPr>
                <a:t>People were angry</a:t>
              </a:r>
            </a:p>
          </p:txBody>
        </p:sp>
        <p:pic>
          <p:nvPicPr>
            <p:cNvPr id="12" name="Picture 11">
              <a:extLst>
                <a:ext uri="{FF2B5EF4-FFF2-40B4-BE49-F238E27FC236}">
                  <a16:creationId xmlns:a16="http://schemas.microsoft.com/office/drawing/2014/main" xmlns="" id="{0B66BF47-565A-4441-B6A3-52EAF27E442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5258" y="1019732"/>
              <a:ext cx="2984015" cy="1429840"/>
            </a:xfrm>
            <a:prstGeom prst="rect">
              <a:avLst/>
            </a:prstGeom>
          </p:spPr>
        </p:pic>
      </p:grpSp>
      <p:grpSp>
        <p:nvGrpSpPr>
          <p:cNvPr id="11" name="Group 10">
            <a:extLst>
              <a:ext uri="{FF2B5EF4-FFF2-40B4-BE49-F238E27FC236}">
                <a16:creationId xmlns:a16="http://schemas.microsoft.com/office/drawing/2014/main" xmlns="" id="{ADDFD349-305A-AA48-BED5-EA21B3CB16DD}"/>
              </a:ext>
            </a:extLst>
          </p:cNvPr>
          <p:cNvGrpSpPr/>
          <p:nvPr/>
        </p:nvGrpSpPr>
        <p:grpSpPr>
          <a:xfrm>
            <a:off x="676274" y="5128736"/>
            <a:ext cx="8136856" cy="738664"/>
            <a:chOff x="676274" y="4603066"/>
            <a:chExt cx="8136856" cy="738664"/>
          </a:xfrm>
        </p:grpSpPr>
        <p:cxnSp>
          <p:nvCxnSpPr>
            <p:cNvPr id="8" name="Straight Arrow Connector 7">
              <a:extLst>
                <a:ext uri="{FF2B5EF4-FFF2-40B4-BE49-F238E27FC236}">
                  <a16:creationId xmlns:a16="http://schemas.microsoft.com/office/drawing/2014/main" xmlns="" id="{F99AC8FA-F7B9-429C-BC27-EFBA5068EEE7}"/>
                </a:ext>
              </a:extLst>
            </p:cNvPr>
            <p:cNvCxnSpPr>
              <a:cxnSpLocks/>
            </p:cNvCxnSpPr>
            <p:nvPr/>
          </p:nvCxnSpPr>
          <p:spPr>
            <a:xfrm>
              <a:off x="676274" y="4603066"/>
              <a:ext cx="8066555" cy="0"/>
            </a:xfrm>
            <a:prstGeom prst="straightConnector1">
              <a:avLst/>
            </a:prstGeom>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C832F63B-7793-0947-B9AA-925E43C0D74A}"/>
                </a:ext>
              </a:extLst>
            </p:cNvPr>
            <p:cNvSpPr txBox="1"/>
            <p:nvPr/>
          </p:nvSpPr>
          <p:spPr>
            <a:xfrm>
              <a:off x="7947187" y="4603066"/>
              <a:ext cx="865943" cy="738664"/>
            </a:xfrm>
            <a:prstGeom prst="rect">
              <a:avLst/>
            </a:prstGeom>
            <a:noFill/>
            <a:ln>
              <a:noFill/>
            </a:ln>
          </p:spPr>
          <p:txBody>
            <a:bodyPr wrap="none" rtlCol="0">
              <a:spAutoFit/>
            </a:bodyPr>
            <a:lstStyle/>
            <a:p>
              <a:pPr lvl="0">
                <a:spcBef>
                  <a:spcPct val="20000"/>
                </a:spcBef>
                <a:buClr>
                  <a:srgbClr val="000080"/>
                </a:buClr>
              </a:pPr>
              <a:r>
                <a:rPr lang="en-US" sz="2400" dirty="0">
                  <a:solidFill>
                    <a:schemeClr val="bg2"/>
                  </a:solidFill>
                  <a:latin typeface="Century Gothic" panose="020B0502020202020204" pitchFamily="34" charset="0"/>
                  <a:ea typeface="Courier" charset="0"/>
                  <a:cs typeface="Courier" charset="0"/>
                  <a:sym typeface="Wingdings" panose="05000000000000000000" pitchFamily="2" charset="2"/>
                </a:rPr>
                <a:t>Time</a:t>
              </a:r>
              <a:endParaRPr lang="en-US" sz="2400" dirty="0">
                <a:solidFill>
                  <a:schemeClr val="bg2"/>
                </a:solidFill>
                <a:latin typeface="Century Gothic" panose="020B0502020202020204" pitchFamily="34" charset="0"/>
                <a:cs typeface="Calibri" panose="020F0502020204030204" pitchFamily="34" charset="0"/>
                <a:sym typeface="Wingdings" panose="05000000000000000000" pitchFamily="2" charset="2"/>
              </a:endParaRPr>
            </a:p>
            <a:p>
              <a:endParaRPr lang="en-US" dirty="0">
                <a:solidFill>
                  <a:srgbClr val="FF0000"/>
                </a:solidFill>
              </a:endParaRPr>
            </a:p>
          </p:txBody>
        </p:sp>
      </p:grpSp>
      <p:sp>
        <p:nvSpPr>
          <p:cNvPr id="21" name="Oval 20">
            <a:extLst>
              <a:ext uri="{FF2B5EF4-FFF2-40B4-BE49-F238E27FC236}">
                <a16:creationId xmlns:a16="http://schemas.microsoft.com/office/drawing/2014/main" xmlns="" id="{19293B56-54CB-6E4C-ABD1-04FBEDAD10FE}"/>
              </a:ext>
            </a:extLst>
          </p:cNvPr>
          <p:cNvSpPr/>
          <p:nvPr/>
        </p:nvSpPr>
        <p:spPr>
          <a:xfrm>
            <a:off x="2214562" y="5053836"/>
            <a:ext cx="142875" cy="142875"/>
          </a:xfrm>
          <a:prstGeom prst="ellipse">
            <a:avLst/>
          </a:prstGeom>
          <a:solidFill>
            <a:srgbClr val="C17A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ircle: Hollow 29">
            <a:extLst>
              <a:ext uri="{FF2B5EF4-FFF2-40B4-BE49-F238E27FC236}">
                <a16:creationId xmlns:a16="http://schemas.microsoft.com/office/drawing/2014/main" xmlns="" id="{3C5396A2-2D8D-874D-A95A-FB13918A79A0}"/>
              </a:ext>
            </a:extLst>
          </p:cNvPr>
          <p:cNvSpPr/>
          <p:nvPr/>
        </p:nvSpPr>
        <p:spPr>
          <a:xfrm>
            <a:off x="2125265" y="4964538"/>
            <a:ext cx="321470" cy="321470"/>
          </a:xfrm>
          <a:prstGeom prst="donut">
            <a:avLst>
              <a:gd name="adj" fmla="val 5281"/>
            </a:avLst>
          </a:prstGeom>
          <a:solidFill>
            <a:srgbClr val="F1CEC3"/>
          </a:solidFill>
          <a:ln>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Oval 22">
            <a:extLst>
              <a:ext uri="{FF2B5EF4-FFF2-40B4-BE49-F238E27FC236}">
                <a16:creationId xmlns:a16="http://schemas.microsoft.com/office/drawing/2014/main" xmlns="" id="{8CA1F03C-8225-4847-BA7C-1FCAD02B3BE5}"/>
              </a:ext>
            </a:extLst>
          </p:cNvPr>
          <p:cNvSpPr/>
          <p:nvPr/>
        </p:nvSpPr>
        <p:spPr>
          <a:xfrm>
            <a:off x="6794897" y="5053836"/>
            <a:ext cx="142875" cy="142875"/>
          </a:xfrm>
          <a:prstGeom prst="ellipse">
            <a:avLst/>
          </a:prstGeom>
          <a:solidFill>
            <a:srgbClr val="7792CB"/>
          </a:solidFill>
          <a:ln>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ircle: Hollow 29">
            <a:extLst>
              <a:ext uri="{FF2B5EF4-FFF2-40B4-BE49-F238E27FC236}">
                <a16:creationId xmlns:a16="http://schemas.microsoft.com/office/drawing/2014/main" xmlns="" id="{4056CE39-5983-144E-9BC3-653E97736853}"/>
              </a:ext>
            </a:extLst>
          </p:cNvPr>
          <p:cNvSpPr/>
          <p:nvPr/>
        </p:nvSpPr>
        <p:spPr>
          <a:xfrm>
            <a:off x="6705600" y="4964538"/>
            <a:ext cx="321470" cy="321470"/>
          </a:xfrm>
          <a:prstGeom prst="donut">
            <a:avLst>
              <a:gd name="adj" fmla="val 5281"/>
            </a:avLst>
          </a:prstGeom>
          <a:solidFill>
            <a:srgbClr val="7792CB"/>
          </a:solidFill>
          <a:ln>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extBox 1"/>
          <p:cNvSpPr txBox="1"/>
          <p:nvPr/>
        </p:nvSpPr>
        <p:spPr>
          <a:xfrm>
            <a:off x="845258" y="5594864"/>
            <a:ext cx="7594585" cy="1200329"/>
          </a:xfrm>
          <a:prstGeom prst="rect">
            <a:avLst/>
          </a:prstGeom>
          <a:noFill/>
        </p:spPr>
        <p:txBody>
          <a:bodyPr wrap="square" rtlCol="0">
            <a:spAutoFit/>
          </a:bodyPr>
          <a:lstStyle/>
          <a:p>
            <a:r>
              <a:rPr lang="en-US" sz="2400" i="1" dirty="0">
                <a:solidFill>
                  <a:schemeClr val="bg2"/>
                </a:solidFill>
                <a:latin typeface="Century Gothic" charset="0"/>
                <a:ea typeface="Century Gothic" charset="0"/>
                <a:cs typeface="Century Gothic" charset="0"/>
              </a:rPr>
              <a:t>People </a:t>
            </a:r>
            <a:r>
              <a:rPr lang="en-US" sz="2400" b="1" i="1" dirty="0">
                <a:solidFill>
                  <a:schemeClr val="bg2"/>
                </a:solidFill>
                <a:latin typeface="Century Gothic" charset="0"/>
                <a:ea typeface="Century Gothic" charset="0"/>
                <a:cs typeface="Century Gothic" charset="0"/>
              </a:rPr>
              <a:t>were</a:t>
            </a:r>
            <a:r>
              <a:rPr lang="en-US" sz="2400" i="1" dirty="0">
                <a:solidFill>
                  <a:schemeClr val="bg2"/>
                </a:solidFill>
                <a:latin typeface="Century Gothic" charset="0"/>
                <a:ea typeface="Century Gothic" charset="0"/>
                <a:cs typeface="Century Gothic" charset="0"/>
              </a:rPr>
              <a:t> </a:t>
            </a:r>
            <a:r>
              <a:rPr lang="en-US" sz="2400" b="1" i="1" dirty="0">
                <a:solidFill>
                  <a:schemeClr val="bg2"/>
                </a:solidFill>
                <a:latin typeface="Century Gothic" charset="0"/>
                <a:ea typeface="Century Gothic" charset="0"/>
                <a:cs typeface="Century Gothic" charset="0"/>
              </a:rPr>
              <a:t>angry </a:t>
            </a:r>
            <a:r>
              <a:rPr lang="en-US" sz="2400" i="1" dirty="0">
                <a:solidFill>
                  <a:schemeClr val="bg2"/>
                </a:solidFill>
                <a:latin typeface="Century Gothic" charset="0"/>
                <a:ea typeface="Century Gothic" charset="0"/>
                <a:cs typeface="Century Gothic" charset="0"/>
              </a:rPr>
              <a:t>at something (and ended in violent conflicts with the police)</a:t>
            </a:r>
            <a:r>
              <a:rPr lang="mr-IN" sz="2400" i="1" dirty="0">
                <a:solidFill>
                  <a:schemeClr val="bg2"/>
                </a:solidFill>
                <a:latin typeface="Century Gothic" charset="0"/>
                <a:ea typeface="Century Gothic" charset="0"/>
                <a:cs typeface="Century Gothic" charset="0"/>
              </a:rPr>
              <a:t>…</a:t>
            </a:r>
            <a:r>
              <a:rPr lang="en-US" sz="2400" i="1" dirty="0">
                <a:solidFill>
                  <a:schemeClr val="bg2"/>
                </a:solidFill>
                <a:latin typeface="Century Gothic" charset="0"/>
                <a:ea typeface="Century Gothic" charset="0"/>
                <a:cs typeface="Century Gothic" charset="0"/>
              </a:rPr>
              <a:t>The police finally </a:t>
            </a:r>
            <a:r>
              <a:rPr lang="en-US" sz="2400" b="1" i="1" dirty="0">
                <a:solidFill>
                  <a:schemeClr val="bg2"/>
                </a:solidFill>
                <a:latin typeface="Century Gothic" charset="0"/>
                <a:ea typeface="Century Gothic" charset="0"/>
                <a:cs typeface="Century Gothic" charset="0"/>
              </a:rPr>
              <a:t>used tear gas </a:t>
            </a:r>
            <a:r>
              <a:rPr lang="en-US" sz="2400" i="1" dirty="0">
                <a:solidFill>
                  <a:schemeClr val="bg2"/>
                </a:solidFill>
                <a:latin typeface="Century Gothic" charset="0"/>
                <a:ea typeface="Century Gothic" charset="0"/>
                <a:cs typeface="Century Gothic" charset="0"/>
              </a:rPr>
              <a:t>(to restore order).</a:t>
            </a:r>
          </a:p>
        </p:txBody>
      </p:sp>
      <p:sp>
        <p:nvSpPr>
          <p:cNvPr id="10" name="Title 9">
            <a:extLst>
              <a:ext uri="{FF2B5EF4-FFF2-40B4-BE49-F238E27FC236}">
                <a16:creationId xmlns:a16="http://schemas.microsoft.com/office/drawing/2014/main" xmlns="" id="{0D8FE9A6-33D8-7746-BC05-C7B48D924890}"/>
              </a:ext>
            </a:extLst>
          </p:cNvPr>
          <p:cNvSpPr>
            <a:spLocks noGrp="1"/>
          </p:cNvSpPr>
          <p:nvPr>
            <p:ph type="title"/>
          </p:nvPr>
        </p:nvSpPr>
        <p:spPr/>
        <p:txBody>
          <a:bodyPr/>
          <a:lstStyle/>
          <a:p>
            <a:r>
              <a:rPr lang="en-US" dirty="0"/>
              <a:t>Let’s take a look at two events</a:t>
            </a:r>
          </a:p>
        </p:txBody>
      </p:sp>
    </p:spTree>
    <p:extLst>
      <p:ext uri="{BB962C8B-B14F-4D97-AF65-F5344CB8AC3E}">
        <p14:creationId xmlns:p14="http://schemas.microsoft.com/office/powerpoint/2010/main" val="219876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par>
                                <p:cTn id="8" presetID="2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50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p:cTn id="24" dur="500" fill="hold"/>
                                        <p:tgtEl>
                                          <p:spTgt spid="22"/>
                                        </p:tgtEl>
                                        <p:attrNameLst>
                                          <p:attrName>ppt_w</p:attrName>
                                        </p:attrNameLst>
                                      </p:cBhvr>
                                      <p:tavLst>
                                        <p:tav tm="0">
                                          <p:val>
                                            <p:fltVal val="0"/>
                                          </p:val>
                                        </p:tav>
                                        <p:tav tm="100000">
                                          <p:val>
                                            <p:strVal val="#ppt_w"/>
                                          </p:val>
                                        </p:tav>
                                      </p:tavLst>
                                    </p:anim>
                                    <p:anim calcmode="lin" valueType="num">
                                      <p:cBhvr>
                                        <p:cTn id="25" dur="500" fill="hold"/>
                                        <p:tgtEl>
                                          <p:spTgt spid="22"/>
                                        </p:tgtEl>
                                        <p:attrNameLst>
                                          <p:attrName>ppt_h</p:attrName>
                                        </p:attrNameLst>
                                      </p:cBhvr>
                                      <p:tavLst>
                                        <p:tav tm="0">
                                          <p:val>
                                            <p:fltVal val="0"/>
                                          </p:val>
                                        </p:tav>
                                        <p:tav tm="100000">
                                          <p:val>
                                            <p:strVal val="#ppt_h"/>
                                          </p:val>
                                        </p:tav>
                                      </p:tavLst>
                                    </p:anim>
                                    <p:animEffect transition="in" filter="fade">
                                      <p:cBhvr>
                                        <p:cTn id="26" dur="500"/>
                                        <p:tgtEl>
                                          <p:spTgt spid="22"/>
                                        </p:tgtEl>
                                      </p:cBhvr>
                                    </p:animEffect>
                                  </p:childTnLst>
                                </p:cTn>
                              </p:par>
                            </p:childTnLst>
                          </p:cTn>
                        </p:par>
                        <p:par>
                          <p:cTn id="27" fill="hold">
                            <p:stCondLst>
                              <p:cond delay="1000"/>
                            </p:stCondLst>
                            <p:childTnLst>
                              <p:par>
                                <p:cTn id="28" presetID="22" presetClass="entr" presetSubtype="4" fill="hold"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down)">
                                      <p:cBhvr>
                                        <p:cTn id="30" dur="500"/>
                                        <p:tgtEl>
                                          <p:spTgt spid="18"/>
                                        </p:tgtEl>
                                      </p:cBhvr>
                                    </p:animEffect>
                                  </p:childTnLst>
                                </p:cTn>
                              </p:par>
                            </p:childTnLst>
                          </p:cTn>
                        </p:par>
                        <p:par>
                          <p:cTn id="31" fill="hold">
                            <p:stCondLst>
                              <p:cond delay="1500"/>
                            </p:stCondLst>
                            <p:childTnLst>
                              <p:par>
                                <p:cTn id="32" presetID="53" presetClass="entr" presetSubtype="16" fill="hold" grpId="0" nodeType="afterEffect">
                                  <p:stCondLst>
                                    <p:cond delay="0"/>
                                  </p:stCondLst>
                                  <p:childTnLst>
                                    <p:set>
                                      <p:cBhvr>
                                        <p:cTn id="33" dur="1" fill="hold">
                                          <p:stCondLst>
                                            <p:cond delay="0"/>
                                          </p:stCondLst>
                                        </p:cTn>
                                        <p:tgtEl>
                                          <p:spTgt spid="23"/>
                                        </p:tgtEl>
                                        <p:attrNameLst>
                                          <p:attrName>style.visibility</p:attrName>
                                        </p:attrNameLst>
                                      </p:cBhvr>
                                      <p:to>
                                        <p:strVal val="visible"/>
                                      </p:to>
                                    </p:set>
                                    <p:anim calcmode="lin" valueType="num">
                                      <p:cBhvr>
                                        <p:cTn id="34" dur="500" fill="hold"/>
                                        <p:tgtEl>
                                          <p:spTgt spid="23"/>
                                        </p:tgtEl>
                                        <p:attrNameLst>
                                          <p:attrName>ppt_w</p:attrName>
                                        </p:attrNameLst>
                                      </p:cBhvr>
                                      <p:tavLst>
                                        <p:tav tm="0">
                                          <p:val>
                                            <p:fltVal val="0"/>
                                          </p:val>
                                        </p:tav>
                                        <p:tav tm="100000">
                                          <p:val>
                                            <p:strVal val="#ppt_w"/>
                                          </p:val>
                                        </p:tav>
                                      </p:tavLst>
                                    </p:anim>
                                    <p:anim calcmode="lin" valueType="num">
                                      <p:cBhvr>
                                        <p:cTn id="35" dur="500" fill="hold"/>
                                        <p:tgtEl>
                                          <p:spTgt spid="23"/>
                                        </p:tgtEl>
                                        <p:attrNameLst>
                                          <p:attrName>ppt_h</p:attrName>
                                        </p:attrNameLst>
                                      </p:cBhvr>
                                      <p:tavLst>
                                        <p:tav tm="0">
                                          <p:val>
                                            <p:fltVal val="0"/>
                                          </p:val>
                                        </p:tav>
                                        <p:tav tm="100000">
                                          <p:val>
                                            <p:strVal val="#ppt_h"/>
                                          </p:val>
                                        </p:tav>
                                      </p:tavLst>
                                    </p:anim>
                                    <p:animEffect transition="in" filter="fade">
                                      <p:cBhvr>
                                        <p:cTn id="36" dur="500"/>
                                        <p:tgtEl>
                                          <p:spTgt spid="23"/>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 calcmode="lin" valueType="num">
                                      <p:cBhvr>
                                        <p:cTn id="39" dur="500" fill="hold"/>
                                        <p:tgtEl>
                                          <p:spTgt spid="24"/>
                                        </p:tgtEl>
                                        <p:attrNameLst>
                                          <p:attrName>ppt_w</p:attrName>
                                        </p:attrNameLst>
                                      </p:cBhvr>
                                      <p:tavLst>
                                        <p:tav tm="0">
                                          <p:val>
                                            <p:fltVal val="0"/>
                                          </p:val>
                                        </p:tav>
                                        <p:tav tm="100000">
                                          <p:val>
                                            <p:strVal val="#ppt_w"/>
                                          </p:val>
                                        </p:tav>
                                      </p:tavLst>
                                    </p:anim>
                                    <p:anim calcmode="lin" valueType="num">
                                      <p:cBhvr>
                                        <p:cTn id="40" dur="500" fill="hold"/>
                                        <p:tgtEl>
                                          <p:spTgt spid="24"/>
                                        </p:tgtEl>
                                        <p:attrNameLst>
                                          <p:attrName>ppt_h</p:attrName>
                                        </p:attrNameLst>
                                      </p:cBhvr>
                                      <p:tavLst>
                                        <p:tav tm="0">
                                          <p:val>
                                            <p:fltVal val="0"/>
                                          </p:val>
                                        </p:tav>
                                        <p:tav tm="100000">
                                          <p:val>
                                            <p:strVal val="#ppt_h"/>
                                          </p:val>
                                        </p:tav>
                                      </p:tavLst>
                                    </p:anim>
                                    <p:animEffect transition="in" filter="fade">
                                      <p:cBhvr>
                                        <p:cTn id="41" dur="500"/>
                                        <p:tgtEl>
                                          <p:spTgt spid="24"/>
                                        </p:tgtEl>
                                      </p:cBhvr>
                                    </p:animEffect>
                                  </p:childTnLst>
                                </p:cTn>
                              </p:par>
                            </p:childTnLst>
                          </p:cTn>
                        </p:par>
                        <p:par>
                          <p:cTn id="42" fill="hold">
                            <p:stCondLst>
                              <p:cond delay="2000"/>
                            </p:stCondLst>
                            <p:childTnLst>
                              <p:par>
                                <p:cTn id="43" presetID="22" presetClass="entr" presetSubtype="4" fill="hold"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down)">
                                      <p:cBhvr>
                                        <p:cTn id="45" dur="500"/>
                                        <p:tgtEl>
                                          <p:spTgt spid="25"/>
                                        </p:tgtEl>
                                      </p:cBhvr>
                                    </p:animEffect>
                                  </p:childTnLst>
                                </p:cTn>
                              </p:par>
                            </p:childTnLst>
                          </p:cTn>
                        </p:par>
                        <p:par>
                          <p:cTn id="46" fill="hold">
                            <p:stCondLst>
                              <p:cond delay="2500"/>
                            </p:stCondLst>
                            <p:childTnLst>
                              <p:par>
                                <p:cTn id="47" presetID="42" presetClass="entr" presetSubtype="0" fill="hold" grpId="0" nodeType="after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fade">
                                      <p:cBhvr>
                                        <p:cTn id="49" dur="1000"/>
                                        <p:tgtEl>
                                          <p:spTgt spid="2"/>
                                        </p:tgtEl>
                                      </p:cBhvr>
                                    </p:animEffect>
                                    <p:anim calcmode="lin" valueType="num">
                                      <p:cBhvr>
                                        <p:cTn id="50" dur="1000" fill="hold"/>
                                        <p:tgtEl>
                                          <p:spTgt spid="2"/>
                                        </p:tgtEl>
                                        <p:attrNameLst>
                                          <p:attrName>ppt_x</p:attrName>
                                        </p:attrNameLst>
                                      </p:cBhvr>
                                      <p:tavLst>
                                        <p:tav tm="0">
                                          <p:val>
                                            <p:strVal val="#ppt_x"/>
                                          </p:val>
                                        </p:tav>
                                        <p:tav tm="100000">
                                          <p:val>
                                            <p:strVal val="#ppt_x"/>
                                          </p:val>
                                        </p:tav>
                                      </p:tavLst>
                                    </p:anim>
                                    <p:anim calcmode="lin" valueType="num">
                                      <p:cBhvr>
                                        <p:cTn id="5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xmlns="" id="{AC3F64C7-D547-7746-8C3C-26DBDC066795}"/>
              </a:ext>
            </a:extLst>
          </p:cNvPr>
          <p:cNvCxnSpPr>
            <a:cxnSpLocks/>
          </p:cNvCxnSpPr>
          <p:nvPr/>
        </p:nvCxnSpPr>
        <p:spPr>
          <a:xfrm flipV="1">
            <a:off x="2424390" y="4055517"/>
            <a:ext cx="0" cy="1073219"/>
          </a:xfrm>
          <a:prstGeom prst="line">
            <a:avLst/>
          </a:prstGeom>
          <a:ln w="19050">
            <a:solidFill>
              <a:srgbClr val="7792C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0AB4AD11-0FDB-5249-84F9-25A3E58D69FF}"/>
              </a:ext>
            </a:extLst>
          </p:cNvPr>
          <p:cNvCxnSpPr>
            <a:cxnSpLocks/>
          </p:cNvCxnSpPr>
          <p:nvPr/>
        </p:nvCxnSpPr>
        <p:spPr>
          <a:xfrm flipV="1">
            <a:off x="6875929" y="4080805"/>
            <a:ext cx="0" cy="1073219"/>
          </a:xfrm>
          <a:prstGeom prst="line">
            <a:avLst/>
          </a:prstGeom>
          <a:ln w="19050">
            <a:solidFill>
              <a:srgbClr val="F1CEC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F87E2FDA-6010-4113-824F-6B8906CE82E2}"/>
              </a:ext>
            </a:extLst>
          </p:cNvPr>
          <p:cNvSpPr>
            <a:spLocks noGrp="1"/>
          </p:cNvSpPr>
          <p:nvPr>
            <p:ph type="title"/>
          </p:nvPr>
        </p:nvSpPr>
        <p:spPr/>
        <p:txBody>
          <a:bodyPr/>
          <a:lstStyle/>
          <a:p>
            <a:r>
              <a:rPr lang="en-US" dirty="0"/>
              <a:t>Reversing them</a:t>
            </a:r>
            <a:endParaRPr lang="en-US" dirty="0">
              <a:solidFill>
                <a:schemeClr val="bg2"/>
              </a:solidFill>
            </a:endParaRPr>
          </a:p>
        </p:txBody>
      </p:sp>
      <p:grpSp>
        <p:nvGrpSpPr>
          <p:cNvPr id="15" name="Group 14">
            <a:extLst>
              <a:ext uri="{FF2B5EF4-FFF2-40B4-BE49-F238E27FC236}">
                <a16:creationId xmlns:a16="http://schemas.microsoft.com/office/drawing/2014/main" xmlns="" id="{2490A4AA-906D-4691-8965-B46C5599291D}"/>
              </a:ext>
            </a:extLst>
          </p:cNvPr>
          <p:cNvGrpSpPr/>
          <p:nvPr/>
        </p:nvGrpSpPr>
        <p:grpSpPr>
          <a:xfrm>
            <a:off x="824190" y="1549908"/>
            <a:ext cx="3062010" cy="2505609"/>
            <a:chOff x="5275728" y="1024238"/>
            <a:chExt cx="3062010" cy="2505609"/>
          </a:xfrm>
        </p:grpSpPr>
        <p:sp>
          <p:nvSpPr>
            <p:cNvPr id="6" name="Rectangle: Rounded Corners 5">
              <a:extLst>
                <a:ext uri="{FF2B5EF4-FFF2-40B4-BE49-F238E27FC236}">
                  <a16:creationId xmlns:a16="http://schemas.microsoft.com/office/drawing/2014/main" xmlns="" id="{995E8A5A-0790-4245-98FE-C03CC313DCF1}"/>
                </a:ext>
              </a:extLst>
            </p:cNvPr>
            <p:cNvSpPr/>
            <p:nvPr/>
          </p:nvSpPr>
          <p:spPr>
            <a:xfrm>
              <a:off x="5275728" y="2539247"/>
              <a:ext cx="3062010" cy="990600"/>
            </a:xfrm>
            <a:prstGeom prst="roundRect">
              <a:avLst/>
            </a:prstGeom>
            <a:solidFill>
              <a:srgbClr val="7792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chemeClr val="bg2"/>
                  </a:solidFill>
                  <a:latin typeface="Century Gothic" panose="020B0502020202020204" pitchFamily="34" charset="0"/>
                </a:rPr>
                <a:t>Police used tear gas</a:t>
              </a:r>
            </a:p>
          </p:txBody>
        </p:sp>
        <p:pic>
          <p:nvPicPr>
            <p:cNvPr id="2050" name="Picture 2" descr="Image result for police tear gas">
              <a:extLst>
                <a:ext uri="{FF2B5EF4-FFF2-40B4-BE49-F238E27FC236}">
                  <a16:creationId xmlns:a16="http://schemas.microsoft.com/office/drawing/2014/main" xmlns="" id="{C1288562-6DD3-4876-8B01-E51542E277D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637959" y="1024238"/>
              <a:ext cx="2337547" cy="14253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xmlns="" id="{E129D606-D205-4B1D-9975-395A797DFC52}"/>
              </a:ext>
            </a:extLst>
          </p:cNvPr>
          <p:cNvGrpSpPr/>
          <p:nvPr/>
        </p:nvGrpSpPr>
        <p:grpSpPr>
          <a:xfrm>
            <a:off x="5396191" y="1570690"/>
            <a:ext cx="3062009" cy="2510115"/>
            <a:chOff x="806262" y="1019732"/>
            <a:chExt cx="3062009" cy="2510115"/>
          </a:xfrm>
        </p:grpSpPr>
        <p:sp>
          <p:nvSpPr>
            <p:cNvPr id="5" name="Rectangle: Rounded Corners 4">
              <a:extLst>
                <a:ext uri="{FF2B5EF4-FFF2-40B4-BE49-F238E27FC236}">
                  <a16:creationId xmlns:a16="http://schemas.microsoft.com/office/drawing/2014/main" xmlns="" id="{70CFC6B0-C1C5-4697-8152-600DD0770FAD}"/>
                </a:ext>
              </a:extLst>
            </p:cNvPr>
            <p:cNvSpPr/>
            <p:nvPr/>
          </p:nvSpPr>
          <p:spPr>
            <a:xfrm>
              <a:off x="806262" y="2539247"/>
              <a:ext cx="3062009" cy="990600"/>
            </a:xfrm>
            <a:prstGeom prst="roundRect">
              <a:avLst/>
            </a:pr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chemeClr val="bg2"/>
                  </a:solidFill>
                  <a:latin typeface="Century Gothic" panose="020B0502020202020204" pitchFamily="34" charset="0"/>
                </a:rPr>
                <a:t>People were angry</a:t>
              </a:r>
            </a:p>
          </p:txBody>
        </p:sp>
        <p:pic>
          <p:nvPicPr>
            <p:cNvPr id="12" name="Picture 11">
              <a:extLst>
                <a:ext uri="{FF2B5EF4-FFF2-40B4-BE49-F238E27FC236}">
                  <a16:creationId xmlns:a16="http://schemas.microsoft.com/office/drawing/2014/main" xmlns="" id="{0B66BF47-565A-4441-B6A3-52EAF27E442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5258" y="1019732"/>
              <a:ext cx="2984015" cy="1429840"/>
            </a:xfrm>
            <a:prstGeom prst="rect">
              <a:avLst/>
            </a:prstGeom>
          </p:spPr>
        </p:pic>
      </p:grpSp>
      <p:grpSp>
        <p:nvGrpSpPr>
          <p:cNvPr id="11" name="Group 10">
            <a:extLst>
              <a:ext uri="{FF2B5EF4-FFF2-40B4-BE49-F238E27FC236}">
                <a16:creationId xmlns:a16="http://schemas.microsoft.com/office/drawing/2014/main" xmlns="" id="{ADDFD349-305A-AA48-BED5-EA21B3CB16DD}"/>
              </a:ext>
            </a:extLst>
          </p:cNvPr>
          <p:cNvGrpSpPr/>
          <p:nvPr/>
        </p:nvGrpSpPr>
        <p:grpSpPr>
          <a:xfrm>
            <a:off x="676274" y="5128736"/>
            <a:ext cx="8136856" cy="738664"/>
            <a:chOff x="676274" y="4603066"/>
            <a:chExt cx="8136856" cy="738664"/>
          </a:xfrm>
        </p:grpSpPr>
        <p:cxnSp>
          <p:nvCxnSpPr>
            <p:cNvPr id="8" name="Straight Arrow Connector 7">
              <a:extLst>
                <a:ext uri="{FF2B5EF4-FFF2-40B4-BE49-F238E27FC236}">
                  <a16:creationId xmlns:a16="http://schemas.microsoft.com/office/drawing/2014/main" xmlns="" id="{F99AC8FA-F7B9-429C-BC27-EFBA5068EEE7}"/>
                </a:ext>
              </a:extLst>
            </p:cNvPr>
            <p:cNvCxnSpPr>
              <a:cxnSpLocks/>
            </p:cNvCxnSpPr>
            <p:nvPr/>
          </p:nvCxnSpPr>
          <p:spPr>
            <a:xfrm>
              <a:off x="676274" y="4603066"/>
              <a:ext cx="8066555" cy="0"/>
            </a:xfrm>
            <a:prstGeom prst="straightConnector1">
              <a:avLst/>
            </a:prstGeom>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C832F63B-7793-0947-B9AA-925E43C0D74A}"/>
                </a:ext>
              </a:extLst>
            </p:cNvPr>
            <p:cNvSpPr txBox="1"/>
            <p:nvPr/>
          </p:nvSpPr>
          <p:spPr>
            <a:xfrm>
              <a:off x="7947187" y="4603066"/>
              <a:ext cx="865943" cy="738664"/>
            </a:xfrm>
            <a:prstGeom prst="rect">
              <a:avLst/>
            </a:prstGeom>
            <a:noFill/>
            <a:ln>
              <a:noFill/>
            </a:ln>
          </p:spPr>
          <p:txBody>
            <a:bodyPr wrap="none" rtlCol="0">
              <a:spAutoFit/>
            </a:bodyPr>
            <a:lstStyle/>
            <a:p>
              <a:pPr lvl="0">
                <a:spcBef>
                  <a:spcPct val="20000"/>
                </a:spcBef>
                <a:buClr>
                  <a:srgbClr val="000080"/>
                </a:buClr>
              </a:pPr>
              <a:r>
                <a:rPr lang="en-US" sz="2400" dirty="0">
                  <a:solidFill>
                    <a:schemeClr val="bg2"/>
                  </a:solidFill>
                  <a:latin typeface="Century Gothic" panose="020B0502020202020204" pitchFamily="34" charset="0"/>
                  <a:ea typeface="Courier" charset="0"/>
                  <a:cs typeface="Courier" charset="0"/>
                  <a:sym typeface="Wingdings" panose="05000000000000000000" pitchFamily="2" charset="2"/>
                </a:rPr>
                <a:t>Time</a:t>
              </a:r>
              <a:endParaRPr lang="en-US" sz="2400" dirty="0">
                <a:solidFill>
                  <a:schemeClr val="bg2"/>
                </a:solidFill>
                <a:latin typeface="Century Gothic" panose="020B0502020202020204" pitchFamily="34" charset="0"/>
                <a:cs typeface="Calibri" panose="020F0502020204030204" pitchFamily="34" charset="0"/>
                <a:sym typeface="Wingdings" panose="05000000000000000000" pitchFamily="2" charset="2"/>
              </a:endParaRPr>
            </a:p>
            <a:p>
              <a:endParaRPr lang="en-US" dirty="0">
                <a:solidFill>
                  <a:srgbClr val="FF0000"/>
                </a:solidFill>
              </a:endParaRPr>
            </a:p>
          </p:txBody>
        </p:sp>
      </p:grpSp>
      <p:sp>
        <p:nvSpPr>
          <p:cNvPr id="21" name="Oval 20">
            <a:extLst>
              <a:ext uri="{FF2B5EF4-FFF2-40B4-BE49-F238E27FC236}">
                <a16:creationId xmlns:a16="http://schemas.microsoft.com/office/drawing/2014/main" xmlns="" id="{19293B56-54CB-6E4C-ABD1-04FBEDAD10FE}"/>
              </a:ext>
            </a:extLst>
          </p:cNvPr>
          <p:cNvSpPr/>
          <p:nvPr/>
        </p:nvSpPr>
        <p:spPr>
          <a:xfrm>
            <a:off x="6804491" y="5079124"/>
            <a:ext cx="142875" cy="142875"/>
          </a:xfrm>
          <a:prstGeom prst="ellipse">
            <a:avLst/>
          </a:prstGeom>
          <a:solidFill>
            <a:srgbClr val="F1CEC3"/>
          </a:solidFill>
          <a:ln>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ircle: Hollow 29">
            <a:extLst>
              <a:ext uri="{FF2B5EF4-FFF2-40B4-BE49-F238E27FC236}">
                <a16:creationId xmlns:a16="http://schemas.microsoft.com/office/drawing/2014/main" xmlns="" id="{3C5396A2-2D8D-874D-A95A-FB13918A79A0}"/>
              </a:ext>
            </a:extLst>
          </p:cNvPr>
          <p:cNvSpPr/>
          <p:nvPr/>
        </p:nvSpPr>
        <p:spPr>
          <a:xfrm>
            <a:off x="6715194" y="4989826"/>
            <a:ext cx="321470" cy="321470"/>
          </a:xfrm>
          <a:prstGeom prst="donut">
            <a:avLst>
              <a:gd name="adj" fmla="val 5281"/>
            </a:avLst>
          </a:prstGeom>
          <a:solidFill>
            <a:srgbClr val="F1CEC3"/>
          </a:solidFill>
          <a:ln>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Oval 22">
            <a:extLst>
              <a:ext uri="{FF2B5EF4-FFF2-40B4-BE49-F238E27FC236}">
                <a16:creationId xmlns:a16="http://schemas.microsoft.com/office/drawing/2014/main" xmlns="" id="{8CA1F03C-8225-4847-BA7C-1FCAD02B3BE5}"/>
              </a:ext>
            </a:extLst>
          </p:cNvPr>
          <p:cNvSpPr/>
          <p:nvPr/>
        </p:nvSpPr>
        <p:spPr>
          <a:xfrm>
            <a:off x="2361287" y="5053836"/>
            <a:ext cx="142875" cy="142875"/>
          </a:xfrm>
          <a:prstGeom prst="ellipse">
            <a:avLst/>
          </a:prstGeom>
          <a:solidFill>
            <a:srgbClr val="7792CB"/>
          </a:solidFill>
          <a:ln>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ircle: Hollow 29">
            <a:extLst>
              <a:ext uri="{FF2B5EF4-FFF2-40B4-BE49-F238E27FC236}">
                <a16:creationId xmlns:a16="http://schemas.microsoft.com/office/drawing/2014/main" xmlns="" id="{4056CE39-5983-144E-9BC3-653E97736853}"/>
              </a:ext>
            </a:extLst>
          </p:cNvPr>
          <p:cNvSpPr/>
          <p:nvPr/>
        </p:nvSpPr>
        <p:spPr>
          <a:xfrm>
            <a:off x="2271990" y="4964538"/>
            <a:ext cx="321470" cy="321470"/>
          </a:xfrm>
          <a:prstGeom prst="donut">
            <a:avLst>
              <a:gd name="adj" fmla="val 5281"/>
            </a:avLst>
          </a:prstGeom>
          <a:solidFill>
            <a:srgbClr val="7792CB"/>
          </a:solidFill>
          <a:ln>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p:cNvSpPr txBox="1"/>
          <p:nvPr/>
        </p:nvSpPr>
        <p:spPr>
          <a:xfrm>
            <a:off x="439305" y="5773855"/>
            <a:ext cx="8391526" cy="461665"/>
          </a:xfrm>
          <a:prstGeom prst="rect">
            <a:avLst/>
          </a:prstGeom>
          <a:noFill/>
        </p:spPr>
        <p:txBody>
          <a:bodyPr wrap="square" rtlCol="0">
            <a:spAutoFit/>
          </a:bodyPr>
          <a:lstStyle/>
          <a:p>
            <a:r>
              <a:rPr lang="en-US" sz="2400" i="1" dirty="0">
                <a:solidFill>
                  <a:schemeClr val="bg2"/>
                </a:solidFill>
                <a:latin typeface="Century Gothic" charset="0"/>
                <a:ea typeface="Century Gothic" charset="0"/>
                <a:cs typeface="Century Gothic" charset="0"/>
              </a:rPr>
              <a:t>Police </a:t>
            </a:r>
            <a:r>
              <a:rPr lang="en-US" sz="2400" b="1" i="1" dirty="0">
                <a:solidFill>
                  <a:schemeClr val="bg2"/>
                </a:solidFill>
                <a:latin typeface="Century Gothic" charset="0"/>
                <a:ea typeface="Century Gothic" charset="0"/>
                <a:cs typeface="Century Gothic" charset="0"/>
              </a:rPr>
              <a:t>used tear gas</a:t>
            </a:r>
            <a:r>
              <a:rPr lang="mr-IN" sz="2400" i="1" dirty="0">
                <a:solidFill>
                  <a:schemeClr val="bg2"/>
                </a:solidFill>
                <a:latin typeface="Century Gothic" charset="0"/>
                <a:ea typeface="Century Gothic" charset="0"/>
                <a:cs typeface="Century Gothic" charset="0"/>
              </a:rPr>
              <a:t>…</a:t>
            </a:r>
            <a:r>
              <a:rPr lang="en-US" sz="2400" i="1" dirty="0">
                <a:solidFill>
                  <a:schemeClr val="bg2"/>
                </a:solidFill>
                <a:latin typeface="Century Gothic" charset="0"/>
                <a:ea typeface="Century Gothic" charset="0"/>
                <a:cs typeface="Century Gothic" charset="0"/>
              </a:rPr>
              <a:t>People </a:t>
            </a:r>
            <a:r>
              <a:rPr lang="en-US" sz="2400" b="1" i="1" dirty="0">
                <a:solidFill>
                  <a:schemeClr val="bg2"/>
                </a:solidFill>
                <a:latin typeface="Century Gothic" charset="0"/>
                <a:ea typeface="Century Gothic" charset="0"/>
                <a:cs typeface="Century Gothic" charset="0"/>
              </a:rPr>
              <a:t>were</a:t>
            </a:r>
            <a:r>
              <a:rPr lang="en-US" sz="2400" i="1" dirty="0">
                <a:solidFill>
                  <a:schemeClr val="bg2"/>
                </a:solidFill>
                <a:latin typeface="Century Gothic" charset="0"/>
                <a:ea typeface="Century Gothic" charset="0"/>
                <a:cs typeface="Century Gothic" charset="0"/>
              </a:rPr>
              <a:t> </a:t>
            </a:r>
            <a:r>
              <a:rPr lang="en-US" sz="2400" b="1" i="1" dirty="0">
                <a:solidFill>
                  <a:schemeClr val="bg2"/>
                </a:solidFill>
                <a:latin typeface="Century Gothic" charset="0"/>
                <a:ea typeface="Century Gothic" charset="0"/>
                <a:cs typeface="Century Gothic" charset="0"/>
              </a:rPr>
              <a:t>angry</a:t>
            </a:r>
            <a:r>
              <a:rPr lang="en-US" sz="2400" i="1" dirty="0">
                <a:solidFill>
                  <a:schemeClr val="bg2"/>
                </a:solidFill>
                <a:latin typeface="Century Gothic" charset="0"/>
                <a:ea typeface="Century Gothic" charset="0"/>
                <a:cs typeface="Century Gothic" charset="0"/>
              </a:rPr>
              <a:t> at the police.</a:t>
            </a:r>
          </a:p>
        </p:txBody>
      </p:sp>
    </p:spTree>
    <p:extLst>
      <p:ext uri="{BB962C8B-B14F-4D97-AF65-F5344CB8AC3E}">
        <p14:creationId xmlns:p14="http://schemas.microsoft.com/office/powerpoint/2010/main" val="1258585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xmlns="" id="{AC3F64C7-D547-7746-8C3C-26DBDC066795}"/>
              </a:ext>
            </a:extLst>
          </p:cNvPr>
          <p:cNvCxnSpPr>
            <a:cxnSpLocks/>
          </p:cNvCxnSpPr>
          <p:nvPr/>
        </p:nvCxnSpPr>
        <p:spPr>
          <a:xfrm flipV="1">
            <a:off x="2424390" y="4055517"/>
            <a:ext cx="0" cy="1073219"/>
          </a:xfrm>
          <a:prstGeom prst="line">
            <a:avLst/>
          </a:prstGeom>
          <a:ln w="19050">
            <a:solidFill>
              <a:srgbClr val="7792C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0AB4AD11-0FDB-5249-84F9-25A3E58D69FF}"/>
              </a:ext>
            </a:extLst>
          </p:cNvPr>
          <p:cNvCxnSpPr>
            <a:cxnSpLocks/>
          </p:cNvCxnSpPr>
          <p:nvPr/>
        </p:nvCxnSpPr>
        <p:spPr>
          <a:xfrm flipV="1">
            <a:off x="6875929" y="4080805"/>
            <a:ext cx="0" cy="1073219"/>
          </a:xfrm>
          <a:prstGeom prst="line">
            <a:avLst/>
          </a:prstGeom>
          <a:ln w="19050">
            <a:solidFill>
              <a:srgbClr val="F1CEC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F87E2FDA-6010-4113-824F-6B8906CE82E2}"/>
              </a:ext>
            </a:extLst>
          </p:cNvPr>
          <p:cNvSpPr>
            <a:spLocks noGrp="1"/>
          </p:cNvSpPr>
          <p:nvPr>
            <p:ph type="title"/>
          </p:nvPr>
        </p:nvSpPr>
        <p:spPr/>
        <p:txBody>
          <a:bodyPr/>
          <a:lstStyle/>
          <a:p>
            <a:r>
              <a:rPr lang="en-US" dirty="0"/>
              <a:t>Reversing them</a:t>
            </a:r>
            <a:endParaRPr lang="en-US" dirty="0">
              <a:solidFill>
                <a:schemeClr val="bg2"/>
              </a:solidFill>
            </a:endParaRPr>
          </a:p>
        </p:txBody>
      </p:sp>
      <p:grpSp>
        <p:nvGrpSpPr>
          <p:cNvPr id="15" name="Group 14">
            <a:extLst>
              <a:ext uri="{FF2B5EF4-FFF2-40B4-BE49-F238E27FC236}">
                <a16:creationId xmlns:a16="http://schemas.microsoft.com/office/drawing/2014/main" xmlns="" id="{2490A4AA-906D-4691-8965-B46C5599291D}"/>
              </a:ext>
            </a:extLst>
          </p:cNvPr>
          <p:cNvGrpSpPr/>
          <p:nvPr/>
        </p:nvGrpSpPr>
        <p:grpSpPr>
          <a:xfrm>
            <a:off x="824190" y="1549908"/>
            <a:ext cx="3062010" cy="2505609"/>
            <a:chOff x="5275728" y="1024238"/>
            <a:chExt cx="3062010" cy="2505609"/>
          </a:xfrm>
        </p:grpSpPr>
        <p:sp>
          <p:nvSpPr>
            <p:cNvPr id="6" name="Rectangle: Rounded Corners 5">
              <a:extLst>
                <a:ext uri="{FF2B5EF4-FFF2-40B4-BE49-F238E27FC236}">
                  <a16:creationId xmlns:a16="http://schemas.microsoft.com/office/drawing/2014/main" xmlns="" id="{995E8A5A-0790-4245-98FE-C03CC313DCF1}"/>
                </a:ext>
              </a:extLst>
            </p:cNvPr>
            <p:cNvSpPr/>
            <p:nvPr/>
          </p:nvSpPr>
          <p:spPr>
            <a:xfrm>
              <a:off x="5275728" y="2539247"/>
              <a:ext cx="3062010" cy="990600"/>
            </a:xfrm>
            <a:prstGeom prst="roundRect">
              <a:avLst/>
            </a:prstGeom>
            <a:solidFill>
              <a:srgbClr val="7792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chemeClr val="bg2"/>
                  </a:solidFill>
                  <a:latin typeface="Century Gothic" panose="020B0502020202020204" pitchFamily="34" charset="0"/>
                </a:rPr>
                <a:t>Police used tear gas</a:t>
              </a:r>
            </a:p>
          </p:txBody>
        </p:sp>
        <p:pic>
          <p:nvPicPr>
            <p:cNvPr id="2050" name="Picture 2" descr="Image result for police tear gas">
              <a:extLst>
                <a:ext uri="{FF2B5EF4-FFF2-40B4-BE49-F238E27FC236}">
                  <a16:creationId xmlns:a16="http://schemas.microsoft.com/office/drawing/2014/main" xmlns="" id="{C1288562-6DD3-4876-8B01-E51542E277D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637959" y="1024238"/>
              <a:ext cx="2337547" cy="14253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xmlns="" id="{E129D606-D205-4B1D-9975-395A797DFC52}"/>
              </a:ext>
            </a:extLst>
          </p:cNvPr>
          <p:cNvGrpSpPr/>
          <p:nvPr/>
        </p:nvGrpSpPr>
        <p:grpSpPr>
          <a:xfrm>
            <a:off x="5396191" y="1570690"/>
            <a:ext cx="3062009" cy="2510115"/>
            <a:chOff x="806262" y="1019732"/>
            <a:chExt cx="3062009" cy="2510115"/>
          </a:xfrm>
        </p:grpSpPr>
        <p:sp>
          <p:nvSpPr>
            <p:cNvPr id="5" name="Rectangle: Rounded Corners 4">
              <a:extLst>
                <a:ext uri="{FF2B5EF4-FFF2-40B4-BE49-F238E27FC236}">
                  <a16:creationId xmlns:a16="http://schemas.microsoft.com/office/drawing/2014/main" xmlns="" id="{70CFC6B0-C1C5-4697-8152-600DD0770FAD}"/>
                </a:ext>
              </a:extLst>
            </p:cNvPr>
            <p:cNvSpPr/>
            <p:nvPr/>
          </p:nvSpPr>
          <p:spPr>
            <a:xfrm>
              <a:off x="806262" y="2539247"/>
              <a:ext cx="3062009" cy="990600"/>
            </a:xfrm>
            <a:prstGeom prst="roundRect">
              <a:avLst/>
            </a:pr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chemeClr val="bg2"/>
                  </a:solidFill>
                  <a:latin typeface="Century Gothic" panose="020B0502020202020204" pitchFamily="34" charset="0"/>
                </a:rPr>
                <a:t>People were angry</a:t>
              </a:r>
            </a:p>
          </p:txBody>
        </p:sp>
        <p:pic>
          <p:nvPicPr>
            <p:cNvPr id="12" name="Picture 11">
              <a:extLst>
                <a:ext uri="{FF2B5EF4-FFF2-40B4-BE49-F238E27FC236}">
                  <a16:creationId xmlns:a16="http://schemas.microsoft.com/office/drawing/2014/main" xmlns="" id="{0B66BF47-565A-4441-B6A3-52EAF27E442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5258" y="1019732"/>
              <a:ext cx="2984015" cy="1429840"/>
            </a:xfrm>
            <a:prstGeom prst="rect">
              <a:avLst/>
            </a:prstGeom>
          </p:spPr>
        </p:pic>
      </p:grpSp>
      <p:grpSp>
        <p:nvGrpSpPr>
          <p:cNvPr id="11" name="Group 10">
            <a:extLst>
              <a:ext uri="{FF2B5EF4-FFF2-40B4-BE49-F238E27FC236}">
                <a16:creationId xmlns:a16="http://schemas.microsoft.com/office/drawing/2014/main" xmlns="" id="{ADDFD349-305A-AA48-BED5-EA21B3CB16DD}"/>
              </a:ext>
            </a:extLst>
          </p:cNvPr>
          <p:cNvGrpSpPr/>
          <p:nvPr/>
        </p:nvGrpSpPr>
        <p:grpSpPr>
          <a:xfrm>
            <a:off x="676274" y="5128736"/>
            <a:ext cx="8136856" cy="738664"/>
            <a:chOff x="676274" y="4603066"/>
            <a:chExt cx="8136856" cy="738664"/>
          </a:xfrm>
        </p:grpSpPr>
        <p:cxnSp>
          <p:nvCxnSpPr>
            <p:cNvPr id="8" name="Straight Arrow Connector 7">
              <a:extLst>
                <a:ext uri="{FF2B5EF4-FFF2-40B4-BE49-F238E27FC236}">
                  <a16:creationId xmlns:a16="http://schemas.microsoft.com/office/drawing/2014/main" xmlns="" id="{F99AC8FA-F7B9-429C-BC27-EFBA5068EEE7}"/>
                </a:ext>
              </a:extLst>
            </p:cNvPr>
            <p:cNvCxnSpPr>
              <a:cxnSpLocks/>
            </p:cNvCxnSpPr>
            <p:nvPr/>
          </p:nvCxnSpPr>
          <p:spPr>
            <a:xfrm>
              <a:off x="676274" y="4603066"/>
              <a:ext cx="8066555" cy="0"/>
            </a:xfrm>
            <a:prstGeom prst="straightConnector1">
              <a:avLst/>
            </a:prstGeom>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C832F63B-7793-0947-B9AA-925E43C0D74A}"/>
                </a:ext>
              </a:extLst>
            </p:cNvPr>
            <p:cNvSpPr txBox="1"/>
            <p:nvPr/>
          </p:nvSpPr>
          <p:spPr>
            <a:xfrm>
              <a:off x="7947187" y="4603066"/>
              <a:ext cx="865943" cy="738664"/>
            </a:xfrm>
            <a:prstGeom prst="rect">
              <a:avLst/>
            </a:prstGeom>
            <a:noFill/>
            <a:ln>
              <a:noFill/>
            </a:ln>
          </p:spPr>
          <p:txBody>
            <a:bodyPr wrap="none" rtlCol="0">
              <a:spAutoFit/>
            </a:bodyPr>
            <a:lstStyle/>
            <a:p>
              <a:pPr lvl="0">
                <a:spcBef>
                  <a:spcPct val="20000"/>
                </a:spcBef>
                <a:buClr>
                  <a:srgbClr val="000080"/>
                </a:buClr>
              </a:pPr>
              <a:r>
                <a:rPr lang="en-US" sz="2400" dirty="0">
                  <a:solidFill>
                    <a:schemeClr val="bg2"/>
                  </a:solidFill>
                  <a:latin typeface="Century Gothic" panose="020B0502020202020204" pitchFamily="34" charset="0"/>
                  <a:ea typeface="Courier" charset="0"/>
                  <a:cs typeface="Courier" charset="0"/>
                  <a:sym typeface="Wingdings" panose="05000000000000000000" pitchFamily="2" charset="2"/>
                </a:rPr>
                <a:t>Time</a:t>
              </a:r>
              <a:endParaRPr lang="en-US" sz="2400" dirty="0">
                <a:solidFill>
                  <a:schemeClr val="bg2"/>
                </a:solidFill>
                <a:latin typeface="Century Gothic" panose="020B0502020202020204" pitchFamily="34" charset="0"/>
                <a:cs typeface="Calibri" panose="020F0502020204030204" pitchFamily="34" charset="0"/>
                <a:sym typeface="Wingdings" panose="05000000000000000000" pitchFamily="2" charset="2"/>
              </a:endParaRPr>
            </a:p>
            <a:p>
              <a:endParaRPr lang="en-US" dirty="0">
                <a:solidFill>
                  <a:srgbClr val="FF0000"/>
                </a:solidFill>
              </a:endParaRPr>
            </a:p>
          </p:txBody>
        </p:sp>
      </p:grpSp>
      <p:sp>
        <p:nvSpPr>
          <p:cNvPr id="21" name="Oval 20">
            <a:extLst>
              <a:ext uri="{FF2B5EF4-FFF2-40B4-BE49-F238E27FC236}">
                <a16:creationId xmlns:a16="http://schemas.microsoft.com/office/drawing/2014/main" xmlns="" id="{19293B56-54CB-6E4C-ABD1-04FBEDAD10FE}"/>
              </a:ext>
            </a:extLst>
          </p:cNvPr>
          <p:cNvSpPr/>
          <p:nvPr/>
        </p:nvSpPr>
        <p:spPr>
          <a:xfrm>
            <a:off x="6804491" y="5079124"/>
            <a:ext cx="142875" cy="142875"/>
          </a:xfrm>
          <a:prstGeom prst="ellipse">
            <a:avLst/>
          </a:prstGeom>
          <a:solidFill>
            <a:srgbClr val="F1CEC3"/>
          </a:solidFill>
          <a:ln>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ircle: Hollow 29">
            <a:extLst>
              <a:ext uri="{FF2B5EF4-FFF2-40B4-BE49-F238E27FC236}">
                <a16:creationId xmlns:a16="http://schemas.microsoft.com/office/drawing/2014/main" xmlns="" id="{3C5396A2-2D8D-874D-A95A-FB13918A79A0}"/>
              </a:ext>
            </a:extLst>
          </p:cNvPr>
          <p:cNvSpPr/>
          <p:nvPr/>
        </p:nvSpPr>
        <p:spPr>
          <a:xfrm>
            <a:off x="6715194" y="4989826"/>
            <a:ext cx="321470" cy="321470"/>
          </a:xfrm>
          <a:prstGeom prst="donut">
            <a:avLst>
              <a:gd name="adj" fmla="val 5281"/>
            </a:avLst>
          </a:prstGeom>
          <a:solidFill>
            <a:srgbClr val="F1CEC3"/>
          </a:solidFill>
          <a:ln>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Oval 22">
            <a:extLst>
              <a:ext uri="{FF2B5EF4-FFF2-40B4-BE49-F238E27FC236}">
                <a16:creationId xmlns:a16="http://schemas.microsoft.com/office/drawing/2014/main" xmlns="" id="{8CA1F03C-8225-4847-BA7C-1FCAD02B3BE5}"/>
              </a:ext>
            </a:extLst>
          </p:cNvPr>
          <p:cNvSpPr/>
          <p:nvPr/>
        </p:nvSpPr>
        <p:spPr>
          <a:xfrm>
            <a:off x="2361287" y="5053836"/>
            <a:ext cx="142875" cy="142875"/>
          </a:xfrm>
          <a:prstGeom prst="ellipse">
            <a:avLst/>
          </a:prstGeom>
          <a:solidFill>
            <a:srgbClr val="7792CB"/>
          </a:solidFill>
          <a:ln>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ircle: Hollow 29">
            <a:extLst>
              <a:ext uri="{FF2B5EF4-FFF2-40B4-BE49-F238E27FC236}">
                <a16:creationId xmlns:a16="http://schemas.microsoft.com/office/drawing/2014/main" xmlns="" id="{4056CE39-5983-144E-9BC3-653E97736853}"/>
              </a:ext>
            </a:extLst>
          </p:cNvPr>
          <p:cNvSpPr/>
          <p:nvPr/>
        </p:nvSpPr>
        <p:spPr>
          <a:xfrm>
            <a:off x="2271990" y="4964538"/>
            <a:ext cx="321470" cy="321470"/>
          </a:xfrm>
          <a:prstGeom prst="donut">
            <a:avLst>
              <a:gd name="adj" fmla="val 5281"/>
            </a:avLst>
          </a:prstGeom>
          <a:solidFill>
            <a:srgbClr val="7792CB"/>
          </a:solidFill>
          <a:ln>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p:cNvSpPr txBox="1"/>
          <p:nvPr/>
        </p:nvSpPr>
        <p:spPr>
          <a:xfrm>
            <a:off x="439305" y="5773855"/>
            <a:ext cx="8391526" cy="830997"/>
          </a:xfrm>
          <a:prstGeom prst="rect">
            <a:avLst/>
          </a:prstGeom>
          <a:noFill/>
        </p:spPr>
        <p:txBody>
          <a:bodyPr wrap="square" rtlCol="0">
            <a:spAutoFit/>
          </a:bodyPr>
          <a:lstStyle/>
          <a:p>
            <a:r>
              <a:rPr lang="en-US" sz="2400" i="1" dirty="0">
                <a:solidFill>
                  <a:schemeClr val="bg2"/>
                </a:solidFill>
                <a:latin typeface="Century Gothic" charset="0"/>
                <a:ea typeface="Century Gothic" charset="0"/>
                <a:cs typeface="Century Gothic" charset="0"/>
              </a:rPr>
              <a:t>In natural language, we rarely have </a:t>
            </a:r>
            <a:r>
              <a:rPr lang="en-US" sz="2400" b="1" i="1" dirty="0">
                <a:solidFill>
                  <a:schemeClr val="bg2"/>
                </a:solidFill>
                <a:latin typeface="Century Gothic" charset="0"/>
                <a:ea typeface="Century Gothic" charset="0"/>
                <a:cs typeface="Century Gothic" charset="0"/>
              </a:rPr>
              <a:t>timestamps</a:t>
            </a:r>
            <a:r>
              <a:rPr lang="en-US" sz="2400" i="1" dirty="0">
                <a:solidFill>
                  <a:schemeClr val="bg2"/>
                </a:solidFill>
                <a:latin typeface="Century Gothic" charset="0"/>
                <a:ea typeface="Century Gothic" charset="0"/>
                <a:cs typeface="Century Gothic" charset="0"/>
              </a:rPr>
              <a:t>, so we have to figure out the order </a:t>
            </a:r>
            <a:r>
              <a:rPr lang="en-US" sz="2400" b="1" i="1" dirty="0">
                <a:solidFill>
                  <a:schemeClr val="bg2"/>
                </a:solidFill>
                <a:latin typeface="Century Gothic" charset="0"/>
                <a:ea typeface="Century Gothic" charset="0"/>
                <a:cs typeface="Century Gothic" charset="0"/>
              </a:rPr>
              <a:t>based on text</a:t>
            </a:r>
            <a:r>
              <a:rPr lang="en-US" sz="2400" i="1" dirty="0">
                <a:solidFill>
                  <a:schemeClr val="bg2"/>
                </a:solidFill>
                <a:latin typeface="Century Gothic" charset="0"/>
                <a:ea typeface="Century Gothic" charset="0"/>
                <a:cs typeface="Century Gothic" charset="0"/>
              </a:rPr>
              <a:t>.</a:t>
            </a:r>
          </a:p>
        </p:txBody>
      </p:sp>
    </p:spTree>
    <p:extLst>
      <p:ext uri="{BB962C8B-B14F-4D97-AF65-F5344CB8AC3E}">
        <p14:creationId xmlns:p14="http://schemas.microsoft.com/office/powerpoint/2010/main" val="2544965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Temporal relation (</a:t>
            </a:r>
            <a:r>
              <a:rPr lang="en-US" dirty="0" err="1"/>
              <a:t>TempRel</a:t>
            </a:r>
            <a:r>
              <a:rPr lang="en-US" dirty="0"/>
              <a:t>)</a:t>
            </a:r>
          </a:p>
        </p:txBody>
      </p:sp>
      <p:grpSp>
        <p:nvGrpSpPr>
          <p:cNvPr id="57" name="Group 56">
            <a:extLst>
              <a:ext uri="{FF2B5EF4-FFF2-40B4-BE49-F238E27FC236}">
                <a16:creationId xmlns:a16="http://schemas.microsoft.com/office/drawing/2014/main" xmlns="" id="{C6C91B87-BC4E-44D6-9D73-045F49937742}"/>
              </a:ext>
            </a:extLst>
          </p:cNvPr>
          <p:cNvGrpSpPr/>
          <p:nvPr/>
        </p:nvGrpSpPr>
        <p:grpSpPr>
          <a:xfrm>
            <a:off x="3276600" y="1884925"/>
            <a:ext cx="3900324" cy="611239"/>
            <a:chOff x="1919028" y="2681481"/>
            <a:chExt cx="4412071" cy="611239"/>
          </a:xfrm>
        </p:grpSpPr>
        <p:sp>
          <p:nvSpPr>
            <p:cNvPr id="54" name="TextBox 53">
              <a:extLst>
                <a:ext uri="{FF2B5EF4-FFF2-40B4-BE49-F238E27FC236}">
                  <a16:creationId xmlns:a16="http://schemas.microsoft.com/office/drawing/2014/main" xmlns="" id="{6EB31E90-A513-42E3-BAEF-C19FDA9145B7}"/>
                </a:ext>
              </a:extLst>
            </p:cNvPr>
            <p:cNvSpPr txBox="1"/>
            <p:nvPr/>
          </p:nvSpPr>
          <p:spPr>
            <a:xfrm>
              <a:off x="3055578" y="2681481"/>
              <a:ext cx="2103823" cy="400110"/>
            </a:xfrm>
            <a:prstGeom prst="rect">
              <a:avLst/>
            </a:prstGeom>
            <a:noFill/>
            <a:ln>
              <a:noFill/>
            </a:ln>
          </p:spPr>
          <p:txBody>
            <a:bodyPr wrap="none" rtlCol="0">
              <a:spAutoFit/>
            </a:bodyPr>
            <a:lstStyle/>
            <a:p>
              <a:r>
                <a:rPr lang="en-US" sz="2000" dirty="0">
                  <a:solidFill>
                    <a:srgbClr val="666089"/>
                  </a:solidFill>
                  <a:latin typeface="Century Gothic" panose="020B0502020202020204" pitchFamily="34" charset="0"/>
                </a:rPr>
                <a:t>BE_INCLUDED</a:t>
              </a:r>
              <a:endParaRPr lang="en-US" sz="2800" dirty="0">
                <a:solidFill>
                  <a:srgbClr val="666089"/>
                </a:solidFill>
                <a:latin typeface="Century Gothic" panose="020B0502020202020204" pitchFamily="34" charset="0"/>
              </a:endParaRPr>
            </a:p>
          </p:txBody>
        </p:sp>
        <p:sp>
          <p:nvSpPr>
            <p:cNvPr id="55" name="U-Turn Arrow 7">
              <a:extLst>
                <a:ext uri="{FF2B5EF4-FFF2-40B4-BE49-F238E27FC236}">
                  <a16:creationId xmlns:a16="http://schemas.microsoft.com/office/drawing/2014/main" xmlns="" id="{81712954-487E-456A-B998-80AD9B84E00D}"/>
                </a:ext>
              </a:extLst>
            </p:cNvPr>
            <p:cNvSpPr/>
            <p:nvPr/>
          </p:nvSpPr>
          <p:spPr>
            <a:xfrm flipH="1">
              <a:off x="1919028" y="3083204"/>
              <a:ext cx="4412071" cy="209516"/>
            </a:xfrm>
            <a:prstGeom prst="uturnArrow">
              <a:avLst>
                <a:gd name="adj1" fmla="val 8552"/>
                <a:gd name="adj2" fmla="val 25000"/>
                <a:gd name="adj3" fmla="val 23505"/>
                <a:gd name="adj4" fmla="val 43750"/>
                <a:gd name="adj5" fmla="val 100000"/>
              </a:avLst>
            </a:prstGeom>
            <a:solidFill>
              <a:srgbClr val="666089"/>
            </a:solidFill>
            <a:ln>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grpSp>
      <p:sp>
        <p:nvSpPr>
          <p:cNvPr id="4" name="TextBox 3"/>
          <p:cNvSpPr txBox="1"/>
          <p:nvPr/>
        </p:nvSpPr>
        <p:spPr>
          <a:xfrm>
            <a:off x="438477" y="4800600"/>
            <a:ext cx="8305800" cy="578882"/>
          </a:xfrm>
          <a:prstGeom prst="roundRect">
            <a:avLst/>
          </a:prstGeom>
          <a:solidFill>
            <a:srgbClr val="7792CB"/>
          </a:solidFill>
        </p:spPr>
        <p:txBody>
          <a:bodyPr wrap="square" rtlCol="0">
            <a:spAutoFit/>
          </a:bodyPr>
          <a:lstStyle/>
          <a:p>
            <a:pPr algn="ctr"/>
            <a:r>
              <a:rPr lang="en-US" sz="2800" i="1" dirty="0">
                <a:latin typeface="Century Gothic" charset="0"/>
                <a:ea typeface="Century Gothic" charset="0"/>
                <a:cs typeface="Century Gothic" charset="0"/>
              </a:rPr>
              <a:t>My talk mainly focuses on </a:t>
            </a:r>
            <a:r>
              <a:rPr lang="en-US" sz="2800" i="1" dirty="0" err="1">
                <a:latin typeface="Century Gothic" charset="0"/>
                <a:ea typeface="Century Gothic" charset="0"/>
                <a:cs typeface="Century Gothic" charset="0"/>
              </a:rPr>
              <a:t>TempRel</a:t>
            </a:r>
            <a:r>
              <a:rPr lang="en-US" sz="2800" i="1" dirty="0">
                <a:latin typeface="Century Gothic" charset="0"/>
                <a:ea typeface="Century Gothic" charset="0"/>
                <a:cs typeface="Century Gothic" charset="0"/>
              </a:rPr>
              <a:t> extraction</a:t>
            </a:r>
          </a:p>
        </p:txBody>
      </p:sp>
      <p:sp>
        <p:nvSpPr>
          <p:cNvPr id="11" name="TextBox 10">
            <a:extLst>
              <a:ext uri="{FF2B5EF4-FFF2-40B4-BE49-F238E27FC236}">
                <a16:creationId xmlns:a16="http://schemas.microsoft.com/office/drawing/2014/main" xmlns="" id="{976A0FD3-76BC-F240-AF81-B55704A9B318}"/>
              </a:ext>
            </a:extLst>
          </p:cNvPr>
          <p:cNvSpPr txBox="1"/>
          <p:nvPr/>
        </p:nvSpPr>
        <p:spPr>
          <a:xfrm>
            <a:off x="594051" y="2438400"/>
            <a:ext cx="7854623" cy="830997"/>
          </a:xfrm>
          <a:prstGeom prst="rect">
            <a:avLst/>
          </a:prstGeom>
          <a:noFill/>
          <a:ln>
            <a:noFill/>
          </a:ln>
        </p:spPr>
        <p:txBody>
          <a:bodyPr wrap="square" rtlCol="0">
            <a:spAutoFit/>
          </a:bodyPr>
          <a:lstStyle/>
          <a:p>
            <a:r>
              <a:rPr lang="en-US" sz="2400" i="1" dirty="0">
                <a:solidFill>
                  <a:srgbClr val="000000"/>
                </a:solidFill>
                <a:latin typeface="Century Gothic" panose="020B0502020202020204" pitchFamily="34" charset="0"/>
                <a:cs typeface="Calibri" panose="020F0502020204030204" pitchFamily="34" charset="0"/>
              </a:rPr>
              <a:t>Tons of earth </a:t>
            </a:r>
            <a:r>
              <a:rPr lang="en-US" sz="2400" b="1" i="1" dirty="0">
                <a:solidFill>
                  <a:srgbClr val="C17A90"/>
                </a:solidFill>
                <a:latin typeface="Century Gothic" panose="020B0502020202020204" pitchFamily="34" charset="0"/>
                <a:cs typeface="Calibri" panose="020F0502020204030204" pitchFamily="34" charset="0"/>
              </a:rPr>
              <a:t>cascaded</a:t>
            </a:r>
            <a:r>
              <a:rPr lang="en-US" sz="2400" i="1" dirty="0">
                <a:solidFill>
                  <a:srgbClr val="FF0000"/>
                </a:solidFill>
                <a:latin typeface="Century Gothic" panose="020B0502020202020204" pitchFamily="34" charset="0"/>
                <a:cs typeface="Calibri" panose="020F0502020204030204" pitchFamily="34" charset="0"/>
              </a:rPr>
              <a:t> </a:t>
            </a:r>
            <a:r>
              <a:rPr lang="en-US" sz="2400" i="1" dirty="0">
                <a:solidFill>
                  <a:srgbClr val="000000"/>
                </a:solidFill>
                <a:latin typeface="Century Gothic" panose="020B0502020202020204" pitchFamily="34" charset="0"/>
                <a:cs typeface="Calibri" panose="020F0502020204030204" pitchFamily="34" charset="0"/>
              </a:rPr>
              <a:t>down a hillside, </a:t>
            </a:r>
            <a:r>
              <a:rPr lang="en-US" sz="2400" b="1" i="1" dirty="0">
                <a:solidFill>
                  <a:srgbClr val="C17A90"/>
                </a:solidFill>
                <a:latin typeface="Century Gothic" panose="020B0502020202020204" pitchFamily="34" charset="0"/>
                <a:cs typeface="Calibri" panose="020F0502020204030204" pitchFamily="34" charset="0"/>
              </a:rPr>
              <a:t>ripping</a:t>
            </a:r>
            <a:r>
              <a:rPr lang="en-US" sz="2400" i="1" dirty="0">
                <a:solidFill>
                  <a:srgbClr val="FF0000"/>
                </a:solidFill>
                <a:latin typeface="Century Gothic" panose="020B0502020202020204" pitchFamily="34" charset="0"/>
                <a:cs typeface="Calibri" panose="020F0502020204030204" pitchFamily="34" charset="0"/>
              </a:rPr>
              <a:t> </a:t>
            </a:r>
            <a:r>
              <a:rPr lang="en-US" sz="2400" i="1" dirty="0">
                <a:solidFill>
                  <a:srgbClr val="000000"/>
                </a:solidFill>
                <a:latin typeface="Century Gothic" panose="020B0502020202020204" pitchFamily="34" charset="0"/>
                <a:cs typeface="Calibri" panose="020F0502020204030204" pitchFamily="34" charset="0"/>
              </a:rPr>
              <a:t>two houses. Firefighters will </a:t>
            </a:r>
            <a:r>
              <a:rPr lang="en-US" sz="2400" b="1" i="1" dirty="0">
                <a:solidFill>
                  <a:srgbClr val="C17A90"/>
                </a:solidFill>
                <a:latin typeface="Century Gothic" panose="020B0502020202020204" pitchFamily="34" charset="0"/>
                <a:cs typeface="Calibri" panose="020F0502020204030204" pitchFamily="34" charset="0"/>
              </a:rPr>
              <a:t>monitor</a:t>
            </a:r>
            <a:r>
              <a:rPr lang="en-US" sz="2400" i="1" dirty="0">
                <a:solidFill>
                  <a:srgbClr val="000000"/>
                </a:solidFill>
                <a:latin typeface="Century Gothic" panose="020B0502020202020204" pitchFamily="34" charset="0"/>
                <a:cs typeface="Calibri" panose="020F0502020204030204" pitchFamily="34" charset="0"/>
              </a:rPr>
              <a:t> the shifting ground.</a:t>
            </a:r>
            <a:endParaRPr lang="en-US" sz="2400" i="1" dirty="0">
              <a:solidFill>
                <a:schemeClr val="bg2"/>
              </a:solidFill>
              <a:latin typeface="Century Gothic" panose="020B0502020202020204" pitchFamily="34" charset="0"/>
            </a:endParaRPr>
          </a:p>
        </p:txBody>
      </p:sp>
      <p:grpSp>
        <p:nvGrpSpPr>
          <p:cNvPr id="6" name="Group 5">
            <a:extLst>
              <a:ext uri="{FF2B5EF4-FFF2-40B4-BE49-F238E27FC236}">
                <a16:creationId xmlns:a16="http://schemas.microsoft.com/office/drawing/2014/main" xmlns="" id="{1D5FDFE3-4898-F644-87CF-633979F50ECE}"/>
              </a:ext>
            </a:extLst>
          </p:cNvPr>
          <p:cNvGrpSpPr/>
          <p:nvPr/>
        </p:nvGrpSpPr>
        <p:grpSpPr>
          <a:xfrm>
            <a:off x="4267198" y="2886599"/>
            <a:ext cx="2909726" cy="1006197"/>
            <a:chOff x="4571998" y="3352800"/>
            <a:chExt cx="2909726" cy="1006197"/>
          </a:xfrm>
        </p:grpSpPr>
        <p:grpSp>
          <p:nvGrpSpPr>
            <p:cNvPr id="56" name="Group 55">
              <a:extLst>
                <a:ext uri="{FF2B5EF4-FFF2-40B4-BE49-F238E27FC236}">
                  <a16:creationId xmlns:a16="http://schemas.microsoft.com/office/drawing/2014/main" xmlns="" id="{1172A96C-6889-4334-AD6E-B2D89EF42DB5}"/>
                </a:ext>
              </a:extLst>
            </p:cNvPr>
            <p:cNvGrpSpPr/>
            <p:nvPr/>
          </p:nvGrpSpPr>
          <p:grpSpPr>
            <a:xfrm>
              <a:off x="4571998" y="3666870"/>
              <a:ext cx="2909726" cy="692127"/>
              <a:chOff x="1318504" y="2524261"/>
              <a:chExt cx="2079815" cy="692127"/>
            </a:xfrm>
          </p:grpSpPr>
          <p:sp>
            <p:nvSpPr>
              <p:cNvPr id="52" name="U-Turn Arrow 3">
                <a:extLst>
                  <a:ext uri="{FF2B5EF4-FFF2-40B4-BE49-F238E27FC236}">
                    <a16:creationId xmlns:a16="http://schemas.microsoft.com/office/drawing/2014/main" xmlns="" id="{1D253428-B43C-4542-84BD-CFB726807CB3}"/>
                  </a:ext>
                </a:extLst>
              </p:cNvPr>
              <p:cNvSpPr/>
              <p:nvPr/>
            </p:nvSpPr>
            <p:spPr>
              <a:xfrm flipH="1" flipV="1">
                <a:off x="1318504" y="2524261"/>
                <a:ext cx="2079815" cy="296168"/>
              </a:xfrm>
              <a:prstGeom prst="uturnArrow">
                <a:avLst>
                  <a:gd name="adj1" fmla="val 8552"/>
                  <a:gd name="adj2" fmla="val 25000"/>
                  <a:gd name="adj3" fmla="val 23505"/>
                  <a:gd name="adj4" fmla="val 43750"/>
                  <a:gd name="adj5" fmla="val 100000"/>
                </a:avLst>
              </a:prstGeom>
              <a:solidFill>
                <a:srgbClr val="666089"/>
              </a:solidFill>
              <a:ln>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66089"/>
                  </a:solidFill>
                </a:endParaRPr>
              </a:p>
            </p:txBody>
          </p:sp>
          <p:sp>
            <p:nvSpPr>
              <p:cNvPr id="53" name="TextBox 52">
                <a:extLst>
                  <a:ext uri="{FF2B5EF4-FFF2-40B4-BE49-F238E27FC236}">
                    <a16:creationId xmlns:a16="http://schemas.microsoft.com/office/drawing/2014/main" xmlns="" id="{130C49B6-8CC0-47F2-A788-49F377287301}"/>
                  </a:ext>
                </a:extLst>
              </p:cNvPr>
              <p:cNvSpPr txBox="1"/>
              <p:nvPr/>
            </p:nvSpPr>
            <p:spPr>
              <a:xfrm>
                <a:off x="1912392" y="2816278"/>
                <a:ext cx="892039" cy="400110"/>
              </a:xfrm>
              <a:prstGeom prst="rect">
                <a:avLst/>
              </a:prstGeom>
              <a:noFill/>
              <a:ln>
                <a:noFill/>
              </a:ln>
            </p:spPr>
            <p:txBody>
              <a:bodyPr wrap="none" rtlCol="0">
                <a:spAutoFit/>
              </a:bodyPr>
              <a:lstStyle/>
              <a:p>
                <a:r>
                  <a:rPr lang="en-US" sz="2000" dirty="0">
                    <a:solidFill>
                      <a:srgbClr val="666089"/>
                    </a:solidFill>
                    <a:latin typeface="Century Gothic" panose="020B0502020202020204" pitchFamily="34" charset="0"/>
                  </a:rPr>
                  <a:t>BEFORE</a:t>
                </a:r>
                <a:endParaRPr lang="en-US" sz="2800" dirty="0">
                  <a:solidFill>
                    <a:srgbClr val="666089"/>
                  </a:solidFill>
                  <a:latin typeface="Century Gothic" panose="020B0502020202020204" pitchFamily="34" charset="0"/>
                </a:endParaRPr>
              </a:p>
            </p:txBody>
          </p:sp>
        </p:grpSp>
        <p:cxnSp>
          <p:nvCxnSpPr>
            <p:cNvPr id="5" name="Straight Connector 4">
              <a:extLst>
                <a:ext uri="{FF2B5EF4-FFF2-40B4-BE49-F238E27FC236}">
                  <a16:creationId xmlns:a16="http://schemas.microsoft.com/office/drawing/2014/main" xmlns="" id="{0BBECAE5-54E8-C04A-A6F9-0BDDA0C3C199}"/>
                </a:ext>
              </a:extLst>
            </p:cNvPr>
            <p:cNvCxnSpPr/>
            <p:nvPr/>
          </p:nvCxnSpPr>
          <p:spPr>
            <a:xfrm flipV="1">
              <a:off x="7467600" y="3352800"/>
              <a:ext cx="0" cy="458998"/>
            </a:xfrm>
            <a:prstGeom prst="line">
              <a:avLst/>
            </a:prstGeom>
            <a:ln w="38100">
              <a:solidFill>
                <a:srgbClr val="66608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p:cNvSpPr txBox="1"/>
          <p:nvPr/>
        </p:nvSpPr>
        <p:spPr>
          <a:xfrm>
            <a:off x="598207" y="1277034"/>
            <a:ext cx="3072938" cy="646331"/>
          </a:xfrm>
          <a:prstGeom prst="rect">
            <a:avLst/>
          </a:prstGeom>
          <a:noFill/>
        </p:spPr>
        <p:txBody>
          <a:bodyPr wrap="square" rtlCol="0">
            <a:spAutoFit/>
          </a:bodyPr>
          <a:lstStyle/>
          <a:p>
            <a:r>
              <a:rPr lang="en-US" b="1" i="1" dirty="0">
                <a:solidFill>
                  <a:srgbClr val="C27990"/>
                </a:solidFill>
                <a:latin typeface="Century Gothic" charset="0"/>
                <a:ea typeface="Century Gothic" charset="0"/>
                <a:cs typeface="Century Gothic" charset="0"/>
              </a:rPr>
              <a:t>Event</a:t>
            </a:r>
            <a:r>
              <a:rPr lang="en-US" i="1" dirty="0">
                <a:solidFill>
                  <a:srgbClr val="C27990"/>
                </a:solidFill>
                <a:latin typeface="Century Gothic" charset="0"/>
                <a:ea typeface="Century Gothic" charset="0"/>
                <a:cs typeface="Century Gothic" charset="0"/>
              </a:rPr>
              <a:t>: An action or state headed by a verb</a:t>
            </a:r>
          </a:p>
        </p:txBody>
      </p:sp>
    </p:spTree>
    <p:extLst>
      <p:ext uri="{BB962C8B-B14F-4D97-AF65-F5344CB8AC3E}">
        <p14:creationId xmlns:p14="http://schemas.microsoft.com/office/powerpoint/2010/main" val="1658814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nodeType="click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wipe(right)">
                                      <p:cBhvr>
                                        <p:cTn id="19" dur="500"/>
                                        <p:tgtEl>
                                          <p:spTgt spid="5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righ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animBg="1"/>
      <p:bldP spid="11"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4644"/>
            <a:ext cx="8534400" cy="5186156"/>
          </a:xfrm>
        </p:spPr>
        <p:txBody>
          <a:bodyPr/>
          <a:lstStyle/>
          <a:p>
            <a:pPr marL="0" indent="0">
              <a:buNone/>
            </a:pPr>
            <a:r>
              <a:rPr lang="en-US" sz="2400" i="1" dirty="0"/>
              <a:t>In Los Angeles that lesson was brought home Friday when tons of earth </a:t>
            </a:r>
            <a:r>
              <a:rPr lang="en-US" sz="2400" b="1" i="1" dirty="0">
                <a:solidFill>
                  <a:srgbClr val="C17A90"/>
                </a:solidFill>
              </a:rPr>
              <a:t>cascaded</a:t>
            </a:r>
            <a:r>
              <a:rPr lang="en-US" sz="2400" i="1" dirty="0">
                <a:solidFill>
                  <a:srgbClr val="FF0000"/>
                </a:solidFill>
              </a:rPr>
              <a:t> </a:t>
            </a:r>
            <a:r>
              <a:rPr lang="en-US" sz="2400" i="1" dirty="0"/>
              <a:t>down a hillside, </a:t>
            </a:r>
            <a:r>
              <a:rPr lang="en-US" sz="2400" b="1" i="1" dirty="0">
                <a:solidFill>
                  <a:srgbClr val="C17A90"/>
                </a:solidFill>
              </a:rPr>
              <a:t>ripping</a:t>
            </a:r>
            <a:r>
              <a:rPr lang="en-US" sz="2400" i="1" dirty="0">
                <a:solidFill>
                  <a:srgbClr val="FF0000"/>
                </a:solidFill>
              </a:rPr>
              <a:t> </a:t>
            </a:r>
            <a:r>
              <a:rPr lang="en-US" sz="2400" i="1" dirty="0"/>
              <a:t>two houses from their foundations. No one was </a:t>
            </a:r>
            <a:r>
              <a:rPr lang="en-US" sz="2400" b="1" i="1" dirty="0">
                <a:solidFill>
                  <a:srgbClr val="C17A90"/>
                </a:solidFill>
              </a:rPr>
              <a:t>hurt</a:t>
            </a:r>
            <a:r>
              <a:rPr lang="en-US" sz="2400" i="1" dirty="0"/>
              <a:t>, but firefighters </a:t>
            </a:r>
            <a:r>
              <a:rPr lang="en-US" sz="2400" b="1" i="1" dirty="0">
                <a:solidFill>
                  <a:srgbClr val="C17A90"/>
                </a:solidFill>
              </a:rPr>
              <a:t>ordered</a:t>
            </a:r>
            <a:r>
              <a:rPr lang="en-US" sz="2400" i="1" dirty="0">
                <a:solidFill>
                  <a:srgbClr val="FF0000"/>
                </a:solidFill>
              </a:rPr>
              <a:t> </a:t>
            </a:r>
            <a:r>
              <a:rPr lang="en-US" sz="2400" i="1" dirty="0"/>
              <a:t>the evacuation of nearby homes and said they'll </a:t>
            </a:r>
            <a:r>
              <a:rPr lang="en-US" sz="2400" b="1" i="1" dirty="0">
                <a:solidFill>
                  <a:srgbClr val="C17A90"/>
                </a:solidFill>
              </a:rPr>
              <a:t>monitor</a:t>
            </a:r>
            <a:r>
              <a:rPr lang="en-US" sz="2400" i="1" dirty="0">
                <a:solidFill>
                  <a:srgbClr val="FF0000"/>
                </a:solidFill>
              </a:rPr>
              <a:t> </a:t>
            </a:r>
            <a:r>
              <a:rPr lang="en-US" sz="2400" i="1" dirty="0"/>
              <a:t>the shifting ground until March 23</a:t>
            </a:r>
            <a:r>
              <a:rPr lang="en-US" sz="2400" i="1" baseline="30000" dirty="0"/>
              <a:t>rd</a:t>
            </a:r>
            <a:r>
              <a:rPr lang="en-US" sz="2400" i="1" dirty="0"/>
              <a:t>.</a:t>
            </a:r>
          </a:p>
          <a:p>
            <a:endParaRPr lang="en-US" sz="2400" i="1" dirty="0"/>
          </a:p>
          <a:p>
            <a:endParaRPr lang="en-US" sz="2400" i="1" dirty="0"/>
          </a:p>
        </p:txBody>
      </p:sp>
      <p:grpSp>
        <p:nvGrpSpPr>
          <p:cNvPr id="27" name="Group 26">
            <a:extLst>
              <a:ext uri="{FF2B5EF4-FFF2-40B4-BE49-F238E27FC236}">
                <a16:creationId xmlns:a16="http://schemas.microsoft.com/office/drawing/2014/main" xmlns="" id="{E877E13F-D9E9-4A17-84C7-47F0C9244DDE}"/>
              </a:ext>
            </a:extLst>
          </p:cNvPr>
          <p:cNvGrpSpPr/>
          <p:nvPr/>
        </p:nvGrpSpPr>
        <p:grpSpPr>
          <a:xfrm>
            <a:off x="441263" y="3581400"/>
            <a:ext cx="4545074" cy="2336661"/>
            <a:chOff x="3312194" y="1491409"/>
            <a:chExt cx="6060098" cy="3115549"/>
          </a:xfrm>
        </p:grpSpPr>
        <p:grpSp>
          <p:nvGrpSpPr>
            <p:cNvPr id="28" name="Group 27">
              <a:extLst>
                <a:ext uri="{FF2B5EF4-FFF2-40B4-BE49-F238E27FC236}">
                  <a16:creationId xmlns:a16="http://schemas.microsoft.com/office/drawing/2014/main" xmlns="" id="{17A38241-B3ED-48F0-A5D9-BD3DC99E89E3}"/>
                </a:ext>
              </a:extLst>
            </p:cNvPr>
            <p:cNvGrpSpPr/>
            <p:nvPr/>
          </p:nvGrpSpPr>
          <p:grpSpPr>
            <a:xfrm>
              <a:off x="3312194" y="1491409"/>
              <a:ext cx="6060098" cy="3115549"/>
              <a:chOff x="3312194" y="1491409"/>
              <a:chExt cx="6060098" cy="3115549"/>
            </a:xfrm>
          </p:grpSpPr>
          <p:grpSp>
            <p:nvGrpSpPr>
              <p:cNvPr id="30" name="Group 29">
                <a:extLst>
                  <a:ext uri="{FF2B5EF4-FFF2-40B4-BE49-F238E27FC236}">
                    <a16:creationId xmlns:a16="http://schemas.microsoft.com/office/drawing/2014/main" xmlns="" id="{4C95EB2A-5C7E-459A-A7A7-115296DEE9D6}"/>
                  </a:ext>
                </a:extLst>
              </p:cNvPr>
              <p:cNvGrpSpPr/>
              <p:nvPr/>
            </p:nvGrpSpPr>
            <p:grpSpPr>
              <a:xfrm>
                <a:off x="3312194" y="1491409"/>
                <a:ext cx="6060098" cy="2542680"/>
                <a:chOff x="2974846" y="1491409"/>
                <a:chExt cx="6060098" cy="2542680"/>
              </a:xfrm>
            </p:grpSpPr>
            <p:sp>
              <p:nvSpPr>
                <p:cNvPr id="36" name="TextBox 35">
                  <a:extLst>
                    <a:ext uri="{FF2B5EF4-FFF2-40B4-BE49-F238E27FC236}">
                      <a16:creationId xmlns:a16="http://schemas.microsoft.com/office/drawing/2014/main" xmlns="" id="{69231A96-B0D2-4862-A853-F2BB70CA4250}"/>
                    </a:ext>
                  </a:extLst>
                </p:cNvPr>
                <p:cNvSpPr txBox="1"/>
                <p:nvPr/>
              </p:nvSpPr>
              <p:spPr>
                <a:xfrm>
                  <a:off x="4541994" y="3526258"/>
                  <a:ext cx="1475191" cy="507831"/>
                </a:xfrm>
                <a:prstGeom prst="rect">
                  <a:avLst/>
                </a:prstGeom>
                <a:noFill/>
                <a:ln>
                  <a:noFill/>
                </a:ln>
              </p:spPr>
              <p:txBody>
                <a:bodyPr wrap="none" rtlCol="0">
                  <a:spAutoFit/>
                </a:bodyPr>
                <a:lstStyle/>
                <a:p>
                  <a:r>
                    <a:rPr lang="en-US" altLang="zh-CN" sz="1875" b="1" dirty="0">
                      <a:solidFill>
                        <a:srgbClr val="C17A90"/>
                      </a:solidFill>
                      <a:latin typeface="Times New Roman" charset="0"/>
                      <a:ea typeface="Times New Roman" charset="0"/>
                      <a:cs typeface="Times New Roman" charset="0"/>
                    </a:rPr>
                    <a:t>cascaded</a:t>
                  </a:r>
                  <a:endParaRPr lang="en-US" sz="1875" b="1" dirty="0">
                    <a:solidFill>
                      <a:srgbClr val="C17A90"/>
                    </a:solidFill>
                    <a:latin typeface="Times New Roman" charset="0"/>
                    <a:ea typeface="Times New Roman" charset="0"/>
                    <a:cs typeface="Times New Roman" charset="0"/>
                  </a:endParaRPr>
                </a:p>
              </p:txBody>
            </p:sp>
            <p:sp>
              <p:nvSpPr>
                <p:cNvPr id="37" name="TextBox 36">
                  <a:extLst>
                    <a:ext uri="{FF2B5EF4-FFF2-40B4-BE49-F238E27FC236}">
                      <a16:creationId xmlns:a16="http://schemas.microsoft.com/office/drawing/2014/main" xmlns="" id="{B92B956A-DB60-4C14-A246-235EDA984580}"/>
                    </a:ext>
                  </a:extLst>
                </p:cNvPr>
                <p:cNvSpPr txBox="1"/>
                <p:nvPr/>
              </p:nvSpPr>
              <p:spPr>
                <a:xfrm>
                  <a:off x="2974846" y="2496086"/>
                  <a:ext cx="851088" cy="507831"/>
                </a:xfrm>
                <a:prstGeom prst="rect">
                  <a:avLst/>
                </a:prstGeom>
                <a:noFill/>
                <a:ln>
                  <a:noFill/>
                </a:ln>
              </p:spPr>
              <p:txBody>
                <a:bodyPr wrap="none" rtlCol="0">
                  <a:spAutoFit/>
                </a:bodyPr>
                <a:lstStyle/>
                <a:p>
                  <a:r>
                    <a:rPr lang="en-US" sz="1875" b="1" dirty="0">
                      <a:solidFill>
                        <a:srgbClr val="C17A90"/>
                      </a:solidFill>
                      <a:latin typeface="Times New Roman" charset="0"/>
                      <a:cs typeface="Times New Roman" charset="0"/>
                    </a:rPr>
                    <a:t>hurt</a:t>
                  </a:r>
                </a:p>
              </p:txBody>
            </p:sp>
            <p:sp>
              <p:nvSpPr>
                <p:cNvPr id="38" name="TextBox 37">
                  <a:extLst>
                    <a:ext uri="{FF2B5EF4-FFF2-40B4-BE49-F238E27FC236}">
                      <a16:creationId xmlns:a16="http://schemas.microsoft.com/office/drawing/2014/main" xmlns="" id="{306FE320-D23E-4FEE-9F8E-CA98C6C5F530}"/>
                    </a:ext>
                  </a:extLst>
                </p:cNvPr>
                <p:cNvSpPr txBox="1"/>
                <p:nvPr/>
              </p:nvSpPr>
              <p:spPr>
                <a:xfrm>
                  <a:off x="4652426" y="1491409"/>
                  <a:ext cx="1261457" cy="507831"/>
                </a:xfrm>
                <a:prstGeom prst="rect">
                  <a:avLst/>
                </a:prstGeom>
                <a:noFill/>
                <a:ln>
                  <a:noFill/>
                </a:ln>
              </p:spPr>
              <p:txBody>
                <a:bodyPr wrap="none" rtlCol="0">
                  <a:spAutoFit/>
                </a:bodyPr>
                <a:lstStyle/>
                <a:p>
                  <a:r>
                    <a:rPr lang="en-US" sz="1875" b="1" dirty="0">
                      <a:solidFill>
                        <a:srgbClr val="C17A90"/>
                      </a:solidFill>
                      <a:latin typeface="Times New Roman" charset="0"/>
                      <a:cs typeface="Times New Roman" charset="0"/>
                    </a:rPr>
                    <a:t>ripping</a:t>
                  </a:r>
                </a:p>
              </p:txBody>
            </p:sp>
            <p:sp>
              <p:nvSpPr>
                <p:cNvPr id="39" name="TextBox 38">
                  <a:extLst>
                    <a:ext uri="{FF2B5EF4-FFF2-40B4-BE49-F238E27FC236}">
                      <a16:creationId xmlns:a16="http://schemas.microsoft.com/office/drawing/2014/main" xmlns="" id="{49003EBB-30C2-4A6E-9B7E-9B8B4726829D}"/>
                    </a:ext>
                  </a:extLst>
                </p:cNvPr>
                <p:cNvSpPr txBox="1"/>
                <p:nvPr/>
              </p:nvSpPr>
              <p:spPr>
                <a:xfrm>
                  <a:off x="7683716" y="3518755"/>
                  <a:ext cx="1328313" cy="507831"/>
                </a:xfrm>
                <a:prstGeom prst="rect">
                  <a:avLst/>
                </a:prstGeom>
                <a:noFill/>
                <a:ln>
                  <a:noFill/>
                </a:ln>
              </p:spPr>
              <p:txBody>
                <a:bodyPr wrap="none" rtlCol="0">
                  <a:spAutoFit/>
                </a:bodyPr>
                <a:lstStyle/>
                <a:p>
                  <a:r>
                    <a:rPr lang="en-US" sz="1875" b="1" dirty="0">
                      <a:solidFill>
                        <a:srgbClr val="C17A90"/>
                      </a:solidFill>
                      <a:latin typeface="Times New Roman" charset="0"/>
                      <a:ea typeface="Times New Roman" charset="0"/>
                      <a:cs typeface="Times New Roman" charset="0"/>
                    </a:rPr>
                    <a:t>ordered</a:t>
                  </a:r>
                </a:p>
              </p:txBody>
            </p:sp>
            <p:cxnSp>
              <p:nvCxnSpPr>
                <p:cNvPr id="40" name="Straight Arrow Connector 39">
                  <a:extLst>
                    <a:ext uri="{FF2B5EF4-FFF2-40B4-BE49-F238E27FC236}">
                      <a16:creationId xmlns:a16="http://schemas.microsoft.com/office/drawing/2014/main" xmlns="" id="{0BACCC43-6CC5-4C3C-8E5E-F9F927F8B94F}"/>
                    </a:ext>
                  </a:extLst>
                </p:cNvPr>
                <p:cNvCxnSpPr/>
                <p:nvPr/>
              </p:nvCxnSpPr>
              <p:spPr>
                <a:xfrm flipH="1">
                  <a:off x="5249080" y="2090343"/>
                  <a:ext cx="3832" cy="1345297"/>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xmlns="" id="{4FF3051B-1BED-4F81-84E9-9144F59A6658}"/>
                    </a:ext>
                  </a:extLst>
                </p:cNvPr>
                <p:cNvCxnSpPr/>
                <p:nvPr/>
              </p:nvCxnSpPr>
              <p:spPr>
                <a:xfrm flipH="1">
                  <a:off x="3624993" y="1745325"/>
                  <a:ext cx="1027433" cy="740620"/>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xmlns="" id="{4B33CC75-CE81-4793-BE14-84BC2B70A7B6}"/>
                    </a:ext>
                  </a:extLst>
                </p:cNvPr>
                <p:cNvCxnSpPr/>
                <p:nvPr/>
              </p:nvCxnSpPr>
              <p:spPr>
                <a:xfrm>
                  <a:off x="5507757" y="1984783"/>
                  <a:ext cx="2553980" cy="1517655"/>
                </a:xfrm>
                <a:prstGeom prst="straightConnector1">
                  <a:avLst/>
                </a:prstGeom>
                <a:ln w="31750" cmpd="sng">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xmlns="" id="{DF7A1C68-39CB-4B4F-AF30-2115BB94C260}"/>
                    </a:ext>
                  </a:extLst>
                </p:cNvPr>
                <p:cNvCxnSpPr/>
                <p:nvPr/>
              </p:nvCxnSpPr>
              <p:spPr>
                <a:xfrm flipV="1">
                  <a:off x="6017185" y="3772671"/>
                  <a:ext cx="1666532" cy="7503"/>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xmlns="" id="{BFF47532-9C5A-4318-AAFC-616F8209B108}"/>
                    </a:ext>
                  </a:extLst>
                </p:cNvPr>
                <p:cNvCxnSpPr/>
                <p:nvPr/>
              </p:nvCxnSpPr>
              <p:spPr>
                <a:xfrm flipH="1" flipV="1">
                  <a:off x="3624993" y="2995636"/>
                  <a:ext cx="917001" cy="784537"/>
                </a:xfrm>
                <a:prstGeom prst="straightConnector1">
                  <a:avLst/>
                </a:prstGeom>
                <a:ln w="31750" cmpd="sng">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xmlns="" id="{CF3EC16A-6808-436E-B8D5-2FC0C52207EE}"/>
                    </a:ext>
                  </a:extLst>
                </p:cNvPr>
                <p:cNvSpPr txBox="1"/>
                <p:nvPr/>
              </p:nvSpPr>
              <p:spPr>
                <a:xfrm>
                  <a:off x="7683717" y="1491662"/>
                  <a:ext cx="1351227" cy="507831"/>
                </a:xfrm>
                <a:prstGeom prst="rect">
                  <a:avLst/>
                </a:prstGeom>
                <a:noFill/>
                <a:ln>
                  <a:noFill/>
                </a:ln>
              </p:spPr>
              <p:txBody>
                <a:bodyPr wrap="none" rtlCol="0">
                  <a:spAutoFit/>
                </a:bodyPr>
                <a:lstStyle/>
                <a:p>
                  <a:r>
                    <a:rPr lang="en-US" sz="1875" b="1" dirty="0">
                      <a:solidFill>
                        <a:srgbClr val="C17A90"/>
                      </a:solidFill>
                      <a:latin typeface="Times New Roman" charset="0"/>
                      <a:ea typeface="Times New Roman" charset="0"/>
                      <a:cs typeface="Times New Roman" charset="0"/>
                    </a:rPr>
                    <a:t>monitor</a:t>
                  </a:r>
                </a:p>
              </p:txBody>
            </p:sp>
            <p:cxnSp>
              <p:nvCxnSpPr>
                <p:cNvPr id="46" name="Straight Connector 45">
                  <a:extLst>
                    <a:ext uri="{FF2B5EF4-FFF2-40B4-BE49-F238E27FC236}">
                      <a16:creationId xmlns:a16="http://schemas.microsoft.com/office/drawing/2014/main" xmlns="" id="{F6CE56D6-D023-4B88-B59D-400ACE613C21}"/>
                    </a:ext>
                  </a:extLst>
                </p:cNvPr>
                <p:cNvCxnSpPr/>
                <p:nvPr/>
              </p:nvCxnSpPr>
              <p:spPr>
                <a:xfrm flipH="1" flipV="1">
                  <a:off x="5913885" y="1745325"/>
                  <a:ext cx="1769832" cy="2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xmlns="" id="{C8235993-3487-4925-AE51-802546311D16}"/>
                    </a:ext>
                  </a:extLst>
                </p:cNvPr>
                <p:cNvCxnSpPr/>
                <p:nvPr/>
              </p:nvCxnSpPr>
              <p:spPr>
                <a:xfrm flipH="1">
                  <a:off x="8316583" y="2090596"/>
                  <a:ext cx="12503" cy="1306282"/>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xmlns="" id="{5F41F946-2002-4ED4-994A-76B18F3455CF}"/>
                    </a:ext>
                  </a:extLst>
                </p:cNvPr>
                <p:cNvCxnSpPr/>
                <p:nvPr/>
              </p:nvCxnSpPr>
              <p:spPr>
                <a:xfrm flipH="1">
                  <a:off x="5503925" y="2090596"/>
                  <a:ext cx="2825161" cy="1450604"/>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xmlns="" id="{34F1B8A9-5B03-4D1A-B2D7-9B58D51F6443}"/>
                    </a:ext>
                  </a:extLst>
                </p:cNvPr>
                <p:cNvCxnSpPr/>
                <p:nvPr/>
              </p:nvCxnSpPr>
              <p:spPr>
                <a:xfrm flipH="1">
                  <a:off x="3730553" y="1985036"/>
                  <a:ext cx="4343687" cy="75575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xmlns="" id="{055368C6-EDCB-430A-B566-1458ED901E29}"/>
                  </a:ext>
                </a:extLst>
              </p:cNvPr>
              <p:cNvGrpSpPr/>
              <p:nvPr/>
            </p:nvGrpSpPr>
            <p:grpSpPr>
              <a:xfrm>
                <a:off x="4851183" y="4268403"/>
                <a:ext cx="3254802" cy="338555"/>
                <a:chOff x="2403791" y="4308587"/>
                <a:chExt cx="3254802" cy="338555"/>
              </a:xfrm>
            </p:grpSpPr>
            <p:cxnSp>
              <p:nvCxnSpPr>
                <p:cNvPr id="32" name="Straight Arrow Connector 31">
                  <a:extLst>
                    <a:ext uri="{FF2B5EF4-FFF2-40B4-BE49-F238E27FC236}">
                      <a16:creationId xmlns:a16="http://schemas.microsoft.com/office/drawing/2014/main" xmlns="" id="{1790034E-07E3-4A1D-A4A6-9B3839F3BF3F}"/>
                    </a:ext>
                  </a:extLst>
                </p:cNvPr>
                <p:cNvCxnSpPr/>
                <p:nvPr/>
              </p:nvCxnSpPr>
              <p:spPr>
                <a:xfrm flipV="1">
                  <a:off x="2403791" y="4459632"/>
                  <a:ext cx="457200" cy="5687"/>
                </a:xfrm>
                <a:prstGeom prst="straightConnector1">
                  <a:avLst/>
                </a:prstGeom>
                <a:ln w="6350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xmlns="" id="{4CDA7464-9DEF-4ECF-8EB3-DA28951C95A3}"/>
                    </a:ext>
                  </a:extLst>
                </p:cNvPr>
                <p:cNvSpPr txBox="1"/>
                <p:nvPr/>
              </p:nvSpPr>
              <p:spPr>
                <a:xfrm>
                  <a:off x="2806030" y="4308587"/>
                  <a:ext cx="887422"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BEFORE</a:t>
                  </a:r>
                  <a:endParaRPr lang="en-US" b="1" dirty="0">
                    <a:solidFill>
                      <a:srgbClr val="666089"/>
                    </a:solidFill>
                    <a:latin typeface="Courier" charset="0"/>
                    <a:ea typeface="Courier" charset="0"/>
                    <a:cs typeface="Courier" charset="0"/>
                  </a:endParaRPr>
                </a:p>
              </p:txBody>
            </p:sp>
            <p:cxnSp>
              <p:nvCxnSpPr>
                <p:cNvPr id="34" name="Straight Arrow Connector 33">
                  <a:extLst>
                    <a:ext uri="{FF2B5EF4-FFF2-40B4-BE49-F238E27FC236}">
                      <a16:creationId xmlns:a16="http://schemas.microsoft.com/office/drawing/2014/main" xmlns="" id="{3698058B-8FA1-4E6D-AED0-E7432B76635D}"/>
                    </a:ext>
                  </a:extLst>
                </p:cNvPr>
                <p:cNvCxnSpPr/>
                <p:nvPr/>
              </p:nvCxnSpPr>
              <p:spPr>
                <a:xfrm flipV="1">
                  <a:off x="3834597" y="4459632"/>
                  <a:ext cx="457200" cy="0"/>
                </a:xfrm>
                <a:prstGeom prst="straightConnector1">
                  <a:avLst/>
                </a:prstGeom>
                <a:ln w="88900" cmpd="dbl">
                  <a:solidFill>
                    <a:schemeClr val="bg2"/>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xmlns="" id="{383684F5-6E3C-428D-B627-C1F6F491FD1A}"/>
                    </a:ext>
                  </a:extLst>
                </p:cNvPr>
                <p:cNvSpPr txBox="1"/>
                <p:nvPr/>
              </p:nvSpPr>
              <p:spPr>
                <a:xfrm>
                  <a:off x="4236836" y="4308587"/>
                  <a:ext cx="1421757"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BE_INCLUDED</a:t>
                  </a:r>
                  <a:endParaRPr lang="en-US" b="1" dirty="0">
                    <a:solidFill>
                      <a:srgbClr val="666089"/>
                    </a:solidFill>
                    <a:latin typeface="Courier" charset="0"/>
                    <a:ea typeface="Courier" charset="0"/>
                    <a:cs typeface="Courier" charset="0"/>
                  </a:endParaRPr>
                </a:p>
              </p:txBody>
            </p:sp>
          </p:grpSp>
        </p:grpSp>
        <p:cxnSp>
          <p:nvCxnSpPr>
            <p:cNvPr id="29" name="Straight Connector 28">
              <a:extLst>
                <a:ext uri="{FF2B5EF4-FFF2-40B4-BE49-F238E27FC236}">
                  <a16:creationId xmlns:a16="http://schemas.microsoft.com/office/drawing/2014/main" xmlns="" id="{37576C52-D3C3-4A84-ACE8-9DBA2AD73360}"/>
                </a:ext>
              </a:extLst>
            </p:cNvPr>
            <p:cNvCxnSpPr/>
            <p:nvPr/>
          </p:nvCxnSpPr>
          <p:spPr>
            <a:xfrm flipH="1" flipV="1">
              <a:off x="4102797" y="2734614"/>
              <a:ext cx="4203231" cy="89923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grpSp>
      <p:graphicFrame>
        <p:nvGraphicFramePr>
          <p:cNvPr id="51" name="Table 50"/>
          <p:cNvGraphicFramePr>
            <a:graphicFrameLocks noGrp="1"/>
          </p:cNvGraphicFramePr>
          <p:nvPr>
            <p:extLst>
              <p:ext uri="{D42A27DB-BD31-4B8C-83A1-F6EECF244321}">
                <p14:modId xmlns:p14="http://schemas.microsoft.com/office/powerpoint/2010/main" val="2416847297"/>
              </p:ext>
            </p:extLst>
          </p:nvPr>
        </p:nvGraphicFramePr>
        <p:xfrm>
          <a:off x="5219544" y="4002103"/>
          <a:ext cx="3428277" cy="1377998"/>
        </p:xfrm>
        <a:graphic>
          <a:graphicData uri="http://schemas.openxmlformats.org/drawingml/2006/table">
            <a:tbl>
              <a:tblPr firstRow="1" bandRow="1">
                <a:tableStyleId>{2D5ABB26-0587-4C30-8999-92F81FD0307C}</a:tableStyleId>
              </a:tblPr>
              <a:tblGrid>
                <a:gridCol w="2229281">
                  <a:extLst>
                    <a:ext uri="{9D8B030D-6E8A-4147-A177-3AD203B41FA5}">
                      <a16:colId xmlns:a16="http://schemas.microsoft.com/office/drawing/2014/main" xmlns="" val="20000"/>
                    </a:ext>
                  </a:extLst>
                </a:gridCol>
                <a:gridCol w="1198996">
                  <a:extLst>
                    <a:ext uri="{9D8B030D-6E8A-4147-A177-3AD203B41FA5}">
                      <a16:colId xmlns:a16="http://schemas.microsoft.com/office/drawing/2014/main" xmlns="" val="20001"/>
                    </a:ext>
                  </a:extLst>
                </a:gridCol>
              </a:tblGrid>
              <a:tr h="597692">
                <a:tc>
                  <a:txBody>
                    <a:bodyPr/>
                    <a:lstStyle/>
                    <a:p>
                      <a:pPr algn="ctr"/>
                      <a:r>
                        <a:rPr lang="en-US" sz="1700" dirty="0">
                          <a:solidFill>
                            <a:schemeClr val="bg2"/>
                          </a:solidFill>
                          <a:latin typeface="Century Gothic" panose="020B0502020202020204" pitchFamily="34" charset="0"/>
                        </a:rPr>
                        <a:t>Temporal relation extraction</a:t>
                      </a:r>
                    </a:p>
                  </a:txBody>
                  <a:tcPr marL="94372" marR="94372" marT="47186" marB="4718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E6E5CF">
                        <a:alpha val="78039"/>
                      </a:srgbClr>
                    </a:solidFill>
                  </a:tcPr>
                </a:tc>
                <a:tc>
                  <a:txBody>
                    <a:bodyPr/>
                    <a:lstStyle/>
                    <a:p>
                      <a:pPr algn="ctr"/>
                      <a:r>
                        <a:rPr lang="en-US" sz="1700" dirty="0">
                          <a:solidFill>
                            <a:schemeClr val="bg2"/>
                          </a:solidFill>
                          <a:latin typeface="Century Gothic" panose="020B0502020202020204" pitchFamily="34" charset="0"/>
                        </a:rPr>
                        <a:t>Literature F1</a:t>
                      </a:r>
                      <a:r>
                        <a:rPr lang="en-US" sz="1700" baseline="0" dirty="0">
                          <a:solidFill>
                            <a:schemeClr val="bg2"/>
                          </a:solidFill>
                          <a:latin typeface="Century Gothic" panose="020B0502020202020204" pitchFamily="34" charset="0"/>
                        </a:rPr>
                        <a:t> (</a:t>
                      </a:r>
                      <a:r>
                        <a:rPr lang="en-US" sz="1700" dirty="0">
                          <a:solidFill>
                            <a:schemeClr val="bg2"/>
                          </a:solidFill>
                          <a:latin typeface="Century Gothic" panose="020B0502020202020204" pitchFamily="34" charset="0"/>
                        </a:rPr>
                        <a:t>%)</a:t>
                      </a:r>
                    </a:p>
                  </a:txBody>
                  <a:tcPr marL="94372" marR="94372" marT="47186" marB="4718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E6E5CF">
                        <a:alpha val="78039"/>
                      </a:srgbClr>
                    </a:solidFill>
                  </a:tcPr>
                </a:tc>
                <a:extLst>
                  <a:ext uri="{0D108BD9-81ED-4DB2-BD59-A6C34878D82A}">
                    <a16:rowId xmlns:a16="http://schemas.microsoft.com/office/drawing/2014/main" xmlns="" val="10000"/>
                  </a:ext>
                </a:extLst>
              </a:tr>
              <a:tr h="382733">
                <a:tc>
                  <a:txBody>
                    <a:bodyPr/>
                    <a:lstStyle/>
                    <a:p>
                      <a:pPr algn="ctr"/>
                      <a:r>
                        <a:rPr lang="en-US" sz="1700" dirty="0">
                          <a:solidFill>
                            <a:schemeClr val="bg2"/>
                          </a:solidFill>
                          <a:latin typeface="Century Gothic" panose="020B0502020202020204" pitchFamily="34" charset="0"/>
                        </a:rPr>
                        <a:t>w/ gold events</a:t>
                      </a:r>
                    </a:p>
                  </a:txBody>
                  <a:tcPr marL="94372" marR="94372" marT="47186" marB="4718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solidFill>
                            <a:schemeClr val="bg2"/>
                          </a:solidFill>
                          <a:latin typeface="Century Gothic" panose="020B0502020202020204" pitchFamily="34" charset="0"/>
                        </a:rPr>
                        <a:t>low 50’s</a:t>
                      </a:r>
                    </a:p>
                  </a:txBody>
                  <a:tcPr marL="94372" marR="94372" marT="47186" marB="4718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382733">
                <a:tc>
                  <a:txBody>
                    <a:bodyPr/>
                    <a:lstStyle/>
                    <a:p>
                      <a:pPr algn="ctr"/>
                      <a:r>
                        <a:rPr lang="en-US" sz="1700" baseline="0" dirty="0">
                          <a:solidFill>
                            <a:schemeClr val="bg2"/>
                          </a:solidFill>
                          <a:latin typeface="Century Gothic" panose="020B0502020202020204" pitchFamily="34" charset="0"/>
                        </a:rPr>
                        <a:t>w/o gold events</a:t>
                      </a:r>
                      <a:endParaRPr lang="en-US" sz="1700" dirty="0">
                        <a:solidFill>
                          <a:schemeClr val="bg2"/>
                        </a:solidFill>
                        <a:latin typeface="Century Gothic" panose="020B0502020202020204" pitchFamily="34" charset="0"/>
                      </a:endParaRPr>
                    </a:p>
                  </a:txBody>
                  <a:tcPr marL="94372" marR="94372" marT="47186" marB="4718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solidFill>
                            <a:schemeClr val="bg2"/>
                          </a:solidFill>
                          <a:latin typeface="Century Gothic" panose="020B0502020202020204" pitchFamily="34" charset="0"/>
                        </a:rPr>
                        <a:t>low 30’s</a:t>
                      </a:r>
                    </a:p>
                  </a:txBody>
                  <a:tcPr marL="94372" marR="94372" marT="47186" marB="4718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bl>
          </a:graphicData>
        </a:graphic>
      </p:graphicFrame>
      <p:sp>
        <p:nvSpPr>
          <p:cNvPr id="4" name="TextBox 3"/>
          <p:cNvSpPr txBox="1"/>
          <p:nvPr/>
        </p:nvSpPr>
        <p:spPr>
          <a:xfrm>
            <a:off x="5581272" y="3517900"/>
            <a:ext cx="3033527" cy="461665"/>
          </a:xfrm>
          <a:prstGeom prst="rect">
            <a:avLst/>
          </a:prstGeom>
          <a:noFill/>
        </p:spPr>
        <p:txBody>
          <a:bodyPr wrap="square" rtlCol="0">
            <a:spAutoFit/>
          </a:bodyPr>
          <a:lstStyle/>
          <a:p>
            <a:r>
              <a:rPr lang="en-US" sz="2400" dirty="0">
                <a:solidFill>
                  <a:schemeClr val="bg2"/>
                </a:solidFill>
                <a:latin typeface="Century Gothic" panose="020B0502020202020204" pitchFamily="34" charset="0"/>
              </a:rPr>
              <a:t>This task is difficult:</a:t>
            </a:r>
          </a:p>
        </p:txBody>
      </p:sp>
      <p:sp>
        <p:nvSpPr>
          <p:cNvPr id="5" name="TextBox 4">
            <a:extLst>
              <a:ext uri="{FF2B5EF4-FFF2-40B4-BE49-F238E27FC236}">
                <a16:creationId xmlns:a16="http://schemas.microsoft.com/office/drawing/2014/main" xmlns="" id="{45C66110-64DD-4CE7-B8DF-6EC293F0889F}"/>
              </a:ext>
            </a:extLst>
          </p:cNvPr>
          <p:cNvSpPr txBox="1"/>
          <p:nvPr/>
        </p:nvSpPr>
        <p:spPr>
          <a:xfrm>
            <a:off x="381000" y="1218767"/>
            <a:ext cx="8915400" cy="461665"/>
          </a:xfrm>
          <a:prstGeom prst="rect">
            <a:avLst/>
          </a:prstGeom>
          <a:noFill/>
        </p:spPr>
        <p:txBody>
          <a:bodyPr wrap="square" rtlCol="0">
            <a:spAutoFit/>
          </a:bodyPr>
          <a:lstStyle/>
          <a:p>
            <a:pPr>
              <a:buSzPct val="65000"/>
            </a:pPr>
            <a:r>
              <a:rPr lang="en-US" sz="2400" dirty="0">
                <a:solidFill>
                  <a:schemeClr val="bg2"/>
                </a:solidFill>
                <a:latin typeface="Century Gothic" panose="020B0502020202020204" pitchFamily="34" charset="0"/>
              </a:rPr>
              <a:t>The task is to label those edges in temporal graphs.</a:t>
            </a:r>
            <a:endParaRPr lang="en-US" sz="2400" dirty="0">
              <a:solidFill>
                <a:schemeClr val="bg2"/>
              </a:solidFill>
              <a:latin typeface="Century Gothic" panose="020B0502020202020204" pitchFamily="34" charset="0"/>
              <a:cs typeface="Calibri" panose="020F0502020204030204" pitchFamily="34" charset="0"/>
            </a:endParaRPr>
          </a:p>
        </p:txBody>
      </p:sp>
      <p:sp>
        <p:nvSpPr>
          <p:cNvPr id="2" name="Title 1"/>
          <p:cNvSpPr>
            <a:spLocks noGrp="1"/>
          </p:cNvSpPr>
          <p:nvPr>
            <p:ph type="title"/>
          </p:nvPr>
        </p:nvSpPr>
        <p:spPr>
          <a:xfrm>
            <a:off x="676274" y="228600"/>
            <a:ext cx="8620126" cy="533400"/>
          </a:xfrm>
        </p:spPr>
        <p:txBody>
          <a:bodyPr/>
          <a:lstStyle/>
          <a:p>
            <a:r>
              <a:rPr lang="en-US" dirty="0"/>
              <a:t>Multiple events form a situation</a:t>
            </a:r>
          </a:p>
        </p:txBody>
      </p:sp>
      <p:sp>
        <p:nvSpPr>
          <p:cNvPr id="50" name="Title 1"/>
          <p:cNvSpPr txBox="1">
            <a:spLocks/>
          </p:cNvSpPr>
          <p:nvPr/>
        </p:nvSpPr>
        <p:spPr bwMode="auto">
          <a:xfrm>
            <a:off x="672028" y="232724"/>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2400" b="0" kern="1200" cap="small" baseline="0">
                <a:solidFill>
                  <a:srgbClr val="A7001B"/>
                </a:solidFill>
                <a:latin typeface="Calibri" panose="020F050202020403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cap="none" dirty="0">
                <a:solidFill>
                  <a:schemeClr val="bg2"/>
                </a:solidFill>
                <a:latin typeface="Century Gothic" panose="020B0502020202020204" pitchFamily="34" charset="0"/>
              </a:rPr>
              <a:t>“Temporal Graph”</a:t>
            </a:r>
          </a:p>
        </p:txBody>
      </p:sp>
    </p:spTree>
    <p:extLst>
      <p:ext uri="{BB962C8B-B14F-4D97-AF65-F5344CB8AC3E}">
        <p14:creationId xmlns:p14="http://schemas.microsoft.com/office/powerpoint/2010/main" val="21690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par>
                                <p:cTn id="13" presetID="9"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dissolve">
                                      <p:cBhvr>
                                        <p:cTn id="15" dur="500"/>
                                        <p:tgtEl>
                                          <p:spTgt spid="5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3">
                                            <p:txEl>
                                              <p:pRg st="0" end="0"/>
                                            </p:txEl>
                                          </p:spTgt>
                                        </p:tgtEl>
                                      </p:cBhvr>
                                    </p:animEffect>
                                    <p:set>
                                      <p:cBhvr>
                                        <p:cTn id="20" dur="1" fill="hold">
                                          <p:stCondLst>
                                            <p:cond delay="499"/>
                                          </p:stCondLst>
                                        </p:cTn>
                                        <p:tgtEl>
                                          <p:spTgt spid="3">
                                            <p:txEl>
                                              <p:pRg st="0" end="0"/>
                                            </p:txEl>
                                          </p:spTgt>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dissolve">
                                      <p:cBhvr>
                                        <p:cTn id="28" dur="500"/>
                                        <p:tgtEl>
                                          <p:spTgt spid="5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dissolv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4" grpId="0"/>
      <p:bldP spid="5" grpId="0"/>
      <p:bldP spid="2" grpId="0"/>
      <p:bldP spid="5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75E6A528-8DBD-A148-A719-12EA32FF22B2}"/>
              </a:ext>
            </a:extLst>
          </p:cNvPr>
          <p:cNvSpPr txBox="1">
            <a:spLocks/>
          </p:cNvSpPr>
          <p:nvPr/>
        </p:nvSpPr>
        <p:spPr bwMode="auto">
          <a:xfrm>
            <a:off x="228600" y="234146"/>
            <a:ext cx="2219326" cy="533400"/>
          </a:xfrm>
          <a:prstGeom prst="roundRect">
            <a:avLst/>
          </a:prstGeom>
          <a:noFill/>
          <a:ln w="127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2400" b="0" kern="1200" cap="small" baseline="0">
                <a:solidFill>
                  <a:srgbClr val="A7001B"/>
                </a:solidFill>
                <a:latin typeface="Calibri" panose="020F050202020403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cap="none" dirty="0">
                <a:solidFill>
                  <a:schemeClr val="bg2"/>
                </a:solidFill>
                <a:latin typeface="Century Gothic" panose="020B0502020202020204" pitchFamily="34" charset="0"/>
              </a:rPr>
              <a:t>Challenges</a:t>
            </a:r>
          </a:p>
        </p:txBody>
      </p:sp>
      <p:graphicFrame>
        <p:nvGraphicFramePr>
          <p:cNvPr id="7" name="Table 6">
            <a:extLst>
              <a:ext uri="{FF2B5EF4-FFF2-40B4-BE49-F238E27FC236}">
                <a16:creationId xmlns:a16="http://schemas.microsoft.com/office/drawing/2014/main" xmlns="" id="{C4099257-CAEA-6E49-AB0F-2B8B29891ED3}"/>
              </a:ext>
            </a:extLst>
          </p:cNvPr>
          <p:cNvGraphicFramePr>
            <a:graphicFrameLocks noGrp="1"/>
          </p:cNvGraphicFramePr>
          <p:nvPr>
            <p:extLst/>
          </p:nvPr>
        </p:nvGraphicFramePr>
        <p:xfrm>
          <a:off x="2690287" y="5607664"/>
          <a:ext cx="2491313" cy="990600"/>
        </p:xfrm>
        <a:graphic>
          <a:graphicData uri="http://schemas.openxmlformats.org/drawingml/2006/table">
            <a:tbl>
              <a:tblPr firstRow="1" bandRow="1">
                <a:tableStyleId>{2D5ABB26-0587-4C30-8999-92F81FD0307C}</a:tableStyleId>
              </a:tblPr>
              <a:tblGrid>
                <a:gridCol w="1620008">
                  <a:extLst>
                    <a:ext uri="{9D8B030D-6E8A-4147-A177-3AD203B41FA5}">
                      <a16:colId xmlns:a16="http://schemas.microsoft.com/office/drawing/2014/main" xmlns="" val="20000"/>
                    </a:ext>
                  </a:extLst>
                </a:gridCol>
                <a:gridCol w="871305">
                  <a:extLst>
                    <a:ext uri="{9D8B030D-6E8A-4147-A177-3AD203B41FA5}">
                      <a16:colId xmlns:a16="http://schemas.microsoft.com/office/drawing/2014/main" xmlns="" val="20001"/>
                    </a:ext>
                  </a:extLst>
                </a:gridCol>
              </a:tblGrid>
              <a:tr h="278130">
                <a:tc>
                  <a:txBody>
                    <a:bodyPr/>
                    <a:lstStyle/>
                    <a:p>
                      <a:pPr algn="ctr"/>
                      <a:r>
                        <a:rPr lang="en-US" sz="1200" dirty="0">
                          <a:solidFill>
                            <a:schemeClr val="bg2"/>
                          </a:solidFill>
                          <a:latin typeface="Century Gothic" panose="020B0502020202020204" pitchFamily="34" charset="0"/>
                        </a:rPr>
                        <a:t>Temporal relation extraction</a:t>
                      </a: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6078"/>
                      </a:srgbClr>
                    </a:solidFill>
                  </a:tcPr>
                </a:tc>
                <a:tc>
                  <a:txBody>
                    <a:bodyPr/>
                    <a:lstStyle/>
                    <a:p>
                      <a:pPr algn="ctr"/>
                      <a:r>
                        <a:rPr lang="en-US" sz="1200" dirty="0">
                          <a:solidFill>
                            <a:schemeClr val="bg2"/>
                          </a:solidFill>
                          <a:latin typeface="Century Gothic" panose="020B0502020202020204" pitchFamily="34" charset="0"/>
                        </a:rPr>
                        <a:t>Literature F1</a:t>
                      </a:r>
                      <a:r>
                        <a:rPr lang="en-US" sz="1200" baseline="0" dirty="0">
                          <a:solidFill>
                            <a:schemeClr val="bg2"/>
                          </a:solidFill>
                          <a:latin typeface="Century Gothic" panose="020B0502020202020204" pitchFamily="34" charset="0"/>
                        </a:rPr>
                        <a:t> (</a:t>
                      </a:r>
                      <a:r>
                        <a:rPr lang="en-US" sz="1200" dirty="0">
                          <a:solidFill>
                            <a:schemeClr val="bg2"/>
                          </a:solidFill>
                          <a:latin typeface="Century Gothic" panose="020B0502020202020204" pitchFamily="34" charset="0"/>
                        </a:rPr>
                        <a:t>%)</a:t>
                      </a: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6078"/>
                      </a:srgbClr>
                    </a:solidFill>
                  </a:tcPr>
                </a:tc>
                <a:extLst>
                  <a:ext uri="{0D108BD9-81ED-4DB2-BD59-A6C34878D82A}">
                    <a16:rowId xmlns:a16="http://schemas.microsoft.com/office/drawing/2014/main" xmlns="" val="10000"/>
                  </a:ext>
                </a:extLst>
              </a:tr>
              <a:tr h="278130">
                <a:tc>
                  <a:txBody>
                    <a:bodyPr/>
                    <a:lstStyle/>
                    <a:p>
                      <a:pPr algn="ctr"/>
                      <a:r>
                        <a:rPr lang="en-US" sz="1200" dirty="0">
                          <a:solidFill>
                            <a:schemeClr val="bg2"/>
                          </a:solidFill>
                          <a:latin typeface="Century Gothic" panose="020B0502020202020204" pitchFamily="34" charset="0"/>
                        </a:rPr>
                        <a:t>w/ gold events</a:t>
                      </a: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sz="1200" dirty="0">
                          <a:solidFill>
                            <a:schemeClr val="bg2"/>
                          </a:solidFill>
                          <a:latin typeface="Century Gothic" panose="020B0502020202020204" pitchFamily="34" charset="0"/>
                        </a:rPr>
                        <a:t>low 50’s</a:t>
                      </a: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10001"/>
                  </a:ext>
                </a:extLst>
              </a:tr>
              <a:tr h="278130">
                <a:tc>
                  <a:txBody>
                    <a:bodyPr/>
                    <a:lstStyle/>
                    <a:p>
                      <a:pPr algn="ctr"/>
                      <a:r>
                        <a:rPr lang="en-US" sz="1200" baseline="0" dirty="0">
                          <a:solidFill>
                            <a:schemeClr val="bg2"/>
                          </a:solidFill>
                          <a:latin typeface="Century Gothic" panose="020B0502020202020204" pitchFamily="34" charset="0"/>
                        </a:rPr>
                        <a:t>w/o gold events</a:t>
                      </a:r>
                      <a:endParaRPr lang="en-US" sz="1200" dirty="0">
                        <a:solidFill>
                          <a:schemeClr val="bg2"/>
                        </a:solidFill>
                        <a:latin typeface="Century Gothic" panose="020B0502020202020204" pitchFamily="34" charset="0"/>
                      </a:endParaRP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sz="1200" dirty="0">
                          <a:solidFill>
                            <a:schemeClr val="bg2"/>
                          </a:solidFill>
                          <a:latin typeface="Century Gothic" panose="020B0502020202020204" pitchFamily="34" charset="0"/>
                        </a:rPr>
                        <a:t>low 30’s</a:t>
                      </a: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
        <p:nvSpPr>
          <p:cNvPr id="9" name="TextBox 8">
            <a:extLst>
              <a:ext uri="{FF2B5EF4-FFF2-40B4-BE49-F238E27FC236}">
                <a16:creationId xmlns:a16="http://schemas.microsoft.com/office/drawing/2014/main" xmlns="" id="{1A5E9810-C158-724E-9638-99D60BA01912}"/>
              </a:ext>
            </a:extLst>
          </p:cNvPr>
          <p:cNvSpPr txBox="1"/>
          <p:nvPr/>
        </p:nvSpPr>
        <p:spPr>
          <a:xfrm>
            <a:off x="228600" y="1316754"/>
            <a:ext cx="7772400" cy="461665"/>
          </a:xfrm>
          <a:prstGeom prst="rect">
            <a:avLst/>
          </a:prstGeom>
          <a:noFill/>
        </p:spPr>
        <p:txBody>
          <a:bodyPr wrap="square" rtlCol="0">
            <a:spAutoFit/>
          </a:bodyPr>
          <a:lstStyle/>
          <a:p>
            <a:pPr lvl="0"/>
            <a:r>
              <a:rPr lang="en-US" sz="2400" dirty="0">
                <a:solidFill>
                  <a:schemeClr val="bg2"/>
                </a:solidFill>
                <a:latin typeface="Century Gothic" panose="020B0502020202020204" pitchFamily="34" charset="0"/>
              </a:rPr>
              <a:t>Interrelated events</a:t>
            </a:r>
            <a:endParaRPr lang="en-US" sz="2400" dirty="0">
              <a:solidFill>
                <a:schemeClr val="bg2"/>
              </a:solidFill>
              <a:latin typeface="Century Gothic" panose="020B0502020202020204" pitchFamily="34" charset="0"/>
              <a:cs typeface="Calibri" panose="020F0502020204030204" pitchFamily="34" charset="0"/>
            </a:endParaRPr>
          </a:p>
        </p:txBody>
      </p:sp>
      <p:sp>
        <p:nvSpPr>
          <p:cNvPr id="10" name="TextBox 9">
            <a:extLst>
              <a:ext uri="{FF2B5EF4-FFF2-40B4-BE49-F238E27FC236}">
                <a16:creationId xmlns:a16="http://schemas.microsoft.com/office/drawing/2014/main" xmlns="" id="{1DEB2E57-E691-EF44-8F7E-F2C288515831}"/>
              </a:ext>
            </a:extLst>
          </p:cNvPr>
          <p:cNvSpPr txBox="1"/>
          <p:nvPr/>
        </p:nvSpPr>
        <p:spPr>
          <a:xfrm>
            <a:off x="228600" y="2848226"/>
            <a:ext cx="7772400" cy="461665"/>
          </a:xfrm>
          <a:prstGeom prst="rect">
            <a:avLst/>
          </a:prstGeom>
          <a:noFill/>
        </p:spPr>
        <p:txBody>
          <a:bodyPr wrap="square" rtlCol="0">
            <a:spAutoFit/>
          </a:bodyPr>
          <a:lstStyle/>
          <a:p>
            <a:pPr lvl="0"/>
            <a:r>
              <a:rPr lang="en-US" sz="2400" dirty="0">
                <a:solidFill>
                  <a:schemeClr val="bg2"/>
                </a:solidFill>
                <a:latin typeface="Century Gothic" panose="020B0502020202020204" pitchFamily="34" charset="0"/>
              </a:rPr>
              <a:t>Lack of prior knowledge</a:t>
            </a:r>
            <a:endParaRPr lang="en-US" sz="2400" dirty="0">
              <a:solidFill>
                <a:schemeClr val="bg2"/>
              </a:solidFill>
              <a:latin typeface="Century Gothic" panose="020B050202020202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xmlns="" id="{0A241475-E0BE-1D43-BB87-371438F9856A}"/>
              </a:ext>
            </a:extLst>
          </p:cNvPr>
          <p:cNvSpPr txBox="1"/>
          <p:nvPr/>
        </p:nvSpPr>
        <p:spPr>
          <a:xfrm>
            <a:off x="228600" y="4379698"/>
            <a:ext cx="7772400" cy="461665"/>
          </a:xfrm>
          <a:prstGeom prst="rect">
            <a:avLst/>
          </a:prstGeom>
          <a:noFill/>
        </p:spPr>
        <p:txBody>
          <a:bodyPr wrap="square" rtlCol="0">
            <a:spAutoFit/>
          </a:bodyPr>
          <a:lstStyle/>
          <a:p>
            <a:pPr lvl="0"/>
            <a:r>
              <a:rPr lang="en-US" sz="2400" dirty="0">
                <a:solidFill>
                  <a:schemeClr val="bg2"/>
                </a:solidFill>
                <a:latin typeface="Century Gothic" panose="020B0502020202020204" pitchFamily="34" charset="0"/>
              </a:rPr>
              <a:t>Insufficient data</a:t>
            </a:r>
            <a:endParaRPr lang="en-US" sz="2400" dirty="0">
              <a:solidFill>
                <a:schemeClr val="bg2"/>
              </a:solidFill>
              <a:latin typeface="Century Gothic" panose="020B050202020202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xmlns="" id="{40B11065-091C-6A4B-97EF-151636C887DE}"/>
              </a:ext>
            </a:extLst>
          </p:cNvPr>
          <p:cNvSpPr txBox="1"/>
          <p:nvPr/>
        </p:nvSpPr>
        <p:spPr>
          <a:xfrm>
            <a:off x="228600" y="1706684"/>
            <a:ext cx="4756192" cy="707886"/>
          </a:xfrm>
          <a:prstGeom prst="rect">
            <a:avLst/>
          </a:prstGeom>
          <a:noFill/>
        </p:spPr>
        <p:txBody>
          <a:bodyPr wrap="square" rtlCol="0">
            <a:spAutoFit/>
          </a:bodyPr>
          <a:lstStyle/>
          <a:p>
            <a:pPr lvl="1">
              <a:spcBef>
                <a:spcPct val="20000"/>
              </a:spcBef>
              <a:buClr>
                <a:schemeClr val="bg2"/>
              </a:buClr>
              <a:buSzPct val="65000"/>
            </a:pPr>
            <a:r>
              <a:rPr lang="en-US" sz="2000" dirty="0">
                <a:solidFill>
                  <a:schemeClr val="bg2">
                    <a:lumMod val="75000"/>
                    <a:lumOff val="25000"/>
                  </a:schemeClr>
                </a:solidFill>
                <a:latin typeface="Century Gothic" panose="020B0502020202020204" pitchFamily="34" charset="0"/>
                <a:cs typeface="Calibri" panose="020F0502020204030204" pitchFamily="34" charset="0"/>
              </a:rPr>
              <a:t>If A&lt;B and B&lt;C, then A&lt;C (time is transitive)</a:t>
            </a:r>
          </a:p>
        </p:txBody>
      </p:sp>
      <p:sp>
        <p:nvSpPr>
          <p:cNvPr id="14" name="TextBox 13">
            <a:extLst>
              <a:ext uri="{FF2B5EF4-FFF2-40B4-BE49-F238E27FC236}">
                <a16:creationId xmlns:a16="http://schemas.microsoft.com/office/drawing/2014/main" xmlns="" id="{6A2E617E-A733-174E-B4DA-0BE58280A520}"/>
              </a:ext>
            </a:extLst>
          </p:cNvPr>
          <p:cNvSpPr txBox="1"/>
          <p:nvPr/>
        </p:nvSpPr>
        <p:spPr>
          <a:xfrm>
            <a:off x="228601" y="3274845"/>
            <a:ext cx="5105399" cy="1015663"/>
          </a:xfrm>
          <a:prstGeom prst="rect">
            <a:avLst/>
          </a:prstGeom>
          <a:noFill/>
        </p:spPr>
        <p:txBody>
          <a:bodyPr wrap="square" rtlCol="0">
            <a:spAutoFit/>
          </a:bodyPr>
          <a:lstStyle/>
          <a:p>
            <a:pPr lvl="1">
              <a:spcBef>
                <a:spcPct val="20000"/>
              </a:spcBef>
              <a:buClr>
                <a:schemeClr val="bg2"/>
              </a:buClr>
              <a:buSzPct val="65000"/>
            </a:pPr>
            <a:r>
              <a:rPr lang="en-US" sz="2000" dirty="0">
                <a:solidFill>
                  <a:schemeClr val="bg2">
                    <a:lumMod val="75000"/>
                    <a:lumOff val="25000"/>
                  </a:schemeClr>
                </a:solidFill>
                <a:latin typeface="Century Gothic" panose="020B0502020202020204" pitchFamily="34" charset="0"/>
                <a:cs typeface="Calibri" panose="020F0502020204030204" pitchFamily="34" charset="0"/>
              </a:rPr>
              <a:t>Humans have the common sense about the typical orders of events, even if a sentence doesn’t say so</a:t>
            </a:r>
            <a:endParaRPr lang="en-US" sz="2000" i="1" dirty="0">
              <a:solidFill>
                <a:schemeClr val="bg2">
                  <a:lumMod val="75000"/>
                  <a:lumOff val="25000"/>
                </a:schemeClr>
              </a:solidFill>
              <a:latin typeface="Century Gothic" panose="020B050202020202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xmlns="" id="{88DE9458-FAA8-DF42-8C6B-F9BC4928D10A}"/>
              </a:ext>
            </a:extLst>
          </p:cNvPr>
          <p:cNvSpPr txBox="1"/>
          <p:nvPr/>
        </p:nvSpPr>
        <p:spPr>
          <a:xfrm>
            <a:off x="228600" y="4760698"/>
            <a:ext cx="5486400" cy="400110"/>
          </a:xfrm>
          <a:prstGeom prst="rect">
            <a:avLst/>
          </a:prstGeom>
          <a:noFill/>
        </p:spPr>
        <p:txBody>
          <a:bodyPr wrap="square" rtlCol="0">
            <a:spAutoFit/>
          </a:bodyPr>
          <a:lstStyle/>
          <a:p>
            <a:pPr lvl="1">
              <a:spcBef>
                <a:spcPct val="20000"/>
              </a:spcBef>
              <a:buClr>
                <a:schemeClr val="bg2"/>
              </a:buClr>
              <a:buSzPct val="65000"/>
            </a:pPr>
            <a:r>
              <a:rPr lang="en-US" sz="2000" dirty="0">
                <a:solidFill>
                  <a:schemeClr val="bg2">
                    <a:lumMod val="75000"/>
                    <a:lumOff val="25000"/>
                  </a:schemeClr>
                </a:solidFill>
                <a:latin typeface="Century Gothic" panose="020B0502020202020204" pitchFamily="34" charset="0"/>
                <a:cs typeface="Calibri" panose="020F0502020204030204" pitchFamily="34" charset="0"/>
              </a:rPr>
              <a:t>#edges is quadratic in terms of #nodes</a:t>
            </a:r>
          </a:p>
        </p:txBody>
      </p:sp>
      <p:sp>
        <p:nvSpPr>
          <p:cNvPr id="23" name="TextBox 22">
            <a:extLst>
              <a:ext uri="{FF2B5EF4-FFF2-40B4-BE49-F238E27FC236}">
                <a16:creationId xmlns:a16="http://schemas.microsoft.com/office/drawing/2014/main" xmlns="" id="{A1EEFF12-CB24-5C46-97C3-7EAFCAF591C9}"/>
              </a:ext>
            </a:extLst>
          </p:cNvPr>
          <p:cNvSpPr txBox="1"/>
          <p:nvPr/>
        </p:nvSpPr>
        <p:spPr>
          <a:xfrm>
            <a:off x="5715000" y="1310843"/>
            <a:ext cx="3657600" cy="461665"/>
          </a:xfrm>
          <a:prstGeom prst="rect">
            <a:avLst/>
          </a:prstGeom>
          <a:noFill/>
        </p:spPr>
        <p:txBody>
          <a:bodyPr wrap="square" rtlCol="0">
            <a:spAutoFit/>
          </a:bodyPr>
          <a:lstStyle/>
          <a:p>
            <a:pPr lvl="1">
              <a:spcBef>
                <a:spcPct val="20000"/>
              </a:spcBef>
              <a:buClr>
                <a:srgbClr val="400080"/>
              </a:buClr>
              <a:buSzPct val="65000"/>
            </a:pPr>
            <a:r>
              <a:rPr lang="en-US" sz="2400" dirty="0">
                <a:solidFill>
                  <a:srgbClr val="6881B4"/>
                </a:solidFill>
                <a:latin typeface="Century Gothic" panose="020B0502020202020204" pitchFamily="34" charset="0"/>
              </a:rPr>
              <a:t>Structured learning</a:t>
            </a:r>
          </a:p>
        </p:txBody>
      </p:sp>
      <p:sp>
        <p:nvSpPr>
          <p:cNvPr id="24" name="TextBox 23">
            <a:extLst>
              <a:ext uri="{FF2B5EF4-FFF2-40B4-BE49-F238E27FC236}">
                <a16:creationId xmlns:a16="http://schemas.microsoft.com/office/drawing/2014/main" xmlns="" id="{844E813A-3E96-6444-A4A4-F314844CA29E}"/>
              </a:ext>
            </a:extLst>
          </p:cNvPr>
          <p:cNvSpPr txBox="1"/>
          <p:nvPr/>
        </p:nvSpPr>
        <p:spPr>
          <a:xfrm>
            <a:off x="5715000" y="2879004"/>
            <a:ext cx="3657600" cy="461665"/>
          </a:xfrm>
          <a:prstGeom prst="rect">
            <a:avLst/>
          </a:prstGeom>
          <a:noFill/>
        </p:spPr>
        <p:txBody>
          <a:bodyPr wrap="square" rtlCol="0">
            <a:spAutoFit/>
          </a:bodyPr>
          <a:lstStyle/>
          <a:p>
            <a:pPr lvl="1">
              <a:spcBef>
                <a:spcPct val="20000"/>
              </a:spcBef>
              <a:buClr>
                <a:srgbClr val="400080"/>
              </a:buClr>
              <a:buSzPct val="65000"/>
            </a:pPr>
            <a:r>
              <a:rPr lang="en-US" sz="2400" dirty="0">
                <a:solidFill>
                  <a:srgbClr val="6881B4"/>
                </a:solidFill>
                <a:latin typeface="Century Gothic" panose="020B0502020202020204" pitchFamily="34" charset="0"/>
              </a:rPr>
              <a:t>Common sense</a:t>
            </a:r>
          </a:p>
        </p:txBody>
      </p:sp>
      <p:sp>
        <p:nvSpPr>
          <p:cNvPr id="25" name="TextBox 24">
            <a:extLst>
              <a:ext uri="{FF2B5EF4-FFF2-40B4-BE49-F238E27FC236}">
                <a16:creationId xmlns:a16="http://schemas.microsoft.com/office/drawing/2014/main" xmlns="" id="{4958F66E-BF6B-6F40-B170-C542A7D0D288}"/>
              </a:ext>
            </a:extLst>
          </p:cNvPr>
          <p:cNvSpPr txBox="1"/>
          <p:nvPr/>
        </p:nvSpPr>
        <p:spPr>
          <a:xfrm>
            <a:off x="5715000" y="4333288"/>
            <a:ext cx="3276600" cy="461665"/>
          </a:xfrm>
          <a:prstGeom prst="rect">
            <a:avLst/>
          </a:prstGeom>
          <a:noFill/>
        </p:spPr>
        <p:txBody>
          <a:bodyPr wrap="square" rtlCol="0">
            <a:spAutoFit/>
          </a:bodyPr>
          <a:lstStyle/>
          <a:p>
            <a:pPr lvl="1">
              <a:spcBef>
                <a:spcPct val="20000"/>
              </a:spcBef>
              <a:buClr>
                <a:srgbClr val="400080"/>
              </a:buClr>
              <a:buSzPct val="65000"/>
            </a:pPr>
            <a:r>
              <a:rPr lang="en-US" sz="2400" dirty="0">
                <a:solidFill>
                  <a:srgbClr val="6881B4"/>
                </a:solidFill>
                <a:latin typeface="Century Gothic" panose="020B0502020202020204" pitchFamily="34" charset="0"/>
              </a:rPr>
              <a:t>Data annotation</a:t>
            </a:r>
          </a:p>
        </p:txBody>
      </p:sp>
      <p:graphicFrame>
        <p:nvGraphicFramePr>
          <p:cNvPr id="19" name="Table 18">
            <a:extLst>
              <a:ext uri="{FF2B5EF4-FFF2-40B4-BE49-F238E27FC236}">
                <a16:creationId xmlns:a16="http://schemas.microsoft.com/office/drawing/2014/main" xmlns="" id="{C4099257-CAEA-6E49-AB0F-2B8B29891ED3}"/>
              </a:ext>
            </a:extLst>
          </p:cNvPr>
          <p:cNvGraphicFramePr>
            <a:graphicFrameLocks noGrp="1"/>
          </p:cNvGraphicFramePr>
          <p:nvPr>
            <p:extLst/>
          </p:nvPr>
        </p:nvGraphicFramePr>
        <p:xfrm>
          <a:off x="5181600" y="5607664"/>
          <a:ext cx="871305" cy="990600"/>
        </p:xfrm>
        <a:graphic>
          <a:graphicData uri="http://schemas.openxmlformats.org/drawingml/2006/table">
            <a:tbl>
              <a:tblPr firstRow="1" bandRow="1">
                <a:tableStyleId>{2D5ABB26-0587-4C30-8999-92F81FD0307C}</a:tableStyleId>
              </a:tblPr>
              <a:tblGrid>
                <a:gridCol w="871305">
                  <a:extLst>
                    <a:ext uri="{9D8B030D-6E8A-4147-A177-3AD203B41FA5}">
                      <a16:colId xmlns:a16="http://schemas.microsoft.com/office/drawing/2014/main" xmlns="" val="20001"/>
                    </a:ext>
                  </a:extLst>
                </a:gridCol>
              </a:tblGrid>
              <a:tr h="278130">
                <a:tc>
                  <a:txBody>
                    <a:bodyPr/>
                    <a:lstStyle/>
                    <a:p>
                      <a:pPr algn="ctr"/>
                      <a:r>
                        <a:rPr lang="en-US" sz="1200" dirty="0">
                          <a:solidFill>
                            <a:schemeClr val="bg2"/>
                          </a:solidFill>
                          <a:latin typeface="Century Gothic" panose="020B0502020202020204" pitchFamily="34" charset="0"/>
                        </a:rPr>
                        <a:t>Our F1</a:t>
                      </a:r>
                      <a:r>
                        <a:rPr lang="en-US" sz="1200" baseline="0" dirty="0">
                          <a:solidFill>
                            <a:schemeClr val="bg2"/>
                          </a:solidFill>
                          <a:latin typeface="Century Gothic" panose="020B0502020202020204" pitchFamily="34" charset="0"/>
                        </a:rPr>
                        <a:t> (</a:t>
                      </a:r>
                      <a:r>
                        <a:rPr lang="en-US" sz="1200" dirty="0">
                          <a:solidFill>
                            <a:schemeClr val="bg2"/>
                          </a:solidFill>
                          <a:latin typeface="Century Gothic" panose="020B0502020202020204" pitchFamily="34" charset="0"/>
                        </a:rPr>
                        <a:t>%)</a:t>
                      </a:r>
                    </a:p>
                  </a:txBody>
                  <a:tcPr marL="68580" marR="68580" marT="34290" marB="3429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6078"/>
                      </a:srgbClr>
                    </a:solidFill>
                  </a:tcPr>
                </a:tc>
                <a:extLst>
                  <a:ext uri="{0D108BD9-81ED-4DB2-BD59-A6C34878D82A}">
                    <a16:rowId xmlns:a16="http://schemas.microsoft.com/office/drawing/2014/main" xmlns="" val="10000"/>
                  </a:ext>
                </a:extLst>
              </a:tr>
              <a:tr h="278130">
                <a:tc>
                  <a:txBody>
                    <a:bodyPr/>
                    <a:lstStyle/>
                    <a:p>
                      <a:pPr algn="ctr"/>
                      <a:r>
                        <a:rPr lang="en-US" sz="1200" dirty="0">
                          <a:solidFill>
                            <a:schemeClr val="bg2"/>
                          </a:solidFill>
                          <a:latin typeface="Century Gothic" panose="020B0502020202020204" pitchFamily="34" charset="0"/>
                        </a:rPr>
                        <a:t>70’s</a:t>
                      </a:r>
                      <a:endParaRPr lang="en-US" sz="1200" b="1" dirty="0">
                        <a:solidFill>
                          <a:schemeClr val="bg2"/>
                        </a:solidFill>
                        <a:latin typeface="Century Gothic" panose="020B0502020202020204" pitchFamily="34" charset="0"/>
                      </a:endParaRP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10001"/>
                  </a:ext>
                </a:extLst>
              </a:tr>
              <a:tr h="278130">
                <a:tc>
                  <a:txBody>
                    <a:bodyPr/>
                    <a:lstStyle/>
                    <a:p>
                      <a:pPr algn="ctr"/>
                      <a:r>
                        <a:rPr lang="en-US" sz="1200" dirty="0">
                          <a:solidFill>
                            <a:schemeClr val="bg2"/>
                          </a:solidFill>
                          <a:latin typeface="Century Gothic" panose="020B0502020202020204" pitchFamily="34" charset="0"/>
                        </a:rPr>
                        <a:t>50’s</a:t>
                      </a:r>
                      <a:endParaRPr lang="en-US" sz="1200" b="1" dirty="0">
                        <a:solidFill>
                          <a:schemeClr val="bg2"/>
                        </a:solidFill>
                        <a:latin typeface="Century Gothic" panose="020B0502020202020204" pitchFamily="34" charset="0"/>
                      </a:endParaRP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
        <p:nvSpPr>
          <p:cNvPr id="3" name="Rectangle 2"/>
          <p:cNvSpPr/>
          <p:nvPr/>
        </p:nvSpPr>
        <p:spPr>
          <a:xfrm>
            <a:off x="5219699" y="5546993"/>
            <a:ext cx="795105" cy="1111941"/>
          </a:xfrm>
          <a:prstGeom prst="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endParaRPr>
          </a:p>
        </p:txBody>
      </p:sp>
      <p:sp>
        <p:nvSpPr>
          <p:cNvPr id="20" name="Title 1">
            <a:extLst>
              <a:ext uri="{FF2B5EF4-FFF2-40B4-BE49-F238E27FC236}">
                <a16:creationId xmlns:a16="http://schemas.microsoft.com/office/drawing/2014/main" xmlns="" id="{032028E2-1C92-354A-BFA8-AB98B5E4DD61}"/>
              </a:ext>
            </a:extLst>
          </p:cNvPr>
          <p:cNvSpPr txBox="1">
            <a:spLocks/>
          </p:cNvSpPr>
          <p:nvPr/>
        </p:nvSpPr>
        <p:spPr bwMode="auto">
          <a:xfrm>
            <a:off x="6127792" y="300732"/>
            <a:ext cx="2374815" cy="533400"/>
          </a:xfrm>
          <a:prstGeom prst="roundRect">
            <a:avLst/>
          </a:prstGeom>
          <a:noFill/>
          <a:ln w="12700">
            <a:solidFill>
              <a:srgbClr val="6881B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2400" b="0" kern="1200" cap="small" baseline="0">
                <a:solidFill>
                  <a:srgbClr val="A7001B"/>
                </a:solidFill>
                <a:latin typeface="Calibri" panose="020F050202020403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cap="none" dirty="0">
                <a:solidFill>
                  <a:srgbClr val="6881B4"/>
                </a:solidFill>
                <a:latin typeface="Century Gothic" panose="020B0502020202020204" pitchFamily="34" charset="0"/>
              </a:rPr>
              <a:t>My solutions</a:t>
            </a:r>
          </a:p>
        </p:txBody>
      </p:sp>
      <p:sp>
        <p:nvSpPr>
          <p:cNvPr id="2" name="Left Arrow 1">
            <a:extLst>
              <a:ext uri="{FF2B5EF4-FFF2-40B4-BE49-F238E27FC236}">
                <a16:creationId xmlns:a16="http://schemas.microsoft.com/office/drawing/2014/main" xmlns="" id="{947A647C-F43B-7B4E-BF19-8078EEF919DC}"/>
              </a:ext>
            </a:extLst>
          </p:cNvPr>
          <p:cNvSpPr/>
          <p:nvPr/>
        </p:nvSpPr>
        <p:spPr>
          <a:xfrm>
            <a:off x="6153192" y="6096000"/>
            <a:ext cx="654008" cy="201974"/>
          </a:xfrm>
          <a:prstGeom prst="leftArrow">
            <a:avLst/>
          </a:prstGeom>
          <a:solidFill>
            <a:srgbClr val="C2799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4770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lt">
                                    <p:tmPct val="0"/>
                                  </p:iterate>
                                  <p:childTnLst>
                                    <p:set>
                                      <p:cBhvr>
                                        <p:cTn id="6" dur="1" fill="hold">
                                          <p:stCondLst>
                                            <p:cond delay="0"/>
                                          </p:stCondLst>
                                        </p:cTn>
                                        <p:tgtEl>
                                          <p:spTgt spid="13">
                                            <p:txEl>
                                              <p:pRg st="0" end="0"/>
                                            </p:txEl>
                                          </p:spTgt>
                                        </p:tgtEl>
                                        <p:attrNameLst>
                                          <p:attrName>style.visibility</p:attrName>
                                        </p:attrNameLst>
                                      </p:cBhvr>
                                      <p:to>
                                        <p:strVal val="visible"/>
                                      </p:to>
                                    </p:set>
                                    <p:animEffect transition="in" filter="dissolv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lt">
                                    <p:tmPct val="0"/>
                                  </p:iterate>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dissolve">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iterate type="lt">
                                    <p:tmPct val="0"/>
                                  </p:iterate>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dissolve">
                                      <p:cBhvr>
                                        <p:cTn id="17" dur="500"/>
                                        <p:tgtEl>
                                          <p:spTgt spid="1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blinds(horizontal)">
                                      <p:cBhvr>
                                        <p:cTn id="22" dur="500"/>
                                        <p:tgtEl>
                                          <p:spTgt spid="20"/>
                                        </p:tgtEl>
                                      </p:cBhvr>
                                    </p:animEffect>
                                  </p:childTnLst>
                                </p:cTn>
                              </p:par>
                              <p:par>
                                <p:cTn id="23" presetID="9" presetClass="emph" presetSubtype="0" grpId="1" nodeType="withEffect">
                                  <p:stCondLst>
                                    <p:cond delay="0"/>
                                  </p:stCondLst>
                                  <p:iterate type="lt">
                                    <p:tmAbs val="0"/>
                                  </p:iterate>
                                  <p:childTnLst>
                                    <p:set>
                                      <p:cBhvr>
                                        <p:cTn id="24" dur="indefinite"/>
                                        <p:tgtEl>
                                          <p:spTgt spid="13">
                                            <p:txEl>
                                              <p:pRg st="0" end="0"/>
                                            </p:txEl>
                                          </p:spTgt>
                                        </p:tgtEl>
                                        <p:attrNameLst>
                                          <p:attrName>style.opacity</p:attrName>
                                        </p:attrNameLst>
                                      </p:cBhvr>
                                      <p:to>
                                        <p:strVal val="0.5"/>
                                      </p:to>
                                    </p:set>
                                    <p:animEffect filter="image" prLst="opacity: 0.5">
                                      <p:cBhvr rctx="IE">
                                        <p:cTn id="25" dur="indefinite"/>
                                        <p:tgtEl>
                                          <p:spTgt spid="13">
                                            <p:txEl>
                                              <p:pRg st="0" end="0"/>
                                            </p:txEl>
                                          </p:spTgt>
                                        </p:tgtEl>
                                      </p:cBhvr>
                                    </p:animEffect>
                                  </p:childTnLst>
                                </p:cTn>
                              </p:par>
                              <p:par>
                                <p:cTn id="26" presetID="9" presetClass="emph" presetSubtype="0" grpId="1" nodeType="withEffect">
                                  <p:stCondLst>
                                    <p:cond delay="0"/>
                                  </p:stCondLst>
                                  <p:iterate type="lt">
                                    <p:tmAbs val="0"/>
                                  </p:iterate>
                                  <p:childTnLst>
                                    <p:set>
                                      <p:cBhvr>
                                        <p:cTn id="27" dur="indefinite"/>
                                        <p:tgtEl>
                                          <p:spTgt spid="14">
                                            <p:txEl>
                                              <p:pRg st="0" end="0"/>
                                            </p:txEl>
                                          </p:spTgt>
                                        </p:tgtEl>
                                        <p:attrNameLst>
                                          <p:attrName>style.opacity</p:attrName>
                                        </p:attrNameLst>
                                      </p:cBhvr>
                                      <p:to>
                                        <p:strVal val="0.5"/>
                                      </p:to>
                                    </p:set>
                                    <p:animEffect filter="image" prLst="opacity: 0.5">
                                      <p:cBhvr rctx="IE">
                                        <p:cTn id="28" dur="indefinite"/>
                                        <p:tgtEl>
                                          <p:spTgt spid="14">
                                            <p:txEl>
                                              <p:pRg st="0" end="0"/>
                                            </p:txEl>
                                          </p:spTgt>
                                        </p:tgtEl>
                                      </p:cBhvr>
                                    </p:animEffect>
                                  </p:childTnLst>
                                </p:cTn>
                              </p:par>
                              <p:par>
                                <p:cTn id="29" presetID="9" presetClass="emph" presetSubtype="0" grpId="1" nodeType="withEffect">
                                  <p:stCondLst>
                                    <p:cond delay="0"/>
                                  </p:stCondLst>
                                  <p:iterate type="lt">
                                    <p:tmAbs val="0"/>
                                  </p:iterate>
                                  <p:childTnLst>
                                    <p:set>
                                      <p:cBhvr>
                                        <p:cTn id="30" dur="indefinite"/>
                                        <p:tgtEl>
                                          <p:spTgt spid="15">
                                            <p:txEl>
                                              <p:pRg st="0" end="0"/>
                                            </p:txEl>
                                          </p:spTgt>
                                        </p:tgtEl>
                                        <p:attrNameLst>
                                          <p:attrName>style.opacity</p:attrName>
                                        </p:attrNameLst>
                                      </p:cBhvr>
                                      <p:to>
                                        <p:strVal val="0.5"/>
                                      </p:to>
                                    </p:set>
                                    <p:animEffect filter="image" prLst="opacity: 0.5">
                                      <p:cBhvr rctx="IE">
                                        <p:cTn id="31" dur="indefinite"/>
                                        <p:tgtEl>
                                          <p:spTgt spid="15">
                                            <p:txEl>
                                              <p:pRg st="0" end="0"/>
                                            </p:txEl>
                                          </p:spTgt>
                                        </p:tgtEl>
                                      </p:cBhvr>
                                    </p:animEffect>
                                  </p:childTnLst>
                                </p:cTn>
                              </p:par>
                            </p:childTnLst>
                          </p:cTn>
                        </p:par>
                        <p:par>
                          <p:cTn id="32" fill="hold">
                            <p:stCondLst>
                              <p:cond delay="500"/>
                            </p:stCondLst>
                            <p:childTnLst>
                              <p:par>
                                <p:cTn id="33" presetID="3" presetClass="entr" presetSubtype="10"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blinds(horizontal)">
                                      <p:cBhvr>
                                        <p:cTn id="35" dur="500"/>
                                        <p:tgtEl>
                                          <p:spTgt spid="23"/>
                                        </p:tgtEl>
                                      </p:cBhvr>
                                    </p:animEffect>
                                  </p:childTnLst>
                                </p:cTn>
                              </p:par>
                            </p:childTnLst>
                          </p:cTn>
                        </p:par>
                        <p:par>
                          <p:cTn id="36" fill="hold">
                            <p:stCondLst>
                              <p:cond delay="1000"/>
                            </p:stCondLst>
                            <p:childTnLst>
                              <p:par>
                                <p:cTn id="37" presetID="3" presetClass="entr" presetSubtype="10"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blinds(horizontal)">
                                      <p:cBhvr>
                                        <p:cTn id="39" dur="500"/>
                                        <p:tgtEl>
                                          <p:spTgt spid="24"/>
                                        </p:tgtEl>
                                      </p:cBhvr>
                                    </p:animEffect>
                                  </p:childTnLst>
                                </p:cTn>
                              </p:par>
                            </p:childTnLst>
                          </p:cTn>
                        </p:par>
                        <p:par>
                          <p:cTn id="40" fill="hold">
                            <p:stCondLst>
                              <p:cond delay="1500"/>
                            </p:stCondLst>
                            <p:childTnLst>
                              <p:par>
                                <p:cTn id="41" presetID="3" presetClass="entr" presetSubtype="10"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linds(horizontal)">
                                      <p:cBhvr>
                                        <p:cTn id="43" dur="5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dissolve">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anim calcmode="lin" valueType="num">
                                      <p:cBhvr>
                                        <p:cTn id="57" dur="500" fill="hold"/>
                                        <p:tgtEl>
                                          <p:spTgt spid="2"/>
                                        </p:tgtEl>
                                        <p:attrNameLst>
                                          <p:attrName>ppt_w</p:attrName>
                                        </p:attrNameLst>
                                      </p:cBhvr>
                                      <p:tavLst>
                                        <p:tav tm="0">
                                          <p:val>
                                            <p:fltVal val="0"/>
                                          </p:val>
                                        </p:tav>
                                        <p:tav tm="100000">
                                          <p:val>
                                            <p:strVal val="#ppt_w"/>
                                          </p:val>
                                        </p:tav>
                                      </p:tavLst>
                                    </p:anim>
                                    <p:anim calcmode="lin" valueType="num">
                                      <p:cBhvr>
                                        <p:cTn id="58" dur="500" fill="hold"/>
                                        <p:tgtEl>
                                          <p:spTgt spid="2"/>
                                        </p:tgtEl>
                                        <p:attrNameLst>
                                          <p:attrName>ppt_h</p:attrName>
                                        </p:attrNameLst>
                                      </p:cBhvr>
                                      <p:tavLst>
                                        <p:tav tm="0">
                                          <p:val>
                                            <p:fltVal val="0"/>
                                          </p:val>
                                        </p:tav>
                                        <p:tav tm="100000">
                                          <p:val>
                                            <p:strVal val="#ppt_h"/>
                                          </p:val>
                                        </p:tav>
                                      </p:tavLst>
                                    </p:anim>
                                    <p:animEffect transition="in" filter="fade">
                                      <p:cBhvr>
                                        <p:cTn id="5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bldLvl="2"/>
      <p:bldP spid="13" grpId="1" build="allAtOnce"/>
      <p:bldP spid="14" grpId="0" uiExpand="1" build="p" bldLvl="2"/>
      <p:bldP spid="14" grpId="1" build="allAtOnce"/>
      <p:bldP spid="15" grpId="0" uiExpand="1" build="p" bldLvl="2"/>
      <p:bldP spid="15" grpId="1" build="allAtOnce"/>
      <p:bldP spid="23" grpId="0"/>
      <p:bldP spid="24" grpId="0"/>
      <p:bldP spid="25" grpId="0"/>
      <p:bldP spid="3" grpId="0" animBg="1"/>
      <p:bldP spid="20" grpId="0" animBg="1"/>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xmlns="" id="{61A3B486-AB62-FA4F-86D2-A8C42B5F4220}"/>
              </a:ext>
            </a:extLst>
          </p:cNvPr>
          <p:cNvSpPr/>
          <p:nvPr/>
        </p:nvSpPr>
        <p:spPr>
          <a:xfrm>
            <a:off x="2596528" y="2351454"/>
            <a:ext cx="1972921" cy="1862916"/>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8" name="Freeform 17">
            <a:extLst>
              <a:ext uri="{FF2B5EF4-FFF2-40B4-BE49-F238E27FC236}">
                <a16:creationId xmlns:a16="http://schemas.microsoft.com/office/drawing/2014/main" xmlns="" id="{90713598-516B-E844-B1F8-76B264DE9634}"/>
              </a:ext>
            </a:extLst>
          </p:cNvPr>
          <p:cNvSpPr/>
          <p:nvPr/>
        </p:nvSpPr>
        <p:spPr>
          <a:xfrm>
            <a:off x="4569449" y="2351453"/>
            <a:ext cx="1956830" cy="1857027"/>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7" name="Freeform 16">
            <a:extLst>
              <a:ext uri="{FF2B5EF4-FFF2-40B4-BE49-F238E27FC236}">
                <a16:creationId xmlns:a16="http://schemas.microsoft.com/office/drawing/2014/main" xmlns="" id="{D2E47F3F-1B36-A440-A6B3-C95DFE1F6B8E}"/>
              </a:ext>
            </a:extLst>
          </p:cNvPr>
          <p:cNvSpPr/>
          <p:nvPr/>
        </p:nvSpPr>
        <p:spPr>
          <a:xfrm>
            <a:off x="3918092" y="4208480"/>
            <a:ext cx="1302713" cy="1574208"/>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6" name="Freeform 15">
            <a:extLst>
              <a:ext uri="{FF2B5EF4-FFF2-40B4-BE49-F238E27FC236}">
                <a16:creationId xmlns:a16="http://schemas.microsoft.com/office/drawing/2014/main" xmlns="" id="{D7DAC120-F2AE-9E42-91AD-D367A20D62A6}"/>
              </a:ext>
            </a:extLst>
          </p:cNvPr>
          <p:cNvSpPr/>
          <p:nvPr/>
        </p:nvSpPr>
        <p:spPr>
          <a:xfrm>
            <a:off x="2590800" y="381000"/>
            <a:ext cx="3940909" cy="2480129"/>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5" name="Freeform 14">
            <a:extLst>
              <a:ext uri="{FF2B5EF4-FFF2-40B4-BE49-F238E27FC236}">
                <a16:creationId xmlns:a16="http://schemas.microsoft.com/office/drawing/2014/main" xmlns="" id="{04B09D7B-0C2C-B04A-B53B-43E0E3647E0A}"/>
              </a:ext>
            </a:extLst>
          </p:cNvPr>
          <p:cNvSpPr/>
          <p:nvPr/>
        </p:nvSpPr>
        <p:spPr>
          <a:xfrm>
            <a:off x="4569449" y="2458993"/>
            <a:ext cx="3289552" cy="3833368"/>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4" name="Freeform 13">
            <a:extLst>
              <a:ext uri="{FF2B5EF4-FFF2-40B4-BE49-F238E27FC236}">
                <a16:creationId xmlns:a16="http://schemas.microsoft.com/office/drawing/2014/main" xmlns="" id="{C17A06CB-AE38-924C-A9B4-FE69C1A3EAFE}"/>
              </a:ext>
            </a:extLst>
          </p:cNvPr>
          <p:cNvSpPr/>
          <p:nvPr/>
        </p:nvSpPr>
        <p:spPr>
          <a:xfrm>
            <a:off x="1279895" y="2464880"/>
            <a:ext cx="3289553" cy="3827481"/>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3" name="Freeform 12">
            <a:extLst>
              <a:ext uri="{FF2B5EF4-FFF2-40B4-BE49-F238E27FC236}">
                <a16:creationId xmlns:a16="http://schemas.microsoft.com/office/drawing/2014/main" xmlns="" id="{F86028A8-0EA2-224F-BC9E-979373BCB94B}"/>
              </a:ext>
            </a:extLst>
          </p:cNvPr>
          <p:cNvSpPr/>
          <p:nvPr/>
        </p:nvSpPr>
        <p:spPr>
          <a:xfrm>
            <a:off x="3923670" y="2876571"/>
            <a:ext cx="1291555" cy="1460779"/>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20" name="TextBox 19">
            <a:extLst>
              <a:ext uri="{FF2B5EF4-FFF2-40B4-BE49-F238E27FC236}">
                <a16:creationId xmlns:a16="http://schemas.microsoft.com/office/drawing/2014/main" xmlns="" id="{9C21D07F-E337-F842-95C9-56B9E450B34B}"/>
              </a:ext>
            </a:extLst>
          </p:cNvPr>
          <p:cNvSpPr txBox="1"/>
          <p:nvPr/>
        </p:nvSpPr>
        <p:spPr>
          <a:xfrm>
            <a:off x="3371831" y="750782"/>
            <a:ext cx="2881874"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Structured learning</a:t>
            </a:r>
          </a:p>
        </p:txBody>
      </p:sp>
      <p:pic>
        <p:nvPicPr>
          <p:cNvPr id="22" name="Picture 21" descr="A close up of a logo&#10;&#10;Description automatically generated">
            <a:extLst>
              <a:ext uri="{FF2B5EF4-FFF2-40B4-BE49-F238E27FC236}">
                <a16:creationId xmlns:a16="http://schemas.microsoft.com/office/drawing/2014/main" xmlns="" id="{1C1CFDDB-C8DA-2746-BB81-A44B3B7312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99912" y="1004102"/>
            <a:ext cx="974176" cy="745577"/>
          </a:xfrm>
          <a:prstGeom prst="rect">
            <a:avLst/>
          </a:prstGeom>
        </p:spPr>
      </p:pic>
      <p:pic>
        <p:nvPicPr>
          <p:cNvPr id="24" name="Picture 23" descr="A close up of a logo&#10;&#10;Description automatically generated">
            <a:extLst>
              <a:ext uri="{FF2B5EF4-FFF2-40B4-BE49-F238E27FC236}">
                <a16:creationId xmlns:a16="http://schemas.microsoft.com/office/drawing/2014/main" xmlns="" id="{64C7EC8F-061A-1440-9487-99937D22249D}"/>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526696" y="4751042"/>
            <a:ext cx="1323194" cy="940938"/>
          </a:xfrm>
          <a:prstGeom prst="rect">
            <a:avLst/>
          </a:prstGeom>
        </p:spPr>
      </p:pic>
      <p:sp>
        <p:nvSpPr>
          <p:cNvPr id="25" name="TextBox 24">
            <a:extLst>
              <a:ext uri="{FF2B5EF4-FFF2-40B4-BE49-F238E27FC236}">
                <a16:creationId xmlns:a16="http://schemas.microsoft.com/office/drawing/2014/main" xmlns="" id="{0DD8974F-3312-314A-BE72-1C11FFD8A314}"/>
              </a:ext>
            </a:extLst>
          </p:cNvPr>
          <p:cNvSpPr txBox="1"/>
          <p:nvPr/>
        </p:nvSpPr>
        <p:spPr>
          <a:xfrm>
            <a:off x="2206719" y="5607318"/>
            <a:ext cx="2330225"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Common sense</a:t>
            </a:r>
          </a:p>
        </p:txBody>
      </p:sp>
      <p:pic>
        <p:nvPicPr>
          <p:cNvPr id="27" name="Picture 26" descr="A close up of a logo&#10;&#10;Description automatically generated">
            <a:extLst>
              <a:ext uri="{FF2B5EF4-FFF2-40B4-BE49-F238E27FC236}">
                <a16:creationId xmlns:a16="http://schemas.microsoft.com/office/drawing/2014/main" xmlns="" id="{60B8FB75-539A-0840-ADE8-6A45256547C6}"/>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5577574" y="5009130"/>
            <a:ext cx="819421" cy="682850"/>
          </a:xfrm>
          <a:prstGeom prst="rect">
            <a:avLst/>
          </a:prstGeom>
        </p:spPr>
      </p:pic>
      <p:sp>
        <p:nvSpPr>
          <p:cNvPr id="28" name="TextBox 27">
            <a:extLst>
              <a:ext uri="{FF2B5EF4-FFF2-40B4-BE49-F238E27FC236}">
                <a16:creationId xmlns:a16="http://schemas.microsoft.com/office/drawing/2014/main" xmlns="" id="{B970778E-FE0E-C747-9F3B-2C496E425066}"/>
              </a:ext>
            </a:extLst>
          </p:cNvPr>
          <p:cNvSpPr txBox="1"/>
          <p:nvPr/>
        </p:nvSpPr>
        <p:spPr>
          <a:xfrm>
            <a:off x="4966392" y="5607318"/>
            <a:ext cx="2425008"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Data annotation</a:t>
            </a:r>
          </a:p>
        </p:txBody>
      </p:sp>
      <p:sp>
        <p:nvSpPr>
          <p:cNvPr id="29" name="TextBox 28">
            <a:extLst>
              <a:ext uri="{FF2B5EF4-FFF2-40B4-BE49-F238E27FC236}">
                <a16:creationId xmlns:a16="http://schemas.microsoft.com/office/drawing/2014/main" xmlns="" id="{649080C7-8D4D-9846-886B-33B0F1413DAF}"/>
              </a:ext>
            </a:extLst>
          </p:cNvPr>
          <p:cNvSpPr txBox="1"/>
          <p:nvPr/>
        </p:nvSpPr>
        <p:spPr>
          <a:xfrm>
            <a:off x="3348007" y="1909229"/>
            <a:ext cx="2572714" cy="400110"/>
          </a:xfrm>
          <a:prstGeom prst="rect">
            <a:avLst/>
          </a:prstGeom>
          <a:noFill/>
        </p:spPr>
        <p:txBody>
          <a:bodyPr wrap="square" rtlCol="0">
            <a:spAutoFit/>
          </a:bodyPr>
          <a:lstStyle/>
          <a:p>
            <a:pPr algn="ctr"/>
            <a:r>
              <a:rPr lang="en-US" sz="2000" b="1" i="1" dirty="0">
                <a:solidFill>
                  <a:schemeClr val="bg2"/>
                </a:solidFill>
                <a:latin typeface="Century Gothic" charset="0"/>
                <a:ea typeface="Century Gothic" charset="0"/>
                <a:cs typeface="Century Gothic" charset="0"/>
              </a:rPr>
              <a:t>EMNLP’17, SEM’18</a:t>
            </a:r>
          </a:p>
        </p:txBody>
      </p:sp>
      <p:sp>
        <p:nvSpPr>
          <p:cNvPr id="30" name="TextBox 29">
            <a:extLst>
              <a:ext uri="{FF2B5EF4-FFF2-40B4-BE49-F238E27FC236}">
                <a16:creationId xmlns:a16="http://schemas.microsoft.com/office/drawing/2014/main" xmlns="" id="{C7C5F252-B7A8-654D-B626-DAB47965C335}"/>
              </a:ext>
            </a:extLst>
          </p:cNvPr>
          <p:cNvSpPr txBox="1"/>
          <p:nvPr/>
        </p:nvSpPr>
        <p:spPr>
          <a:xfrm>
            <a:off x="1389733" y="3772497"/>
            <a:ext cx="2393525" cy="1015662"/>
          </a:xfrm>
          <a:prstGeom prst="rect">
            <a:avLst/>
          </a:prstGeom>
          <a:noFill/>
        </p:spPr>
        <p:txBody>
          <a:bodyPr wrap="square" rtlCol="0">
            <a:spAutoFit/>
          </a:bodyPr>
          <a:lstStyle/>
          <a:p>
            <a:r>
              <a:rPr lang="en-US" sz="2000" b="1" i="1" dirty="0">
                <a:solidFill>
                  <a:schemeClr val="bg2"/>
                </a:solidFill>
                <a:latin typeface="Century Gothic" charset="0"/>
                <a:ea typeface="Century Gothic" charset="0"/>
                <a:cs typeface="Century Gothic" charset="0"/>
              </a:rPr>
              <a:t>NAACL’18</a:t>
            </a:r>
          </a:p>
          <a:p>
            <a:endParaRPr lang="en-US" sz="2000" b="1" i="1" dirty="0">
              <a:solidFill>
                <a:schemeClr val="bg2"/>
              </a:solidFill>
              <a:latin typeface="Century Gothic" charset="0"/>
              <a:ea typeface="Century Gothic" charset="0"/>
              <a:cs typeface="Century Gothic" charset="0"/>
            </a:endParaRPr>
          </a:p>
          <a:p>
            <a:r>
              <a:rPr lang="en-US" sz="2000" b="1" i="1" dirty="0">
                <a:solidFill>
                  <a:schemeClr val="bg2"/>
                </a:solidFill>
                <a:latin typeface="Century Gothic" charset="0"/>
                <a:ea typeface="Century Gothic" charset="0"/>
                <a:cs typeface="Century Gothic" charset="0"/>
              </a:rPr>
              <a:t>1 in submission</a:t>
            </a:r>
          </a:p>
        </p:txBody>
      </p:sp>
      <p:sp>
        <p:nvSpPr>
          <p:cNvPr id="31" name="TextBox 30">
            <a:extLst>
              <a:ext uri="{FF2B5EF4-FFF2-40B4-BE49-F238E27FC236}">
                <a16:creationId xmlns:a16="http://schemas.microsoft.com/office/drawing/2014/main" xmlns="" id="{152E3D12-708D-1045-A3D0-C2E3342C900B}"/>
              </a:ext>
            </a:extLst>
          </p:cNvPr>
          <p:cNvSpPr txBox="1"/>
          <p:nvPr/>
        </p:nvSpPr>
        <p:spPr>
          <a:xfrm>
            <a:off x="6032627" y="4208480"/>
            <a:ext cx="1630616" cy="400110"/>
          </a:xfrm>
          <a:prstGeom prst="rect">
            <a:avLst/>
          </a:prstGeom>
          <a:noFill/>
        </p:spPr>
        <p:txBody>
          <a:bodyPr wrap="square" rtlCol="0">
            <a:spAutoFit/>
          </a:bodyPr>
          <a:lstStyle/>
          <a:p>
            <a:r>
              <a:rPr lang="en-US" sz="2000" b="1" i="1" dirty="0">
                <a:solidFill>
                  <a:schemeClr val="bg2"/>
                </a:solidFill>
                <a:latin typeface="Century Gothic" charset="0"/>
                <a:ea typeface="Century Gothic" charset="0"/>
                <a:cs typeface="Century Gothic" charset="0"/>
              </a:rPr>
              <a:t>ACL’18 (b)</a:t>
            </a:r>
          </a:p>
        </p:txBody>
      </p:sp>
      <p:sp>
        <p:nvSpPr>
          <p:cNvPr id="32" name="TextBox 31">
            <a:extLst>
              <a:ext uri="{FF2B5EF4-FFF2-40B4-BE49-F238E27FC236}">
                <a16:creationId xmlns:a16="http://schemas.microsoft.com/office/drawing/2014/main" xmlns="" id="{1E37F1DA-F15A-5D4C-B81B-595B5E239EF6}"/>
              </a:ext>
            </a:extLst>
          </p:cNvPr>
          <p:cNvSpPr txBox="1"/>
          <p:nvPr/>
        </p:nvSpPr>
        <p:spPr>
          <a:xfrm>
            <a:off x="2881001" y="2779517"/>
            <a:ext cx="1376099" cy="338554"/>
          </a:xfrm>
          <a:prstGeom prst="rect">
            <a:avLst/>
          </a:prstGeom>
          <a:noFill/>
        </p:spPr>
        <p:txBody>
          <a:bodyPr wrap="square" rtlCol="0">
            <a:spAutoFit/>
          </a:bodyPr>
          <a:lstStyle/>
          <a:p>
            <a:r>
              <a:rPr lang="en-US" sz="1600" b="1" i="1" dirty="0">
                <a:solidFill>
                  <a:schemeClr val="bg2"/>
                </a:solidFill>
                <a:latin typeface="Century Gothic" charset="0"/>
                <a:ea typeface="Century Gothic" charset="0"/>
                <a:cs typeface="Century Gothic" charset="0"/>
              </a:rPr>
              <a:t>ACL’18 (a)</a:t>
            </a:r>
          </a:p>
        </p:txBody>
      </p:sp>
      <p:sp>
        <p:nvSpPr>
          <p:cNvPr id="33" name="TextBox 32">
            <a:extLst>
              <a:ext uri="{FF2B5EF4-FFF2-40B4-BE49-F238E27FC236}">
                <a16:creationId xmlns:a16="http://schemas.microsoft.com/office/drawing/2014/main" xmlns="" id="{345EBA8D-5333-284F-87D6-30DD64D51E54}"/>
              </a:ext>
            </a:extLst>
          </p:cNvPr>
          <p:cNvSpPr txBox="1"/>
          <p:nvPr/>
        </p:nvSpPr>
        <p:spPr>
          <a:xfrm>
            <a:off x="5074088" y="2731002"/>
            <a:ext cx="1452191" cy="338554"/>
          </a:xfrm>
          <a:prstGeom prst="rect">
            <a:avLst/>
          </a:prstGeom>
          <a:noFill/>
        </p:spPr>
        <p:txBody>
          <a:bodyPr wrap="square" rtlCol="0">
            <a:spAutoFit/>
          </a:bodyPr>
          <a:lstStyle/>
          <a:p>
            <a:r>
              <a:rPr lang="en-US" sz="1600" b="1" i="1" dirty="0">
                <a:solidFill>
                  <a:schemeClr val="bg2"/>
                </a:solidFill>
                <a:latin typeface="Century Gothic" charset="0"/>
                <a:ea typeface="Century Gothic" charset="0"/>
                <a:cs typeface="Century Gothic" charset="0"/>
              </a:rPr>
              <a:t>NAACL’19</a:t>
            </a:r>
          </a:p>
        </p:txBody>
      </p:sp>
      <p:sp>
        <p:nvSpPr>
          <p:cNvPr id="34" name="TextBox 33">
            <a:extLst>
              <a:ext uri="{FF2B5EF4-FFF2-40B4-BE49-F238E27FC236}">
                <a16:creationId xmlns:a16="http://schemas.microsoft.com/office/drawing/2014/main" xmlns="" id="{783C3AE2-0F2B-5B43-81AE-4BE6C967A5D7}"/>
              </a:ext>
            </a:extLst>
          </p:cNvPr>
          <p:cNvSpPr txBox="1"/>
          <p:nvPr/>
        </p:nvSpPr>
        <p:spPr>
          <a:xfrm>
            <a:off x="4099912" y="3364507"/>
            <a:ext cx="1203677" cy="307777"/>
          </a:xfrm>
          <a:prstGeom prst="rect">
            <a:avLst/>
          </a:prstGeom>
          <a:noFill/>
        </p:spPr>
        <p:txBody>
          <a:bodyPr wrap="square" rtlCol="0">
            <a:spAutoFit/>
          </a:bodyPr>
          <a:lstStyle/>
          <a:p>
            <a:r>
              <a:rPr lang="en-US" sz="1400" b="1" i="1" dirty="0">
                <a:latin typeface="Century Gothic" charset="0"/>
                <a:ea typeface="Century Gothic" charset="0"/>
                <a:cs typeface="Century Gothic" charset="0"/>
              </a:rPr>
              <a:t>EMNLP’18</a:t>
            </a:r>
          </a:p>
        </p:txBody>
      </p:sp>
      <p:sp>
        <p:nvSpPr>
          <p:cNvPr id="35" name="TextBox 34">
            <a:extLst>
              <a:ext uri="{FF2B5EF4-FFF2-40B4-BE49-F238E27FC236}">
                <a16:creationId xmlns:a16="http://schemas.microsoft.com/office/drawing/2014/main" xmlns="" id="{FE6CE12C-489A-0B4F-AF45-26CE1E303C7B}"/>
              </a:ext>
            </a:extLst>
          </p:cNvPr>
          <p:cNvSpPr txBox="1"/>
          <p:nvPr/>
        </p:nvSpPr>
        <p:spPr>
          <a:xfrm>
            <a:off x="3899190" y="4446698"/>
            <a:ext cx="1302711" cy="523220"/>
          </a:xfrm>
          <a:prstGeom prst="rect">
            <a:avLst/>
          </a:prstGeom>
          <a:noFill/>
        </p:spPr>
        <p:txBody>
          <a:bodyPr wrap="square" rtlCol="0">
            <a:spAutoFit/>
          </a:bodyPr>
          <a:lstStyle/>
          <a:p>
            <a:pPr algn="ctr"/>
            <a:r>
              <a:rPr lang="en-US" sz="1400" b="1" i="1" dirty="0">
                <a:latin typeface="Century Gothic" charset="0"/>
                <a:ea typeface="Century Gothic" charset="0"/>
                <a:cs typeface="Century Gothic" charset="0"/>
              </a:rPr>
              <a:t>1 in submission</a:t>
            </a:r>
          </a:p>
        </p:txBody>
      </p:sp>
      <p:sp>
        <p:nvSpPr>
          <p:cNvPr id="36" name="TextBox 35">
            <a:extLst>
              <a:ext uri="{FF2B5EF4-FFF2-40B4-BE49-F238E27FC236}">
                <a16:creationId xmlns:a16="http://schemas.microsoft.com/office/drawing/2014/main" xmlns="" id="{2A7DC4AB-0C45-474F-8A64-101AF913BAFF}"/>
              </a:ext>
            </a:extLst>
          </p:cNvPr>
          <p:cNvSpPr txBox="1"/>
          <p:nvPr/>
        </p:nvSpPr>
        <p:spPr>
          <a:xfrm>
            <a:off x="3913034" y="3650651"/>
            <a:ext cx="1302711" cy="523220"/>
          </a:xfrm>
          <a:prstGeom prst="rect">
            <a:avLst/>
          </a:prstGeom>
          <a:noFill/>
        </p:spPr>
        <p:txBody>
          <a:bodyPr wrap="square" rtlCol="0">
            <a:spAutoFit/>
          </a:bodyPr>
          <a:lstStyle/>
          <a:p>
            <a:pPr algn="ctr"/>
            <a:r>
              <a:rPr lang="en-US" sz="1400" b="1" i="1" dirty="0">
                <a:latin typeface="Century Gothic" charset="0"/>
                <a:ea typeface="Century Gothic" charset="0"/>
                <a:cs typeface="Century Gothic" charset="0"/>
              </a:rPr>
              <a:t>1 in submission</a:t>
            </a:r>
          </a:p>
        </p:txBody>
      </p:sp>
    </p:spTree>
    <p:extLst>
      <p:ext uri="{BB962C8B-B14F-4D97-AF65-F5344CB8AC3E}">
        <p14:creationId xmlns:p14="http://schemas.microsoft.com/office/powerpoint/2010/main" val="2881521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1000"/>
                                        <p:tgtEl>
                                          <p:spTgt spid="31"/>
                                        </p:tgtEl>
                                      </p:cBhvr>
                                    </p:animEffect>
                                    <p:anim calcmode="lin" valueType="num">
                                      <p:cBhvr>
                                        <p:cTn id="18" dur="1000" fill="hold"/>
                                        <p:tgtEl>
                                          <p:spTgt spid="31"/>
                                        </p:tgtEl>
                                        <p:attrNameLst>
                                          <p:attrName>ppt_x</p:attrName>
                                        </p:attrNameLst>
                                      </p:cBhvr>
                                      <p:tavLst>
                                        <p:tav tm="0">
                                          <p:val>
                                            <p:strVal val="#ppt_x"/>
                                          </p:val>
                                        </p:tav>
                                        <p:tav tm="100000">
                                          <p:val>
                                            <p:strVal val="#ppt_x"/>
                                          </p:val>
                                        </p:tav>
                                      </p:tavLst>
                                    </p:anim>
                                    <p:anim calcmode="lin" valueType="num">
                                      <p:cBhvr>
                                        <p:cTn id="19" dur="1000" fill="hold"/>
                                        <p:tgtEl>
                                          <p:spTgt spid="31"/>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1000"/>
                                        <p:tgtEl>
                                          <p:spTgt spid="32"/>
                                        </p:tgtEl>
                                      </p:cBhvr>
                                    </p:animEffect>
                                    <p:anim calcmode="lin" valueType="num">
                                      <p:cBhvr>
                                        <p:cTn id="24" dur="1000" fill="hold"/>
                                        <p:tgtEl>
                                          <p:spTgt spid="32"/>
                                        </p:tgtEl>
                                        <p:attrNameLst>
                                          <p:attrName>ppt_x</p:attrName>
                                        </p:attrNameLst>
                                      </p:cBhvr>
                                      <p:tavLst>
                                        <p:tav tm="0">
                                          <p:val>
                                            <p:strVal val="#ppt_x"/>
                                          </p:val>
                                        </p:tav>
                                        <p:tav tm="100000">
                                          <p:val>
                                            <p:strVal val="#ppt_x"/>
                                          </p:val>
                                        </p:tav>
                                      </p:tavLst>
                                    </p:anim>
                                    <p:anim calcmode="lin" valueType="num">
                                      <p:cBhvr>
                                        <p:cTn id="25" dur="1000" fill="hold"/>
                                        <p:tgtEl>
                                          <p:spTgt spid="32"/>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1000"/>
                                        <p:tgtEl>
                                          <p:spTgt spid="33"/>
                                        </p:tgtEl>
                                      </p:cBhvr>
                                    </p:animEffect>
                                    <p:anim calcmode="lin" valueType="num">
                                      <p:cBhvr>
                                        <p:cTn id="29" dur="1000" fill="hold"/>
                                        <p:tgtEl>
                                          <p:spTgt spid="33"/>
                                        </p:tgtEl>
                                        <p:attrNameLst>
                                          <p:attrName>ppt_x</p:attrName>
                                        </p:attrNameLst>
                                      </p:cBhvr>
                                      <p:tavLst>
                                        <p:tav tm="0">
                                          <p:val>
                                            <p:strVal val="#ppt_x"/>
                                          </p:val>
                                        </p:tav>
                                        <p:tav tm="100000">
                                          <p:val>
                                            <p:strVal val="#ppt_x"/>
                                          </p:val>
                                        </p:tav>
                                      </p:tavLst>
                                    </p:anim>
                                    <p:anim calcmode="lin" valueType="num">
                                      <p:cBhvr>
                                        <p:cTn id="30" dur="1000" fill="hold"/>
                                        <p:tgtEl>
                                          <p:spTgt spid="33"/>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1000"/>
                                        <p:tgtEl>
                                          <p:spTgt spid="35"/>
                                        </p:tgtEl>
                                      </p:cBhvr>
                                    </p:animEffect>
                                    <p:anim calcmode="lin" valueType="num">
                                      <p:cBhvr>
                                        <p:cTn id="34" dur="1000" fill="hold"/>
                                        <p:tgtEl>
                                          <p:spTgt spid="35"/>
                                        </p:tgtEl>
                                        <p:attrNameLst>
                                          <p:attrName>ppt_x</p:attrName>
                                        </p:attrNameLst>
                                      </p:cBhvr>
                                      <p:tavLst>
                                        <p:tav tm="0">
                                          <p:val>
                                            <p:strVal val="#ppt_x"/>
                                          </p:val>
                                        </p:tav>
                                        <p:tav tm="100000">
                                          <p:val>
                                            <p:strVal val="#ppt_x"/>
                                          </p:val>
                                        </p:tav>
                                      </p:tavLst>
                                    </p:anim>
                                    <p:anim calcmode="lin" valueType="num">
                                      <p:cBhvr>
                                        <p:cTn id="35" dur="1000" fill="hold"/>
                                        <p:tgtEl>
                                          <p:spTgt spid="35"/>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1000"/>
                                        <p:tgtEl>
                                          <p:spTgt spid="36"/>
                                        </p:tgtEl>
                                      </p:cBhvr>
                                    </p:animEffect>
                                    <p:anim calcmode="lin" valueType="num">
                                      <p:cBhvr>
                                        <p:cTn id="39" dur="1000" fill="hold"/>
                                        <p:tgtEl>
                                          <p:spTgt spid="36"/>
                                        </p:tgtEl>
                                        <p:attrNameLst>
                                          <p:attrName>ppt_x</p:attrName>
                                        </p:attrNameLst>
                                      </p:cBhvr>
                                      <p:tavLst>
                                        <p:tav tm="0">
                                          <p:val>
                                            <p:strVal val="#ppt_x"/>
                                          </p:val>
                                        </p:tav>
                                        <p:tav tm="100000">
                                          <p:val>
                                            <p:strVal val="#ppt_x"/>
                                          </p:val>
                                        </p:tav>
                                      </p:tavLst>
                                    </p:anim>
                                    <p:anim calcmode="lin" valueType="num">
                                      <p:cBhvr>
                                        <p:cTn id="40" dur="1000" fill="hold"/>
                                        <p:tgtEl>
                                          <p:spTgt spid="36"/>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1000"/>
                                        <p:tgtEl>
                                          <p:spTgt spid="34"/>
                                        </p:tgtEl>
                                      </p:cBhvr>
                                    </p:animEffect>
                                    <p:anim calcmode="lin" valueType="num">
                                      <p:cBhvr>
                                        <p:cTn id="44" dur="1000" fill="hold"/>
                                        <p:tgtEl>
                                          <p:spTgt spid="34"/>
                                        </p:tgtEl>
                                        <p:attrNameLst>
                                          <p:attrName>ppt_x</p:attrName>
                                        </p:attrNameLst>
                                      </p:cBhvr>
                                      <p:tavLst>
                                        <p:tav tm="0">
                                          <p:val>
                                            <p:strVal val="#ppt_x"/>
                                          </p:val>
                                        </p:tav>
                                        <p:tav tm="100000">
                                          <p:val>
                                            <p:strVal val="#ppt_x"/>
                                          </p:val>
                                        </p:tav>
                                      </p:tavLst>
                                    </p:anim>
                                    <p:anim calcmode="lin" valueType="num">
                                      <p:cBhvr>
                                        <p:cTn id="45"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P spid="34" grpId="0"/>
      <p:bldP spid="35" grpId="0"/>
      <p:bldP spid="3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xmlns="" id="{E722C95D-5972-134C-B56C-148F3C45A894}"/>
              </a:ext>
            </a:extLst>
          </p:cNvPr>
          <p:cNvSpPr txBox="1"/>
          <p:nvPr/>
        </p:nvSpPr>
        <p:spPr>
          <a:xfrm>
            <a:off x="228600" y="2493117"/>
            <a:ext cx="8534400" cy="523220"/>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 Structured learning</a:t>
            </a:r>
          </a:p>
        </p:txBody>
      </p:sp>
      <p:sp>
        <p:nvSpPr>
          <p:cNvPr id="16" name="TextBox 15">
            <a:extLst>
              <a:ext uri="{FF2B5EF4-FFF2-40B4-BE49-F238E27FC236}">
                <a16:creationId xmlns:a16="http://schemas.microsoft.com/office/drawing/2014/main" xmlns="" id="{1CD47D7E-E500-CD47-A35C-95027F29B79A}"/>
              </a:ext>
            </a:extLst>
          </p:cNvPr>
          <p:cNvSpPr txBox="1"/>
          <p:nvPr/>
        </p:nvSpPr>
        <p:spPr>
          <a:xfrm>
            <a:off x="-228600" y="4343400"/>
            <a:ext cx="9186864" cy="646331"/>
          </a:xfrm>
          <a:prstGeom prst="rect">
            <a:avLst/>
          </a:prstGeom>
          <a:noFill/>
        </p:spPr>
        <p:txBody>
          <a:bodyPr wrap="square" rtlCol="0">
            <a:spAutoFit/>
          </a:bodyPr>
          <a:lstStyle/>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[EMNLP’17]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Z. Feng, and D. Roth. A Structured Learning Approach to Temporal Relation Extraction</a:t>
            </a:r>
          </a:p>
        </p:txBody>
      </p:sp>
      <p:cxnSp>
        <p:nvCxnSpPr>
          <p:cNvPr id="4" name="Straight Connector 3">
            <a:extLst>
              <a:ext uri="{FF2B5EF4-FFF2-40B4-BE49-F238E27FC236}">
                <a16:creationId xmlns:a16="http://schemas.microsoft.com/office/drawing/2014/main" xmlns=""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7" name="Freeform 6">
            <a:extLst>
              <a:ext uri="{FF2B5EF4-FFF2-40B4-BE49-F238E27FC236}">
                <a16:creationId xmlns:a16="http://schemas.microsoft.com/office/drawing/2014/main" xmlns="" id="{83400AEF-85EA-7B4C-8D53-44B4E99936D7}"/>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8" name="Freeform 7">
            <a:extLst>
              <a:ext uri="{FF2B5EF4-FFF2-40B4-BE49-F238E27FC236}">
                <a16:creationId xmlns:a16="http://schemas.microsoft.com/office/drawing/2014/main" xmlns="" id="{F3B5E4C5-CCD7-EA44-915F-7E2918615642}"/>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9" name="Freeform 8">
            <a:extLst>
              <a:ext uri="{FF2B5EF4-FFF2-40B4-BE49-F238E27FC236}">
                <a16:creationId xmlns:a16="http://schemas.microsoft.com/office/drawing/2014/main" xmlns="" id="{DDF6EFEB-F338-0C41-A3F8-D29E7EEE2CE2}"/>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0" name="Freeform 9">
            <a:extLst>
              <a:ext uri="{FF2B5EF4-FFF2-40B4-BE49-F238E27FC236}">
                <a16:creationId xmlns:a16="http://schemas.microsoft.com/office/drawing/2014/main" xmlns="" id="{FA6647F9-1E57-3B41-9C07-019C1EAA9D36}"/>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1" name="Freeform 10">
            <a:extLst>
              <a:ext uri="{FF2B5EF4-FFF2-40B4-BE49-F238E27FC236}">
                <a16:creationId xmlns:a16="http://schemas.microsoft.com/office/drawing/2014/main" xmlns="" id="{6E9112B1-EC4A-854D-B296-C8D381E90E59}"/>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2" name="Freeform 11">
            <a:extLst>
              <a:ext uri="{FF2B5EF4-FFF2-40B4-BE49-F238E27FC236}">
                <a16:creationId xmlns:a16="http://schemas.microsoft.com/office/drawing/2014/main" xmlns="" id="{E1952D22-282C-4147-A2C7-BABEC250DF29}"/>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4" name="Freeform 13">
            <a:extLst>
              <a:ext uri="{FF2B5EF4-FFF2-40B4-BE49-F238E27FC236}">
                <a16:creationId xmlns:a16="http://schemas.microsoft.com/office/drawing/2014/main" xmlns="" id="{4E4B3FD1-5ED1-0146-9026-FE8CD53EC451}"/>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pic>
        <p:nvPicPr>
          <p:cNvPr id="17" name="Picture 16" descr="A close up of a logo&#10;&#10;Description automatically generated">
            <a:extLst>
              <a:ext uri="{FF2B5EF4-FFF2-40B4-BE49-F238E27FC236}">
                <a16:creationId xmlns:a16="http://schemas.microsoft.com/office/drawing/2014/main" xmlns="" id="{165CA682-DBBA-274A-BF6C-67F04CA82BD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023646" y="2280954"/>
            <a:ext cx="345100" cy="264119"/>
          </a:xfrm>
          <a:prstGeom prst="rect">
            <a:avLst/>
          </a:prstGeom>
        </p:spPr>
      </p:pic>
      <p:pic>
        <p:nvPicPr>
          <p:cNvPr id="18" name="Picture 17" descr="A close up of a logo&#10;&#10;Description automatically generated">
            <a:extLst>
              <a:ext uri="{FF2B5EF4-FFF2-40B4-BE49-F238E27FC236}">
                <a16:creationId xmlns:a16="http://schemas.microsoft.com/office/drawing/2014/main" xmlns="" id="{2F9A737E-BC3D-FF46-960C-1D934C487BFC}"/>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a:stretch/>
        </p:blipFill>
        <p:spPr>
          <a:xfrm>
            <a:off x="6475458" y="3608299"/>
            <a:ext cx="468738" cy="333325"/>
          </a:xfrm>
          <a:prstGeom prst="rect">
            <a:avLst/>
          </a:prstGeom>
        </p:spPr>
      </p:pic>
      <p:pic>
        <p:nvPicPr>
          <p:cNvPr id="20" name="Picture 19" descr="A close up of a logo&#10;&#10;Description automatically generated">
            <a:extLst>
              <a:ext uri="{FF2B5EF4-FFF2-40B4-BE49-F238E27FC236}">
                <a16:creationId xmlns:a16="http://schemas.microsoft.com/office/drawing/2014/main" xmlns="" id="{585AE5B7-75E4-D047-8018-E186DB0EE907}"/>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spTree>
    <p:extLst>
      <p:ext uri="{BB962C8B-B14F-4D97-AF65-F5344CB8AC3E}">
        <p14:creationId xmlns:p14="http://schemas.microsoft.com/office/powerpoint/2010/main" val="564008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8" name="Straight Arrow Connector 67">
            <a:extLst>
              <a:ext uri="{FF2B5EF4-FFF2-40B4-BE49-F238E27FC236}">
                <a16:creationId xmlns:a16="http://schemas.microsoft.com/office/drawing/2014/main" xmlns="" id="{53EB0D82-2CA5-0044-B598-D6CC4B1217F6}"/>
              </a:ext>
            </a:extLst>
          </p:cNvPr>
          <p:cNvCxnSpPr>
            <a:cxnSpLocks/>
          </p:cNvCxnSpPr>
          <p:nvPr/>
        </p:nvCxnSpPr>
        <p:spPr>
          <a:xfrm flipH="1">
            <a:off x="2340858" y="4012002"/>
            <a:ext cx="2275" cy="798556"/>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xmlns="" id="{0CC5D2CF-3028-CC45-BF3F-96A9A5D0875F}"/>
              </a:ext>
            </a:extLst>
          </p:cNvPr>
          <p:cNvCxnSpPr/>
          <p:nvPr/>
        </p:nvCxnSpPr>
        <p:spPr>
          <a:xfrm flipV="1">
            <a:off x="2793671" y="5031855"/>
            <a:ext cx="989239" cy="4454"/>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xmlns="" id="{9466E26E-59BC-9547-BC26-F9F09E3BD552}"/>
              </a:ext>
            </a:extLst>
          </p:cNvPr>
          <p:cNvSpPr txBox="1"/>
          <p:nvPr/>
        </p:nvSpPr>
        <p:spPr>
          <a:xfrm>
            <a:off x="3783762" y="4875352"/>
            <a:ext cx="790537"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ordered</a:t>
            </a:r>
          </a:p>
        </p:txBody>
      </p:sp>
      <p:sp>
        <p:nvSpPr>
          <p:cNvPr id="55" name="TextBox 54">
            <a:extLst>
              <a:ext uri="{FF2B5EF4-FFF2-40B4-BE49-F238E27FC236}">
                <a16:creationId xmlns:a16="http://schemas.microsoft.com/office/drawing/2014/main" xmlns="" id="{AEC3D52B-1871-8F43-AF74-F6A379644828}"/>
              </a:ext>
            </a:extLst>
          </p:cNvPr>
          <p:cNvSpPr txBox="1"/>
          <p:nvPr/>
        </p:nvSpPr>
        <p:spPr>
          <a:xfrm>
            <a:off x="3783762" y="4871327"/>
            <a:ext cx="790537"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ordered</a:t>
            </a:r>
          </a:p>
        </p:txBody>
      </p:sp>
      <p:sp>
        <p:nvSpPr>
          <p:cNvPr id="54" name="TextBox 53">
            <a:extLst>
              <a:ext uri="{FF2B5EF4-FFF2-40B4-BE49-F238E27FC236}">
                <a16:creationId xmlns:a16="http://schemas.microsoft.com/office/drawing/2014/main" xmlns="" id="{75D9A00D-F6E8-A341-BB54-6DC685C17F41}"/>
              </a:ext>
            </a:extLst>
          </p:cNvPr>
          <p:cNvSpPr txBox="1"/>
          <p:nvPr/>
        </p:nvSpPr>
        <p:spPr>
          <a:xfrm>
            <a:off x="3783617" y="3681581"/>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3" name="TextBox 52">
            <a:extLst>
              <a:ext uri="{FF2B5EF4-FFF2-40B4-BE49-F238E27FC236}">
                <a16:creationId xmlns:a16="http://schemas.microsoft.com/office/drawing/2014/main" xmlns="" id="{827A033C-3362-7E4F-9A29-22F5B134DB38}"/>
              </a:ext>
            </a:extLst>
          </p:cNvPr>
          <p:cNvSpPr txBox="1"/>
          <p:nvPr/>
        </p:nvSpPr>
        <p:spPr>
          <a:xfrm>
            <a:off x="3790433" y="3681582"/>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2" name="TextBox 51">
            <a:extLst>
              <a:ext uri="{FF2B5EF4-FFF2-40B4-BE49-F238E27FC236}">
                <a16:creationId xmlns:a16="http://schemas.microsoft.com/office/drawing/2014/main" xmlns="" id="{BA0B8D1C-469A-C34A-B8E5-6EC7BEC871D0}"/>
              </a:ext>
            </a:extLst>
          </p:cNvPr>
          <p:cNvSpPr txBox="1"/>
          <p:nvPr/>
        </p:nvSpPr>
        <p:spPr>
          <a:xfrm>
            <a:off x="3790433" y="3671896"/>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1" name="TextBox 50">
            <a:extLst>
              <a:ext uri="{FF2B5EF4-FFF2-40B4-BE49-F238E27FC236}">
                <a16:creationId xmlns:a16="http://schemas.microsoft.com/office/drawing/2014/main" xmlns="" id="{F5465B13-DBC7-4043-AD11-B7B745E6BC6A}"/>
              </a:ext>
            </a:extLst>
          </p:cNvPr>
          <p:cNvSpPr txBox="1"/>
          <p:nvPr/>
        </p:nvSpPr>
        <p:spPr>
          <a:xfrm>
            <a:off x="3787098" y="3668637"/>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0" name="TextBox 49">
            <a:extLst>
              <a:ext uri="{FF2B5EF4-FFF2-40B4-BE49-F238E27FC236}">
                <a16:creationId xmlns:a16="http://schemas.microsoft.com/office/drawing/2014/main" xmlns="" id="{FA0167F5-14D7-9241-8E39-B181B66DC612}"/>
              </a:ext>
            </a:extLst>
          </p:cNvPr>
          <p:cNvSpPr txBox="1"/>
          <p:nvPr/>
        </p:nvSpPr>
        <p:spPr>
          <a:xfrm>
            <a:off x="1918862" y="4888321"/>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9" name="TextBox 48">
            <a:extLst>
              <a:ext uri="{FF2B5EF4-FFF2-40B4-BE49-F238E27FC236}">
                <a16:creationId xmlns:a16="http://schemas.microsoft.com/office/drawing/2014/main" xmlns="" id="{1FD7C706-046D-F946-A57B-AD9AADD6EFDE}"/>
              </a:ext>
            </a:extLst>
          </p:cNvPr>
          <p:cNvSpPr txBox="1"/>
          <p:nvPr/>
        </p:nvSpPr>
        <p:spPr>
          <a:xfrm>
            <a:off x="1918863" y="4898371"/>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8" name="TextBox 47">
            <a:extLst>
              <a:ext uri="{FF2B5EF4-FFF2-40B4-BE49-F238E27FC236}">
                <a16:creationId xmlns:a16="http://schemas.microsoft.com/office/drawing/2014/main" xmlns="" id="{9D664915-86BD-CF4C-AA26-C6E877E36A33}"/>
              </a:ext>
            </a:extLst>
          </p:cNvPr>
          <p:cNvSpPr txBox="1"/>
          <p:nvPr/>
        </p:nvSpPr>
        <p:spPr>
          <a:xfrm>
            <a:off x="1918863" y="4898628"/>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7" name="TextBox 46">
            <a:extLst>
              <a:ext uri="{FF2B5EF4-FFF2-40B4-BE49-F238E27FC236}">
                <a16:creationId xmlns:a16="http://schemas.microsoft.com/office/drawing/2014/main" xmlns="" id="{65CD4FAA-5F6F-B648-9597-5F4CCDCC323E}"/>
              </a:ext>
            </a:extLst>
          </p:cNvPr>
          <p:cNvSpPr txBox="1"/>
          <p:nvPr/>
        </p:nvSpPr>
        <p:spPr>
          <a:xfrm>
            <a:off x="1918863" y="4885139"/>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6" name="TextBox 45">
            <a:extLst>
              <a:ext uri="{FF2B5EF4-FFF2-40B4-BE49-F238E27FC236}">
                <a16:creationId xmlns:a16="http://schemas.microsoft.com/office/drawing/2014/main" xmlns="" id="{C46ABA95-9F47-9A45-9186-8C50EF19CE7A}"/>
              </a:ext>
            </a:extLst>
          </p:cNvPr>
          <p:cNvSpPr txBox="1"/>
          <p:nvPr/>
        </p:nvSpPr>
        <p:spPr>
          <a:xfrm>
            <a:off x="978119" y="4261795"/>
            <a:ext cx="522900"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hurt</a:t>
            </a:r>
          </a:p>
        </p:txBody>
      </p:sp>
      <p:sp>
        <p:nvSpPr>
          <p:cNvPr id="35" name="TextBox 34">
            <a:extLst>
              <a:ext uri="{FF2B5EF4-FFF2-40B4-BE49-F238E27FC236}">
                <a16:creationId xmlns:a16="http://schemas.microsoft.com/office/drawing/2014/main" xmlns="" id="{B92B956A-DB60-4C14-A246-235EDA984580}"/>
              </a:ext>
            </a:extLst>
          </p:cNvPr>
          <p:cNvSpPr txBox="1"/>
          <p:nvPr/>
        </p:nvSpPr>
        <p:spPr>
          <a:xfrm>
            <a:off x="975040" y="4258181"/>
            <a:ext cx="522900"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hurt</a:t>
            </a:r>
          </a:p>
        </p:txBody>
      </p:sp>
      <p:sp>
        <p:nvSpPr>
          <p:cNvPr id="44" name="TextBox 43">
            <a:extLst>
              <a:ext uri="{FF2B5EF4-FFF2-40B4-BE49-F238E27FC236}">
                <a16:creationId xmlns:a16="http://schemas.microsoft.com/office/drawing/2014/main" xmlns="" id="{0F90EFB9-7961-EF47-94F2-36A4ED5971C6}"/>
              </a:ext>
            </a:extLst>
          </p:cNvPr>
          <p:cNvSpPr txBox="1"/>
          <p:nvPr/>
        </p:nvSpPr>
        <p:spPr>
          <a:xfrm>
            <a:off x="981197" y="4265410"/>
            <a:ext cx="522900" cy="307777"/>
          </a:xfrm>
          <a:prstGeom prst="rect">
            <a:avLst/>
          </a:prstGeom>
          <a:noFill/>
          <a:ln>
            <a:noFill/>
          </a:ln>
        </p:spPr>
        <p:txBody>
          <a:bodyPr wrap="none" rtlCol="0">
            <a:spAutoFit/>
          </a:bodyPr>
          <a:lstStyle/>
          <a:p>
            <a:r>
              <a:rPr lang="en-US" sz="1400" b="1" dirty="0">
                <a:solidFill>
                  <a:srgbClr val="C17A90"/>
                </a:solidFill>
                <a:latin typeface="Times New Roman" charset="0"/>
                <a:ea typeface="Times New Roman" charset="0"/>
                <a:cs typeface="Times New Roman" charset="0"/>
              </a:rPr>
              <a:t>hurt</a:t>
            </a:r>
          </a:p>
        </p:txBody>
      </p:sp>
      <p:sp>
        <p:nvSpPr>
          <p:cNvPr id="43" name="TextBox 42">
            <a:extLst>
              <a:ext uri="{FF2B5EF4-FFF2-40B4-BE49-F238E27FC236}">
                <a16:creationId xmlns:a16="http://schemas.microsoft.com/office/drawing/2014/main" xmlns="" id="{1B0F5427-D97D-D446-A8E0-E7B2935333EF}"/>
              </a:ext>
            </a:extLst>
          </p:cNvPr>
          <p:cNvSpPr txBox="1"/>
          <p:nvPr/>
        </p:nvSpPr>
        <p:spPr>
          <a:xfrm>
            <a:off x="1984412" y="3675063"/>
            <a:ext cx="752129"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ripping</a:t>
            </a:r>
          </a:p>
        </p:txBody>
      </p:sp>
      <p:sp>
        <p:nvSpPr>
          <p:cNvPr id="42" name="TextBox 41">
            <a:extLst>
              <a:ext uri="{FF2B5EF4-FFF2-40B4-BE49-F238E27FC236}">
                <a16:creationId xmlns:a16="http://schemas.microsoft.com/office/drawing/2014/main" xmlns="" id="{4932E516-C897-DE48-9651-A9FCDE8EC45A}"/>
              </a:ext>
            </a:extLst>
          </p:cNvPr>
          <p:cNvSpPr txBox="1"/>
          <p:nvPr/>
        </p:nvSpPr>
        <p:spPr>
          <a:xfrm>
            <a:off x="1984413" y="3675063"/>
            <a:ext cx="752129"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ripping</a:t>
            </a:r>
          </a:p>
        </p:txBody>
      </p:sp>
      <p:sp>
        <p:nvSpPr>
          <p:cNvPr id="41" name="TextBox 40">
            <a:extLst>
              <a:ext uri="{FF2B5EF4-FFF2-40B4-BE49-F238E27FC236}">
                <a16:creationId xmlns:a16="http://schemas.microsoft.com/office/drawing/2014/main" xmlns="" id="{43310B80-3C07-DA40-B669-9A98366B3BF1}"/>
              </a:ext>
            </a:extLst>
          </p:cNvPr>
          <p:cNvSpPr txBox="1"/>
          <p:nvPr/>
        </p:nvSpPr>
        <p:spPr>
          <a:xfrm>
            <a:off x="1981076" y="3671896"/>
            <a:ext cx="752129"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ripping</a:t>
            </a:r>
          </a:p>
        </p:txBody>
      </p:sp>
      <p:sp>
        <p:nvSpPr>
          <p:cNvPr id="2" name="Title 1">
            <a:extLst>
              <a:ext uri="{FF2B5EF4-FFF2-40B4-BE49-F238E27FC236}">
                <a16:creationId xmlns:a16="http://schemas.microsoft.com/office/drawing/2014/main" xmlns="" id="{4C1B584B-C97F-4280-A16C-ABFABC535E5A}"/>
              </a:ext>
            </a:extLst>
          </p:cNvPr>
          <p:cNvSpPr>
            <a:spLocks noGrp="1"/>
          </p:cNvSpPr>
          <p:nvPr>
            <p:ph type="title"/>
          </p:nvPr>
        </p:nvSpPr>
        <p:spPr/>
        <p:txBody>
          <a:bodyPr/>
          <a:lstStyle/>
          <a:p>
            <a:r>
              <a:rPr lang="en-US" dirty="0"/>
              <a:t>Temporal graphs are structured</a:t>
            </a:r>
          </a:p>
        </p:txBody>
      </p:sp>
      <p:sp>
        <p:nvSpPr>
          <p:cNvPr id="3" name="Content Placeholder 2">
            <a:extLst>
              <a:ext uri="{FF2B5EF4-FFF2-40B4-BE49-F238E27FC236}">
                <a16:creationId xmlns:a16="http://schemas.microsoft.com/office/drawing/2014/main" xmlns="" id="{E67D7159-3482-41DA-952A-D9B4545CE6AD}"/>
              </a:ext>
            </a:extLst>
          </p:cNvPr>
          <p:cNvSpPr>
            <a:spLocks noGrp="1"/>
          </p:cNvSpPr>
          <p:nvPr>
            <p:ph idx="1"/>
          </p:nvPr>
        </p:nvSpPr>
        <p:spPr>
          <a:xfrm>
            <a:off x="381000" y="1661902"/>
            <a:ext cx="8534400" cy="1201038"/>
          </a:xfrm>
        </p:spPr>
        <p:txBody>
          <a:bodyPr/>
          <a:lstStyle/>
          <a:p>
            <a:pPr marL="0" indent="0">
              <a:buNone/>
            </a:pPr>
            <a:r>
              <a:rPr lang="en-US" sz="2400" dirty="0"/>
              <a:t>Due to transitivity, </a:t>
            </a:r>
            <a:r>
              <a:rPr lang="en-US" sz="2400" dirty="0" err="1"/>
              <a:t>TempRels</a:t>
            </a:r>
            <a:r>
              <a:rPr lang="en-US" sz="2400" dirty="0"/>
              <a:t> are not independent</a:t>
            </a:r>
          </a:p>
          <a:p>
            <a:endParaRPr lang="en-US" sz="2400" dirty="0"/>
          </a:p>
          <a:p>
            <a:pPr marL="0" indent="0">
              <a:buNone/>
            </a:pPr>
            <a:r>
              <a:rPr lang="en-US" sz="2400" dirty="0"/>
              <a:t>Existing methods: global inference</a:t>
            </a:r>
            <a:endParaRPr lang="en-US" sz="2400" dirty="0">
              <a:sym typeface="Wingdings" panose="05000000000000000000" pitchFamily="2" charset="2"/>
            </a:endParaRPr>
          </a:p>
          <a:p>
            <a:endParaRPr lang="en-US" sz="2400" dirty="0"/>
          </a:p>
        </p:txBody>
      </p:sp>
      <p:sp>
        <p:nvSpPr>
          <p:cNvPr id="37" name="TextBox 36">
            <a:extLst>
              <a:ext uri="{FF2B5EF4-FFF2-40B4-BE49-F238E27FC236}">
                <a16:creationId xmlns:a16="http://schemas.microsoft.com/office/drawing/2014/main" xmlns="" id="{69231A96-B0D2-4862-A853-F2BB70CA4250}"/>
              </a:ext>
            </a:extLst>
          </p:cNvPr>
          <p:cNvSpPr txBox="1"/>
          <p:nvPr/>
        </p:nvSpPr>
        <p:spPr>
          <a:xfrm>
            <a:off x="1918863" y="4882931"/>
            <a:ext cx="873957" cy="307777"/>
          </a:xfrm>
          <a:prstGeom prst="rect">
            <a:avLst/>
          </a:prstGeom>
          <a:noFill/>
          <a:ln>
            <a:noFill/>
          </a:ln>
        </p:spPr>
        <p:txBody>
          <a:bodyPr wrap="none" rtlCol="0">
            <a:spAutoFit/>
          </a:bodyPr>
          <a:lstStyle/>
          <a:p>
            <a:r>
              <a:rPr lang="en-US" altLang="zh-CN" sz="1400" b="1" dirty="0">
                <a:solidFill>
                  <a:srgbClr val="C17A90"/>
                </a:solidFill>
                <a:latin typeface="Times New Roman" charset="0"/>
                <a:ea typeface="Times New Roman" charset="0"/>
                <a:cs typeface="Times New Roman" charset="0"/>
              </a:rPr>
              <a:t>cascaded</a:t>
            </a:r>
            <a:endParaRPr lang="en-US" sz="1400" b="1" dirty="0">
              <a:solidFill>
                <a:srgbClr val="C17A90"/>
              </a:solidFill>
              <a:latin typeface="Times New Roman" charset="0"/>
              <a:ea typeface="Times New Roman" charset="0"/>
              <a:cs typeface="Times New Roman" charset="0"/>
            </a:endParaRPr>
          </a:p>
        </p:txBody>
      </p:sp>
      <p:sp>
        <p:nvSpPr>
          <p:cNvPr id="33" name="TextBox 32">
            <a:extLst>
              <a:ext uri="{FF2B5EF4-FFF2-40B4-BE49-F238E27FC236}">
                <a16:creationId xmlns:a16="http://schemas.microsoft.com/office/drawing/2014/main" xmlns="" id="{306FE320-D23E-4FEE-9F8E-CA98C6C5F530}"/>
              </a:ext>
            </a:extLst>
          </p:cNvPr>
          <p:cNvSpPr txBox="1"/>
          <p:nvPr/>
        </p:nvSpPr>
        <p:spPr>
          <a:xfrm>
            <a:off x="1984414" y="3675063"/>
            <a:ext cx="752129" cy="307777"/>
          </a:xfrm>
          <a:prstGeom prst="rect">
            <a:avLst/>
          </a:prstGeom>
          <a:noFill/>
          <a:ln>
            <a:noFill/>
          </a:ln>
        </p:spPr>
        <p:txBody>
          <a:bodyPr wrap="none" rtlCol="0">
            <a:spAutoFit/>
          </a:bodyPr>
          <a:lstStyle/>
          <a:p>
            <a:r>
              <a:rPr lang="en-US" sz="1400" b="1" dirty="0">
                <a:solidFill>
                  <a:srgbClr val="C17A90"/>
                </a:solidFill>
                <a:latin typeface="Times New Roman" charset="0"/>
                <a:ea typeface="Times New Roman" charset="0"/>
                <a:cs typeface="Times New Roman" charset="0"/>
              </a:rPr>
              <a:t>ripping</a:t>
            </a:r>
          </a:p>
        </p:txBody>
      </p:sp>
      <p:sp>
        <p:nvSpPr>
          <p:cNvPr id="31" name="TextBox 30">
            <a:extLst>
              <a:ext uri="{FF2B5EF4-FFF2-40B4-BE49-F238E27FC236}">
                <a16:creationId xmlns:a16="http://schemas.microsoft.com/office/drawing/2014/main" xmlns="" id="{49003EBB-30C2-4A6E-9B7E-9B8B4726829D}"/>
              </a:ext>
            </a:extLst>
          </p:cNvPr>
          <p:cNvSpPr txBox="1"/>
          <p:nvPr/>
        </p:nvSpPr>
        <p:spPr>
          <a:xfrm>
            <a:off x="3783762" y="4878477"/>
            <a:ext cx="790537" cy="307777"/>
          </a:xfrm>
          <a:prstGeom prst="rect">
            <a:avLst/>
          </a:prstGeom>
          <a:noFill/>
          <a:ln>
            <a:noFill/>
          </a:ln>
        </p:spPr>
        <p:txBody>
          <a:bodyPr wrap="none" rtlCol="0">
            <a:spAutoFit/>
          </a:bodyPr>
          <a:lstStyle/>
          <a:p>
            <a:r>
              <a:rPr lang="en-US" sz="1400" b="1" dirty="0">
                <a:solidFill>
                  <a:srgbClr val="C17A90"/>
                </a:solidFill>
                <a:latin typeface="Times New Roman" charset="0"/>
                <a:ea typeface="Times New Roman" charset="0"/>
                <a:cs typeface="Times New Roman" charset="0"/>
              </a:rPr>
              <a:t>ordered</a:t>
            </a:r>
          </a:p>
        </p:txBody>
      </p:sp>
      <p:cxnSp>
        <p:nvCxnSpPr>
          <p:cNvPr id="18" name="Straight Arrow Connector 17">
            <a:extLst>
              <a:ext uri="{FF2B5EF4-FFF2-40B4-BE49-F238E27FC236}">
                <a16:creationId xmlns:a16="http://schemas.microsoft.com/office/drawing/2014/main" xmlns="" id="{0BACCC43-6CC5-4C3C-8E5E-F9F927F8B94F}"/>
              </a:ext>
            </a:extLst>
          </p:cNvPr>
          <p:cNvCxnSpPr>
            <a:cxnSpLocks/>
          </p:cNvCxnSpPr>
          <p:nvPr/>
        </p:nvCxnSpPr>
        <p:spPr>
          <a:xfrm flipH="1">
            <a:off x="2337780" y="4006411"/>
            <a:ext cx="2275" cy="798556"/>
          </a:xfrm>
          <a:prstGeom prst="straightConnector1">
            <a:avLst/>
          </a:prstGeom>
          <a:ln w="76200" cmpd="dbl">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xmlns="" id="{4FF3051B-1BED-4F81-84E9-9144F59A6658}"/>
              </a:ext>
            </a:extLst>
          </p:cNvPr>
          <p:cNvCxnSpPr/>
          <p:nvPr/>
        </p:nvCxnSpPr>
        <p:spPr>
          <a:xfrm flipH="1">
            <a:off x="1374539" y="3825785"/>
            <a:ext cx="609875" cy="439625"/>
          </a:xfrm>
          <a:prstGeom prst="straightConnector1">
            <a:avLst/>
          </a:prstGeom>
          <a:ln w="317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4B33CC75-CE81-4793-BE14-84BC2B70A7B6}"/>
              </a:ext>
            </a:extLst>
          </p:cNvPr>
          <p:cNvCxnSpPr/>
          <p:nvPr/>
        </p:nvCxnSpPr>
        <p:spPr>
          <a:xfrm>
            <a:off x="2492132" y="3967925"/>
            <a:ext cx="1516020" cy="900866"/>
          </a:xfrm>
          <a:prstGeom prst="straightConnector1">
            <a:avLst/>
          </a:prstGeom>
          <a:ln w="31750" cmpd="sng">
            <a:solidFill>
              <a:srgbClr val="FF000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xmlns="" id="{DF7A1C68-39CB-4B4F-AF30-2115BB94C260}"/>
              </a:ext>
            </a:extLst>
          </p:cNvPr>
          <p:cNvCxnSpPr/>
          <p:nvPr/>
        </p:nvCxnSpPr>
        <p:spPr>
          <a:xfrm flipV="1">
            <a:off x="2794523" y="5029200"/>
            <a:ext cx="989239" cy="4454"/>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BFF47532-9C5A-4318-AAFC-616F8209B108}"/>
              </a:ext>
            </a:extLst>
          </p:cNvPr>
          <p:cNvCxnSpPr/>
          <p:nvPr/>
        </p:nvCxnSpPr>
        <p:spPr>
          <a:xfrm flipH="1" flipV="1">
            <a:off x="1374539" y="4567959"/>
            <a:ext cx="544324" cy="465694"/>
          </a:xfrm>
          <a:prstGeom prst="straightConnector1">
            <a:avLst/>
          </a:prstGeom>
          <a:ln w="31750" cmpd="sng">
            <a:solidFill>
              <a:srgbClr val="00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xmlns="" id="{CF3EC16A-6808-436E-B8D5-2FC0C52207EE}"/>
              </a:ext>
            </a:extLst>
          </p:cNvPr>
          <p:cNvSpPr txBox="1"/>
          <p:nvPr/>
        </p:nvSpPr>
        <p:spPr>
          <a:xfrm>
            <a:off x="3783762" y="3675213"/>
            <a:ext cx="801823" cy="307777"/>
          </a:xfrm>
          <a:prstGeom prst="rect">
            <a:avLst/>
          </a:prstGeom>
          <a:noFill/>
          <a:ln>
            <a:noFill/>
          </a:ln>
        </p:spPr>
        <p:txBody>
          <a:bodyPr wrap="none" rtlCol="0">
            <a:spAutoFit/>
          </a:bodyPr>
          <a:lstStyle/>
          <a:p>
            <a:r>
              <a:rPr lang="en-US" sz="1400" b="1" dirty="0">
                <a:solidFill>
                  <a:srgbClr val="C17A90"/>
                </a:solidFill>
                <a:latin typeface="Times New Roman" charset="0"/>
                <a:ea typeface="Times New Roman" charset="0"/>
                <a:cs typeface="Times New Roman" charset="0"/>
              </a:rPr>
              <a:t>monitor</a:t>
            </a:r>
          </a:p>
        </p:txBody>
      </p:sp>
      <p:cxnSp>
        <p:nvCxnSpPr>
          <p:cNvPr id="24" name="Straight Connector 23">
            <a:extLst>
              <a:ext uri="{FF2B5EF4-FFF2-40B4-BE49-F238E27FC236}">
                <a16:creationId xmlns:a16="http://schemas.microsoft.com/office/drawing/2014/main" xmlns="" id="{F6CE56D6-D023-4B88-B59D-400ACE613C21}"/>
              </a:ext>
            </a:extLst>
          </p:cNvPr>
          <p:cNvCxnSpPr/>
          <p:nvPr/>
        </p:nvCxnSpPr>
        <p:spPr>
          <a:xfrm flipH="1" flipV="1">
            <a:off x="2733206" y="3825785"/>
            <a:ext cx="1050557" cy="150"/>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C8235993-3487-4925-AE51-802546311D16}"/>
              </a:ext>
            </a:extLst>
          </p:cNvPr>
          <p:cNvCxnSpPr/>
          <p:nvPr/>
        </p:nvCxnSpPr>
        <p:spPr>
          <a:xfrm flipH="1">
            <a:off x="4159426" y="4030735"/>
            <a:ext cx="7422" cy="775397"/>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5F41F946-2002-4ED4-994A-76B18F3455CF}"/>
              </a:ext>
            </a:extLst>
          </p:cNvPr>
          <p:cNvCxnSpPr/>
          <p:nvPr/>
        </p:nvCxnSpPr>
        <p:spPr>
          <a:xfrm flipH="1">
            <a:off x="2489857" y="4030735"/>
            <a:ext cx="1676991" cy="861065"/>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34F1B8A9-5B03-4D1A-B2D7-9B58D51F6443}"/>
              </a:ext>
            </a:extLst>
          </p:cNvPr>
          <p:cNvCxnSpPr/>
          <p:nvPr/>
        </p:nvCxnSpPr>
        <p:spPr>
          <a:xfrm flipH="1">
            <a:off x="1437199" y="3968076"/>
            <a:ext cx="2578374" cy="448609"/>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xmlns="" id="{1790034E-07E3-4A1D-A4A6-9B3839F3BF3F}"/>
              </a:ext>
            </a:extLst>
          </p:cNvPr>
          <p:cNvCxnSpPr/>
          <p:nvPr/>
        </p:nvCxnSpPr>
        <p:spPr>
          <a:xfrm flipV="1">
            <a:off x="2206066" y="5413121"/>
            <a:ext cx="271390" cy="3376"/>
          </a:xfrm>
          <a:prstGeom prst="straightConnector1">
            <a:avLst/>
          </a:prstGeom>
          <a:ln w="6350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4CDA7464-9DEF-4ECF-8EB3-DA28951C95A3}"/>
              </a:ext>
            </a:extLst>
          </p:cNvPr>
          <p:cNvSpPr txBox="1"/>
          <p:nvPr/>
        </p:nvSpPr>
        <p:spPr>
          <a:xfrm>
            <a:off x="2444831" y="5323461"/>
            <a:ext cx="607859" cy="215444"/>
          </a:xfrm>
          <a:prstGeom prst="rect">
            <a:avLst/>
          </a:prstGeom>
          <a:noFill/>
          <a:ln>
            <a:noFill/>
          </a:ln>
        </p:spPr>
        <p:txBody>
          <a:bodyPr wrap="none" rtlCol="0">
            <a:spAutoFit/>
          </a:bodyPr>
          <a:lstStyle/>
          <a:p>
            <a:r>
              <a:rPr lang="en-US" sz="800" b="1" dirty="0">
                <a:solidFill>
                  <a:srgbClr val="666089"/>
                </a:solidFill>
                <a:latin typeface="Times New Roman" charset="0"/>
                <a:ea typeface="Times New Roman" charset="0"/>
                <a:cs typeface="Times New Roman" charset="0"/>
              </a:rPr>
              <a:t>BEFORE</a:t>
            </a:r>
            <a:endParaRPr lang="en-US" sz="1200" b="1" dirty="0">
              <a:solidFill>
                <a:srgbClr val="666089"/>
              </a:solidFill>
              <a:latin typeface="Times New Roman" charset="0"/>
              <a:ea typeface="Times New Roman" charset="0"/>
              <a:cs typeface="Times New Roman" charset="0"/>
            </a:endParaRPr>
          </a:p>
        </p:txBody>
      </p:sp>
      <p:cxnSp>
        <p:nvCxnSpPr>
          <p:cNvPr id="12" name="Straight Arrow Connector 11">
            <a:extLst>
              <a:ext uri="{FF2B5EF4-FFF2-40B4-BE49-F238E27FC236}">
                <a16:creationId xmlns:a16="http://schemas.microsoft.com/office/drawing/2014/main" xmlns="" id="{3698058B-8FA1-4E6D-AED0-E7432B76635D}"/>
              </a:ext>
            </a:extLst>
          </p:cNvPr>
          <p:cNvCxnSpPr/>
          <p:nvPr/>
        </p:nvCxnSpPr>
        <p:spPr>
          <a:xfrm flipV="1">
            <a:off x="3055380" y="5413120"/>
            <a:ext cx="271390" cy="0"/>
          </a:xfrm>
          <a:prstGeom prst="straightConnector1">
            <a:avLst/>
          </a:prstGeom>
          <a:ln w="88900" cmpd="dbl">
            <a:solidFill>
              <a:schemeClr val="bg2"/>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383684F5-6E3C-428D-B627-C1F6F491FD1A}"/>
              </a:ext>
            </a:extLst>
          </p:cNvPr>
          <p:cNvSpPr txBox="1"/>
          <p:nvPr/>
        </p:nvSpPr>
        <p:spPr>
          <a:xfrm>
            <a:off x="3294145" y="5323461"/>
            <a:ext cx="731290" cy="215444"/>
          </a:xfrm>
          <a:prstGeom prst="rect">
            <a:avLst/>
          </a:prstGeom>
          <a:noFill/>
          <a:ln>
            <a:noFill/>
          </a:ln>
        </p:spPr>
        <p:txBody>
          <a:bodyPr wrap="none" rtlCol="0">
            <a:spAutoFit/>
          </a:bodyPr>
          <a:lstStyle/>
          <a:p>
            <a:r>
              <a:rPr lang="en-US" sz="800" b="1" dirty="0">
                <a:solidFill>
                  <a:srgbClr val="666089"/>
                </a:solidFill>
                <a:latin typeface="Times New Roman" charset="0"/>
                <a:ea typeface="Times New Roman" charset="0"/>
                <a:cs typeface="Times New Roman" charset="0"/>
              </a:rPr>
              <a:t>INCLUDED</a:t>
            </a:r>
            <a:endParaRPr lang="en-US" sz="1200" b="1" dirty="0">
              <a:solidFill>
                <a:srgbClr val="666089"/>
              </a:solidFill>
              <a:latin typeface="Times New Roman" charset="0"/>
              <a:ea typeface="Times New Roman" charset="0"/>
              <a:cs typeface="Times New Roman" charset="0"/>
            </a:endParaRPr>
          </a:p>
        </p:txBody>
      </p:sp>
      <p:cxnSp>
        <p:nvCxnSpPr>
          <p:cNvPr id="38" name="Straight Connector 37">
            <a:extLst>
              <a:ext uri="{FF2B5EF4-FFF2-40B4-BE49-F238E27FC236}">
                <a16:creationId xmlns:a16="http://schemas.microsoft.com/office/drawing/2014/main" xmlns="" id="{E401D0A2-BE3F-F34E-96A9-92CDCF68B6C0}"/>
              </a:ext>
            </a:extLst>
          </p:cNvPr>
          <p:cNvCxnSpPr>
            <a:cxnSpLocks/>
          </p:cNvCxnSpPr>
          <p:nvPr/>
        </p:nvCxnSpPr>
        <p:spPr>
          <a:xfrm flipH="1" flipV="1">
            <a:off x="1437199" y="4451324"/>
            <a:ext cx="2570953" cy="476139"/>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xmlns="" id="{564FF85C-7656-CF4D-BE38-A2C27601AEF8}"/>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grpSp>
        <p:nvGrpSpPr>
          <p:cNvPr id="4" name="Group 3">
            <a:extLst>
              <a:ext uri="{FF2B5EF4-FFF2-40B4-BE49-F238E27FC236}">
                <a16:creationId xmlns:a16="http://schemas.microsoft.com/office/drawing/2014/main" xmlns="" id="{9D1B7BE9-C967-F44F-9295-A196A32A51E8}"/>
              </a:ext>
            </a:extLst>
          </p:cNvPr>
          <p:cNvGrpSpPr/>
          <p:nvPr/>
        </p:nvGrpSpPr>
        <p:grpSpPr>
          <a:xfrm>
            <a:off x="4977154" y="3828951"/>
            <a:ext cx="3938246" cy="1198586"/>
            <a:chOff x="4977154" y="3828951"/>
            <a:chExt cx="3938246" cy="1198586"/>
          </a:xfrm>
        </p:grpSpPr>
        <p:grpSp>
          <p:nvGrpSpPr>
            <p:cNvPr id="39" name="Group 38">
              <a:extLst>
                <a:ext uri="{FF2B5EF4-FFF2-40B4-BE49-F238E27FC236}">
                  <a16:creationId xmlns:a16="http://schemas.microsoft.com/office/drawing/2014/main" xmlns="" id="{BD9DA3AD-202F-EF42-AA01-FF5A88466510}"/>
                </a:ext>
              </a:extLst>
            </p:cNvPr>
            <p:cNvGrpSpPr/>
            <p:nvPr/>
          </p:nvGrpSpPr>
          <p:grpSpPr>
            <a:xfrm>
              <a:off x="4977154" y="3828951"/>
              <a:ext cx="3581400" cy="1198586"/>
              <a:chOff x="-5105400" y="4876800"/>
              <a:chExt cx="3581400" cy="1198586"/>
            </a:xfrm>
          </p:grpSpPr>
          <p:grpSp>
            <p:nvGrpSpPr>
              <p:cNvPr id="40" name="Group 39">
                <a:extLst>
                  <a:ext uri="{FF2B5EF4-FFF2-40B4-BE49-F238E27FC236}">
                    <a16:creationId xmlns:a16="http://schemas.microsoft.com/office/drawing/2014/main" xmlns="" id="{19503E91-D86A-0A42-A470-E05E49B425FA}"/>
                  </a:ext>
                </a:extLst>
              </p:cNvPr>
              <p:cNvGrpSpPr/>
              <p:nvPr/>
            </p:nvGrpSpPr>
            <p:grpSpPr>
              <a:xfrm>
                <a:off x="-5105400" y="4876800"/>
                <a:ext cx="3581400" cy="1198586"/>
                <a:chOff x="-5105400" y="2901434"/>
                <a:chExt cx="3581400" cy="1198586"/>
              </a:xfrm>
            </p:grpSpPr>
            <p:cxnSp>
              <p:nvCxnSpPr>
                <p:cNvPr id="63" name="Straight Arrow Connector 62">
                  <a:extLst>
                    <a:ext uri="{FF2B5EF4-FFF2-40B4-BE49-F238E27FC236}">
                      <a16:creationId xmlns:a16="http://schemas.microsoft.com/office/drawing/2014/main" xmlns="" id="{FBBE9CA7-A205-FB41-889E-96347FE496FC}"/>
                    </a:ext>
                  </a:extLst>
                </p:cNvPr>
                <p:cNvCxnSpPr/>
                <p:nvPr/>
              </p:nvCxnSpPr>
              <p:spPr>
                <a:xfrm>
                  <a:off x="-5105400" y="3429000"/>
                  <a:ext cx="3581400" cy="0"/>
                </a:xfrm>
                <a:prstGeom prst="straightConnector1">
                  <a:avLst/>
                </a:prstGeom>
                <a:ln>
                  <a:solidFill>
                    <a:schemeClr val="bg2"/>
                  </a:solidFill>
                  <a:tailEnd type="triangle"/>
                </a:ln>
              </p:spPr>
              <p:style>
                <a:lnRef idx="3">
                  <a:schemeClr val="dk1"/>
                </a:lnRef>
                <a:fillRef idx="0">
                  <a:schemeClr val="dk1"/>
                </a:fillRef>
                <a:effectRef idx="2">
                  <a:schemeClr val="dk1"/>
                </a:effectRef>
                <a:fontRef idx="minor">
                  <a:schemeClr val="tx1"/>
                </a:fontRef>
              </p:style>
            </p:cxnSp>
            <p:sp>
              <p:nvSpPr>
                <p:cNvPr id="64" name="TextBox 63">
                  <a:extLst>
                    <a:ext uri="{FF2B5EF4-FFF2-40B4-BE49-F238E27FC236}">
                      <a16:creationId xmlns:a16="http://schemas.microsoft.com/office/drawing/2014/main" xmlns="" id="{125259AA-2068-DB4D-9E9A-65053001A378}"/>
                    </a:ext>
                  </a:extLst>
                </p:cNvPr>
                <p:cNvSpPr txBox="1"/>
                <p:nvPr/>
              </p:nvSpPr>
              <p:spPr>
                <a:xfrm>
                  <a:off x="-4682613" y="3730688"/>
                  <a:ext cx="957313" cy="369332"/>
                </a:xfrm>
                <a:prstGeom prst="rect">
                  <a:avLst/>
                </a:prstGeom>
                <a:noFill/>
              </p:spPr>
              <p:txBody>
                <a:bodyPr wrap="none" rtlCol="0">
                  <a:spAutoFit/>
                </a:bodyPr>
                <a:lstStyle/>
                <a:p>
                  <a:r>
                    <a:rPr lang="en-US" dirty="0">
                      <a:solidFill>
                        <a:srgbClr val="C17A90"/>
                      </a:solidFill>
                      <a:latin typeface="Century Gothic" panose="020B0502020202020204" pitchFamily="34" charset="0"/>
                    </a:rPr>
                    <a:t>ripping</a:t>
                  </a:r>
                </a:p>
              </p:txBody>
            </p:sp>
            <p:sp>
              <p:nvSpPr>
                <p:cNvPr id="65" name="TextBox 64">
                  <a:extLst>
                    <a:ext uri="{FF2B5EF4-FFF2-40B4-BE49-F238E27FC236}">
                      <a16:creationId xmlns:a16="http://schemas.microsoft.com/office/drawing/2014/main" xmlns="" id="{28F84A82-7AE4-AA4C-8A2E-61BCEB468B52}"/>
                    </a:ext>
                  </a:extLst>
                </p:cNvPr>
                <p:cNvSpPr txBox="1"/>
                <p:nvPr/>
              </p:nvSpPr>
              <p:spPr>
                <a:xfrm>
                  <a:off x="-3098714" y="2901434"/>
                  <a:ext cx="1091966" cy="369332"/>
                </a:xfrm>
                <a:prstGeom prst="rect">
                  <a:avLst/>
                </a:prstGeom>
                <a:noFill/>
              </p:spPr>
              <p:txBody>
                <a:bodyPr wrap="none" rtlCol="0">
                  <a:spAutoFit/>
                </a:bodyPr>
                <a:lstStyle/>
                <a:p>
                  <a:r>
                    <a:rPr lang="en-US" dirty="0">
                      <a:solidFill>
                        <a:srgbClr val="C17A90"/>
                      </a:solidFill>
                      <a:latin typeface="Century Gothic" panose="020B0502020202020204" pitchFamily="34" charset="0"/>
                    </a:rPr>
                    <a:t>ordered</a:t>
                  </a:r>
                </a:p>
              </p:txBody>
            </p:sp>
            <p:sp>
              <p:nvSpPr>
                <p:cNvPr id="66" name="TextBox 65">
                  <a:extLst>
                    <a:ext uri="{FF2B5EF4-FFF2-40B4-BE49-F238E27FC236}">
                      <a16:creationId xmlns:a16="http://schemas.microsoft.com/office/drawing/2014/main" xmlns="" id="{B5A9EB4A-DF3F-9E4B-BF48-9C7A83FFFAFD}"/>
                    </a:ext>
                  </a:extLst>
                </p:cNvPr>
                <p:cNvSpPr txBox="1"/>
                <p:nvPr/>
              </p:nvSpPr>
              <p:spPr>
                <a:xfrm>
                  <a:off x="-4846431" y="2904891"/>
                  <a:ext cx="1354858" cy="369332"/>
                </a:xfrm>
                <a:prstGeom prst="rect">
                  <a:avLst/>
                </a:prstGeom>
                <a:noFill/>
              </p:spPr>
              <p:txBody>
                <a:bodyPr wrap="none" rtlCol="0">
                  <a:spAutoFit/>
                </a:bodyPr>
                <a:lstStyle/>
                <a:p>
                  <a:r>
                    <a:rPr lang="en-US" dirty="0">
                      <a:solidFill>
                        <a:srgbClr val="C17A90"/>
                      </a:solidFill>
                      <a:latin typeface="Century Gothic" panose="020B0502020202020204" pitchFamily="34" charset="0"/>
                    </a:rPr>
                    <a:t>cascaded</a:t>
                  </a:r>
                </a:p>
              </p:txBody>
            </p:sp>
          </p:grpSp>
          <p:cxnSp>
            <p:nvCxnSpPr>
              <p:cNvPr id="45" name="Straight Connector 44">
                <a:extLst>
                  <a:ext uri="{FF2B5EF4-FFF2-40B4-BE49-F238E27FC236}">
                    <a16:creationId xmlns:a16="http://schemas.microsoft.com/office/drawing/2014/main" xmlns="" id="{92AD4E36-72AB-1748-9493-E245CFD71CEA}"/>
                  </a:ext>
                </a:extLst>
              </p:cNvPr>
              <p:cNvCxnSpPr>
                <a:cxnSpLocks/>
              </p:cNvCxnSpPr>
              <p:nvPr/>
            </p:nvCxnSpPr>
            <p:spPr>
              <a:xfrm>
                <a:off x="-3491573" y="5064923"/>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58" name="Straight Connector 57">
                <a:extLst>
                  <a:ext uri="{FF2B5EF4-FFF2-40B4-BE49-F238E27FC236}">
                    <a16:creationId xmlns:a16="http://schemas.microsoft.com/office/drawing/2014/main" xmlns="" id="{22A4815A-259E-7D49-AC14-49C7E0605A80}"/>
                  </a:ext>
                </a:extLst>
              </p:cNvPr>
              <p:cNvCxnSpPr>
                <a:cxnSpLocks/>
              </p:cNvCxnSpPr>
              <p:nvPr/>
            </p:nvCxnSpPr>
            <p:spPr>
              <a:xfrm>
                <a:off x="-4419600" y="5404366"/>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59" name="Straight Connector 58">
                <a:extLst>
                  <a:ext uri="{FF2B5EF4-FFF2-40B4-BE49-F238E27FC236}">
                    <a16:creationId xmlns:a16="http://schemas.microsoft.com/office/drawing/2014/main" xmlns="" id="{50E9F7F8-A248-6D4A-8548-3862A8CBF78A}"/>
                  </a:ext>
                </a:extLst>
              </p:cNvPr>
              <p:cNvCxnSpPr>
                <a:cxnSpLocks/>
              </p:cNvCxnSpPr>
              <p:nvPr/>
            </p:nvCxnSpPr>
            <p:spPr>
              <a:xfrm>
                <a:off x="-4089497" y="5404366"/>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60" name="Straight Connector 59">
                <a:extLst>
                  <a:ext uri="{FF2B5EF4-FFF2-40B4-BE49-F238E27FC236}">
                    <a16:creationId xmlns:a16="http://schemas.microsoft.com/office/drawing/2014/main" xmlns="" id="{FF3B8F8E-6948-1448-A083-D8562DA2F434}"/>
                  </a:ext>
                </a:extLst>
              </p:cNvPr>
              <p:cNvCxnSpPr>
                <a:cxnSpLocks/>
              </p:cNvCxnSpPr>
              <p:nvPr/>
            </p:nvCxnSpPr>
            <p:spPr>
              <a:xfrm>
                <a:off x="-3060614" y="5064923"/>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a:extLst>
                  <a:ext uri="{FF2B5EF4-FFF2-40B4-BE49-F238E27FC236}">
                    <a16:creationId xmlns:a16="http://schemas.microsoft.com/office/drawing/2014/main" xmlns="" id="{F0DD31F0-E600-8D48-936A-ADB0FFC88AE6}"/>
                  </a:ext>
                </a:extLst>
              </p:cNvPr>
              <p:cNvCxnSpPr>
                <a:cxnSpLocks/>
              </p:cNvCxnSpPr>
              <p:nvPr/>
            </p:nvCxnSpPr>
            <p:spPr>
              <a:xfrm>
                <a:off x="-2082620" y="5064923"/>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62" name="Straight Connector 61">
                <a:extLst>
                  <a:ext uri="{FF2B5EF4-FFF2-40B4-BE49-F238E27FC236}">
                    <a16:creationId xmlns:a16="http://schemas.microsoft.com/office/drawing/2014/main" xmlns="" id="{842C74D4-16BB-6F45-8C11-FACFBCC29B09}"/>
                  </a:ext>
                </a:extLst>
              </p:cNvPr>
              <p:cNvCxnSpPr>
                <a:cxnSpLocks/>
              </p:cNvCxnSpPr>
              <p:nvPr/>
            </p:nvCxnSpPr>
            <p:spPr>
              <a:xfrm>
                <a:off x="-4953000" y="5064923"/>
                <a:ext cx="0" cy="339443"/>
              </a:xfrm>
              <a:prstGeom prst="line">
                <a:avLst/>
              </a:prstGeom>
            </p:spPr>
            <p:style>
              <a:lnRef idx="3">
                <a:schemeClr val="dk1"/>
              </a:lnRef>
              <a:fillRef idx="0">
                <a:schemeClr val="dk1"/>
              </a:fillRef>
              <a:effectRef idx="2">
                <a:schemeClr val="dk1"/>
              </a:effectRef>
              <a:fontRef idx="minor">
                <a:schemeClr val="tx1"/>
              </a:fontRef>
            </p:style>
          </p:cxnSp>
        </p:grpSp>
        <p:sp>
          <p:nvSpPr>
            <p:cNvPr id="67" name="TextBox 66">
              <a:extLst>
                <a:ext uri="{FF2B5EF4-FFF2-40B4-BE49-F238E27FC236}">
                  <a16:creationId xmlns:a16="http://schemas.microsoft.com/office/drawing/2014/main" xmlns="" id="{44494CDC-D9CC-8A45-BF95-E3ED69C0F731}"/>
                </a:ext>
              </a:extLst>
            </p:cNvPr>
            <p:cNvSpPr txBox="1"/>
            <p:nvPr/>
          </p:nvSpPr>
          <p:spPr>
            <a:xfrm>
              <a:off x="8219376" y="4388521"/>
              <a:ext cx="696024" cy="369332"/>
            </a:xfrm>
            <a:prstGeom prst="rect">
              <a:avLst/>
            </a:prstGeom>
            <a:noFill/>
            <a:ln>
              <a:noFill/>
            </a:ln>
          </p:spPr>
          <p:txBody>
            <a:bodyPr wrap="none" rtlCol="0">
              <a:spAutoFit/>
            </a:bodyPr>
            <a:lstStyle/>
            <a:p>
              <a:pPr lvl="0">
                <a:spcBef>
                  <a:spcPct val="20000"/>
                </a:spcBef>
                <a:buClr>
                  <a:srgbClr val="000080"/>
                </a:buClr>
              </a:pPr>
              <a:r>
                <a:rPr lang="en-US" dirty="0">
                  <a:solidFill>
                    <a:schemeClr val="bg2"/>
                  </a:solidFill>
                  <a:latin typeface="Century Gothic" panose="020B0502020202020204" pitchFamily="34" charset="0"/>
                  <a:ea typeface="Courier" charset="0"/>
                  <a:cs typeface="Courier" charset="0"/>
                  <a:sym typeface="Wingdings" panose="05000000000000000000" pitchFamily="2" charset="2"/>
                </a:rPr>
                <a:t>Time</a:t>
              </a:r>
              <a:endParaRPr lang="en-US" dirty="0">
                <a:solidFill>
                  <a:schemeClr val="bg2"/>
                </a:solidFill>
                <a:latin typeface="Century Gothic" panose="020B0502020202020204" pitchFamily="34" charset="0"/>
                <a:cs typeface="Calibri" panose="020F0502020204030204" pitchFamily="34" charset="0"/>
                <a:sym typeface="Wingdings" panose="05000000000000000000" pitchFamily="2" charset="2"/>
              </a:endParaRPr>
            </a:p>
          </p:txBody>
        </p:sp>
      </p:grpSp>
      <p:grpSp>
        <p:nvGrpSpPr>
          <p:cNvPr id="15" name="Group 14">
            <a:extLst>
              <a:ext uri="{FF2B5EF4-FFF2-40B4-BE49-F238E27FC236}">
                <a16:creationId xmlns:a16="http://schemas.microsoft.com/office/drawing/2014/main" xmlns="" id="{07E7041E-DF85-3E4D-A35D-908CB0EB28F8}"/>
              </a:ext>
            </a:extLst>
          </p:cNvPr>
          <p:cNvGrpSpPr/>
          <p:nvPr/>
        </p:nvGrpSpPr>
        <p:grpSpPr>
          <a:xfrm>
            <a:off x="6420023" y="4438750"/>
            <a:ext cx="1891865" cy="938832"/>
            <a:chOff x="6420023" y="4438750"/>
            <a:chExt cx="1891865" cy="938832"/>
          </a:xfrm>
        </p:grpSpPr>
        <p:sp>
          <p:nvSpPr>
            <p:cNvPr id="9" name="Bent-Up Arrow 8">
              <a:extLst>
                <a:ext uri="{FF2B5EF4-FFF2-40B4-BE49-F238E27FC236}">
                  <a16:creationId xmlns:a16="http://schemas.microsoft.com/office/drawing/2014/main" xmlns="" id="{49008456-07ED-3C48-AB5B-2C5A20E8E5F4}"/>
                </a:ext>
              </a:extLst>
            </p:cNvPr>
            <p:cNvSpPr/>
            <p:nvPr/>
          </p:nvSpPr>
          <p:spPr>
            <a:xfrm>
              <a:off x="6436420" y="4438750"/>
              <a:ext cx="1153915" cy="486831"/>
            </a:xfrm>
            <a:prstGeom prst="bentUpArrow">
              <a:avLst>
                <a:gd name="adj1" fmla="val 15490"/>
                <a:gd name="adj2" fmla="val 25000"/>
                <a:gd name="adj3" fmla="val 29755"/>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xmlns="" id="{F71D1E1C-00EE-7E42-83D0-4B601E7E7672}"/>
                </a:ext>
              </a:extLst>
            </p:cNvPr>
            <p:cNvSpPr txBox="1"/>
            <p:nvPr/>
          </p:nvSpPr>
          <p:spPr>
            <a:xfrm>
              <a:off x="6420023" y="5008250"/>
              <a:ext cx="1891865" cy="369332"/>
            </a:xfrm>
            <a:prstGeom prst="rect">
              <a:avLst/>
            </a:prstGeom>
            <a:noFill/>
          </p:spPr>
          <p:txBody>
            <a:bodyPr wrap="none" rtlCol="0">
              <a:spAutoFit/>
            </a:bodyPr>
            <a:lstStyle/>
            <a:p>
              <a:r>
                <a:rPr lang="en-US" dirty="0">
                  <a:solidFill>
                    <a:srgbClr val="FF0000"/>
                  </a:solidFill>
                  <a:latin typeface="Century Gothic" panose="020B0502020202020204" pitchFamily="34" charset="0"/>
                </a:rPr>
                <a:t>Must be before</a:t>
              </a:r>
            </a:p>
          </p:txBody>
        </p:sp>
      </p:grpSp>
      <p:sp>
        <p:nvSpPr>
          <p:cNvPr id="5" name="TextBox 4">
            <a:extLst>
              <a:ext uri="{FF2B5EF4-FFF2-40B4-BE49-F238E27FC236}">
                <a16:creationId xmlns:a16="http://schemas.microsoft.com/office/drawing/2014/main" xmlns="" id="{88539280-3D24-834A-8256-1C52BB5E9175}"/>
              </a:ext>
            </a:extLst>
          </p:cNvPr>
          <p:cNvSpPr txBox="1"/>
          <p:nvPr/>
        </p:nvSpPr>
        <p:spPr>
          <a:xfrm>
            <a:off x="3128639" y="4005400"/>
            <a:ext cx="396262" cy="523220"/>
          </a:xfrm>
          <a:prstGeom prst="rect">
            <a:avLst/>
          </a:prstGeom>
          <a:noFill/>
        </p:spPr>
        <p:txBody>
          <a:bodyPr wrap="none" rtlCol="0">
            <a:spAutoFit/>
          </a:bodyPr>
          <a:lstStyle/>
          <a:p>
            <a:r>
              <a:rPr lang="en-US" sz="2800" dirty="0">
                <a:solidFill>
                  <a:srgbClr val="FF0000"/>
                </a:solidFill>
                <a:latin typeface="Century Gothic" panose="020B0502020202020204" pitchFamily="34" charset="0"/>
              </a:rPr>
              <a:t>?</a:t>
            </a:r>
          </a:p>
        </p:txBody>
      </p:sp>
    </p:spTree>
    <p:extLst>
      <p:ext uri="{BB962C8B-B14F-4D97-AF65-F5344CB8AC3E}">
        <p14:creationId xmlns:p14="http://schemas.microsoft.com/office/powerpoint/2010/main" val="514667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1000"/>
                                        <p:tgtEl>
                                          <p:spTgt spid="56"/>
                                        </p:tgtEl>
                                      </p:cBhvr>
                                    </p:animEffect>
                                    <p:anim calcmode="lin" valueType="num">
                                      <p:cBhvr>
                                        <p:cTn id="13" dur="1000" fill="hold"/>
                                        <p:tgtEl>
                                          <p:spTgt spid="56"/>
                                        </p:tgtEl>
                                        <p:attrNameLst>
                                          <p:attrName>ppt_x</p:attrName>
                                        </p:attrNameLst>
                                      </p:cBhvr>
                                      <p:tavLst>
                                        <p:tav tm="0">
                                          <p:val>
                                            <p:strVal val="#ppt_x"/>
                                          </p:val>
                                        </p:tav>
                                        <p:tav tm="100000">
                                          <p:val>
                                            <p:strVal val="#ppt_x"/>
                                          </p:val>
                                        </p:tav>
                                      </p:tavLst>
                                    </p:anim>
                                    <p:anim calcmode="lin" valueType="num">
                                      <p:cBhvr>
                                        <p:cTn id="14" dur="1000" fill="hold"/>
                                        <p:tgtEl>
                                          <p:spTgt spid="5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1000"/>
                                        <p:tgtEl>
                                          <p:spTgt spid="55"/>
                                        </p:tgtEl>
                                      </p:cBhvr>
                                    </p:animEffect>
                                    <p:anim calcmode="lin" valueType="num">
                                      <p:cBhvr>
                                        <p:cTn id="18" dur="1000" fill="hold"/>
                                        <p:tgtEl>
                                          <p:spTgt spid="55"/>
                                        </p:tgtEl>
                                        <p:attrNameLst>
                                          <p:attrName>ppt_x</p:attrName>
                                        </p:attrNameLst>
                                      </p:cBhvr>
                                      <p:tavLst>
                                        <p:tav tm="0">
                                          <p:val>
                                            <p:strVal val="#ppt_x"/>
                                          </p:val>
                                        </p:tav>
                                        <p:tav tm="100000">
                                          <p:val>
                                            <p:strVal val="#ppt_x"/>
                                          </p:val>
                                        </p:tav>
                                      </p:tavLst>
                                    </p:anim>
                                    <p:anim calcmode="lin" valueType="num">
                                      <p:cBhvr>
                                        <p:cTn id="19" dur="1000" fill="hold"/>
                                        <p:tgtEl>
                                          <p:spTgt spid="5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1000"/>
                                        <p:tgtEl>
                                          <p:spTgt spid="54"/>
                                        </p:tgtEl>
                                      </p:cBhvr>
                                    </p:animEffect>
                                    <p:anim calcmode="lin" valueType="num">
                                      <p:cBhvr>
                                        <p:cTn id="23" dur="1000" fill="hold"/>
                                        <p:tgtEl>
                                          <p:spTgt spid="54"/>
                                        </p:tgtEl>
                                        <p:attrNameLst>
                                          <p:attrName>ppt_x</p:attrName>
                                        </p:attrNameLst>
                                      </p:cBhvr>
                                      <p:tavLst>
                                        <p:tav tm="0">
                                          <p:val>
                                            <p:strVal val="#ppt_x"/>
                                          </p:val>
                                        </p:tav>
                                        <p:tav tm="100000">
                                          <p:val>
                                            <p:strVal val="#ppt_x"/>
                                          </p:val>
                                        </p:tav>
                                      </p:tavLst>
                                    </p:anim>
                                    <p:anim calcmode="lin" valueType="num">
                                      <p:cBhvr>
                                        <p:cTn id="24" dur="1000" fill="hold"/>
                                        <p:tgtEl>
                                          <p:spTgt spid="5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1000"/>
                                        <p:tgtEl>
                                          <p:spTgt spid="53"/>
                                        </p:tgtEl>
                                      </p:cBhvr>
                                    </p:animEffect>
                                    <p:anim calcmode="lin" valueType="num">
                                      <p:cBhvr>
                                        <p:cTn id="28" dur="1000" fill="hold"/>
                                        <p:tgtEl>
                                          <p:spTgt spid="53"/>
                                        </p:tgtEl>
                                        <p:attrNameLst>
                                          <p:attrName>ppt_x</p:attrName>
                                        </p:attrNameLst>
                                      </p:cBhvr>
                                      <p:tavLst>
                                        <p:tav tm="0">
                                          <p:val>
                                            <p:strVal val="#ppt_x"/>
                                          </p:val>
                                        </p:tav>
                                        <p:tav tm="100000">
                                          <p:val>
                                            <p:strVal val="#ppt_x"/>
                                          </p:val>
                                        </p:tav>
                                      </p:tavLst>
                                    </p:anim>
                                    <p:anim calcmode="lin" valueType="num">
                                      <p:cBhvr>
                                        <p:cTn id="29" dur="1000" fill="hold"/>
                                        <p:tgtEl>
                                          <p:spTgt spid="5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1000"/>
                                        <p:tgtEl>
                                          <p:spTgt spid="52"/>
                                        </p:tgtEl>
                                      </p:cBhvr>
                                    </p:animEffect>
                                    <p:anim calcmode="lin" valueType="num">
                                      <p:cBhvr>
                                        <p:cTn id="33" dur="1000" fill="hold"/>
                                        <p:tgtEl>
                                          <p:spTgt spid="52"/>
                                        </p:tgtEl>
                                        <p:attrNameLst>
                                          <p:attrName>ppt_x</p:attrName>
                                        </p:attrNameLst>
                                      </p:cBhvr>
                                      <p:tavLst>
                                        <p:tav tm="0">
                                          <p:val>
                                            <p:strVal val="#ppt_x"/>
                                          </p:val>
                                        </p:tav>
                                        <p:tav tm="100000">
                                          <p:val>
                                            <p:strVal val="#ppt_x"/>
                                          </p:val>
                                        </p:tav>
                                      </p:tavLst>
                                    </p:anim>
                                    <p:anim calcmode="lin" valueType="num">
                                      <p:cBhvr>
                                        <p:cTn id="34" dur="1000" fill="hold"/>
                                        <p:tgtEl>
                                          <p:spTgt spid="5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fade">
                                      <p:cBhvr>
                                        <p:cTn id="37" dur="1000"/>
                                        <p:tgtEl>
                                          <p:spTgt spid="51"/>
                                        </p:tgtEl>
                                      </p:cBhvr>
                                    </p:animEffect>
                                    <p:anim calcmode="lin" valueType="num">
                                      <p:cBhvr>
                                        <p:cTn id="38" dur="1000" fill="hold"/>
                                        <p:tgtEl>
                                          <p:spTgt spid="51"/>
                                        </p:tgtEl>
                                        <p:attrNameLst>
                                          <p:attrName>ppt_x</p:attrName>
                                        </p:attrNameLst>
                                      </p:cBhvr>
                                      <p:tavLst>
                                        <p:tav tm="0">
                                          <p:val>
                                            <p:strVal val="#ppt_x"/>
                                          </p:val>
                                        </p:tav>
                                        <p:tav tm="100000">
                                          <p:val>
                                            <p:strVal val="#ppt_x"/>
                                          </p:val>
                                        </p:tav>
                                      </p:tavLst>
                                    </p:anim>
                                    <p:anim calcmode="lin" valueType="num">
                                      <p:cBhvr>
                                        <p:cTn id="39" dur="1000" fill="hold"/>
                                        <p:tgtEl>
                                          <p:spTgt spid="5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fade">
                                      <p:cBhvr>
                                        <p:cTn id="42" dur="1000"/>
                                        <p:tgtEl>
                                          <p:spTgt spid="50"/>
                                        </p:tgtEl>
                                      </p:cBhvr>
                                    </p:animEffect>
                                    <p:anim calcmode="lin" valueType="num">
                                      <p:cBhvr>
                                        <p:cTn id="43" dur="1000" fill="hold"/>
                                        <p:tgtEl>
                                          <p:spTgt spid="50"/>
                                        </p:tgtEl>
                                        <p:attrNameLst>
                                          <p:attrName>ppt_x</p:attrName>
                                        </p:attrNameLst>
                                      </p:cBhvr>
                                      <p:tavLst>
                                        <p:tav tm="0">
                                          <p:val>
                                            <p:strVal val="#ppt_x"/>
                                          </p:val>
                                        </p:tav>
                                        <p:tav tm="100000">
                                          <p:val>
                                            <p:strVal val="#ppt_x"/>
                                          </p:val>
                                        </p:tav>
                                      </p:tavLst>
                                    </p:anim>
                                    <p:anim calcmode="lin" valueType="num">
                                      <p:cBhvr>
                                        <p:cTn id="44" dur="1000" fill="hold"/>
                                        <p:tgtEl>
                                          <p:spTgt spid="50"/>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1000"/>
                                        <p:tgtEl>
                                          <p:spTgt spid="49"/>
                                        </p:tgtEl>
                                      </p:cBhvr>
                                    </p:animEffect>
                                    <p:anim calcmode="lin" valueType="num">
                                      <p:cBhvr>
                                        <p:cTn id="48" dur="1000" fill="hold"/>
                                        <p:tgtEl>
                                          <p:spTgt spid="49"/>
                                        </p:tgtEl>
                                        <p:attrNameLst>
                                          <p:attrName>ppt_x</p:attrName>
                                        </p:attrNameLst>
                                      </p:cBhvr>
                                      <p:tavLst>
                                        <p:tav tm="0">
                                          <p:val>
                                            <p:strVal val="#ppt_x"/>
                                          </p:val>
                                        </p:tav>
                                        <p:tav tm="100000">
                                          <p:val>
                                            <p:strVal val="#ppt_x"/>
                                          </p:val>
                                        </p:tav>
                                      </p:tavLst>
                                    </p:anim>
                                    <p:anim calcmode="lin" valueType="num">
                                      <p:cBhvr>
                                        <p:cTn id="49" dur="1000" fill="hold"/>
                                        <p:tgtEl>
                                          <p:spTgt spid="4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fade">
                                      <p:cBhvr>
                                        <p:cTn id="52" dur="1000"/>
                                        <p:tgtEl>
                                          <p:spTgt spid="48"/>
                                        </p:tgtEl>
                                      </p:cBhvr>
                                    </p:animEffect>
                                    <p:anim calcmode="lin" valueType="num">
                                      <p:cBhvr>
                                        <p:cTn id="53" dur="1000" fill="hold"/>
                                        <p:tgtEl>
                                          <p:spTgt spid="48"/>
                                        </p:tgtEl>
                                        <p:attrNameLst>
                                          <p:attrName>ppt_x</p:attrName>
                                        </p:attrNameLst>
                                      </p:cBhvr>
                                      <p:tavLst>
                                        <p:tav tm="0">
                                          <p:val>
                                            <p:strVal val="#ppt_x"/>
                                          </p:val>
                                        </p:tav>
                                        <p:tav tm="100000">
                                          <p:val>
                                            <p:strVal val="#ppt_x"/>
                                          </p:val>
                                        </p:tav>
                                      </p:tavLst>
                                    </p:anim>
                                    <p:anim calcmode="lin" valueType="num">
                                      <p:cBhvr>
                                        <p:cTn id="54" dur="1000" fill="hold"/>
                                        <p:tgtEl>
                                          <p:spTgt spid="48"/>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1000"/>
                                        <p:tgtEl>
                                          <p:spTgt spid="47"/>
                                        </p:tgtEl>
                                      </p:cBhvr>
                                    </p:animEffect>
                                    <p:anim calcmode="lin" valueType="num">
                                      <p:cBhvr>
                                        <p:cTn id="58" dur="1000" fill="hold"/>
                                        <p:tgtEl>
                                          <p:spTgt spid="47"/>
                                        </p:tgtEl>
                                        <p:attrNameLst>
                                          <p:attrName>ppt_x</p:attrName>
                                        </p:attrNameLst>
                                      </p:cBhvr>
                                      <p:tavLst>
                                        <p:tav tm="0">
                                          <p:val>
                                            <p:strVal val="#ppt_x"/>
                                          </p:val>
                                        </p:tav>
                                        <p:tav tm="100000">
                                          <p:val>
                                            <p:strVal val="#ppt_x"/>
                                          </p:val>
                                        </p:tav>
                                      </p:tavLst>
                                    </p:anim>
                                    <p:anim calcmode="lin" valueType="num">
                                      <p:cBhvr>
                                        <p:cTn id="59" dur="1000" fill="hold"/>
                                        <p:tgtEl>
                                          <p:spTgt spid="4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1000"/>
                                        <p:tgtEl>
                                          <p:spTgt spid="46"/>
                                        </p:tgtEl>
                                      </p:cBhvr>
                                    </p:animEffect>
                                    <p:anim calcmode="lin" valueType="num">
                                      <p:cBhvr>
                                        <p:cTn id="63" dur="1000" fill="hold"/>
                                        <p:tgtEl>
                                          <p:spTgt spid="46"/>
                                        </p:tgtEl>
                                        <p:attrNameLst>
                                          <p:attrName>ppt_x</p:attrName>
                                        </p:attrNameLst>
                                      </p:cBhvr>
                                      <p:tavLst>
                                        <p:tav tm="0">
                                          <p:val>
                                            <p:strVal val="#ppt_x"/>
                                          </p:val>
                                        </p:tav>
                                        <p:tav tm="100000">
                                          <p:val>
                                            <p:strVal val="#ppt_x"/>
                                          </p:val>
                                        </p:tav>
                                      </p:tavLst>
                                    </p:anim>
                                    <p:anim calcmode="lin" valueType="num">
                                      <p:cBhvr>
                                        <p:cTn id="64" dur="1000" fill="hold"/>
                                        <p:tgtEl>
                                          <p:spTgt spid="4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1000"/>
                                        <p:tgtEl>
                                          <p:spTgt spid="35"/>
                                        </p:tgtEl>
                                      </p:cBhvr>
                                    </p:animEffect>
                                    <p:anim calcmode="lin" valueType="num">
                                      <p:cBhvr>
                                        <p:cTn id="68" dur="1000" fill="hold"/>
                                        <p:tgtEl>
                                          <p:spTgt spid="35"/>
                                        </p:tgtEl>
                                        <p:attrNameLst>
                                          <p:attrName>ppt_x</p:attrName>
                                        </p:attrNameLst>
                                      </p:cBhvr>
                                      <p:tavLst>
                                        <p:tav tm="0">
                                          <p:val>
                                            <p:strVal val="#ppt_x"/>
                                          </p:val>
                                        </p:tav>
                                        <p:tav tm="100000">
                                          <p:val>
                                            <p:strVal val="#ppt_x"/>
                                          </p:val>
                                        </p:tav>
                                      </p:tavLst>
                                    </p:anim>
                                    <p:anim calcmode="lin" valueType="num">
                                      <p:cBhvr>
                                        <p:cTn id="69" dur="1000" fill="hold"/>
                                        <p:tgtEl>
                                          <p:spTgt spid="3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fade">
                                      <p:cBhvr>
                                        <p:cTn id="72" dur="1000"/>
                                        <p:tgtEl>
                                          <p:spTgt spid="44"/>
                                        </p:tgtEl>
                                      </p:cBhvr>
                                    </p:animEffect>
                                    <p:anim calcmode="lin" valueType="num">
                                      <p:cBhvr>
                                        <p:cTn id="73" dur="1000" fill="hold"/>
                                        <p:tgtEl>
                                          <p:spTgt spid="44"/>
                                        </p:tgtEl>
                                        <p:attrNameLst>
                                          <p:attrName>ppt_x</p:attrName>
                                        </p:attrNameLst>
                                      </p:cBhvr>
                                      <p:tavLst>
                                        <p:tav tm="0">
                                          <p:val>
                                            <p:strVal val="#ppt_x"/>
                                          </p:val>
                                        </p:tav>
                                        <p:tav tm="100000">
                                          <p:val>
                                            <p:strVal val="#ppt_x"/>
                                          </p:val>
                                        </p:tav>
                                      </p:tavLst>
                                    </p:anim>
                                    <p:anim calcmode="lin" valueType="num">
                                      <p:cBhvr>
                                        <p:cTn id="74" dur="1000" fill="hold"/>
                                        <p:tgtEl>
                                          <p:spTgt spid="44"/>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1000"/>
                                        <p:tgtEl>
                                          <p:spTgt spid="43"/>
                                        </p:tgtEl>
                                      </p:cBhvr>
                                    </p:animEffect>
                                    <p:anim calcmode="lin" valueType="num">
                                      <p:cBhvr>
                                        <p:cTn id="78" dur="1000" fill="hold"/>
                                        <p:tgtEl>
                                          <p:spTgt spid="43"/>
                                        </p:tgtEl>
                                        <p:attrNameLst>
                                          <p:attrName>ppt_x</p:attrName>
                                        </p:attrNameLst>
                                      </p:cBhvr>
                                      <p:tavLst>
                                        <p:tav tm="0">
                                          <p:val>
                                            <p:strVal val="#ppt_x"/>
                                          </p:val>
                                        </p:tav>
                                        <p:tav tm="100000">
                                          <p:val>
                                            <p:strVal val="#ppt_x"/>
                                          </p:val>
                                        </p:tav>
                                      </p:tavLst>
                                    </p:anim>
                                    <p:anim calcmode="lin" valueType="num">
                                      <p:cBhvr>
                                        <p:cTn id="79" dur="1000" fill="hold"/>
                                        <p:tgtEl>
                                          <p:spTgt spid="43"/>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42"/>
                                        </p:tgtEl>
                                        <p:attrNameLst>
                                          <p:attrName>style.visibility</p:attrName>
                                        </p:attrNameLst>
                                      </p:cBhvr>
                                      <p:to>
                                        <p:strVal val="visible"/>
                                      </p:to>
                                    </p:set>
                                    <p:animEffect transition="in" filter="fade">
                                      <p:cBhvr>
                                        <p:cTn id="82" dur="1000"/>
                                        <p:tgtEl>
                                          <p:spTgt spid="42"/>
                                        </p:tgtEl>
                                      </p:cBhvr>
                                    </p:animEffect>
                                    <p:anim calcmode="lin" valueType="num">
                                      <p:cBhvr>
                                        <p:cTn id="83" dur="1000" fill="hold"/>
                                        <p:tgtEl>
                                          <p:spTgt spid="42"/>
                                        </p:tgtEl>
                                        <p:attrNameLst>
                                          <p:attrName>ppt_x</p:attrName>
                                        </p:attrNameLst>
                                      </p:cBhvr>
                                      <p:tavLst>
                                        <p:tav tm="0">
                                          <p:val>
                                            <p:strVal val="#ppt_x"/>
                                          </p:val>
                                        </p:tav>
                                        <p:tav tm="100000">
                                          <p:val>
                                            <p:strVal val="#ppt_x"/>
                                          </p:val>
                                        </p:tav>
                                      </p:tavLst>
                                    </p:anim>
                                    <p:anim calcmode="lin" valueType="num">
                                      <p:cBhvr>
                                        <p:cTn id="84" dur="1000" fill="hold"/>
                                        <p:tgtEl>
                                          <p:spTgt spid="42"/>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fade">
                                      <p:cBhvr>
                                        <p:cTn id="87" dur="1000"/>
                                        <p:tgtEl>
                                          <p:spTgt spid="41"/>
                                        </p:tgtEl>
                                      </p:cBhvr>
                                    </p:animEffect>
                                    <p:anim calcmode="lin" valueType="num">
                                      <p:cBhvr>
                                        <p:cTn id="88" dur="1000" fill="hold"/>
                                        <p:tgtEl>
                                          <p:spTgt spid="41"/>
                                        </p:tgtEl>
                                        <p:attrNameLst>
                                          <p:attrName>ppt_x</p:attrName>
                                        </p:attrNameLst>
                                      </p:cBhvr>
                                      <p:tavLst>
                                        <p:tav tm="0">
                                          <p:val>
                                            <p:strVal val="#ppt_x"/>
                                          </p:val>
                                        </p:tav>
                                        <p:tav tm="100000">
                                          <p:val>
                                            <p:strVal val="#ppt_x"/>
                                          </p:val>
                                        </p:tav>
                                      </p:tavLst>
                                    </p:anim>
                                    <p:anim calcmode="lin" valueType="num">
                                      <p:cBhvr>
                                        <p:cTn id="89" dur="1000" fill="hold"/>
                                        <p:tgtEl>
                                          <p:spTgt spid="41"/>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1000"/>
                                        <p:tgtEl>
                                          <p:spTgt spid="37"/>
                                        </p:tgtEl>
                                      </p:cBhvr>
                                    </p:animEffect>
                                    <p:anim calcmode="lin" valueType="num">
                                      <p:cBhvr>
                                        <p:cTn id="93" dur="1000" fill="hold"/>
                                        <p:tgtEl>
                                          <p:spTgt spid="37"/>
                                        </p:tgtEl>
                                        <p:attrNameLst>
                                          <p:attrName>ppt_x</p:attrName>
                                        </p:attrNameLst>
                                      </p:cBhvr>
                                      <p:tavLst>
                                        <p:tav tm="0">
                                          <p:val>
                                            <p:strVal val="#ppt_x"/>
                                          </p:val>
                                        </p:tav>
                                        <p:tav tm="100000">
                                          <p:val>
                                            <p:strVal val="#ppt_x"/>
                                          </p:val>
                                        </p:tav>
                                      </p:tavLst>
                                    </p:anim>
                                    <p:anim calcmode="lin" valueType="num">
                                      <p:cBhvr>
                                        <p:cTn id="94" dur="1000" fill="hold"/>
                                        <p:tgtEl>
                                          <p:spTgt spid="37"/>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1000"/>
                                        <p:tgtEl>
                                          <p:spTgt spid="33"/>
                                        </p:tgtEl>
                                      </p:cBhvr>
                                    </p:animEffect>
                                    <p:anim calcmode="lin" valueType="num">
                                      <p:cBhvr>
                                        <p:cTn id="98" dur="1000" fill="hold"/>
                                        <p:tgtEl>
                                          <p:spTgt spid="33"/>
                                        </p:tgtEl>
                                        <p:attrNameLst>
                                          <p:attrName>ppt_x</p:attrName>
                                        </p:attrNameLst>
                                      </p:cBhvr>
                                      <p:tavLst>
                                        <p:tav tm="0">
                                          <p:val>
                                            <p:strVal val="#ppt_x"/>
                                          </p:val>
                                        </p:tav>
                                        <p:tav tm="100000">
                                          <p:val>
                                            <p:strVal val="#ppt_x"/>
                                          </p:val>
                                        </p:tav>
                                      </p:tavLst>
                                    </p:anim>
                                    <p:anim calcmode="lin" valueType="num">
                                      <p:cBhvr>
                                        <p:cTn id="99" dur="1000" fill="hold"/>
                                        <p:tgtEl>
                                          <p:spTgt spid="33"/>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31"/>
                                        </p:tgtEl>
                                        <p:attrNameLst>
                                          <p:attrName>style.visibility</p:attrName>
                                        </p:attrNameLst>
                                      </p:cBhvr>
                                      <p:to>
                                        <p:strVal val="visible"/>
                                      </p:to>
                                    </p:set>
                                    <p:animEffect transition="in" filter="fade">
                                      <p:cBhvr>
                                        <p:cTn id="102" dur="1000"/>
                                        <p:tgtEl>
                                          <p:spTgt spid="31"/>
                                        </p:tgtEl>
                                      </p:cBhvr>
                                    </p:animEffect>
                                    <p:anim calcmode="lin" valueType="num">
                                      <p:cBhvr>
                                        <p:cTn id="103" dur="1000" fill="hold"/>
                                        <p:tgtEl>
                                          <p:spTgt spid="31"/>
                                        </p:tgtEl>
                                        <p:attrNameLst>
                                          <p:attrName>ppt_x</p:attrName>
                                        </p:attrNameLst>
                                      </p:cBhvr>
                                      <p:tavLst>
                                        <p:tav tm="0">
                                          <p:val>
                                            <p:strVal val="#ppt_x"/>
                                          </p:val>
                                        </p:tav>
                                        <p:tav tm="100000">
                                          <p:val>
                                            <p:strVal val="#ppt_x"/>
                                          </p:val>
                                        </p:tav>
                                      </p:tavLst>
                                    </p:anim>
                                    <p:anim calcmode="lin" valueType="num">
                                      <p:cBhvr>
                                        <p:cTn id="104" dur="1000" fill="hold"/>
                                        <p:tgtEl>
                                          <p:spTgt spid="31"/>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18"/>
                                        </p:tgtEl>
                                        <p:attrNameLst>
                                          <p:attrName>style.visibility</p:attrName>
                                        </p:attrNameLst>
                                      </p:cBhvr>
                                      <p:to>
                                        <p:strVal val="visible"/>
                                      </p:to>
                                    </p:set>
                                    <p:animEffect transition="in" filter="fade">
                                      <p:cBhvr>
                                        <p:cTn id="107" dur="1000"/>
                                        <p:tgtEl>
                                          <p:spTgt spid="18"/>
                                        </p:tgtEl>
                                      </p:cBhvr>
                                    </p:animEffect>
                                    <p:anim calcmode="lin" valueType="num">
                                      <p:cBhvr>
                                        <p:cTn id="108" dur="1000" fill="hold"/>
                                        <p:tgtEl>
                                          <p:spTgt spid="18"/>
                                        </p:tgtEl>
                                        <p:attrNameLst>
                                          <p:attrName>ppt_x</p:attrName>
                                        </p:attrNameLst>
                                      </p:cBhvr>
                                      <p:tavLst>
                                        <p:tav tm="0">
                                          <p:val>
                                            <p:strVal val="#ppt_x"/>
                                          </p:val>
                                        </p:tav>
                                        <p:tav tm="100000">
                                          <p:val>
                                            <p:strVal val="#ppt_x"/>
                                          </p:val>
                                        </p:tav>
                                      </p:tavLst>
                                    </p:anim>
                                    <p:anim calcmode="lin" valueType="num">
                                      <p:cBhvr>
                                        <p:cTn id="109" dur="1000" fill="hold"/>
                                        <p:tgtEl>
                                          <p:spTgt spid="18"/>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19"/>
                                        </p:tgtEl>
                                        <p:attrNameLst>
                                          <p:attrName>style.visibility</p:attrName>
                                        </p:attrNameLst>
                                      </p:cBhvr>
                                      <p:to>
                                        <p:strVal val="visible"/>
                                      </p:to>
                                    </p:set>
                                    <p:animEffect transition="in" filter="fade">
                                      <p:cBhvr>
                                        <p:cTn id="112" dur="1000"/>
                                        <p:tgtEl>
                                          <p:spTgt spid="19"/>
                                        </p:tgtEl>
                                      </p:cBhvr>
                                    </p:animEffect>
                                    <p:anim calcmode="lin" valueType="num">
                                      <p:cBhvr>
                                        <p:cTn id="113" dur="1000" fill="hold"/>
                                        <p:tgtEl>
                                          <p:spTgt spid="19"/>
                                        </p:tgtEl>
                                        <p:attrNameLst>
                                          <p:attrName>ppt_x</p:attrName>
                                        </p:attrNameLst>
                                      </p:cBhvr>
                                      <p:tavLst>
                                        <p:tav tm="0">
                                          <p:val>
                                            <p:strVal val="#ppt_x"/>
                                          </p:val>
                                        </p:tav>
                                        <p:tav tm="100000">
                                          <p:val>
                                            <p:strVal val="#ppt_x"/>
                                          </p:val>
                                        </p:tav>
                                      </p:tavLst>
                                    </p:anim>
                                    <p:anim calcmode="lin" valueType="num">
                                      <p:cBhvr>
                                        <p:cTn id="114" dur="1000" fill="hold"/>
                                        <p:tgtEl>
                                          <p:spTgt spid="19"/>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0"/>
                                  </p:stCondLst>
                                  <p:childTnLst>
                                    <p:set>
                                      <p:cBhvr>
                                        <p:cTn id="116" dur="1" fill="hold">
                                          <p:stCondLst>
                                            <p:cond delay="0"/>
                                          </p:stCondLst>
                                        </p:cTn>
                                        <p:tgtEl>
                                          <p:spTgt spid="20"/>
                                        </p:tgtEl>
                                        <p:attrNameLst>
                                          <p:attrName>style.visibility</p:attrName>
                                        </p:attrNameLst>
                                      </p:cBhvr>
                                      <p:to>
                                        <p:strVal val="visible"/>
                                      </p:to>
                                    </p:set>
                                    <p:animEffect transition="in" filter="fade">
                                      <p:cBhvr>
                                        <p:cTn id="117" dur="1000"/>
                                        <p:tgtEl>
                                          <p:spTgt spid="20"/>
                                        </p:tgtEl>
                                      </p:cBhvr>
                                    </p:animEffect>
                                    <p:anim calcmode="lin" valueType="num">
                                      <p:cBhvr>
                                        <p:cTn id="118" dur="1000" fill="hold"/>
                                        <p:tgtEl>
                                          <p:spTgt spid="20"/>
                                        </p:tgtEl>
                                        <p:attrNameLst>
                                          <p:attrName>ppt_x</p:attrName>
                                        </p:attrNameLst>
                                      </p:cBhvr>
                                      <p:tavLst>
                                        <p:tav tm="0">
                                          <p:val>
                                            <p:strVal val="#ppt_x"/>
                                          </p:val>
                                        </p:tav>
                                        <p:tav tm="100000">
                                          <p:val>
                                            <p:strVal val="#ppt_x"/>
                                          </p:val>
                                        </p:tav>
                                      </p:tavLst>
                                    </p:anim>
                                    <p:anim calcmode="lin" valueType="num">
                                      <p:cBhvr>
                                        <p:cTn id="119" dur="1000" fill="hold"/>
                                        <p:tgtEl>
                                          <p:spTgt spid="20"/>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0"/>
                                  </p:stCondLst>
                                  <p:childTnLst>
                                    <p:set>
                                      <p:cBhvr>
                                        <p:cTn id="121" dur="1" fill="hold">
                                          <p:stCondLst>
                                            <p:cond delay="0"/>
                                          </p:stCondLst>
                                        </p:cTn>
                                        <p:tgtEl>
                                          <p:spTgt spid="21"/>
                                        </p:tgtEl>
                                        <p:attrNameLst>
                                          <p:attrName>style.visibility</p:attrName>
                                        </p:attrNameLst>
                                      </p:cBhvr>
                                      <p:to>
                                        <p:strVal val="visible"/>
                                      </p:to>
                                    </p:set>
                                    <p:animEffect transition="in" filter="fade">
                                      <p:cBhvr>
                                        <p:cTn id="122" dur="1000"/>
                                        <p:tgtEl>
                                          <p:spTgt spid="21"/>
                                        </p:tgtEl>
                                      </p:cBhvr>
                                    </p:animEffect>
                                    <p:anim calcmode="lin" valueType="num">
                                      <p:cBhvr>
                                        <p:cTn id="123" dur="1000" fill="hold"/>
                                        <p:tgtEl>
                                          <p:spTgt spid="21"/>
                                        </p:tgtEl>
                                        <p:attrNameLst>
                                          <p:attrName>ppt_x</p:attrName>
                                        </p:attrNameLst>
                                      </p:cBhvr>
                                      <p:tavLst>
                                        <p:tav tm="0">
                                          <p:val>
                                            <p:strVal val="#ppt_x"/>
                                          </p:val>
                                        </p:tav>
                                        <p:tav tm="100000">
                                          <p:val>
                                            <p:strVal val="#ppt_x"/>
                                          </p:val>
                                        </p:tav>
                                      </p:tavLst>
                                    </p:anim>
                                    <p:anim calcmode="lin" valueType="num">
                                      <p:cBhvr>
                                        <p:cTn id="124" dur="1000" fill="hold"/>
                                        <p:tgtEl>
                                          <p:spTgt spid="21"/>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6" dur="1" fill="hold">
                                          <p:stCondLst>
                                            <p:cond delay="0"/>
                                          </p:stCondLst>
                                        </p:cTn>
                                        <p:tgtEl>
                                          <p:spTgt spid="22"/>
                                        </p:tgtEl>
                                        <p:attrNameLst>
                                          <p:attrName>style.visibility</p:attrName>
                                        </p:attrNameLst>
                                      </p:cBhvr>
                                      <p:to>
                                        <p:strVal val="visible"/>
                                      </p:to>
                                    </p:set>
                                    <p:animEffect transition="in" filter="fade">
                                      <p:cBhvr>
                                        <p:cTn id="127" dur="1000"/>
                                        <p:tgtEl>
                                          <p:spTgt spid="22"/>
                                        </p:tgtEl>
                                      </p:cBhvr>
                                    </p:animEffect>
                                    <p:anim calcmode="lin" valueType="num">
                                      <p:cBhvr>
                                        <p:cTn id="128" dur="1000" fill="hold"/>
                                        <p:tgtEl>
                                          <p:spTgt spid="22"/>
                                        </p:tgtEl>
                                        <p:attrNameLst>
                                          <p:attrName>ppt_x</p:attrName>
                                        </p:attrNameLst>
                                      </p:cBhvr>
                                      <p:tavLst>
                                        <p:tav tm="0">
                                          <p:val>
                                            <p:strVal val="#ppt_x"/>
                                          </p:val>
                                        </p:tav>
                                        <p:tav tm="100000">
                                          <p:val>
                                            <p:strVal val="#ppt_x"/>
                                          </p:val>
                                        </p:tav>
                                      </p:tavLst>
                                    </p:anim>
                                    <p:anim calcmode="lin" valueType="num">
                                      <p:cBhvr>
                                        <p:cTn id="129" dur="1000" fill="hold"/>
                                        <p:tgtEl>
                                          <p:spTgt spid="22"/>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1000"/>
                                        <p:tgtEl>
                                          <p:spTgt spid="29"/>
                                        </p:tgtEl>
                                      </p:cBhvr>
                                    </p:animEffect>
                                    <p:anim calcmode="lin" valueType="num">
                                      <p:cBhvr>
                                        <p:cTn id="133" dur="1000" fill="hold"/>
                                        <p:tgtEl>
                                          <p:spTgt spid="29"/>
                                        </p:tgtEl>
                                        <p:attrNameLst>
                                          <p:attrName>ppt_x</p:attrName>
                                        </p:attrNameLst>
                                      </p:cBhvr>
                                      <p:tavLst>
                                        <p:tav tm="0">
                                          <p:val>
                                            <p:strVal val="#ppt_x"/>
                                          </p:val>
                                        </p:tav>
                                        <p:tav tm="100000">
                                          <p:val>
                                            <p:strVal val="#ppt_x"/>
                                          </p:val>
                                        </p:tav>
                                      </p:tavLst>
                                    </p:anim>
                                    <p:anim calcmode="lin" valueType="num">
                                      <p:cBhvr>
                                        <p:cTn id="134" dur="1000" fill="hold"/>
                                        <p:tgtEl>
                                          <p:spTgt spid="29"/>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6" dur="1" fill="hold">
                                          <p:stCondLst>
                                            <p:cond delay="0"/>
                                          </p:stCondLst>
                                        </p:cTn>
                                        <p:tgtEl>
                                          <p:spTgt spid="24"/>
                                        </p:tgtEl>
                                        <p:attrNameLst>
                                          <p:attrName>style.visibility</p:attrName>
                                        </p:attrNameLst>
                                      </p:cBhvr>
                                      <p:to>
                                        <p:strVal val="visible"/>
                                      </p:to>
                                    </p:set>
                                    <p:animEffect transition="in" filter="fade">
                                      <p:cBhvr>
                                        <p:cTn id="137" dur="1000"/>
                                        <p:tgtEl>
                                          <p:spTgt spid="24"/>
                                        </p:tgtEl>
                                      </p:cBhvr>
                                    </p:animEffect>
                                    <p:anim calcmode="lin" valueType="num">
                                      <p:cBhvr>
                                        <p:cTn id="138" dur="1000" fill="hold"/>
                                        <p:tgtEl>
                                          <p:spTgt spid="24"/>
                                        </p:tgtEl>
                                        <p:attrNameLst>
                                          <p:attrName>ppt_x</p:attrName>
                                        </p:attrNameLst>
                                      </p:cBhvr>
                                      <p:tavLst>
                                        <p:tav tm="0">
                                          <p:val>
                                            <p:strVal val="#ppt_x"/>
                                          </p:val>
                                        </p:tav>
                                        <p:tav tm="100000">
                                          <p:val>
                                            <p:strVal val="#ppt_x"/>
                                          </p:val>
                                        </p:tav>
                                      </p:tavLst>
                                    </p:anim>
                                    <p:anim calcmode="lin" valueType="num">
                                      <p:cBhvr>
                                        <p:cTn id="139" dur="1000" fill="hold"/>
                                        <p:tgtEl>
                                          <p:spTgt spid="24"/>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0"/>
                                  </p:stCondLst>
                                  <p:childTnLst>
                                    <p:set>
                                      <p:cBhvr>
                                        <p:cTn id="141" dur="1" fill="hold">
                                          <p:stCondLst>
                                            <p:cond delay="0"/>
                                          </p:stCondLst>
                                        </p:cTn>
                                        <p:tgtEl>
                                          <p:spTgt spid="25"/>
                                        </p:tgtEl>
                                        <p:attrNameLst>
                                          <p:attrName>style.visibility</p:attrName>
                                        </p:attrNameLst>
                                      </p:cBhvr>
                                      <p:to>
                                        <p:strVal val="visible"/>
                                      </p:to>
                                    </p:set>
                                    <p:animEffect transition="in" filter="fade">
                                      <p:cBhvr>
                                        <p:cTn id="142" dur="1000"/>
                                        <p:tgtEl>
                                          <p:spTgt spid="25"/>
                                        </p:tgtEl>
                                      </p:cBhvr>
                                    </p:animEffect>
                                    <p:anim calcmode="lin" valueType="num">
                                      <p:cBhvr>
                                        <p:cTn id="143" dur="1000" fill="hold"/>
                                        <p:tgtEl>
                                          <p:spTgt spid="25"/>
                                        </p:tgtEl>
                                        <p:attrNameLst>
                                          <p:attrName>ppt_x</p:attrName>
                                        </p:attrNameLst>
                                      </p:cBhvr>
                                      <p:tavLst>
                                        <p:tav tm="0">
                                          <p:val>
                                            <p:strVal val="#ppt_x"/>
                                          </p:val>
                                        </p:tav>
                                        <p:tav tm="100000">
                                          <p:val>
                                            <p:strVal val="#ppt_x"/>
                                          </p:val>
                                        </p:tav>
                                      </p:tavLst>
                                    </p:anim>
                                    <p:anim calcmode="lin" valueType="num">
                                      <p:cBhvr>
                                        <p:cTn id="144" dur="1000" fill="hold"/>
                                        <p:tgtEl>
                                          <p:spTgt spid="25"/>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6" dur="1" fill="hold">
                                          <p:stCondLst>
                                            <p:cond delay="0"/>
                                          </p:stCondLst>
                                        </p:cTn>
                                        <p:tgtEl>
                                          <p:spTgt spid="26"/>
                                        </p:tgtEl>
                                        <p:attrNameLst>
                                          <p:attrName>style.visibility</p:attrName>
                                        </p:attrNameLst>
                                      </p:cBhvr>
                                      <p:to>
                                        <p:strVal val="visible"/>
                                      </p:to>
                                    </p:set>
                                    <p:animEffect transition="in" filter="fade">
                                      <p:cBhvr>
                                        <p:cTn id="147" dur="1000"/>
                                        <p:tgtEl>
                                          <p:spTgt spid="26"/>
                                        </p:tgtEl>
                                      </p:cBhvr>
                                    </p:animEffect>
                                    <p:anim calcmode="lin" valueType="num">
                                      <p:cBhvr>
                                        <p:cTn id="148" dur="1000" fill="hold"/>
                                        <p:tgtEl>
                                          <p:spTgt spid="26"/>
                                        </p:tgtEl>
                                        <p:attrNameLst>
                                          <p:attrName>ppt_x</p:attrName>
                                        </p:attrNameLst>
                                      </p:cBhvr>
                                      <p:tavLst>
                                        <p:tav tm="0">
                                          <p:val>
                                            <p:strVal val="#ppt_x"/>
                                          </p:val>
                                        </p:tav>
                                        <p:tav tm="100000">
                                          <p:val>
                                            <p:strVal val="#ppt_x"/>
                                          </p:val>
                                        </p:tav>
                                      </p:tavLst>
                                    </p:anim>
                                    <p:anim calcmode="lin" valueType="num">
                                      <p:cBhvr>
                                        <p:cTn id="149" dur="1000" fill="hold"/>
                                        <p:tgtEl>
                                          <p:spTgt spid="26"/>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51" dur="1" fill="hold">
                                          <p:stCondLst>
                                            <p:cond delay="0"/>
                                          </p:stCondLst>
                                        </p:cTn>
                                        <p:tgtEl>
                                          <p:spTgt spid="27"/>
                                        </p:tgtEl>
                                        <p:attrNameLst>
                                          <p:attrName>style.visibility</p:attrName>
                                        </p:attrNameLst>
                                      </p:cBhvr>
                                      <p:to>
                                        <p:strVal val="visible"/>
                                      </p:to>
                                    </p:set>
                                    <p:animEffect transition="in" filter="fade">
                                      <p:cBhvr>
                                        <p:cTn id="152" dur="1000"/>
                                        <p:tgtEl>
                                          <p:spTgt spid="27"/>
                                        </p:tgtEl>
                                      </p:cBhvr>
                                    </p:animEffect>
                                    <p:anim calcmode="lin" valueType="num">
                                      <p:cBhvr>
                                        <p:cTn id="153" dur="1000" fill="hold"/>
                                        <p:tgtEl>
                                          <p:spTgt spid="27"/>
                                        </p:tgtEl>
                                        <p:attrNameLst>
                                          <p:attrName>ppt_x</p:attrName>
                                        </p:attrNameLst>
                                      </p:cBhvr>
                                      <p:tavLst>
                                        <p:tav tm="0">
                                          <p:val>
                                            <p:strVal val="#ppt_x"/>
                                          </p:val>
                                        </p:tav>
                                        <p:tav tm="100000">
                                          <p:val>
                                            <p:strVal val="#ppt_x"/>
                                          </p:val>
                                        </p:tav>
                                      </p:tavLst>
                                    </p:anim>
                                    <p:anim calcmode="lin" valueType="num">
                                      <p:cBhvr>
                                        <p:cTn id="154" dur="1000" fill="hold"/>
                                        <p:tgtEl>
                                          <p:spTgt spid="27"/>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6" dur="1" fill="hold">
                                          <p:stCondLst>
                                            <p:cond delay="0"/>
                                          </p:stCondLst>
                                        </p:cTn>
                                        <p:tgtEl>
                                          <p:spTgt spid="10"/>
                                        </p:tgtEl>
                                        <p:attrNameLst>
                                          <p:attrName>style.visibility</p:attrName>
                                        </p:attrNameLst>
                                      </p:cBhvr>
                                      <p:to>
                                        <p:strVal val="visible"/>
                                      </p:to>
                                    </p:set>
                                    <p:animEffect transition="in" filter="fade">
                                      <p:cBhvr>
                                        <p:cTn id="157" dur="1000"/>
                                        <p:tgtEl>
                                          <p:spTgt spid="10"/>
                                        </p:tgtEl>
                                      </p:cBhvr>
                                    </p:animEffect>
                                    <p:anim calcmode="lin" valueType="num">
                                      <p:cBhvr>
                                        <p:cTn id="158" dur="1000" fill="hold"/>
                                        <p:tgtEl>
                                          <p:spTgt spid="10"/>
                                        </p:tgtEl>
                                        <p:attrNameLst>
                                          <p:attrName>ppt_x</p:attrName>
                                        </p:attrNameLst>
                                      </p:cBhvr>
                                      <p:tavLst>
                                        <p:tav tm="0">
                                          <p:val>
                                            <p:strVal val="#ppt_x"/>
                                          </p:val>
                                        </p:tav>
                                        <p:tav tm="100000">
                                          <p:val>
                                            <p:strVal val="#ppt_x"/>
                                          </p:val>
                                        </p:tav>
                                      </p:tavLst>
                                    </p:anim>
                                    <p:anim calcmode="lin" valueType="num">
                                      <p:cBhvr>
                                        <p:cTn id="159" dur="1000" fill="hold"/>
                                        <p:tgtEl>
                                          <p:spTgt spid="10"/>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0"/>
                                  </p:stCondLst>
                                  <p:childTnLst>
                                    <p:set>
                                      <p:cBhvr>
                                        <p:cTn id="161" dur="1" fill="hold">
                                          <p:stCondLst>
                                            <p:cond delay="0"/>
                                          </p:stCondLst>
                                        </p:cTn>
                                        <p:tgtEl>
                                          <p:spTgt spid="11"/>
                                        </p:tgtEl>
                                        <p:attrNameLst>
                                          <p:attrName>style.visibility</p:attrName>
                                        </p:attrNameLst>
                                      </p:cBhvr>
                                      <p:to>
                                        <p:strVal val="visible"/>
                                      </p:to>
                                    </p:set>
                                    <p:animEffect transition="in" filter="fade">
                                      <p:cBhvr>
                                        <p:cTn id="162" dur="1000"/>
                                        <p:tgtEl>
                                          <p:spTgt spid="11"/>
                                        </p:tgtEl>
                                      </p:cBhvr>
                                    </p:animEffect>
                                    <p:anim calcmode="lin" valueType="num">
                                      <p:cBhvr>
                                        <p:cTn id="163" dur="1000" fill="hold"/>
                                        <p:tgtEl>
                                          <p:spTgt spid="11"/>
                                        </p:tgtEl>
                                        <p:attrNameLst>
                                          <p:attrName>ppt_x</p:attrName>
                                        </p:attrNameLst>
                                      </p:cBhvr>
                                      <p:tavLst>
                                        <p:tav tm="0">
                                          <p:val>
                                            <p:strVal val="#ppt_x"/>
                                          </p:val>
                                        </p:tav>
                                        <p:tav tm="100000">
                                          <p:val>
                                            <p:strVal val="#ppt_x"/>
                                          </p:val>
                                        </p:tav>
                                      </p:tavLst>
                                    </p:anim>
                                    <p:anim calcmode="lin" valueType="num">
                                      <p:cBhvr>
                                        <p:cTn id="164" dur="1000" fill="hold"/>
                                        <p:tgtEl>
                                          <p:spTgt spid="11"/>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6" dur="1" fill="hold">
                                          <p:stCondLst>
                                            <p:cond delay="0"/>
                                          </p:stCondLst>
                                        </p:cTn>
                                        <p:tgtEl>
                                          <p:spTgt spid="12"/>
                                        </p:tgtEl>
                                        <p:attrNameLst>
                                          <p:attrName>style.visibility</p:attrName>
                                        </p:attrNameLst>
                                      </p:cBhvr>
                                      <p:to>
                                        <p:strVal val="visible"/>
                                      </p:to>
                                    </p:set>
                                    <p:animEffect transition="in" filter="fade">
                                      <p:cBhvr>
                                        <p:cTn id="167" dur="1000"/>
                                        <p:tgtEl>
                                          <p:spTgt spid="12"/>
                                        </p:tgtEl>
                                      </p:cBhvr>
                                    </p:animEffect>
                                    <p:anim calcmode="lin" valueType="num">
                                      <p:cBhvr>
                                        <p:cTn id="168" dur="1000" fill="hold"/>
                                        <p:tgtEl>
                                          <p:spTgt spid="12"/>
                                        </p:tgtEl>
                                        <p:attrNameLst>
                                          <p:attrName>ppt_x</p:attrName>
                                        </p:attrNameLst>
                                      </p:cBhvr>
                                      <p:tavLst>
                                        <p:tav tm="0">
                                          <p:val>
                                            <p:strVal val="#ppt_x"/>
                                          </p:val>
                                        </p:tav>
                                        <p:tav tm="100000">
                                          <p:val>
                                            <p:strVal val="#ppt_x"/>
                                          </p:val>
                                        </p:tav>
                                      </p:tavLst>
                                    </p:anim>
                                    <p:anim calcmode="lin" valueType="num">
                                      <p:cBhvr>
                                        <p:cTn id="169" dur="1000" fill="hold"/>
                                        <p:tgtEl>
                                          <p:spTgt spid="12"/>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0"/>
                                  </p:stCondLst>
                                  <p:childTnLst>
                                    <p:set>
                                      <p:cBhvr>
                                        <p:cTn id="171" dur="1" fill="hold">
                                          <p:stCondLst>
                                            <p:cond delay="0"/>
                                          </p:stCondLst>
                                        </p:cTn>
                                        <p:tgtEl>
                                          <p:spTgt spid="38"/>
                                        </p:tgtEl>
                                        <p:attrNameLst>
                                          <p:attrName>style.visibility</p:attrName>
                                        </p:attrNameLst>
                                      </p:cBhvr>
                                      <p:to>
                                        <p:strVal val="visible"/>
                                      </p:to>
                                    </p:set>
                                    <p:animEffect transition="in" filter="fade">
                                      <p:cBhvr>
                                        <p:cTn id="172" dur="1000"/>
                                        <p:tgtEl>
                                          <p:spTgt spid="38"/>
                                        </p:tgtEl>
                                      </p:cBhvr>
                                    </p:animEffect>
                                    <p:anim calcmode="lin" valueType="num">
                                      <p:cBhvr>
                                        <p:cTn id="173" dur="1000" fill="hold"/>
                                        <p:tgtEl>
                                          <p:spTgt spid="38"/>
                                        </p:tgtEl>
                                        <p:attrNameLst>
                                          <p:attrName>ppt_x</p:attrName>
                                        </p:attrNameLst>
                                      </p:cBhvr>
                                      <p:tavLst>
                                        <p:tav tm="0">
                                          <p:val>
                                            <p:strVal val="#ppt_x"/>
                                          </p:val>
                                        </p:tav>
                                        <p:tav tm="100000">
                                          <p:val>
                                            <p:strVal val="#ppt_x"/>
                                          </p:val>
                                        </p:tav>
                                      </p:tavLst>
                                    </p:anim>
                                    <p:anim calcmode="lin" valueType="num">
                                      <p:cBhvr>
                                        <p:cTn id="174" dur="1000" fill="hold"/>
                                        <p:tgtEl>
                                          <p:spTgt spid="38"/>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0"/>
                                  </p:stCondLst>
                                  <p:childTnLst>
                                    <p:set>
                                      <p:cBhvr>
                                        <p:cTn id="176" dur="1" fill="hold">
                                          <p:stCondLst>
                                            <p:cond delay="0"/>
                                          </p:stCondLst>
                                        </p:cTn>
                                        <p:tgtEl>
                                          <p:spTgt spid="13"/>
                                        </p:tgtEl>
                                        <p:attrNameLst>
                                          <p:attrName>style.visibility</p:attrName>
                                        </p:attrNameLst>
                                      </p:cBhvr>
                                      <p:to>
                                        <p:strVal val="visible"/>
                                      </p:to>
                                    </p:set>
                                    <p:animEffect transition="in" filter="fade">
                                      <p:cBhvr>
                                        <p:cTn id="177" dur="1000"/>
                                        <p:tgtEl>
                                          <p:spTgt spid="13"/>
                                        </p:tgtEl>
                                      </p:cBhvr>
                                    </p:animEffect>
                                    <p:anim calcmode="lin" valueType="num">
                                      <p:cBhvr>
                                        <p:cTn id="178" dur="1000" fill="hold"/>
                                        <p:tgtEl>
                                          <p:spTgt spid="13"/>
                                        </p:tgtEl>
                                        <p:attrNameLst>
                                          <p:attrName>ppt_x</p:attrName>
                                        </p:attrNameLst>
                                      </p:cBhvr>
                                      <p:tavLst>
                                        <p:tav tm="0">
                                          <p:val>
                                            <p:strVal val="#ppt_x"/>
                                          </p:val>
                                        </p:tav>
                                        <p:tav tm="100000">
                                          <p:val>
                                            <p:strVal val="#ppt_x"/>
                                          </p:val>
                                        </p:tav>
                                      </p:tavLst>
                                    </p:anim>
                                    <p:anim calcmode="lin" valueType="num">
                                      <p:cBhvr>
                                        <p:cTn id="179" dur="1000" fill="hold"/>
                                        <p:tgtEl>
                                          <p:spTgt spid="13"/>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0"/>
                                  </p:stCondLst>
                                  <p:childTnLst>
                                    <p:set>
                                      <p:cBhvr>
                                        <p:cTn id="181" dur="1" fill="hold">
                                          <p:stCondLst>
                                            <p:cond delay="0"/>
                                          </p:stCondLst>
                                        </p:cTn>
                                        <p:tgtEl>
                                          <p:spTgt spid="68"/>
                                        </p:tgtEl>
                                        <p:attrNameLst>
                                          <p:attrName>style.visibility</p:attrName>
                                        </p:attrNameLst>
                                      </p:cBhvr>
                                      <p:to>
                                        <p:strVal val="visible"/>
                                      </p:to>
                                    </p:set>
                                    <p:animEffect transition="in" filter="fade">
                                      <p:cBhvr>
                                        <p:cTn id="182" dur="1000"/>
                                        <p:tgtEl>
                                          <p:spTgt spid="68"/>
                                        </p:tgtEl>
                                      </p:cBhvr>
                                    </p:animEffect>
                                    <p:anim calcmode="lin" valueType="num">
                                      <p:cBhvr>
                                        <p:cTn id="183" dur="1000" fill="hold"/>
                                        <p:tgtEl>
                                          <p:spTgt spid="68"/>
                                        </p:tgtEl>
                                        <p:attrNameLst>
                                          <p:attrName>ppt_x</p:attrName>
                                        </p:attrNameLst>
                                      </p:cBhvr>
                                      <p:tavLst>
                                        <p:tav tm="0">
                                          <p:val>
                                            <p:strVal val="#ppt_x"/>
                                          </p:val>
                                        </p:tav>
                                        <p:tav tm="100000">
                                          <p:val>
                                            <p:strVal val="#ppt_x"/>
                                          </p:val>
                                        </p:tav>
                                      </p:tavLst>
                                    </p:anim>
                                    <p:anim calcmode="lin" valueType="num">
                                      <p:cBhvr>
                                        <p:cTn id="184" dur="1000" fill="hold"/>
                                        <p:tgtEl>
                                          <p:spTgt spid="68"/>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0"/>
                                  </p:stCondLst>
                                  <p:childTnLst>
                                    <p:set>
                                      <p:cBhvr>
                                        <p:cTn id="186" dur="1" fill="hold">
                                          <p:stCondLst>
                                            <p:cond delay="0"/>
                                          </p:stCondLst>
                                        </p:cTn>
                                        <p:tgtEl>
                                          <p:spTgt spid="70"/>
                                        </p:tgtEl>
                                        <p:attrNameLst>
                                          <p:attrName>style.visibility</p:attrName>
                                        </p:attrNameLst>
                                      </p:cBhvr>
                                      <p:to>
                                        <p:strVal val="visible"/>
                                      </p:to>
                                    </p:set>
                                    <p:animEffect transition="in" filter="fade">
                                      <p:cBhvr>
                                        <p:cTn id="187" dur="1000"/>
                                        <p:tgtEl>
                                          <p:spTgt spid="70"/>
                                        </p:tgtEl>
                                      </p:cBhvr>
                                    </p:animEffect>
                                    <p:anim calcmode="lin" valueType="num">
                                      <p:cBhvr>
                                        <p:cTn id="188" dur="1000" fill="hold"/>
                                        <p:tgtEl>
                                          <p:spTgt spid="70"/>
                                        </p:tgtEl>
                                        <p:attrNameLst>
                                          <p:attrName>ppt_x</p:attrName>
                                        </p:attrNameLst>
                                      </p:cBhvr>
                                      <p:tavLst>
                                        <p:tav tm="0">
                                          <p:val>
                                            <p:strVal val="#ppt_x"/>
                                          </p:val>
                                        </p:tav>
                                        <p:tav tm="100000">
                                          <p:val>
                                            <p:strVal val="#ppt_x"/>
                                          </p:val>
                                        </p:tav>
                                      </p:tavLst>
                                    </p:anim>
                                    <p:anim calcmode="lin" valueType="num">
                                      <p:cBhvr>
                                        <p:cTn id="189" dur="1000" fill="hold"/>
                                        <p:tgtEl>
                                          <p:spTgt spid="70"/>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0"/>
                                  </p:stCondLst>
                                  <p:childTnLst>
                                    <p:set>
                                      <p:cBhvr>
                                        <p:cTn id="191" dur="1" fill="hold">
                                          <p:stCondLst>
                                            <p:cond delay="0"/>
                                          </p:stCondLst>
                                        </p:cTn>
                                        <p:tgtEl>
                                          <p:spTgt spid="5">
                                            <p:txEl>
                                              <p:pRg st="0" end="0"/>
                                            </p:txEl>
                                          </p:spTgt>
                                        </p:tgtEl>
                                        <p:attrNameLst>
                                          <p:attrName>style.visibility</p:attrName>
                                        </p:attrNameLst>
                                      </p:cBhvr>
                                      <p:to>
                                        <p:strVal val="visible"/>
                                      </p:to>
                                    </p:set>
                                    <p:animEffect transition="in" filter="fade">
                                      <p:cBhvr>
                                        <p:cTn id="192" dur="1000"/>
                                        <p:tgtEl>
                                          <p:spTgt spid="5">
                                            <p:txEl>
                                              <p:pRg st="0" end="0"/>
                                            </p:txEl>
                                          </p:spTgt>
                                        </p:tgtEl>
                                      </p:cBhvr>
                                    </p:animEffect>
                                    <p:anim calcmode="lin" valueType="num">
                                      <p:cBhvr>
                                        <p:cTn id="19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9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2" presetClass="entr" presetSubtype="8" fill="hold" nodeType="clickEffect">
                                  <p:stCondLst>
                                    <p:cond delay="0"/>
                                  </p:stCondLst>
                                  <p:childTnLst>
                                    <p:set>
                                      <p:cBhvr>
                                        <p:cTn id="198" dur="1" fill="hold">
                                          <p:stCondLst>
                                            <p:cond delay="0"/>
                                          </p:stCondLst>
                                        </p:cTn>
                                        <p:tgtEl>
                                          <p:spTgt spid="4"/>
                                        </p:tgtEl>
                                        <p:attrNameLst>
                                          <p:attrName>style.visibility</p:attrName>
                                        </p:attrNameLst>
                                      </p:cBhvr>
                                      <p:to>
                                        <p:strVal val="visible"/>
                                      </p:to>
                                    </p:set>
                                    <p:animEffect transition="in" filter="wipe(left)">
                                      <p:cBhvr>
                                        <p:cTn id="199" dur="500"/>
                                        <p:tgtEl>
                                          <p:spTgt spid="4"/>
                                        </p:tgtEl>
                                      </p:cBhvr>
                                    </p:animEffect>
                                  </p:childTnLst>
                                </p:cTn>
                              </p:par>
                            </p:childTnLst>
                          </p:cTn>
                        </p:par>
                        <p:par>
                          <p:cTn id="200" fill="hold">
                            <p:stCondLst>
                              <p:cond delay="500"/>
                            </p:stCondLst>
                            <p:childTnLst>
                              <p:par>
                                <p:cTn id="201" presetID="9" presetClass="entr" presetSubtype="0" fill="hold" nodeType="afterEffect">
                                  <p:stCondLst>
                                    <p:cond delay="0"/>
                                  </p:stCondLst>
                                  <p:childTnLst>
                                    <p:set>
                                      <p:cBhvr>
                                        <p:cTn id="202" dur="1" fill="hold">
                                          <p:stCondLst>
                                            <p:cond delay="0"/>
                                          </p:stCondLst>
                                        </p:cTn>
                                        <p:tgtEl>
                                          <p:spTgt spid="15"/>
                                        </p:tgtEl>
                                        <p:attrNameLst>
                                          <p:attrName>style.visibility</p:attrName>
                                        </p:attrNameLst>
                                      </p:cBhvr>
                                      <p:to>
                                        <p:strVal val="visible"/>
                                      </p:to>
                                    </p:set>
                                    <p:animEffect transition="in" filter="dissolve">
                                      <p:cBhvr>
                                        <p:cTn id="203" dur="500"/>
                                        <p:tgtEl>
                                          <p:spTgt spid="15"/>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8" fill="hold" grpId="0" nodeType="clickEffect">
                                  <p:stCondLst>
                                    <p:cond delay="0"/>
                                  </p:stCondLst>
                                  <p:childTnLst>
                                    <p:set>
                                      <p:cBhvr>
                                        <p:cTn id="207" dur="1" fill="hold">
                                          <p:stCondLst>
                                            <p:cond delay="0"/>
                                          </p:stCondLst>
                                        </p:cTn>
                                        <p:tgtEl>
                                          <p:spTgt spid="3">
                                            <p:txEl>
                                              <p:pRg st="2" end="2"/>
                                            </p:txEl>
                                          </p:spTgt>
                                        </p:tgtEl>
                                        <p:attrNameLst>
                                          <p:attrName>style.visibility</p:attrName>
                                        </p:attrNameLst>
                                      </p:cBhvr>
                                      <p:to>
                                        <p:strVal val="visible"/>
                                      </p:to>
                                    </p:set>
                                    <p:animEffect transition="in" filter="wipe(left)">
                                      <p:cBhvr>
                                        <p:cTn id="20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5" grpId="0"/>
      <p:bldP spid="54" grpId="0"/>
      <p:bldP spid="53" grpId="0"/>
      <p:bldP spid="52" grpId="0"/>
      <p:bldP spid="51" grpId="0"/>
      <p:bldP spid="50" grpId="0"/>
      <p:bldP spid="49" grpId="0"/>
      <p:bldP spid="48" grpId="0"/>
      <p:bldP spid="47" grpId="0"/>
      <p:bldP spid="46" grpId="0"/>
      <p:bldP spid="35" grpId="0"/>
      <p:bldP spid="44" grpId="0"/>
      <p:bldP spid="43" grpId="0"/>
      <p:bldP spid="42" grpId="0"/>
      <p:bldP spid="41" grpId="0"/>
      <p:bldP spid="3" grpId="0" uiExpand="1" build="p"/>
      <p:bldP spid="37" grpId="0"/>
      <p:bldP spid="33" grpId="0"/>
      <p:bldP spid="31" grpId="0"/>
      <p:bldP spid="29" grpId="0"/>
      <p:bldP spid="11"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xmlns="" id="{37BED0E5-5927-864F-8240-9E327369AE62}"/>
              </a:ext>
            </a:extLst>
          </p:cNvPr>
          <p:cNvCxnSpPr>
            <a:stCxn id="40" idx="3"/>
          </p:cNvCxnSpPr>
          <p:nvPr/>
        </p:nvCxnSpPr>
        <p:spPr>
          <a:xfrm>
            <a:off x="3198383" y="3336667"/>
            <a:ext cx="3354817" cy="16133"/>
          </a:xfrm>
          <a:prstGeom prst="straightConnector1">
            <a:avLst/>
          </a:prstGeom>
          <a:ln w="38100">
            <a:solidFill>
              <a:schemeClr val="tx1">
                <a:lumMod val="50000"/>
              </a:schemeClr>
            </a:solidFill>
            <a:prstDash val="sys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362C54E8-A944-294C-99D7-B1C1F9AF827D}"/>
              </a:ext>
            </a:extLst>
          </p:cNvPr>
          <p:cNvSpPr txBox="1"/>
          <p:nvPr/>
        </p:nvSpPr>
        <p:spPr>
          <a:xfrm>
            <a:off x="313795" y="3105836"/>
            <a:ext cx="2884588" cy="461665"/>
          </a:xfrm>
          <a:prstGeom prst="rect">
            <a:avLst/>
          </a:prstGeom>
          <a:noFill/>
        </p:spPr>
        <p:txBody>
          <a:bodyPr wrap="square" rtlCol="0">
            <a:spAutoFit/>
          </a:bodyPr>
          <a:lstStyle/>
          <a:p>
            <a:r>
              <a:rPr lang="en-US" sz="2400" dirty="0">
                <a:solidFill>
                  <a:schemeClr val="bg2"/>
                </a:solidFill>
                <a:latin typeface="Century Gothic" panose="020B0502020202020204" pitchFamily="34" charset="0"/>
              </a:rPr>
              <a:t>(               ,             )</a:t>
            </a:r>
          </a:p>
        </p:txBody>
      </p:sp>
      <p:sp>
        <p:nvSpPr>
          <p:cNvPr id="2" name="Title 1">
            <a:extLst>
              <a:ext uri="{FF2B5EF4-FFF2-40B4-BE49-F238E27FC236}">
                <a16:creationId xmlns:a16="http://schemas.microsoft.com/office/drawing/2014/main" xmlns="" id="{4C1B584B-C97F-4280-A16C-ABFABC535E5A}"/>
              </a:ext>
            </a:extLst>
          </p:cNvPr>
          <p:cNvSpPr>
            <a:spLocks noGrp="1"/>
          </p:cNvSpPr>
          <p:nvPr>
            <p:ph type="title"/>
          </p:nvPr>
        </p:nvSpPr>
        <p:spPr/>
        <p:txBody>
          <a:bodyPr/>
          <a:lstStyle/>
          <a:p>
            <a:r>
              <a:rPr lang="en-US" dirty="0"/>
              <a:t>Assume a model is already trained</a:t>
            </a:r>
          </a:p>
        </p:txBody>
      </p:sp>
      <p:sp>
        <p:nvSpPr>
          <p:cNvPr id="38" name="TextBox 37">
            <a:extLst>
              <a:ext uri="{FF2B5EF4-FFF2-40B4-BE49-F238E27FC236}">
                <a16:creationId xmlns:a16="http://schemas.microsoft.com/office/drawing/2014/main" xmlns="" id="{630AE675-0B7E-EA41-8E46-4858E8D9A076}"/>
              </a:ext>
            </a:extLst>
          </p:cNvPr>
          <p:cNvSpPr txBox="1"/>
          <p:nvPr/>
        </p:nvSpPr>
        <p:spPr>
          <a:xfrm>
            <a:off x="492167" y="3105835"/>
            <a:ext cx="1514106" cy="461665"/>
          </a:xfrm>
          <a:prstGeom prst="rect">
            <a:avLst/>
          </a:prstGeom>
          <a:noFill/>
          <a:ln>
            <a:noFill/>
          </a:ln>
        </p:spPr>
        <p:txBody>
          <a:bodyPr wrap="square" rtlCol="0">
            <a:spAutoFit/>
          </a:bodyPr>
          <a:lstStyle/>
          <a:p>
            <a:r>
              <a:rPr lang="en-US" altLang="zh-CN" sz="2400" b="1" dirty="0">
                <a:solidFill>
                  <a:srgbClr val="C17A90"/>
                </a:solidFill>
                <a:latin typeface="Times New Roman" charset="0"/>
                <a:ea typeface="Times New Roman" charset="0"/>
                <a:cs typeface="Times New Roman" charset="0"/>
              </a:rPr>
              <a:t>cascaded</a:t>
            </a:r>
            <a:endParaRPr lang="en-US" sz="2400" b="1" dirty="0">
              <a:solidFill>
                <a:srgbClr val="C17A90"/>
              </a:solidFill>
              <a:latin typeface="Times New Roman" charset="0"/>
              <a:ea typeface="Times New Roman" charset="0"/>
              <a:cs typeface="Times New Roman" charset="0"/>
            </a:endParaRPr>
          </a:p>
        </p:txBody>
      </p:sp>
      <p:sp>
        <p:nvSpPr>
          <p:cNvPr id="40" name="TextBox 39">
            <a:extLst>
              <a:ext uri="{FF2B5EF4-FFF2-40B4-BE49-F238E27FC236}">
                <a16:creationId xmlns:a16="http://schemas.microsoft.com/office/drawing/2014/main" xmlns="" id="{740BF692-DFBB-1B4E-9D9C-479535407470}"/>
              </a:ext>
            </a:extLst>
          </p:cNvPr>
          <p:cNvSpPr txBox="1"/>
          <p:nvPr/>
        </p:nvSpPr>
        <p:spPr>
          <a:xfrm>
            <a:off x="1828800" y="3105834"/>
            <a:ext cx="1369583" cy="461665"/>
          </a:xfrm>
          <a:prstGeom prst="rect">
            <a:avLst/>
          </a:prstGeom>
          <a:noFill/>
          <a:ln>
            <a:noFill/>
          </a:ln>
        </p:spPr>
        <p:txBody>
          <a:bodyPr wrap="square" rtlCol="0">
            <a:spAutoFit/>
          </a:bodyPr>
          <a:lstStyle/>
          <a:p>
            <a:r>
              <a:rPr lang="en-US" sz="2400" b="1" dirty="0">
                <a:solidFill>
                  <a:srgbClr val="C17A90"/>
                </a:solidFill>
                <a:latin typeface="Times New Roman" charset="0"/>
                <a:ea typeface="Times New Roman" charset="0"/>
                <a:cs typeface="Times New Roman" charset="0"/>
              </a:rPr>
              <a:t>ordered</a:t>
            </a:r>
          </a:p>
        </p:txBody>
      </p:sp>
      <p:sp>
        <p:nvSpPr>
          <p:cNvPr id="62" name="Rounded Rectangle 61">
            <a:extLst>
              <a:ext uri="{FF2B5EF4-FFF2-40B4-BE49-F238E27FC236}">
                <a16:creationId xmlns:a16="http://schemas.microsoft.com/office/drawing/2014/main" xmlns="" id="{909F75B9-0062-E240-8CF3-4202B5100BA2}"/>
              </a:ext>
            </a:extLst>
          </p:cNvPr>
          <p:cNvSpPr/>
          <p:nvPr/>
        </p:nvSpPr>
        <p:spPr>
          <a:xfrm>
            <a:off x="3521278" y="2979595"/>
            <a:ext cx="1941013" cy="714142"/>
          </a:xfrm>
          <a:prstGeom prst="roundRect">
            <a:avLst/>
          </a:prstGeom>
          <a:solidFill>
            <a:srgbClr val="66608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entury Gothic" panose="020B0502020202020204" pitchFamily="34" charset="0"/>
            </a:endParaRPr>
          </a:p>
        </p:txBody>
      </p:sp>
      <p:sp>
        <p:nvSpPr>
          <p:cNvPr id="50" name="TextBox 49">
            <a:extLst>
              <a:ext uri="{FF2B5EF4-FFF2-40B4-BE49-F238E27FC236}">
                <a16:creationId xmlns:a16="http://schemas.microsoft.com/office/drawing/2014/main" xmlns="" id="{FBAE29BC-60CA-D341-9069-7E9CEDB2EAFD}"/>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3" name="TextBox 2">
            <a:extLst>
              <a:ext uri="{FF2B5EF4-FFF2-40B4-BE49-F238E27FC236}">
                <a16:creationId xmlns:a16="http://schemas.microsoft.com/office/drawing/2014/main" xmlns="" id="{6CF9ECFB-E6E8-BD49-869A-90663D307E7A}"/>
              </a:ext>
            </a:extLst>
          </p:cNvPr>
          <p:cNvSpPr txBox="1"/>
          <p:nvPr/>
        </p:nvSpPr>
        <p:spPr>
          <a:xfrm>
            <a:off x="3455114" y="3044279"/>
            <a:ext cx="2113765" cy="523220"/>
          </a:xfrm>
          <a:prstGeom prst="rect">
            <a:avLst/>
          </a:prstGeom>
          <a:noFill/>
        </p:spPr>
        <p:txBody>
          <a:bodyPr wrap="square" rtlCol="0">
            <a:spAutoFit/>
          </a:bodyPr>
          <a:lstStyle/>
          <a:p>
            <a:pPr algn="ctr"/>
            <a:r>
              <a:rPr lang="en-US" sz="2800">
                <a:latin typeface="Century Gothic" panose="020B0502020202020204" pitchFamily="34" charset="0"/>
              </a:rPr>
              <a:t>model</a:t>
            </a:r>
            <a:endParaRPr lang="en-US" sz="2800" dirty="0">
              <a:latin typeface="Century Gothic" panose="020B0502020202020204" pitchFamily="34" charset="0"/>
            </a:endParaRPr>
          </a:p>
        </p:txBody>
      </p:sp>
      <p:grpSp>
        <p:nvGrpSpPr>
          <p:cNvPr id="17" name="Group 16">
            <a:extLst>
              <a:ext uri="{FF2B5EF4-FFF2-40B4-BE49-F238E27FC236}">
                <a16:creationId xmlns:a16="http://schemas.microsoft.com/office/drawing/2014/main" xmlns="" id="{BA1DE1EE-46CA-6646-A0B2-7CFC41AEDD1A}"/>
              </a:ext>
            </a:extLst>
          </p:cNvPr>
          <p:cNvGrpSpPr/>
          <p:nvPr/>
        </p:nvGrpSpPr>
        <p:grpSpPr>
          <a:xfrm>
            <a:off x="6609395" y="2524303"/>
            <a:ext cx="2027359" cy="1752807"/>
            <a:chOff x="6609395" y="2524303"/>
            <a:chExt cx="2027359" cy="1752807"/>
          </a:xfrm>
        </p:grpSpPr>
        <p:sp>
          <p:nvSpPr>
            <p:cNvPr id="14" name="Left Brace 13">
              <a:extLst>
                <a:ext uri="{FF2B5EF4-FFF2-40B4-BE49-F238E27FC236}">
                  <a16:creationId xmlns:a16="http://schemas.microsoft.com/office/drawing/2014/main" xmlns="" id="{80FD5245-391C-B44C-98A8-F2704484AFB5}"/>
                </a:ext>
              </a:extLst>
            </p:cNvPr>
            <p:cNvSpPr/>
            <p:nvPr/>
          </p:nvSpPr>
          <p:spPr>
            <a:xfrm>
              <a:off x="6609395" y="2655329"/>
              <a:ext cx="351264" cy="1443344"/>
            </a:xfrm>
            <a:prstGeom prst="leftBrac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xmlns="" id="{2D8F2DB2-EC64-B449-8F54-F7BE4BE32A8D}"/>
                </a:ext>
              </a:extLst>
            </p:cNvPr>
            <p:cNvSpPr txBox="1"/>
            <p:nvPr/>
          </p:nvSpPr>
          <p:spPr>
            <a:xfrm>
              <a:off x="6946868" y="2524303"/>
              <a:ext cx="1383712"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before: 0.4</a:t>
              </a:r>
            </a:p>
          </p:txBody>
        </p:sp>
        <p:sp>
          <p:nvSpPr>
            <p:cNvPr id="51" name="TextBox 50">
              <a:extLst>
                <a:ext uri="{FF2B5EF4-FFF2-40B4-BE49-F238E27FC236}">
                  <a16:creationId xmlns:a16="http://schemas.microsoft.com/office/drawing/2014/main" xmlns="" id="{426AFBEB-B8C8-5B4B-B52B-2FFCD78D280E}"/>
                </a:ext>
              </a:extLst>
            </p:cNvPr>
            <p:cNvSpPr txBox="1"/>
            <p:nvPr/>
          </p:nvSpPr>
          <p:spPr>
            <a:xfrm>
              <a:off x="6946868" y="2797937"/>
              <a:ext cx="1160895"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after: 0.2</a:t>
              </a:r>
            </a:p>
          </p:txBody>
        </p:sp>
        <p:sp>
          <p:nvSpPr>
            <p:cNvPr id="52" name="TextBox 51">
              <a:extLst>
                <a:ext uri="{FF2B5EF4-FFF2-40B4-BE49-F238E27FC236}">
                  <a16:creationId xmlns:a16="http://schemas.microsoft.com/office/drawing/2014/main" xmlns="" id="{7FCE5BF8-00B5-8A40-AC4C-DFA9F72F098B}"/>
                </a:ext>
              </a:extLst>
            </p:cNvPr>
            <p:cNvSpPr txBox="1"/>
            <p:nvPr/>
          </p:nvSpPr>
          <p:spPr>
            <a:xfrm>
              <a:off x="6946868" y="3092453"/>
              <a:ext cx="1556836"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includes: 0.1</a:t>
              </a:r>
            </a:p>
          </p:txBody>
        </p:sp>
        <p:sp>
          <p:nvSpPr>
            <p:cNvPr id="53" name="TextBox 52">
              <a:extLst>
                <a:ext uri="{FF2B5EF4-FFF2-40B4-BE49-F238E27FC236}">
                  <a16:creationId xmlns:a16="http://schemas.microsoft.com/office/drawing/2014/main" xmlns="" id="{00FE164C-0C04-CC49-A4E5-416AD3123E24}"/>
                </a:ext>
              </a:extLst>
            </p:cNvPr>
            <p:cNvSpPr txBox="1"/>
            <p:nvPr/>
          </p:nvSpPr>
          <p:spPr>
            <a:xfrm>
              <a:off x="6946868" y="3629985"/>
              <a:ext cx="1285929"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equal: 0.0</a:t>
              </a:r>
            </a:p>
          </p:txBody>
        </p:sp>
        <p:sp>
          <p:nvSpPr>
            <p:cNvPr id="19" name="TextBox 18">
              <a:extLst>
                <a:ext uri="{FF2B5EF4-FFF2-40B4-BE49-F238E27FC236}">
                  <a16:creationId xmlns:a16="http://schemas.microsoft.com/office/drawing/2014/main" xmlns="" id="{AA036769-6191-554A-84BD-B01D9C92ADAC}"/>
                </a:ext>
              </a:extLst>
            </p:cNvPr>
            <p:cNvSpPr txBox="1"/>
            <p:nvPr/>
          </p:nvSpPr>
          <p:spPr>
            <a:xfrm>
              <a:off x="6946868" y="3907778"/>
              <a:ext cx="136608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vague: 0.2</a:t>
              </a:r>
            </a:p>
          </p:txBody>
        </p:sp>
        <p:sp>
          <p:nvSpPr>
            <p:cNvPr id="20" name="TextBox 19">
              <a:extLst>
                <a:ext uri="{FF2B5EF4-FFF2-40B4-BE49-F238E27FC236}">
                  <a16:creationId xmlns:a16="http://schemas.microsoft.com/office/drawing/2014/main" xmlns="" id="{C35CA577-D622-1E48-A162-621603664DC6}"/>
                </a:ext>
              </a:extLst>
            </p:cNvPr>
            <p:cNvSpPr txBox="1"/>
            <p:nvPr/>
          </p:nvSpPr>
          <p:spPr>
            <a:xfrm>
              <a:off x="6946868" y="3382833"/>
              <a:ext cx="1689886"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included: 0.1</a:t>
              </a:r>
            </a:p>
          </p:txBody>
        </p:sp>
      </p:grpSp>
      <p:sp>
        <p:nvSpPr>
          <p:cNvPr id="16" name="TextBox 15">
            <a:extLst>
              <a:ext uri="{FF2B5EF4-FFF2-40B4-BE49-F238E27FC236}">
                <a16:creationId xmlns:a16="http://schemas.microsoft.com/office/drawing/2014/main" xmlns="" id="{D036EF41-8A97-7F48-942B-90F8222FB384}"/>
              </a:ext>
            </a:extLst>
          </p:cNvPr>
          <p:cNvSpPr txBox="1"/>
          <p:nvPr/>
        </p:nvSpPr>
        <p:spPr>
          <a:xfrm>
            <a:off x="6384214" y="1829425"/>
            <a:ext cx="250902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Confidence/</a:t>
            </a:r>
            <a:r>
              <a:rPr lang="en-US" dirty="0" err="1">
                <a:solidFill>
                  <a:schemeClr val="bg2"/>
                </a:solidFill>
                <a:latin typeface="Century Gothic" panose="020B0502020202020204" pitchFamily="34" charset="0"/>
              </a:rPr>
              <a:t>softmax</a:t>
            </a:r>
            <a:endParaRPr lang="en-US" dirty="0">
              <a:solidFill>
                <a:schemeClr val="bg2"/>
              </a:solidFill>
              <a:latin typeface="Century Gothic" panose="020B0502020202020204" pitchFamily="34" charset="0"/>
            </a:endParaRPr>
          </a:p>
        </p:txBody>
      </p:sp>
      <p:sp>
        <p:nvSpPr>
          <p:cNvPr id="18" name="TextBox 17">
            <a:extLst>
              <a:ext uri="{FF2B5EF4-FFF2-40B4-BE49-F238E27FC236}">
                <a16:creationId xmlns:a16="http://schemas.microsoft.com/office/drawing/2014/main" xmlns="" id="{2FC63BFE-90C3-7A45-AA6E-64636E597A33}"/>
              </a:ext>
            </a:extLst>
          </p:cNvPr>
          <p:cNvSpPr txBox="1"/>
          <p:nvPr/>
        </p:nvSpPr>
        <p:spPr>
          <a:xfrm>
            <a:off x="1028133" y="5099417"/>
            <a:ext cx="7381874" cy="830997"/>
          </a:xfrm>
          <a:prstGeom prst="rect">
            <a:avLst/>
          </a:prstGeom>
          <a:noFill/>
        </p:spPr>
        <p:txBody>
          <a:bodyPr wrap="square" rtlCol="0">
            <a:spAutoFit/>
          </a:bodyPr>
          <a:lstStyle/>
          <a:p>
            <a:r>
              <a:rPr lang="en-US" sz="2400" dirty="0">
                <a:solidFill>
                  <a:schemeClr val="bg2"/>
                </a:solidFill>
                <a:latin typeface="Century Gothic" panose="020B0502020202020204" pitchFamily="34" charset="0"/>
              </a:rPr>
              <a:t>Based on these confidence scores, we need to solve for the final temporal graph.</a:t>
            </a:r>
          </a:p>
        </p:txBody>
      </p:sp>
    </p:spTree>
    <p:extLst>
      <p:ext uri="{BB962C8B-B14F-4D97-AF65-F5344CB8AC3E}">
        <p14:creationId xmlns:p14="http://schemas.microsoft.com/office/powerpoint/2010/main" val="4230571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288E46-7D58-094D-9208-8CD42A923548}"/>
              </a:ext>
            </a:extLst>
          </p:cNvPr>
          <p:cNvSpPr>
            <a:spLocks noGrp="1"/>
          </p:cNvSpPr>
          <p:nvPr>
            <p:ph type="title"/>
          </p:nvPr>
        </p:nvSpPr>
        <p:spPr/>
        <p:txBody>
          <a:bodyPr/>
          <a:lstStyle/>
          <a:p>
            <a:r>
              <a:rPr lang="en-US" dirty="0"/>
              <a:t>Global inference (a toy example)</a:t>
            </a:r>
          </a:p>
        </p:txBody>
      </p:sp>
      <p:sp>
        <p:nvSpPr>
          <p:cNvPr id="19" name="TextBox 18">
            <a:extLst>
              <a:ext uri="{FF2B5EF4-FFF2-40B4-BE49-F238E27FC236}">
                <a16:creationId xmlns:a16="http://schemas.microsoft.com/office/drawing/2014/main" xmlns="" id="{36B1D67F-0313-A74E-B05C-364131DACC42}"/>
              </a:ext>
            </a:extLst>
          </p:cNvPr>
          <p:cNvSpPr txBox="1"/>
          <p:nvPr/>
        </p:nvSpPr>
        <p:spPr>
          <a:xfrm>
            <a:off x="1811908" y="3905336"/>
            <a:ext cx="1725152" cy="461665"/>
          </a:xfrm>
          <a:prstGeom prst="rect">
            <a:avLst/>
          </a:prstGeom>
          <a:noFill/>
          <a:ln>
            <a:noFill/>
          </a:ln>
        </p:spPr>
        <p:txBody>
          <a:bodyPr wrap="none" rtlCol="0">
            <a:spAutoFit/>
          </a:bodyPr>
          <a:lstStyle/>
          <a:p>
            <a:r>
              <a:rPr lang="en-US" altLang="zh-CN" sz="2400" b="1" dirty="0">
                <a:solidFill>
                  <a:srgbClr val="C00000"/>
                </a:solidFill>
                <a:latin typeface="Century Gothic" panose="020B0502020202020204" pitchFamily="34" charset="0"/>
                <a:ea typeface="Times New Roman" charset="0"/>
                <a:cs typeface="Times New Roman" charset="0"/>
              </a:rPr>
              <a:t>cascaded</a:t>
            </a:r>
            <a:endParaRPr lang="en-US" sz="2400" b="1" dirty="0">
              <a:solidFill>
                <a:srgbClr val="C00000"/>
              </a:solidFill>
              <a:latin typeface="Century Gothic" panose="020B0502020202020204" pitchFamily="34" charset="0"/>
              <a:ea typeface="Times New Roman" charset="0"/>
              <a:cs typeface="Times New Roman" charset="0"/>
            </a:endParaRPr>
          </a:p>
        </p:txBody>
      </p:sp>
      <p:sp>
        <p:nvSpPr>
          <p:cNvPr id="21" name="TextBox 20">
            <a:extLst>
              <a:ext uri="{FF2B5EF4-FFF2-40B4-BE49-F238E27FC236}">
                <a16:creationId xmlns:a16="http://schemas.microsoft.com/office/drawing/2014/main" xmlns="" id="{CA72676C-C889-F54C-93B4-2CEDC29787F3}"/>
              </a:ext>
            </a:extLst>
          </p:cNvPr>
          <p:cNvSpPr txBox="1"/>
          <p:nvPr/>
        </p:nvSpPr>
        <p:spPr>
          <a:xfrm>
            <a:off x="5585800" y="3905336"/>
            <a:ext cx="1378904" cy="461665"/>
          </a:xfrm>
          <a:prstGeom prst="rect">
            <a:avLst/>
          </a:prstGeom>
          <a:noFill/>
          <a:ln>
            <a:noFill/>
          </a:ln>
        </p:spPr>
        <p:txBody>
          <a:bodyPr wrap="none" rtlCol="0">
            <a:spAutoFit/>
          </a:bodyPr>
          <a:lstStyle/>
          <a:p>
            <a:r>
              <a:rPr lang="en-US" sz="2400" b="1" dirty="0">
                <a:solidFill>
                  <a:srgbClr val="C00000"/>
                </a:solidFill>
                <a:latin typeface="Century Gothic" panose="020B0502020202020204" pitchFamily="34" charset="0"/>
                <a:ea typeface="Times New Roman" charset="0"/>
                <a:cs typeface="Times New Roman" charset="0"/>
              </a:rPr>
              <a:t>ordered</a:t>
            </a:r>
          </a:p>
        </p:txBody>
      </p:sp>
      <p:sp>
        <p:nvSpPr>
          <p:cNvPr id="27" name="TextBox 26">
            <a:extLst>
              <a:ext uri="{FF2B5EF4-FFF2-40B4-BE49-F238E27FC236}">
                <a16:creationId xmlns:a16="http://schemas.microsoft.com/office/drawing/2014/main" xmlns="" id="{5E97BEC5-F97E-4245-9A44-4C677DCF82BD}"/>
              </a:ext>
            </a:extLst>
          </p:cNvPr>
          <p:cNvSpPr txBox="1"/>
          <p:nvPr/>
        </p:nvSpPr>
        <p:spPr>
          <a:xfrm>
            <a:off x="3733800" y="1905000"/>
            <a:ext cx="1316386" cy="461665"/>
          </a:xfrm>
          <a:prstGeom prst="rect">
            <a:avLst/>
          </a:prstGeom>
          <a:noFill/>
          <a:ln>
            <a:noFill/>
          </a:ln>
        </p:spPr>
        <p:txBody>
          <a:bodyPr wrap="none" rtlCol="0">
            <a:spAutoFit/>
          </a:bodyPr>
          <a:lstStyle/>
          <a:p>
            <a:r>
              <a:rPr lang="en-US" sz="2400" b="1" dirty="0">
                <a:solidFill>
                  <a:srgbClr val="C00000"/>
                </a:solidFill>
                <a:latin typeface="Century Gothic" panose="020B0502020202020204" pitchFamily="34" charset="0"/>
                <a:ea typeface="Times New Roman" charset="0"/>
                <a:cs typeface="Times New Roman" charset="0"/>
              </a:rPr>
              <a:t>monitor</a:t>
            </a:r>
          </a:p>
        </p:txBody>
      </p:sp>
      <p:cxnSp>
        <p:nvCxnSpPr>
          <p:cNvPr id="28" name="Straight Connector 27">
            <a:extLst>
              <a:ext uri="{FF2B5EF4-FFF2-40B4-BE49-F238E27FC236}">
                <a16:creationId xmlns:a16="http://schemas.microsoft.com/office/drawing/2014/main" xmlns="" id="{37B11748-6444-954F-ABE5-219A4F7EDA66}"/>
              </a:ext>
            </a:extLst>
          </p:cNvPr>
          <p:cNvCxnSpPr/>
          <p:nvPr/>
        </p:nvCxnSpPr>
        <p:spPr>
          <a:xfrm flipH="1" flipV="1">
            <a:off x="3499546" y="4087180"/>
            <a:ext cx="2008858" cy="287"/>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xmlns="" id="{146FD400-E108-F84E-A3FF-39FED7C840C7}"/>
              </a:ext>
            </a:extLst>
          </p:cNvPr>
          <p:cNvCxnSpPr>
            <a:cxnSpLocks/>
          </p:cNvCxnSpPr>
          <p:nvPr/>
        </p:nvCxnSpPr>
        <p:spPr>
          <a:xfrm flipH="1">
            <a:off x="2240264" y="2311716"/>
            <a:ext cx="1282506" cy="1472005"/>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532B21EF-3D88-9E4D-9E5D-20F4E1ED6C37}"/>
              </a:ext>
            </a:extLst>
          </p:cNvPr>
          <p:cNvCxnSpPr>
            <a:cxnSpLocks/>
          </p:cNvCxnSpPr>
          <p:nvPr/>
        </p:nvCxnSpPr>
        <p:spPr>
          <a:xfrm>
            <a:off x="5399731" y="2329637"/>
            <a:ext cx="1254706" cy="1604242"/>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xmlns="" id="{646D566B-5C87-434C-942D-9581C9F1DFCE}"/>
              </a:ext>
            </a:extLst>
          </p:cNvPr>
          <p:cNvCxnSpPr>
            <a:cxnSpLocks/>
          </p:cNvCxnSpPr>
          <p:nvPr/>
        </p:nvCxnSpPr>
        <p:spPr>
          <a:xfrm>
            <a:off x="4998142" y="2393114"/>
            <a:ext cx="1254706" cy="1604242"/>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xmlns="" id="{3CF42BF5-F17A-3A4C-814B-7F492E7A695B}"/>
              </a:ext>
            </a:extLst>
          </p:cNvPr>
          <p:cNvCxnSpPr/>
          <p:nvPr/>
        </p:nvCxnSpPr>
        <p:spPr>
          <a:xfrm flipH="1" flipV="1">
            <a:off x="3499546" y="4378597"/>
            <a:ext cx="2008858" cy="287"/>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xmlns="" id="{D09CE199-21E2-4F49-8DC9-31AF6256D858}"/>
              </a:ext>
            </a:extLst>
          </p:cNvPr>
          <p:cNvCxnSpPr>
            <a:cxnSpLocks/>
          </p:cNvCxnSpPr>
          <p:nvPr/>
        </p:nvCxnSpPr>
        <p:spPr>
          <a:xfrm flipH="1">
            <a:off x="2576516" y="2491050"/>
            <a:ext cx="1282506" cy="1472005"/>
          </a:xfrm>
          <a:prstGeom prst="line">
            <a:avLst/>
          </a:prstGeom>
          <a:ln w="31750">
            <a:solidFill>
              <a:schemeClr val="bg2"/>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xmlns="" id="{C14E1151-C763-6B44-9905-25C11B0E8D49}"/>
              </a:ext>
            </a:extLst>
          </p:cNvPr>
          <p:cNvSpPr txBox="1"/>
          <p:nvPr/>
        </p:nvSpPr>
        <p:spPr>
          <a:xfrm>
            <a:off x="4208495" y="3774831"/>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0.8</a:t>
            </a:r>
          </a:p>
        </p:txBody>
      </p:sp>
      <p:sp>
        <p:nvSpPr>
          <p:cNvPr id="46" name="TextBox 45">
            <a:extLst>
              <a:ext uri="{FF2B5EF4-FFF2-40B4-BE49-F238E27FC236}">
                <a16:creationId xmlns:a16="http://schemas.microsoft.com/office/drawing/2014/main" xmlns="" id="{6E096EB5-38D5-0743-8D99-B4052BCB6E7A}"/>
              </a:ext>
            </a:extLst>
          </p:cNvPr>
          <p:cNvSpPr txBox="1"/>
          <p:nvPr/>
        </p:nvSpPr>
        <p:spPr>
          <a:xfrm>
            <a:off x="4208495" y="4407878"/>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0.2</a:t>
            </a:r>
          </a:p>
        </p:txBody>
      </p:sp>
      <p:sp>
        <p:nvSpPr>
          <p:cNvPr id="47" name="TextBox 46">
            <a:extLst>
              <a:ext uri="{FF2B5EF4-FFF2-40B4-BE49-F238E27FC236}">
                <a16:creationId xmlns:a16="http://schemas.microsoft.com/office/drawing/2014/main" xmlns="" id="{2FC63F5C-DF4C-4045-8F83-F255995B2736}"/>
              </a:ext>
            </a:extLst>
          </p:cNvPr>
          <p:cNvSpPr txBox="1"/>
          <p:nvPr/>
        </p:nvSpPr>
        <p:spPr>
          <a:xfrm>
            <a:off x="6060741" y="2836984"/>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0.7</a:t>
            </a:r>
          </a:p>
        </p:txBody>
      </p:sp>
      <p:sp>
        <p:nvSpPr>
          <p:cNvPr id="48" name="TextBox 47">
            <a:extLst>
              <a:ext uri="{FF2B5EF4-FFF2-40B4-BE49-F238E27FC236}">
                <a16:creationId xmlns:a16="http://schemas.microsoft.com/office/drawing/2014/main" xmlns="" id="{9371D5F8-DAD1-7241-A931-1F2E16DF3B63}"/>
              </a:ext>
            </a:extLst>
          </p:cNvPr>
          <p:cNvSpPr txBox="1"/>
          <p:nvPr/>
        </p:nvSpPr>
        <p:spPr>
          <a:xfrm>
            <a:off x="5123364" y="3057513"/>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0.3</a:t>
            </a:r>
          </a:p>
        </p:txBody>
      </p:sp>
      <p:sp>
        <p:nvSpPr>
          <p:cNvPr id="49" name="TextBox 48">
            <a:extLst>
              <a:ext uri="{FF2B5EF4-FFF2-40B4-BE49-F238E27FC236}">
                <a16:creationId xmlns:a16="http://schemas.microsoft.com/office/drawing/2014/main" xmlns="" id="{8FD65723-6CE8-5444-89C6-0EF49270A308}"/>
              </a:ext>
            </a:extLst>
          </p:cNvPr>
          <p:cNvSpPr txBox="1"/>
          <p:nvPr/>
        </p:nvSpPr>
        <p:spPr>
          <a:xfrm>
            <a:off x="2381045" y="2774148"/>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0.6</a:t>
            </a:r>
          </a:p>
        </p:txBody>
      </p:sp>
      <p:sp>
        <p:nvSpPr>
          <p:cNvPr id="50" name="TextBox 49">
            <a:extLst>
              <a:ext uri="{FF2B5EF4-FFF2-40B4-BE49-F238E27FC236}">
                <a16:creationId xmlns:a16="http://schemas.microsoft.com/office/drawing/2014/main" xmlns="" id="{82FAF982-2278-5B41-A01A-0A29A607C240}"/>
              </a:ext>
            </a:extLst>
          </p:cNvPr>
          <p:cNvSpPr txBox="1"/>
          <p:nvPr/>
        </p:nvSpPr>
        <p:spPr>
          <a:xfrm>
            <a:off x="3201556" y="3071445"/>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0.4</a:t>
            </a:r>
          </a:p>
        </p:txBody>
      </p:sp>
      <p:sp>
        <p:nvSpPr>
          <p:cNvPr id="51" name="TextBox 50">
            <a:extLst>
              <a:ext uri="{FF2B5EF4-FFF2-40B4-BE49-F238E27FC236}">
                <a16:creationId xmlns:a16="http://schemas.microsoft.com/office/drawing/2014/main" xmlns="" id="{4348F4B8-66E5-774D-9209-78F3086CE3E6}"/>
              </a:ext>
            </a:extLst>
          </p:cNvPr>
          <p:cNvSpPr txBox="1"/>
          <p:nvPr/>
        </p:nvSpPr>
        <p:spPr>
          <a:xfrm>
            <a:off x="2436640" y="5401319"/>
            <a:ext cx="4270721" cy="523220"/>
          </a:xfrm>
          <a:prstGeom prst="rect">
            <a:avLst/>
          </a:prstGeom>
          <a:noFill/>
        </p:spPr>
        <p:txBody>
          <a:bodyPr wrap="none" rtlCol="0">
            <a:spAutoFit/>
          </a:bodyPr>
          <a:lstStyle/>
          <a:p>
            <a:r>
              <a:rPr lang="en-US" sz="2800" dirty="0">
                <a:solidFill>
                  <a:schemeClr val="bg2"/>
                </a:solidFill>
                <a:latin typeface="Century Gothic" panose="020B0502020202020204" pitchFamily="34" charset="0"/>
              </a:rPr>
              <a:t>Time cannot be a loop!</a:t>
            </a:r>
          </a:p>
        </p:txBody>
      </p:sp>
      <p:sp>
        <p:nvSpPr>
          <p:cNvPr id="3" name="Arc 2">
            <a:extLst>
              <a:ext uri="{FF2B5EF4-FFF2-40B4-BE49-F238E27FC236}">
                <a16:creationId xmlns:a16="http://schemas.microsoft.com/office/drawing/2014/main" xmlns="" id="{ED6FB6A5-3427-E84B-8BF6-96488F5CF0AB}"/>
              </a:ext>
            </a:extLst>
          </p:cNvPr>
          <p:cNvSpPr/>
          <p:nvPr/>
        </p:nvSpPr>
        <p:spPr>
          <a:xfrm rot="8100000">
            <a:off x="3924359" y="2700406"/>
            <a:ext cx="1047002" cy="1083546"/>
          </a:xfrm>
          <a:prstGeom prst="arc">
            <a:avLst>
              <a:gd name="adj1" fmla="val 1281952"/>
              <a:gd name="adj2" fmla="val 20515349"/>
            </a:avLst>
          </a:prstGeom>
          <a:ln w="38100">
            <a:solidFill>
              <a:schemeClr val="tx1">
                <a:lumMod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xmlns="" id="{FCB651A3-D740-C24E-B3E5-12893BE5765E}"/>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4" name="TextBox 3">
            <a:extLst>
              <a:ext uri="{FF2B5EF4-FFF2-40B4-BE49-F238E27FC236}">
                <a16:creationId xmlns:a16="http://schemas.microsoft.com/office/drawing/2014/main" xmlns="" id="{49B50B11-BE7E-A14F-B169-791CA5FA8C14}"/>
              </a:ext>
            </a:extLst>
          </p:cNvPr>
          <p:cNvSpPr txBox="1"/>
          <p:nvPr/>
        </p:nvSpPr>
        <p:spPr>
          <a:xfrm>
            <a:off x="6991212" y="2702113"/>
            <a:ext cx="2076209" cy="1169551"/>
          </a:xfrm>
          <a:prstGeom prst="rect">
            <a:avLst/>
          </a:prstGeom>
          <a:noFill/>
        </p:spPr>
        <p:txBody>
          <a:bodyPr wrap="none" rtlCol="0">
            <a:spAutoFit/>
          </a:bodyPr>
          <a:lstStyle/>
          <a:p>
            <a:r>
              <a:rPr lang="en-US" sz="1400" i="1" dirty="0">
                <a:solidFill>
                  <a:schemeClr val="bg2"/>
                </a:solidFill>
                <a:latin typeface="Century Gothic" panose="020B0502020202020204" pitchFamily="34" charset="0"/>
              </a:rPr>
              <a:t>Local inference:</a:t>
            </a:r>
          </a:p>
          <a:p>
            <a:endParaRPr lang="en-US" sz="1400" i="1" dirty="0">
              <a:solidFill>
                <a:schemeClr val="bg2"/>
              </a:solidFill>
              <a:latin typeface="Century Gothic" panose="020B0502020202020204" pitchFamily="34" charset="0"/>
            </a:endParaRPr>
          </a:p>
          <a:p>
            <a:r>
              <a:rPr lang="en-US" sz="1400" i="1" dirty="0">
                <a:solidFill>
                  <a:schemeClr val="bg2"/>
                </a:solidFill>
                <a:latin typeface="Century Gothic" panose="020B0502020202020204" pitchFamily="34" charset="0"/>
              </a:rPr>
              <a:t>Mani et al., 2006</a:t>
            </a:r>
          </a:p>
          <a:p>
            <a:r>
              <a:rPr lang="en-US" sz="1400" i="1" dirty="0">
                <a:solidFill>
                  <a:schemeClr val="bg2"/>
                </a:solidFill>
                <a:latin typeface="Century Gothic" panose="020B0502020202020204" pitchFamily="34" charset="0"/>
              </a:rPr>
              <a:t>Chambers et al., 2007</a:t>
            </a:r>
          </a:p>
          <a:p>
            <a:r>
              <a:rPr lang="en-US" sz="1400" i="1" dirty="0" err="1">
                <a:solidFill>
                  <a:schemeClr val="bg2"/>
                </a:solidFill>
                <a:latin typeface="Century Gothic" panose="020B0502020202020204" pitchFamily="34" charset="0"/>
              </a:rPr>
              <a:t>Bethard</a:t>
            </a:r>
            <a:r>
              <a:rPr lang="en-US" sz="1400" i="1" dirty="0">
                <a:solidFill>
                  <a:schemeClr val="bg2"/>
                </a:solidFill>
                <a:latin typeface="Century Gothic" panose="020B0502020202020204" pitchFamily="34" charset="0"/>
              </a:rPr>
              <a:t> et al., 2007</a:t>
            </a:r>
          </a:p>
        </p:txBody>
      </p:sp>
    </p:spTree>
    <p:extLst>
      <p:ext uri="{BB962C8B-B14F-4D97-AF65-F5344CB8AC3E}">
        <p14:creationId xmlns:p14="http://schemas.microsoft.com/office/powerpoint/2010/main" val="3785013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1000"/>
                                        <p:tgtEl>
                                          <p:spTgt spid="43"/>
                                        </p:tgtEl>
                                      </p:cBhvr>
                                    </p:animEffect>
                                    <p:anim calcmode="lin" valueType="num">
                                      <p:cBhvr>
                                        <p:cTn id="7" dur="1000"/>
                                        <p:tgtEl>
                                          <p:spTgt spid="43"/>
                                        </p:tgtEl>
                                        <p:attrNameLst>
                                          <p:attrName>ppt_x</p:attrName>
                                        </p:attrNameLst>
                                      </p:cBhvr>
                                      <p:tavLst>
                                        <p:tav tm="0">
                                          <p:val>
                                            <p:strVal val="ppt_x"/>
                                          </p:val>
                                        </p:tav>
                                        <p:tav tm="100000">
                                          <p:val>
                                            <p:strVal val="ppt_x"/>
                                          </p:val>
                                        </p:tav>
                                      </p:tavLst>
                                    </p:anim>
                                    <p:anim calcmode="lin" valueType="num">
                                      <p:cBhvr>
                                        <p:cTn id="8" dur="1000"/>
                                        <p:tgtEl>
                                          <p:spTgt spid="43"/>
                                        </p:tgtEl>
                                        <p:attrNameLst>
                                          <p:attrName>ppt_y</p:attrName>
                                        </p:attrNameLst>
                                      </p:cBhvr>
                                      <p:tavLst>
                                        <p:tav tm="0">
                                          <p:val>
                                            <p:strVal val="ppt_y"/>
                                          </p:val>
                                        </p:tav>
                                        <p:tav tm="100000">
                                          <p:val>
                                            <p:strVal val="ppt_y+.1"/>
                                          </p:val>
                                        </p:tav>
                                      </p:tavLst>
                                    </p:anim>
                                    <p:set>
                                      <p:cBhvr>
                                        <p:cTn id="9" dur="1" fill="hold">
                                          <p:stCondLst>
                                            <p:cond delay="999"/>
                                          </p:stCondLst>
                                        </p:cTn>
                                        <p:tgtEl>
                                          <p:spTgt spid="43"/>
                                        </p:tgtEl>
                                        <p:attrNameLst>
                                          <p:attrName>style.visibility</p:attrName>
                                        </p:attrNameLst>
                                      </p:cBhvr>
                                      <p:to>
                                        <p:strVal val="hidden"/>
                                      </p:to>
                                    </p:set>
                                  </p:childTnLst>
                                </p:cTn>
                              </p:par>
                              <p:par>
                                <p:cTn id="10" presetID="42" presetClass="exit" presetSubtype="0" fill="hold" grpId="0" nodeType="withEffect">
                                  <p:stCondLst>
                                    <p:cond delay="0"/>
                                  </p:stCondLst>
                                  <p:childTnLst>
                                    <p:animEffect transition="out" filter="fade">
                                      <p:cBhvr>
                                        <p:cTn id="11" dur="1000"/>
                                        <p:tgtEl>
                                          <p:spTgt spid="50"/>
                                        </p:tgtEl>
                                      </p:cBhvr>
                                    </p:animEffect>
                                    <p:anim calcmode="lin" valueType="num">
                                      <p:cBhvr>
                                        <p:cTn id="12" dur="1000"/>
                                        <p:tgtEl>
                                          <p:spTgt spid="50"/>
                                        </p:tgtEl>
                                        <p:attrNameLst>
                                          <p:attrName>ppt_x</p:attrName>
                                        </p:attrNameLst>
                                      </p:cBhvr>
                                      <p:tavLst>
                                        <p:tav tm="0">
                                          <p:val>
                                            <p:strVal val="ppt_x"/>
                                          </p:val>
                                        </p:tav>
                                        <p:tav tm="100000">
                                          <p:val>
                                            <p:strVal val="ppt_x"/>
                                          </p:val>
                                        </p:tav>
                                      </p:tavLst>
                                    </p:anim>
                                    <p:anim calcmode="lin" valueType="num">
                                      <p:cBhvr>
                                        <p:cTn id="13" dur="1000"/>
                                        <p:tgtEl>
                                          <p:spTgt spid="50"/>
                                        </p:tgtEl>
                                        <p:attrNameLst>
                                          <p:attrName>ppt_y</p:attrName>
                                        </p:attrNameLst>
                                      </p:cBhvr>
                                      <p:tavLst>
                                        <p:tav tm="0">
                                          <p:val>
                                            <p:strVal val="ppt_y"/>
                                          </p:val>
                                        </p:tav>
                                        <p:tav tm="100000">
                                          <p:val>
                                            <p:strVal val="ppt_y+.1"/>
                                          </p:val>
                                        </p:tav>
                                      </p:tavLst>
                                    </p:anim>
                                    <p:set>
                                      <p:cBhvr>
                                        <p:cTn id="14" dur="1" fill="hold">
                                          <p:stCondLst>
                                            <p:cond delay="999"/>
                                          </p:stCondLst>
                                        </p:cTn>
                                        <p:tgtEl>
                                          <p:spTgt spid="5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42" presetClass="exit" presetSubtype="0" fill="hold" nodeType="clickEffect">
                                  <p:stCondLst>
                                    <p:cond delay="0"/>
                                  </p:stCondLst>
                                  <p:childTnLst>
                                    <p:animEffect transition="out" filter="fade">
                                      <p:cBhvr>
                                        <p:cTn id="18" dur="1000"/>
                                        <p:tgtEl>
                                          <p:spTgt spid="42"/>
                                        </p:tgtEl>
                                      </p:cBhvr>
                                    </p:animEffect>
                                    <p:anim calcmode="lin" valueType="num">
                                      <p:cBhvr>
                                        <p:cTn id="19" dur="1000"/>
                                        <p:tgtEl>
                                          <p:spTgt spid="42"/>
                                        </p:tgtEl>
                                        <p:attrNameLst>
                                          <p:attrName>ppt_x</p:attrName>
                                        </p:attrNameLst>
                                      </p:cBhvr>
                                      <p:tavLst>
                                        <p:tav tm="0">
                                          <p:val>
                                            <p:strVal val="ppt_x"/>
                                          </p:val>
                                        </p:tav>
                                        <p:tav tm="100000">
                                          <p:val>
                                            <p:strVal val="ppt_x"/>
                                          </p:val>
                                        </p:tav>
                                      </p:tavLst>
                                    </p:anim>
                                    <p:anim calcmode="lin" valueType="num">
                                      <p:cBhvr>
                                        <p:cTn id="20" dur="1000"/>
                                        <p:tgtEl>
                                          <p:spTgt spid="42"/>
                                        </p:tgtEl>
                                        <p:attrNameLst>
                                          <p:attrName>ppt_y</p:attrName>
                                        </p:attrNameLst>
                                      </p:cBhvr>
                                      <p:tavLst>
                                        <p:tav tm="0">
                                          <p:val>
                                            <p:strVal val="ppt_y"/>
                                          </p:val>
                                        </p:tav>
                                        <p:tav tm="100000">
                                          <p:val>
                                            <p:strVal val="ppt_y+.1"/>
                                          </p:val>
                                        </p:tav>
                                      </p:tavLst>
                                    </p:anim>
                                    <p:set>
                                      <p:cBhvr>
                                        <p:cTn id="21" dur="1" fill="hold">
                                          <p:stCondLst>
                                            <p:cond delay="999"/>
                                          </p:stCondLst>
                                        </p:cTn>
                                        <p:tgtEl>
                                          <p:spTgt spid="42"/>
                                        </p:tgtEl>
                                        <p:attrNameLst>
                                          <p:attrName>style.visibility</p:attrName>
                                        </p:attrNameLst>
                                      </p:cBhvr>
                                      <p:to>
                                        <p:strVal val="hidden"/>
                                      </p:to>
                                    </p:set>
                                  </p:childTnLst>
                                </p:cTn>
                              </p:par>
                              <p:par>
                                <p:cTn id="22" presetID="42" presetClass="exit" presetSubtype="0" fill="hold" grpId="0" nodeType="withEffect">
                                  <p:stCondLst>
                                    <p:cond delay="0"/>
                                  </p:stCondLst>
                                  <p:childTnLst>
                                    <p:animEffect transition="out" filter="fade">
                                      <p:cBhvr>
                                        <p:cTn id="23" dur="1000"/>
                                        <p:tgtEl>
                                          <p:spTgt spid="46"/>
                                        </p:tgtEl>
                                      </p:cBhvr>
                                    </p:animEffect>
                                    <p:anim calcmode="lin" valueType="num">
                                      <p:cBhvr>
                                        <p:cTn id="24" dur="1000"/>
                                        <p:tgtEl>
                                          <p:spTgt spid="46"/>
                                        </p:tgtEl>
                                        <p:attrNameLst>
                                          <p:attrName>ppt_x</p:attrName>
                                        </p:attrNameLst>
                                      </p:cBhvr>
                                      <p:tavLst>
                                        <p:tav tm="0">
                                          <p:val>
                                            <p:strVal val="ppt_x"/>
                                          </p:val>
                                        </p:tav>
                                        <p:tav tm="100000">
                                          <p:val>
                                            <p:strVal val="ppt_x"/>
                                          </p:val>
                                        </p:tav>
                                      </p:tavLst>
                                    </p:anim>
                                    <p:anim calcmode="lin" valueType="num">
                                      <p:cBhvr>
                                        <p:cTn id="25" dur="1000"/>
                                        <p:tgtEl>
                                          <p:spTgt spid="46"/>
                                        </p:tgtEl>
                                        <p:attrNameLst>
                                          <p:attrName>ppt_y</p:attrName>
                                        </p:attrNameLst>
                                      </p:cBhvr>
                                      <p:tavLst>
                                        <p:tav tm="0">
                                          <p:val>
                                            <p:strVal val="ppt_y"/>
                                          </p:val>
                                        </p:tav>
                                        <p:tav tm="100000">
                                          <p:val>
                                            <p:strVal val="ppt_y+.1"/>
                                          </p:val>
                                        </p:tav>
                                      </p:tavLst>
                                    </p:anim>
                                    <p:set>
                                      <p:cBhvr>
                                        <p:cTn id="26" dur="1" fill="hold">
                                          <p:stCondLst>
                                            <p:cond delay="999"/>
                                          </p:stCondLst>
                                        </p:cTn>
                                        <p:tgtEl>
                                          <p:spTgt spid="4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42" presetClass="exit" presetSubtype="0" fill="hold" nodeType="clickEffect">
                                  <p:stCondLst>
                                    <p:cond delay="0"/>
                                  </p:stCondLst>
                                  <p:childTnLst>
                                    <p:animEffect transition="out" filter="fade">
                                      <p:cBhvr>
                                        <p:cTn id="30" dur="1000"/>
                                        <p:tgtEl>
                                          <p:spTgt spid="41"/>
                                        </p:tgtEl>
                                      </p:cBhvr>
                                    </p:animEffect>
                                    <p:anim calcmode="lin" valueType="num">
                                      <p:cBhvr>
                                        <p:cTn id="31" dur="1000"/>
                                        <p:tgtEl>
                                          <p:spTgt spid="41"/>
                                        </p:tgtEl>
                                        <p:attrNameLst>
                                          <p:attrName>ppt_x</p:attrName>
                                        </p:attrNameLst>
                                      </p:cBhvr>
                                      <p:tavLst>
                                        <p:tav tm="0">
                                          <p:val>
                                            <p:strVal val="ppt_x"/>
                                          </p:val>
                                        </p:tav>
                                        <p:tav tm="100000">
                                          <p:val>
                                            <p:strVal val="ppt_x"/>
                                          </p:val>
                                        </p:tav>
                                      </p:tavLst>
                                    </p:anim>
                                    <p:anim calcmode="lin" valueType="num">
                                      <p:cBhvr>
                                        <p:cTn id="32" dur="1000"/>
                                        <p:tgtEl>
                                          <p:spTgt spid="41"/>
                                        </p:tgtEl>
                                        <p:attrNameLst>
                                          <p:attrName>ppt_y</p:attrName>
                                        </p:attrNameLst>
                                      </p:cBhvr>
                                      <p:tavLst>
                                        <p:tav tm="0">
                                          <p:val>
                                            <p:strVal val="ppt_y"/>
                                          </p:val>
                                        </p:tav>
                                        <p:tav tm="100000">
                                          <p:val>
                                            <p:strVal val="ppt_y+.1"/>
                                          </p:val>
                                        </p:tav>
                                      </p:tavLst>
                                    </p:anim>
                                    <p:set>
                                      <p:cBhvr>
                                        <p:cTn id="33" dur="1" fill="hold">
                                          <p:stCondLst>
                                            <p:cond delay="999"/>
                                          </p:stCondLst>
                                        </p:cTn>
                                        <p:tgtEl>
                                          <p:spTgt spid="41"/>
                                        </p:tgtEl>
                                        <p:attrNameLst>
                                          <p:attrName>style.visibility</p:attrName>
                                        </p:attrNameLst>
                                      </p:cBhvr>
                                      <p:to>
                                        <p:strVal val="hidden"/>
                                      </p:to>
                                    </p:set>
                                  </p:childTnLst>
                                </p:cTn>
                              </p:par>
                              <p:par>
                                <p:cTn id="34" presetID="42" presetClass="exit" presetSubtype="0" fill="hold" grpId="0" nodeType="withEffect">
                                  <p:stCondLst>
                                    <p:cond delay="0"/>
                                  </p:stCondLst>
                                  <p:childTnLst>
                                    <p:animEffect transition="out" filter="fade">
                                      <p:cBhvr>
                                        <p:cTn id="35" dur="1000"/>
                                        <p:tgtEl>
                                          <p:spTgt spid="48"/>
                                        </p:tgtEl>
                                      </p:cBhvr>
                                    </p:animEffect>
                                    <p:anim calcmode="lin" valueType="num">
                                      <p:cBhvr>
                                        <p:cTn id="36" dur="1000"/>
                                        <p:tgtEl>
                                          <p:spTgt spid="48"/>
                                        </p:tgtEl>
                                        <p:attrNameLst>
                                          <p:attrName>ppt_x</p:attrName>
                                        </p:attrNameLst>
                                      </p:cBhvr>
                                      <p:tavLst>
                                        <p:tav tm="0">
                                          <p:val>
                                            <p:strVal val="ppt_x"/>
                                          </p:val>
                                        </p:tav>
                                        <p:tav tm="100000">
                                          <p:val>
                                            <p:strVal val="ppt_x"/>
                                          </p:val>
                                        </p:tav>
                                      </p:tavLst>
                                    </p:anim>
                                    <p:anim calcmode="lin" valueType="num">
                                      <p:cBhvr>
                                        <p:cTn id="37" dur="1000"/>
                                        <p:tgtEl>
                                          <p:spTgt spid="48"/>
                                        </p:tgtEl>
                                        <p:attrNameLst>
                                          <p:attrName>ppt_y</p:attrName>
                                        </p:attrNameLst>
                                      </p:cBhvr>
                                      <p:tavLst>
                                        <p:tav tm="0">
                                          <p:val>
                                            <p:strVal val="ppt_y"/>
                                          </p:val>
                                        </p:tav>
                                        <p:tav tm="100000">
                                          <p:val>
                                            <p:strVal val="ppt_y+.1"/>
                                          </p:val>
                                        </p:tav>
                                      </p:tavLst>
                                    </p:anim>
                                    <p:set>
                                      <p:cBhvr>
                                        <p:cTn id="38" dur="1" fill="hold">
                                          <p:stCondLst>
                                            <p:cond delay="999"/>
                                          </p:stCondLst>
                                        </p:cTn>
                                        <p:tgtEl>
                                          <p:spTgt spid="4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up)">
                                      <p:cBhvr>
                                        <p:cTn id="43" dur="500"/>
                                        <p:tgtEl>
                                          <p:spTgt spid="4"/>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3"/>
                                        </p:tgtEl>
                                        <p:attrNameLst>
                                          <p:attrName>style.visibility</p:attrName>
                                        </p:attrNameLst>
                                      </p:cBhvr>
                                      <p:to>
                                        <p:strVal val="visible"/>
                                      </p:to>
                                    </p:set>
                                    <p:anim calcmode="lin" valueType="num">
                                      <p:cBhvr>
                                        <p:cTn id="48" dur="500" fill="hold"/>
                                        <p:tgtEl>
                                          <p:spTgt spid="3"/>
                                        </p:tgtEl>
                                        <p:attrNameLst>
                                          <p:attrName>ppt_w</p:attrName>
                                        </p:attrNameLst>
                                      </p:cBhvr>
                                      <p:tavLst>
                                        <p:tav tm="0">
                                          <p:val>
                                            <p:fltVal val="0"/>
                                          </p:val>
                                        </p:tav>
                                        <p:tav tm="100000">
                                          <p:val>
                                            <p:strVal val="#ppt_w"/>
                                          </p:val>
                                        </p:tav>
                                      </p:tavLst>
                                    </p:anim>
                                    <p:anim calcmode="lin" valueType="num">
                                      <p:cBhvr>
                                        <p:cTn id="49" dur="500" fill="hold"/>
                                        <p:tgtEl>
                                          <p:spTgt spid="3"/>
                                        </p:tgtEl>
                                        <p:attrNameLst>
                                          <p:attrName>ppt_h</p:attrName>
                                        </p:attrNameLst>
                                      </p:cBhvr>
                                      <p:tavLst>
                                        <p:tav tm="0">
                                          <p:val>
                                            <p:fltVal val="0"/>
                                          </p:val>
                                        </p:tav>
                                        <p:tav tm="100000">
                                          <p:val>
                                            <p:strVal val="#ppt_h"/>
                                          </p:val>
                                        </p:tav>
                                      </p:tavLst>
                                    </p:anim>
                                    <p:animEffect transition="in" filter="fade">
                                      <p:cBhvr>
                                        <p:cTn id="50" dur="500"/>
                                        <p:tgtEl>
                                          <p:spTgt spid="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wipe(left)">
                                      <p:cBhvr>
                                        <p:cTn id="5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50" grpId="0"/>
      <p:bldP spid="51" grpId="0"/>
      <p:bldP spid="3" grpId="0" animBg="1"/>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288E46-7D58-094D-9208-8CD42A923548}"/>
              </a:ext>
            </a:extLst>
          </p:cNvPr>
          <p:cNvSpPr>
            <a:spLocks noGrp="1"/>
          </p:cNvSpPr>
          <p:nvPr>
            <p:ph type="title"/>
          </p:nvPr>
        </p:nvSpPr>
        <p:spPr/>
        <p:txBody>
          <a:bodyPr/>
          <a:lstStyle/>
          <a:p>
            <a:r>
              <a:rPr lang="en-US" dirty="0"/>
              <a:t>Global inference (a toy example)</a:t>
            </a:r>
          </a:p>
        </p:txBody>
      </p:sp>
      <p:sp>
        <p:nvSpPr>
          <p:cNvPr id="19" name="TextBox 18">
            <a:extLst>
              <a:ext uri="{FF2B5EF4-FFF2-40B4-BE49-F238E27FC236}">
                <a16:creationId xmlns:a16="http://schemas.microsoft.com/office/drawing/2014/main" xmlns="" id="{36B1D67F-0313-A74E-B05C-364131DACC42}"/>
              </a:ext>
            </a:extLst>
          </p:cNvPr>
          <p:cNvSpPr txBox="1"/>
          <p:nvPr/>
        </p:nvSpPr>
        <p:spPr>
          <a:xfrm>
            <a:off x="1811908" y="3905336"/>
            <a:ext cx="1725152" cy="461665"/>
          </a:xfrm>
          <a:prstGeom prst="rect">
            <a:avLst/>
          </a:prstGeom>
          <a:noFill/>
          <a:ln>
            <a:noFill/>
          </a:ln>
        </p:spPr>
        <p:txBody>
          <a:bodyPr wrap="none" rtlCol="0">
            <a:spAutoFit/>
          </a:bodyPr>
          <a:lstStyle/>
          <a:p>
            <a:r>
              <a:rPr lang="en-US" altLang="zh-CN" sz="2400" b="1" dirty="0">
                <a:solidFill>
                  <a:srgbClr val="C00000"/>
                </a:solidFill>
                <a:latin typeface="Century Gothic" panose="020B0502020202020204" pitchFamily="34" charset="0"/>
                <a:ea typeface="Times New Roman" charset="0"/>
                <a:cs typeface="Times New Roman" charset="0"/>
              </a:rPr>
              <a:t>cascaded</a:t>
            </a:r>
            <a:endParaRPr lang="en-US" sz="2400" b="1" dirty="0">
              <a:solidFill>
                <a:srgbClr val="C00000"/>
              </a:solidFill>
              <a:latin typeface="Century Gothic" panose="020B0502020202020204" pitchFamily="34" charset="0"/>
              <a:ea typeface="Times New Roman" charset="0"/>
              <a:cs typeface="Times New Roman" charset="0"/>
            </a:endParaRPr>
          </a:p>
        </p:txBody>
      </p:sp>
      <p:sp>
        <p:nvSpPr>
          <p:cNvPr id="21" name="TextBox 20">
            <a:extLst>
              <a:ext uri="{FF2B5EF4-FFF2-40B4-BE49-F238E27FC236}">
                <a16:creationId xmlns:a16="http://schemas.microsoft.com/office/drawing/2014/main" xmlns="" id="{CA72676C-C889-F54C-93B4-2CEDC29787F3}"/>
              </a:ext>
            </a:extLst>
          </p:cNvPr>
          <p:cNvSpPr txBox="1"/>
          <p:nvPr/>
        </p:nvSpPr>
        <p:spPr>
          <a:xfrm>
            <a:off x="5585800" y="3905336"/>
            <a:ext cx="1378904" cy="461665"/>
          </a:xfrm>
          <a:prstGeom prst="rect">
            <a:avLst/>
          </a:prstGeom>
          <a:noFill/>
          <a:ln>
            <a:noFill/>
          </a:ln>
        </p:spPr>
        <p:txBody>
          <a:bodyPr wrap="none" rtlCol="0">
            <a:spAutoFit/>
          </a:bodyPr>
          <a:lstStyle/>
          <a:p>
            <a:r>
              <a:rPr lang="en-US" sz="2400" b="1" dirty="0">
                <a:solidFill>
                  <a:srgbClr val="C00000"/>
                </a:solidFill>
                <a:latin typeface="Century Gothic" panose="020B0502020202020204" pitchFamily="34" charset="0"/>
                <a:ea typeface="Times New Roman" charset="0"/>
                <a:cs typeface="Times New Roman" charset="0"/>
              </a:rPr>
              <a:t>ordered</a:t>
            </a:r>
          </a:p>
        </p:txBody>
      </p:sp>
      <p:sp>
        <p:nvSpPr>
          <p:cNvPr id="27" name="TextBox 26">
            <a:extLst>
              <a:ext uri="{FF2B5EF4-FFF2-40B4-BE49-F238E27FC236}">
                <a16:creationId xmlns:a16="http://schemas.microsoft.com/office/drawing/2014/main" xmlns="" id="{5E97BEC5-F97E-4245-9A44-4C677DCF82BD}"/>
              </a:ext>
            </a:extLst>
          </p:cNvPr>
          <p:cNvSpPr txBox="1"/>
          <p:nvPr/>
        </p:nvSpPr>
        <p:spPr>
          <a:xfrm>
            <a:off x="3733800" y="1905000"/>
            <a:ext cx="1316386" cy="461665"/>
          </a:xfrm>
          <a:prstGeom prst="rect">
            <a:avLst/>
          </a:prstGeom>
          <a:noFill/>
          <a:ln>
            <a:noFill/>
          </a:ln>
        </p:spPr>
        <p:txBody>
          <a:bodyPr wrap="none" rtlCol="0">
            <a:spAutoFit/>
          </a:bodyPr>
          <a:lstStyle/>
          <a:p>
            <a:r>
              <a:rPr lang="en-US" sz="2400" b="1" dirty="0">
                <a:solidFill>
                  <a:srgbClr val="C00000"/>
                </a:solidFill>
                <a:latin typeface="Century Gothic" panose="020B0502020202020204" pitchFamily="34" charset="0"/>
                <a:ea typeface="Times New Roman" charset="0"/>
                <a:cs typeface="Times New Roman" charset="0"/>
              </a:rPr>
              <a:t>monitor</a:t>
            </a:r>
          </a:p>
        </p:txBody>
      </p:sp>
      <p:cxnSp>
        <p:nvCxnSpPr>
          <p:cNvPr id="28" name="Straight Connector 27">
            <a:extLst>
              <a:ext uri="{FF2B5EF4-FFF2-40B4-BE49-F238E27FC236}">
                <a16:creationId xmlns:a16="http://schemas.microsoft.com/office/drawing/2014/main" xmlns="" id="{37B11748-6444-954F-ABE5-219A4F7EDA66}"/>
              </a:ext>
            </a:extLst>
          </p:cNvPr>
          <p:cNvCxnSpPr/>
          <p:nvPr/>
        </p:nvCxnSpPr>
        <p:spPr>
          <a:xfrm flipH="1" flipV="1">
            <a:off x="3499546" y="4087180"/>
            <a:ext cx="2008858" cy="287"/>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xmlns="" id="{146FD400-E108-F84E-A3FF-39FED7C840C7}"/>
              </a:ext>
            </a:extLst>
          </p:cNvPr>
          <p:cNvCxnSpPr>
            <a:cxnSpLocks/>
          </p:cNvCxnSpPr>
          <p:nvPr/>
        </p:nvCxnSpPr>
        <p:spPr>
          <a:xfrm flipH="1">
            <a:off x="2240264" y="2311716"/>
            <a:ext cx="1282506" cy="1472005"/>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532B21EF-3D88-9E4D-9E5D-20F4E1ED6C37}"/>
              </a:ext>
            </a:extLst>
          </p:cNvPr>
          <p:cNvCxnSpPr>
            <a:cxnSpLocks/>
          </p:cNvCxnSpPr>
          <p:nvPr/>
        </p:nvCxnSpPr>
        <p:spPr>
          <a:xfrm>
            <a:off x="5399731" y="2329637"/>
            <a:ext cx="1254706" cy="1604242"/>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xmlns="" id="{C14E1151-C763-6B44-9905-25C11B0E8D49}"/>
              </a:ext>
            </a:extLst>
          </p:cNvPr>
          <p:cNvSpPr txBox="1"/>
          <p:nvPr/>
        </p:nvSpPr>
        <p:spPr>
          <a:xfrm>
            <a:off x="4208495" y="3774831"/>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0.8</a:t>
            </a:r>
          </a:p>
        </p:txBody>
      </p:sp>
      <p:sp>
        <p:nvSpPr>
          <p:cNvPr id="47" name="TextBox 46">
            <a:extLst>
              <a:ext uri="{FF2B5EF4-FFF2-40B4-BE49-F238E27FC236}">
                <a16:creationId xmlns:a16="http://schemas.microsoft.com/office/drawing/2014/main" xmlns="" id="{2FC63F5C-DF4C-4045-8F83-F255995B2736}"/>
              </a:ext>
            </a:extLst>
          </p:cNvPr>
          <p:cNvSpPr txBox="1"/>
          <p:nvPr/>
        </p:nvSpPr>
        <p:spPr>
          <a:xfrm>
            <a:off x="6060741" y="2836984"/>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0.7</a:t>
            </a:r>
          </a:p>
        </p:txBody>
      </p:sp>
      <p:sp>
        <p:nvSpPr>
          <p:cNvPr id="49" name="TextBox 48">
            <a:extLst>
              <a:ext uri="{FF2B5EF4-FFF2-40B4-BE49-F238E27FC236}">
                <a16:creationId xmlns:a16="http://schemas.microsoft.com/office/drawing/2014/main" xmlns="" id="{8FD65723-6CE8-5444-89C6-0EF49270A308}"/>
              </a:ext>
            </a:extLst>
          </p:cNvPr>
          <p:cNvSpPr txBox="1"/>
          <p:nvPr/>
        </p:nvSpPr>
        <p:spPr>
          <a:xfrm>
            <a:off x="2381045" y="2774148"/>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0.6</a:t>
            </a:r>
          </a:p>
        </p:txBody>
      </p:sp>
      <p:sp>
        <p:nvSpPr>
          <p:cNvPr id="3" name="Arc 2">
            <a:extLst>
              <a:ext uri="{FF2B5EF4-FFF2-40B4-BE49-F238E27FC236}">
                <a16:creationId xmlns:a16="http://schemas.microsoft.com/office/drawing/2014/main" xmlns="" id="{ED6FB6A5-3427-E84B-8BF6-96488F5CF0AB}"/>
              </a:ext>
            </a:extLst>
          </p:cNvPr>
          <p:cNvSpPr/>
          <p:nvPr/>
        </p:nvSpPr>
        <p:spPr>
          <a:xfrm rot="8100000">
            <a:off x="3924359" y="2700406"/>
            <a:ext cx="1047002" cy="1083546"/>
          </a:xfrm>
          <a:prstGeom prst="arc">
            <a:avLst>
              <a:gd name="adj1" fmla="val 1281952"/>
              <a:gd name="adj2" fmla="val 20515349"/>
            </a:avLst>
          </a:prstGeom>
          <a:ln w="38100">
            <a:solidFill>
              <a:schemeClr val="tx1">
                <a:lumMod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xmlns="" id="{FCB651A3-D740-C24E-B3E5-12893BE5765E}"/>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23" name="TextBox 22">
            <a:extLst>
              <a:ext uri="{FF2B5EF4-FFF2-40B4-BE49-F238E27FC236}">
                <a16:creationId xmlns:a16="http://schemas.microsoft.com/office/drawing/2014/main" xmlns="" id="{5FB7352E-75A1-DA42-AE7C-0E2DFC90E428}"/>
              </a:ext>
            </a:extLst>
          </p:cNvPr>
          <p:cNvSpPr txBox="1"/>
          <p:nvPr/>
        </p:nvSpPr>
        <p:spPr>
          <a:xfrm>
            <a:off x="842288" y="5046421"/>
            <a:ext cx="7459424" cy="830997"/>
          </a:xfrm>
          <a:prstGeom prst="rect">
            <a:avLst/>
          </a:prstGeom>
          <a:noFill/>
        </p:spPr>
        <p:txBody>
          <a:bodyPr wrap="square" rtlCol="0">
            <a:spAutoFit/>
          </a:bodyPr>
          <a:lstStyle/>
          <a:p>
            <a:pPr algn="ctr"/>
            <a:r>
              <a:rPr lang="en-US" sz="2400" dirty="0">
                <a:solidFill>
                  <a:schemeClr val="bg2"/>
                </a:solidFill>
                <a:latin typeface="Century Gothic" panose="020B0502020202020204" pitchFamily="34" charset="0"/>
              </a:rPr>
              <a:t>We should not only select the assignment with the best score, </a:t>
            </a:r>
            <a:r>
              <a:rPr lang="en-US" sz="2400" dirty="0">
                <a:solidFill>
                  <a:srgbClr val="C00000"/>
                </a:solidFill>
                <a:latin typeface="Century Gothic" panose="020B0502020202020204" pitchFamily="34" charset="0"/>
              </a:rPr>
              <a:t>but also avoid loops</a:t>
            </a:r>
          </a:p>
        </p:txBody>
      </p:sp>
      <p:sp>
        <p:nvSpPr>
          <p:cNvPr id="15" name="TextBox 14">
            <a:extLst>
              <a:ext uri="{FF2B5EF4-FFF2-40B4-BE49-F238E27FC236}">
                <a16:creationId xmlns:a16="http://schemas.microsoft.com/office/drawing/2014/main" xmlns="" id="{5F3FEC25-A8B8-3D46-9E22-5C7CDE64B46D}"/>
              </a:ext>
            </a:extLst>
          </p:cNvPr>
          <p:cNvSpPr txBox="1"/>
          <p:nvPr/>
        </p:nvSpPr>
        <p:spPr>
          <a:xfrm>
            <a:off x="6991212" y="2702113"/>
            <a:ext cx="2076209" cy="1169551"/>
          </a:xfrm>
          <a:prstGeom prst="rect">
            <a:avLst/>
          </a:prstGeom>
          <a:noFill/>
        </p:spPr>
        <p:txBody>
          <a:bodyPr wrap="none" rtlCol="0">
            <a:spAutoFit/>
          </a:bodyPr>
          <a:lstStyle/>
          <a:p>
            <a:r>
              <a:rPr lang="en-US" sz="1400" i="1" dirty="0">
                <a:solidFill>
                  <a:schemeClr val="bg2"/>
                </a:solidFill>
                <a:latin typeface="Century Gothic" panose="020B0502020202020204" pitchFamily="34" charset="0"/>
              </a:rPr>
              <a:t>Local inference:</a:t>
            </a:r>
          </a:p>
          <a:p>
            <a:endParaRPr lang="en-US" sz="1400" i="1" dirty="0">
              <a:solidFill>
                <a:schemeClr val="bg2"/>
              </a:solidFill>
              <a:latin typeface="Century Gothic" panose="020B0502020202020204" pitchFamily="34" charset="0"/>
            </a:endParaRPr>
          </a:p>
          <a:p>
            <a:r>
              <a:rPr lang="en-US" sz="1400" i="1" dirty="0">
                <a:solidFill>
                  <a:schemeClr val="bg2"/>
                </a:solidFill>
                <a:latin typeface="Century Gothic" panose="020B0502020202020204" pitchFamily="34" charset="0"/>
              </a:rPr>
              <a:t>Mani et al., 2006</a:t>
            </a:r>
          </a:p>
          <a:p>
            <a:r>
              <a:rPr lang="en-US" sz="1400" i="1" dirty="0">
                <a:solidFill>
                  <a:schemeClr val="bg2"/>
                </a:solidFill>
                <a:latin typeface="Century Gothic" panose="020B0502020202020204" pitchFamily="34" charset="0"/>
              </a:rPr>
              <a:t>Chambers et al., 2007</a:t>
            </a:r>
          </a:p>
          <a:p>
            <a:r>
              <a:rPr lang="en-US" sz="1400" i="1" dirty="0" err="1">
                <a:solidFill>
                  <a:schemeClr val="bg2"/>
                </a:solidFill>
                <a:latin typeface="Century Gothic" panose="020B0502020202020204" pitchFamily="34" charset="0"/>
              </a:rPr>
              <a:t>Bethard</a:t>
            </a:r>
            <a:r>
              <a:rPr lang="en-US" sz="1400" i="1" dirty="0">
                <a:solidFill>
                  <a:schemeClr val="bg2"/>
                </a:solidFill>
                <a:latin typeface="Century Gothic" panose="020B0502020202020204" pitchFamily="34" charset="0"/>
              </a:rPr>
              <a:t> et al., 2007</a:t>
            </a:r>
          </a:p>
        </p:txBody>
      </p:sp>
    </p:spTree>
    <p:extLst>
      <p:ext uri="{BB962C8B-B14F-4D97-AF65-F5344CB8AC3E}">
        <p14:creationId xmlns:p14="http://schemas.microsoft.com/office/powerpoint/2010/main" val="840007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288E46-7D58-094D-9208-8CD42A923548}"/>
              </a:ext>
            </a:extLst>
          </p:cNvPr>
          <p:cNvSpPr>
            <a:spLocks noGrp="1"/>
          </p:cNvSpPr>
          <p:nvPr>
            <p:ph type="title"/>
          </p:nvPr>
        </p:nvSpPr>
        <p:spPr/>
        <p:txBody>
          <a:bodyPr/>
          <a:lstStyle/>
          <a:p>
            <a:r>
              <a:rPr lang="en-US" dirty="0"/>
              <a:t>Global inference (a toy example)</a:t>
            </a:r>
          </a:p>
        </p:txBody>
      </p:sp>
      <p:sp>
        <p:nvSpPr>
          <p:cNvPr id="51" name="TextBox 50">
            <a:extLst>
              <a:ext uri="{FF2B5EF4-FFF2-40B4-BE49-F238E27FC236}">
                <a16:creationId xmlns:a16="http://schemas.microsoft.com/office/drawing/2014/main" xmlns="" id="{4348F4B8-66E5-774D-9209-78F3086CE3E6}"/>
              </a:ext>
            </a:extLst>
          </p:cNvPr>
          <p:cNvSpPr txBox="1"/>
          <p:nvPr/>
        </p:nvSpPr>
        <p:spPr>
          <a:xfrm>
            <a:off x="842288" y="5046421"/>
            <a:ext cx="7459424" cy="830997"/>
          </a:xfrm>
          <a:prstGeom prst="rect">
            <a:avLst/>
          </a:prstGeom>
          <a:noFill/>
        </p:spPr>
        <p:txBody>
          <a:bodyPr wrap="square" rtlCol="0">
            <a:spAutoFit/>
          </a:bodyPr>
          <a:lstStyle/>
          <a:p>
            <a:pPr algn="ctr"/>
            <a:r>
              <a:rPr lang="en-US" sz="2400" dirty="0">
                <a:solidFill>
                  <a:schemeClr val="bg2"/>
                </a:solidFill>
                <a:latin typeface="Century Gothic" panose="020B0502020202020204" pitchFamily="34" charset="0"/>
              </a:rPr>
              <a:t>We should not only select the assignment with the best score, </a:t>
            </a:r>
            <a:r>
              <a:rPr lang="en-US" sz="2400" dirty="0">
                <a:solidFill>
                  <a:srgbClr val="C00000"/>
                </a:solidFill>
                <a:latin typeface="Century Gothic" panose="020B0502020202020204" pitchFamily="34" charset="0"/>
              </a:rPr>
              <a:t>but also avoid loops</a:t>
            </a:r>
          </a:p>
        </p:txBody>
      </p:sp>
      <p:grpSp>
        <p:nvGrpSpPr>
          <p:cNvPr id="5" name="Group 4">
            <a:extLst>
              <a:ext uri="{FF2B5EF4-FFF2-40B4-BE49-F238E27FC236}">
                <a16:creationId xmlns:a16="http://schemas.microsoft.com/office/drawing/2014/main" xmlns="" id="{75964CCB-2D2F-A746-8B59-CEDD22754EF6}"/>
              </a:ext>
            </a:extLst>
          </p:cNvPr>
          <p:cNvGrpSpPr/>
          <p:nvPr/>
        </p:nvGrpSpPr>
        <p:grpSpPr>
          <a:xfrm>
            <a:off x="228600" y="1649313"/>
            <a:ext cx="8355661" cy="2939875"/>
            <a:chOff x="228600" y="1649313"/>
            <a:chExt cx="8355661" cy="2939875"/>
          </a:xfrm>
        </p:grpSpPr>
        <p:sp>
          <p:nvSpPr>
            <p:cNvPr id="19" name="TextBox 18">
              <a:extLst>
                <a:ext uri="{FF2B5EF4-FFF2-40B4-BE49-F238E27FC236}">
                  <a16:creationId xmlns:a16="http://schemas.microsoft.com/office/drawing/2014/main" xmlns="" id="{36B1D67F-0313-A74E-B05C-364131DACC42}"/>
                </a:ext>
              </a:extLst>
            </p:cNvPr>
            <p:cNvSpPr txBox="1"/>
            <p:nvPr/>
          </p:nvSpPr>
          <p:spPr>
            <a:xfrm>
              <a:off x="228600" y="3559430"/>
              <a:ext cx="949299" cy="276999"/>
            </a:xfrm>
            <a:prstGeom prst="rect">
              <a:avLst/>
            </a:prstGeom>
            <a:noFill/>
            <a:ln>
              <a:noFill/>
            </a:ln>
          </p:spPr>
          <p:txBody>
            <a:bodyPr wrap="none" rtlCol="0">
              <a:spAutoFit/>
            </a:bodyPr>
            <a:lstStyle/>
            <a:p>
              <a:r>
                <a:rPr lang="en-US" altLang="zh-CN" sz="1200" b="1" dirty="0">
                  <a:solidFill>
                    <a:srgbClr val="C00000"/>
                  </a:solidFill>
                  <a:latin typeface="Century Gothic" panose="020B0502020202020204" pitchFamily="34" charset="0"/>
                  <a:ea typeface="Times New Roman" charset="0"/>
                  <a:cs typeface="Times New Roman" charset="0"/>
                </a:rPr>
                <a:t>cascaded</a:t>
              </a:r>
              <a:endParaRPr lang="en-US" sz="1200" b="1" dirty="0">
                <a:solidFill>
                  <a:srgbClr val="C00000"/>
                </a:solidFill>
                <a:latin typeface="Century Gothic" panose="020B0502020202020204" pitchFamily="34" charset="0"/>
                <a:ea typeface="Times New Roman" charset="0"/>
                <a:cs typeface="Times New Roman" charset="0"/>
              </a:endParaRPr>
            </a:p>
          </p:txBody>
        </p:sp>
        <p:sp>
          <p:nvSpPr>
            <p:cNvPr id="21" name="TextBox 20">
              <a:extLst>
                <a:ext uri="{FF2B5EF4-FFF2-40B4-BE49-F238E27FC236}">
                  <a16:creationId xmlns:a16="http://schemas.microsoft.com/office/drawing/2014/main" xmlns="" id="{CA72676C-C889-F54C-93B4-2CEDC29787F3}"/>
                </a:ext>
              </a:extLst>
            </p:cNvPr>
            <p:cNvSpPr txBox="1"/>
            <p:nvPr/>
          </p:nvSpPr>
          <p:spPr>
            <a:xfrm>
              <a:off x="2130912" y="3559430"/>
              <a:ext cx="779381"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ordered</a:t>
              </a:r>
            </a:p>
          </p:txBody>
        </p:sp>
        <p:sp>
          <p:nvSpPr>
            <p:cNvPr id="27" name="TextBox 26">
              <a:extLst>
                <a:ext uri="{FF2B5EF4-FFF2-40B4-BE49-F238E27FC236}">
                  <a16:creationId xmlns:a16="http://schemas.microsoft.com/office/drawing/2014/main" xmlns="" id="{5E97BEC5-F97E-4245-9A44-4C677DCF82BD}"/>
                </a:ext>
              </a:extLst>
            </p:cNvPr>
            <p:cNvSpPr txBox="1"/>
            <p:nvPr/>
          </p:nvSpPr>
          <p:spPr>
            <a:xfrm>
              <a:off x="1197372" y="2551117"/>
              <a:ext cx="750526"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monitor</a:t>
              </a:r>
            </a:p>
          </p:txBody>
        </p:sp>
        <p:cxnSp>
          <p:nvCxnSpPr>
            <p:cNvPr id="36" name="Straight Connector 35">
              <a:extLst>
                <a:ext uri="{FF2B5EF4-FFF2-40B4-BE49-F238E27FC236}">
                  <a16:creationId xmlns:a16="http://schemas.microsoft.com/office/drawing/2014/main" xmlns="" id="{146FD400-E108-F84E-A3FF-39FED7C840C7}"/>
                </a:ext>
              </a:extLst>
            </p:cNvPr>
            <p:cNvCxnSpPr>
              <a:cxnSpLocks/>
            </p:cNvCxnSpPr>
            <p:nvPr/>
          </p:nvCxnSpPr>
          <p:spPr>
            <a:xfrm flipH="1">
              <a:off x="675330" y="2863818"/>
              <a:ext cx="646475" cy="741996"/>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532B21EF-3D88-9E4D-9E5D-20F4E1ED6C37}"/>
                </a:ext>
              </a:extLst>
            </p:cNvPr>
            <p:cNvCxnSpPr>
              <a:cxnSpLocks/>
            </p:cNvCxnSpPr>
            <p:nvPr/>
          </p:nvCxnSpPr>
          <p:spPr>
            <a:xfrm>
              <a:off x="1745656" y="2822264"/>
              <a:ext cx="632462" cy="8086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xmlns="" id="{3CF42BF5-F17A-3A4C-814B-7F492E7A695B}"/>
                </a:ext>
              </a:extLst>
            </p:cNvPr>
            <p:cNvCxnSpPr/>
            <p:nvPr/>
          </p:nvCxnSpPr>
          <p:spPr>
            <a:xfrm flipH="1" flipV="1">
              <a:off x="1088239" y="3705152"/>
              <a:ext cx="1012609" cy="145"/>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xmlns="" id="{6E096EB5-38D5-0743-8D99-B4052BCB6E7A}"/>
                </a:ext>
              </a:extLst>
            </p:cNvPr>
            <p:cNvSpPr txBox="1"/>
            <p:nvPr/>
          </p:nvSpPr>
          <p:spPr>
            <a:xfrm>
              <a:off x="1436652" y="3812747"/>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0.2</a:t>
              </a:r>
            </a:p>
          </p:txBody>
        </p:sp>
        <p:sp>
          <p:nvSpPr>
            <p:cNvPr id="47" name="TextBox 46">
              <a:extLst>
                <a:ext uri="{FF2B5EF4-FFF2-40B4-BE49-F238E27FC236}">
                  <a16:creationId xmlns:a16="http://schemas.microsoft.com/office/drawing/2014/main" xmlns="" id="{2FC63F5C-DF4C-4045-8F83-F255995B2736}"/>
                </a:ext>
              </a:extLst>
            </p:cNvPr>
            <p:cNvSpPr txBox="1"/>
            <p:nvPr/>
          </p:nvSpPr>
          <p:spPr>
            <a:xfrm>
              <a:off x="2289350" y="3038685"/>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0.7</a:t>
              </a:r>
            </a:p>
          </p:txBody>
        </p:sp>
        <p:sp>
          <p:nvSpPr>
            <p:cNvPr id="49" name="TextBox 48">
              <a:extLst>
                <a:ext uri="{FF2B5EF4-FFF2-40B4-BE49-F238E27FC236}">
                  <a16:creationId xmlns:a16="http://schemas.microsoft.com/office/drawing/2014/main" xmlns="" id="{8FD65723-6CE8-5444-89C6-0EF49270A308}"/>
                </a:ext>
              </a:extLst>
            </p:cNvPr>
            <p:cNvSpPr txBox="1"/>
            <p:nvPr/>
          </p:nvSpPr>
          <p:spPr>
            <a:xfrm>
              <a:off x="395700" y="2952257"/>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0.6</a:t>
              </a:r>
            </a:p>
          </p:txBody>
        </p:sp>
        <p:sp>
          <p:nvSpPr>
            <p:cNvPr id="20" name="TextBox 19">
              <a:extLst>
                <a:ext uri="{FF2B5EF4-FFF2-40B4-BE49-F238E27FC236}">
                  <a16:creationId xmlns:a16="http://schemas.microsoft.com/office/drawing/2014/main" xmlns="" id="{B2CB9D28-632D-D04A-9716-A19ACBA86B4D}"/>
                </a:ext>
              </a:extLst>
            </p:cNvPr>
            <p:cNvSpPr txBox="1"/>
            <p:nvPr/>
          </p:nvSpPr>
          <p:spPr>
            <a:xfrm>
              <a:off x="3053861" y="3559430"/>
              <a:ext cx="949299" cy="276999"/>
            </a:xfrm>
            <a:prstGeom prst="rect">
              <a:avLst/>
            </a:prstGeom>
            <a:noFill/>
            <a:ln>
              <a:noFill/>
            </a:ln>
          </p:spPr>
          <p:txBody>
            <a:bodyPr wrap="none" rtlCol="0">
              <a:spAutoFit/>
            </a:bodyPr>
            <a:lstStyle/>
            <a:p>
              <a:r>
                <a:rPr lang="en-US" altLang="zh-CN" sz="1200" b="1" dirty="0">
                  <a:solidFill>
                    <a:srgbClr val="C00000"/>
                  </a:solidFill>
                  <a:latin typeface="Century Gothic" panose="020B0502020202020204" pitchFamily="34" charset="0"/>
                  <a:ea typeface="Times New Roman" charset="0"/>
                  <a:cs typeface="Times New Roman" charset="0"/>
                </a:rPr>
                <a:t>cascaded</a:t>
              </a:r>
              <a:endParaRPr lang="en-US" sz="1200" b="1" dirty="0">
                <a:solidFill>
                  <a:srgbClr val="C00000"/>
                </a:solidFill>
                <a:latin typeface="Century Gothic" panose="020B0502020202020204" pitchFamily="34" charset="0"/>
                <a:ea typeface="Times New Roman" charset="0"/>
                <a:cs typeface="Times New Roman" charset="0"/>
              </a:endParaRPr>
            </a:p>
          </p:txBody>
        </p:sp>
        <p:sp>
          <p:nvSpPr>
            <p:cNvPr id="22" name="TextBox 21">
              <a:extLst>
                <a:ext uri="{FF2B5EF4-FFF2-40B4-BE49-F238E27FC236}">
                  <a16:creationId xmlns:a16="http://schemas.microsoft.com/office/drawing/2014/main" xmlns="" id="{0A0F939A-6DAC-F643-8418-CD8C6FFC480F}"/>
                </a:ext>
              </a:extLst>
            </p:cNvPr>
            <p:cNvSpPr txBox="1"/>
            <p:nvPr/>
          </p:nvSpPr>
          <p:spPr>
            <a:xfrm>
              <a:off x="4956173" y="3559430"/>
              <a:ext cx="779381"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ordered</a:t>
              </a:r>
            </a:p>
          </p:txBody>
        </p:sp>
        <p:sp>
          <p:nvSpPr>
            <p:cNvPr id="23" name="TextBox 22">
              <a:extLst>
                <a:ext uri="{FF2B5EF4-FFF2-40B4-BE49-F238E27FC236}">
                  <a16:creationId xmlns:a16="http://schemas.microsoft.com/office/drawing/2014/main" xmlns="" id="{8F54DC36-24AE-464F-933D-B2189F4607CB}"/>
                </a:ext>
              </a:extLst>
            </p:cNvPr>
            <p:cNvSpPr txBox="1"/>
            <p:nvPr/>
          </p:nvSpPr>
          <p:spPr>
            <a:xfrm>
              <a:off x="4022633" y="2551117"/>
              <a:ext cx="750526"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monitor</a:t>
              </a:r>
            </a:p>
          </p:txBody>
        </p:sp>
        <p:cxnSp>
          <p:nvCxnSpPr>
            <p:cNvPr id="24" name="Straight Connector 23">
              <a:extLst>
                <a:ext uri="{FF2B5EF4-FFF2-40B4-BE49-F238E27FC236}">
                  <a16:creationId xmlns:a16="http://schemas.microsoft.com/office/drawing/2014/main" xmlns="" id="{0F91BE87-617F-4946-88EC-86032DDAF309}"/>
                </a:ext>
              </a:extLst>
            </p:cNvPr>
            <p:cNvCxnSpPr/>
            <p:nvPr/>
          </p:nvCxnSpPr>
          <p:spPr>
            <a:xfrm flipH="1" flipV="1">
              <a:off x="3975958" y="3685573"/>
              <a:ext cx="1012609" cy="14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5B2BE960-8AC7-2F4E-9150-E9DF1994FBAB}"/>
                </a:ext>
              </a:extLst>
            </p:cNvPr>
            <p:cNvCxnSpPr>
              <a:cxnSpLocks/>
            </p:cNvCxnSpPr>
            <p:nvPr/>
          </p:nvCxnSpPr>
          <p:spPr>
            <a:xfrm>
              <a:off x="4625479" y="2846528"/>
              <a:ext cx="632462" cy="8086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474FB0E2-9DB3-014B-943E-5DBF424451E9}"/>
                </a:ext>
              </a:extLst>
            </p:cNvPr>
            <p:cNvCxnSpPr>
              <a:cxnSpLocks/>
            </p:cNvCxnSpPr>
            <p:nvPr/>
          </p:nvCxnSpPr>
          <p:spPr>
            <a:xfrm flipH="1">
              <a:off x="3583128" y="2846528"/>
              <a:ext cx="646475" cy="741996"/>
            </a:xfrm>
            <a:prstGeom prst="line">
              <a:avLst/>
            </a:prstGeom>
            <a:ln w="31750">
              <a:solidFill>
                <a:schemeClr val="bg2"/>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xmlns="" id="{B136AA5A-08FC-CE41-818C-E224FF7BA32F}"/>
                </a:ext>
              </a:extLst>
            </p:cNvPr>
            <p:cNvSpPr txBox="1"/>
            <p:nvPr/>
          </p:nvSpPr>
          <p:spPr>
            <a:xfrm>
              <a:off x="4187828" y="3796877"/>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0.8</a:t>
              </a:r>
            </a:p>
          </p:txBody>
        </p:sp>
        <p:sp>
          <p:nvSpPr>
            <p:cNvPr id="34" name="TextBox 33">
              <a:extLst>
                <a:ext uri="{FF2B5EF4-FFF2-40B4-BE49-F238E27FC236}">
                  <a16:creationId xmlns:a16="http://schemas.microsoft.com/office/drawing/2014/main" xmlns="" id="{439323F0-26E3-FF47-A604-80740308C3E6}"/>
                </a:ext>
              </a:extLst>
            </p:cNvPr>
            <p:cNvSpPr txBox="1"/>
            <p:nvPr/>
          </p:nvSpPr>
          <p:spPr>
            <a:xfrm>
              <a:off x="5040239" y="3032210"/>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0.7</a:t>
              </a:r>
            </a:p>
          </p:txBody>
        </p:sp>
        <p:sp>
          <p:nvSpPr>
            <p:cNvPr id="38" name="TextBox 37">
              <a:extLst>
                <a:ext uri="{FF2B5EF4-FFF2-40B4-BE49-F238E27FC236}">
                  <a16:creationId xmlns:a16="http://schemas.microsoft.com/office/drawing/2014/main" xmlns="" id="{51CC655D-DC22-054E-8557-BDFD834F6385}"/>
                </a:ext>
              </a:extLst>
            </p:cNvPr>
            <p:cNvSpPr txBox="1"/>
            <p:nvPr/>
          </p:nvSpPr>
          <p:spPr>
            <a:xfrm>
              <a:off x="3238667" y="3020904"/>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0.4</a:t>
              </a:r>
            </a:p>
          </p:txBody>
        </p:sp>
        <p:sp>
          <p:nvSpPr>
            <p:cNvPr id="40" name="TextBox 39">
              <a:extLst>
                <a:ext uri="{FF2B5EF4-FFF2-40B4-BE49-F238E27FC236}">
                  <a16:creationId xmlns:a16="http://schemas.microsoft.com/office/drawing/2014/main" xmlns="" id="{2C0B95A8-B7D1-3241-B162-7020F82B7CD9}"/>
                </a:ext>
              </a:extLst>
            </p:cNvPr>
            <p:cNvSpPr txBox="1"/>
            <p:nvPr/>
          </p:nvSpPr>
          <p:spPr>
            <a:xfrm>
              <a:off x="5902568" y="3559430"/>
              <a:ext cx="949299" cy="276999"/>
            </a:xfrm>
            <a:prstGeom prst="rect">
              <a:avLst/>
            </a:prstGeom>
            <a:noFill/>
            <a:ln>
              <a:noFill/>
            </a:ln>
          </p:spPr>
          <p:txBody>
            <a:bodyPr wrap="none" rtlCol="0">
              <a:spAutoFit/>
            </a:bodyPr>
            <a:lstStyle/>
            <a:p>
              <a:r>
                <a:rPr lang="en-US" altLang="zh-CN" sz="1200" b="1" dirty="0">
                  <a:solidFill>
                    <a:srgbClr val="C00000"/>
                  </a:solidFill>
                  <a:latin typeface="Century Gothic" panose="020B0502020202020204" pitchFamily="34" charset="0"/>
                  <a:ea typeface="Times New Roman" charset="0"/>
                  <a:cs typeface="Times New Roman" charset="0"/>
                </a:rPr>
                <a:t>cascaded</a:t>
              </a:r>
              <a:endParaRPr lang="en-US" sz="1200" b="1" dirty="0">
                <a:solidFill>
                  <a:srgbClr val="C00000"/>
                </a:solidFill>
                <a:latin typeface="Century Gothic" panose="020B0502020202020204" pitchFamily="34" charset="0"/>
                <a:ea typeface="Times New Roman" charset="0"/>
                <a:cs typeface="Times New Roman" charset="0"/>
              </a:endParaRPr>
            </a:p>
          </p:txBody>
        </p:sp>
        <p:sp>
          <p:nvSpPr>
            <p:cNvPr id="44" name="TextBox 43">
              <a:extLst>
                <a:ext uri="{FF2B5EF4-FFF2-40B4-BE49-F238E27FC236}">
                  <a16:creationId xmlns:a16="http://schemas.microsoft.com/office/drawing/2014/main" xmlns="" id="{0F7847B4-9935-7F42-A298-BF92DE615C0B}"/>
                </a:ext>
              </a:extLst>
            </p:cNvPr>
            <p:cNvSpPr txBox="1"/>
            <p:nvPr/>
          </p:nvSpPr>
          <p:spPr>
            <a:xfrm>
              <a:off x="7804880" y="3559430"/>
              <a:ext cx="779381"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ordered</a:t>
              </a:r>
            </a:p>
          </p:txBody>
        </p:sp>
        <p:sp>
          <p:nvSpPr>
            <p:cNvPr id="52" name="TextBox 51">
              <a:extLst>
                <a:ext uri="{FF2B5EF4-FFF2-40B4-BE49-F238E27FC236}">
                  <a16:creationId xmlns:a16="http://schemas.microsoft.com/office/drawing/2014/main" xmlns="" id="{E55A1780-F99A-3C44-BB8D-9F2579DAAD71}"/>
                </a:ext>
              </a:extLst>
            </p:cNvPr>
            <p:cNvSpPr txBox="1"/>
            <p:nvPr/>
          </p:nvSpPr>
          <p:spPr>
            <a:xfrm>
              <a:off x="6871340" y="2551117"/>
              <a:ext cx="750526"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monitor</a:t>
              </a:r>
            </a:p>
          </p:txBody>
        </p:sp>
        <p:cxnSp>
          <p:nvCxnSpPr>
            <p:cNvPr id="53" name="Straight Connector 52">
              <a:extLst>
                <a:ext uri="{FF2B5EF4-FFF2-40B4-BE49-F238E27FC236}">
                  <a16:creationId xmlns:a16="http://schemas.microsoft.com/office/drawing/2014/main" xmlns="" id="{EFEB6276-6809-E04B-BEEA-D0562384C437}"/>
                </a:ext>
              </a:extLst>
            </p:cNvPr>
            <p:cNvCxnSpPr/>
            <p:nvPr/>
          </p:nvCxnSpPr>
          <p:spPr>
            <a:xfrm flipH="1" flipV="1">
              <a:off x="6795249" y="3697929"/>
              <a:ext cx="1012609" cy="14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xmlns="" id="{73F94B03-FD32-D341-805C-670C4E7C17D5}"/>
                </a:ext>
              </a:extLst>
            </p:cNvPr>
            <p:cNvCxnSpPr>
              <a:cxnSpLocks/>
            </p:cNvCxnSpPr>
            <p:nvPr/>
          </p:nvCxnSpPr>
          <p:spPr>
            <a:xfrm flipH="1">
              <a:off x="6412327" y="2813659"/>
              <a:ext cx="646475" cy="741996"/>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xmlns="" id="{D6B74932-A0DA-2347-BF16-9F4E41F75A81}"/>
                </a:ext>
              </a:extLst>
            </p:cNvPr>
            <p:cNvCxnSpPr>
              <a:cxnSpLocks/>
            </p:cNvCxnSpPr>
            <p:nvPr/>
          </p:nvCxnSpPr>
          <p:spPr>
            <a:xfrm>
              <a:off x="7439326" y="2820026"/>
              <a:ext cx="632462" cy="808653"/>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xmlns="" id="{E710B3EA-ACF2-A149-A3C6-7F8178EE0E0F}"/>
                </a:ext>
              </a:extLst>
            </p:cNvPr>
            <p:cNvSpPr txBox="1"/>
            <p:nvPr/>
          </p:nvSpPr>
          <p:spPr>
            <a:xfrm>
              <a:off x="7072891" y="3728311"/>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0.8</a:t>
              </a:r>
            </a:p>
          </p:txBody>
        </p:sp>
        <p:sp>
          <p:nvSpPr>
            <p:cNvPr id="62" name="TextBox 61">
              <a:extLst>
                <a:ext uri="{FF2B5EF4-FFF2-40B4-BE49-F238E27FC236}">
                  <a16:creationId xmlns:a16="http://schemas.microsoft.com/office/drawing/2014/main" xmlns="" id="{A51733ED-54E7-824C-82A9-FB1447C26D8F}"/>
                </a:ext>
              </a:extLst>
            </p:cNvPr>
            <p:cNvSpPr txBox="1"/>
            <p:nvPr/>
          </p:nvSpPr>
          <p:spPr>
            <a:xfrm>
              <a:off x="7885763" y="3013126"/>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0.3</a:t>
              </a:r>
            </a:p>
          </p:txBody>
        </p:sp>
        <p:sp>
          <p:nvSpPr>
            <p:cNvPr id="63" name="TextBox 62">
              <a:extLst>
                <a:ext uri="{FF2B5EF4-FFF2-40B4-BE49-F238E27FC236}">
                  <a16:creationId xmlns:a16="http://schemas.microsoft.com/office/drawing/2014/main" xmlns="" id="{7D0F34BC-2D16-6545-9F5D-D16900888C26}"/>
                </a:ext>
              </a:extLst>
            </p:cNvPr>
            <p:cNvSpPr txBox="1"/>
            <p:nvPr/>
          </p:nvSpPr>
          <p:spPr>
            <a:xfrm>
              <a:off x="6018396" y="3049712"/>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0.6</a:t>
              </a:r>
            </a:p>
          </p:txBody>
        </p:sp>
        <p:sp>
          <p:nvSpPr>
            <p:cNvPr id="4" name="TextBox 3">
              <a:extLst>
                <a:ext uri="{FF2B5EF4-FFF2-40B4-BE49-F238E27FC236}">
                  <a16:creationId xmlns:a16="http://schemas.microsoft.com/office/drawing/2014/main" xmlns="" id="{E078A33B-FCC2-8645-AE9D-ED5EBAD77C73}"/>
                </a:ext>
              </a:extLst>
            </p:cNvPr>
            <p:cNvSpPr txBox="1"/>
            <p:nvPr/>
          </p:nvSpPr>
          <p:spPr>
            <a:xfrm>
              <a:off x="612364" y="4219856"/>
              <a:ext cx="188545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0.6+0.2+0.7=1.5</a:t>
              </a:r>
            </a:p>
          </p:txBody>
        </p:sp>
        <p:sp>
          <p:nvSpPr>
            <p:cNvPr id="65" name="TextBox 64">
              <a:extLst>
                <a:ext uri="{FF2B5EF4-FFF2-40B4-BE49-F238E27FC236}">
                  <a16:creationId xmlns:a16="http://schemas.microsoft.com/office/drawing/2014/main" xmlns="" id="{57249D9F-980E-914D-B8D1-2D723A76E18F}"/>
                </a:ext>
              </a:extLst>
            </p:cNvPr>
            <p:cNvSpPr txBox="1"/>
            <p:nvPr/>
          </p:nvSpPr>
          <p:spPr>
            <a:xfrm>
              <a:off x="3402457" y="4219856"/>
              <a:ext cx="188545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0.4+0.8+0.7=1.9</a:t>
              </a:r>
            </a:p>
          </p:txBody>
        </p:sp>
        <p:sp>
          <p:nvSpPr>
            <p:cNvPr id="66" name="TextBox 65">
              <a:extLst>
                <a:ext uri="{FF2B5EF4-FFF2-40B4-BE49-F238E27FC236}">
                  <a16:creationId xmlns:a16="http://schemas.microsoft.com/office/drawing/2014/main" xmlns="" id="{0AA08714-8536-7841-B19F-25C26DA70AD8}"/>
                </a:ext>
              </a:extLst>
            </p:cNvPr>
            <p:cNvSpPr txBox="1"/>
            <p:nvPr/>
          </p:nvSpPr>
          <p:spPr>
            <a:xfrm>
              <a:off x="6415288" y="4219856"/>
              <a:ext cx="188545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0.6+0.3+0.8=1.7</a:t>
              </a:r>
            </a:p>
          </p:txBody>
        </p:sp>
        <p:sp>
          <p:nvSpPr>
            <p:cNvPr id="3" name="TextBox 2">
              <a:extLst>
                <a:ext uri="{FF2B5EF4-FFF2-40B4-BE49-F238E27FC236}">
                  <a16:creationId xmlns:a16="http://schemas.microsoft.com/office/drawing/2014/main" xmlns="" id="{7356C81A-6E44-7046-ABC4-A8164F563EE1}"/>
                </a:ext>
              </a:extLst>
            </p:cNvPr>
            <p:cNvSpPr txBox="1"/>
            <p:nvPr/>
          </p:nvSpPr>
          <p:spPr>
            <a:xfrm>
              <a:off x="1026291" y="1649313"/>
              <a:ext cx="115127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Option 1</a:t>
              </a:r>
            </a:p>
          </p:txBody>
        </p:sp>
        <p:sp>
          <p:nvSpPr>
            <p:cNvPr id="37" name="TextBox 36">
              <a:extLst>
                <a:ext uri="{FF2B5EF4-FFF2-40B4-BE49-F238E27FC236}">
                  <a16:creationId xmlns:a16="http://schemas.microsoft.com/office/drawing/2014/main" xmlns="" id="{40CC0123-C31D-A949-8572-0F79B98CB557}"/>
                </a:ext>
              </a:extLst>
            </p:cNvPr>
            <p:cNvSpPr txBox="1"/>
            <p:nvPr/>
          </p:nvSpPr>
          <p:spPr>
            <a:xfrm>
              <a:off x="3820291" y="1649313"/>
              <a:ext cx="115127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Option 2</a:t>
              </a:r>
            </a:p>
          </p:txBody>
        </p:sp>
        <p:sp>
          <p:nvSpPr>
            <p:cNvPr id="41" name="TextBox 40">
              <a:extLst>
                <a:ext uri="{FF2B5EF4-FFF2-40B4-BE49-F238E27FC236}">
                  <a16:creationId xmlns:a16="http://schemas.microsoft.com/office/drawing/2014/main" xmlns="" id="{725B9194-C81F-CC47-8451-F2BE49042478}"/>
                </a:ext>
              </a:extLst>
            </p:cNvPr>
            <p:cNvSpPr txBox="1"/>
            <p:nvPr/>
          </p:nvSpPr>
          <p:spPr>
            <a:xfrm>
              <a:off x="6715891" y="1649313"/>
              <a:ext cx="115127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Option 3</a:t>
              </a:r>
            </a:p>
          </p:txBody>
        </p:sp>
      </p:grpSp>
      <p:sp>
        <p:nvSpPr>
          <p:cNvPr id="45" name="TextBox 44">
            <a:extLst>
              <a:ext uri="{FF2B5EF4-FFF2-40B4-BE49-F238E27FC236}">
                <a16:creationId xmlns:a16="http://schemas.microsoft.com/office/drawing/2014/main" xmlns="" id="{334C7DF2-5C0A-AE46-A785-C2D29797345C}"/>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Tree>
    <p:extLst>
      <p:ext uri="{BB962C8B-B14F-4D97-AF65-F5344CB8AC3E}">
        <p14:creationId xmlns:p14="http://schemas.microsoft.com/office/powerpoint/2010/main" val="3182884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288E46-7D58-094D-9208-8CD42A923548}"/>
              </a:ext>
            </a:extLst>
          </p:cNvPr>
          <p:cNvSpPr>
            <a:spLocks noGrp="1"/>
          </p:cNvSpPr>
          <p:nvPr>
            <p:ph type="title"/>
          </p:nvPr>
        </p:nvSpPr>
        <p:spPr/>
        <p:txBody>
          <a:bodyPr/>
          <a:lstStyle/>
          <a:p>
            <a:r>
              <a:rPr lang="en-US" dirty="0"/>
              <a:t>Global inference (a toy example)</a:t>
            </a:r>
          </a:p>
        </p:txBody>
      </p:sp>
      <p:sp>
        <p:nvSpPr>
          <p:cNvPr id="19" name="TextBox 18">
            <a:extLst>
              <a:ext uri="{FF2B5EF4-FFF2-40B4-BE49-F238E27FC236}">
                <a16:creationId xmlns:a16="http://schemas.microsoft.com/office/drawing/2014/main" xmlns="" id="{36B1D67F-0313-A74E-B05C-364131DACC42}"/>
              </a:ext>
            </a:extLst>
          </p:cNvPr>
          <p:cNvSpPr txBox="1"/>
          <p:nvPr/>
        </p:nvSpPr>
        <p:spPr>
          <a:xfrm>
            <a:off x="228600" y="3559430"/>
            <a:ext cx="949299" cy="276999"/>
          </a:xfrm>
          <a:prstGeom prst="rect">
            <a:avLst/>
          </a:prstGeom>
          <a:noFill/>
          <a:ln>
            <a:noFill/>
          </a:ln>
        </p:spPr>
        <p:txBody>
          <a:bodyPr wrap="none" rtlCol="0">
            <a:spAutoFit/>
          </a:bodyPr>
          <a:lstStyle/>
          <a:p>
            <a:r>
              <a:rPr lang="en-US" altLang="zh-CN" sz="1200" b="1" dirty="0">
                <a:solidFill>
                  <a:srgbClr val="C00000">
                    <a:alpha val="50000"/>
                  </a:srgbClr>
                </a:solidFill>
                <a:latin typeface="Century Gothic" panose="020B0502020202020204" pitchFamily="34" charset="0"/>
                <a:ea typeface="Times New Roman" charset="0"/>
                <a:cs typeface="Times New Roman" charset="0"/>
              </a:rPr>
              <a:t>cascaded</a:t>
            </a:r>
            <a:endParaRPr lang="en-US" sz="1200" b="1" dirty="0">
              <a:solidFill>
                <a:srgbClr val="C00000">
                  <a:alpha val="50000"/>
                </a:srgbClr>
              </a:solidFill>
              <a:latin typeface="Century Gothic" panose="020B0502020202020204" pitchFamily="34" charset="0"/>
              <a:ea typeface="Times New Roman" charset="0"/>
              <a:cs typeface="Times New Roman" charset="0"/>
            </a:endParaRPr>
          </a:p>
        </p:txBody>
      </p:sp>
      <p:sp>
        <p:nvSpPr>
          <p:cNvPr id="21" name="TextBox 20">
            <a:extLst>
              <a:ext uri="{FF2B5EF4-FFF2-40B4-BE49-F238E27FC236}">
                <a16:creationId xmlns:a16="http://schemas.microsoft.com/office/drawing/2014/main" xmlns="" id="{CA72676C-C889-F54C-93B4-2CEDC29787F3}"/>
              </a:ext>
            </a:extLst>
          </p:cNvPr>
          <p:cNvSpPr txBox="1"/>
          <p:nvPr/>
        </p:nvSpPr>
        <p:spPr>
          <a:xfrm>
            <a:off x="2130912" y="3559430"/>
            <a:ext cx="779381"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ordered</a:t>
            </a:r>
          </a:p>
        </p:txBody>
      </p:sp>
      <p:sp>
        <p:nvSpPr>
          <p:cNvPr id="27" name="TextBox 26">
            <a:extLst>
              <a:ext uri="{FF2B5EF4-FFF2-40B4-BE49-F238E27FC236}">
                <a16:creationId xmlns:a16="http://schemas.microsoft.com/office/drawing/2014/main" xmlns="" id="{5E97BEC5-F97E-4245-9A44-4C677DCF82BD}"/>
              </a:ext>
            </a:extLst>
          </p:cNvPr>
          <p:cNvSpPr txBox="1"/>
          <p:nvPr/>
        </p:nvSpPr>
        <p:spPr>
          <a:xfrm>
            <a:off x="1197372" y="2551117"/>
            <a:ext cx="750526"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monitor</a:t>
            </a:r>
          </a:p>
        </p:txBody>
      </p:sp>
      <p:cxnSp>
        <p:nvCxnSpPr>
          <p:cNvPr id="36" name="Straight Connector 35">
            <a:extLst>
              <a:ext uri="{FF2B5EF4-FFF2-40B4-BE49-F238E27FC236}">
                <a16:creationId xmlns:a16="http://schemas.microsoft.com/office/drawing/2014/main" xmlns="" id="{146FD400-E108-F84E-A3FF-39FED7C840C7}"/>
              </a:ext>
            </a:extLst>
          </p:cNvPr>
          <p:cNvCxnSpPr>
            <a:cxnSpLocks/>
          </p:cNvCxnSpPr>
          <p:nvPr/>
        </p:nvCxnSpPr>
        <p:spPr>
          <a:xfrm flipH="1">
            <a:off x="675330" y="2863818"/>
            <a:ext cx="646475" cy="741996"/>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532B21EF-3D88-9E4D-9E5D-20F4E1ED6C37}"/>
              </a:ext>
            </a:extLst>
          </p:cNvPr>
          <p:cNvCxnSpPr>
            <a:cxnSpLocks/>
          </p:cNvCxnSpPr>
          <p:nvPr/>
        </p:nvCxnSpPr>
        <p:spPr>
          <a:xfrm>
            <a:off x="1745656" y="2822264"/>
            <a:ext cx="632462" cy="808653"/>
          </a:xfrm>
          <a:prstGeom prst="line">
            <a:avLst/>
          </a:prstGeom>
          <a:ln w="31750">
            <a:solidFill>
              <a:schemeClr val="bg2">
                <a:alpha val="50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xmlns="" id="{3CF42BF5-F17A-3A4C-814B-7F492E7A695B}"/>
              </a:ext>
            </a:extLst>
          </p:cNvPr>
          <p:cNvCxnSpPr/>
          <p:nvPr/>
        </p:nvCxnSpPr>
        <p:spPr>
          <a:xfrm flipH="1" flipV="1">
            <a:off x="1088239" y="3705152"/>
            <a:ext cx="1012609" cy="145"/>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xmlns="" id="{6E096EB5-38D5-0743-8D99-B4052BCB6E7A}"/>
              </a:ext>
            </a:extLst>
          </p:cNvPr>
          <p:cNvSpPr txBox="1"/>
          <p:nvPr/>
        </p:nvSpPr>
        <p:spPr>
          <a:xfrm>
            <a:off x="1436652" y="3812747"/>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0.2</a:t>
            </a:r>
          </a:p>
        </p:txBody>
      </p:sp>
      <p:sp>
        <p:nvSpPr>
          <p:cNvPr id="47" name="TextBox 46">
            <a:extLst>
              <a:ext uri="{FF2B5EF4-FFF2-40B4-BE49-F238E27FC236}">
                <a16:creationId xmlns:a16="http://schemas.microsoft.com/office/drawing/2014/main" xmlns="" id="{2FC63F5C-DF4C-4045-8F83-F255995B2736}"/>
              </a:ext>
            </a:extLst>
          </p:cNvPr>
          <p:cNvSpPr txBox="1"/>
          <p:nvPr/>
        </p:nvSpPr>
        <p:spPr>
          <a:xfrm>
            <a:off x="2289350" y="3038685"/>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0.7</a:t>
            </a:r>
          </a:p>
        </p:txBody>
      </p:sp>
      <p:sp>
        <p:nvSpPr>
          <p:cNvPr id="49" name="TextBox 48">
            <a:extLst>
              <a:ext uri="{FF2B5EF4-FFF2-40B4-BE49-F238E27FC236}">
                <a16:creationId xmlns:a16="http://schemas.microsoft.com/office/drawing/2014/main" xmlns="" id="{8FD65723-6CE8-5444-89C6-0EF49270A308}"/>
              </a:ext>
            </a:extLst>
          </p:cNvPr>
          <p:cNvSpPr txBox="1"/>
          <p:nvPr/>
        </p:nvSpPr>
        <p:spPr>
          <a:xfrm>
            <a:off x="395700" y="2952257"/>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0.6</a:t>
            </a:r>
          </a:p>
        </p:txBody>
      </p:sp>
      <p:sp>
        <p:nvSpPr>
          <p:cNvPr id="20" name="TextBox 19">
            <a:extLst>
              <a:ext uri="{FF2B5EF4-FFF2-40B4-BE49-F238E27FC236}">
                <a16:creationId xmlns:a16="http://schemas.microsoft.com/office/drawing/2014/main" xmlns="" id="{B2CB9D28-632D-D04A-9716-A19ACBA86B4D}"/>
              </a:ext>
            </a:extLst>
          </p:cNvPr>
          <p:cNvSpPr txBox="1"/>
          <p:nvPr/>
        </p:nvSpPr>
        <p:spPr>
          <a:xfrm>
            <a:off x="3053861" y="3559430"/>
            <a:ext cx="949299" cy="276999"/>
          </a:xfrm>
          <a:prstGeom prst="rect">
            <a:avLst/>
          </a:prstGeom>
          <a:noFill/>
          <a:ln>
            <a:noFill/>
          </a:ln>
        </p:spPr>
        <p:txBody>
          <a:bodyPr wrap="none" rtlCol="0">
            <a:spAutoFit/>
          </a:bodyPr>
          <a:lstStyle/>
          <a:p>
            <a:r>
              <a:rPr lang="en-US" altLang="zh-CN" sz="1200" b="1" dirty="0">
                <a:solidFill>
                  <a:srgbClr val="C00000"/>
                </a:solidFill>
                <a:latin typeface="Century Gothic" panose="020B0502020202020204" pitchFamily="34" charset="0"/>
                <a:ea typeface="Times New Roman" charset="0"/>
                <a:cs typeface="Times New Roman" charset="0"/>
              </a:rPr>
              <a:t>cascaded</a:t>
            </a:r>
            <a:endParaRPr lang="en-US" sz="1200" b="1" dirty="0">
              <a:solidFill>
                <a:srgbClr val="C00000"/>
              </a:solidFill>
              <a:latin typeface="Century Gothic" panose="020B0502020202020204" pitchFamily="34" charset="0"/>
              <a:ea typeface="Times New Roman" charset="0"/>
              <a:cs typeface="Times New Roman" charset="0"/>
            </a:endParaRPr>
          </a:p>
        </p:txBody>
      </p:sp>
      <p:sp>
        <p:nvSpPr>
          <p:cNvPr id="22" name="TextBox 21">
            <a:extLst>
              <a:ext uri="{FF2B5EF4-FFF2-40B4-BE49-F238E27FC236}">
                <a16:creationId xmlns:a16="http://schemas.microsoft.com/office/drawing/2014/main" xmlns="" id="{0A0F939A-6DAC-F643-8418-CD8C6FFC480F}"/>
              </a:ext>
            </a:extLst>
          </p:cNvPr>
          <p:cNvSpPr txBox="1"/>
          <p:nvPr/>
        </p:nvSpPr>
        <p:spPr>
          <a:xfrm>
            <a:off x="4956173" y="3559430"/>
            <a:ext cx="779381"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ordered</a:t>
            </a:r>
          </a:p>
        </p:txBody>
      </p:sp>
      <p:sp>
        <p:nvSpPr>
          <p:cNvPr id="23" name="TextBox 22">
            <a:extLst>
              <a:ext uri="{FF2B5EF4-FFF2-40B4-BE49-F238E27FC236}">
                <a16:creationId xmlns:a16="http://schemas.microsoft.com/office/drawing/2014/main" xmlns="" id="{8F54DC36-24AE-464F-933D-B2189F4607CB}"/>
              </a:ext>
            </a:extLst>
          </p:cNvPr>
          <p:cNvSpPr txBox="1"/>
          <p:nvPr/>
        </p:nvSpPr>
        <p:spPr>
          <a:xfrm>
            <a:off x="4022633" y="2551117"/>
            <a:ext cx="750526"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monitor</a:t>
            </a:r>
          </a:p>
        </p:txBody>
      </p:sp>
      <p:cxnSp>
        <p:nvCxnSpPr>
          <p:cNvPr id="24" name="Straight Connector 23">
            <a:extLst>
              <a:ext uri="{FF2B5EF4-FFF2-40B4-BE49-F238E27FC236}">
                <a16:creationId xmlns:a16="http://schemas.microsoft.com/office/drawing/2014/main" xmlns="" id="{0F91BE87-617F-4946-88EC-86032DDAF309}"/>
              </a:ext>
            </a:extLst>
          </p:cNvPr>
          <p:cNvCxnSpPr/>
          <p:nvPr/>
        </p:nvCxnSpPr>
        <p:spPr>
          <a:xfrm flipH="1" flipV="1">
            <a:off x="3975958" y="3685573"/>
            <a:ext cx="1012609" cy="14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5B2BE960-8AC7-2F4E-9150-E9DF1994FBAB}"/>
              </a:ext>
            </a:extLst>
          </p:cNvPr>
          <p:cNvCxnSpPr>
            <a:cxnSpLocks/>
          </p:cNvCxnSpPr>
          <p:nvPr/>
        </p:nvCxnSpPr>
        <p:spPr>
          <a:xfrm>
            <a:off x="4625479" y="2846528"/>
            <a:ext cx="632462" cy="8086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474FB0E2-9DB3-014B-943E-5DBF424451E9}"/>
              </a:ext>
            </a:extLst>
          </p:cNvPr>
          <p:cNvCxnSpPr>
            <a:cxnSpLocks/>
          </p:cNvCxnSpPr>
          <p:nvPr/>
        </p:nvCxnSpPr>
        <p:spPr>
          <a:xfrm flipH="1">
            <a:off x="3583128" y="2846528"/>
            <a:ext cx="646475" cy="741996"/>
          </a:xfrm>
          <a:prstGeom prst="line">
            <a:avLst/>
          </a:prstGeom>
          <a:ln w="31750">
            <a:solidFill>
              <a:schemeClr val="bg2"/>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xmlns="" id="{B136AA5A-08FC-CE41-818C-E224FF7BA32F}"/>
              </a:ext>
            </a:extLst>
          </p:cNvPr>
          <p:cNvSpPr txBox="1"/>
          <p:nvPr/>
        </p:nvSpPr>
        <p:spPr>
          <a:xfrm>
            <a:off x="4187828" y="3796877"/>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0.8</a:t>
            </a:r>
          </a:p>
        </p:txBody>
      </p:sp>
      <p:sp>
        <p:nvSpPr>
          <p:cNvPr id="34" name="TextBox 33">
            <a:extLst>
              <a:ext uri="{FF2B5EF4-FFF2-40B4-BE49-F238E27FC236}">
                <a16:creationId xmlns:a16="http://schemas.microsoft.com/office/drawing/2014/main" xmlns="" id="{439323F0-26E3-FF47-A604-80740308C3E6}"/>
              </a:ext>
            </a:extLst>
          </p:cNvPr>
          <p:cNvSpPr txBox="1"/>
          <p:nvPr/>
        </p:nvSpPr>
        <p:spPr>
          <a:xfrm>
            <a:off x="5040239" y="3032210"/>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0.7</a:t>
            </a:r>
          </a:p>
        </p:txBody>
      </p:sp>
      <p:sp>
        <p:nvSpPr>
          <p:cNvPr id="38" name="TextBox 37">
            <a:extLst>
              <a:ext uri="{FF2B5EF4-FFF2-40B4-BE49-F238E27FC236}">
                <a16:creationId xmlns:a16="http://schemas.microsoft.com/office/drawing/2014/main" xmlns="" id="{51CC655D-DC22-054E-8557-BDFD834F6385}"/>
              </a:ext>
            </a:extLst>
          </p:cNvPr>
          <p:cNvSpPr txBox="1"/>
          <p:nvPr/>
        </p:nvSpPr>
        <p:spPr>
          <a:xfrm>
            <a:off x="3238667" y="3020904"/>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0.4</a:t>
            </a:r>
          </a:p>
        </p:txBody>
      </p:sp>
      <p:sp>
        <p:nvSpPr>
          <p:cNvPr id="40" name="TextBox 39">
            <a:extLst>
              <a:ext uri="{FF2B5EF4-FFF2-40B4-BE49-F238E27FC236}">
                <a16:creationId xmlns:a16="http://schemas.microsoft.com/office/drawing/2014/main" xmlns="" id="{2C0B95A8-B7D1-3241-B162-7020F82B7CD9}"/>
              </a:ext>
            </a:extLst>
          </p:cNvPr>
          <p:cNvSpPr txBox="1"/>
          <p:nvPr/>
        </p:nvSpPr>
        <p:spPr>
          <a:xfrm>
            <a:off x="5902568" y="3559430"/>
            <a:ext cx="949299" cy="276999"/>
          </a:xfrm>
          <a:prstGeom prst="rect">
            <a:avLst/>
          </a:prstGeom>
          <a:noFill/>
          <a:ln>
            <a:noFill/>
          </a:ln>
        </p:spPr>
        <p:txBody>
          <a:bodyPr wrap="none" rtlCol="0">
            <a:spAutoFit/>
          </a:bodyPr>
          <a:lstStyle/>
          <a:p>
            <a:r>
              <a:rPr lang="en-US" altLang="zh-CN" sz="1200" b="1" dirty="0">
                <a:solidFill>
                  <a:srgbClr val="C00000">
                    <a:alpha val="50000"/>
                  </a:srgbClr>
                </a:solidFill>
                <a:latin typeface="Century Gothic" panose="020B0502020202020204" pitchFamily="34" charset="0"/>
                <a:ea typeface="Times New Roman" charset="0"/>
                <a:cs typeface="Times New Roman" charset="0"/>
              </a:rPr>
              <a:t>cascaded</a:t>
            </a:r>
            <a:endParaRPr lang="en-US" sz="1200" b="1" dirty="0">
              <a:solidFill>
                <a:srgbClr val="C00000">
                  <a:alpha val="50000"/>
                </a:srgbClr>
              </a:solidFill>
              <a:latin typeface="Century Gothic" panose="020B0502020202020204" pitchFamily="34" charset="0"/>
              <a:ea typeface="Times New Roman" charset="0"/>
              <a:cs typeface="Times New Roman" charset="0"/>
            </a:endParaRPr>
          </a:p>
        </p:txBody>
      </p:sp>
      <p:sp>
        <p:nvSpPr>
          <p:cNvPr id="44" name="TextBox 43">
            <a:extLst>
              <a:ext uri="{FF2B5EF4-FFF2-40B4-BE49-F238E27FC236}">
                <a16:creationId xmlns:a16="http://schemas.microsoft.com/office/drawing/2014/main" xmlns="" id="{0F7847B4-9935-7F42-A298-BF92DE615C0B}"/>
              </a:ext>
            </a:extLst>
          </p:cNvPr>
          <p:cNvSpPr txBox="1"/>
          <p:nvPr/>
        </p:nvSpPr>
        <p:spPr>
          <a:xfrm>
            <a:off x="7804880" y="3559430"/>
            <a:ext cx="779381"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ordered</a:t>
            </a:r>
          </a:p>
        </p:txBody>
      </p:sp>
      <p:sp>
        <p:nvSpPr>
          <p:cNvPr id="52" name="TextBox 51">
            <a:extLst>
              <a:ext uri="{FF2B5EF4-FFF2-40B4-BE49-F238E27FC236}">
                <a16:creationId xmlns:a16="http://schemas.microsoft.com/office/drawing/2014/main" xmlns="" id="{E55A1780-F99A-3C44-BB8D-9F2579DAAD71}"/>
              </a:ext>
            </a:extLst>
          </p:cNvPr>
          <p:cNvSpPr txBox="1"/>
          <p:nvPr/>
        </p:nvSpPr>
        <p:spPr>
          <a:xfrm>
            <a:off x="6871340" y="2551117"/>
            <a:ext cx="750526"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monitor</a:t>
            </a:r>
          </a:p>
        </p:txBody>
      </p:sp>
      <p:cxnSp>
        <p:nvCxnSpPr>
          <p:cNvPr id="53" name="Straight Connector 52">
            <a:extLst>
              <a:ext uri="{FF2B5EF4-FFF2-40B4-BE49-F238E27FC236}">
                <a16:creationId xmlns:a16="http://schemas.microsoft.com/office/drawing/2014/main" xmlns="" id="{EFEB6276-6809-E04B-BEEA-D0562384C437}"/>
              </a:ext>
            </a:extLst>
          </p:cNvPr>
          <p:cNvCxnSpPr/>
          <p:nvPr/>
        </p:nvCxnSpPr>
        <p:spPr>
          <a:xfrm flipH="1" flipV="1">
            <a:off x="6795249" y="3697929"/>
            <a:ext cx="1012609" cy="145"/>
          </a:xfrm>
          <a:prstGeom prst="line">
            <a:avLst/>
          </a:prstGeom>
          <a:ln w="31750">
            <a:solidFill>
              <a:schemeClr val="bg2">
                <a:alpha val="50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xmlns="" id="{73F94B03-FD32-D341-805C-670C4E7C17D5}"/>
              </a:ext>
            </a:extLst>
          </p:cNvPr>
          <p:cNvCxnSpPr>
            <a:cxnSpLocks/>
          </p:cNvCxnSpPr>
          <p:nvPr/>
        </p:nvCxnSpPr>
        <p:spPr>
          <a:xfrm flipH="1">
            <a:off x="6412327" y="2813659"/>
            <a:ext cx="646475" cy="741996"/>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xmlns="" id="{D6B74932-A0DA-2347-BF16-9F4E41F75A81}"/>
              </a:ext>
            </a:extLst>
          </p:cNvPr>
          <p:cNvCxnSpPr>
            <a:cxnSpLocks/>
          </p:cNvCxnSpPr>
          <p:nvPr/>
        </p:nvCxnSpPr>
        <p:spPr>
          <a:xfrm>
            <a:off x="7439326" y="2820026"/>
            <a:ext cx="632462" cy="808653"/>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xmlns="" id="{E710B3EA-ACF2-A149-A3C6-7F8178EE0E0F}"/>
              </a:ext>
            </a:extLst>
          </p:cNvPr>
          <p:cNvSpPr txBox="1"/>
          <p:nvPr/>
        </p:nvSpPr>
        <p:spPr>
          <a:xfrm>
            <a:off x="7072891" y="3728311"/>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0.8</a:t>
            </a:r>
          </a:p>
        </p:txBody>
      </p:sp>
      <p:sp>
        <p:nvSpPr>
          <p:cNvPr id="62" name="TextBox 61">
            <a:extLst>
              <a:ext uri="{FF2B5EF4-FFF2-40B4-BE49-F238E27FC236}">
                <a16:creationId xmlns:a16="http://schemas.microsoft.com/office/drawing/2014/main" xmlns="" id="{A51733ED-54E7-824C-82A9-FB1447C26D8F}"/>
              </a:ext>
            </a:extLst>
          </p:cNvPr>
          <p:cNvSpPr txBox="1"/>
          <p:nvPr/>
        </p:nvSpPr>
        <p:spPr>
          <a:xfrm>
            <a:off x="7885763" y="3013126"/>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0.3</a:t>
            </a:r>
          </a:p>
        </p:txBody>
      </p:sp>
      <p:sp>
        <p:nvSpPr>
          <p:cNvPr id="63" name="TextBox 62">
            <a:extLst>
              <a:ext uri="{FF2B5EF4-FFF2-40B4-BE49-F238E27FC236}">
                <a16:creationId xmlns:a16="http://schemas.microsoft.com/office/drawing/2014/main" xmlns="" id="{7D0F34BC-2D16-6545-9F5D-D16900888C26}"/>
              </a:ext>
            </a:extLst>
          </p:cNvPr>
          <p:cNvSpPr txBox="1"/>
          <p:nvPr/>
        </p:nvSpPr>
        <p:spPr>
          <a:xfrm>
            <a:off x="6018396" y="3049712"/>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0.6</a:t>
            </a:r>
          </a:p>
        </p:txBody>
      </p:sp>
      <p:sp>
        <p:nvSpPr>
          <p:cNvPr id="4" name="TextBox 3">
            <a:extLst>
              <a:ext uri="{FF2B5EF4-FFF2-40B4-BE49-F238E27FC236}">
                <a16:creationId xmlns:a16="http://schemas.microsoft.com/office/drawing/2014/main" xmlns="" id="{E078A33B-FCC2-8645-AE9D-ED5EBAD77C73}"/>
              </a:ext>
            </a:extLst>
          </p:cNvPr>
          <p:cNvSpPr txBox="1"/>
          <p:nvPr/>
        </p:nvSpPr>
        <p:spPr>
          <a:xfrm>
            <a:off x="612364" y="4219856"/>
            <a:ext cx="1885453" cy="369332"/>
          </a:xfrm>
          <a:prstGeom prst="rect">
            <a:avLst/>
          </a:prstGeom>
          <a:noFill/>
        </p:spPr>
        <p:txBody>
          <a:bodyPr wrap="none" rtlCol="0">
            <a:spAutoFit/>
          </a:bodyPr>
          <a:lstStyle/>
          <a:p>
            <a:r>
              <a:rPr lang="en-US" dirty="0">
                <a:solidFill>
                  <a:schemeClr val="bg2">
                    <a:alpha val="50000"/>
                  </a:schemeClr>
                </a:solidFill>
                <a:latin typeface="Century Gothic" panose="020B0502020202020204" pitchFamily="34" charset="0"/>
              </a:rPr>
              <a:t>0.6+0.2+0.7=1.5</a:t>
            </a:r>
          </a:p>
        </p:txBody>
      </p:sp>
      <p:sp>
        <p:nvSpPr>
          <p:cNvPr id="65" name="TextBox 64">
            <a:extLst>
              <a:ext uri="{FF2B5EF4-FFF2-40B4-BE49-F238E27FC236}">
                <a16:creationId xmlns:a16="http://schemas.microsoft.com/office/drawing/2014/main" xmlns="" id="{57249D9F-980E-914D-B8D1-2D723A76E18F}"/>
              </a:ext>
            </a:extLst>
          </p:cNvPr>
          <p:cNvSpPr txBox="1"/>
          <p:nvPr/>
        </p:nvSpPr>
        <p:spPr>
          <a:xfrm>
            <a:off x="3402457" y="4219856"/>
            <a:ext cx="188545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0.4+0.8+0.7=1.9</a:t>
            </a:r>
          </a:p>
        </p:txBody>
      </p:sp>
      <p:sp>
        <p:nvSpPr>
          <p:cNvPr id="66" name="TextBox 65">
            <a:extLst>
              <a:ext uri="{FF2B5EF4-FFF2-40B4-BE49-F238E27FC236}">
                <a16:creationId xmlns:a16="http://schemas.microsoft.com/office/drawing/2014/main" xmlns="" id="{0AA08714-8536-7841-B19F-25C26DA70AD8}"/>
              </a:ext>
            </a:extLst>
          </p:cNvPr>
          <p:cNvSpPr txBox="1"/>
          <p:nvPr/>
        </p:nvSpPr>
        <p:spPr>
          <a:xfrm>
            <a:off x="6415288" y="4219856"/>
            <a:ext cx="1885453" cy="369332"/>
          </a:xfrm>
          <a:prstGeom prst="rect">
            <a:avLst/>
          </a:prstGeom>
          <a:noFill/>
        </p:spPr>
        <p:txBody>
          <a:bodyPr wrap="none" rtlCol="0">
            <a:spAutoFit/>
          </a:bodyPr>
          <a:lstStyle/>
          <a:p>
            <a:r>
              <a:rPr lang="en-US" dirty="0">
                <a:solidFill>
                  <a:schemeClr val="bg2">
                    <a:alpha val="50000"/>
                  </a:schemeClr>
                </a:solidFill>
                <a:latin typeface="Century Gothic" panose="020B0502020202020204" pitchFamily="34" charset="0"/>
              </a:rPr>
              <a:t>0.6+0.3+0.8=1.7</a:t>
            </a:r>
          </a:p>
        </p:txBody>
      </p:sp>
      <p:sp>
        <p:nvSpPr>
          <p:cNvPr id="37" name="TextBox 36">
            <a:extLst>
              <a:ext uri="{FF2B5EF4-FFF2-40B4-BE49-F238E27FC236}">
                <a16:creationId xmlns:a16="http://schemas.microsoft.com/office/drawing/2014/main" xmlns="" id="{77E12BAB-E193-2B47-834D-BEE4B2CB5112}"/>
              </a:ext>
            </a:extLst>
          </p:cNvPr>
          <p:cNvSpPr txBox="1"/>
          <p:nvPr/>
        </p:nvSpPr>
        <p:spPr>
          <a:xfrm>
            <a:off x="3820291" y="1649313"/>
            <a:ext cx="115127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Option 2</a:t>
            </a:r>
          </a:p>
        </p:txBody>
      </p:sp>
      <p:sp>
        <p:nvSpPr>
          <p:cNvPr id="41" name="TextBox 40">
            <a:extLst>
              <a:ext uri="{FF2B5EF4-FFF2-40B4-BE49-F238E27FC236}">
                <a16:creationId xmlns:a16="http://schemas.microsoft.com/office/drawing/2014/main" xmlns="" id="{756D1C4C-77C2-374B-AFB4-673864B48D32}"/>
              </a:ext>
            </a:extLst>
          </p:cNvPr>
          <p:cNvSpPr txBox="1"/>
          <p:nvPr/>
        </p:nvSpPr>
        <p:spPr>
          <a:xfrm>
            <a:off x="842288" y="5046421"/>
            <a:ext cx="7459424" cy="830997"/>
          </a:xfrm>
          <a:prstGeom prst="rect">
            <a:avLst/>
          </a:prstGeom>
          <a:noFill/>
        </p:spPr>
        <p:txBody>
          <a:bodyPr wrap="square" rtlCol="0">
            <a:spAutoFit/>
          </a:bodyPr>
          <a:lstStyle/>
          <a:p>
            <a:pPr algn="ctr"/>
            <a:r>
              <a:rPr lang="en-US" sz="2400" dirty="0">
                <a:solidFill>
                  <a:schemeClr val="bg2"/>
                </a:solidFill>
                <a:latin typeface="Century Gothic" panose="020B0502020202020204" pitchFamily="34" charset="0"/>
              </a:rPr>
              <a:t>We should not only select the assignment with the best score, </a:t>
            </a:r>
            <a:r>
              <a:rPr lang="en-US" sz="2400" dirty="0">
                <a:solidFill>
                  <a:srgbClr val="C00000"/>
                </a:solidFill>
                <a:latin typeface="Century Gothic" panose="020B0502020202020204" pitchFamily="34" charset="0"/>
              </a:rPr>
              <a:t>but also avoid loops</a:t>
            </a:r>
          </a:p>
        </p:txBody>
      </p:sp>
      <p:sp>
        <p:nvSpPr>
          <p:cNvPr id="35" name="TextBox 34">
            <a:extLst>
              <a:ext uri="{FF2B5EF4-FFF2-40B4-BE49-F238E27FC236}">
                <a16:creationId xmlns:a16="http://schemas.microsoft.com/office/drawing/2014/main" xmlns="" id="{C055575D-5ACE-764B-B3C1-36109536E538}"/>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Tree>
    <p:extLst>
      <p:ext uri="{BB962C8B-B14F-4D97-AF65-F5344CB8AC3E}">
        <p14:creationId xmlns:p14="http://schemas.microsoft.com/office/powerpoint/2010/main" val="2498491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288E46-7D58-094D-9208-8CD42A923548}"/>
              </a:ext>
            </a:extLst>
          </p:cNvPr>
          <p:cNvSpPr>
            <a:spLocks noGrp="1"/>
          </p:cNvSpPr>
          <p:nvPr>
            <p:ph type="title"/>
          </p:nvPr>
        </p:nvSpPr>
        <p:spPr/>
        <p:txBody>
          <a:bodyPr/>
          <a:lstStyle/>
          <a:p>
            <a:r>
              <a:rPr lang="en-US" dirty="0"/>
              <a:t>Global inference (a toy example)</a:t>
            </a:r>
          </a:p>
        </p:txBody>
      </p:sp>
      <p:sp>
        <p:nvSpPr>
          <p:cNvPr id="19" name="TextBox 18">
            <a:extLst>
              <a:ext uri="{FF2B5EF4-FFF2-40B4-BE49-F238E27FC236}">
                <a16:creationId xmlns:a16="http://schemas.microsoft.com/office/drawing/2014/main" xmlns="" id="{36B1D67F-0313-A74E-B05C-364131DACC42}"/>
              </a:ext>
            </a:extLst>
          </p:cNvPr>
          <p:cNvSpPr txBox="1"/>
          <p:nvPr/>
        </p:nvSpPr>
        <p:spPr>
          <a:xfrm>
            <a:off x="228600" y="3559430"/>
            <a:ext cx="949299" cy="276999"/>
          </a:xfrm>
          <a:prstGeom prst="rect">
            <a:avLst/>
          </a:prstGeom>
          <a:noFill/>
          <a:ln>
            <a:noFill/>
          </a:ln>
        </p:spPr>
        <p:txBody>
          <a:bodyPr wrap="none" rtlCol="0">
            <a:spAutoFit/>
          </a:bodyPr>
          <a:lstStyle/>
          <a:p>
            <a:r>
              <a:rPr lang="en-US" altLang="zh-CN" sz="1200" b="1" dirty="0">
                <a:solidFill>
                  <a:srgbClr val="C00000">
                    <a:alpha val="50000"/>
                  </a:srgbClr>
                </a:solidFill>
                <a:latin typeface="Century Gothic" panose="020B0502020202020204" pitchFamily="34" charset="0"/>
                <a:ea typeface="Times New Roman" charset="0"/>
                <a:cs typeface="Times New Roman" charset="0"/>
              </a:rPr>
              <a:t>cascaded</a:t>
            </a:r>
            <a:endParaRPr lang="en-US" sz="1200" b="1" dirty="0">
              <a:solidFill>
                <a:srgbClr val="C00000">
                  <a:alpha val="50000"/>
                </a:srgbClr>
              </a:solidFill>
              <a:latin typeface="Century Gothic" panose="020B0502020202020204" pitchFamily="34" charset="0"/>
              <a:ea typeface="Times New Roman" charset="0"/>
              <a:cs typeface="Times New Roman" charset="0"/>
            </a:endParaRPr>
          </a:p>
        </p:txBody>
      </p:sp>
      <p:sp>
        <p:nvSpPr>
          <p:cNvPr id="21" name="TextBox 20">
            <a:extLst>
              <a:ext uri="{FF2B5EF4-FFF2-40B4-BE49-F238E27FC236}">
                <a16:creationId xmlns:a16="http://schemas.microsoft.com/office/drawing/2014/main" xmlns="" id="{CA72676C-C889-F54C-93B4-2CEDC29787F3}"/>
              </a:ext>
            </a:extLst>
          </p:cNvPr>
          <p:cNvSpPr txBox="1"/>
          <p:nvPr/>
        </p:nvSpPr>
        <p:spPr>
          <a:xfrm>
            <a:off x="2130912" y="3559430"/>
            <a:ext cx="779381"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ordered</a:t>
            </a:r>
          </a:p>
        </p:txBody>
      </p:sp>
      <p:sp>
        <p:nvSpPr>
          <p:cNvPr id="27" name="TextBox 26">
            <a:extLst>
              <a:ext uri="{FF2B5EF4-FFF2-40B4-BE49-F238E27FC236}">
                <a16:creationId xmlns:a16="http://schemas.microsoft.com/office/drawing/2014/main" xmlns="" id="{5E97BEC5-F97E-4245-9A44-4C677DCF82BD}"/>
              </a:ext>
            </a:extLst>
          </p:cNvPr>
          <p:cNvSpPr txBox="1"/>
          <p:nvPr/>
        </p:nvSpPr>
        <p:spPr>
          <a:xfrm>
            <a:off x="1197372" y="2551117"/>
            <a:ext cx="750526"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monitor</a:t>
            </a:r>
          </a:p>
        </p:txBody>
      </p:sp>
      <p:cxnSp>
        <p:nvCxnSpPr>
          <p:cNvPr id="36" name="Straight Connector 35">
            <a:extLst>
              <a:ext uri="{FF2B5EF4-FFF2-40B4-BE49-F238E27FC236}">
                <a16:creationId xmlns:a16="http://schemas.microsoft.com/office/drawing/2014/main" xmlns="" id="{146FD400-E108-F84E-A3FF-39FED7C840C7}"/>
              </a:ext>
            </a:extLst>
          </p:cNvPr>
          <p:cNvCxnSpPr>
            <a:cxnSpLocks/>
          </p:cNvCxnSpPr>
          <p:nvPr/>
        </p:nvCxnSpPr>
        <p:spPr>
          <a:xfrm flipH="1">
            <a:off x="675330" y="2863818"/>
            <a:ext cx="646475" cy="741996"/>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532B21EF-3D88-9E4D-9E5D-20F4E1ED6C37}"/>
              </a:ext>
            </a:extLst>
          </p:cNvPr>
          <p:cNvCxnSpPr>
            <a:cxnSpLocks/>
          </p:cNvCxnSpPr>
          <p:nvPr/>
        </p:nvCxnSpPr>
        <p:spPr>
          <a:xfrm>
            <a:off x="1745656" y="2822264"/>
            <a:ext cx="632462" cy="808653"/>
          </a:xfrm>
          <a:prstGeom prst="line">
            <a:avLst/>
          </a:prstGeom>
          <a:ln w="31750">
            <a:solidFill>
              <a:schemeClr val="bg2">
                <a:alpha val="50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xmlns="" id="{3CF42BF5-F17A-3A4C-814B-7F492E7A695B}"/>
              </a:ext>
            </a:extLst>
          </p:cNvPr>
          <p:cNvCxnSpPr/>
          <p:nvPr/>
        </p:nvCxnSpPr>
        <p:spPr>
          <a:xfrm flipH="1" flipV="1">
            <a:off x="1088239" y="3705152"/>
            <a:ext cx="1012609" cy="145"/>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xmlns="" id="{6E096EB5-38D5-0743-8D99-B4052BCB6E7A}"/>
              </a:ext>
            </a:extLst>
          </p:cNvPr>
          <p:cNvSpPr txBox="1"/>
          <p:nvPr/>
        </p:nvSpPr>
        <p:spPr>
          <a:xfrm>
            <a:off x="1436652" y="3812747"/>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0.2</a:t>
            </a:r>
          </a:p>
        </p:txBody>
      </p:sp>
      <p:sp>
        <p:nvSpPr>
          <p:cNvPr id="47" name="TextBox 46">
            <a:extLst>
              <a:ext uri="{FF2B5EF4-FFF2-40B4-BE49-F238E27FC236}">
                <a16:creationId xmlns:a16="http://schemas.microsoft.com/office/drawing/2014/main" xmlns="" id="{2FC63F5C-DF4C-4045-8F83-F255995B2736}"/>
              </a:ext>
            </a:extLst>
          </p:cNvPr>
          <p:cNvSpPr txBox="1"/>
          <p:nvPr/>
        </p:nvSpPr>
        <p:spPr>
          <a:xfrm>
            <a:off x="2289350" y="3038685"/>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0.7</a:t>
            </a:r>
          </a:p>
        </p:txBody>
      </p:sp>
      <p:sp>
        <p:nvSpPr>
          <p:cNvPr id="49" name="TextBox 48">
            <a:extLst>
              <a:ext uri="{FF2B5EF4-FFF2-40B4-BE49-F238E27FC236}">
                <a16:creationId xmlns:a16="http://schemas.microsoft.com/office/drawing/2014/main" xmlns="" id="{8FD65723-6CE8-5444-89C6-0EF49270A308}"/>
              </a:ext>
            </a:extLst>
          </p:cNvPr>
          <p:cNvSpPr txBox="1"/>
          <p:nvPr/>
        </p:nvSpPr>
        <p:spPr>
          <a:xfrm>
            <a:off x="395700" y="2952257"/>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0.6</a:t>
            </a:r>
          </a:p>
        </p:txBody>
      </p:sp>
      <p:sp>
        <p:nvSpPr>
          <p:cNvPr id="20" name="TextBox 19">
            <a:extLst>
              <a:ext uri="{FF2B5EF4-FFF2-40B4-BE49-F238E27FC236}">
                <a16:creationId xmlns:a16="http://schemas.microsoft.com/office/drawing/2014/main" xmlns="" id="{B2CB9D28-632D-D04A-9716-A19ACBA86B4D}"/>
              </a:ext>
            </a:extLst>
          </p:cNvPr>
          <p:cNvSpPr txBox="1"/>
          <p:nvPr/>
        </p:nvSpPr>
        <p:spPr>
          <a:xfrm>
            <a:off x="3053861" y="3559430"/>
            <a:ext cx="949299" cy="276999"/>
          </a:xfrm>
          <a:prstGeom prst="rect">
            <a:avLst/>
          </a:prstGeom>
          <a:noFill/>
          <a:ln>
            <a:noFill/>
          </a:ln>
        </p:spPr>
        <p:txBody>
          <a:bodyPr wrap="none" rtlCol="0">
            <a:spAutoFit/>
          </a:bodyPr>
          <a:lstStyle/>
          <a:p>
            <a:r>
              <a:rPr lang="en-US" altLang="zh-CN" sz="1200" b="1" dirty="0">
                <a:solidFill>
                  <a:srgbClr val="C00000"/>
                </a:solidFill>
                <a:latin typeface="Century Gothic" panose="020B0502020202020204" pitchFamily="34" charset="0"/>
                <a:ea typeface="Times New Roman" charset="0"/>
                <a:cs typeface="Times New Roman" charset="0"/>
              </a:rPr>
              <a:t>cascaded</a:t>
            </a:r>
            <a:endParaRPr lang="en-US" sz="1200" b="1" dirty="0">
              <a:solidFill>
                <a:srgbClr val="C00000"/>
              </a:solidFill>
              <a:latin typeface="Century Gothic" panose="020B0502020202020204" pitchFamily="34" charset="0"/>
              <a:ea typeface="Times New Roman" charset="0"/>
              <a:cs typeface="Times New Roman" charset="0"/>
            </a:endParaRPr>
          </a:p>
        </p:txBody>
      </p:sp>
      <p:sp>
        <p:nvSpPr>
          <p:cNvPr id="22" name="TextBox 21">
            <a:extLst>
              <a:ext uri="{FF2B5EF4-FFF2-40B4-BE49-F238E27FC236}">
                <a16:creationId xmlns:a16="http://schemas.microsoft.com/office/drawing/2014/main" xmlns="" id="{0A0F939A-6DAC-F643-8418-CD8C6FFC480F}"/>
              </a:ext>
            </a:extLst>
          </p:cNvPr>
          <p:cNvSpPr txBox="1"/>
          <p:nvPr/>
        </p:nvSpPr>
        <p:spPr>
          <a:xfrm>
            <a:off x="4956173" y="3559430"/>
            <a:ext cx="779381"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ordered</a:t>
            </a:r>
          </a:p>
        </p:txBody>
      </p:sp>
      <p:sp>
        <p:nvSpPr>
          <p:cNvPr id="23" name="TextBox 22">
            <a:extLst>
              <a:ext uri="{FF2B5EF4-FFF2-40B4-BE49-F238E27FC236}">
                <a16:creationId xmlns:a16="http://schemas.microsoft.com/office/drawing/2014/main" xmlns="" id="{8F54DC36-24AE-464F-933D-B2189F4607CB}"/>
              </a:ext>
            </a:extLst>
          </p:cNvPr>
          <p:cNvSpPr txBox="1"/>
          <p:nvPr/>
        </p:nvSpPr>
        <p:spPr>
          <a:xfrm>
            <a:off x="4022633" y="2551117"/>
            <a:ext cx="750526"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monitor</a:t>
            </a:r>
          </a:p>
        </p:txBody>
      </p:sp>
      <p:cxnSp>
        <p:nvCxnSpPr>
          <p:cNvPr id="24" name="Straight Connector 23">
            <a:extLst>
              <a:ext uri="{FF2B5EF4-FFF2-40B4-BE49-F238E27FC236}">
                <a16:creationId xmlns:a16="http://schemas.microsoft.com/office/drawing/2014/main" xmlns="" id="{0F91BE87-617F-4946-88EC-86032DDAF309}"/>
              </a:ext>
            </a:extLst>
          </p:cNvPr>
          <p:cNvCxnSpPr/>
          <p:nvPr/>
        </p:nvCxnSpPr>
        <p:spPr>
          <a:xfrm flipH="1" flipV="1">
            <a:off x="3975958" y="3685573"/>
            <a:ext cx="1012609" cy="14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5B2BE960-8AC7-2F4E-9150-E9DF1994FBAB}"/>
              </a:ext>
            </a:extLst>
          </p:cNvPr>
          <p:cNvCxnSpPr>
            <a:cxnSpLocks/>
          </p:cNvCxnSpPr>
          <p:nvPr/>
        </p:nvCxnSpPr>
        <p:spPr>
          <a:xfrm>
            <a:off x="4625479" y="2846528"/>
            <a:ext cx="632462" cy="8086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474FB0E2-9DB3-014B-943E-5DBF424451E9}"/>
              </a:ext>
            </a:extLst>
          </p:cNvPr>
          <p:cNvCxnSpPr>
            <a:cxnSpLocks/>
          </p:cNvCxnSpPr>
          <p:nvPr/>
        </p:nvCxnSpPr>
        <p:spPr>
          <a:xfrm flipH="1">
            <a:off x="3583128" y="2846528"/>
            <a:ext cx="646475" cy="741996"/>
          </a:xfrm>
          <a:prstGeom prst="line">
            <a:avLst/>
          </a:prstGeom>
          <a:ln w="31750">
            <a:solidFill>
              <a:schemeClr val="bg2"/>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xmlns="" id="{B136AA5A-08FC-CE41-818C-E224FF7BA32F}"/>
              </a:ext>
            </a:extLst>
          </p:cNvPr>
          <p:cNvSpPr txBox="1"/>
          <p:nvPr/>
        </p:nvSpPr>
        <p:spPr>
          <a:xfrm>
            <a:off x="4187828" y="3796877"/>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0.8</a:t>
            </a:r>
          </a:p>
        </p:txBody>
      </p:sp>
      <p:sp>
        <p:nvSpPr>
          <p:cNvPr id="34" name="TextBox 33">
            <a:extLst>
              <a:ext uri="{FF2B5EF4-FFF2-40B4-BE49-F238E27FC236}">
                <a16:creationId xmlns:a16="http://schemas.microsoft.com/office/drawing/2014/main" xmlns="" id="{439323F0-26E3-FF47-A604-80740308C3E6}"/>
              </a:ext>
            </a:extLst>
          </p:cNvPr>
          <p:cNvSpPr txBox="1"/>
          <p:nvPr/>
        </p:nvSpPr>
        <p:spPr>
          <a:xfrm>
            <a:off x="5040239" y="3032210"/>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0.7</a:t>
            </a:r>
          </a:p>
        </p:txBody>
      </p:sp>
      <p:sp>
        <p:nvSpPr>
          <p:cNvPr id="38" name="TextBox 37">
            <a:extLst>
              <a:ext uri="{FF2B5EF4-FFF2-40B4-BE49-F238E27FC236}">
                <a16:creationId xmlns:a16="http://schemas.microsoft.com/office/drawing/2014/main" xmlns="" id="{51CC655D-DC22-054E-8557-BDFD834F6385}"/>
              </a:ext>
            </a:extLst>
          </p:cNvPr>
          <p:cNvSpPr txBox="1"/>
          <p:nvPr/>
        </p:nvSpPr>
        <p:spPr>
          <a:xfrm>
            <a:off x="3238667" y="3020904"/>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0.4</a:t>
            </a:r>
          </a:p>
        </p:txBody>
      </p:sp>
      <p:sp>
        <p:nvSpPr>
          <p:cNvPr id="40" name="TextBox 39">
            <a:extLst>
              <a:ext uri="{FF2B5EF4-FFF2-40B4-BE49-F238E27FC236}">
                <a16:creationId xmlns:a16="http://schemas.microsoft.com/office/drawing/2014/main" xmlns="" id="{2C0B95A8-B7D1-3241-B162-7020F82B7CD9}"/>
              </a:ext>
            </a:extLst>
          </p:cNvPr>
          <p:cNvSpPr txBox="1"/>
          <p:nvPr/>
        </p:nvSpPr>
        <p:spPr>
          <a:xfrm>
            <a:off x="5902568" y="3559430"/>
            <a:ext cx="949299" cy="276999"/>
          </a:xfrm>
          <a:prstGeom prst="rect">
            <a:avLst/>
          </a:prstGeom>
          <a:noFill/>
          <a:ln>
            <a:noFill/>
          </a:ln>
        </p:spPr>
        <p:txBody>
          <a:bodyPr wrap="none" rtlCol="0">
            <a:spAutoFit/>
          </a:bodyPr>
          <a:lstStyle/>
          <a:p>
            <a:r>
              <a:rPr lang="en-US" altLang="zh-CN" sz="1200" b="1" dirty="0">
                <a:solidFill>
                  <a:srgbClr val="C00000">
                    <a:alpha val="50000"/>
                  </a:srgbClr>
                </a:solidFill>
                <a:latin typeface="Century Gothic" panose="020B0502020202020204" pitchFamily="34" charset="0"/>
                <a:ea typeface="Times New Roman" charset="0"/>
                <a:cs typeface="Times New Roman" charset="0"/>
              </a:rPr>
              <a:t>cascaded</a:t>
            </a:r>
            <a:endParaRPr lang="en-US" sz="1200" b="1" dirty="0">
              <a:solidFill>
                <a:srgbClr val="C00000">
                  <a:alpha val="50000"/>
                </a:srgbClr>
              </a:solidFill>
              <a:latin typeface="Century Gothic" panose="020B0502020202020204" pitchFamily="34" charset="0"/>
              <a:ea typeface="Times New Roman" charset="0"/>
              <a:cs typeface="Times New Roman" charset="0"/>
            </a:endParaRPr>
          </a:p>
        </p:txBody>
      </p:sp>
      <p:sp>
        <p:nvSpPr>
          <p:cNvPr id="44" name="TextBox 43">
            <a:extLst>
              <a:ext uri="{FF2B5EF4-FFF2-40B4-BE49-F238E27FC236}">
                <a16:creationId xmlns:a16="http://schemas.microsoft.com/office/drawing/2014/main" xmlns="" id="{0F7847B4-9935-7F42-A298-BF92DE615C0B}"/>
              </a:ext>
            </a:extLst>
          </p:cNvPr>
          <p:cNvSpPr txBox="1"/>
          <p:nvPr/>
        </p:nvSpPr>
        <p:spPr>
          <a:xfrm>
            <a:off x="7804880" y="3559430"/>
            <a:ext cx="779381"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ordered</a:t>
            </a:r>
          </a:p>
        </p:txBody>
      </p:sp>
      <p:sp>
        <p:nvSpPr>
          <p:cNvPr id="52" name="TextBox 51">
            <a:extLst>
              <a:ext uri="{FF2B5EF4-FFF2-40B4-BE49-F238E27FC236}">
                <a16:creationId xmlns:a16="http://schemas.microsoft.com/office/drawing/2014/main" xmlns="" id="{E55A1780-F99A-3C44-BB8D-9F2579DAAD71}"/>
              </a:ext>
            </a:extLst>
          </p:cNvPr>
          <p:cNvSpPr txBox="1"/>
          <p:nvPr/>
        </p:nvSpPr>
        <p:spPr>
          <a:xfrm>
            <a:off x="6871340" y="2551117"/>
            <a:ext cx="750526"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monitor</a:t>
            </a:r>
          </a:p>
        </p:txBody>
      </p:sp>
      <p:cxnSp>
        <p:nvCxnSpPr>
          <p:cNvPr id="53" name="Straight Connector 52">
            <a:extLst>
              <a:ext uri="{FF2B5EF4-FFF2-40B4-BE49-F238E27FC236}">
                <a16:creationId xmlns:a16="http://schemas.microsoft.com/office/drawing/2014/main" xmlns="" id="{EFEB6276-6809-E04B-BEEA-D0562384C437}"/>
              </a:ext>
            </a:extLst>
          </p:cNvPr>
          <p:cNvCxnSpPr/>
          <p:nvPr/>
        </p:nvCxnSpPr>
        <p:spPr>
          <a:xfrm flipH="1" flipV="1">
            <a:off x="6795249" y="3697929"/>
            <a:ext cx="1012609" cy="145"/>
          </a:xfrm>
          <a:prstGeom prst="line">
            <a:avLst/>
          </a:prstGeom>
          <a:ln w="31750">
            <a:solidFill>
              <a:schemeClr val="bg2">
                <a:alpha val="50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xmlns="" id="{73F94B03-FD32-D341-805C-670C4E7C17D5}"/>
              </a:ext>
            </a:extLst>
          </p:cNvPr>
          <p:cNvCxnSpPr>
            <a:cxnSpLocks/>
          </p:cNvCxnSpPr>
          <p:nvPr/>
        </p:nvCxnSpPr>
        <p:spPr>
          <a:xfrm flipH="1">
            <a:off x="6412327" y="2813659"/>
            <a:ext cx="646475" cy="741996"/>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xmlns="" id="{D6B74932-A0DA-2347-BF16-9F4E41F75A81}"/>
              </a:ext>
            </a:extLst>
          </p:cNvPr>
          <p:cNvCxnSpPr>
            <a:cxnSpLocks/>
          </p:cNvCxnSpPr>
          <p:nvPr/>
        </p:nvCxnSpPr>
        <p:spPr>
          <a:xfrm>
            <a:off x="7439326" y="2820026"/>
            <a:ext cx="632462" cy="808653"/>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xmlns="" id="{E710B3EA-ACF2-A149-A3C6-7F8178EE0E0F}"/>
              </a:ext>
            </a:extLst>
          </p:cNvPr>
          <p:cNvSpPr txBox="1"/>
          <p:nvPr/>
        </p:nvSpPr>
        <p:spPr>
          <a:xfrm>
            <a:off x="7072891" y="3728311"/>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0.8</a:t>
            </a:r>
          </a:p>
        </p:txBody>
      </p:sp>
      <p:sp>
        <p:nvSpPr>
          <p:cNvPr id="62" name="TextBox 61">
            <a:extLst>
              <a:ext uri="{FF2B5EF4-FFF2-40B4-BE49-F238E27FC236}">
                <a16:creationId xmlns:a16="http://schemas.microsoft.com/office/drawing/2014/main" xmlns="" id="{A51733ED-54E7-824C-82A9-FB1447C26D8F}"/>
              </a:ext>
            </a:extLst>
          </p:cNvPr>
          <p:cNvSpPr txBox="1"/>
          <p:nvPr/>
        </p:nvSpPr>
        <p:spPr>
          <a:xfrm>
            <a:off x="7885763" y="3013126"/>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0.3</a:t>
            </a:r>
          </a:p>
        </p:txBody>
      </p:sp>
      <p:sp>
        <p:nvSpPr>
          <p:cNvPr id="63" name="TextBox 62">
            <a:extLst>
              <a:ext uri="{FF2B5EF4-FFF2-40B4-BE49-F238E27FC236}">
                <a16:creationId xmlns:a16="http://schemas.microsoft.com/office/drawing/2014/main" xmlns="" id="{7D0F34BC-2D16-6545-9F5D-D16900888C26}"/>
              </a:ext>
            </a:extLst>
          </p:cNvPr>
          <p:cNvSpPr txBox="1"/>
          <p:nvPr/>
        </p:nvSpPr>
        <p:spPr>
          <a:xfrm>
            <a:off x="6018396" y="3049712"/>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0.6</a:t>
            </a:r>
          </a:p>
        </p:txBody>
      </p:sp>
      <p:sp>
        <p:nvSpPr>
          <p:cNvPr id="4" name="TextBox 3">
            <a:extLst>
              <a:ext uri="{FF2B5EF4-FFF2-40B4-BE49-F238E27FC236}">
                <a16:creationId xmlns:a16="http://schemas.microsoft.com/office/drawing/2014/main" xmlns="" id="{E078A33B-FCC2-8645-AE9D-ED5EBAD77C73}"/>
              </a:ext>
            </a:extLst>
          </p:cNvPr>
          <p:cNvSpPr txBox="1"/>
          <p:nvPr/>
        </p:nvSpPr>
        <p:spPr>
          <a:xfrm>
            <a:off x="612364" y="4219856"/>
            <a:ext cx="1885453" cy="369332"/>
          </a:xfrm>
          <a:prstGeom prst="rect">
            <a:avLst/>
          </a:prstGeom>
          <a:noFill/>
        </p:spPr>
        <p:txBody>
          <a:bodyPr wrap="none" rtlCol="0">
            <a:spAutoFit/>
          </a:bodyPr>
          <a:lstStyle/>
          <a:p>
            <a:r>
              <a:rPr lang="en-US" dirty="0">
                <a:solidFill>
                  <a:schemeClr val="bg2">
                    <a:alpha val="50000"/>
                  </a:schemeClr>
                </a:solidFill>
                <a:latin typeface="Century Gothic" panose="020B0502020202020204" pitchFamily="34" charset="0"/>
              </a:rPr>
              <a:t>0.6+0.2+0.7=1.5</a:t>
            </a:r>
          </a:p>
        </p:txBody>
      </p:sp>
      <p:sp>
        <p:nvSpPr>
          <p:cNvPr id="65" name="TextBox 64">
            <a:extLst>
              <a:ext uri="{FF2B5EF4-FFF2-40B4-BE49-F238E27FC236}">
                <a16:creationId xmlns:a16="http://schemas.microsoft.com/office/drawing/2014/main" xmlns="" id="{57249D9F-980E-914D-B8D1-2D723A76E18F}"/>
              </a:ext>
            </a:extLst>
          </p:cNvPr>
          <p:cNvSpPr txBox="1"/>
          <p:nvPr/>
        </p:nvSpPr>
        <p:spPr>
          <a:xfrm>
            <a:off x="3402457" y="4219856"/>
            <a:ext cx="188545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0.4+0.8+0.7=1.9</a:t>
            </a:r>
          </a:p>
        </p:txBody>
      </p:sp>
      <p:sp>
        <p:nvSpPr>
          <p:cNvPr id="66" name="TextBox 65">
            <a:extLst>
              <a:ext uri="{FF2B5EF4-FFF2-40B4-BE49-F238E27FC236}">
                <a16:creationId xmlns:a16="http://schemas.microsoft.com/office/drawing/2014/main" xmlns="" id="{0AA08714-8536-7841-B19F-25C26DA70AD8}"/>
              </a:ext>
            </a:extLst>
          </p:cNvPr>
          <p:cNvSpPr txBox="1"/>
          <p:nvPr/>
        </p:nvSpPr>
        <p:spPr>
          <a:xfrm>
            <a:off x="6415288" y="4219856"/>
            <a:ext cx="1885453" cy="369332"/>
          </a:xfrm>
          <a:prstGeom prst="rect">
            <a:avLst/>
          </a:prstGeom>
          <a:noFill/>
        </p:spPr>
        <p:txBody>
          <a:bodyPr wrap="none" rtlCol="0">
            <a:spAutoFit/>
          </a:bodyPr>
          <a:lstStyle/>
          <a:p>
            <a:r>
              <a:rPr lang="en-US" dirty="0">
                <a:solidFill>
                  <a:schemeClr val="bg2">
                    <a:alpha val="50000"/>
                  </a:schemeClr>
                </a:solidFill>
                <a:latin typeface="Century Gothic" panose="020B0502020202020204" pitchFamily="34" charset="0"/>
              </a:rPr>
              <a:t>0.6+0.3+0.8=1.7</a:t>
            </a:r>
          </a:p>
        </p:txBody>
      </p:sp>
      <p:sp>
        <p:nvSpPr>
          <p:cNvPr id="68" name="Title 1">
            <a:extLst>
              <a:ext uri="{FF2B5EF4-FFF2-40B4-BE49-F238E27FC236}">
                <a16:creationId xmlns:a16="http://schemas.microsoft.com/office/drawing/2014/main" xmlns="" id="{75CA4650-586F-1B45-B159-3525C7A47E6A}"/>
              </a:ext>
            </a:extLst>
          </p:cNvPr>
          <p:cNvSpPr txBox="1">
            <a:spLocks/>
          </p:cNvSpPr>
          <p:nvPr/>
        </p:nvSpPr>
        <p:spPr bwMode="auto">
          <a:xfrm>
            <a:off x="1023261" y="6064188"/>
            <a:ext cx="4860631"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pPr algn="ctr"/>
            <a:r>
              <a:rPr lang="en-US" sz="2400" dirty="0"/>
              <a:t>Global inference via ILP</a:t>
            </a:r>
          </a:p>
        </p:txBody>
      </p:sp>
      <p:sp>
        <p:nvSpPr>
          <p:cNvPr id="69" name="Title 1">
            <a:extLst>
              <a:ext uri="{FF2B5EF4-FFF2-40B4-BE49-F238E27FC236}">
                <a16:creationId xmlns:a16="http://schemas.microsoft.com/office/drawing/2014/main" xmlns="" id="{E9E8089C-B974-4140-A14C-BBC06E800B31}"/>
              </a:ext>
            </a:extLst>
          </p:cNvPr>
          <p:cNvSpPr txBox="1">
            <a:spLocks/>
          </p:cNvSpPr>
          <p:nvPr/>
        </p:nvSpPr>
        <p:spPr bwMode="auto">
          <a:xfrm>
            <a:off x="916255" y="5267331"/>
            <a:ext cx="7311491"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pPr algn="ctr"/>
            <a:r>
              <a:rPr lang="en-US" sz="2400" dirty="0"/>
              <a:t>How should we formulate this procedure?</a:t>
            </a:r>
          </a:p>
        </p:txBody>
      </p:sp>
      <p:sp>
        <p:nvSpPr>
          <p:cNvPr id="37" name="TextBox 36">
            <a:extLst>
              <a:ext uri="{FF2B5EF4-FFF2-40B4-BE49-F238E27FC236}">
                <a16:creationId xmlns:a16="http://schemas.microsoft.com/office/drawing/2014/main" xmlns="" id="{77E12BAB-E193-2B47-834D-BEE4B2CB5112}"/>
              </a:ext>
            </a:extLst>
          </p:cNvPr>
          <p:cNvSpPr txBox="1"/>
          <p:nvPr/>
        </p:nvSpPr>
        <p:spPr>
          <a:xfrm>
            <a:off x="3820291" y="1649313"/>
            <a:ext cx="115127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Option 2</a:t>
            </a:r>
          </a:p>
        </p:txBody>
      </p:sp>
      <p:sp>
        <p:nvSpPr>
          <p:cNvPr id="3" name="TextBox 2">
            <a:extLst>
              <a:ext uri="{FF2B5EF4-FFF2-40B4-BE49-F238E27FC236}">
                <a16:creationId xmlns:a16="http://schemas.microsoft.com/office/drawing/2014/main" xmlns="" id="{28787ECE-D229-724D-A812-FA530F115ADF}"/>
              </a:ext>
            </a:extLst>
          </p:cNvPr>
          <p:cNvSpPr txBox="1"/>
          <p:nvPr/>
        </p:nvSpPr>
        <p:spPr>
          <a:xfrm>
            <a:off x="5313423" y="6153008"/>
            <a:ext cx="2125903" cy="369332"/>
          </a:xfrm>
          <a:prstGeom prst="rect">
            <a:avLst/>
          </a:prstGeom>
          <a:noFill/>
        </p:spPr>
        <p:txBody>
          <a:bodyPr wrap="none" rtlCol="0">
            <a:spAutoFit/>
          </a:bodyPr>
          <a:lstStyle/>
          <a:p>
            <a:r>
              <a:rPr lang="en-US" i="1" dirty="0">
                <a:solidFill>
                  <a:schemeClr val="bg2"/>
                </a:solidFill>
                <a:latin typeface="Century Gothic" panose="020B0502020202020204" pitchFamily="34" charset="0"/>
              </a:rPr>
              <a:t>[Roth &amp; </a:t>
            </a:r>
            <a:r>
              <a:rPr lang="en-US" i="1" dirty="0" err="1">
                <a:solidFill>
                  <a:schemeClr val="bg2"/>
                </a:solidFill>
                <a:latin typeface="Century Gothic" panose="020B0502020202020204" pitchFamily="34" charset="0"/>
              </a:rPr>
              <a:t>Yih</a:t>
            </a:r>
            <a:r>
              <a:rPr lang="en-US" i="1" dirty="0">
                <a:solidFill>
                  <a:schemeClr val="bg2"/>
                </a:solidFill>
                <a:latin typeface="Century Gothic" panose="020B0502020202020204" pitchFamily="34" charset="0"/>
              </a:rPr>
              <a:t>, 2004]</a:t>
            </a:r>
          </a:p>
        </p:txBody>
      </p:sp>
      <p:sp>
        <p:nvSpPr>
          <p:cNvPr id="41" name="TextBox 40">
            <a:extLst>
              <a:ext uri="{FF2B5EF4-FFF2-40B4-BE49-F238E27FC236}">
                <a16:creationId xmlns:a16="http://schemas.microsoft.com/office/drawing/2014/main" xmlns="" id="{7867E129-5CD1-694A-9F31-410C0165B099}"/>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Tree>
    <p:extLst>
      <p:ext uri="{BB962C8B-B14F-4D97-AF65-F5344CB8AC3E}">
        <p14:creationId xmlns:p14="http://schemas.microsoft.com/office/powerpoint/2010/main" val="1335106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left)">
                                      <p:cBhvr>
                                        <p:cTn id="7" dur="5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68"/>
                                        </p:tgtEl>
                                        <p:attrNameLst>
                                          <p:attrName>style.visibility</p:attrName>
                                        </p:attrNameLst>
                                      </p:cBhvr>
                                      <p:to>
                                        <p:strVal val="visible"/>
                                      </p:to>
                                    </p:set>
                                    <p:anim calcmode="lin" valueType="num">
                                      <p:cBhvr>
                                        <p:cTn id="12" dur="1000" fill="hold"/>
                                        <p:tgtEl>
                                          <p:spTgt spid="68"/>
                                        </p:tgtEl>
                                        <p:attrNameLst>
                                          <p:attrName>ppt_w</p:attrName>
                                        </p:attrNameLst>
                                      </p:cBhvr>
                                      <p:tavLst>
                                        <p:tav tm="0">
                                          <p:val>
                                            <p:strVal val="#ppt_w*0.70"/>
                                          </p:val>
                                        </p:tav>
                                        <p:tav tm="100000">
                                          <p:val>
                                            <p:strVal val="#ppt_w"/>
                                          </p:val>
                                        </p:tav>
                                      </p:tavLst>
                                    </p:anim>
                                    <p:anim calcmode="lin" valueType="num">
                                      <p:cBhvr>
                                        <p:cTn id="13" dur="1000" fill="hold"/>
                                        <p:tgtEl>
                                          <p:spTgt spid="68"/>
                                        </p:tgtEl>
                                        <p:attrNameLst>
                                          <p:attrName>ppt_h</p:attrName>
                                        </p:attrNameLst>
                                      </p:cBhvr>
                                      <p:tavLst>
                                        <p:tav tm="0">
                                          <p:val>
                                            <p:strVal val="#ppt_h"/>
                                          </p:val>
                                        </p:tav>
                                        <p:tav tm="100000">
                                          <p:val>
                                            <p:strVal val="#ppt_h"/>
                                          </p:val>
                                        </p:tav>
                                      </p:tavLst>
                                    </p:anim>
                                    <p:animEffect transition="in" filter="fade">
                                      <p:cBhvr>
                                        <p:cTn id="14" dur="1000"/>
                                        <p:tgtEl>
                                          <p:spTgt spid="68"/>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1000" fill="hold"/>
                                        <p:tgtEl>
                                          <p:spTgt spid="3"/>
                                        </p:tgtEl>
                                        <p:attrNameLst>
                                          <p:attrName>ppt_w</p:attrName>
                                        </p:attrNameLst>
                                      </p:cBhvr>
                                      <p:tavLst>
                                        <p:tav tm="0">
                                          <p:val>
                                            <p:strVal val="#ppt_w*0.70"/>
                                          </p:val>
                                        </p:tav>
                                        <p:tav tm="100000">
                                          <p:val>
                                            <p:strVal val="#ppt_w"/>
                                          </p:val>
                                        </p:tav>
                                      </p:tavLst>
                                    </p:anim>
                                    <p:anim calcmode="lin" valueType="num">
                                      <p:cBhvr>
                                        <p:cTn id="18" dur="1000" fill="hold"/>
                                        <p:tgtEl>
                                          <p:spTgt spid="3"/>
                                        </p:tgtEl>
                                        <p:attrNameLst>
                                          <p:attrName>ppt_h</p:attrName>
                                        </p:attrNameLst>
                                      </p:cBhvr>
                                      <p:tavLst>
                                        <p:tav tm="0">
                                          <p:val>
                                            <p:strVal val="#ppt_h"/>
                                          </p:val>
                                        </p:tav>
                                        <p:tav tm="100000">
                                          <p:val>
                                            <p:strVal val="#ppt_h"/>
                                          </p:val>
                                        </p:tav>
                                      </p:tavLst>
                                    </p:anim>
                                    <p:animEffect transition="in" filter="fade">
                                      <p:cBhvr>
                                        <p:cTn id="1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F02C4E20-21E9-49F2-99C9-0CA78E0DF464}"/>
                  </a:ext>
                </a:extLst>
              </p:cNvPr>
              <p:cNvSpPr>
                <a:spLocks noGrp="1"/>
              </p:cNvSpPr>
              <p:nvPr>
                <p:ph idx="4294967295"/>
              </p:nvPr>
            </p:nvSpPr>
            <p:spPr>
              <a:xfrm>
                <a:off x="609600" y="1219200"/>
                <a:ext cx="8534400" cy="5181600"/>
              </a:xfrm>
            </p:spPr>
            <p:txBody>
              <a:bodyPr/>
              <a:lstStyle/>
              <a:p>
                <a:pPr marL="0" indent="0">
                  <a:buNone/>
                </a:pPr>
                <a:r>
                  <a:rPr lang="en-US" dirty="0"/>
                  <a:t>Integer Linear Programming (ILP)</a:t>
                </a:r>
              </a:p>
              <a:p>
                <a:pPr lvl="1"/>
                <a:endParaRPr lang="en-US" dirty="0">
                  <a:solidFill>
                    <a:srgbClr val="7030A0"/>
                  </a:solidFill>
                </a:endParaRPr>
              </a:p>
              <a:p>
                <a:pPr marL="457200" lvl="1" indent="0">
                  <a:buNone/>
                </a:pPr>
                <a14:m>
                  <m:oMathPara xmlns:m="http://schemas.openxmlformats.org/officeDocument/2006/math">
                    <m:oMathParaPr>
                      <m:jc m:val="centerGroup"/>
                    </m:oMathParaPr>
                    <m:oMath xmlns:m="http://schemas.openxmlformats.org/officeDocument/2006/math">
                      <m:acc>
                        <m:accPr>
                          <m:chr m:val="̂"/>
                          <m:ctrlPr>
                            <a:rPr lang="en-US" b="0" i="1" smtClean="0">
                              <a:solidFill>
                                <a:schemeClr val="bg2"/>
                              </a:solidFill>
                              <a:latin typeface="Cambria Math" charset="0"/>
                            </a:rPr>
                          </m:ctrlPr>
                        </m:accPr>
                        <m:e>
                          <m:r>
                            <a:rPr lang="en-US" b="0" i="1" smtClean="0">
                              <a:solidFill>
                                <a:schemeClr val="bg2"/>
                              </a:solidFill>
                              <a:latin typeface="Cambria Math" panose="02040503050406030204" pitchFamily="18" charset="0"/>
                            </a:rPr>
                            <m:t>𝐼</m:t>
                          </m:r>
                        </m:e>
                      </m:acc>
                      <m:r>
                        <a:rPr lang="en-US" b="0" i="1" dirty="0" smtClean="0">
                          <a:solidFill>
                            <a:schemeClr val="bg2"/>
                          </a:solidFill>
                          <a:latin typeface="Cambria Math" panose="02040503050406030204" pitchFamily="18" charset="0"/>
                        </a:rPr>
                        <m:t>=</m:t>
                      </m:r>
                      <m:r>
                        <a:rPr lang="en-US" b="0" i="1" dirty="0" smtClean="0">
                          <a:solidFill>
                            <a:schemeClr val="bg2"/>
                          </a:solidFill>
                          <a:latin typeface="Cambria Math" panose="02040503050406030204" pitchFamily="18" charset="0"/>
                        </a:rPr>
                        <m:t>𝑎𝑟𝑔</m:t>
                      </m:r>
                      <m:func>
                        <m:funcPr>
                          <m:ctrlPr>
                            <a:rPr lang="en-US" b="0" i="1" dirty="0" smtClean="0">
                              <a:solidFill>
                                <a:schemeClr val="bg2"/>
                              </a:solidFill>
                              <a:latin typeface="Cambria Math" charset="0"/>
                            </a:rPr>
                          </m:ctrlPr>
                        </m:funcPr>
                        <m:fName>
                          <m:limLow>
                            <m:limLowPr>
                              <m:ctrlPr>
                                <a:rPr lang="en-US" b="0" i="1" dirty="0" smtClean="0">
                                  <a:solidFill>
                                    <a:schemeClr val="bg2"/>
                                  </a:solidFill>
                                  <a:latin typeface="Cambria Math" charset="0"/>
                                </a:rPr>
                              </m:ctrlPr>
                            </m:limLowPr>
                            <m:e>
                              <m:r>
                                <m:rPr>
                                  <m:sty m:val="p"/>
                                </m:rPr>
                                <a:rPr lang="en-US" b="0" i="0" dirty="0" smtClean="0">
                                  <a:solidFill>
                                    <a:schemeClr val="bg2"/>
                                  </a:solidFill>
                                  <a:latin typeface="Cambria Math" panose="02040503050406030204" pitchFamily="18" charset="0"/>
                                </a:rPr>
                                <m:t>m</m:t>
                              </m:r>
                              <m:r>
                                <m:rPr>
                                  <m:sty m:val="p"/>
                                </m:rPr>
                                <a:rPr lang="en-US" b="0" i="0" dirty="0" smtClean="0">
                                  <a:solidFill>
                                    <a:schemeClr val="bg2"/>
                                  </a:solidFill>
                                  <a:latin typeface="Cambria Math" charset="0"/>
                                </a:rPr>
                                <m:t>ax</m:t>
                              </m:r>
                            </m:e>
                            <m:lim>
                              <m:r>
                                <a:rPr lang="en-US" b="0" i="1" dirty="0" smtClean="0">
                                  <a:solidFill>
                                    <a:schemeClr val="bg2"/>
                                  </a:solidFill>
                                  <a:latin typeface="Cambria Math" panose="02040503050406030204" pitchFamily="18" charset="0"/>
                                </a:rPr>
                                <m:t>𝐼</m:t>
                              </m:r>
                            </m:lim>
                          </m:limLow>
                        </m:fName>
                        <m:e>
                          <m:nary>
                            <m:naryPr>
                              <m:chr m:val="∑"/>
                              <m:supHide m:val="on"/>
                              <m:ctrlPr>
                                <a:rPr lang="en-US" b="0" i="1" dirty="0" smtClean="0">
                                  <a:solidFill>
                                    <a:schemeClr val="bg2"/>
                                  </a:solidFill>
                                  <a:latin typeface="Cambria Math" charset="0"/>
                                </a:rPr>
                              </m:ctrlPr>
                            </m:naryPr>
                            <m:sub>
                              <m:r>
                                <a:rPr lang="en-US" b="0" i="1" dirty="0" smtClean="0">
                                  <a:solidFill>
                                    <a:schemeClr val="bg2"/>
                                  </a:solidFill>
                                  <a:latin typeface="Cambria Math" panose="02040503050406030204" pitchFamily="18" charset="0"/>
                                </a:rPr>
                                <m:t>𝑖</m:t>
                              </m:r>
                              <m:r>
                                <a:rPr lang="en-US" b="0" i="1" dirty="0" smtClean="0">
                                  <a:solidFill>
                                    <a:schemeClr val="bg2"/>
                                  </a:solidFill>
                                  <a:latin typeface="Cambria Math" panose="02040503050406030204" pitchFamily="18" charset="0"/>
                                </a:rPr>
                                <m:t>&lt;</m:t>
                              </m:r>
                              <m:r>
                                <a:rPr lang="en-US" b="0" i="1" dirty="0" smtClean="0">
                                  <a:solidFill>
                                    <a:schemeClr val="bg2"/>
                                  </a:solidFill>
                                  <a:latin typeface="Cambria Math" panose="02040503050406030204" pitchFamily="18" charset="0"/>
                                </a:rPr>
                                <m:t>𝑗</m:t>
                              </m:r>
                            </m:sub>
                            <m:sup/>
                            <m:e>
                              <m:nary>
                                <m:naryPr>
                                  <m:chr m:val="∑"/>
                                  <m:supHide m:val="on"/>
                                  <m:ctrlPr>
                                    <a:rPr lang="en-US" b="0" i="1" dirty="0" smtClean="0">
                                      <a:solidFill>
                                        <a:schemeClr val="bg2"/>
                                      </a:solidFill>
                                      <a:latin typeface="Cambria Math" charset="0"/>
                                    </a:rPr>
                                  </m:ctrlPr>
                                </m:naryPr>
                                <m:sub>
                                  <m:r>
                                    <a:rPr lang="en-US" b="0" i="1" dirty="0" smtClean="0">
                                      <a:solidFill>
                                        <a:schemeClr val="bg2"/>
                                      </a:solidFill>
                                      <a:latin typeface="Cambria Math" panose="02040503050406030204" pitchFamily="18" charset="0"/>
                                    </a:rPr>
                                    <m:t>𝑟</m:t>
                                  </m:r>
                                </m:sub>
                                <m:sup/>
                                <m:e>
                                  <m:sSub>
                                    <m:sSubPr>
                                      <m:ctrlPr>
                                        <a:rPr lang="en-US" b="0" i="1" dirty="0" smtClean="0">
                                          <a:solidFill>
                                            <a:schemeClr val="bg2"/>
                                          </a:solidFill>
                                          <a:latin typeface="Cambria Math" charset="0"/>
                                        </a:rPr>
                                      </m:ctrlPr>
                                    </m:sSubPr>
                                    <m:e>
                                      <m:r>
                                        <a:rPr lang="en-US" b="0" i="1" dirty="0" smtClean="0">
                                          <a:solidFill>
                                            <a:schemeClr val="bg2"/>
                                          </a:solidFill>
                                          <a:latin typeface="Cambria Math" panose="02040503050406030204" pitchFamily="18" charset="0"/>
                                        </a:rPr>
                                        <m:t>𝑓</m:t>
                                      </m:r>
                                    </m:e>
                                    <m:sub>
                                      <m:r>
                                        <a:rPr lang="en-US" b="0" i="1" dirty="0" smtClean="0">
                                          <a:solidFill>
                                            <a:schemeClr val="bg2"/>
                                          </a:solidFill>
                                          <a:latin typeface="Cambria Math" panose="02040503050406030204" pitchFamily="18" charset="0"/>
                                        </a:rPr>
                                        <m:t>𝑟</m:t>
                                      </m:r>
                                    </m:sub>
                                  </m:sSub>
                                  <m:d>
                                    <m:dPr>
                                      <m:ctrlPr>
                                        <a:rPr lang="en-US" b="0" i="1" dirty="0" smtClean="0">
                                          <a:solidFill>
                                            <a:schemeClr val="bg2"/>
                                          </a:solidFill>
                                          <a:latin typeface="Cambria Math" charset="0"/>
                                        </a:rPr>
                                      </m:ctrlPr>
                                    </m:dPr>
                                    <m:e>
                                      <m:r>
                                        <a:rPr lang="en-US" b="0" i="1" dirty="0" smtClean="0">
                                          <a:solidFill>
                                            <a:schemeClr val="bg2"/>
                                          </a:solidFill>
                                          <a:latin typeface="Cambria Math" panose="02040503050406030204" pitchFamily="18" charset="0"/>
                                        </a:rPr>
                                        <m:t>𝑖𝑗</m:t>
                                      </m:r>
                                    </m:e>
                                  </m:d>
                                  <m:sSub>
                                    <m:sSubPr>
                                      <m:ctrlPr>
                                        <a:rPr lang="en-US" b="0" i="1" dirty="0" smtClean="0">
                                          <a:solidFill>
                                            <a:schemeClr val="bg2"/>
                                          </a:solidFill>
                                          <a:latin typeface="Cambria Math" charset="0"/>
                                        </a:rPr>
                                      </m:ctrlPr>
                                    </m:sSubPr>
                                    <m:e>
                                      <m:r>
                                        <a:rPr lang="en-US" b="0" i="1" dirty="0" smtClean="0">
                                          <a:solidFill>
                                            <a:schemeClr val="bg2"/>
                                          </a:solidFill>
                                          <a:latin typeface="Cambria Math" panose="02040503050406030204" pitchFamily="18" charset="0"/>
                                        </a:rPr>
                                        <m:t>𝐼</m:t>
                                      </m:r>
                                    </m:e>
                                    <m:sub>
                                      <m:r>
                                        <a:rPr lang="en-US" b="0" i="1" dirty="0" smtClean="0">
                                          <a:solidFill>
                                            <a:schemeClr val="bg2"/>
                                          </a:solidFill>
                                          <a:latin typeface="Cambria Math" panose="02040503050406030204" pitchFamily="18" charset="0"/>
                                        </a:rPr>
                                        <m:t>𝑟</m:t>
                                      </m:r>
                                    </m:sub>
                                  </m:sSub>
                                  <m:r>
                                    <a:rPr lang="en-US" b="0" i="1" dirty="0" smtClean="0">
                                      <a:solidFill>
                                        <a:schemeClr val="bg2"/>
                                      </a:solidFill>
                                      <a:latin typeface="Cambria Math" panose="02040503050406030204" pitchFamily="18" charset="0"/>
                                    </a:rPr>
                                    <m:t>(</m:t>
                                  </m:r>
                                  <m:r>
                                    <a:rPr lang="en-US" b="0" i="1" dirty="0" smtClean="0">
                                      <a:solidFill>
                                        <a:schemeClr val="bg2"/>
                                      </a:solidFill>
                                      <a:latin typeface="Cambria Math" panose="02040503050406030204" pitchFamily="18" charset="0"/>
                                    </a:rPr>
                                    <m:t>𝑖𝑗</m:t>
                                  </m:r>
                                  <m:r>
                                    <a:rPr lang="en-US" b="0" i="1" dirty="0" smtClean="0">
                                      <a:solidFill>
                                        <a:schemeClr val="bg2"/>
                                      </a:solidFill>
                                      <a:latin typeface="Cambria Math" panose="02040503050406030204" pitchFamily="18" charset="0"/>
                                    </a:rPr>
                                    <m:t>)</m:t>
                                  </m:r>
                                </m:e>
                              </m:nary>
                            </m:e>
                          </m:nary>
                        </m:e>
                      </m:func>
                    </m:oMath>
                  </m:oMathPara>
                </a14:m>
                <a:endParaRPr lang="en-US" b="0" dirty="0">
                  <a:solidFill>
                    <a:schemeClr val="bg2"/>
                  </a:solidFill>
                </a:endParaRPr>
              </a:p>
              <a:p>
                <a:pPr marL="457200" lvl="1" indent="0">
                  <a:buNone/>
                </a:pPr>
                <a:r>
                  <a:rPr lang="en-US" dirty="0">
                    <a:solidFill>
                      <a:schemeClr val="bg2"/>
                    </a:solidFill>
                  </a:rPr>
                  <a:t>s.t. </a:t>
                </a:r>
                <a14:m>
                  <m:oMath xmlns:m="http://schemas.openxmlformats.org/officeDocument/2006/math">
                    <m:r>
                      <a:rPr lang="en-US" b="0" i="1" smtClean="0">
                        <a:solidFill>
                          <a:schemeClr val="bg2"/>
                        </a:solidFill>
                        <a:latin typeface="Cambria Math" panose="02040503050406030204" pitchFamily="18" charset="0"/>
                      </a:rPr>
                      <m:t>∀</m:t>
                    </m:r>
                    <m:r>
                      <a:rPr lang="en-US" b="0" i="1" smtClean="0">
                        <a:solidFill>
                          <a:schemeClr val="bg2"/>
                        </a:solidFill>
                        <a:latin typeface="Cambria Math" panose="02040503050406030204" pitchFamily="18" charset="0"/>
                      </a:rPr>
                      <m:t>𝑖</m:t>
                    </m:r>
                    <m:r>
                      <a:rPr lang="en-US" b="0" i="1" smtClean="0">
                        <a:solidFill>
                          <a:schemeClr val="bg2"/>
                        </a:solidFill>
                        <a:latin typeface="Cambria Math" panose="02040503050406030204" pitchFamily="18" charset="0"/>
                      </a:rPr>
                      <m:t>,</m:t>
                    </m:r>
                    <m:r>
                      <a:rPr lang="en-US" b="0" i="1" smtClean="0">
                        <a:solidFill>
                          <a:schemeClr val="bg2"/>
                        </a:solidFill>
                        <a:latin typeface="Cambria Math" panose="02040503050406030204" pitchFamily="18" charset="0"/>
                      </a:rPr>
                      <m:t>𝑗</m:t>
                    </m:r>
                    <m:r>
                      <a:rPr lang="en-US" b="0" i="1" smtClean="0">
                        <a:solidFill>
                          <a:schemeClr val="bg2"/>
                        </a:solidFill>
                        <a:latin typeface="Cambria Math" panose="02040503050406030204" pitchFamily="18" charset="0"/>
                      </a:rPr>
                      <m:t>,</m:t>
                    </m:r>
                    <m:r>
                      <a:rPr lang="en-US" b="0" i="1" smtClean="0">
                        <a:solidFill>
                          <a:schemeClr val="bg2"/>
                        </a:solidFill>
                        <a:latin typeface="Cambria Math" panose="02040503050406030204" pitchFamily="18" charset="0"/>
                      </a:rPr>
                      <m:t>𝑘</m:t>
                    </m:r>
                  </m:oMath>
                </a14:m>
                <a:endParaRPr lang="en-US" b="0" dirty="0">
                  <a:solidFill>
                    <a:schemeClr val="bg2"/>
                  </a:solidFill>
                </a:endParaRPr>
              </a:p>
              <a:p>
                <a:pPr marL="457200" lvl="1"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solidFill>
                                <a:schemeClr val="bg2"/>
                              </a:solidFill>
                              <a:latin typeface="Cambria Math" charset="0"/>
                            </a:rPr>
                          </m:ctrlPr>
                        </m:naryPr>
                        <m:sub>
                          <m:r>
                            <a:rPr lang="en-US" b="0" i="1" smtClean="0">
                              <a:solidFill>
                                <a:schemeClr val="bg2"/>
                              </a:solidFill>
                              <a:latin typeface="Cambria Math" panose="02040503050406030204" pitchFamily="18" charset="0"/>
                            </a:rPr>
                            <m:t>𝑟</m:t>
                          </m:r>
                        </m:sub>
                        <m:sup/>
                        <m:e>
                          <m:sSub>
                            <m:sSubPr>
                              <m:ctrlPr>
                                <a:rPr lang="en-US" b="0" i="1" smtClean="0">
                                  <a:solidFill>
                                    <a:schemeClr val="bg2"/>
                                  </a:solidFill>
                                  <a:latin typeface="Cambria Math" charset="0"/>
                                </a:rPr>
                              </m:ctrlPr>
                            </m:sSubPr>
                            <m:e>
                              <m:r>
                                <a:rPr lang="en-US" b="0" i="1" smtClean="0">
                                  <a:solidFill>
                                    <a:schemeClr val="bg2"/>
                                  </a:solidFill>
                                  <a:latin typeface="Cambria Math" panose="02040503050406030204" pitchFamily="18" charset="0"/>
                                </a:rPr>
                                <m:t>𝐼</m:t>
                              </m:r>
                            </m:e>
                            <m:sub>
                              <m:r>
                                <a:rPr lang="en-US" b="0" i="1" smtClean="0">
                                  <a:solidFill>
                                    <a:schemeClr val="bg2"/>
                                  </a:solidFill>
                                  <a:latin typeface="Cambria Math" panose="02040503050406030204" pitchFamily="18" charset="0"/>
                                </a:rPr>
                                <m:t>𝑟</m:t>
                              </m:r>
                            </m:sub>
                          </m:sSub>
                          <m:d>
                            <m:dPr>
                              <m:ctrlPr>
                                <a:rPr lang="en-US" b="0" i="1" smtClean="0">
                                  <a:solidFill>
                                    <a:schemeClr val="bg2"/>
                                  </a:solidFill>
                                  <a:latin typeface="Cambria Math" charset="0"/>
                                </a:rPr>
                              </m:ctrlPr>
                            </m:dPr>
                            <m:e>
                              <m:r>
                                <a:rPr lang="en-US" b="0" i="1" smtClean="0">
                                  <a:solidFill>
                                    <a:schemeClr val="bg2"/>
                                  </a:solidFill>
                                  <a:latin typeface="Cambria Math" panose="02040503050406030204" pitchFamily="18" charset="0"/>
                                </a:rPr>
                                <m:t>𝑖𝑗</m:t>
                              </m:r>
                            </m:e>
                          </m:d>
                        </m:e>
                      </m:nary>
                      <m:r>
                        <a:rPr lang="en-US" b="0" i="1" smtClean="0">
                          <a:solidFill>
                            <a:schemeClr val="bg2"/>
                          </a:solidFill>
                          <a:latin typeface="Cambria Math" panose="02040503050406030204" pitchFamily="18" charset="0"/>
                        </a:rPr>
                        <m:t>=1,  </m:t>
                      </m:r>
                      <m:sSub>
                        <m:sSubPr>
                          <m:ctrlPr>
                            <a:rPr lang="en-US" i="1">
                              <a:solidFill>
                                <a:schemeClr val="bg2"/>
                              </a:solidFill>
                              <a:latin typeface="Cambria Math" charset="0"/>
                            </a:rPr>
                          </m:ctrlPr>
                        </m:sSubPr>
                        <m:e>
                          <m:r>
                            <a:rPr lang="en-US" i="1">
                              <a:solidFill>
                                <a:schemeClr val="bg2"/>
                              </a:solidFill>
                              <a:latin typeface="Cambria Math" panose="02040503050406030204" pitchFamily="18" charset="0"/>
                            </a:rPr>
                            <m:t>𝐼</m:t>
                          </m:r>
                        </m:e>
                        <m:sub>
                          <m:r>
                            <a:rPr lang="en-US" i="1">
                              <a:solidFill>
                                <a:schemeClr val="bg2"/>
                              </a:solidFill>
                              <a:latin typeface="Cambria Math" panose="02040503050406030204" pitchFamily="18" charset="0"/>
                            </a:rPr>
                            <m:t>𝑟</m:t>
                          </m:r>
                          <m:r>
                            <a:rPr lang="en-US" i="1">
                              <a:solidFill>
                                <a:schemeClr val="bg2"/>
                              </a:solidFill>
                              <a:latin typeface="Cambria Math" panose="02040503050406030204" pitchFamily="18" charset="0"/>
                            </a:rPr>
                            <m:t>1</m:t>
                          </m:r>
                        </m:sub>
                      </m:sSub>
                      <m:d>
                        <m:dPr>
                          <m:ctrlPr>
                            <a:rPr lang="en-US" i="1">
                              <a:solidFill>
                                <a:schemeClr val="bg2"/>
                              </a:solidFill>
                              <a:latin typeface="Cambria Math" charset="0"/>
                            </a:rPr>
                          </m:ctrlPr>
                        </m:dPr>
                        <m:e>
                          <m:r>
                            <a:rPr lang="en-US" i="1">
                              <a:solidFill>
                                <a:schemeClr val="bg2"/>
                              </a:solidFill>
                              <a:latin typeface="Cambria Math" panose="02040503050406030204" pitchFamily="18" charset="0"/>
                            </a:rPr>
                            <m:t>𝑖𝑗</m:t>
                          </m:r>
                        </m:e>
                      </m:d>
                      <m:r>
                        <a:rPr lang="en-US" i="1">
                          <a:solidFill>
                            <a:schemeClr val="bg2"/>
                          </a:solidFill>
                          <a:latin typeface="Cambria Math" panose="02040503050406030204" pitchFamily="18" charset="0"/>
                        </a:rPr>
                        <m:t>+</m:t>
                      </m:r>
                      <m:sSub>
                        <m:sSubPr>
                          <m:ctrlPr>
                            <a:rPr lang="en-US" i="1">
                              <a:solidFill>
                                <a:schemeClr val="bg2"/>
                              </a:solidFill>
                              <a:latin typeface="Cambria Math" charset="0"/>
                            </a:rPr>
                          </m:ctrlPr>
                        </m:sSubPr>
                        <m:e>
                          <m:r>
                            <a:rPr lang="en-US" i="1">
                              <a:solidFill>
                                <a:schemeClr val="bg2"/>
                              </a:solidFill>
                              <a:latin typeface="Cambria Math" panose="02040503050406030204" pitchFamily="18" charset="0"/>
                            </a:rPr>
                            <m:t>𝐼</m:t>
                          </m:r>
                        </m:e>
                        <m:sub>
                          <m:r>
                            <a:rPr lang="en-US" i="1">
                              <a:solidFill>
                                <a:schemeClr val="bg2"/>
                              </a:solidFill>
                              <a:latin typeface="Cambria Math" panose="02040503050406030204" pitchFamily="18" charset="0"/>
                            </a:rPr>
                            <m:t>𝑟</m:t>
                          </m:r>
                          <m:r>
                            <a:rPr lang="en-US" i="1">
                              <a:solidFill>
                                <a:schemeClr val="bg2"/>
                              </a:solidFill>
                              <a:latin typeface="Cambria Math" panose="02040503050406030204" pitchFamily="18" charset="0"/>
                            </a:rPr>
                            <m:t>2</m:t>
                          </m:r>
                        </m:sub>
                      </m:sSub>
                      <m:d>
                        <m:dPr>
                          <m:ctrlPr>
                            <a:rPr lang="en-US" i="1">
                              <a:solidFill>
                                <a:schemeClr val="bg2"/>
                              </a:solidFill>
                              <a:latin typeface="Cambria Math" charset="0"/>
                            </a:rPr>
                          </m:ctrlPr>
                        </m:dPr>
                        <m:e>
                          <m:r>
                            <a:rPr lang="en-US" i="1">
                              <a:solidFill>
                                <a:schemeClr val="bg2"/>
                              </a:solidFill>
                              <a:latin typeface="Cambria Math" panose="02040503050406030204" pitchFamily="18" charset="0"/>
                            </a:rPr>
                            <m:t>𝑗𝑘</m:t>
                          </m:r>
                        </m:e>
                      </m:d>
                      <m:r>
                        <a:rPr lang="en-US" i="1">
                          <a:solidFill>
                            <a:schemeClr val="bg2"/>
                          </a:solidFill>
                          <a:latin typeface="Cambria Math" panose="02040503050406030204" pitchFamily="18" charset="0"/>
                        </a:rPr>
                        <m:t>−</m:t>
                      </m:r>
                      <m:sSub>
                        <m:sSubPr>
                          <m:ctrlPr>
                            <a:rPr lang="en-US" i="1">
                              <a:solidFill>
                                <a:schemeClr val="bg2"/>
                              </a:solidFill>
                              <a:latin typeface="Cambria Math" charset="0"/>
                            </a:rPr>
                          </m:ctrlPr>
                        </m:sSubPr>
                        <m:e>
                          <m:r>
                            <a:rPr lang="en-US" i="1">
                              <a:solidFill>
                                <a:schemeClr val="bg2"/>
                              </a:solidFill>
                              <a:latin typeface="Cambria Math" panose="02040503050406030204" pitchFamily="18" charset="0"/>
                            </a:rPr>
                            <m:t>𝐼</m:t>
                          </m:r>
                        </m:e>
                        <m:sub>
                          <m:r>
                            <a:rPr lang="en-US" i="1">
                              <a:solidFill>
                                <a:schemeClr val="bg2"/>
                              </a:solidFill>
                              <a:latin typeface="Cambria Math" panose="02040503050406030204" pitchFamily="18" charset="0"/>
                            </a:rPr>
                            <m:t>𝑟</m:t>
                          </m:r>
                          <m:r>
                            <a:rPr lang="en-US" i="1">
                              <a:solidFill>
                                <a:schemeClr val="bg2"/>
                              </a:solidFill>
                              <a:latin typeface="Cambria Math" charset="0"/>
                            </a:rPr>
                            <m:t>3</m:t>
                          </m:r>
                        </m:sub>
                      </m:sSub>
                      <m:d>
                        <m:dPr>
                          <m:ctrlPr>
                            <a:rPr lang="en-US" i="1">
                              <a:solidFill>
                                <a:schemeClr val="bg2"/>
                              </a:solidFill>
                              <a:latin typeface="Cambria Math" charset="0"/>
                            </a:rPr>
                          </m:ctrlPr>
                        </m:dPr>
                        <m:e>
                          <m:r>
                            <a:rPr lang="en-US" i="1">
                              <a:solidFill>
                                <a:schemeClr val="bg2"/>
                              </a:solidFill>
                              <a:latin typeface="Cambria Math" charset="0"/>
                            </a:rPr>
                            <m:t>𝑖</m:t>
                          </m:r>
                          <m:r>
                            <a:rPr lang="en-US" i="1">
                              <a:solidFill>
                                <a:schemeClr val="bg2"/>
                              </a:solidFill>
                              <a:latin typeface="Cambria Math" panose="02040503050406030204" pitchFamily="18" charset="0"/>
                            </a:rPr>
                            <m:t>𝑘</m:t>
                          </m:r>
                        </m:e>
                      </m:d>
                      <m:r>
                        <a:rPr lang="en-US" i="1">
                          <a:solidFill>
                            <a:schemeClr val="bg2"/>
                          </a:solidFill>
                          <a:latin typeface="Cambria Math" panose="02040503050406030204" pitchFamily="18" charset="0"/>
                        </a:rPr>
                        <m:t>≤1</m:t>
                      </m:r>
                    </m:oMath>
                  </m:oMathPara>
                </a14:m>
                <a:endParaRPr lang="en-US" dirty="0">
                  <a:solidFill>
                    <a:schemeClr val="bg2"/>
                  </a:solidFill>
                </a:endParaRPr>
              </a:p>
              <a:p>
                <a:pPr marL="0" indent="0">
                  <a:buNone/>
                </a:pPr>
                <a:endParaRPr lang="en-US" dirty="0">
                  <a:solidFill>
                    <a:schemeClr val="bg2"/>
                  </a:solidFill>
                </a:endParaRPr>
              </a:p>
              <a:p>
                <a:pPr marL="0" indent="0">
                  <a:buNone/>
                </a:pPr>
                <a:r>
                  <a:rPr lang="en-US" dirty="0">
                    <a:solidFill>
                      <a:schemeClr val="bg2"/>
                    </a:solidFill>
                  </a:rPr>
                  <a:t>We’re maximizing the score of an entire graph </a:t>
                </a:r>
                <a:r>
                  <a:rPr lang="en-US" b="1" dirty="0">
                    <a:solidFill>
                      <a:schemeClr val="bg2"/>
                    </a:solidFill>
                  </a:rPr>
                  <a:t>while enforcing transitivity constraints</a:t>
                </a:r>
                <a:r>
                  <a:rPr lang="en-US" dirty="0">
                    <a:solidFill>
                      <a:schemeClr val="bg2"/>
                    </a:solidFill>
                  </a:rPr>
                  <a:t>.</a:t>
                </a:r>
              </a:p>
            </p:txBody>
          </p:sp>
        </mc:Choice>
        <mc:Fallback xmlns="">
          <p:sp>
            <p:nvSpPr>
              <p:cNvPr id="3" name="Content Placeholder 2">
                <a:extLst>
                  <a:ext uri="{FF2B5EF4-FFF2-40B4-BE49-F238E27FC236}">
                    <a16:creationId xmlns:a16="http://schemas.microsoft.com/office/drawing/2014/main" id="{F02C4E20-21E9-49F2-99C9-0CA78E0DF464}"/>
                  </a:ext>
                </a:extLst>
              </p:cNvPr>
              <p:cNvSpPr>
                <a:spLocks noGrp="1" noRot="1" noChangeAspect="1" noMove="1" noResize="1" noEditPoints="1" noAdjustHandles="1" noChangeArrowheads="1" noChangeShapeType="1" noTextEdit="1"/>
              </p:cNvSpPr>
              <p:nvPr>
                <p:ph idx="4294967295"/>
              </p:nvPr>
            </p:nvSpPr>
            <p:spPr>
              <a:xfrm>
                <a:off x="609600" y="1219200"/>
                <a:ext cx="8534400" cy="5181600"/>
              </a:xfrm>
              <a:blipFill>
                <a:blip r:embed="rId3"/>
                <a:stretch>
                  <a:fillRect l="-3274" t="-857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xmlns="" id="{E0CB617D-BD82-460A-81E8-D560F32C96B0}"/>
              </a:ext>
            </a:extLst>
          </p:cNvPr>
          <p:cNvSpPr txBox="1"/>
          <p:nvPr/>
        </p:nvSpPr>
        <p:spPr>
          <a:xfrm>
            <a:off x="1828800" y="4114800"/>
            <a:ext cx="1470935" cy="408623"/>
          </a:xfrm>
          <a:prstGeom prst="round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solidFill>
                  <a:schemeClr val="bg2"/>
                </a:solidFill>
                <a:latin typeface="Century Gothic" panose="020B0502020202020204" pitchFamily="34" charset="0"/>
              </a:rPr>
              <a:t>Uniqueness</a:t>
            </a:r>
          </a:p>
        </p:txBody>
      </p:sp>
      <p:sp>
        <p:nvSpPr>
          <p:cNvPr id="9" name="TextBox 8">
            <a:extLst>
              <a:ext uri="{FF2B5EF4-FFF2-40B4-BE49-F238E27FC236}">
                <a16:creationId xmlns:a16="http://schemas.microsoft.com/office/drawing/2014/main" xmlns="" id="{13C649FF-D4DE-4DDB-B1B8-730DA7C8DC8A}"/>
              </a:ext>
            </a:extLst>
          </p:cNvPr>
          <p:cNvSpPr txBox="1"/>
          <p:nvPr/>
        </p:nvSpPr>
        <p:spPr>
          <a:xfrm>
            <a:off x="4518935" y="4096259"/>
            <a:ext cx="2533386" cy="408623"/>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solidFill>
                  <a:schemeClr val="bg2"/>
                </a:solidFill>
                <a:latin typeface="Century Gothic" panose="020B0502020202020204" pitchFamily="34" charset="0"/>
              </a:rPr>
              <a:t>Transitivity (no loops)</a:t>
            </a:r>
          </a:p>
        </p:txBody>
      </p:sp>
      <p:sp>
        <p:nvSpPr>
          <p:cNvPr id="6" name="TextBox 5"/>
          <p:cNvSpPr txBox="1"/>
          <p:nvPr/>
        </p:nvSpPr>
        <p:spPr>
          <a:xfrm>
            <a:off x="6093556" y="2726982"/>
            <a:ext cx="2114681" cy="369332"/>
          </a:xfrm>
          <a:prstGeom prst="rect">
            <a:avLst/>
          </a:prstGeom>
          <a:noFill/>
        </p:spPr>
        <p:txBody>
          <a:bodyPr wrap="none" rtlCol="0">
            <a:spAutoFit/>
          </a:bodyPr>
          <a:lstStyle/>
          <a:p>
            <a:r>
              <a:rPr lang="en-US" dirty="0" err="1">
                <a:solidFill>
                  <a:srgbClr val="666089"/>
                </a:solidFill>
                <a:latin typeface="Century Gothic" panose="020B0502020202020204" pitchFamily="34" charset="0"/>
              </a:rPr>
              <a:t>boolean</a:t>
            </a:r>
            <a:r>
              <a:rPr lang="en-US" dirty="0">
                <a:solidFill>
                  <a:srgbClr val="666089"/>
                </a:solidFill>
                <a:latin typeface="Century Gothic" panose="020B0502020202020204" pitchFamily="34" charset="0"/>
              </a:rPr>
              <a:t> variable</a:t>
            </a:r>
          </a:p>
        </p:txBody>
      </p:sp>
      <p:sp>
        <p:nvSpPr>
          <p:cNvPr id="8" name="TextBox 7"/>
          <p:cNvSpPr txBox="1"/>
          <p:nvPr/>
        </p:nvSpPr>
        <p:spPr>
          <a:xfrm>
            <a:off x="4308346" y="1828800"/>
            <a:ext cx="1584088" cy="369332"/>
          </a:xfrm>
          <a:prstGeom prst="rect">
            <a:avLst/>
          </a:prstGeom>
          <a:noFill/>
        </p:spPr>
        <p:txBody>
          <a:bodyPr wrap="none" rtlCol="0">
            <a:spAutoFit/>
          </a:bodyPr>
          <a:lstStyle/>
          <a:p>
            <a:r>
              <a:rPr lang="en-US" dirty="0">
                <a:solidFill>
                  <a:srgbClr val="666089"/>
                </a:solidFill>
                <a:latin typeface="Century Gothic" panose="020B0502020202020204" pitchFamily="34" charset="0"/>
              </a:rPr>
              <a:t>real variable</a:t>
            </a:r>
          </a:p>
        </p:txBody>
      </p:sp>
      <p:sp>
        <p:nvSpPr>
          <p:cNvPr id="7" name="Rounded Rectangle 6"/>
          <p:cNvSpPr/>
          <p:nvPr/>
        </p:nvSpPr>
        <p:spPr>
          <a:xfrm>
            <a:off x="5943600" y="2345899"/>
            <a:ext cx="872168" cy="369332"/>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xmlns="" id="{3D3F8F46-05C1-024A-87CE-C4BF841F1AFE}"/>
                  </a:ext>
                </a:extLst>
              </p:cNvPr>
              <p:cNvSpPr txBox="1"/>
              <p:nvPr/>
            </p:nvSpPr>
            <p:spPr>
              <a:xfrm>
                <a:off x="6815768" y="87868"/>
                <a:ext cx="13043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charset="0"/>
                            </a:rPr>
                          </m:ctrlPr>
                        </m:sSubPr>
                        <m:e>
                          <m:r>
                            <a:rPr lang="en-US" i="1" dirty="0">
                              <a:solidFill>
                                <a:schemeClr val="bg2"/>
                              </a:solidFill>
                              <a:latin typeface="Cambria Math" panose="02040503050406030204" pitchFamily="18" charset="0"/>
                            </a:rPr>
                            <m:t>𝐼</m:t>
                          </m:r>
                        </m:e>
                        <m:sub>
                          <m:r>
                            <a:rPr lang="en-US" b="0" i="1" dirty="0" smtClean="0">
                              <a:solidFill>
                                <a:schemeClr val="bg2"/>
                              </a:solidFill>
                              <a:latin typeface="Cambria Math" panose="02040503050406030204" pitchFamily="18" charset="0"/>
                            </a:rPr>
                            <m:t>→</m:t>
                          </m:r>
                        </m:sub>
                      </m:sSub>
                      <m:d>
                        <m:dPr>
                          <m:ctrlPr>
                            <a:rPr lang="en-US" i="1" dirty="0">
                              <a:solidFill>
                                <a:schemeClr val="bg2"/>
                              </a:solidFill>
                              <a:latin typeface="Cambria Math" charset="0"/>
                            </a:rPr>
                          </m:ctrlPr>
                        </m:dPr>
                        <m:e>
                          <m:r>
                            <a:rPr lang="en-US" i="1" dirty="0">
                              <a:solidFill>
                                <a:schemeClr val="bg2"/>
                              </a:solidFill>
                              <a:latin typeface="Cambria Math" panose="02040503050406030204" pitchFamily="18" charset="0"/>
                            </a:rPr>
                            <m:t>𝑖𝑗</m:t>
                          </m:r>
                        </m:e>
                      </m:d>
                      <m:r>
                        <a:rPr lang="en-US" b="0" i="1" dirty="0" smtClean="0">
                          <a:solidFill>
                            <a:schemeClr val="bg2"/>
                          </a:solidFill>
                          <a:latin typeface="Cambria Math" panose="02040503050406030204" pitchFamily="18" charset="0"/>
                        </a:rPr>
                        <m:t>=1</m:t>
                      </m:r>
                    </m:oMath>
                  </m:oMathPara>
                </a14:m>
                <a:endParaRPr lang="en-US" dirty="0">
                  <a:solidFill>
                    <a:schemeClr val="bg2"/>
                  </a:solidFill>
                  <a:latin typeface="Century Gothic" panose="020B0502020202020204" pitchFamily="34" charset="0"/>
                </a:endParaRPr>
              </a:p>
            </p:txBody>
          </p:sp>
        </mc:Choice>
        <mc:Fallback xmlns="">
          <p:sp>
            <p:nvSpPr>
              <p:cNvPr id="15" name="TextBox 14">
                <a:extLst>
                  <a:ext uri="{FF2B5EF4-FFF2-40B4-BE49-F238E27FC236}">
                    <a16:creationId xmlns:a16="http://schemas.microsoft.com/office/drawing/2014/main" id="{3D3F8F46-05C1-024A-87CE-C4BF841F1AFE}"/>
                  </a:ext>
                </a:extLst>
              </p:cNvPr>
              <p:cNvSpPr txBox="1">
                <a:spLocks noRot="1" noChangeAspect="1" noMove="1" noResize="1" noEditPoints="1" noAdjustHandles="1" noChangeArrowheads="1" noChangeShapeType="1" noTextEdit="1"/>
              </p:cNvSpPr>
              <p:nvPr/>
            </p:nvSpPr>
            <p:spPr>
              <a:xfrm>
                <a:off x="6815768" y="87868"/>
                <a:ext cx="1304396" cy="369332"/>
              </a:xfrm>
              <a:prstGeom prst="rect">
                <a:avLst/>
              </a:prstGeom>
              <a:blipFill>
                <a:blip r:embed="rId4"/>
                <a:stretch>
                  <a:fillRect b="-13333"/>
                </a:stretch>
              </a:blipFill>
            </p:spPr>
            <p:txBody>
              <a:bodyPr/>
              <a:lstStyle/>
              <a:p>
                <a:r>
                  <a:rPr lang="en-US">
                    <a:noFill/>
                  </a:rPr>
                  <a:t> </a:t>
                </a:r>
              </a:p>
            </p:txBody>
          </p:sp>
        </mc:Fallback>
      </mc:AlternateContent>
      <p:sp>
        <p:nvSpPr>
          <p:cNvPr id="17" name="Title 1">
            <a:extLst>
              <a:ext uri="{FF2B5EF4-FFF2-40B4-BE49-F238E27FC236}">
                <a16:creationId xmlns:a16="http://schemas.microsoft.com/office/drawing/2014/main" xmlns="" id="{B9CE4E78-7AFD-2341-B94A-24E4A140DF8F}"/>
              </a:ext>
            </a:extLst>
          </p:cNvPr>
          <p:cNvSpPr txBox="1">
            <a:spLocks/>
          </p:cNvSpPr>
          <p:nvPr/>
        </p:nvSpPr>
        <p:spPr bwMode="auto">
          <a:xfrm>
            <a:off x="533400" y="182773"/>
            <a:ext cx="4860631"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t>Global inference via ILP</a:t>
            </a:r>
          </a:p>
        </p:txBody>
      </p:sp>
      <p:grpSp>
        <p:nvGrpSpPr>
          <p:cNvPr id="11" name="Group 10">
            <a:extLst>
              <a:ext uri="{FF2B5EF4-FFF2-40B4-BE49-F238E27FC236}">
                <a16:creationId xmlns:a16="http://schemas.microsoft.com/office/drawing/2014/main" xmlns="" id="{2CF67A6E-32F8-5B41-AB18-831ADFF4F659}"/>
              </a:ext>
            </a:extLst>
          </p:cNvPr>
          <p:cNvGrpSpPr/>
          <p:nvPr/>
        </p:nvGrpSpPr>
        <p:grpSpPr>
          <a:xfrm>
            <a:off x="5701934" y="655920"/>
            <a:ext cx="3024243" cy="411374"/>
            <a:chOff x="5701934" y="655920"/>
            <a:chExt cx="3024243" cy="411374"/>
          </a:xfrm>
        </p:grpSpPr>
        <p:grpSp>
          <p:nvGrpSpPr>
            <p:cNvPr id="16" name="Group 15">
              <a:extLst>
                <a:ext uri="{FF2B5EF4-FFF2-40B4-BE49-F238E27FC236}">
                  <a16:creationId xmlns:a16="http://schemas.microsoft.com/office/drawing/2014/main" xmlns="" id="{52B6E319-F6E3-E142-88C8-A66255FE176A}"/>
                </a:ext>
              </a:extLst>
            </p:cNvPr>
            <p:cNvGrpSpPr/>
            <p:nvPr/>
          </p:nvGrpSpPr>
          <p:grpSpPr>
            <a:xfrm>
              <a:off x="5701934" y="655920"/>
              <a:ext cx="3024243" cy="411374"/>
              <a:chOff x="6028653" y="823776"/>
              <a:chExt cx="3024243" cy="411374"/>
            </a:xfrm>
          </p:grpSpPr>
          <p:cxnSp>
            <p:nvCxnSpPr>
              <p:cNvPr id="12" name="Straight Arrow Connector 11">
                <a:extLst>
                  <a:ext uri="{FF2B5EF4-FFF2-40B4-BE49-F238E27FC236}">
                    <a16:creationId xmlns:a16="http://schemas.microsoft.com/office/drawing/2014/main" xmlns="" id="{3CAB12E8-9DBE-D448-8B03-3FA1EBD02030}"/>
                  </a:ext>
                </a:extLst>
              </p:cNvPr>
              <p:cNvCxnSpPr/>
              <p:nvPr/>
            </p:nvCxnSpPr>
            <p:spPr>
              <a:xfrm>
                <a:off x="7010400" y="914400"/>
                <a:ext cx="1676400" cy="0"/>
              </a:xfrm>
              <a:prstGeom prst="straightConnector1">
                <a:avLst/>
              </a:prstGeom>
              <a:ln w="38100">
                <a:solidFill>
                  <a:schemeClr val="tx1">
                    <a:lumMod val="50000"/>
                  </a:schemeClr>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32B3CA7F-2E20-5E47-B421-CCF6914F737A}"/>
                  </a:ext>
                </a:extLst>
              </p:cNvPr>
              <p:cNvSpPr txBox="1"/>
              <p:nvPr/>
            </p:nvSpPr>
            <p:spPr>
              <a:xfrm>
                <a:off x="6028653" y="865818"/>
                <a:ext cx="917239"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Event </a:t>
                </a:r>
                <a:r>
                  <a:rPr lang="en-US" dirty="0" err="1">
                    <a:solidFill>
                      <a:schemeClr val="bg2"/>
                    </a:solidFill>
                    <a:latin typeface="Century Gothic" panose="020B0502020202020204" pitchFamily="34" charset="0"/>
                  </a:rPr>
                  <a:t>i</a:t>
                </a:r>
                <a:endParaRPr lang="en-US" dirty="0">
                  <a:solidFill>
                    <a:schemeClr val="bg2"/>
                  </a:solidFill>
                  <a:latin typeface="Century Gothic" panose="020B0502020202020204" pitchFamily="34" charset="0"/>
                </a:endParaRPr>
              </a:p>
            </p:txBody>
          </p:sp>
          <p:sp>
            <p:nvSpPr>
              <p:cNvPr id="14" name="TextBox 13">
                <a:extLst>
                  <a:ext uri="{FF2B5EF4-FFF2-40B4-BE49-F238E27FC236}">
                    <a16:creationId xmlns:a16="http://schemas.microsoft.com/office/drawing/2014/main" xmlns="" id="{8BDFDF59-4395-6543-A259-65419609F901}"/>
                  </a:ext>
                </a:extLst>
              </p:cNvPr>
              <p:cNvSpPr txBox="1"/>
              <p:nvPr/>
            </p:nvSpPr>
            <p:spPr>
              <a:xfrm>
                <a:off x="8821742" y="823776"/>
                <a:ext cx="231154"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j</a:t>
                </a:r>
              </a:p>
            </p:txBody>
          </p:sp>
        </p:grpSp>
        <p:cxnSp>
          <p:nvCxnSpPr>
            <p:cNvPr id="19" name="Straight Arrow Connector 18">
              <a:extLst>
                <a:ext uri="{FF2B5EF4-FFF2-40B4-BE49-F238E27FC236}">
                  <a16:creationId xmlns:a16="http://schemas.microsoft.com/office/drawing/2014/main" xmlns="" id="{4DABB494-E7DF-FF46-98B0-1179AB6B5D88}"/>
                </a:ext>
              </a:extLst>
            </p:cNvPr>
            <p:cNvCxnSpPr>
              <a:cxnSpLocks/>
            </p:cNvCxnSpPr>
            <p:nvPr/>
          </p:nvCxnSpPr>
          <p:spPr>
            <a:xfrm flipH="1">
              <a:off x="6619173" y="990600"/>
              <a:ext cx="1639619" cy="0"/>
            </a:xfrm>
            <a:prstGeom prst="straightConnector1">
              <a:avLst/>
            </a:prstGeom>
            <a:ln w="38100">
              <a:solidFill>
                <a:schemeClr val="tx1">
                  <a:lumMod val="50000"/>
                </a:schemeClr>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xmlns="" id="{EDFCE5D8-1E99-F74F-A10A-BBB7F92D24FB}"/>
                  </a:ext>
                </a:extLst>
              </p:cNvPr>
              <p:cNvSpPr txBox="1"/>
              <p:nvPr/>
            </p:nvSpPr>
            <p:spPr>
              <a:xfrm>
                <a:off x="6832685" y="1303426"/>
                <a:ext cx="12563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charset="0"/>
                            </a:rPr>
                          </m:ctrlPr>
                        </m:sSubPr>
                        <m:e>
                          <m:r>
                            <a:rPr lang="en-US" i="1" dirty="0">
                              <a:solidFill>
                                <a:schemeClr val="bg2"/>
                              </a:solidFill>
                              <a:latin typeface="Cambria Math" panose="02040503050406030204" pitchFamily="18" charset="0"/>
                            </a:rPr>
                            <m:t>𝐼</m:t>
                          </m:r>
                        </m:e>
                        <m:sub>
                          <m:r>
                            <a:rPr lang="en-US" i="1" dirty="0">
                              <a:solidFill>
                                <a:schemeClr val="bg2"/>
                              </a:solidFill>
                              <a:latin typeface="Cambria Math" panose="02040503050406030204" pitchFamily="18" charset="0"/>
                              <a:ea typeface="Cambria Math" panose="02040503050406030204" pitchFamily="18" charset="0"/>
                            </a:rPr>
                            <m:t>←</m:t>
                          </m:r>
                        </m:sub>
                      </m:sSub>
                      <m:d>
                        <m:dPr>
                          <m:ctrlPr>
                            <a:rPr lang="en-US" i="1" dirty="0">
                              <a:solidFill>
                                <a:schemeClr val="bg2"/>
                              </a:solidFill>
                              <a:latin typeface="Cambria Math" charset="0"/>
                            </a:rPr>
                          </m:ctrlPr>
                        </m:dPr>
                        <m:e>
                          <m:r>
                            <a:rPr lang="en-US" i="1" dirty="0">
                              <a:solidFill>
                                <a:schemeClr val="bg2"/>
                              </a:solidFill>
                              <a:latin typeface="Cambria Math" panose="02040503050406030204" pitchFamily="18" charset="0"/>
                            </a:rPr>
                            <m:t>𝑖𝑗</m:t>
                          </m:r>
                        </m:e>
                      </m:d>
                      <m:r>
                        <a:rPr lang="en-US" b="0" i="1" dirty="0" smtClean="0">
                          <a:solidFill>
                            <a:schemeClr val="bg2"/>
                          </a:solidFill>
                          <a:latin typeface="Cambria Math" panose="02040503050406030204" pitchFamily="18" charset="0"/>
                        </a:rPr>
                        <m:t>=1</m:t>
                      </m:r>
                    </m:oMath>
                  </m:oMathPara>
                </a14:m>
                <a:endParaRPr lang="en-US" dirty="0">
                  <a:solidFill>
                    <a:schemeClr val="bg2"/>
                  </a:solidFill>
                  <a:latin typeface="Century Gothic" panose="020B0502020202020204" pitchFamily="34" charset="0"/>
                </a:endParaRPr>
              </a:p>
            </p:txBody>
          </p:sp>
        </mc:Choice>
        <mc:Fallback xmlns="">
          <p:sp>
            <p:nvSpPr>
              <p:cNvPr id="20" name="TextBox 19">
                <a:extLst>
                  <a:ext uri="{FF2B5EF4-FFF2-40B4-BE49-F238E27FC236}">
                    <a16:creationId xmlns:a16="http://schemas.microsoft.com/office/drawing/2014/main" id="{EDFCE5D8-1E99-F74F-A10A-BBB7F92D24FB}"/>
                  </a:ext>
                </a:extLst>
              </p:cNvPr>
              <p:cNvSpPr txBox="1">
                <a:spLocks noRot="1" noChangeAspect="1" noMove="1" noResize="1" noEditPoints="1" noAdjustHandles="1" noChangeArrowheads="1" noChangeShapeType="1" noTextEdit="1"/>
              </p:cNvSpPr>
              <p:nvPr/>
            </p:nvSpPr>
            <p:spPr>
              <a:xfrm>
                <a:off x="6832685" y="1303426"/>
                <a:ext cx="1256306" cy="369332"/>
              </a:xfrm>
              <a:prstGeom prst="rect">
                <a:avLst/>
              </a:prstGeom>
              <a:blipFill>
                <a:blip r:embed="rId5"/>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xmlns="" id="{CE98EC79-E3A4-AD4B-8DD2-FCD9CF475C96}"/>
                  </a:ext>
                </a:extLst>
              </p:cNvPr>
              <p:cNvSpPr/>
              <p:nvPr/>
            </p:nvSpPr>
            <p:spPr>
              <a:xfrm>
                <a:off x="6840798" y="348147"/>
                <a:ext cx="14395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charset="0"/>
                            </a:rPr>
                          </m:ctrlPr>
                        </m:sSubPr>
                        <m:e>
                          <m:r>
                            <a:rPr lang="en-US" i="1" dirty="0">
                              <a:solidFill>
                                <a:schemeClr val="bg2"/>
                              </a:solidFill>
                              <a:latin typeface="Cambria Math" panose="02040503050406030204" pitchFamily="18" charset="0"/>
                            </a:rPr>
                            <m:t>𝑓</m:t>
                          </m:r>
                        </m:e>
                        <m:sub>
                          <m:r>
                            <a:rPr lang="en-US" b="0" i="1" dirty="0" smtClean="0">
                              <a:solidFill>
                                <a:schemeClr val="bg2"/>
                              </a:solidFill>
                              <a:latin typeface="Cambria Math" panose="02040503050406030204" pitchFamily="18" charset="0"/>
                            </a:rPr>
                            <m:t>→</m:t>
                          </m:r>
                        </m:sub>
                      </m:sSub>
                      <m:d>
                        <m:dPr>
                          <m:ctrlPr>
                            <a:rPr lang="en-US" i="1" dirty="0">
                              <a:solidFill>
                                <a:schemeClr val="bg2"/>
                              </a:solidFill>
                              <a:latin typeface="Cambria Math" charset="0"/>
                            </a:rPr>
                          </m:ctrlPr>
                        </m:dPr>
                        <m:e>
                          <m:r>
                            <a:rPr lang="en-US" i="1" dirty="0">
                              <a:solidFill>
                                <a:schemeClr val="bg2"/>
                              </a:solidFill>
                              <a:latin typeface="Cambria Math" panose="02040503050406030204" pitchFamily="18" charset="0"/>
                            </a:rPr>
                            <m:t>𝑖𝑗</m:t>
                          </m:r>
                        </m:e>
                      </m:d>
                      <m:r>
                        <a:rPr lang="en-US" b="0" i="1" dirty="0" smtClean="0">
                          <a:solidFill>
                            <a:schemeClr val="bg2"/>
                          </a:solidFill>
                          <a:latin typeface="Cambria Math" panose="02040503050406030204" pitchFamily="18" charset="0"/>
                        </a:rPr>
                        <m:t>=0.6</m:t>
                      </m:r>
                    </m:oMath>
                  </m:oMathPara>
                </a14:m>
                <a:endParaRPr lang="en-US" dirty="0"/>
              </a:p>
            </p:txBody>
          </p:sp>
        </mc:Choice>
        <mc:Fallback xmlns="">
          <p:sp>
            <p:nvSpPr>
              <p:cNvPr id="10" name="Rectangle 9">
                <a:extLst>
                  <a:ext uri="{FF2B5EF4-FFF2-40B4-BE49-F238E27FC236}">
                    <a16:creationId xmlns:a16="http://schemas.microsoft.com/office/drawing/2014/main" id="{CE98EC79-E3A4-AD4B-8DD2-FCD9CF475C96}"/>
                  </a:ext>
                </a:extLst>
              </p:cNvPr>
              <p:cNvSpPr>
                <a:spLocks noRot="1" noChangeAspect="1" noMove="1" noResize="1" noEditPoints="1" noAdjustHandles="1" noChangeArrowheads="1" noChangeShapeType="1" noTextEdit="1"/>
              </p:cNvSpPr>
              <p:nvPr/>
            </p:nvSpPr>
            <p:spPr>
              <a:xfrm>
                <a:off x="6840798" y="348147"/>
                <a:ext cx="1439561" cy="369332"/>
              </a:xfrm>
              <a:prstGeom prst="rect">
                <a:avLst/>
              </a:prstGeom>
              <a:blipFill>
                <a:blip r:embed="rId6"/>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xmlns="" id="{8797B9CD-C3A9-4A48-8CB8-23E44582466A}"/>
                  </a:ext>
                </a:extLst>
              </p:cNvPr>
              <p:cNvSpPr/>
              <p:nvPr/>
            </p:nvSpPr>
            <p:spPr>
              <a:xfrm>
                <a:off x="6819232" y="1010117"/>
                <a:ext cx="143956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charset="0"/>
                            </a:rPr>
                          </m:ctrlPr>
                        </m:sSubPr>
                        <m:e>
                          <m:r>
                            <a:rPr lang="en-US" i="1" dirty="0">
                              <a:solidFill>
                                <a:schemeClr val="bg2"/>
                              </a:solidFill>
                              <a:latin typeface="Cambria Math" panose="02040503050406030204" pitchFamily="18" charset="0"/>
                            </a:rPr>
                            <m:t>𝑓</m:t>
                          </m:r>
                        </m:e>
                        <m:sub>
                          <m:r>
                            <a:rPr lang="en-US" i="1" dirty="0">
                              <a:solidFill>
                                <a:schemeClr val="bg2"/>
                              </a:solidFill>
                              <a:latin typeface="Cambria Math" panose="02040503050406030204" pitchFamily="18" charset="0"/>
                              <a:ea typeface="Cambria Math" panose="02040503050406030204" pitchFamily="18" charset="0"/>
                            </a:rPr>
                            <m:t>←</m:t>
                          </m:r>
                        </m:sub>
                      </m:sSub>
                      <m:d>
                        <m:dPr>
                          <m:ctrlPr>
                            <a:rPr lang="en-US" i="1" dirty="0">
                              <a:solidFill>
                                <a:schemeClr val="bg2"/>
                              </a:solidFill>
                              <a:latin typeface="Cambria Math" charset="0"/>
                            </a:rPr>
                          </m:ctrlPr>
                        </m:dPr>
                        <m:e>
                          <m:r>
                            <a:rPr lang="en-US" i="1" dirty="0">
                              <a:solidFill>
                                <a:schemeClr val="bg2"/>
                              </a:solidFill>
                              <a:latin typeface="Cambria Math" panose="02040503050406030204" pitchFamily="18" charset="0"/>
                            </a:rPr>
                            <m:t>𝑖𝑗</m:t>
                          </m:r>
                        </m:e>
                      </m:d>
                      <m:r>
                        <a:rPr lang="en-US" b="0" i="1" dirty="0" smtClean="0">
                          <a:solidFill>
                            <a:schemeClr val="bg2"/>
                          </a:solidFill>
                          <a:latin typeface="Cambria Math" panose="02040503050406030204" pitchFamily="18" charset="0"/>
                        </a:rPr>
                        <m:t>=0.4</m:t>
                      </m:r>
                    </m:oMath>
                  </m:oMathPara>
                </a14:m>
                <a:endParaRPr lang="en-US" dirty="0"/>
              </a:p>
            </p:txBody>
          </p:sp>
        </mc:Choice>
        <mc:Fallback xmlns="">
          <p:sp>
            <p:nvSpPr>
              <p:cNvPr id="21" name="Rectangle 20">
                <a:extLst>
                  <a:ext uri="{FF2B5EF4-FFF2-40B4-BE49-F238E27FC236}">
                    <a16:creationId xmlns:a16="http://schemas.microsoft.com/office/drawing/2014/main" id="{8797B9CD-C3A9-4A48-8CB8-23E44582466A}"/>
                  </a:ext>
                </a:extLst>
              </p:cNvPr>
              <p:cNvSpPr>
                <a:spLocks noRot="1" noChangeAspect="1" noMove="1" noResize="1" noEditPoints="1" noAdjustHandles="1" noChangeArrowheads="1" noChangeShapeType="1" noTextEdit="1"/>
              </p:cNvSpPr>
              <p:nvPr/>
            </p:nvSpPr>
            <p:spPr>
              <a:xfrm>
                <a:off x="6819232" y="1010117"/>
                <a:ext cx="1439560" cy="369332"/>
              </a:xfrm>
              <a:prstGeom prst="rect">
                <a:avLst/>
              </a:prstGeom>
              <a:blipFill>
                <a:blip r:embed="rId7"/>
                <a:stretch>
                  <a:fillRect b="-13333"/>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xmlns="" id="{E6B06B78-B3B4-D141-94D5-750226B771B5}"/>
              </a:ext>
            </a:extLst>
          </p:cNvPr>
          <p:cNvSpPr txBox="1"/>
          <p:nvPr/>
        </p:nvSpPr>
        <p:spPr>
          <a:xfrm>
            <a:off x="696759" y="6291096"/>
            <a:ext cx="7750481" cy="523220"/>
          </a:xfrm>
          <a:prstGeom prst="rect">
            <a:avLst/>
          </a:prstGeom>
          <a:noFill/>
        </p:spPr>
        <p:txBody>
          <a:bodyPr wrap="square" rtlCol="0">
            <a:spAutoFit/>
          </a:bodyPr>
          <a:lstStyle/>
          <a:p>
            <a:r>
              <a:rPr lang="en-US" sz="1400" i="1" dirty="0">
                <a:solidFill>
                  <a:schemeClr val="bg2"/>
                </a:solidFill>
                <a:latin typeface="Century Gothic" panose="020B0502020202020204" pitchFamily="34" charset="0"/>
              </a:rPr>
              <a:t>Global inference for </a:t>
            </a:r>
            <a:r>
              <a:rPr lang="en-US" sz="1400" i="1" dirty="0" err="1">
                <a:solidFill>
                  <a:schemeClr val="bg2"/>
                </a:solidFill>
                <a:latin typeface="Century Gothic" panose="020B0502020202020204" pitchFamily="34" charset="0"/>
              </a:rPr>
              <a:t>TempRel</a:t>
            </a:r>
            <a:r>
              <a:rPr lang="en-US" sz="1400" i="1" dirty="0">
                <a:solidFill>
                  <a:schemeClr val="bg2"/>
                </a:solidFill>
                <a:latin typeface="Century Gothic" panose="020B0502020202020204" pitchFamily="34" charset="0"/>
              </a:rPr>
              <a:t> extraction: Bramsen et al., 2006. Chambers &amp; </a:t>
            </a:r>
            <a:r>
              <a:rPr lang="en-US" sz="1400" i="1" dirty="0" err="1">
                <a:solidFill>
                  <a:schemeClr val="bg2"/>
                </a:solidFill>
                <a:latin typeface="Century Gothic" panose="020B0502020202020204" pitchFamily="34" charset="0"/>
              </a:rPr>
              <a:t>Jurafsky</a:t>
            </a:r>
            <a:r>
              <a:rPr lang="en-US" sz="1400" i="1" dirty="0">
                <a:solidFill>
                  <a:schemeClr val="bg2"/>
                </a:solidFill>
                <a:latin typeface="Century Gothic" panose="020B0502020202020204" pitchFamily="34" charset="0"/>
              </a:rPr>
              <a:t>, 2008. Denis &amp; Muller, 2011. Do et al., 2012. Chambers et al., 2014. Mirza &amp; Tonelli, 2016.</a:t>
            </a:r>
          </a:p>
        </p:txBody>
      </p:sp>
    </p:spTree>
    <p:extLst>
      <p:ext uri="{BB962C8B-B14F-4D97-AF65-F5344CB8AC3E}">
        <p14:creationId xmlns:p14="http://schemas.microsoft.com/office/powerpoint/2010/main" val="2150309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ssolv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dissolv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5">
                                            <p:txEl>
                                              <p:pRg st="0" end="0"/>
                                            </p:txEl>
                                          </p:spTgt>
                                        </p:tgtEl>
                                        <p:attrNameLst>
                                          <p:attrName>style.visibility</p:attrName>
                                        </p:attrNameLst>
                                      </p:cBhvr>
                                      <p:to>
                                        <p:strVal val="visible"/>
                                      </p:to>
                                    </p:set>
                                    <p:animEffect transition="in" filter="wipe(left)">
                                      <p:cBhvr>
                                        <p:cTn id="28" dur="500"/>
                                        <p:tgtEl>
                                          <p:spTgt spid="15">
                                            <p:txEl>
                                              <p:pRg st="0" end="0"/>
                                            </p:txEl>
                                          </p:spTgt>
                                        </p:tgtEl>
                                      </p:cBhvr>
                                    </p:animEffect>
                                  </p:childTnLst>
                                </p:cTn>
                              </p:par>
                              <p:par>
                                <p:cTn id="29" presetID="22" presetClass="entr" presetSubtype="2" fill="hold" grpId="0" nodeType="withEffect">
                                  <p:stCondLst>
                                    <p:cond delay="0"/>
                                  </p:stCondLst>
                                  <p:childTnLst>
                                    <p:set>
                                      <p:cBhvr>
                                        <p:cTn id="30" dur="1" fill="hold">
                                          <p:stCondLst>
                                            <p:cond delay="0"/>
                                          </p:stCondLst>
                                        </p:cTn>
                                        <p:tgtEl>
                                          <p:spTgt spid="20">
                                            <p:txEl>
                                              <p:pRg st="0" end="0"/>
                                            </p:txEl>
                                          </p:spTgt>
                                        </p:tgtEl>
                                        <p:attrNameLst>
                                          <p:attrName>style.visibility</p:attrName>
                                        </p:attrNameLst>
                                      </p:cBhvr>
                                      <p:to>
                                        <p:strVal val="visible"/>
                                      </p:to>
                                    </p:set>
                                    <p:animEffect transition="in" filter="wipe(right)">
                                      <p:cBhvr>
                                        <p:cTn id="31" dur="500"/>
                                        <p:tgtEl>
                                          <p:spTgt spid="20">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6"/>
                                        </p:tgtEl>
                                        <p:attrNameLst>
                                          <p:attrName>style.visibility</p:attrName>
                                        </p:attrNameLst>
                                      </p:cBhvr>
                                      <p:to>
                                        <p:strVal val="hidden"/>
                                      </p:to>
                                    </p:set>
                                  </p:childTnLst>
                                </p:cTn>
                              </p:par>
                              <p:par>
                                <p:cTn id="36" presetID="0" presetClass="path" presetSubtype="0" accel="50000" decel="50000" fill="hold" grpId="1" nodeType="withEffect">
                                  <p:stCondLst>
                                    <p:cond delay="0"/>
                                  </p:stCondLst>
                                  <p:childTnLst>
                                    <p:animMotion origin="layout" path="M 5.55556E-7 -1.48148E-6 L -0.0809 -1.48148E-6 " pathEditMode="relative" rAng="0" ptsTypes="AA">
                                      <p:cBhvr>
                                        <p:cTn id="37" dur="1000" fill="hold"/>
                                        <p:tgtEl>
                                          <p:spTgt spid="7"/>
                                        </p:tgtEl>
                                        <p:attrNameLst>
                                          <p:attrName>ppt_x</p:attrName>
                                          <p:attrName>ppt_y</p:attrName>
                                        </p:attrNameLst>
                                      </p:cBhvr>
                                      <p:rCtr x="-4045" y="0"/>
                                    </p:animMotion>
                                  </p:childTnLst>
                                </p:cTn>
                              </p:par>
                            </p:childTnLst>
                          </p:cTn>
                        </p:par>
                        <p:par>
                          <p:cTn id="38" fill="hold">
                            <p:stCondLst>
                              <p:cond delay="1000"/>
                            </p:stCondLst>
                            <p:childTnLst>
                              <p:par>
                                <p:cTn id="39" presetID="9" presetClass="entr" presetSubtype="0" fill="hold" grpId="0" nodeType="after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dissolve">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par>
                                <p:cTn id="47" presetID="22" presetClass="entr" presetSubtype="2"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right)">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animEffect transition="in" filter="wipe(left)">
                                      <p:cBhvr>
                                        <p:cTn id="54" dur="750"/>
                                        <p:tgtEl>
                                          <p:spTgt spid="3">
                                            <p:txEl>
                                              <p:pRg st="3" end="3"/>
                                            </p:txEl>
                                          </p:spTgt>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animEffect transition="in" filter="wipe(left)">
                                      <p:cBhvr>
                                        <p:cTn id="57" dur="750"/>
                                        <p:tgtEl>
                                          <p:spTgt spid="3">
                                            <p:txEl>
                                              <p:pRg st="4" end="4"/>
                                            </p:txEl>
                                          </p:spTgt>
                                        </p:tgtEl>
                                      </p:cBhvr>
                                    </p:animEffect>
                                  </p:childTnLst>
                                </p:cTn>
                              </p:par>
                              <p:par>
                                <p:cTn id="58" presetID="1" presetClass="exit" presetSubtype="0" fill="hold" grpId="2" nodeType="withEffect">
                                  <p:stCondLst>
                                    <p:cond delay="0"/>
                                  </p:stCondLst>
                                  <p:childTnLst>
                                    <p:set>
                                      <p:cBhvr>
                                        <p:cTn id="59" dur="1" fill="hold">
                                          <p:stCondLst>
                                            <p:cond delay="0"/>
                                          </p:stCondLst>
                                        </p:cTn>
                                        <p:tgtEl>
                                          <p:spTgt spid="7"/>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8"/>
                                        </p:tgtEl>
                                        <p:attrNameLst>
                                          <p:attrName>style.visibility</p:attrName>
                                        </p:attrNameLst>
                                      </p:cBhvr>
                                      <p:to>
                                        <p:strVal val="hidden"/>
                                      </p:to>
                                    </p:set>
                                  </p:childTnLst>
                                </p:cTn>
                              </p:par>
                              <p:par>
                                <p:cTn id="62" presetID="2" presetClass="entr" presetSubtype="4" fill="hold" grpId="0" nodeType="withEffect">
                                  <p:stCondLst>
                                    <p:cond delay="0"/>
                                  </p:stCondLst>
                                  <p:childTnLst>
                                    <p:set>
                                      <p:cBhvr>
                                        <p:cTn id="63" dur="1" fill="hold">
                                          <p:stCondLst>
                                            <p:cond delay="0"/>
                                          </p:stCondLst>
                                        </p:cTn>
                                        <p:tgtEl>
                                          <p:spTgt spid="5"/>
                                        </p:tgtEl>
                                        <p:attrNameLst>
                                          <p:attrName>style.visibility</p:attrName>
                                        </p:attrNameLst>
                                      </p:cBhvr>
                                      <p:to>
                                        <p:strVal val="visible"/>
                                      </p:to>
                                    </p:set>
                                    <p:anim calcmode="lin" valueType="num">
                                      <p:cBhvr additive="base">
                                        <p:cTn id="64" dur="750" fill="hold"/>
                                        <p:tgtEl>
                                          <p:spTgt spid="5"/>
                                        </p:tgtEl>
                                        <p:attrNameLst>
                                          <p:attrName>ppt_x</p:attrName>
                                        </p:attrNameLst>
                                      </p:cBhvr>
                                      <p:tavLst>
                                        <p:tav tm="0">
                                          <p:val>
                                            <p:strVal val="#ppt_x"/>
                                          </p:val>
                                        </p:tav>
                                        <p:tav tm="100000">
                                          <p:val>
                                            <p:strVal val="#ppt_x"/>
                                          </p:val>
                                        </p:tav>
                                      </p:tavLst>
                                    </p:anim>
                                    <p:anim calcmode="lin" valueType="num">
                                      <p:cBhvr additive="base">
                                        <p:cTn id="65" dur="750" fill="hold"/>
                                        <p:tgtEl>
                                          <p:spTgt spid="5"/>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9"/>
                                        </p:tgtEl>
                                        <p:attrNameLst>
                                          <p:attrName>style.visibility</p:attrName>
                                        </p:attrNameLst>
                                      </p:cBhvr>
                                      <p:to>
                                        <p:strVal val="visible"/>
                                      </p:to>
                                    </p:set>
                                    <p:anim calcmode="lin" valueType="num">
                                      <p:cBhvr additive="base">
                                        <p:cTn id="68" dur="750" fill="hold"/>
                                        <p:tgtEl>
                                          <p:spTgt spid="9"/>
                                        </p:tgtEl>
                                        <p:attrNameLst>
                                          <p:attrName>ppt_x</p:attrName>
                                        </p:attrNameLst>
                                      </p:cBhvr>
                                      <p:tavLst>
                                        <p:tav tm="0">
                                          <p:val>
                                            <p:strVal val="#ppt_x"/>
                                          </p:val>
                                        </p:tav>
                                        <p:tav tm="100000">
                                          <p:val>
                                            <p:strVal val="#ppt_x"/>
                                          </p:val>
                                        </p:tav>
                                      </p:tavLst>
                                    </p:anim>
                                    <p:anim calcmode="lin" valueType="num">
                                      <p:cBhvr additive="base">
                                        <p:cTn id="69" dur="75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3">
                                            <p:txEl>
                                              <p:pRg st="6" end="6"/>
                                            </p:txEl>
                                          </p:spTgt>
                                        </p:tgtEl>
                                        <p:attrNameLst>
                                          <p:attrName>style.visibility</p:attrName>
                                        </p:attrNameLst>
                                      </p:cBhvr>
                                      <p:to>
                                        <p:strVal val="visible"/>
                                      </p:to>
                                    </p:set>
                                    <p:animEffect transition="in" filter="wipe(left)">
                                      <p:cBhvr>
                                        <p:cTn id="74" dur="500"/>
                                        <p:tgtEl>
                                          <p:spTgt spid="3">
                                            <p:txEl>
                                              <p:pRg st="6" end="6"/>
                                            </p:txEl>
                                          </p:spTgt>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dissolve">
                                      <p:cBhvr>
                                        <p:cTn id="7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9" grpId="0" animBg="1"/>
      <p:bldP spid="6" grpId="0"/>
      <p:bldP spid="6" grpId="1"/>
      <p:bldP spid="8" grpId="0"/>
      <p:bldP spid="8" grpId="1"/>
      <p:bldP spid="7" grpId="0" animBg="1"/>
      <p:bldP spid="7" grpId="1" animBg="1"/>
      <p:bldP spid="7" grpId="2" animBg="1"/>
      <p:bldP spid="20" grpId="0" build="allAtOnce"/>
      <p:bldP spid="10" grpId="0"/>
      <p:bldP spid="21" grpId="0"/>
      <p:bldP spid="2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3F2613-70B0-4C0B-BAF1-9053EED9CF55}"/>
              </a:ext>
            </a:extLst>
          </p:cNvPr>
          <p:cNvSpPr>
            <a:spLocks noGrp="1"/>
          </p:cNvSpPr>
          <p:nvPr>
            <p:ph type="title"/>
          </p:nvPr>
        </p:nvSpPr>
        <p:spPr/>
        <p:txBody>
          <a:bodyPr/>
          <a:lstStyle/>
          <a:p>
            <a:r>
              <a:rPr lang="en-US" dirty="0"/>
              <a:t>Benefit of global inference via ILP</a:t>
            </a:r>
          </a:p>
        </p:txBody>
      </p:sp>
      <p:sp>
        <p:nvSpPr>
          <p:cNvPr id="6" name="TextBox 5">
            <a:extLst>
              <a:ext uri="{FF2B5EF4-FFF2-40B4-BE49-F238E27FC236}">
                <a16:creationId xmlns:a16="http://schemas.microsoft.com/office/drawing/2014/main" xmlns="" id="{163FE45C-D2DA-4101-B247-212E21A47F6F}"/>
              </a:ext>
            </a:extLst>
          </p:cNvPr>
          <p:cNvSpPr txBox="1"/>
          <p:nvPr/>
        </p:nvSpPr>
        <p:spPr>
          <a:xfrm>
            <a:off x="1058894" y="5800916"/>
            <a:ext cx="7180171" cy="261610"/>
          </a:xfrm>
          <a:prstGeom prst="rect">
            <a:avLst/>
          </a:prstGeom>
          <a:noFill/>
        </p:spPr>
        <p:txBody>
          <a:bodyPr wrap="none" rtlCol="0">
            <a:spAutoFit/>
          </a:bodyPr>
          <a:lstStyle/>
          <a:p>
            <a:r>
              <a:rPr lang="en-US" sz="1100" i="1" dirty="0">
                <a:solidFill>
                  <a:schemeClr val="bg2"/>
                </a:solidFill>
                <a:latin typeface="Century Gothic" panose="020B0502020202020204" pitchFamily="34" charset="0"/>
              </a:rPr>
              <a:t>[</a:t>
            </a:r>
            <a:r>
              <a:rPr lang="en-US" sz="1100" i="1" dirty="0" err="1">
                <a:solidFill>
                  <a:schemeClr val="bg2"/>
                </a:solidFill>
                <a:latin typeface="Century Gothic" panose="020B0502020202020204" pitchFamily="34" charset="0"/>
              </a:rPr>
              <a:t>UTTime</a:t>
            </a:r>
            <a:r>
              <a:rPr lang="en-US" sz="1100" i="1" dirty="0">
                <a:solidFill>
                  <a:schemeClr val="bg2"/>
                </a:solidFill>
                <a:latin typeface="Century Gothic" panose="020B0502020202020204" pitchFamily="34" charset="0"/>
              </a:rPr>
              <a:t>] </a:t>
            </a:r>
            <a:r>
              <a:rPr lang="en-US" sz="1100" i="1" dirty="0" err="1">
                <a:solidFill>
                  <a:schemeClr val="bg2"/>
                </a:solidFill>
                <a:latin typeface="Century Gothic" panose="020B0502020202020204" pitchFamily="34" charset="0"/>
              </a:rPr>
              <a:t>Laokulrat</a:t>
            </a:r>
            <a:r>
              <a:rPr lang="en-US" sz="1100" i="1" dirty="0">
                <a:solidFill>
                  <a:schemeClr val="bg2"/>
                </a:solidFill>
                <a:latin typeface="Century Gothic" panose="020B0502020202020204" pitchFamily="34" charset="0"/>
              </a:rPr>
              <a:t> et al. *SEM’13. </a:t>
            </a:r>
            <a:r>
              <a:rPr lang="en-US" sz="1100" i="1" dirty="0" err="1">
                <a:solidFill>
                  <a:schemeClr val="bg2"/>
                </a:solidFill>
                <a:latin typeface="Century Gothic" panose="020B0502020202020204" pitchFamily="34" charset="0"/>
              </a:rPr>
              <a:t>UTTime</a:t>
            </a:r>
            <a:r>
              <a:rPr lang="en-US" sz="1100" i="1" dirty="0">
                <a:solidFill>
                  <a:schemeClr val="bg2"/>
                </a:solidFill>
                <a:latin typeface="Century Gothic" panose="020B0502020202020204" pitchFamily="34" charset="0"/>
              </a:rPr>
              <a:t>: Temporal relation classiﬁcation using deep syntactic features.</a:t>
            </a:r>
          </a:p>
        </p:txBody>
      </p:sp>
      <p:graphicFrame>
        <p:nvGraphicFramePr>
          <p:cNvPr id="7" name="Chart 6"/>
          <p:cNvGraphicFramePr/>
          <p:nvPr>
            <p:extLst>
              <p:ext uri="{D42A27DB-BD31-4B8C-83A1-F6EECF244321}">
                <p14:modId xmlns:p14="http://schemas.microsoft.com/office/powerpoint/2010/main" val="3587968737"/>
              </p:ext>
            </p:extLst>
          </p:nvPr>
        </p:nvGraphicFramePr>
        <p:xfrm>
          <a:off x="1219200" y="779584"/>
          <a:ext cx="6954672" cy="4783015"/>
        </p:xfrm>
        <a:graphic>
          <a:graphicData uri="http://schemas.openxmlformats.org/drawingml/2006/chart">
            <c:chart xmlns:c="http://schemas.openxmlformats.org/drawingml/2006/chart" xmlns:r="http://schemas.openxmlformats.org/officeDocument/2006/relationships" r:id="rId3"/>
          </a:graphicData>
        </a:graphic>
      </p:graphicFrame>
      <p:grpSp>
        <p:nvGrpSpPr>
          <p:cNvPr id="16" name="Group 15"/>
          <p:cNvGrpSpPr/>
          <p:nvPr/>
        </p:nvGrpSpPr>
        <p:grpSpPr>
          <a:xfrm>
            <a:off x="5791200" y="2644588"/>
            <a:ext cx="2912233" cy="762000"/>
            <a:chOff x="5791200" y="2590800"/>
            <a:chExt cx="2912233" cy="762000"/>
          </a:xfrm>
        </p:grpSpPr>
        <p:cxnSp>
          <p:nvCxnSpPr>
            <p:cNvPr id="13" name="Straight Arrow Connector 12"/>
            <p:cNvCxnSpPr/>
            <p:nvPr/>
          </p:nvCxnSpPr>
          <p:spPr>
            <a:xfrm flipV="1">
              <a:off x="5791200" y="2590800"/>
              <a:ext cx="0" cy="76200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867400" y="2787134"/>
              <a:ext cx="283603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Global inference via ILP</a:t>
              </a:r>
            </a:p>
          </p:txBody>
        </p:sp>
      </p:grpSp>
      <p:sp>
        <p:nvSpPr>
          <p:cNvPr id="20" name="Rounded Rectangle 19"/>
          <p:cNvSpPr/>
          <p:nvPr/>
        </p:nvSpPr>
        <p:spPr>
          <a:xfrm>
            <a:off x="1828800" y="4800600"/>
            <a:ext cx="914400" cy="304800"/>
          </a:xfrm>
          <a:prstGeom prst="roundRect">
            <a:avLst/>
          </a:prstGeom>
          <a:noFill/>
          <a:ln w="38100">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4914900" y="4800600"/>
            <a:ext cx="1295400" cy="304800"/>
          </a:xfrm>
          <a:prstGeom prst="roundRect">
            <a:avLst/>
          </a:prstGeom>
          <a:noFill/>
          <a:ln w="38100">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xmlns="" id="{6B808468-C261-8048-A332-B35585459F3A}"/>
              </a:ext>
            </a:extLst>
          </p:cNvPr>
          <p:cNvGrpSpPr/>
          <p:nvPr/>
        </p:nvGrpSpPr>
        <p:grpSpPr>
          <a:xfrm>
            <a:off x="5778500" y="3352800"/>
            <a:ext cx="1188881" cy="914400"/>
            <a:chOff x="5562600" y="3352800"/>
            <a:chExt cx="1188881" cy="914400"/>
          </a:xfrm>
        </p:grpSpPr>
        <p:sp>
          <p:nvSpPr>
            <p:cNvPr id="10" name="TextBox 9">
              <a:extLst>
                <a:ext uri="{FF2B5EF4-FFF2-40B4-BE49-F238E27FC236}">
                  <a16:creationId xmlns:a16="http://schemas.microsoft.com/office/drawing/2014/main" xmlns="" id="{0D80EE88-CA81-B54E-BF21-F273DCE32E2B}"/>
                </a:ext>
              </a:extLst>
            </p:cNvPr>
            <p:cNvSpPr txBox="1"/>
            <p:nvPr/>
          </p:nvSpPr>
          <p:spPr>
            <a:xfrm>
              <a:off x="5651500" y="3693023"/>
              <a:ext cx="10999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Baseline</a:t>
              </a:r>
            </a:p>
          </p:txBody>
        </p:sp>
        <p:cxnSp>
          <p:nvCxnSpPr>
            <p:cNvPr id="11" name="Straight Arrow Connector 10">
              <a:extLst>
                <a:ext uri="{FF2B5EF4-FFF2-40B4-BE49-F238E27FC236}">
                  <a16:creationId xmlns:a16="http://schemas.microsoft.com/office/drawing/2014/main" xmlns="" id="{2F1006E5-82FC-4A44-9973-E05ED938BE69}"/>
                </a:ext>
              </a:extLst>
            </p:cNvPr>
            <p:cNvCxnSpPr>
              <a:cxnSpLocks/>
            </p:cNvCxnSpPr>
            <p:nvPr/>
          </p:nvCxnSpPr>
          <p:spPr>
            <a:xfrm flipV="1">
              <a:off x="5562600" y="3352800"/>
              <a:ext cx="0" cy="91440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xmlns="" id="{C02CA987-BD8F-074B-8916-B07866243092}"/>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17" name="TextBox 16">
            <a:extLst>
              <a:ext uri="{FF2B5EF4-FFF2-40B4-BE49-F238E27FC236}">
                <a16:creationId xmlns:a16="http://schemas.microsoft.com/office/drawing/2014/main" xmlns="" id="{61F2E0C8-3B2C-2F48-AFCD-D10034956B66}"/>
              </a:ext>
            </a:extLst>
          </p:cNvPr>
          <p:cNvSpPr txBox="1"/>
          <p:nvPr/>
        </p:nvSpPr>
        <p:spPr>
          <a:xfrm>
            <a:off x="1058894" y="6043985"/>
            <a:ext cx="5841664" cy="261610"/>
          </a:xfrm>
          <a:prstGeom prst="rect">
            <a:avLst/>
          </a:prstGeom>
          <a:noFill/>
        </p:spPr>
        <p:txBody>
          <a:bodyPr wrap="none" rtlCol="0">
            <a:spAutoFit/>
          </a:bodyPr>
          <a:lstStyle/>
          <a:p>
            <a:r>
              <a:rPr lang="en-US" sz="1100" i="1" dirty="0">
                <a:solidFill>
                  <a:schemeClr val="bg2"/>
                </a:solidFill>
                <a:latin typeface="Century Gothic" panose="020B0502020202020204" pitchFamily="34" charset="0"/>
              </a:rPr>
              <a:t>[</a:t>
            </a:r>
            <a:r>
              <a:rPr lang="en-US" sz="1100" i="1" dirty="0" err="1">
                <a:solidFill>
                  <a:schemeClr val="bg2"/>
                </a:solidFill>
                <a:latin typeface="Century Gothic" panose="020B0502020202020204" pitchFamily="34" charset="0"/>
              </a:rPr>
              <a:t>Perceptron+ILP</a:t>
            </a:r>
            <a:r>
              <a:rPr lang="en-US" sz="1100" i="1" dirty="0">
                <a:solidFill>
                  <a:schemeClr val="bg2"/>
                </a:solidFill>
                <a:latin typeface="Century Gothic" panose="020B0502020202020204" pitchFamily="34" charset="0"/>
              </a:rPr>
              <a:t>] Do et al. EMNLP’12. Joint inference for event timeline construction.</a:t>
            </a:r>
          </a:p>
        </p:txBody>
      </p:sp>
      <p:sp>
        <p:nvSpPr>
          <p:cNvPr id="19" name="TextBox 18">
            <a:extLst>
              <a:ext uri="{FF2B5EF4-FFF2-40B4-BE49-F238E27FC236}">
                <a16:creationId xmlns:a16="http://schemas.microsoft.com/office/drawing/2014/main" xmlns="" id="{2FAE6305-B62A-044B-B32F-6CED7C5B7430}"/>
              </a:ext>
            </a:extLst>
          </p:cNvPr>
          <p:cNvSpPr txBox="1"/>
          <p:nvPr/>
        </p:nvSpPr>
        <p:spPr>
          <a:xfrm>
            <a:off x="4848698" y="2814005"/>
            <a:ext cx="49244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5%</a:t>
            </a:r>
          </a:p>
        </p:txBody>
      </p:sp>
    </p:spTree>
    <p:extLst>
      <p:ext uri="{BB962C8B-B14F-4D97-AF65-F5344CB8AC3E}">
        <p14:creationId xmlns:p14="http://schemas.microsoft.com/office/powerpoint/2010/main" val="3331368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par>
                                <p:cTn id="13" presetID="9"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dissolve">
                                      <p:cBhvr>
                                        <p:cTn id="20" dur="500"/>
                                        <p:tgtEl>
                                          <p:spTgt spid="1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dissolve">
                                      <p:cBhvr>
                                        <p:cTn id="2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4" grpId="0" animBg="1"/>
      <p:bldP spid="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8" name="Straight Arrow Connector 67">
            <a:extLst>
              <a:ext uri="{FF2B5EF4-FFF2-40B4-BE49-F238E27FC236}">
                <a16:creationId xmlns:a16="http://schemas.microsoft.com/office/drawing/2014/main" xmlns="" id="{53EB0D82-2CA5-0044-B598-D6CC4B1217F6}"/>
              </a:ext>
            </a:extLst>
          </p:cNvPr>
          <p:cNvCxnSpPr>
            <a:cxnSpLocks/>
          </p:cNvCxnSpPr>
          <p:nvPr/>
        </p:nvCxnSpPr>
        <p:spPr>
          <a:xfrm flipH="1">
            <a:off x="2340858" y="4012002"/>
            <a:ext cx="2275" cy="798556"/>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xmlns="" id="{0BACCC43-6CC5-4C3C-8E5E-F9F927F8B94F}"/>
              </a:ext>
            </a:extLst>
          </p:cNvPr>
          <p:cNvCxnSpPr>
            <a:cxnSpLocks/>
          </p:cNvCxnSpPr>
          <p:nvPr/>
        </p:nvCxnSpPr>
        <p:spPr>
          <a:xfrm flipH="1">
            <a:off x="2337780" y="4006411"/>
            <a:ext cx="2275" cy="798556"/>
          </a:xfrm>
          <a:prstGeom prst="straightConnector1">
            <a:avLst/>
          </a:prstGeom>
          <a:ln w="76200" cmpd="dbl">
            <a:solidFill>
              <a:srgbClr val="FF0000">
                <a:alpha val="50000"/>
              </a:srgb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xmlns="" id="{0CC5D2CF-3028-CC45-BF3F-96A9A5D0875F}"/>
              </a:ext>
            </a:extLst>
          </p:cNvPr>
          <p:cNvCxnSpPr/>
          <p:nvPr/>
        </p:nvCxnSpPr>
        <p:spPr>
          <a:xfrm flipV="1">
            <a:off x="2793671" y="5031855"/>
            <a:ext cx="989239" cy="4454"/>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xmlns="" id="{DF7A1C68-39CB-4B4F-AF30-2115BB94C260}"/>
              </a:ext>
            </a:extLst>
          </p:cNvPr>
          <p:cNvCxnSpPr/>
          <p:nvPr/>
        </p:nvCxnSpPr>
        <p:spPr>
          <a:xfrm flipV="1">
            <a:off x="2794523" y="5029200"/>
            <a:ext cx="989239" cy="4454"/>
          </a:xfrm>
          <a:prstGeom prst="straightConnector1">
            <a:avLst/>
          </a:prstGeom>
          <a:ln w="31750">
            <a:solidFill>
              <a:srgbClr val="FF0000">
                <a:alpha val="50000"/>
              </a:srgbClr>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xmlns="" id="{9466E26E-59BC-9547-BC26-F9F09E3BD552}"/>
              </a:ext>
            </a:extLst>
          </p:cNvPr>
          <p:cNvSpPr txBox="1"/>
          <p:nvPr/>
        </p:nvSpPr>
        <p:spPr>
          <a:xfrm>
            <a:off x="3783762" y="4875352"/>
            <a:ext cx="790537"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ordered</a:t>
            </a:r>
          </a:p>
        </p:txBody>
      </p:sp>
      <p:sp>
        <p:nvSpPr>
          <p:cNvPr id="55" name="TextBox 54">
            <a:extLst>
              <a:ext uri="{FF2B5EF4-FFF2-40B4-BE49-F238E27FC236}">
                <a16:creationId xmlns:a16="http://schemas.microsoft.com/office/drawing/2014/main" xmlns="" id="{AEC3D52B-1871-8F43-AF74-F6A379644828}"/>
              </a:ext>
            </a:extLst>
          </p:cNvPr>
          <p:cNvSpPr txBox="1"/>
          <p:nvPr/>
        </p:nvSpPr>
        <p:spPr>
          <a:xfrm>
            <a:off x="3783762" y="4871327"/>
            <a:ext cx="790537"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ordered</a:t>
            </a:r>
          </a:p>
        </p:txBody>
      </p:sp>
      <p:sp>
        <p:nvSpPr>
          <p:cNvPr id="54" name="TextBox 53">
            <a:extLst>
              <a:ext uri="{FF2B5EF4-FFF2-40B4-BE49-F238E27FC236}">
                <a16:creationId xmlns:a16="http://schemas.microsoft.com/office/drawing/2014/main" xmlns="" id="{75D9A00D-F6E8-A341-BB54-6DC685C17F41}"/>
              </a:ext>
            </a:extLst>
          </p:cNvPr>
          <p:cNvSpPr txBox="1"/>
          <p:nvPr/>
        </p:nvSpPr>
        <p:spPr>
          <a:xfrm>
            <a:off x="3783617" y="3681581"/>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3" name="TextBox 52">
            <a:extLst>
              <a:ext uri="{FF2B5EF4-FFF2-40B4-BE49-F238E27FC236}">
                <a16:creationId xmlns:a16="http://schemas.microsoft.com/office/drawing/2014/main" xmlns="" id="{827A033C-3362-7E4F-9A29-22F5B134DB38}"/>
              </a:ext>
            </a:extLst>
          </p:cNvPr>
          <p:cNvSpPr txBox="1"/>
          <p:nvPr/>
        </p:nvSpPr>
        <p:spPr>
          <a:xfrm>
            <a:off x="3790433" y="3681582"/>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2" name="TextBox 51">
            <a:extLst>
              <a:ext uri="{FF2B5EF4-FFF2-40B4-BE49-F238E27FC236}">
                <a16:creationId xmlns:a16="http://schemas.microsoft.com/office/drawing/2014/main" xmlns="" id="{BA0B8D1C-469A-C34A-B8E5-6EC7BEC871D0}"/>
              </a:ext>
            </a:extLst>
          </p:cNvPr>
          <p:cNvSpPr txBox="1"/>
          <p:nvPr/>
        </p:nvSpPr>
        <p:spPr>
          <a:xfrm>
            <a:off x="3790433" y="3671896"/>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1" name="TextBox 50">
            <a:extLst>
              <a:ext uri="{FF2B5EF4-FFF2-40B4-BE49-F238E27FC236}">
                <a16:creationId xmlns:a16="http://schemas.microsoft.com/office/drawing/2014/main" xmlns="" id="{F5465B13-DBC7-4043-AD11-B7B745E6BC6A}"/>
              </a:ext>
            </a:extLst>
          </p:cNvPr>
          <p:cNvSpPr txBox="1"/>
          <p:nvPr/>
        </p:nvSpPr>
        <p:spPr>
          <a:xfrm>
            <a:off x="3787098" y="3668637"/>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0" name="TextBox 49">
            <a:extLst>
              <a:ext uri="{FF2B5EF4-FFF2-40B4-BE49-F238E27FC236}">
                <a16:creationId xmlns:a16="http://schemas.microsoft.com/office/drawing/2014/main" xmlns="" id="{FA0167F5-14D7-9241-8E39-B181B66DC612}"/>
              </a:ext>
            </a:extLst>
          </p:cNvPr>
          <p:cNvSpPr txBox="1"/>
          <p:nvPr/>
        </p:nvSpPr>
        <p:spPr>
          <a:xfrm>
            <a:off x="1918862" y="4888321"/>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9" name="TextBox 48">
            <a:extLst>
              <a:ext uri="{FF2B5EF4-FFF2-40B4-BE49-F238E27FC236}">
                <a16:creationId xmlns:a16="http://schemas.microsoft.com/office/drawing/2014/main" xmlns="" id="{1FD7C706-046D-F946-A57B-AD9AADD6EFDE}"/>
              </a:ext>
            </a:extLst>
          </p:cNvPr>
          <p:cNvSpPr txBox="1"/>
          <p:nvPr/>
        </p:nvSpPr>
        <p:spPr>
          <a:xfrm>
            <a:off x="1918863" y="4898371"/>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8" name="TextBox 47">
            <a:extLst>
              <a:ext uri="{FF2B5EF4-FFF2-40B4-BE49-F238E27FC236}">
                <a16:creationId xmlns:a16="http://schemas.microsoft.com/office/drawing/2014/main" xmlns="" id="{9D664915-86BD-CF4C-AA26-C6E877E36A33}"/>
              </a:ext>
            </a:extLst>
          </p:cNvPr>
          <p:cNvSpPr txBox="1"/>
          <p:nvPr/>
        </p:nvSpPr>
        <p:spPr>
          <a:xfrm>
            <a:off x="1918863" y="4898628"/>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7" name="TextBox 46">
            <a:extLst>
              <a:ext uri="{FF2B5EF4-FFF2-40B4-BE49-F238E27FC236}">
                <a16:creationId xmlns:a16="http://schemas.microsoft.com/office/drawing/2014/main" xmlns="" id="{65CD4FAA-5F6F-B648-9597-5F4CCDCC323E}"/>
              </a:ext>
            </a:extLst>
          </p:cNvPr>
          <p:cNvSpPr txBox="1"/>
          <p:nvPr/>
        </p:nvSpPr>
        <p:spPr>
          <a:xfrm>
            <a:off x="1918863" y="4885139"/>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6" name="TextBox 45">
            <a:extLst>
              <a:ext uri="{FF2B5EF4-FFF2-40B4-BE49-F238E27FC236}">
                <a16:creationId xmlns:a16="http://schemas.microsoft.com/office/drawing/2014/main" xmlns="" id="{C46ABA95-9F47-9A45-9186-8C50EF19CE7A}"/>
              </a:ext>
            </a:extLst>
          </p:cNvPr>
          <p:cNvSpPr txBox="1"/>
          <p:nvPr/>
        </p:nvSpPr>
        <p:spPr>
          <a:xfrm>
            <a:off x="978119" y="4261795"/>
            <a:ext cx="522900"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hurt</a:t>
            </a:r>
          </a:p>
        </p:txBody>
      </p:sp>
      <p:sp>
        <p:nvSpPr>
          <p:cNvPr id="35" name="TextBox 34">
            <a:extLst>
              <a:ext uri="{FF2B5EF4-FFF2-40B4-BE49-F238E27FC236}">
                <a16:creationId xmlns:a16="http://schemas.microsoft.com/office/drawing/2014/main" xmlns="" id="{B92B956A-DB60-4C14-A246-235EDA984580}"/>
              </a:ext>
            </a:extLst>
          </p:cNvPr>
          <p:cNvSpPr txBox="1"/>
          <p:nvPr/>
        </p:nvSpPr>
        <p:spPr>
          <a:xfrm>
            <a:off x="975040" y="4258181"/>
            <a:ext cx="522900"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hurt</a:t>
            </a:r>
          </a:p>
        </p:txBody>
      </p:sp>
      <p:sp>
        <p:nvSpPr>
          <p:cNvPr id="44" name="TextBox 43">
            <a:extLst>
              <a:ext uri="{FF2B5EF4-FFF2-40B4-BE49-F238E27FC236}">
                <a16:creationId xmlns:a16="http://schemas.microsoft.com/office/drawing/2014/main" xmlns="" id="{0F90EFB9-7961-EF47-94F2-36A4ED5971C6}"/>
              </a:ext>
            </a:extLst>
          </p:cNvPr>
          <p:cNvSpPr txBox="1"/>
          <p:nvPr/>
        </p:nvSpPr>
        <p:spPr>
          <a:xfrm>
            <a:off x="981197" y="4265410"/>
            <a:ext cx="522900" cy="307777"/>
          </a:xfrm>
          <a:prstGeom prst="rect">
            <a:avLst/>
          </a:prstGeom>
          <a:noFill/>
          <a:ln>
            <a:noFill/>
          </a:ln>
        </p:spPr>
        <p:txBody>
          <a:bodyPr wrap="none" rtlCol="0">
            <a:spAutoFit/>
          </a:bodyPr>
          <a:lstStyle/>
          <a:p>
            <a:r>
              <a:rPr lang="en-US" sz="1400" b="1" dirty="0">
                <a:solidFill>
                  <a:srgbClr val="C17A90">
                    <a:alpha val="50000"/>
                  </a:srgbClr>
                </a:solidFill>
                <a:latin typeface="Times New Roman" charset="0"/>
                <a:ea typeface="Times New Roman" charset="0"/>
                <a:cs typeface="Times New Roman" charset="0"/>
              </a:rPr>
              <a:t>hurt</a:t>
            </a:r>
          </a:p>
        </p:txBody>
      </p:sp>
      <p:sp>
        <p:nvSpPr>
          <p:cNvPr id="43" name="TextBox 42">
            <a:extLst>
              <a:ext uri="{FF2B5EF4-FFF2-40B4-BE49-F238E27FC236}">
                <a16:creationId xmlns:a16="http://schemas.microsoft.com/office/drawing/2014/main" xmlns="" id="{1B0F5427-D97D-D446-A8E0-E7B2935333EF}"/>
              </a:ext>
            </a:extLst>
          </p:cNvPr>
          <p:cNvSpPr txBox="1"/>
          <p:nvPr/>
        </p:nvSpPr>
        <p:spPr>
          <a:xfrm>
            <a:off x="1984412" y="3675063"/>
            <a:ext cx="752129"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ripping</a:t>
            </a:r>
          </a:p>
        </p:txBody>
      </p:sp>
      <p:sp>
        <p:nvSpPr>
          <p:cNvPr id="42" name="TextBox 41">
            <a:extLst>
              <a:ext uri="{FF2B5EF4-FFF2-40B4-BE49-F238E27FC236}">
                <a16:creationId xmlns:a16="http://schemas.microsoft.com/office/drawing/2014/main" xmlns="" id="{4932E516-C897-DE48-9651-A9FCDE8EC45A}"/>
              </a:ext>
            </a:extLst>
          </p:cNvPr>
          <p:cNvSpPr txBox="1"/>
          <p:nvPr/>
        </p:nvSpPr>
        <p:spPr>
          <a:xfrm>
            <a:off x="1984413" y="3675063"/>
            <a:ext cx="752129"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ripping</a:t>
            </a:r>
          </a:p>
        </p:txBody>
      </p:sp>
      <p:sp>
        <p:nvSpPr>
          <p:cNvPr id="41" name="TextBox 40">
            <a:extLst>
              <a:ext uri="{FF2B5EF4-FFF2-40B4-BE49-F238E27FC236}">
                <a16:creationId xmlns:a16="http://schemas.microsoft.com/office/drawing/2014/main" xmlns="" id="{43310B80-3C07-DA40-B669-9A98366B3BF1}"/>
              </a:ext>
            </a:extLst>
          </p:cNvPr>
          <p:cNvSpPr txBox="1"/>
          <p:nvPr/>
        </p:nvSpPr>
        <p:spPr>
          <a:xfrm>
            <a:off x="1981076" y="3671896"/>
            <a:ext cx="752129"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ripping</a:t>
            </a:r>
          </a:p>
        </p:txBody>
      </p:sp>
      <p:sp>
        <p:nvSpPr>
          <p:cNvPr id="2" name="Title 1">
            <a:extLst>
              <a:ext uri="{FF2B5EF4-FFF2-40B4-BE49-F238E27FC236}">
                <a16:creationId xmlns:a16="http://schemas.microsoft.com/office/drawing/2014/main" xmlns="" id="{4C1B584B-C97F-4280-A16C-ABFABC535E5A}"/>
              </a:ext>
            </a:extLst>
          </p:cNvPr>
          <p:cNvSpPr>
            <a:spLocks noGrp="1"/>
          </p:cNvSpPr>
          <p:nvPr>
            <p:ph type="title"/>
          </p:nvPr>
        </p:nvSpPr>
        <p:spPr/>
        <p:txBody>
          <a:bodyPr/>
          <a:lstStyle/>
          <a:p>
            <a:r>
              <a:rPr lang="en-US" dirty="0"/>
              <a:t>How was the model trained?</a:t>
            </a:r>
          </a:p>
        </p:txBody>
      </p:sp>
      <p:sp>
        <p:nvSpPr>
          <p:cNvPr id="3" name="Content Placeholder 2">
            <a:extLst>
              <a:ext uri="{FF2B5EF4-FFF2-40B4-BE49-F238E27FC236}">
                <a16:creationId xmlns:a16="http://schemas.microsoft.com/office/drawing/2014/main" xmlns="" id="{E67D7159-3482-41DA-952A-D9B4545CE6AD}"/>
              </a:ext>
            </a:extLst>
          </p:cNvPr>
          <p:cNvSpPr>
            <a:spLocks noGrp="1"/>
          </p:cNvSpPr>
          <p:nvPr>
            <p:ph idx="1"/>
          </p:nvPr>
        </p:nvSpPr>
        <p:spPr>
          <a:xfrm>
            <a:off x="381000" y="1661902"/>
            <a:ext cx="8534400" cy="1201038"/>
          </a:xfrm>
        </p:spPr>
        <p:txBody>
          <a:bodyPr/>
          <a:lstStyle/>
          <a:p>
            <a:pPr marL="0" indent="0">
              <a:buNone/>
            </a:pPr>
            <a:r>
              <a:rPr lang="en-US" sz="2400" dirty="0">
                <a:solidFill>
                  <a:schemeClr val="bg2">
                    <a:alpha val="50000"/>
                  </a:schemeClr>
                </a:solidFill>
              </a:rPr>
              <a:t>Due to transitivity, </a:t>
            </a:r>
            <a:r>
              <a:rPr lang="en-US" sz="2400" dirty="0" err="1">
                <a:solidFill>
                  <a:schemeClr val="bg2">
                    <a:alpha val="50000"/>
                  </a:schemeClr>
                </a:solidFill>
              </a:rPr>
              <a:t>TempRels</a:t>
            </a:r>
            <a:r>
              <a:rPr lang="en-US" sz="2400" dirty="0">
                <a:solidFill>
                  <a:schemeClr val="bg2">
                    <a:alpha val="50000"/>
                  </a:schemeClr>
                </a:solidFill>
              </a:rPr>
              <a:t> are not independent</a:t>
            </a:r>
          </a:p>
          <a:p>
            <a:endParaRPr lang="en-US" sz="2400" dirty="0">
              <a:solidFill>
                <a:schemeClr val="bg2">
                  <a:alpha val="50000"/>
                </a:schemeClr>
              </a:solidFill>
            </a:endParaRPr>
          </a:p>
          <a:p>
            <a:pPr marL="0" indent="0">
              <a:buNone/>
            </a:pPr>
            <a:r>
              <a:rPr lang="en-US" sz="2400" dirty="0">
                <a:solidFill>
                  <a:schemeClr val="bg2">
                    <a:alpha val="50000"/>
                  </a:schemeClr>
                </a:solidFill>
              </a:rPr>
              <a:t>Existing methods: global inference</a:t>
            </a:r>
            <a:endParaRPr lang="en-US" sz="2400" b="1" dirty="0">
              <a:solidFill>
                <a:schemeClr val="bg2">
                  <a:alpha val="50000"/>
                </a:schemeClr>
              </a:solidFill>
              <a:sym typeface="Wingdings" panose="05000000000000000000" pitchFamily="2" charset="2"/>
            </a:endParaRPr>
          </a:p>
          <a:p>
            <a:endParaRPr lang="en-US" sz="2400" dirty="0"/>
          </a:p>
        </p:txBody>
      </p:sp>
      <p:sp>
        <p:nvSpPr>
          <p:cNvPr id="37" name="TextBox 36">
            <a:extLst>
              <a:ext uri="{FF2B5EF4-FFF2-40B4-BE49-F238E27FC236}">
                <a16:creationId xmlns:a16="http://schemas.microsoft.com/office/drawing/2014/main" xmlns="" id="{69231A96-B0D2-4862-A853-F2BB70CA4250}"/>
              </a:ext>
            </a:extLst>
          </p:cNvPr>
          <p:cNvSpPr txBox="1"/>
          <p:nvPr/>
        </p:nvSpPr>
        <p:spPr>
          <a:xfrm>
            <a:off x="1918863" y="4882931"/>
            <a:ext cx="873957" cy="307777"/>
          </a:xfrm>
          <a:prstGeom prst="rect">
            <a:avLst/>
          </a:prstGeom>
          <a:noFill/>
          <a:ln>
            <a:noFill/>
          </a:ln>
        </p:spPr>
        <p:txBody>
          <a:bodyPr wrap="none" rtlCol="0">
            <a:spAutoFit/>
          </a:bodyPr>
          <a:lstStyle/>
          <a:p>
            <a:r>
              <a:rPr lang="en-US" altLang="zh-CN" sz="1400" b="1" dirty="0">
                <a:solidFill>
                  <a:srgbClr val="C17A90">
                    <a:alpha val="50000"/>
                  </a:srgbClr>
                </a:solidFill>
                <a:latin typeface="Times New Roman" charset="0"/>
                <a:ea typeface="Times New Roman" charset="0"/>
                <a:cs typeface="Times New Roman" charset="0"/>
              </a:rPr>
              <a:t>cascaded</a:t>
            </a:r>
            <a:endParaRPr lang="en-US" sz="1400" b="1" dirty="0">
              <a:solidFill>
                <a:srgbClr val="C17A90">
                  <a:alpha val="50000"/>
                </a:srgbClr>
              </a:solidFill>
              <a:latin typeface="Times New Roman" charset="0"/>
              <a:ea typeface="Times New Roman" charset="0"/>
              <a:cs typeface="Times New Roman" charset="0"/>
            </a:endParaRPr>
          </a:p>
        </p:txBody>
      </p:sp>
      <p:sp>
        <p:nvSpPr>
          <p:cNvPr id="33" name="TextBox 32">
            <a:extLst>
              <a:ext uri="{FF2B5EF4-FFF2-40B4-BE49-F238E27FC236}">
                <a16:creationId xmlns:a16="http://schemas.microsoft.com/office/drawing/2014/main" xmlns="" id="{306FE320-D23E-4FEE-9F8E-CA98C6C5F530}"/>
              </a:ext>
            </a:extLst>
          </p:cNvPr>
          <p:cNvSpPr txBox="1"/>
          <p:nvPr/>
        </p:nvSpPr>
        <p:spPr>
          <a:xfrm>
            <a:off x="1984414" y="3675063"/>
            <a:ext cx="752129" cy="307777"/>
          </a:xfrm>
          <a:prstGeom prst="rect">
            <a:avLst/>
          </a:prstGeom>
          <a:noFill/>
          <a:ln>
            <a:noFill/>
          </a:ln>
        </p:spPr>
        <p:txBody>
          <a:bodyPr wrap="none" rtlCol="0">
            <a:spAutoFit/>
          </a:bodyPr>
          <a:lstStyle/>
          <a:p>
            <a:r>
              <a:rPr lang="en-US" sz="1400" b="1" dirty="0">
                <a:solidFill>
                  <a:srgbClr val="C17A90">
                    <a:alpha val="50000"/>
                  </a:srgbClr>
                </a:solidFill>
                <a:latin typeface="Times New Roman" charset="0"/>
                <a:ea typeface="Times New Roman" charset="0"/>
                <a:cs typeface="Times New Roman" charset="0"/>
              </a:rPr>
              <a:t>ripping</a:t>
            </a:r>
          </a:p>
        </p:txBody>
      </p:sp>
      <p:sp>
        <p:nvSpPr>
          <p:cNvPr id="31" name="TextBox 30">
            <a:extLst>
              <a:ext uri="{FF2B5EF4-FFF2-40B4-BE49-F238E27FC236}">
                <a16:creationId xmlns:a16="http://schemas.microsoft.com/office/drawing/2014/main" xmlns="" id="{49003EBB-30C2-4A6E-9B7E-9B8B4726829D}"/>
              </a:ext>
            </a:extLst>
          </p:cNvPr>
          <p:cNvSpPr txBox="1"/>
          <p:nvPr/>
        </p:nvSpPr>
        <p:spPr>
          <a:xfrm>
            <a:off x="3783762" y="4878477"/>
            <a:ext cx="790537" cy="307777"/>
          </a:xfrm>
          <a:prstGeom prst="rect">
            <a:avLst/>
          </a:prstGeom>
          <a:noFill/>
          <a:ln>
            <a:noFill/>
          </a:ln>
        </p:spPr>
        <p:txBody>
          <a:bodyPr wrap="none" rtlCol="0">
            <a:spAutoFit/>
          </a:bodyPr>
          <a:lstStyle/>
          <a:p>
            <a:r>
              <a:rPr lang="en-US" sz="1400" b="1" dirty="0">
                <a:solidFill>
                  <a:srgbClr val="C17A90">
                    <a:alpha val="50000"/>
                  </a:srgbClr>
                </a:solidFill>
                <a:latin typeface="Times New Roman" charset="0"/>
                <a:ea typeface="Times New Roman" charset="0"/>
                <a:cs typeface="Times New Roman" charset="0"/>
              </a:rPr>
              <a:t>ordered</a:t>
            </a:r>
          </a:p>
        </p:txBody>
      </p:sp>
      <p:cxnSp>
        <p:nvCxnSpPr>
          <p:cNvPr id="19" name="Straight Arrow Connector 18">
            <a:extLst>
              <a:ext uri="{FF2B5EF4-FFF2-40B4-BE49-F238E27FC236}">
                <a16:creationId xmlns:a16="http://schemas.microsoft.com/office/drawing/2014/main" xmlns="" id="{4FF3051B-1BED-4F81-84E9-9144F59A6658}"/>
              </a:ext>
            </a:extLst>
          </p:cNvPr>
          <p:cNvCxnSpPr/>
          <p:nvPr/>
        </p:nvCxnSpPr>
        <p:spPr>
          <a:xfrm flipH="1">
            <a:off x="1374539" y="3825785"/>
            <a:ext cx="609875" cy="439625"/>
          </a:xfrm>
          <a:prstGeom prst="straightConnector1">
            <a:avLst/>
          </a:prstGeom>
          <a:ln w="317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4B33CC75-CE81-4793-BE14-84BC2B70A7B6}"/>
              </a:ext>
            </a:extLst>
          </p:cNvPr>
          <p:cNvCxnSpPr/>
          <p:nvPr/>
        </p:nvCxnSpPr>
        <p:spPr>
          <a:xfrm>
            <a:off x="2492132" y="3967925"/>
            <a:ext cx="1516020" cy="900866"/>
          </a:xfrm>
          <a:prstGeom prst="straightConnector1">
            <a:avLst/>
          </a:prstGeom>
          <a:ln w="31750" cmpd="sng">
            <a:solidFill>
              <a:srgbClr val="FF0000">
                <a:alpha val="50000"/>
              </a:srgb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BFF47532-9C5A-4318-AAFC-616F8209B108}"/>
              </a:ext>
            </a:extLst>
          </p:cNvPr>
          <p:cNvCxnSpPr/>
          <p:nvPr/>
        </p:nvCxnSpPr>
        <p:spPr>
          <a:xfrm flipH="1" flipV="1">
            <a:off x="1374539" y="4567959"/>
            <a:ext cx="544324" cy="465694"/>
          </a:xfrm>
          <a:prstGeom prst="straightConnector1">
            <a:avLst/>
          </a:prstGeom>
          <a:ln w="31750" cmpd="sng">
            <a:solidFill>
              <a:srgbClr val="00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xmlns="" id="{CF3EC16A-6808-436E-B8D5-2FC0C52207EE}"/>
              </a:ext>
            </a:extLst>
          </p:cNvPr>
          <p:cNvSpPr txBox="1"/>
          <p:nvPr/>
        </p:nvSpPr>
        <p:spPr>
          <a:xfrm>
            <a:off x="3783762" y="3675213"/>
            <a:ext cx="801823" cy="307777"/>
          </a:xfrm>
          <a:prstGeom prst="rect">
            <a:avLst/>
          </a:prstGeom>
          <a:noFill/>
          <a:ln>
            <a:noFill/>
          </a:ln>
        </p:spPr>
        <p:txBody>
          <a:bodyPr wrap="none" rtlCol="0">
            <a:spAutoFit/>
          </a:bodyPr>
          <a:lstStyle/>
          <a:p>
            <a:r>
              <a:rPr lang="en-US" sz="1400" b="1" dirty="0">
                <a:solidFill>
                  <a:srgbClr val="C17A90">
                    <a:alpha val="50000"/>
                  </a:srgbClr>
                </a:solidFill>
                <a:latin typeface="Times New Roman" charset="0"/>
                <a:ea typeface="Times New Roman" charset="0"/>
                <a:cs typeface="Times New Roman" charset="0"/>
              </a:rPr>
              <a:t>monitor</a:t>
            </a:r>
          </a:p>
        </p:txBody>
      </p:sp>
      <p:cxnSp>
        <p:nvCxnSpPr>
          <p:cNvPr id="24" name="Straight Connector 23">
            <a:extLst>
              <a:ext uri="{FF2B5EF4-FFF2-40B4-BE49-F238E27FC236}">
                <a16:creationId xmlns:a16="http://schemas.microsoft.com/office/drawing/2014/main" xmlns="" id="{F6CE56D6-D023-4B88-B59D-400ACE613C21}"/>
              </a:ext>
            </a:extLst>
          </p:cNvPr>
          <p:cNvCxnSpPr/>
          <p:nvPr/>
        </p:nvCxnSpPr>
        <p:spPr>
          <a:xfrm flipH="1" flipV="1">
            <a:off x="2733206" y="3825785"/>
            <a:ext cx="1050557" cy="150"/>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C8235993-3487-4925-AE51-802546311D16}"/>
              </a:ext>
            </a:extLst>
          </p:cNvPr>
          <p:cNvCxnSpPr/>
          <p:nvPr/>
        </p:nvCxnSpPr>
        <p:spPr>
          <a:xfrm flipH="1">
            <a:off x="4159426" y="4030735"/>
            <a:ext cx="7422" cy="775397"/>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5F41F946-2002-4ED4-994A-76B18F3455CF}"/>
              </a:ext>
            </a:extLst>
          </p:cNvPr>
          <p:cNvCxnSpPr/>
          <p:nvPr/>
        </p:nvCxnSpPr>
        <p:spPr>
          <a:xfrm flipH="1">
            <a:off x="2489857" y="4030735"/>
            <a:ext cx="1676991" cy="861065"/>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34F1B8A9-5B03-4D1A-B2D7-9B58D51F6443}"/>
              </a:ext>
            </a:extLst>
          </p:cNvPr>
          <p:cNvCxnSpPr/>
          <p:nvPr/>
        </p:nvCxnSpPr>
        <p:spPr>
          <a:xfrm flipH="1">
            <a:off x="1437199" y="3968076"/>
            <a:ext cx="2578374" cy="448609"/>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xmlns="" id="{1790034E-07E3-4A1D-A4A6-9B3839F3BF3F}"/>
              </a:ext>
            </a:extLst>
          </p:cNvPr>
          <p:cNvCxnSpPr/>
          <p:nvPr/>
        </p:nvCxnSpPr>
        <p:spPr>
          <a:xfrm flipV="1">
            <a:off x="2206066" y="5413121"/>
            <a:ext cx="271390" cy="3376"/>
          </a:xfrm>
          <a:prstGeom prst="straightConnector1">
            <a:avLst/>
          </a:prstGeom>
          <a:ln w="63500">
            <a:solidFill>
              <a:schemeClr val="bg2">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4CDA7464-9DEF-4ECF-8EB3-DA28951C95A3}"/>
              </a:ext>
            </a:extLst>
          </p:cNvPr>
          <p:cNvSpPr txBox="1"/>
          <p:nvPr/>
        </p:nvSpPr>
        <p:spPr>
          <a:xfrm>
            <a:off x="2444831" y="5323461"/>
            <a:ext cx="607859" cy="215444"/>
          </a:xfrm>
          <a:prstGeom prst="rect">
            <a:avLst/>
          </a:prstGeom>
          <a:noFill/>
          <a:ln>
            <a:noFill/>
          </a:ln>
        </p:spPr>
        <p:txBody>
          <a:bodyPr wrap="none" rtlCol="0">
            <a:spAutoFit/>
          </a:bodyPr>
          <a:lstStyle/>
          <a:p>
            <a:r>
              <a:rPr lang="en-US" sz="800" b="1" dirty="0">
                <a:solidFill>
                  <a:srgbClr val="666089">
                    <a:alpha val="50000"/>
                  </a:srgbClr>
                </a:solidFill>
                <a:latin typeface="Times New Roman" charset="0"/>
                <a:ea typeface="Times New Roman" charset="0"/>
                <a:cs typeface="Times New Roman" charset="0"/>
              </a:rPr>
              <a:t>BEFORE</a:t>
            </a:r>
            <a:endParaRPr lang="en-US" sz="1200" b="1" dirty="0">
              <a:solidFill>
                <a:srgbClr val="666089">
                  <a:alpha val="50000"/>
                </a:srgbClr>
              </a:solidFill>
              <a:latin typeface="Times New Roman" charset="0"/>
              <a:ea typeface="Times New Roman" charset="0"/>
              <a:cs typeface="Times New Roman" charset="0"/>
            </a:endParaRPr>
          </a:p>
        </p:txBody>
      </p:sp>
      <p:cxnSp>
        <p:nvCxnSpPr>
          <p:cNvPr id="12" name="Straight Arrow Connector 11">
            <a:extLst>
              <a:ext uri="{FF2B5EF4-FFF2-40B4-BE49-F238E27FC236}">
                <a16:creationId xmlns:a16="http://schemas.microsoft.com/office/drawing/2014/main" xmlns="" id="{3698058B-8FA1-4E6D-AED0-E7432B76635D}"/>
              </a:ext>
            </a:extLst>
          </p:cNvPr>
          <p:cNvCxnSpPr/>
          <p:nvPr/>
        </p:nvCxnSpPr>
        <p:spPr>
          <a:xfrm flipV="1">
            <a:off x="3055380" y="5413120"/>
            <a:ext cx="271390" cy="0"/>
          </a:xfrm>
          <a:prstGeom prst="straightConnector1">
            <a:avLst/>
          </a:prstGeom>
          <a:ln w="88900" cmpd="dbl">
            <a:solidFill>
              <a:schemeClr val="bg2">
                <a:alpha val="50000"/>
              </a:schemeClr>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383684F5-6E3C-428D-B627-C1F6F491FD1A}"/>
              </a:ext>
            </a:extLst>
          </p:cNvPr>
          <p:cNvSpPr txBox="1"/>
          <p:nvPr/>
        </p:nvSpPr>
        <p:spPr>
          <a:xfrm>
            <a:off x="3294145" y="5323461"/>
            <a:ext cx="731290" cy="215444"/>
          </a:xfrm>
          <a:prstGeom prst="rect">
            <a:avLst/>
          </a:prstGeom>
          <a:noFill/>
          <a:ln>
            <a:noFill/>
          </a:ln>
        </p:spPr>
        <p:txBody>
          <a:bodyPr wrap="none" rtlCol="0">
            <a:spAutoFit/>
          </a:bodyPr>
          <a:lstStyle/>
          <a:p>
            <a:r>
              <a:rPr lang="en-US" sz="800" b="1" dirty="0">
                <a:solidFill>
                  <a:srgbClr val="666089">
                    <a:alpha val="50000"/>
                  </a:srgbClr>
                </a:solidFill>
                <a:latin typeface="Times New Roman" charset="0"/>
                <a:ea typeface="Times New Roman" charset="0"/>
                <a:cs typeface="Times New Roman" charset="0"/>
              </a:rPr>
              <a:t>INCLUDED</a:t>
            </a:r>
            <a:endParaRPr lang="en-US" sz="1200" b="1" dirty="0">
              <a:solidFill>
                <a:srgbClr val="666089">
                  <a:alpha val="50000"/>
                </a:srgbClr>
              </a:solidFill>
              <a:latin typeface="Times New Roman" charset="0"/>
              <a:ea typeface="Times New Roman" charset="0"/>
              <a:cs typeface="Times New Roman" charset="0"/>
            </a:endParaRPr>
          </a:p>
        </p:txBody>
      </p:sp>
      <p:cxnSp>
        <p:nvCxnSpPr>
          <p:cNvPr id="38" name="Straight Connector 37">
            <a:extLst>
              <a:ext uri="{FF2B5EF4-FFF2-40B4-BE49-F238E27FC236}">
                <a16:creationId xmlns:a16="http://schemas.microsoft.com/office/drawing/2014/main" xmlns="" id="{E401D0A2-BE3F-F34E-96A9-92CDCF68B6C0}"/>
              </a:ext>
            </a:extLst>
          </p:cNvPr>
          <p:cNvCxnSpPr>
            <a:cxnSpLocks/>
          </p:cNvCxnSpPr>
          <p:nvPr/>
        </p:nvCxnSpPr>
        <p:spPr>
          <a:xfrm flipH="1" flipV="1">
            <a:off x="1437199" y="4451324"/>
            <a:ext cx="2570953" cy="476139"/>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xmlns="" id="{564FF85C-7656-CF4D-BE38-A2C27601AEF8}"/>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grpSp>
        <p:nvGrpSpPr>
          <p:cNvPr id="39" name="Group 38">
            <a:extLst>
              <a:ext uri="{FF2B5EF4-FFF2-40B4-BE49-F238E27FC236}">
                <a16:creationId xmlns:a16="http://schemas.microsoft.com/office/drawing/2014/main" xmlns="" id="{BD9DA3AD-202F-EF42-AA01-FF5A88466510}"/>
              </a:ext>
            </a:extLst>
          </p:cNvPr>
          <p:cNvGrpSpPr/>
          <p:nvPr/>
        </p:nvGrpSpPr>
        <p:grpSpPr>
          <a:xfrm>
            <a:off x="4977154" y="3828951"/>
            <a:ext cx="3581400" cy="1198586"/>
            <a:chOff x="-5105400" y="4876800"/>
            <a:chExt cx="3581400" cy="1198586"/>
          </a:xfrm>
        </p:grpSpPr>
        <p:grpSp>
          <p:nvGrpSpPr>
            <p:cNvPr id="40" name="Group 39">
              <a:extLst>
                <a:ext uri="{FF2B5EF4-FFF2-40B4-BE49-F238E27FC236}">
                  <a16:creationId xmlns:a16="http://schemas.microsoft.com/office/drawing/2014/main" xmlns="" id="{19503E91-D86A-0A42-A470-E05E49B425FA}"/>
                </a:ext>
              </a:extLst>
            </p:cNvPr>
            <p:cNvGrpSpPr/>
            <p:nvPr/>
          </p:nvGrpSpPr>
          <p:grpSpPr>
            <a:xfrm>
              <a:off x="-5105400" y="4876800"/>
              <a:ext cx="3581400" cy="1198586"/>
              <a:chOff x="-5105400" y="2901434"/>
              <a:chExt cx="3581400" cy="1198586"/>
            </a:xfrm>
          </p:grpSpPr>
          <p:cxnSp>
            <p:nvCxnSpPr>
              <p:cNvPr id="63" name="Straight Arrow Connector 62">
                <a:extLst>
                  <a:ext uri="{FF2B5EF4-FFF2-40B4-BE49-F238E27FC236}">
                    <a16:creationId xmlns:a16="http://schemas.microsoft.com/office/drawing/2014/main" xmlns="" id="{FBBE9CA7-A205-FB41-889E-96347FE496FC}"/>
                  </a:ext>
                </a:extLst>
              </p:cNvPr>
              <p:cNvCxnSpPr/>
              <p:nvPr/>
            </p:nvCxnSpPr>
            <p:spPr>
              <a:xfrm>
                <a:off x="-5105400" y="3429000"/>
                <a:ext cx="3581400" cy="0"/>
              </a:xfrm>
              <a:prstGeom prst="straightConnector1">
                <a:avLst/>
              </a:prstGeom>
              <a:ln>
                <a:solidFill>
                  <a:schemeClr val="bg2">
                    <a:alpha val="50000"/>
                  </a:schemeClr>
                </a:solidFill>
                <a:tailEnd type="triangle"/>
              </a:ln>
            </p:spPr>
            <p:style>
              <a:lnRef idx="3">
                <a:schemeClr val="dk1"/>
              </a:lnRef>
              <a:fillRef idx="0">
                <a:schemeClr val="dk1"/>
              </a:fillRef>
              <a:effectRef idx="2">
                <a:schemeClr val="dk1"/>
              </a:effectRef>
              <a:fontRef idx="minor">
                <a:schemeClr val="tx1"/>
              </a:fontRef>
            </p:style>
          </p:cxnSp>
          <p:sp>
            <p:nvSpPr>
              <p:cNvPr id="64" name="TextBox 63">
                <a:extLst>
                  <a:ext uri="{FF2B5EF4-FFF2-40B4-BE49-F238E27FC236}">
                    <a16:creationId xmlns:a16="http://schemas.microsoft.com/office/drawing/2014/main" xmlns="" id="{125259AA-2068-DB4D-9E9A-65053001A378}"/>
                  </a:ext>
                </a:extLst>
              </p:cNvPr>
              <p:cNvSpPr txBox="1"/>
              <p:nvPr/>
            </p:nvSpPr>
            <p:spPr>
              <a:xfrm>
                <a:off x="-4682613" y="3730688"/>
                <a:ext cx="957313" cy="369332"/>
              </a:xfrm>
              <a:prstGeom prst="rect">
                <a:avLst/>
              </a:prstGeom>
              <a:noFill/>
            </p:spPr>
            <p:txBody>
              <a:bodyPr wrap="none" rtlCol="0">
                <a:spAutoFit/>
              </a:bodyPr>
              <a:lstStyle/>
              <a:p>
                <a:r>
                  <a:rPr lang="en-US" dirty="0">
                    <a:solidFill>
                      <a:srgbClr val="C17A90">
                        <a:alpha val="50000"/>
                      </a:srgbClr>
                    </a:solidFill>
                    <a:latin typeface="Century Gothic" panose="020B0502020202020204" pitchFamily="34" charset="0"/>
                  </a:rPr>
                  <a:t>ripping</a:t>
                </a:r>
              </a:p>
            </p:txBody>
          </p:sp>
          <p:sp>
            <p:nvSpPr>
              <p:cNvPr id="65" name="TextBox 64">
                <a:extLst>
                  <a:ext uri="{FF2B5EF4-FFF2-40B4-BE49-F238E27FC236}">
                    <a16:creationId xmlns:a16="http://schemas.microsoft.com/office/drawing/2014/main" xmlns="" id="{28F84A82-7AE4-AA4C-8A2E-61BCEB468B52}"/>
                  </a:ext>
                </a:extLst>
              </p:cNvPr>
              <p:cNvSpPr txBox="1"/>
              <p:nvPr/>
            </p:nvSpPr>
            <p:spPr>
              <a:xfrm>
                <a:off x="-3098714" y="2901434"/>
                <a:ext cx="1091966" cy="369332"/>
              </a:xfrm>
              <a:prstGeom prst="rect">
                <a:avLst/>
              </a:prstGeom>
              <a:noFill/>
            </p:spPr>
            <p:txBody>
              <a:bodyPr wrap="none" rtlCol="0">
                <a:spAutoFit/>
              </a:bodyPr>
              <a:lstStyle/>
              <a:p>
                <a:r>
                  <a:rPr lang="en-US" dirty="0">
                    <a:solidFill>
                      <a:srgbClr val="C17A90">
                        <a:alpha val="50000"/>
                      </a:srgbClr>
                    </a:solidFill>
                    <a:latin typeface="Century Gothic" panose="020B0502020202020204" pitchFamily="34" charset="0"/>
                  </a:rPr>
                  <a:t>ordered</a:t>
                </a:r>
              </a:p>
            </p:txBody>
          </p:sp>
          <p:sp>
            <p:nvSpPr>
              <p:cNvPr id="66" name="TextBox 65">
                <a:extLst>
                  <a:ext uri="{FF2B5EF4-FFF2-40B4-BE49-F238E27FC236}">
                    <a16:creationId xmlns:a16="http://schemas.microsoft.com/office/drawing/2014/main" xmlns="" id="{B5A9EB4A-DF3F-9E4B-BF48-9C7A83FFFAFD}"/>
                  </a:ext>
                </a:extLst>
              </p:cNvPr>
              <p:cNvSpPr txBox="1"/>
              <p:nvPr/>
            </p:nvSpPr>
            <p:spPr>
              <a:xfrm>
                <a:off x="-4846431" y="2904891"/>
                <a:ext cx="1354858" cy="369332"/>
              </a:xfrm>
              <a:prstGeom prst="rect">
                <a:avLst/>
              </a:prstGeom>
              <a:noFill/>
            </p:spPr>
            <p:txBody>
              <a:bodyPr wrap="none" rtlCol="0">
                <a:spAutoFit/>
              </a:bodyPr>
              <a:lstStyle/>
              <a:p>
                <a:r>
                  <a:rPr lang="en-US" dirty="0">
                    <a:solidFill>
                      <a:srgbClr val="C17A90">
                        <a:alpha val="50000"/>
                      </a:srgbClr>
                    </a:solidFill>
                    <a:latin typeface="Century Gothic" panose="020B0502020202020204" pitchFamily="34" charset="0"/>
                  </a:rPr>
                  <a:t>cascaded</a:t>
                </a:r>
              </a:p>
            </p:txBody>
          </p:sp>
        </p:grpSp>
        <p:cxnSp>
          <p:nvCxnSpPr>
            <p:cNvPr id="45" name="Straight Connector 44">
              <a:extLst>
                <a:ext uri="{FF2B5EF4-FFF2-40B4-BE49-F238E27FC236}">
                  <a16:creationId xmlns:a16="http://schemas.microsoft.com/office/drawing/2014/main" xmlns="" id="{92AD4E36-72AB-1748-9493-E245CFD71CEA}"/>
                </a:ext>
              </a:extLst>
            </p:cNvPr>
            <p:cNvCxnSpPr>
              <a:cxnSpLocks/>
            </p:cNvCxnSpPr>
            <p:nvPr/>
          </p:nvCxnSpPr>
          <p:spPr>
            <a:xfrm>
              <a:off x="-3491573" y="5064923"/>
              <a:ext cx="0" cy="339443"/>
            </a:xfrm>
            <a:prstGeom prst="line">
              <a:avLst/>
            </a:prstGeom>
            <a:ln>
              <a:solidFill>
                <a:schemeClr val="dk1">
                  <a:alpha val="50000"/>
                </a:schemeClr>
              </a:solidFill>
            </a:ln>
          </p:spPr>
          <p:style>
            <a:lnRef idx="3">
              <a:schemeClr val="dk1"/>
            </a:lnRef>
            <a:fillRef idx="0">
              <a:schemeClr val="dk1"/>
            </a:fillRef>
            <a:effectRef idx="2">
              <a:schemeClr val="dk1"/>
            </a:effectRef>
            <a:fontRef idx="minor">
              <a:schemeClr val="tx1"/>
            </a:fontRef>
          </p:style>
        </p:cxnSp>
        <p:cxnSp>
          <p:nvCxnSpPr>
            <p:cNvPr id="58" name="Straight Connector 57">
              <a:extLst>
                <a:ext uri="{FF2B5EF4-FFF2-40B4-BE49-F238E27FC236}">
                  <a16:creationId xmlns:a16="http://schemas.microsoft.com/office/drawing/2014/main" xmlns="" id="{22A4815A-259E-7D49-AC14-49C7E0605A80}"/>
                </a:ext>
              </a:extLst>
            </p:cNvPr>
            <p:cNvCxnSpPr>
              <a:cxnSpLocks/>
            </p:cNvCxnSpPr>
            <p:nvPr/>
          </p:nvCxnSpPr>
          <p:spPr>
            <a:xfrm>
              <a:off x="-4419600" y="5404366"/>
              <a:ext cx="0" cy="339443"/>
            </a:xfrm>
            <a:prstGeom prst="line">
              <a:avLst/>
            </a:prstGeom>
            <a:ln>
              <a:solidFill>
                <a:schemeClr val="dk1">
                  <a:alpha val="50000"/>
                </a:schemeClr>
              </a:solidFill>
            </a:ln>
          </p:spPr>
          <p:style>
            <a:lnRef idx="3">
              <a:schemeClr val="dk1"/>
            </a:lnRef>
            <a:fillRef idx="0">
              <a:schemeClr val="dk1"/>
            </a:fillRef>
            <a:effectRef idx="2">
              <a:schemeClr val="dk1"/>
            </a:effectRef>
            <a:fontRef idx="minor">
              <a:schemeClr val="tx1"/>
            </a:fontRef>
          </p:style>
        </p:cxnSp>
        <p:cxnSp>
          <p:nvCxnSpPr>
            <p:cNvPr id="59" name="Straight Connector 58">
              <a:extLst>
                <a:ext uri="{FF2B5EF4-FFF2-40B4-BE49-F238E27FC236}">
                  <a16:creationId xmlns:a16="http://schemas.microsoft.com/office/drawing/2014/main" xmlns="" id="{50E9F7F8-A248-6D4A-8548-3862A8CBF78A}"/>
                </a:ext>
              </a:extLst>
            </p:cNvPr>
            <p:cNvCxnSpPr>
              <a:cxnSpLocks/>
            </p:cNvCxnSpPr>
            <p:nvPr/>
          </p:nvCxnSpPr>
          <p:spPr>
            <a:xfrm>
              <a:off x="-4089497" y="5404366"/>
              <a:ext cx="0" cy="339443"/>
            </a:xfrm>
            <a:prstGeom prst="line">
              <a:avLst/>
            </a:prstGeom>
            <a:ln>
              <a:solidFill>
                <a:schemeClr val="dk1">
                  <a:alpha val="50000"/>
                </a:schemeClr>
              </a:solidFill>
            </a:ln>
          </p:spPr>
          <p:style>
            <a:lnRef idx="3">
              <a:schemeClr val="dk1"/>
            </a:lnRef>
            <a:fillRef idx="0">
              <a:schemeClr val="dk1"/>
            </a:fillRef>
            <a:effectRef idx="2">
              <a:schemeClr val="dk1"/>
            </a:effectRef>
            <a:fontRef idx="minor">
              <a:schemeClr val="tx1"/>
            </a:fontRef>
          </p:style>
        </p:cxnSp>
        <p:cxnSp>
          <p:nvCxnSpPr>
            <p:cNvPr id="60" name="Straight Connector 59">
              <a:extLst>
                <a:ext uri="{FF2B5EF4-FFF2-40B4-BE49-F238E27FC236}">
                  <a16:creationId xmlns:a16="http://schemas.microsoft.com/office/drawing/2014/main" xmlns="" id="{FF3B8F8E-6948-1448-A083-D8562DA2F434}"/>
                </a:ext>
              </a:extLst>
            </p:cNvPr>
            <p:cNvCxnSpPr>
              <a:cxnSpLocks/>
            </p:cNvCxnSpPr>
            <p:nvPr/>
          </p:nvCxnSpPr>
          <p:spPr>
            <a:xfrm>
              <a:off x="-3060614" y="5064923"/>
              <a:ext cx="0" cy="339443"/>
            </a:xfrm>
            <a:prstGeom prst="line">
              <a:avLst/>
            </a:prstGeom>
            <a:ln>
              <a:solidFill>
                <a:schemeClr val="dk1">
                  <a:alpha val="50000"/>
                </a:schemeClr>
              </a:solidFill>
            </a:ln>
          </p:spPr>
          <p:style>
            <a:lnRef idx="3">
              <a:schemeClr val="dk1"/>
            </a:lnRef>
            <a:fillRef idx="0">
              <a:schemeClr val="dk1"/>
            </a:fillRef>
            <a:effectRef idx="2">
              <a:schemeClr val="dk1"/>
            </a:effectRef>
            <a:fontRef idx="minor">
              <a:schemeClr val="tx1"/>
            </a:fontRef>
          </p:style>
        </p:cxnSp>
        <p:cxnSp>
          <p:nvCxnSpPr>
            <p:cNvPr id="61" name="Straight Connector 60">
              <a:extLst>
                <a:ext uri="{FF2B5EF4-FFF2-40B4-BE49-F238E27FC236}">
                  <a16:creationId xmlns:a16="http://schemas.microsoft.com/office/drawing/2014/main" xmlns="" id="{F0DD31F0-E600-8D48-936A-ADB0FFC88AE6}"/>
                </a:ext>
              </a:extLst>
            </p:cNvPr>
            <p:cNvCxnSpPr>
              <a:cxnSpLocks/>
            </p:cNvCxnSpPr>
            <p:nvPr/>
          </p:nvCxnSpPr>
          <p:spPr>
            <a:xfrm>
              <a:off x="-2082620" y="5064923"/>
              <a:ext cx="0" cy="339443"/>
            </a:xfrm>
            <a:prstGeom prst="line">
              <a:avLst/>
            </a:prstGeom>
            <a:ln>
              <a:solidFill>
                <a:schemeClr val="dk1">
                  <a:alpha val="50000"/>
                </a:schemeClr>
              </a:solidFill>
            </a:ln>
          </p:spPr>
          <p:style>
            <a:lnRef idx="3">
              <a:schemeClr val="dk1"/>
            </a:lnRef>
            <a:fillRef idx="0">
              <a:schemeClr val="dk1"/>
            </a:fillRef>
            <a:effectRef idx="2">
              <a:schemeClr val="dk1"/>
            </a:effectRef>
            <a:fontRef idx="minor">
              <a:schemeClr val="tx1"/>
            </a:fontRef>
          </p:style>
        </p:cxnSp>
        <p:cxnSp>
          <p:nvCxnSpPr>
            <p:cNvPr id="62" name="Straight Connector 61">
              <a:extLst>
                <a:ext uri="{FF2B5EF4-FFF2-40B4-BE49-F238E27FC236}">
                  <a16:creationId xmlns:a16="http://schemas.microsoft.com/office/drawing/2014/main" xmlns="" id="{842C74D4-16BB-6F45-8C11-FACFBCC29B09}"/>
                </a:ext>
              </a:extLst>
            </p:cNvPr>
            <p:cNvCxnSpPr>
              <a:cxnSpLocks/>
            </p:cNvCxnSpPr>
            <p:nvPr/>
          </p:nvCxnSpPr>
          <p:spPr>
            <a:xfrm>
              <a:off x="-4953000" y="5064923"/>
              <a:ext cx="0" cy="339443"/>
            </a:xfrm>
            <a:prstGeom prst="line">
              <a:avLst/>
            </a:prstGeom>
            <a:ln>
              <a:solidFill>
                <a:schemeClr val="dk1">
                  <a:alpha val="50000"/>
                </a:schemeClr>
              </a:solidFill>
            </a:ln>
          </p:spPr>
          <p:style>
            <a:lnRef idx="3">
              <a:schemeClr val="dk1"/>
            </a:lnRef>
            <a:fillRef idx="0">
              <a:schemeClr val="dk1"/>
            </a:fillRef>
            <a:effectRef idx="2">
              <a:schemeClr val="dk1"/>
            </a:effectRef>
            <a:fontRef idx="minor">
              <a:schemeClr val="tx1"/>
            </a:fontRef>
          </p:style>
        </p:cxnSp>
      </p:grpSp>
      <p:sp>
        <p:nvSpPr>
          <p:cNvPr id="67" name="TextBox 66">
            <a:extLst>
              <a:ext uri="{FF2B5EF4-FFF2-40B4-BE49-F238E27FC236}">
                <a16:creationId xmlns:a16="http://schemas.microsoft.com/office/drawing/2014/main" xmlns="" id="{44494CDC-D9CC-8A45-BF95-E3ED69C0F731}"/>
              </a:ext>
            </a:extLst>
          </p:cNvPr>
          <p:cNvSpPr txBox="1"/>
          <p:nvPr/>
        </p:nvSpPr>
        <p:spPr>
          <a:xfrm>
            <a:off x="8219376" y="4388521"/>
            <a:ext cx="696024" cy="369332"/>
          </a:xfrm>
          <a:prstGeom prst="rect">
            <a:avLst/>
          </a:prstGeom>
          <a:noFill/>
          <a:ln>
            <a:noFill/>
          </a:ln>
        </p:spPr>
        <p:txBody>
          <a:bodyPr wrap="none" rtlCol="0">
            <a:spAutoFit/>
          </a:bodyPr>
          <a:lstStyle/>
          <a:p>
            <a:pPr lvl="0">
              <a:spcBef>
                <a:spcPct val="20000"/>
              </a:spcBef>
              <a:buClr>
                <a:srgbClr val="000080"/>
              </a:buClr>
            </a:pPr>
            <a:r>
              <a:rPr lang="en-US" dirty="0">
                <a:solidFill>
                  <a:schemeClr val="bg2">
                    <a:alpha val="50000"/>
                  </a:schemeClr>
                </a:solidFill>
                <a:latin typeface="Century Gothic" panose="020B0502020202020204" pitchFamily="34" charset="0"/>
                <a:ea typeface="Courier" charset="0"/>
                <a:cs typeface="Courier" charset="0"/>
                <a:sym typeface="Wingdings" panose="05000000000000000000" pitchFamily="2" charset="2"/>
              </a:rPr>
              <a:t>Time</a:t>
            </a:r>
            <a:endParaRPr lang="en-US" dirty="0">
              <a:solidFill>
                <a:schemeClr val="bg2">
                  <a:alpha val="50000"/>
                </a:schemeClr>
              </a:solidFill>
              <a:latin typeface="Century Gothic" panose="020B0502020202020204" pitchFamily="34" charset="0"/>
              <a:cs typeface="Calibri" panose="020F0502020204030204" pitchFamily="34" charset="0"/>
              <a:sym typeface="Wingdings" panose="05000000000000000000" pitchFamily="2" charset="2"/>
            </a:endParaRPr>
          </a:p>
        </p:txBody>
      </p:sp>
      <p:sp>
        <p:nvSpPr>
          <p:cNvPr id="9" name="Bent-Up Arrow 8">
            <a:extLst>
              <a:ext uri="{FF2B5EF4-FFF2-40B4-BE49-F238E27FC236}">
                <a16:creationId xmlns:a16="http://schemas.microsoft.com/office/drawing/2014/main" xmlns="" id="{49008456-07ED-3C48-AB5B-2C5A20E8E5F4}"/>
              </a:ext>
            </a:extLst>
          </p:cNvPr>
          <p:cNvSpPr/>
          <p:nvPr/>
        </p:nvSpPr>
        <p:spPr>
          <a:xfrm>
            <a:off x="6436420" y="4438750"/>
            <a:ext cx="1153915" cy="486831"/>
          </a:xfrm>
          <a:prstGeom prst="bentUpArrow">
            <a:avLst>
              <a:gd name="adj1" fmla="val 15490"/>
              <a:gd name="adj2" fmla="val 25000"/>
              <a:gd name="adj3" fmla="val 29755"/>
            </a:avLst>
          </a:prstGeom>
          <a:solidFill>
            <a:srgbClr val="FF0000">
              <a:alpha val="5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xmlns="" id="{F71D1E1C-00EE-7E42-83D0-4B601E7E7672}"/>
              </a:ext>
            </a:extLst>
          </p:cNvPr>
          <p:cNvSpPr txBox="1"/>
          <p:nvPr/>
        </p:nvSpPr>
        <p:spPr>
          <a:xfrm>
            <a:off x="6420023" y="5008250"/>
            <a:ext cx="1891865" cy="369332"/>
          </a:xfrm>
          <a:prstGeom prst="rect">
            <a:avLst/>
          </a:prstGeom>
          <a:noFill/>
        </p:spPr>
        <p:txBody>
          <a:bodyPr wrap="none" rtlCol="0">
            <a:spAutoFit/>
          </a:bodyPr>
          <a:lstStyle/>
          <a:p>
            <a:r>
              <a:rPr lang="en-US" dirty="0">
                <a:solidFill>
                  <a:srgbClr val="FF0000">
                    <a:alpha val="50000"/>
                  </a:srgbClr>
                </a:solidFill>
                <a:latin typeface="Century Gothic" panose="020B0502020202020204" pitchFamily="34" charset="0"/>
              </a:rPr>
              <a:t>Must be before</a:t>
            </a:r>
          </a:p>
        </p:txBody>
      </p:sp>
      <p:sp>
        <p:nvSpPr>
          <p:cNvPr id="5" name="TextBox 4">
            <a:extLst>
              <a:ext uri="{FF2B5EF4-FFF2-40B4-BE49-F238E27FC236}">
                <a16:creationId xmlns:a16="http://schemas.microsoft.com/office/drawing/2014/main" xmlns="" id="{88539280-3D24-834A-8256-1C52BB5E9175}"/>
              </a:ext>
            </a:extLst>
          </p:cNvPr>
          <p:cNvSpPr txBox="1"/>
          <p:nvPr/>
        </p:nvSpPr>
        <p:spPr>
          <a:xfrm>
            <a:off x="3128639" y="4005400"/>
            <a:ext cx="396262" cy="523220"/>
          </a:xfrm>
          <a:prstGeom prst="rect">
            <a:avLst/>
          </a:prstGeom>
          <a:noFill/>
        </p:spPr>
        <p:txBody>
          <a:bodyPr wrap="none" rtlCol="0">
            <a:spAutoFit/>
          </a:bodyPr>
          <a:lstStyle/>
          <a:p>
            <a:r>
              <a:rPr lang="en-US" sz="2800" dirty="0">
                <a:solidFill>
                  <a:srgbClr val="FF0000">
                    <a:alpha val="50000"/>
                  </a:srgbClr>
                </a:solidFill>
                <a:latin typeface="Century Gothic" panose="020B0502020202020204" pitchFamily="34" charset="0"/>
              </a:rPr>
              <a:t>?</a:t>
            </a:r>
          </a:p>
        </p:txBody>
      </p:sp>
      <p:sp>
        <p:nvSpPr>
          <p:cNvPr id="6" name="TextBox 5">
            <a:extLst>
              <a:ext uri="{FF2B5EF4-FFF2-40B4-BE49-F238E27FC236}">
                <a16:creationId xmlns:a16="http://schemas.microsoft.com/office/drawing/2014/main" xmlns="" id="{C34A5283-AEA1-D242-8C92-C042CE04BF54}"/>
              </a:ext>
            </a:extLst>
          </p:cNvPr>
          <p:cNvSpPr txBox="1"/>
          <p:nvPr/>
        </p:nvSpPr>
        <p:spPr>
          <a:xfrm>
            <a:off x="5529285" y="2526473"/>
            <a:ext cx="2919389" cy="461665"/>
          </a:xfrm>
          <a:prstGeom prst="rect">
            <a:avLst/>
          </a:prstGeom>
          <a:noFill/>
        </p:spPr>
        <p:txBody>
          <a:bodyPr wrap="none" rtlCol="0">
            <a:spAutoFit/>
          </a:bodyPr>
          <a:lstStyle/>
          <a:p>
            <a:r>
              <a:rPr lang="en-US" sz="2400" b="1" dirty="0">
                <a:solidFill>
                  <a:srgbClr val="000000"/>
                </a:solidFill>
                <a:latin typeface="Century Gothic" panose="020B0502020202020204" pitchFamily="34" charset="0"/>
                <a:cs typeface="Calibri" panose="020F0502020204030204" pitchFamily="34" charset="0"/>
              </a:rPr>
              <a:t>with local learning</a:t>
            </a:r>
            <a:endParaRPr lang="en-US" dirty="0"/>
          </a:p>
        </p:txBody>
      </p:sp>
    </p:spTree>
    <p:extLst>
      <p:ext uri="{BB962C8B-B14F-4D97-AF65-F5344CB8AC3E}">
        <p14:creationId xmlns:p14="http://schemas.microsoft.com/office/powerpoint/2010/main" val="302495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7" name="Elbow Connector 76">
            <a:extLst>
              <a:ext uri="{FF2B5EF4-FFF2-40B4-BE49-F238E27FC236}">
                <a16:creationId xmlns:a16="http://schemas.microsoft.com/office/drawing/2014/main" xmlns="" id="{825B8EA7-88DA-F143-8302-5409CE8F083A}"/>
              </a:ext>
            </a:extLst>
          </p:cNvPr>
          <p:cNvCxnSpPr>
            <a:cxnSpLocks/>
          </p:cNvCxnSpPr>
          <p:nvPr/>
        </p:nvCxnSpPr>
        <p:spPr>
          <a:xfrm>
            <a:off x="5524317" y="3253590"/>
            <a:ext cx="3162102" cy="210258"/>
          </a:xfrm>
          <a:prstGeom prst="bentConnector3">
            <a:avLst>
              <a:gd name="adj1" fmla="val 16361"/>
            </a:avLst>
          </a:prstGeom>
          <a:ln w="1905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a:extLst>
              <a:ext uri="{FF2B5EF4-FFF2-40B4-BE49-F238E27FC236}">
                <a16:creationId xmlns:a16="http://schemas.microsoft.com/office/drawing/2014/main" xmlns="" id="{51589945-D842-3947-8CFB-2262AAD44E26}"/>
              </a:ext>
            </a:extLst>
          </p:cNvPr>
          <p:cNvCxnSpPr>
            <a:cxnSpLocks/>
          </p:cNvCxnSpPr>
          <p:nvPr/>
        </p:nvCxnSpPr>
        <p:spPr>
          <a:xfrm>
            <a:off x="5524317" y="2927866"/>
            <a:ext cx="3162102" cy="535982"/>
          </a:xfrm>
          <a:prstGeom prst="bentConnector3">
            <a:avLst>
              <a:gd name="adj1" fmla="val 16361"/>
            </a:avLst>
          </a:prstGeom>
          <a:ln w="1905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a:extLst>
              <a:ext uri="{FF2B5EF4-FFF2-40B4-BE49-F238E27FC236}">
                <a16:creationId xmlns:a16="http://schemas.microsoft.com/office/drawing/2014/main" xmlns="" id="{4F8D7680-DBD5-D840-A532-0090010809BD}"/>
              </a:ext>
            </a:extLst>
          </p:cNvPr>
          <p:cNvCxnSpPr>
            <a:cxnSpLocks/>
          </p:cNvCxnSpPr>
          <p:nvPr/>
        </p:nvCxnSpPr>
        <p:spPr>
          <a:xfrm>
            <a:off x="5524317" y="2646859"/>
            <a:ext cx="3162102" cy="816989"/>
          </a:xfrm>
          <a:prstGeom prst="bentConnector3">
            <a:avLst>
              <a:gd name="adj1" fmla="val 16361"/>
            </a:avLst>
          </a:prstGeom>
          <a:ln w="1905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4" name="Elbow Connector 63">
            <a:extLst>
              <a:ext uri="{FF2B5EF4-FFF2-40B4-BE49-F238E27FC236}">
                <a16:creationId xmlns:a16="http://schemas.microsoft.com/office/drawing/2014/main" xmlns="" id="{09DE97DA-D56B-894F-81BB-94B81B82F82D}"/>
              </a:ext>
            </a:extLst>
          </p:cNvPr>
          <p:cNvCxnSpPr>
            <a:cxnSpLocks/>
          </p:cNvCxnSpPr>
          <p:nvPr/>
        </p:nvCxnSpPr>
        <p:spPr>
          <a:xfrm>
            <a:off x="5524317" y="2316059"/>
            <a:ext cx="3162102" cy="1147789"/>
          </a:xfrm>
          <a:prstGeom prst="bentConnector3">
            <a:avLst>
              <a:gd name="adj1" fmla="val 16361"/>
            </a:avLst>
          </a:prstGeom>
          <a:ln w="1905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4C1B584B-C97F-4280-A16C-ABFABC535E5A}"/>
              </a:ext>
            </a:extLst>
          </p:cNvPr>
          <p:cNvSpPr>
            <a:spLocks noGrp="1"/>
          </p:cNvSpPr>
          <p:nvPr>
            <p:ph type="title"/>
          </p:nvPr>
        </p:nvSpPr>
        <p:spPr/>
        <p:txBody>
          <a:bodyPr/>
          <a:lstStyle/>
          <a:p>
            <a:r>
              <a:rPr lang="en-US" dirty="0"/>
              <a:t>Local learning in previous methods</a:t>
            </a:r>
          </a:p>
        </p:txBody>
      </p:sp>
      <p:sp>
        <p:nvSpPr>
          <p:cNvPr id="37" name="TextBox 36">
            <a:extLst>
              <a:ext uri="{FF2B5EF4-FFF2-40B4-BE49-F238E27FC236}">
                <a16:creationId xmlns:a16="http://schemas.microsoft.com/office/drawing/2014/main" xmlns="" id="{69231A96-B0D2-4862-A853-F2BB70CA4250}"/>
              </a:ext>
            </a:extLst>
          </p:cNvPr>
          <p:cNvSpPr txBox="1"/>
          <p:nvPr/>
        </p:nvSpPr>
        <p:spPr>
          <a:xfrm>
            <a:off x="4650360" y="2162889"/>
            <a:ext cx="873957" cy="307777"/>
          </a:xfrm>
          <a:prstGeom prst="rect">
            <a:avLst/>
          </a:prstGeom>
          <a:noFill/>
          <a:ln>
            <a:noFill/>
          </a:ln>
        </p:spPr>
        <p:txBody>
          <a:bodyPr wrap="square" rtlCol="0">
            <a:spAutoFit/>
          </a:bodyPr>
          <a:lstStyle/>
          <a:p>
            <a:r>
              <a:rPr lang="en-US" altLang="zh-CN" sz="1400" b="1" dirty="0">
                <a:solidFill>
                  <a:srgbClr val="C17A90"/>
                </a:solidFill>
                <a:latin typeface="Times New Roman" charset="0"/>
                <a:ea typeface="Times New Roman" charset="0"/>
                <a:cs typeface="Times New Roman" charset="0"/>
              </a:rPr>
              <a:t>cascaded</a:t>
            </a:r>
            <a:endParaRPr lang="en-US" sz="1400" b="1" dirty="0">
              <a:solidFill>
                <a:srgbClr val="C17A90"/>
              </a:solidFill>
              <a:latin typeface="Times New Roman" charset="0"/>
              <a:ea typeface="Times New Roman" charset="0"/>
              <a:cs typeface="Times New Roman" charset="0"/>
            </a:endParaRPr>
          </a:p>
        </p:txBody>
      </p:sp>
      <p:sp>
        <p:nvSpPr>
          <p:cNvPr id="35" name="TextBox 34">
            <a:extLst>
              <a:ext uri="{FF2B5EF4-FFF2-40B4-BE49-F238E27FC236}">
                <a16:creationId xmlns:a16="http://schemas.microsoft.com/office/drawing/2014/main" xmlns="" id="{B92B956A-DB60-4C14-A246-235EDA984580}"/>
              </a:ext>
            </a:extLst>
          </p:cNvPr>
          <p:cNvSpPr txBox="1"/>
          <p:nvPr/>
        </p:nvSpPr>
        <p:spPr>
          <a:xfrm>
            <a:off x="4651915" y="2464487"/>
            <a:ext cx="522900"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hurt</a:t>
            </a:r>
          </a:p>
        </p:txBody>
      </p:sp>
      <p:sp>
        <p:nvSpPr>
          <p:cNvPr id="33" name="TextBox 32">
            <a:extLst>
              <a:ext uri="{FF2B5EF4-FFF2-40B4-BE49-F238E27FC236}">
                <a16:creationId xmlns:a16="http://schemas.microsoft.com/office/drawing/2014/main" xmlns="" id="{306FE320-D23E-4FEE-9F8E-CA98C6C5F530}"/>
              </a:ext>
            </a:extLst>
          </p:cNvPr>
          <p:cNvSpPr txBox="1"/>
          <p:nvPr/>
        </p:nvSpPr>
        <p:spPr>
          <a:xfrm>
            <a:off x="1076694" y="2162890"/>
            <a:ext cx="752129"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ripping</a:t>
            </a:r>
          </a:p>
        </p:txBody>
      </p:sp>
      <p:sp>
        <p:nvSpPr>
          <p:cNvPr id="31" name="TextBox 30">
            <a:extLst>
              <a:ext uri="{FF2B5EF4-FFF2-40B4-BE49-F238E27FC236}">
                <a16:creationId xmlns:a16="http://schemas.microsoft.com/office/drawing/2014/main" xmlns="" id="{49003EBB-30C2-4A6E-9B7E-9B8B4726829D}"/>
              </a:ext>
            </a:extLst>
          </p:cNvPr>
          <p:cNvSpPr txBox="1"/>
          <p:nvPr/>
        </p:nvSpPr>
        <p:spPr>
          <a:xfrm>
            <a:off x="1076694" y="3084325"/>
            <a:ext cx="790537"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ordered</a:t>
            </a:r>
          </a:p>
        </p:txBody>
      </p:sp>
      <p:cxnSp>
        <p:nvCxnSpPr>
          <p:cNvPr id="18" name="Straight Arrow Connector 17">
            <a:extLst>
              <a:ext uri="{FF2B5EF4-FFF2-40B4-BE49-F238E27FC236}">
                <a16:creationId xmlns:a16="http://schemas.microsoft.com/office/drawing/2014/main" xmlns="" id="{0BACCC43-6CC5-4C3C-8E5E-F9F927F8B94F}"/>
              </a:ext>
            </a:extLst>
          </p:cNvPr>
          <p:cNvCxnSpPr>
            <a:cxnSpLocks/>
          </p:cNvCxnSpPr>
          <p:nvPr/>
        </p:nvCxnSpPr>
        <p:spPr>
          <a:xfrm rot="-5400000" flipH="1">
            <a:off x="3270022" y="1918639"/>
            <a:ext cx="2275" cy="798556"/>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xmlns="" id="{4FF3051B-1BED-4F81-84E9-9144F59A6658}"/>
              </a:ext>
            </a:extLst>
          </p:cNvPr>
          <p:cNvCxnSpPr>
            <a:cxnSpLocks/>
          </p:cNvCxnSpPr>
          <p:nvPr/>
        </p:nvCxnSpPr>
        <p:spPr>
          <a:xfrm rot="-8640000" flipH="1">
            <a:off x="2966222" y="2713993"/>
            <a:ext cx="609875" cy="439625"/>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4B33CC75-CE81-4793-BE14-84BC2B70A7B6}"/>
              </a:ext>
            </a:extLst>
          </p:cNvPr>
          <p:cNvCxnSpPr>
            <a:cxnSpLocks/>
          </p:cNvCxnSpPr>
          <p:nvPr/>
        </p:nvCxnSpPr>
        <p:spPr>
          <a:xfrm rot="-1860000">
            <a:off x="2513149" y="3707705"/>
            <a:ext cx="1516020" cy="900866"/>
          </a:xfrm>
          <a:prstGeom prst="straightConnector1">
            <a:avLst/>
          </a:prstGeom>
          <a:ln w="31750" cmpd="sng">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xmlns="" id="{DF7A1C68-39CB-4B4F-AF30-2115BB94C260}"/>
              </a:ext>
            </a:extLst>
          </p:cNvPr>
          <p:cNvCxnSpPr>
            <a:cxnSpLocks/>
          </p:cNvCxnSpPr>
          <p:nvPr/>
        </p:nvCxnSpPr>
        <p:spPr>
          <a:xfrm flipV="1">
            <a:off x="2776540" y="3566825"/>
            <a:ext cx="989239" cy="4454"/>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BFF47532-9C5A-4318-AAFC-616F8209B108}"/>
              </a:ext>
            </a:extLst>
          </p:cNvPr>
          <p:cNvCxnSpPr>
            <a:cxnSpLocks/>
          </p:cNvCxnSpPr>
          <p:nvPr/>
        </p:nvCxnSpPr>
        <p:spPr>
          <a:xfrm rot="8400000" flipH="1" flipV="1">
            <a:off x="2998997" y="2397294"/>
            <a:ext cx="544324" cy="465694"/>
          </a:xfrm>
          <a:prstGeom prst="straightConnector1">
            <a:avLst/>
          </a:prstGeom>
          <a:ln w="31750" cmpd="sng">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xmlns="" id="{CF3EC16A-6808-436E-B8D5-2FC0C52207EE}"/>
              </a:ext>
            </a:extLst>
          </p:cNvPr>
          <p:cNvSpPr txBox="1"/>
          <p:nvPr/>
        </p:nvSpPr>
        <p:spPr>
          <a:xfrm>
            <a:off x="4650360" y="3073861"/>
            <a:ext cx="801823"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monitor</a:t>
            </a:r>
          </a:p>
        </p:txBody>
      </p:sp>
      <p:cxnSp>
        <p:nvCxnSpPr>
          <p:cNvPr id="24" name="Straight Connector 23">
            <a:extLst>
              <a:ext uri="{FF2B5EF4-FFF2-40B4-BE49-F238E27FC236}">
                <a16:creationId xmlns:a16="http://schemas.microsoft.com/office/drawing/2014/main" xmlns="" id="{F6CE56D6-D023-4B88-B59D-400ACE613C21}"/>
              </a:ext>
            </a:extLst>
          </p:cNvPr>
          <p:cNvCxnSpPr>
            <a:cxnSpLocks/>
          </p:cNvCxnSpPr>
          <p:nvPr/>
        </p:nvCxnSpPr>
        <p:spPr>
          <a:xfrm flipH="1" flipV="1">
            <a:off x="2745881" y="3853190"/>
            <a:ext cx="1050557" cy="150"/>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C8235993-3487-4925-AE51-802546311D16}"/>
              </a:ext>
            </a:extLst>
          </p:cNvPr>
          <p:cNvCxnSpPr>
            <a:cxnSpLocks/>
          </p:cNvCxnSpPr>
          <p:nvPr/>
        </p:nvCxnSpPr>
        <p:spPr>
          <a:xfrm rot="5400000" flipH="1">
            <a:off x="3267448" y="2879871"/>
            <a:ext cx="7422" cy="775397"/>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5F41F946-2002-4ED4-994A-76B18F3455CF}"/>
              </a:ext>
            </a:extLst>
          </p:cNvPr>
          <p:cNvCxnSpPr>
            <a:cxnSpLocks/>
          </p:cNvCxnSpPr>
          <p:nvPr/>
        </p:nvCxnSpPr>
        <p:spPr>
          <a:xfrm rot="1620000" flipH="1">
            <a:off x="2432664" y="4040402"/>
            <a:ext cx="1676991" cy="86106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34F1B8A9-5B03-4D1A-B2D7-9B58D51F6443}"/>
              </a:ext>
            </a:extLst>
          </p:cNvPr>
          <p:cNvCxnSpPr>
            <a:cxnSpLocks/>
          </p:cNvCxnSpPr>
          <p:nvPr/>
        </p:nvCxnSpPr>
        <p:spPr>
          <a:xfrm rot="600000" flipH="1">
            <a:off x="1981972" y="4584534"/>
            <a:ext cx="2578374" cy="448609"/>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xmlns="" id="{1790034E-07E3-4A1D-A4A6-9B3839F3BF3F}"/>
              </a:ext>
            </a:extLst>
          </p:cNvPr>
          <p:cNvCxnSpPr>
            <a:cxnSpLocks/>
          </p:cNvCxnSpPr>
          <p:nvPr/>
        </p:nvCxnSpPr>
        <p:spPr>
          <a:xfrm flipV="1">
            <a:off x="2541240" y="5226344"/>
            <a:ext cx="271390" cy="3376"/>
          </a:xfrm>
          <a:prstGeom prst="straightConnector1">
            <a:avLst/>
          </a:prstGeom>
          <a:ln w="6350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4CDA7464-9DEF-4ECF-8EB3-DA28951C95A3}"/>
              </a:ext>
            </a:extLst>
          </p:cNvPr>
          <p:cNvSpPr txBox="1"/>
          <p:nvPr/>
        </p:nvSpPr>
        <p:spPr>
          <a:xfrm>
            <a:off x="2780005" y="5136684"/>
            <a:ext cx="607859" cy="215444"/>
          </a:xfrm>
          <a:prstGeom prst="rect">
            <a:avLst/>
          </a:prstGeom>
          <a:noFill/>
          <a:ln>
            <a:noFill/>
          </a:ln>
        </p:spPr>
        <p:txBody>
          <a:bodyPr wrap="square" rtlCol="0">
            <a:spAutoFit/>
          </a:bodyPr>
          <a:lstStyle/>
          <a:p>
            <a:r>
              <a:rPr lang="en-US" sz="800" b="1" dirty="0">
                <a:solidFill>
                  <a:srgbClr val="666089"/>
                </a:solidFill>
                <a:latin typeface="Times New Roman" charset="0"/>
                <a:ea typeface="Times New Roman" charset="0"/>
                <a:cs typeface="Times New Roman" charset="0"/>
              </a:rPr>
              <a:t>BEFORE</a:t>
            </a:r>
            <a:endParaRPr lang="en-US" sz="1200" b="1" dirty="0">
              <a:solidFill>
                <a:srgbClr val="666089"/>
              </a:solidFill>
              <a:latin typeface="Times New Roman" charset="0"/>
              <a:ea typeface="Times New Roman" charset="0"/>
              <a:cs typeface="Times New Roman" charset="0"/>
            </a:endParaRPr>
          </a:p>
        </p:txBody>
      </p:sp>
      <p:cxnSp>
        <p:nvCxnSpPr>
          <p:cNvPr id="12" name="Straight Arrow Connector 11">
            <a:extLst>
              <a:ext uri="{FF2B5EF4-FFF2-40B4-BE49-F238E27FC236}">
                <a16:creationId xmlns:a16="http://schemas.microsoft.com/office/drawing/2014/main" xmlns="" id="{3698058B-8FA1-4E6D-AED0-E7432B76635D}"/>
              </a:ext>
            </a:extLst>
          </p:cNvPr>
          <p:cNvCxnSpPr>
            <a:cxnSpLocks/>
          </p:cNvCxnSpPr>
          <p:nvPr/>
        </p:nvCxnSpPr>
        <p:spPr>
          <a:xfrm flipV="1">
            <a:off x="3390554" y="5226343"/>
            <a:ext cx="271390" cy="0"/>
          </a:xfrm>
          <a:prstGeom prst="straightConnector1">
            <a:avLst/>
          </a:prstGeom>
          <a:ln w="88900" cmpd="dbl">
            <a:solidFill>
              <a:schemeClr val="bg2"/>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383684F5-6E3C-428D-B627-C1F6F491FD1A}"/>
              </a:ext>
            </a:extLst>
          </p:cNvPr>
          <p:cNvSpPr txBox="1"/>
          <p:nvPr/>
        </p:nvSpPr>
        <p:spPr>
          <a:xfrm>
            <a:off x="3629319" y="5136684"/>
            <a:ext cx="731290" cy="215444"/>
          </a:xfrm>
          <a:prstGeom prst="rect">
            <a:avLst/>
          </a:prstGeom>
          <a:noFill/>
          <a:ln>
            <a:noFill/>
          </a:ln>
        </p:spPr>
        <p:txBody>
          <a:bodyPr wrap="square" rtlCol="0">
            <a:spAutoFit/>
          </a:bodyPr>
          <a:lstStyle/>
          <a:p>
            <a:r>
              <a:rPr lang="en-US" sz="800" b="1" dirty="0">
                <a:solidFill>
                  <a:srgbClr val="666089"/>
                </a:solidFill>
                <a:latin typeface="Times New Roman" charset="0"/>
                <a:ea typeface="Times New Roman" charset="0"/>
                <a:cs typeface="Times New Roman" charset="0"/>
              </a:rPr>
              <a:t>INCLUDED</a:t>
            </a:r>
            <a:endParaRPr lang="en-US" sz="1200" b="1" dirty="0">
              <a:solidFill>
                <a:srgbClr val="666089"/>
              </a:solidFill>
              <a:latin typeface="Times New Roman" charset="0"/>
              <a:ea typeface="Times New Roman" charset="0"/>
              <a:cs typeface="Times New Roman" charset="0"/>
            </a:endParaRPr>
          </a:p>
        </p:txBody>
      </p:sp>
      <p:sp>
        <p:nvSpPr>
          <p:cNvPr id="32" name="TextBox 31">
            <a:extLst>
              <a:ext uri="{FF2B5EF4-FFF2-40B4-BE49-F238E27FC236}">
                <a16:creationId xmlns:a16="http://schemas.microsoft.com/office/drawing/2014/main" xmlns="" id="{445A0CE4-0058-9A40-9453-8133EB8DBC60}"/>
              </a:ext>
            </a:extLst>
          </p:cNvPr>
          <p:cNvSpPr txBox="1"/>
          <p:nvPr/>
        </p:nvSpPr>
        <p:spPr>
          <a:xfrm>
            <a:off x="1076694" y="2464487"/>
            <a:ext cx="752129"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ripping</a:t>
            </a:r>
          </a:p>
        </p:txBody>
      </p:sp>
      <p:sp>
        <p:nvSpPr>
          <p:cNvPr id="34" name="TextBox 33">
            <a:extLst>
              <a:ext uri="{FF2B5EF4-FFF2-40B4-BE49-F238E27FC236}">
                <a16:creationId xmlns:a16="http://schemas.microsoft.com/office/drawing/2014/main" xmlns="" id="{B40C0D57-5372-6D40-ABAA-E2DB91C19334}"/>
              </a:ext>
            </a:extLst>
          </p:cNvPr>
          <p:cNvSpPr txBox="1"/>
          <p:nvPr/>
        </p:nvSpPr>
        <p:spPr>
          <a:xfrm>
            <a:off x="1076694" y="2766084"/>
            <a:ext cx="873957" cy="307777"/>
          </a:xfrm>
          <a:prstGeom prst="rect">
            <a:avLst/>
          </a:prstGeom>
          <a:noFill/>
          <a:ln>
            <a:noFill/>
          </a:ln>
        </p:spPr>
        <p:txBody>
          <a:bodyPr wrap="square" rtlCol="0">
            <a:spAutoFit/>
          </a:bodyPr>
          <a:lstStyle/>
          <a:p>
            <a:r>
              <a:rPr lang="en-US" altLang="zh-CN" sz="1400" b="1" dirty="0">
                <a:solidFill>
                  <a:srgbClr val="C17A90"/>
                </a:solidFill>
                <a:latin typeface="Times New Roman" charset="0"/>
                <a:ea typeface="Times New Roman" charset="0"/>
                <a:cs typeface="Times New Roman" charset="0"/>
              </a:rPr>
              <a:t>cascaded</a:t>
            </a:r>
            <a:endParaRPr lang="en-US" sz="1400" b="1" dirty="0">
              <a:solidFill>
                <a:srgbClr val="C17A90"/>
              </a:solidFill>
              <a:latin typeface="Times New Roman" charset="0"/>
              <a:ea typeface="Times New Roman" charset="0"/>
              <a:cs typeface="Times New Roman" charset="0"/>
            </a:endParaRPr>
          </a:p>
        </p:txBody>
      </p:sp>
      <p:sp>
        <p:nvSpPr>
          <p:cNvPr id="36" name="TextBox 35">
            <a:extLst>
              <a:ext uri="{FF2B5EF4-FFF2-40B4-BE49-F238E27FC236}">
                <a16:creationId xmlns:a16="http://schemas.microsoft.com/office/drawing/2014/main" xmlns="" id="{55BDB408-B6B3-5040-B4CF-8F75CD2B609E}"/>
              </a:ext>
            </a:extLst>
          </p:cNvPr>
          <p:cNvSpPr txBox="1"/>
          <p:nvPr/>
        </p:nvSpPr>
        <p:spPr>
          <a:xfrm>
            <a:off x="4651915" y="2763182"/>
            <a:ext cx="522900"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hurt</a:t>
            </a:r>
          </a:p>
        </p:txBody>
      </p:sp>
      <p:sp>
        <p:nvSpPr>
          <p:cNvPr id="38" name="TextBox 37">
            <a:extLst>
              <a:ext uri="{FF2B5EF4-FFF2-40B4-BE49-F238E27FC236}">
                <a16:creationId xmlns:a16="http://schemas.microsoft.com/office/drawing/2014/main" xmlns="" id="{630AE675-0B7E-EA41-8E46-4858E8D9A076}"/>
              </a:ext>
            </a:extLst>
          </p:cNvPr>
          <p:cNvSpPr txBox="1"/>
          <p:nvPr/>
        </p:nvSpPr>
        <p:spPr>
          <a:xfrm>
            <a:off x="1076694" y="3388741"/>
            <a:ext cx="873957" cy="307777"/>
          </a:xfrm>
          <a:prstGeom prst="rect">
            <a:avLst/>
          </a:prstGeom>
          <a:noFill/>
          <a:ln>
            <a:noFill/>
          </a:ln>
        </p:spPr>
        <p:txBody>
          <a:bodyPr wrap="square" rtlCol="0">
            <a:spAutoFit/>
          </a:bodyPr>
          <a:lstStyle/>
          <a:p>
            <a:r>
              <a:rPr lang="en-US" altLang="zh-CN" sz="1400" b="1" dirty="0">
                <a:solidFill>
                  <a:srgbClr val="C17A90"/>
                </a:solidFill>
                <a:latin typeface="Times New Roman" charset="0"/>
                <a:ea typeface="Times New Roman" charset="0"/>
                <a:cs typeface="Times New Roman" charset="0"/>
              </a:rPr>
              <a:t>cascaded</a:t>
            </a:r>
            <a:endParaRPr lang="en-US" sz="1400" b="1" dirty="0">
              <a:solidFill>
                <a:srgbClr val="C17A90"/>
              </a:solidFill>
              <a:latin typeface="Times New Roman" charset="0"/>
              <a:ea typeface="Times New Roman" charset="0"/>
              <a:cs typeface="Times New Roman" charset="0"/>
            </a:endParaRPr>
          </a:p>
        </p:txBody>
      </p:sp>
      <p:sp>
        <p:nvSpPr>
          <p:cNvPr id="40" name="TextBox 39">
            <a:extLst>
              <a:ext uri="{FF2B5EF4-FFF2-40B4-BE49-F238E27FC236}">
                <a16:creationId xmlns:a16="http://schemas.microsoft.com/office/drawing/2014/main" xmlns="" id="{740BF692-DFBB-1B4E-9D9C-479535407470}"/>
              </a:ext>
            </a:extLst>
          </p:cNvPr>
          <p:cNvSpPr txBox="1"/>
          <p:nvPr/>
        </p:nvSpPr>
        <p:spPr>
          <a:xfrm>
            <a:off x="4650360" y="3388741"/>
            <a:ext cx="790537"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ordered</a:t>
            </a:r>
          </a:p>
        </p:txBody>
      </p:sp>
      <p:sp>
        <p:nvSpPr>
          <p:cNvPr id="41" name="TextBox 40">
            <a:extLst>
              <a:ext uri="{FF2B5EF4-FFF2-40B4-BE49-F238E27FC236}">
                <a16:creationId xmlns:a16="http://schemas.microsoft.com/office/drawing/2014/main" xmlns="" id="{4FE57E4F-239B-934B-9D27-B9862E3B7475}"/>
              </a:ext>
            </a:extLst>
          </p:cNvPr>
          <p:cNvSpPr txBox="1"/>
          <p:nvPr/>
        </p:nvSpPr>
        <p:spPr>
          <a:xfrm>
            <a:off x="1076694" y="3693157"/>
            <a:ext cx="752129"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ripping</a:t>
            </a:r>
          </a:p>
        </p:txBody>
      </p:sp>
      <p:sp>
        <p:nvSpPr>
          <p:cNvPr id="42" name="TextBox 41">
            <a:extLst>
              <a:ext uri="{FF2B5EF4-FFF2-40B4-BE49-F238E27FC236}">
                <a16:creationId xmlns:a16="http://schemas.microsoft.com/office/drawing/2014/main" xmlns="" id="{04868608-1792-454A-A42E-E3CD073C3867}"/>
              </a:ext>
            </a:extLst>
          </p:cNvPr>
          <p:cNvSpPr txBox="1"/>
          <p:nvPr/>
        </p:nvSpPr>
        <p:spPr>
          <a:xfrm>
            <a:off x="4650360" y="3699452"/>
            <a:ext cx="801823"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monitor</a:t>
            </a:r>
          </a:p>
        </p:txBody>
      </p:sp>
      <p:sp>
        <p:nvSpPr>
          <p:cNvPr id="43" name="TextBox 42">
            <a:extLst>
              <a:ext uri="{FF2B5EF4-FFF2-40B4-BE49-F238E27FC236}">
                <a16:creationId xmlns:a16="http://schemas.microsoft.com/office/drawing/2014/main" xmlns="" id="{CAC43683-FFB5-E940-871C-E1B838B51B11}"/>
              </a:ext>
            </a:extLst>
          </p:cNvPr>
          <p:cNvSpPr txBox="1"/>
          <p:nvPr/>
        </p:nvSpPr>
        <p:spPr>
          <a:xfrm>
            <a:off x="1076694" y="4000934"/>
            <a:ext cx="752129"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ripping</a:t>
            </a:r>
          </a:p>
        </p:txBody>
      </p:sp>
      <p:sp>
        <p:nvSpPr>
          <p:cNvPr id="44" name="TextBox 43">
            <a:extLst>
              <a:ext uri="{FF2B5EF4-FFF2-40B4-BE49-F238E27FC236}">
                <a16:creationId xmlns:a16="http://schemas.microsoft.com/office/drawing/2014/main" xmlns="" id="{45ECF81F-97A4-AD4E-A6EA-C9A21347A2A5}"/>
              </a:ext>
            </a:extLst>
          </p:cNvPr>
          <p:cNvSpPr txBox="1"/>
          <p:nvPr/>
        </p:nvSpPr>
        <p:spPr>
          <a:xfrm>
            <a:off x="4650359" y="3998393"/>
            <a:ext cx="790537"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ordered</a:t>
            </a:r>
          </a:p>
        </p:txBody>
      </p:sp>
      <p:sp>
        <p:nvSpPr>
          <p:cNvPr id="45" name="TextBox 44">
            <a:extLst>
              <a:ext uri="{FF2B5EF4-FFF2-40B4-BE49-F238E27FC236}">
                <a16:creationId xmlns:a16="http://schemas.microsoft.com/office/drawing/2014/main" xmlns="" id="{8B79661A-C955-874C-B8A3-62DF390B69B6}"/>
              </a:ext>
            </a:extLst>
          </p:cNvPr>
          <p:cNvSpPr txBox="1"/>
          <p:nvPr/>
        </p:nvSpPr>
        <p:spPr>
          <a:xfrm>
            <a:off x="1076694" y="4304245"/>
            <a:ext cx="873957" cy="307777"/>
          </a:xfrm>
          <a:prstGeom prst="rect">
            <a:avLst/>
          </a:prstGeom>
          <a:noFill/>
          <a:ln>
            <a:noFill/>
          </a:ln>
        </p:spPr>
        <p:txBody>
          <a:bodyPr wrap="square" rtlCol="0">
            <a:spAutoFit/>
          </a:bodyPr>
          <a:lstStyle/>
          <a:p>
            <a:r>
              <a:rPr lang="en-US" altLang="zh-CN" sz="1400" b="1" dirty="0">
                <a:solidFill>
                  <a:srgbClr val="C17A90"/>
                </a:solidFill>
                <a:latin typeface="Times New Roman" charset="0"/>
                <a:ea typeface="Times New Roman" charset="0"/>
                <a:cs typeface="Times New Roman" charset="0"/>
              </a:rPr>
              <a:t>cascaded</a:t>
            </a:r>
            <a:endParaRPr lang="en-US" sz="1400" b="1" dirty="0">
              <a:solidFill>
                <a:srgbClr val="C17A90"/>
              </a:solidFill>
              <a:latin typeface="Times New Roman" charset="0"/>
              <a:ea typeface="Times New Roman" charset="0"/>
              <a:cs typeface="Times New Roman" charset="0"/>
            </a:endParaRPr>
          </a:p>
        </p:txBody>
      </p:sp>
      <p:sp>
        <p:nvSpPr>
          <p:cNvPr id="46" name="TextBox 45">
            <a:extLst>
              <a:ext uri="{FF2B5EF4-FFF2-40B4-BE49-F238E27FC236}">
                <a16:creationId xmlns:a16="http://schemas.microsoft.com/office/drawing/2014/main" xmlns="" id="{7EC58FBA-8049-9946-B95E-A76FD81F75D1}"/>
              </a:ext>
            </a:extLst>
          </p:cNvPr>
          <p:cNvSpPr txBox="1"/>
          <p:nvPr/>
        </p:nvSpPr>
        <p:spPr>
          <a:xfrm>
            <a:off x="4651570" y="4297334"/>
            <a:ext cx="801823"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monitor</a:t>
            </a:r>
          </a:p>
        </p:txBody>
      </p:sp>
      <p:sp>
        <p:nvSpPr>
          <p:cNvPr id="47" name="TextBox 46">
            <a:extLst>
              <a:ext uri="{FF2B5EF4-FFF2-40B4-BE49-F238E27FC236}">
                <a16:creationId xmlns:a16="http://schemas.microsoft.com/office/drawing/2014/main" xmlns="" id="{D18CC848-1ABF-6648-89FC-F6DF63C8A2C2}"/>
              </a:ext>
            </a:extLst>
          </p:cNvPr>
          <p:cNvSpPr txBox="1"/>
          <p:nvPr/>
        </p:nvSpPr>
        <p:spPr>
          <a:xfrm>
            <a:off x="1076694" y="4619275"/>
            <a:ext cx="522900"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hurt</a:t>
            </a:r>
          </a:p>
        </p:txBody>
      </p:sp>
      <p:sp>
        <p:nvSpPr>
          <p:cNvPr id="48" name="TextBox 47">
            <a:extLst>
              <a:ext uri="{FF2B5EF4-FFF2-40B4-BE49-F238E27FC236}">
                <a16:creationId xmlns:a16="http://schemas.microsoft.com/office/drawing/2014/main" xmlns="" id="{A07E4DB0-F6EF-8842-8EF2-EAFE1EC0E970}"/>
              </a:ext>
            </a:extLst>
          </p:cNvPr>
          <p:cNvSpPr txBox="1"/>
          <p:nvPr/>
        </p:nvSpPr>
        <p:spPr>
          <a:xfrm>
            <a:off x="4651193" y="4614870"/>
            <a:ext cx="801823"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monitor</a:t>
            </a:r>
          </a:p>
        </p:txBody>
      </p:sp>
      <p:sp>
        <p:nvSpPr>
          <p:cNvPr id="62" name="Rounded Rectangle 61">
            <a:extLst>
              <a:ext uri="{FF2B5EF4-FFF2-40B4-BE49-F238E27FC236}">
                <a16:creationId xmlns:a16="http://schemas.microsoft.com/office/drawing/2014/main" xmlns="" id="{909F75B9-0062-E240-8CF3-4202B5100BA2}"/>
              </a:ext>
            </a:extLst>
          </p:cNvPr>
          <p:cNvSpPr/>
          <p:nvPr/>
        </p:nvSpPr>
        <p:spPr>
          <a:xfrm>
            <a:off x="6629019" y="3200864"/>
            <a:ext cx="1676400" cy="492293"/>
          </a:xfrm>
          <a:prstGeom prst="roundRect">
            <a:avLst/>
          </a:prstGeom>
          <a:solidFill>
            <a:srgbClr val="66608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latin typeface="Century Gothic" panose="020B0502020202020204" pitchFamily="34" charset="0"/>
            </a:endParaRPr>
          </a:p>
        </p:txBody>
      </p:sp>
      <p:sp>
        <p:nvSpPr>
          <p:cNvPr id="69" name="Snip and Round Single Corner Rectangle 68">
            <a:extLst>
              <a:ext uri="{FF2B5EF4-FFF2-40B4-BE49-F238E27FC236}">
                <a16:creationId xmlns:a16="http://schemas.microsoft.com/office/drawing/2014/main" xmlns="" id="{934F8341-63F8-DB4D-8683-53E91FDD0F9F}"/>
              </a:ext>
            </a:extLst>
          </p:cNvPr>
          <p:cNvSpPr/>
          <p:nvPr/>
        </p:nvSpPr>
        <p:spPr>
          <a:xfrm>
            <a:off x="926530" y="1705689"/>
            <a:ext cx="4922668" cy="3795107"/>
          </a:xfrm>
          <a:prstGeom prst="snip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17A90"/>
              </a:solidFill>
            </a:endParaRPr>
          </a:p>
        </p:txBody>
      </p:sp>
      <p:sp>
        <p:nvSpPr>
          <p:cNvPr id="70" name="Rounded Rectangle 69">
            <a:extLst>
              <a:ext uri="{FF2B5EF4-FFF2-40B4-BE49-F238E27FC236}">
                <a16:creationId xmlns:a16="http://schemas.microsoft.com/office/drawing/2014/main" xmlns="" id="{20EB5C29-4BF6-1245-8A21-0EF81D4FBCA9}"/>
              </a:ext>
            </a:extLst>
          </p:cNvPr>
          <p:cNvSpPr/>
          <p:nvPr/>
        </p:nvSpPr>
        <p:spPr>
          <a:xfrm>
            <a:off x="2652419" y="1753251"/>
            <a:ext cx="1237479" cy="218031"/>
          </a:xfrm>
          <a:prstGeom prst="roundRect">
            <a:avLst/>
          </a:prstGeom>
          <a:solidFill>
            <a:srgbClr val="66608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entury Gothic" panose="020B0502020202020204" pitchFamily="34" charset="0"/>
              </a:rPr>
              <a:t>Training Data</a:t>
            </a:r>
          </a:p>
        </p:txBody>
      </p:sp>
      <p:sp>
        <p:nvSpPr>
          <p:cNvPr id="5" name="TextBox 4">
            <a:extLst>
              <a:ext uri="{FF2B5EF4-FFF2-40B4-BE49-F238E27FC236}">
                <a16:creationId xmlns:a16="http://schemas.microsoft.com/office/drawing/2014/main" xmlns="" id="{D620AD83-DDC6-AF45-8A8E-E7A3272909D5}"/>
              </a:ext>
            </a:extLst>
          </p:cNvPr>
          <p:cNvSpPr txBox="1"/>
          <p:nvPr/>
        </p:nvSpPr>
        <p:spPr>
          <a:xfrm>
            <a:off x="6796202" y="3936355"/>
            <a:ext cx="1436612" cy="1200329"/>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Perceptron</a:t>
            </a:r>
          </a:p>
          <a:p>
            <a:pPr algn="ctr"/>
            <a:r>
              <a:rPr lang="en-US" dirty="0">
                <a:solidFill>
                  <a:schemeClr val="bg2"/>
                </a:solidFill>
                <a:latin typeface="Century Gothic" panose="020B0502020202020204" pitchFamily="34" charset="0"/>
              </a:rPr>
              <a:t>SVM</a:t>
            </a:r>
          </a:p>
          <a:p>
            <a:pPr algn="ctr"/>
            <a:r>
              <a:rPr lang="en-US" dirty="0">
                <a:solidFill>
                  <a:schemeClr val="bg2"/>
                </a:solidFill>
                <a:latin typeface="Century Gothic" panose="020B0502020202020204" pitchFamily="34" charset="0"/>
              </a:rPr>
              <a:t>Neural net</a:t>
            </a:r>
          </a:p>
          <a:p>
            <a:pPr algn="ctr"/>
            <a:r>
              <a:rPr lang="en-US" dirty="0">
                <a:solidFill>
                  <a:schemeClr val="bg2"/>
                </a:solidFill>
                <a:latin typeface="Century Gothic" panose="020B0502020202020204" pitchFamily="34" charset="0"/>
              </a:rPr>
              <a:t>…</a:t>
            </a:r>
          </a:p>
        </p:txBody>
      </p:sp>
      <p:sp>
        <p:nvSpPr>
          <p:cNvPr id="50" name="TextBox 49">
            <a:extLst>
              <a:ext uri="{FF2B5EF4-FFF2-40B4-BE49-F238E27FC236}">
                <a16:creationId xmlns:a16="http://schemas.microsoft.com/office/drawing/2014/main" xmlns="" id="{FBAE29BC-60CA-D341-9069-7E9CEDB2EAFD}"/>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3" name="TextBox 2">
            <a:extLst>
              <a:ext uri="{FF2B5EF4-FFF2-40B4-BE49-F238E27FC236}">
                <a16:creationId xmlns:a16="http://schemas.microsoft.com/office/drawing/2014/main" xmlns="" id="{6B609D91-5E46-B845-9E51-20A6CDDFDDC6}"/>
              </a:ext>
            </a:extLst>
          </p:cNvPr>
          <p:cNvSpPr txBox="1"/>
          <p:nvPr/>
        </p:nvSpPr>
        <p:spPr>
          <a:xfrm>
            <a:off x="6648726" y="3301504"/>
            <a:ext cx="1584088" cy="553998"/>
          </a:xfrm>
          <a:prstGeom prst="rect">
            <a:avLst/>
          </a:prstGeom>
          <a:noFill/>
        </p:spPr>
        <p:txBody>
          <a:bodyPr wrap="none" rtlCol="0">
            <a:spAutoFit/>
          </a:bodyPr>
          <a:lstStyle/>
          <a:p>
            <a:pPr lvl="0" algn="ctr"/>
            <a:r>
              <a:rPr lang="en-US" sz="1200" dirty="0">
                <a:solidFill>
                  <a:srgbClr val="FFFFFF"/>
                </a:solidFill>
                <a:latin typeface="Century Gothic" panose="020B0502020202020204" pitchFamily="34" charset="0"/>
              </a:rPr>
              <a:t>Learning algorithm</a:t>
            </a:r>
          </a:p>
          <a:p>
            <a:endParaRPr lang="en-US" dirty="0"/>
          </a:p>
        </p:txBody>
      </p:sp>
    </p:spTree>
    <p:extLst>
      <p:ext uri="{BB962C8B-B14F-4D97-AF65-F5344CB8AC3E}">
        <p14:creationId xmlns:p14="http://schemas.microsoft.com/office/powerpoint/2010/main" val="32433438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childTnLst>
                          </p:cTn>
                        </p:par>
                        <p:par>
                          <p:cTn id="8" fill="hold">
                            <p:stCondLst>
                              <p:cond delay="500"/>
                            </p:stCondLst>
                            <p:childTnLst>
                              <p:par>
                                <p:cTn id="9" presetID="2" presetClass="exit" presetSubtype="6" fill="hold" grpId="0" nodeType="afterEffect">
                                  <p:stCondLst>
                                    <p:cond delay="500"/>
                                  </p:stCondLst>
                                  <p:childTnLst>
                                    <p:anim calcmode="lin" valueType="num">
                                      <p:cBhvr additive="base">
                                        <p:cTn id="10" dur="500"/>
                                        <p:tgtEl>
                                          <p:spTgt spid="33"/>
                                        </p:tgtEl>
                                        <p:attrNameLst>
                                          <p:attrName>ppt_x</p:attrName>
                                        </p:attrNameLst>
                                      </p:cBhvr>
                                      <p:tavLst>
                                        <p:tav tm="0">
                                          <p:val>
                                            <p:strVal val="ppt_x"/>
                                          </p:val>
                                        </p:tav>
                                        <p:tav tm="100000">
                                          <p:val>
                                            <p:strVal val="1+ppt_w/2"/>
                                          </p:val>
                                        </p:tav>
                                      </p:tavLst>
                                    </p:anim>
                                    <p:anim calcmode="lin" valueType="num">
                                      <p:cBhvr additive="base">
                                        <p:cTn id="11" dur="500"/>
                                        <p:tgtEl>
                                          <p:spTgt spid="33"/>
                                        </p:tgtEl>
                                        <p:attrNameLst>
                                          <p:attrName>ppt_y</p:attrName>
                                        </p:attrNameLst>
                                      </p:cBhvr>
                                      <p:tavLst>
                                        <p:tav tm="0">
                                          <p:val>
                                            <p:strVal val="ppt_y"/>
                                          </p:val>
                                        </p:tav>
                                        <p:tav tm="100000">
                                          <p:val>
                                            <p:strVal val="1+ppt_h/2"/>
                                          </p:val>
                                        </p:tav>
                                      </p:tavLst>
                                    </p:anim>
                                    <p:set>
                                      <p:cBhvr>
                                        <p:cTn id="12" dur="1" fill="hold">
                                          <p:stCondLst>
                                            <p:cond delay="499"/>
                                          </p:stCondLst>
                                        </p:cTn>
                                        <p:tgtEl>
                                          <p:spTgt spid="33"/>
                                        </p:tgtEl>
                                        <p:attrNameLst>
                                          <p:attrName>style.visibility</p:attrName>
                                        </p:attrNameLst>
                                      </p:cBhvr>
                                      <p:to>
                                        <p:strVal val="hidden"/>
                                      </p:to>
                                    </p:set>
                                  </p:childTnLst>
                                </p:cTn>
                              </p:par>
                              <p:par>
                                <p:cTn id="13" presetID="2" presetClass="exit" presetSubtype="6" fill="hold" nodeType="withEffect">
                                  <p:stCondLst>
                                    <p:cond delay="500"/>
                                  </p:stCondLst>
                                  <p:childTnLst>
                                    <p:anim calcmode="lin" valueType="num">
                                      <p:cBhvr additive="base">
                                        <p:cTn id="14" dur="500"/>
                                        <p:tgtEl>
                                          <p:spTgt spid="18"/>
                                        </p:tgtEl>
                                        <p:attrNameLst>
                                          <p:attrName>ppt_x</p:attrName>
                                        </p:attrNameLst>
                                      </p:cBhvr>
                                      <p:tavLst>
                                        <p:tav tm="0">
                                          <p:val>
                                            <p:strVal val="ppt_x"/>
                                          </p:val>
                                        </p:tav>
                                        <p:tav tm="100000">
                                          <p:val>
                                            <p:strVal val="1+ppt_w/2"/>
                                          </p:val>
                                        </p:tav>
                                      </p:tavLst>
                                    </p:anim>
                                    <p:anim calcmode="lin" valueType="num">
                                      <p:cBhvr additive="base">
                                        <p:cTn id="15" dur="500"/>
                                        <p:tgtEl>
                                          <p:spTgt spid="18"/>
                                        </p:tgtEl>
                                        <p:attrNameLst>
                                          <p:attrName>ppt_y</p:attrName>
                                        </p:attrNameLst>
                                      </p:cBhvr>
                                      <p:tavLst>
                                        <p:tav tm="0">
                                          <p:val>
                                            <p:strVal val="ppt_y"/>
                                          </p:val>
                                        </p:tav>
                                        <p:tav tm="100000">
                                          <p:val>
                                            <p:strVal val="1+ppt_h/2"/>
                                          </p:val>
                                        </p:tav>
                                      </p:tavLst>
                                    </p:anim>
                                    <p:set>
                                      <p:cBhvr>
                                        <p:cTn id="16" dur="1" fill="hold">
                                          <p:stCondLst>
                                            <p:cond delay="499"/>
                                          </p:stCondLst>
                                        </p:cTn>
                                        <p:tgtEl>
                                          <p:spTgt spid="18"/>
                                        </p:tgtEl>
                                        <p:attrNameLst>
                                          <p:attrName>style.visibility</p:attrName>
                                        </p:attrNameLst>
                                      </p:cBhvr>
                                      <p:to>
                                        <p:strVal val="hidden"/>
                                      </p:to>
                                    </p:set>
                                  </p:childTnLst>
                                </p:cTn>
                              </p:par>
                              <p:par>
                                <p:cTn id="17" presetID="2" presetClass="exit" presetSubtype="6" fill="hold" grpId="0" nodeType="withEffect">
                                  <p:stCondLst>
                                    <p:cond delay="500"/>
                                  </p:stCondLst>
                                  <p:childTnLst>
                                    <p:anim calcmode="lin" valueType="num">
                                      <p:cBhvr additive="base">
                                        <p:cTn id="18" dur="500"/>
                                        <p:tgtEl>
                                          <p:spTgt spid="37"/>
                                        </p:tgtEl>
                                        <p:attrNameLst>
                                          <p:attrName>ppt_x</p:attrName>
                                        </p:attrNameLst>
                                      </p:cBhvr>
                                      <p:tavLst>
                                        <p:tav tm="0">
                                          <p:val>
                                            <p:strVal val="ppt_x"/>
                                          </p:val>
                                        </p:tav>
                                        <p:tav tm="100000">
                                          <p:val>
                                            <p:strVal val="1+ppt_w/2"/>
                                          </p:val>
                                        </p:tav>
                                      </p:tavLst>
                                    </p:anim>
                                    <p:anim calcmode="lin" valueType="num">
                                      <p:cBhvr additive="base">
                                        <p:cTn id="19" dur="500"/>
                                        <p:tgtEl>
                                          <p:spTgt spid="37"/>
                                        </p:tgtEl>
                                        <p:attrNameLst>
                                          <p:attrName>ppt_y</p:attrName>
                                        </p:attrNameLst>
                                      </p:cBhvr>
                                      <p:tavLst>
                                        <p:tav tm="0">
                                          <p:val>
                                            <p:strVal val="ppt_y"/>
                                          </p:val>
                                        </p:tav>
                                        <p:tav tm="100000">
                                          <p:val>
                                            <p:strVal val="1+ppt_h/2"/>
                                          </p:val>
                                        </p:tav>
                                      </p:tavLst>
                                    </p:anim>
                                    <p:set>
                                      <p:cBhvr>
                                        <p:cTn id="20" dur="1" fill="hold">
                                          <p:stCondLst>
                                            <p:cond delay="499"/>
                                          </p:stCondLst>
                                        </p:cTn>
                                        <p:tgtEl>
                                          <p:spTgt spid="37"/>
                                        </p:tgtEl>
                                        <p:attrNameLst>
                                          <p:attrName>style.visibility</p:attrName>
                                        </p:attrNameLst>
                                      </p:cBhvr>
                                      <p:to>
                                        <p:strVal val="hidden"/>
                                      </p:to>
                                    </p:set>
                                  </p:childTnLst>
                                </p:cTn>
                              </p:par>
                              <p:par>
                                <p:cTn id="21" presetID="22" presetClass="exit" presetSubtype="8" fill="hold" nodeType="withEffect">
                                  <p:stCondLst>
                                    <p:cond delay="500"/>
                                  </p:stCondLst>
                                  <p:childTnLst>
                                    <p:animEffect transition="out" filter="wipe(left)">
                                      <p:cBhvr>
                                        <p:cTn id="22" dur="500"/>
                                        <p:tgtEl>
                                          <p:spTgt spid="64"/>
                                        </p:tgtEl>
                                      </p:cBhvr>
                                    </p:animEffect>
                                    <p:set>
                                      <p:cBhvr>
                                        <p:cTn id="23" dur="1" fill="hold">
                                          <p:stCondLst>
                                            <p:cond delay="499"/>
                                          </p:stCondLst>
                                        </p:cTn>
                                        <p:tgtEl>
                                          <p:spTgt spid="64"/>
                                        </p:tgtEl>
                                        <p:attrNameLst>
                                          <p:attrName>style.visibility</p:attrName>
                                        </p:attrNameLst>
                                      </p:cBhvr>
                                      <p:to>
                                        <p:strVal val="hidden"/>
                                      </p:to>
                                    </p:set>
                                  </p:childTnLst>
                                </p:cTn>
                              </p:par>
                              <p:par>
                                <p:cTn id="24" presetID="22" presetClass="entr" presetSubtype="8" fill="hold" nodeType="withEffect">
                                  <p:stCondLst>
                                    <p:cond delay="500"/>
                                  </p:stCondLst>
                                  <p:childTnLst>
                                    <p:set>
                                      <p:cBhvr>
                                        <p:cTn id="25" dur="1" fill="hold">
                                          <p:stCondLst>
                                            <p:cond delay="0"/>
                                          </p:stCondLst>
                                        </p:cTn>
                                        <p:tgtEl>
                                          <p:spTgt spid="71"/>
                                        </p:tgtEl>
                                        <p:attrNameLst>
                                          <p:attrName>style.visibility</p:attrName>
                                        </p:attrNameLst>
                                      </p:cBhvr>
                                      <p:to>
                                        <p:strVal val="visible"/>
                                      </p:to>
                                    </p:set>
                                    <p:animEffect transition="in" filter="wipe(left)">
                                      <p:cBhvr>
                                        <p:cTn id="26" dur="500"/>
                                        <p:tgtEl>
                                          <p:spTgt spid="71"/>
                                        </p:tgtEl>
                                      </p:cBhvr>
                                    </p:animEffect>
                                  </p:childTnLst>
                                </p:cTn>
                              </p:par>
                            </p:childTnLst>
                          </p:cTn>
                        </p:par>
                        <p:par>
                          <p:cTn id="27" fill="hold">
                            <p:stCondLst>
                              <p:cond delay="1500"/>
                            </p:stCondLst>
                            <p:childTnLst>
                              <p:par>
                                <p:cTn id="28" presetID="2" presetClass="exit" presetSubtype="6" fill="hold" grpId="0" nodeType="afterEffect">
                                  <p:stCondLst>
                                    <p:cond delay="500"/>
                                  </p:stCondLst>
                                  <p:childTnLst>
                                    <p:anim calcmode="lin" valueType="num">
                                      <p:cBhvr additive="base">
                                        <p:cTn id="29" dur="500"/>
                                        <p:tgtEl>
                                          <p:spTgt spid="32"/>
                                        </p:tgtEl>
                                        <p:attrNameLst>
                                          <p:attrName>ppt_x</p:attrName>
                                        </p:attrNameLst>
                                      </p:cBhvr>
                                      <p:tavLst>
                                        <p:tav tm="0">
                                          <p:val>
                                            <p:strVal val="ppt_x"/>
                                          </p:val>
                                        </p:tav>
                                        <p:tav tm="100000">
                                          <p:val>
                                            <p:strVal val="1+ppt_w/2"/>
                                          </p:val>
                                        </p:tav>
                                      </p:tavLst>
                                    </p:anim>
                                    <p:anim calcmode="lin" valueType="num">
                                      <p:cBhvr additive="base">
                                        <p:cTn id="30" dur="500"/>
                                        <p:tgtEl>
                                          <p:spTgt spid="32"/>
                                        </p:tgtEl>
                                        <p:attrNameLst>
                                          <p:attrName>ppt_y</p:attrName>
                                        </p:attrNameLst>
                                      </p:cBhvr>
                                      <p:tavLst>
                                        <p:tav tm="0">
                                          <p:val>
                                            <p:strVal val="ppt_y"/>
                                          </p:val>
                                        </p:tav>
                                        <p:tav tm="100000">
                                          <p:val>
                                            <p:strVal val="1+ppt_h/2"/>
                                          </p:val>
                                        </p:tav>
                                      </p:tavLst>
                                    </p:anim>
                                    <p:set>
                                      <p:cBhvr>
                                        <p:cTn id="31" dur="1" fill="hold">
                                          <p:stCondLst>
                                            <p:cond delay="499"/>
                                          </p:stCondLst>
                                        </p:cTn>
                                        <p:tgtEl>
                                          <p:spTgt spid="32"/>
                                        </p:tgtEl>
                                        <p:attrNameLst>
                                          <p:attrName>style.visibility</p:attrName>
                                        </p:attrNameLst>
                                      </p:cBhvr>
                                      <p:to>
                                        <p:strVal val="hidden"/>
                                      </p:to>
                                    </p:set>
                                  </p:childTnLst>
                                </p:cTn>
                              </p:par>
                              <p:par>
                                <p:cTn id="32" presetID="2" presetClass="exit" presetSubtype="6" fill="hold" nodeType="withEffect">
                                  <p:stCondLst>
                                    <p:cond delay="500"/>
                                  </p:stCondLst>
                                  <p:childTnLst>
                                    <p:anim calcmode="lin" valueType="num">
                                      <p:cBhvr additive="base">
                                        <p:cTn id="33" dur="500"/>
                                        <p:tgtEl>
                                          <p:spTgt spid="22"/>
                                        </p:tgtEl>
                                        <p:attrNameLst>
                                          <p:attrName>ppt_x</p:attrName>
                                        </p:attrNameLst>
                                      </p:cBhvr>
                                      <p:tavLst>
                                        <p:tav tm="0">
                                          <p:val>
                                            <p:strVal val="ppt_x"/>
                                          </p:val>
                                        </p:tav>
                                        <p:tav tm="100000">
                                          <p:val>
                                            <p:strVal val="1+ppt_w/2"/>
                                          </p:val>
                                        </p:tav>
                                      </p:tavLst>
                                    </p:anim>
                                    <p:anim calcmode="lin" valueType="num">
                                      <p:cBhvr additive="base">
                                        <p:cTn id="34" dur="500"/>
                                        <p:tgtEl>
                                          <p:spTgt spid="22"/>
                                        </p:tgtEl>
                                        <p:attrNameLst>
                                          <p:attrName>ppt_y</p:attrName>
                                        </p:attrNameLst>
                                      </p:cBhvr>
                                      <p:tavLst>
                                        <p:tav tm="0">
                                          <p:val>
                                            <p:strVal val="ppt_y"/>
                                          </p:val>
                                        </p:tav>
                                        <p:tav tm="100000">
                                          <p:val>
                                            <p:strVal val="1+ppt_h/2"/>
                                          </p:val>
                                        </p:tav>
                                      </p:tavLst>
                                    </p:anim>
                                    <p:set>
                                      <p:cBhvr>
                                        <p:cTn id="35" dur="1" fill="hold">
                                          <p:stCondLst>
                                            <p:cond delay="499"/>
                                          </p:stCondLst>
                                        </p:cTn>
                                        <p:tgtEl>
                                          <p:spTgt spid="22"/>
                                        </p:tgtEl>
                                        <p:attrNameLst>
                                          <p:attrName>style.visibility</p:attrName>
                                        </p:attrNameLst>
                                      </p:cBhvr>
                                      <p:to>
                                        <p:strVal val="hidden"/>
                                      </p:to>
                                    </p:set>
                                  </p:childTnLst>
                                </p:cTn>
                              </p:par>
                              <p:par>
                                <p:cTn id="36" presetID="2" presetClass="exit" presetSubtype="6" fill="hold" grpId="0" nodeType="withEffect">
                                  <p:stCondLst>
                                    <p:cond delay="500"/>
                                  </p:stCondLst>
                                  <p:childTnLst>
                                    <p:anim calcmode="lin" valueType="num">
                                      <p:cBhvr additive="base">
                                        <p:cTn id="37" dur="500"/>
                                        <p:tgtEl>
                                          <p:spTgt spid="35"/>
                                        </p:tgtEl>
                                        <p:attrNameLst>
                                          <p:attrName>ppt_x</p:attrName>
                                        </p:attrNameLst>
                                      </p:cBhvr>
                                      <p:tavLst>
                                        <p:tav tm="0">
                                          <p:val>
                                            <p:strVal val="ppt_x"/>
                                          </p:val>
                                        </p:tav>
                                        <p:tav tm="100000">
                                          <p:val>
                                            <p:strVal val="1+ppt_w/2"/>
                                          </p:val>
                                        </p:tav>
                                      </p:tavLst>
                                    </p:anim>
                                    <p:anim calcmode="lin" valueType="num">
                                      <p:cBhvr additive="base">
                                        <p:cTn id="38" dur="500"/>
                                        <p:tgtEl>
                                          <p:spTgt spid="35"/>
                                        </p:tgtEl>
                                        <p:attrNameLst>
                                          <p:attrName>ppt_y</p:attrName>
                                        </p:attrNameLst>
                                      </p:cBhvr>
                                      <p:tavLst>
                                        <p:tav tm="0">
                                          <p:val>
                                            <p:strVal val="ppt_y"/>
                                          </p:val>
                                        </p:tav>
                                        <p:tav tm="100000">
                                          <p:val>
                                            <p:strVal val="1+ppt_h/2"/>
                                          </p:val>
                                        </p:tav>
                                      </p:tavLst>
                                    </p:anim>
                                    <p:set>
                                      <p:cBhvr>
                                        <p:cTn id="39" dur="1" fill="hold">
                                          <p:stCondLst>
                                            <p:cond delay="499"/>
                                          </p:stCondLst>
                                        </p:cTn>
                                        <p:tgtEl>
                                          <p:spTgt spid="35"/>
                                        </p:tgtEl>
                                        <p:attrNameLst>
                                          <p:attrName>style.visibility</p:attrName>
                                        </p:attrNameLst>
                                      </p:cBhvr>
                                      <p:to>
                                        <p:strVal val="hidden"/>
                                      </p:to>
                                    </p:set>
                                  </p:childTnLst>
                                </p:cTn>
                              </p:par>
                              <p:par>
                                <p:cTn id="40" presetID="22" presetClass="exit" presetSubtype="8" fill="hold" nodeType="withEffect">
                                  <p:stCondLst>
                                    <p:cond delay="500"/>
                                  </p:stCondLst>
                                  <p:childTnLst>
                                    <p:animEffect transition="out" filter="wipe(left)">
                                      <p:cBhvr>
                                        <p:cTn id="41" dur="500"/>
                                        <p:tgtEl>
                                          <p:spTgt spid="71"/>
                                        </p:tgtEl>
                                      </p:cBhvr>
                                    </p:animEffect>
                                    <p:set>
                                      <p:cBhvr>
                                        <p:cTn id="42" dur="1" fill="hold">
                                          <p:stCondLst>
                                            <p:cond delay="499"/>
                                          </p:stCondLst>
                                        </p:cTn>
                                        <p:tgtEl>
                                          <p:spTgt spid="71"/>
                                        </p:tgtEl>
                                        <p:attrNameLst>
                                          <p:attrName>style.visibility</p:attrName>
                                        </p:attrNameLst>
                                      </p:cBhvr>
                                      <p:to>
                                        <p:strVal val="hidden"/>
                                      </p:to>
                                    </p:set>
                                  </p:childTnLst>
                                </p:cTn>
                              </p:par>
                              <p:par>
                                <p:cTn id="43" presetID="22" presetClass="entr" presetSubtype="8" fill="hold" nodeType="withEffect">
                                  <p:stCondLst>
                                    <p:cond delay="500"/>
                                  </p:stCondLst>
                                  <p:childTnLst>
                                    <p:set>
                                      <p:cBhvr>
                                        <p:cTn id="44" dur="1" fill="hold">
                                          <p:stCondLst>
                                            <p:cond delay="0"/>
                                          </p:stCondLst>
                                        </p:cTn>
                                        <p:tgtEl>
                                          <p:spTgt spid="74"/>
                                        </p:tgtEl>
                                        <p:attrNameLst>
                                          <p:attrName>style.visibility</p:attrName>
                                        </p:attrNameLst>
                                      </p:cBhvr>
                                      <p:to>
                                        <p:strVal val="visible"/>
                                      </p:to>
                                    </p:set>
                                    <p:animEffect transition="in" filter="wipe(left)">
                                      <p:cBhvr>
                                        <p:cTn id="45" dur="500"/>
                                        <p:tgtEl>
                                          <p:spTgt spid="74"/>
                                        </p:tgtEl>
                                      </p:cBhvr>
                                    </p:animEffect>
                                  </p:childTnLst>
                                </p:cTn>
                              </p:par>
                            </p:childTnLst>
                          </p:cTn>
                        </p:par>
                        <p:par>
                          <p:cTn id="46" fill="hold">
                            <p:stCondLst>
                              <p:cond delay="2500"/>
                            </p:stCondLst>
                            <p:childTnLst>
                              <p:par>
                                <p:cTn id="47" presetID="2" presetClass="exit" presetSubtype="6" fill="hold" grpId="0" nodeType="afterEffect">
                                  <p:stCondLst>
                                    <p:cond delay="500"/>
                                  </p:stCondLst>
                                  <p:childTnLst>
                                    <p:anim calcmode="lin" valueType="num">
                                      <p:cBhvr additive="base">
                                        <p:cTn id="48" dur="500"/>
                                        <p:tgtEl>
                                          <p:spTgt spid="34"/>
                                        </p:tgtEl>
                                        <p:attrNameLst>
                                          <p:attrName>ppt_x</p:attrName>
                                        </p:attrNameLst>
                                      </p:cBhvr>
                                      <p:tavLst>
                                        <p:tav tm="0">
                                          <p:val>
                                            <p:strVal val="ppt_x"/>
                                          </p:val>
                                        </p:tav>
                                        <p:tav tm="100000">
                                          <p:val>
                                            <p:strVal val="1+ppt_w/2"/>
                                          </p:val>
                                        </p:tav>
                                      </p:tavLst>
                                    </p:anim>
                                    <p:anim calcmode="lin" valueType="num">
                                      <p:cBhvr additive="base">
                                        <p:cTn id="49" dur="500"/>
                                        <p:tgtEl>
                                          <p:spTgt spid="34"/>
                                        </p:tgtEl>
                                        <p:attrNameLst>
                                          <p:attrName>ppt_y</p:attrName>
                                        </p:attrNameLst>
                                      </p:cBhvr>
                                      <p:tavLst>
                                        <p:tav tm="0">
                                          <p:val>
                                            <p:strVal val="ppt_y"/>
                                          </p:val>
                                        </p:tav>
                                        <p:tav tm="100000">
                                          <p:val>
                                            <p:strVal val="1+ppt_h/2"/>
                                          </p:val>
                                        </p:tav>
                                      </p:tavLst>
                                    </p:anim>
                                    <p:set>
                                      <p:cBhvr>
                                        <p:cTn id="50" dur="1" fill="hold">
                                          <p:stCondLst>
                                            <p:cond delay="499"/>
                                          </p:stCondLst>
                                        </p:cTn>
                                        <p:tgtEl>
                                          <p:spTgt spid="34"/>
                                        </p:tgtEl>
                                        <p:attrNameLst>
                                          <p:attrName>style.visibility</p:attrName>
                                        </p:attrNameLst>
                                      </p:cBhvr>
                                      <p:to>
                                        <p:strVal val="hidden"/>
                                      </p:to>
                                    </p:set>
                                  </p:childTnLst>
                                </p:cTn>
                              </p:par>
                              <p:par>
                                <p:cTn id="51" presetID="2" presetClass="exit" presetSubtype="6" fill="hold" nodeType="withEffect">
                                  <p:stCondLst>
                                    <p:cond delay="500"/>
                                  </p:stCondLst>
                                  <p:childTnLst>
                                    <p:anim calcmode="lin" valueType="num">
                                      <p:cBhvr additive="base">
                                        <p:cTn id="52" dur="500"/>
                                        <p:tgtEl>
                                          <p:spTgt spid="19"/>
                                        </p:tgtEl>
                                        <p:attrNameLst>
                                          <p:attrName>ppt_x</p:attrName>
                                        </p:attrNameLst>
                                      </p:cBhvr>
                                      <p:tavLst>
                                        <p:tav tm="0">
                                          <p:val>
                                            <p:strVal val="ppt_x"/>
                                          </p:val>
                                        </p:tav>
                                        <p:tav tm="100000">
                                          <p:val>
                                            <p:strVal val="1+ppt_w/2"/>
                                          </p:val>
                                        </p:tav>
                                      </p:tavLst>
                                    </p:anim>
                                    <p:anim calcmode="lin" valueType="num">
                                      <p:cBhvr additive="base">
                                        <p:cTn id="53" dur="500"/>
                                        <p:tgtEl>
                                          <p:spTgt spid="19"/>
                                        </p:tgtEl>
                                        <p:attrNameLst>
                                          <p:attrName>ppt_y</p:attrName>
                                        </p:attrNameLst>
                                      </p:cBhvr>
                                      <p:tavLst>
                                        <p:tav tm="0">
                                          <p:val>
                                            <p:strVal val="ppt_y"/>
                                          </p:val>
                                        </p:tav>
                                        <p:tav tm="100000">
                                          <p:val>
                                            <p:strVal val="1+ppt_h/2"/>
                                          </p:val>
                                        </p:tav>
                                      </p:tavLst>
                                    </p:anim>
                                    <p:set>
                                      <p:cBhvr>
                                        <p:cTn id="54" dur="1" fill="hold">
                                          <p:stCondLst>
                                            <p:cond delay="499"/>
                                          </p:stCondLst>
                                        </p:cTn>
                                        <p:tgtEl>
                                          <p:spTgt spid="19"/>
                                        </p:tgtEl>
                                        <p:attrNameLst>
                                          <p:attrName>style.visibility</p:attrName>
                                        </p:attrNameLst>
                                      </p:cBhvr>
                                      <p:to>
                                        <p:strVal val="hidden"/>
                                      </p:to>
                                    </p:set>
                                  </p:childTnLst>
                                </p:cTn>
                              </p:par>
                              <p:par>
                                <p:cTn id="55" presetID="2" presetClass="exit" presetSubtype="6" fill="hold" grpId="0" nodeType="withEffect">
                                  <p:stCondLst>
                                    <p:cond delay="500"/>
                                  </p:stCondLst>
                                  <p:childTnLst>
                                    <p:anim calcmode="lin" valueType="num">
                                      <p:cBhvr additive="base">
                                        <p:cTn id="56" dur="500"/>
                                        <p:tgtEl>
                                          <p:spTgt spid="36"/>
                                        </p:tgtEl>
                                        <p:attrNameLst>
                                          <p:attrName>ppt_x</p:attrName>
                                        </p:attrNameLst>
                                      </p:cBhvr>
                                      <p:tavLst>
                                        <p:tav tm="0">
                                          <p:val>
                                            <p:strVal val="ppt_x"/>
                                          </p:val>
                                        </p:tav>
                                        <p:tav tm="100000">
                                          <p:val>
                                            <p:strVal val="1+ppt_w/2"/>
                                          </p:val>
                                        </p:tav>
                                      </p:tavLst>
                                    </p:anim>
                                    <p:anim calcmode="lin" valueType="num">
                                      <p:cBhvr additive="base">
                                        <p:cTn id="57" dur="500"/>
                                        <p:tgtEl>
                                          <p:spTgt spid="36"/>
                                        </p:tgtEl>
                                        <p:attrNameLst>
                                          <p:attrName>ppt_y</p:attrName>
                                        </p:attrNameLst>
                                      </p:cBhvr>
                                      <p:tavLst>
                                        <p:tav tm="0">
                                          <p:val>
                                            <p:strVal val="ppt_y"/>
                                          </p:val>
                                        </p:tav>
                                        <p:tav tm="100000">
                                          <p:val>
                                            <p:strVal val="1+ppt_h/2"/>
                                          </p:val>
                                        </p:tav>
                                      </p:tavLst>
                                    </p:anim>
                                    <p:set>
                                      <p:cBhvr>
                                        <p:cTn id="58" dur="1" fill="hold">
                                          <p:stCondLst>
                                            <p:cond delay="499"/>
                                          </p:stCondLst>
                                        </p:cTn>
                                        <p:tgtEl>
                                          <p:spTgt spid="36"/>
                                        </p:tgtEl>
                                        <p:attrNameLst>
                                          <p:attrName>style.visibility</p:attrName>
                                        </p:attrNameLst>
                                      </p:cBhvr>
                                      <p:to>
                                        <p:strVal val="hidden"/>
                                      </p:to>
                                    </p:set>
                                  </p:childTnLst>
                                </p:cTn>
                              </p:par>
                              <p:par>
                                <p:cTn id="59" presetID="22" presetClass="exit" presetSubtype="8" fill="hold" nodeType="withEffect">
                                  <p:stCondLst>
                                    <p:cond delay="500"/>
                                  </p:stCondLst>
                                  <p:childTnLst>
                                    <p:animEffect transition="out" filter="wipe(left)">
                                      <p:cBhvr>
                                        <p:cTn id="60" dur="500"/>
                                        <p:tgtEl>
                                          <p:spTgt spid="74"/>
                                        </p:tgtEl>
                                      </p:cBhvr>
                                    </p:animEffect>
                                    <p:set>
                                      <p:cBhvr>
                                        <p:cTn id="61" dur="1" fill="hold">
                                          <p:stCondLst>
                                            <p:cond delay="499"/>
                                          </p:stCondLst>
                                        </p:cTn>
                                        <p:tgtEl>
                                          <p:spTgt spid="74"/>
                                        </p:tgtEl>
                                        <p:attrNameLst>
                                          <p:attrName>style.visibility</p:attrName>
                                        </p:attrNameLst>
                                      </p:cBhvr>
                                      <p:to>
                                        <p:strVal val="hidden"/>
                                      </p:to>
                                    </p:set>
                                  </p:childTnLst>
                                </p:cTn>
                              </p:par>
                              <p:par>
                                <p:cTn id="62" presetID="22" presetClass="entr" presetSubtype="8" fill="hold" nodeType="withEffect">
                                  <p:stCondLst>
                                    <p:cond delay="500"/>
                                  </p:stCondLst>
                                  <p:childTnLst>
                                    <p:set>
                                      <p:cBhvr>
                                        <p:cTn id="63" dur="1" fill="hold">
                                          <p:stCondLst>
                                            <p:cond delay="0"/>
                                          </p:stCondLst>
                                        </p:cTn>
                                        <p:tgtEl>
                                          <p:spTgt spid="77"/>
                                        </p:tgtEl>
                                        <p:attrNameLst>
                                          <p:attrName>style.visibility</p:attrName>
                                        </p:attrNameLst>
                                      </p:cBhvr>
                                      <p:to>
                                        <p:strVal val="visible"/>
                                      </p:to>
                                    </p:set>
                                    <p:animEffect transition="in" filter="wipe(left)">
                                      <p:cBhvr>
                                        <p:cTn id="64" dur="500"/>
                                        <p:tgtEl>
                                          <p:spTgt spid="77"/>
                                        </p:tgtEl>
                                      </p:cBhvr>
                                    </p:animEffect>
                                  </p:childTnLst>
                                </p:cTn>
                              </p:par>
                            </p:childTnLst>
                          </p:cTn>
                        </p:par>
                        <p:par>
                          <p:cTn id="65" fill="hold">
                            <p:stCondLst>
                              <p:cond delay="3500"/>
                            </p:stCondLst>
                            <p:childTnLst>
                              <p:par>
                                <p:cTn id="66" presetID="2" presetClass="exit" presetSubtype="6" fill="hold" grpId="0" nodeType="afterEffect">
                                  <p:stCondLst>
                                    <p:cond delay="500"/>
                                  </p:stCondLst>
                                  <p:childTnLst>
                                    <p:anim calcmode="lin" valueType="num">
                                      <p:cBhvr additive="base">
                                        <p:cTn id="67" dur="500"/>
                                        <p:tgtEl>
                                          <p:spTgt spid="29"/>
                                        </p:tgtEl>
                                        <p:attrNameLst>
                                          <p:attrName>ppt_x</p:attrName>
                                        </p:attrNameLst>
                                      </p:cBhvr>
                                      <p:tavLst>
                                        <p:tav tm="0">
                                          <p:val>
                                            <p:strVal val="ppt_x"/>
                                          </p:val>
                                        </p:tav>
                                        <p:tav tm="100000">
                                          <p:val>
                                            <p:strVal val="1+ppt_w/2"/>
                                          </p:val>
                                        </p:tav>
                                      </p:tavLst>
                                    </p:anim>
                                    <p:anim calcmode="lin" valueType="num">
                                      <p:cBhvr additive="base">
                                        <p:cTn id="68" dur="500"/>
                                        <p:tgtEl>
                                          <p:spTgt spid="29"/>
                                        </p:tgtEl>
                                        <p:attrNameLst>
                                          <p:attrName>ppt_y</p:attrName>
                                        </p:attrNameLst>
                                      </p:cBhvr>
                                      <p:tavLst>
                                        <p:tav tm="0">
                                          <p:val>
                                            <p:strVal val="ppt_y"/>
                                          </p:val>
                                        </p:tav>
                                        <p:tav tm="100000">
                                          <p:val>
                                            <p:strVal val="1+ppt_h/2"/>
                                          </p:val>
                                        </p:tav>
                                      </p:tavLst>
                                    </p:anim>
                                    <p:set>
                                      <p:cBhvr>
                                        <p:cTn id="69" dur="1" fill="hold">
                                          <p:stCondLst>
                                            <p:cond delay="499"/>
                                          </p:stCondLst>
                                        </p:cTn>
                                        <p:tgtEl>
                                          <p:spTgt spid="29"/>
                                        </p:tgtEl>
                                        <p:attrNameLst>
                                          <p:attrName>style.visibility</p:attrName>
                                        </p:attrNameLst>
                                      </p:cBhvr>
                                      <p:to>
                                        <p:strVal val="hidden"/>
                                      </p:to>
                                    </p:set>
                                  </p:childTnLst>
                                </p:cTn>
                              </p:par>
                              <p:par>
                                <p:cTn id="70" presetID="2" presetClass="exit" presetSubtype="6" fill="hold" nodeType="withEffect">
                                  <p:stCondLst>
                                    <p:cond delay="500"/>
                                  </p:stCondLst>
                                  <p:childTnLst>
                                    <p:anim calcmode="lin" valueType="num">
                                      <p:cBhvr additive="base">
                                        <p:cTn id="71" dur="500"/>
                                        <p:tgtEl>
                                          <p:spTgt spid="25"/>
                                        </p:tgtEl>
                                        <p:attrNameLst>
                                          <p:attrName>ppt_x</p:attrName>
                                        </p:attrNameLst>
                                      </p:cBhvr>
                                      <p:tavLst>
                                        <p:tav tm="0">
                                          <p:val>
                                            <p:strVal val="ppt_x"/>
                                          </p:val>
                                        </p:tav>
                                        <p:tav tm="100000">
                                          <p:val>
                                            <p:strVal val="1+ppt_w/2"/>
                                          </p:val>
                                        </p:tav>
                                      </p:tavLst>
                                    </p:anim>
                                    <p:anim calcmode="lin" valueType="num">
                                      <p:cBhvr additive="base">
                                        <p:cTn id="72" dur="500"/>
                                        <p:tgtEl>
                                          <p:spTgt spid="25"/>
                                        </p:tgtEl>
                                        <p:attrNameLst>
                                          <p:attrName>ppt_y</p:attrName>
                                        </p:attrNameLst>
                                      </p:cBhvr>
                                      <p:tavLst>
                                        <p:tav tm="0">
                                          <p:val>
                                            <p:strVal val="ppt_y"/>
                                          </p:val>
                                        </p:tav>
                                        <p:tav tm="100000">
                                          <p:val>
                                            <p:strVal val="1+ppt_h/2"/>
                                          </p:val>
                                        </p:tav>
                                      </p:tavLst>
                                    </p:anim>
                                    <p:set>
                                      <p:cBhvr>
                                        <p:cTn id="73" dur="1" fill="hold">
                                          <p:stCondLst>
                                            <p:cond delay="499"/>
                                          </p:stCondLst>
                                        </p:cTn>
                                        <p:tgtEl>
                                          <p:spTgt spid="25"/>
                                        </p:tgtEl>
                                        <p:attrNameLst>
                                          <p:attrName>style.visibility</p:attrName>
                                        </p:attrNameLst>
                                      </p:cBhvr>
                                      <p:to>
                                        <p:strVal val="hidden"/>
                                      </p:to>
                                    </p:set>
                                  </p:childTnLst>
                                </p:cTn>
                              </p:par>
                              <p:par>
                                <p:cTn id="74" presetID="2" presetClass="exit" presetSubtype="6" fill="hold" grpId="0" nodeType="withEffect">
                                  <p:stCondLst>
                                    <p:cond delay="500"/>
                                  </p:stCondLst>
                                  <p:childTnLst>
                                    <p:anim calcmode="lin" valueType="num">
                                      <p:cBhvr additive="base">
                                        <p:cTn id="75" dur="500"/>
                                        <p:tgtEl>
                                          <p:spTgt spid="31"/>
                                        </p:tgtEl>
                                        <p:attrNameLst>
                                          <p:attrName>ppt_x</p:attrName>
                                        </p:attrNameLst>
                                      </p:cBhvr>
                                      <p:tavLst>
                                        <p:tav tm="0">
                                          <p:val>
                                            <p:strVal val="ppt_x"/>
                                          </p:val>
                                        </p:tav>
                                        <p:tav tm="100000">
                                          <p:val>
                                            <p:strVal val="1+ppt_w/2"/>
                                          </p:val>
                                        </p:tav>
                                      </p:tavLst>
                                    </p:anim>
                                    <p:anim calcmode="lin" valueType="num">
                                      <p:cBhvr additive="base">
                                        <p:cTn id="76" dur="500"/>
                                        <p:tgtEl>
                                          <p:spTgt spid="31"/>
                                        </p:tgtEl>
                                        <p:attrNameLst>
                                          <p:attrName>ppt_y</p:attrName>
                                        </p:attrNameLst>
                                      </p:cBhvr>
                                      <p:tavLst>
                                        <p:tav tm="0">
                                          <p:val>
                                            <p:strVal val="ppt_y"/>
                                          </p:val>
                                        </p:tav>
                                        <p:tav tm="100000">
                                          <p:val>
                                            <p:strVal val="1+ppt_h/2"/>
                                          </p:val>
                                        </p:tav>
                                      </p:tavLst>
                                    </p:anim>
                                    <p:set>
                                      <p:cBhvr>
                                        <p:cTn id="77" dur="1" fill="hold">
                                          <p:stCondLst>
                                            <p:cond delay="499"/>
                                          </p:stCondLst>
                                        </p:cTn>
                                        <p:tgtEl>
                                          <p:spTgt spid="31"/>
                                        </p:tgtEl>
                                        <p:attrNameLst>
                                          <p:attrName>style.visibility</p:attrName>
                                        </p:attrNameLst>
                                      </p:cBhvr>
                                      <p:to>
                                        <p:strVal val="hidden"/>
                                      </p:to>
                                    </p:set>
                                  </p:childTnLst>
                                </p:cTn>
                              </p:par>
                              <p:par>
                                <p:cTn id="78" presetID="22" presetClass="exit" presetSubtype="8" fill="hold" nodeType="withEffect">
                                  <p:stCondLst>
                                    <p:cond delay="500"/>
                                  </p:stCondLst>
                                  <p:childTnLst>
                                    <p:animEffect transition="out" filter="wipe(left)">
                                      <p:cBhvr>
                                        <p:cTn id="79" dur="500"/>
                                        <p:tgtEl>
                                          <p:spTgt spid="77"/>
                                        </p:tgtEl>
                                      </p:cBhvr>
                                    </p:animEffect>
                                    <p:set>
                                      <p:cBhvr>
                                        <p:cTn id="80" dur="1" fill="hold">
                                          <p:stCondLst>
                                            <p:cond delay="499"/>
                                          </p:stCondLst>
                                        </p:cTn>
                                        <p:tgtEl>
                                          <p:spTgt spid="77"/>
                                        </p:tgtEl>
                                        <p:attrNameLst>
                                          <p:attrName>style.visibility</p:attrName>
                                        </p:attrNameLst>
                                      </p:cBhvr>
                                      <p:to>
                                        <p:strVal val="hidden"/>
                                      </p:to>
                                    </p:set>
                                  </p:childTnLst>
                                </p:cTn>
                              </p:par>
                            </p:childTnLst>
                          </p:cTn>
                        </p:par>
                        <p:par>
                          <p:cTn id="81" fill="hold">
                            <p:stCondLst>
                              <p:cond delay="4500"/>
                            </p:stCondLst>
                            <p:childTnLst>
                              <p:par>
                                <p:cTn id="82" presetID="22" presetClass="entr" presetSubtype="1" fill="hold" grpId="0" nodeType="afterEffect">
                                  <p:stCondLst>
                                    <p:cond delay="0"/>
                                  </p:stCondLst>
                                  <p:childTnLst>
                                    <p:set>
                                      <p:cBhvr>
                                        <p:cTn id="83" dur="1" fill="hold">
                                          <p:stCondLst>
                                            <p:cond delay="0"/>
                                          </p:stCondLst>
                                        </p:cTn>
                                        <p:tgtEl>
                                          <p:spTgt spid="5"/>
                                        </p:tgtEl>
                                        <p:attrNameLst>
                                          <p:attrName>style.visibility</p:attrName>
                                        </p:attrNameLst>
                                      </p:cBhvr>
                                      <p:to>
                                        <p:strVal val="visible"/>
                                      </p:to>
                                    </p:set>
                                    <p:animEffect transition="in" filter="wipe(up)">
                                      <p:cBhvr>
                                        <p:cTn id="8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5" grpId="0"/>
      <p:bldP spid="33" grpId="0"/>
      <p:bldP spid="31" grpId="0"/>
      <p:bldP spid="29" grpId="0"/>
      <p:bldP spid="32" grpId="0"/>
      <p:bldP spid="34" grpId="0"/>
      <p:bldP spid="36"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A423E5-2081-436B-AC11-F8A2D82D4675}"/>
              </a:ext>
            </a:extLst>
          </p:cNvPr>
          <p:cNvSpPr>
            <a:spLocks noGrp="1"/>
          </p:cNvSpPr>
          <p:nvPr>
            <p:ph type="title"/>
          </p:nvPr>
        </p:nvSpPr>
        <p:spPr>
          <a:xfrm>
            <a:off x="394814" y="254286"/>
            <a:ext cx="8740442" cy="533400"/>
          </a:xfrm>
        </p:spPr>
        <p:txBody>
          <a:bodyPr/>
          <a:lstStyle/>
          <a:p>
            <a:r>
              <a:rPr lang="en-US" dirty="0"/>
              <a:t>Local learning is not sufficient</a:t>
            </a:r>
          </a:p>
        </p:txBody>
      </p:sp>
      <p:sp>
        <p:nvSpPr>
          <p:cNvPr id="3" name="Content Placeholder 2">
            <a:extLst>
              <a:ext uri="{FF2B5EF4-FFF2-40B4-BE49-F238E27FC236}">
                <a16:creationId xmlns:a16="http://schemas.microsoft.com/office/drawing/2014/main" xmlns="" id="{6A4692F0-E04E-46C4-8BEB-E50EC94A923B}"/>
              </a:ext>
            </a:extLst>
          </p:cNvPr>
          <p:cNvSpPr>
            <a:spLocks noGrp="1"/>
          </p:cNvSpPr>
          <p:nvPr>
            <p:ph idx="1"/>
          </p:nvPr>
        </p:nvSpPr>
        <p:spPr>
          <a:xfrm>
            <a:off x="394814" y="1666962"/>
            <a:ext cx="8901586" cy="4460558"/>
          </a:xfrm>
        </p:spPr>
        <p:txBody>
          <a:bodyPr/>
          <a:lstStyle/>
          <a:p>
            <a:pPr marL="0" indent="0">
              <a:buNone/>
            </a:pPr>
            <a:r>
              <a:rPr lang="en-US" sz="2400" dirty="0"/>
              <a:t>…</a:t>
            </a:r>
            <a:r>
              <a:rPr lang="en-US" sz="2400" b="1" dirty="0">
                <a:solidFill>
                  <a:srgbClr val="C27990"/>
                </a:solidFill>
              </a:rPr>
              <a:t>ripping</a:t>
            </a:r>
            <a:r>
              <a:rPr lang="en-US" sz="2400" dirty="0">
                <a:solidFill>
                  <a:srgbClr val="FF0000"/>
                </a:solidFill>
              </a:rPr>
              <a:t> </a:t>
            </a:r>
            <a:r>
              <a:rPr lang="en-US" sz="2400" dirty="0"/>
              <a:t>two houses…firefighters </a:t>
            </a:r>
            <a:r>
              <a:rPr lang="en-US" sz="2400" b="1" dirty="0">
                <a:solidFill>
                  <a:srgbClr val="C27990"/>
                </a:solidFill>
              </a:rPr>
              <a:t>ordered</a:t>
            </a:r>
            <a:r>
              <a:rPr lang="en-US" sz="2400" dirty="0">
                <a:solidFill>
                  <a:srgbClr val="FF0000"/>
                </a:solidFill>
              </a:rPr>
              <a:t> </a:t>
            </a:r>
            <a:r>
              <a:rPr lang="en-US" sz="2400" dirty="0"/>
              <a:t>the evacuation of nearby homes… </a:t>
            </a:r>
            <a:endParaRPr lang="en-US" sz="2400" i="1" dirty="0"/>
          </a:p>
          <a:p>
            <a:pPr marL="457200" lvl="1" indent="0">
              <a:buNone/>
            </a:pPr>
            <a:r>
              <a:rPr lang="en-US" sz="2000" dirty="0"/>
              <a:t>Q: (</a:t>
            </a:r>
            <a:r>
              <a:rPr lang="en-US" sz="2000" b="1" dirty="0">
                <a:solidFill>
                  <a:srgbClr val="C27990"/>
                </a:solidFill>
              </a:rPr>
              <a:t>ripping</a:t>
            </a:r>
            <a:r>
              <a:rPr lang="en-US" sz="2000" dirty="0"/>
              <a:t>, </a:t>
            </a:r>
            <a:r>
              <a:rPr lang="en-US" sz="2000" b="1" dirty="0">
                <a:solidFill>
                  <a:srgbClr val="C27990"/>
                </a:solidFill>
              </a:rPr>
              <a:t>ordered</a:t>
            </a:r>
            <a:r>
              <a:rPr lang="en-US" sz="2000" dirty="0"/>
              <a:t>)=? (difficult even for humans)</a:t>
            </a:r>
          </a:p>
          <a:p>
            <a:pPr marL="457200" lvl="1" indent="0">
              <a:buNone/>
            </a:pPr>
            <a:r>
              <a:rPr lang="en-US" sz="2000" dirty="0"/>
              <a:t>Annotation says “before”, so let’s update the parameters to fit it.</a:t>
            </a:r>
          </a:p>
          <a:p>
            <a:pPr marL="457200" lvl="1" indent="0">
              <a:buNone/>
            </a:pPr>
            <a:r>
              <a:rPr lang="en-US" sz="2000" dirty="0"/>
              <a:t>which leads to </a:t>
            </a:r>
            <a:r>
              <a:rPr lang="en-US" sz="2000" u="sng" dirty="0"/>
              <a:t>overfitting</a:t>
            </a:r>
          </a:p>
          <a:p>
            <a:pPr marL="457200" lvl="1" indent="0">
              <a:buNone/>
            </a:pPr>
            <a:r>
              <a:rPr lang="en-US" sz="2000" b="1" dirty="0"/>
              <a:t>No overfitting is needed anymore.</a:t>
            </a:r>
          </a:p>
        </p:txBody>
      </p:sp>
      <p:sp>
        <p:nvSpPr>
          <p:cNvPr id="5" name="TextBox 4">
            <a:extLst>
              <a:ext uri="{FF2B5EF4-FFF2-40B4-BE49-F238E27FC236}">
                <a16:creationId xmlns:a16="http://schemas.microsoft.com/office/drawing/2014/main" xmlns="" id="{99D73CAA-E3E3-434F-8F9E-B3634BFFB49E}"/>
              </a:ext>
            </a:extLst>
          </p:cNvPr>
          <p:cNvSpPr txBox="1"/>
          <p:nvPr/>
        </p:nvSpPr>
        <p:spPr>
          <a:xfrm>
            <a:off x="175057" y="1170174"/>
            <a:ext cx="4110421" cy="338554"/>
          </a:xfrm>
          <a:prstGeom prst="rect">
            <a:avLst/>
          </a:prstGeom>
          <a:noFill/>
        </p:spPr>
        <p:txBody>
          <a:bodyPr wrap="none" rtlCol="0">
            <a:spAutoFit/>
          </a:bodyPr>
          <a:lstStyle/>
          <a:p>
            <a:r>
              <a:rPr lang="en-US" sz="1600" dirty="0">
                <a:solidFill>
                  <a:schemeClr val="bg2">
                    <a:lumMod val="75000"/>
                    <a:lumOff val="25000"/>
                  </a:schemeClr>
                </a:solidFill>
                <a:latin typeface="Century Gothic" panose="020B0502020202020204" pitchFamily="34" charset="0"/>
              </a:rPr>
              <a:t>tons of earth </a:t>
            </a:r>
            <a:r>
              <a:rPr lang="en-US" sz="1600" b="1" dirty="0">
                <a:solidFill>
                  <a:srgbClr val="665E8A"/>
                </a:solidFill>
                <a:latin typeface="Century Gothic" panose="020B0502020202020204" pitchFamily="34" charset="0"/>
              </a:rPr>
              <a:t>cascaded</a:t>
            </a:r>
            <a:r>
              <a:rPr lang="en-US" sz="1600" dirty="0">
                <a:solidFill>
                  <a:srgbClr val="0070C0"/>
                </a:solidFill>
                <a:latin typeface="Century Gothic" panose="020B0502020202020204" pitchFamily="34" charset="0"/>
              </a:rPr>
              <a:t> </a:t>
            </a:r>
            <a:r>
              <a:rPr lang="en-US" sz="1600" dirty="0">
                <a:solidFill>
                  <a:schemeClr val="bg2">
                    <a:lumMod val="75000"/>
                    <a:lumOff val="25000"/>
                  </a:schemeClr>
                </a:solidFill>
                <a:latin typeface="Century Gothic" panose="020B0502020202020204" pitchFamily="34" charset="0"/>
              </a:rPr>
              <a:t>down a hillside,</a:t>
            </a:r>
          </a:p>
        </p:txBody>
      </p:sp>
      <p:sp>
        <p:nvSpPr>
          <p:cNvPr id="27" name="TextBox 26">
            <a:extLst>
              <a:ext uri="{FF2B5EF4-FFF2-40B4-BE49-F238E27FC236}">
                <a16:creationId xmlns:a16="http://schemas.microsoft.com/office/drawing/2014/main" xmlns="" id="{574360DA-2010-F741-B501-17EEDDBF78DC}"/>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18" name="Title 1">
            <a:extLst>
              <a:ext uri="{FF2B5EF4-FFF2-40B4-BE49-F238E27FC236}">
                <a16:creationId xmlns:a16="http://schemas.microsoft.com/office/drawing/2014/main" xmlns="" id="{2F7C800A-A01D-F64E-A08F-E1D676AC2B58}"/>
              </a:ext>
            </a:extLst>
          </p:cNvPr>
          <p:cNvSpPr txBox="1">
            <a:spLocks/>
          </p:cNvSpPr>
          <p:nvPr/>
        </p:nvSpPr>
        <p:spPr bwMode="auto">
          <a:xfrm>
            <a:off x="2326629" y="5658413"/>
            <a:ext cx="4490741" cy="533400"/>
          </a:xfrm>
          <a:prstGeom prst="roundRect">
            <a:avLst/>
          </a:prstGeom>
          <a:solidFill>
            <a:srgbClr val="C17A90"/>
          </a:solidFill>
          <a:ln w="38100">
            <a:noFill/>
            <a:miter lim="800000"/>
            <a:headEnd/>
            <a:tailEnd/>
          </a:ln>
          <a:effectLs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pPr algn="ctr"/>
            <a:r>
              <a:rPr lang="en-US" sz="2400" i="1" dirty="0">
                <a:solidFill>
                  <a:schemeClr val="tx1"/>
                </a:solidFill>
              </a:rPr>
              <a:t>Structured learning</a:t>
            </a:r>
          </a:p>
        </p:txBody>
      </p:sp>
      <p:grpSp>
        <p:nvGrpSpPr>
          <p:cNvPr id="4" name="Group 3">
            <a:extLst>
              <a:ext uri="{FF2B5EF4-FFF2-40B4-BE49-F238E27FC236}">
                <a16:creationId xmlns:a16="http://schemas.microsoft.com/office/drawing/2014/main" xmlns="" id="{DC1AB4D1-6E31-7741-A0D7-12EFFF1B5FB3}"/>
              </a:ext>
            </a:extLst>
          </p:cNvPr>
          <p:cNvGrpSpPr/>
          <p:nvPr/>
        </p:nvGrpSpPr>
        <p:grpSpPr>
          <a:xfrm>
            <a:off x="2602876" y="3925355"/>
            <a:ext cx="3938246" cy="1537095"/>
            <a:chOff x="3276600" y="4715812"/>
            <a:chExt cx="3938246" cy="1537095"/>
          </a:xfrm>
        </p:grpSpPr>
        <p:grpSp>
          <p:nvGrpSpPr>
            <p:cNvPr id="19" name="Group 18">
              <a:extLst>
                <a:ext uri="{FF2B5EF4-FFF2-40B4-BE49-F238E27FC236}">
                  <a16:creationId xmlns:a16="http://schemas.microsoft.com/office/drawing/2014/main" xmlns="" id="{3639B82E-328F-C94A-888A-F737AB423C48}"/>
                </a:ext>
              </a:extLst>
            </p:cNvPr>
            <p:cNvGrpSpPr/>
            <p:nvPr/>
          </p:nvGrpSpPr>
          <p:grpSpPr>
            <a:xfrm>
              <a:off x="3276600" y="4715812"/>
              <a:ext cx="3938246" cy="1198586"/>
              <a:chOff x="4977154" y="3828951"/>
              <a:chExt cx="3938246" cy="1198586"/>
            </a:xfrm>
          </p:grpSpPr>
          <p:grpSp>
            <p:nvGrpSpPr>
              <p:cNvPr id="21" name="Group 20">
                <a:extLst>
                  <a:ext uri="{FF2B5EF4-FFF2-40B4-BE49-F238E27FC236}">
                    <a16:creationId xmlns:a16="http://schemas.microsoft.com/office/drawing/2014/main" xmlns="" id="{FFA9C60D-3034-524D-883C-DBC1773E1BA5}"/>
                  </a:ext>
                </a:extLst>
              </p:cNvPr>
              <p:cNvGrpSpPr/>
              <p:nvPr/>
            </p:nvGrpSpPr>
            <p:grpSpPr>
              <a:xfrm>
                <a:off x="4977154" y="3828951"/>
                <a:ext cx="3581400" cy="1198586"/>
                <a:chOff x="-5105400" y="4876800"/>
                <a:chExt cx="3581400" cy="1198586"/>
              </a:xfrm>
            </p:grpSpPr>
            <p:grpSp>
              <p:nvGrpSpPr>
                <p:cNvPr id="24" name="Group 23">
                  <a:extLst>
                    <a:ext uri="{FF2B5EF4-FFF2-40B4-BE49-F238E27FC236}">
                      <a16:creationId xmlns:a16="http://schemas.microsoft.com/office/drawing/2014/main" xmlns="" id="{5FC28287-09BF-9B44-AD27-3D76FAD26990}"/>
                    </a:ext>
                  </a:extLst>
                </p:cNvPr>
                <p:cNvGrpSpPr/>
                <p:nvPr/>
              </p:nvGrpSpPr>
              <p:grpSpPr>
                <a:xfrm>
                  <a:off x="-5105400" y="4876800"/>
                  <a:ext cx="3581400" cy="1198586"/>
                  <a:chOff x="-5105400" y="2901434"/>
                  <a:chExt cx="3581400" cy="1198586"/>
                </a:xfrm>
              </p:grpSpPr>
              <p:cxnSp>
                <p:nvCxnSpPr>
                  <p:cNvPr id="38" name="Straight Arrow Connector 37">
                    <a:extLst>
                      <a:ext uri="{FF2B5EF4-FFF2-40B4-BE49-F238E27FC236}">
                        <a16:creationId xmlns:a16="http://schemas.microsoft.com/office/drawing/2014/main" xmlns="" id="{724E1E1F-CA74-404D-B3F7-DAED68C78964}"/>
                      </a:ext>
                    </a:extLst>
                  </p:cNvPr>
                  <p:cNvCxnSpPr/>
                  <p:nvPr/>
                </p:nvCxnSpPr>
                <p:spPr>
                  <a:xfrm>
                    <a:off x="-5105400" y="3429000"/>
                    <a:ext cx="3581400" cy="0"/>
                  </a:xfrm>
                  <a:prstGeom prst="straightConnector1">
                    <a:avLst/>
                  </a:prstGeom>
                  <a:ln>
                    <a:solidFill>
                      <a:schemeClr val="bg2"/>
                    </a:solidFill>
                    <a:tailEnd type="triangle"/>
                  </a:ln>
                </p:spPr>
                <p:style>
                  <a:lnRef idx="3">
                    <a:schemeClr val="dk1"/>
                  </a:lnRef>
                  <a:fillRef idx="0">
                    <a:schemeClr val="dk1"/>
                  </a:fillRef>
                  <a:effectRef idx="2">
                    <a:schemeClr val="dk1"/>
                  </a:effectRef>
                  <a:fontRef idx="minor">
                    <a:schemeClr val="tx1"/>
                  </a:fontRef>
                </p:style>
              </p:cxnSp>
              <p:sp>
                <p:nvSpPr>
                  <p:cNvPr id="39" name="TextBox 38">
                    <a:extLst>
                      <a:ext uri="{FF2B5EF4-FFF2-40B4-BE49-F238E27FC236}">
                        <a16:creationId xmlns:a16="http://schemas.microsoft.com/office/drawing/2014/main" xmlns="" id="{CF389386-243C-1D4F-97AA-A526D67D63AC}"/>
                      </a:ext>
                    </a:extLst>
                  </p:cNvPr>
                  <p:cNvSpPr txBox="1"/>
                  <p:nvPr/>
                </p:nvSpPr>
                <p:spPr>
                  <a:xfrm>
                    <a:off x="-4682613" y="3730688"/>
                    <a:ext cx="957313" cy="369332"/>
                  </a:xfrm>
                  <a:prstGeom prst="rect">
                    <a:avLst/>
                  </a:prstGeom>
                  <a:noFill/>
                </p:spPr>
                <p:txBody>
                  <a:bodyPr wrap="none" rtlCol="0">
                    <a:spAutoFit/>
                  </a:bodyPr>
                  <a:lstStyle/>
                  <a:p>
                    <a:r>
                      <a:rPr lang="en-US" b="1" dirty="0">
                        <a:solidFill>
                          <a:srgbClr val="C17A90"/>
                        </a:solidFill>
                        <a:latin typeface="Century Gothic" panose="020B0502020202020204" pitchFamily="34" charset="0"/>
                      </a:rPr>
                      <a:t>ripping</a:t>
                    </a:r>
                  </a:p>
                </p:txBody>
              </p:sp>
              <p:sp>
                <p:nvSpPr>
                  <p:cNvPr id="40" name="TextBox 39">
                    <a:extLst>
                      <a:ext uri="{FF2B5EF4-FFF2-40B4-BE49-F238E27FC236}">
                        <a16:creationId xmlns:a16="http://schemas.microsoft.com/office/drawing/2014/main" xmlns="" id="{6269C2E0-5165-504B-AC38-44E7C51562CF}"/>
                      </a:ext>
                    </a:extLst>
                  </p:cNvPr>
                  <p:cNvSpPr txBox="1"/>
                  <p:nvPr/>
                </p:nvSpPr>
                <p:spPr>
                  <a:xfrm>
                    <a:off x="-3098714" y="2901434"/>
                    <a:ext cx="1091966" cy="369332"/>
                  </a:xfrm>
                  <a:prstGeom prst="rect">
                    <a:avLst/>
                  </a:prstGeom>
                  <a:noFill/>
                </p:spPr>
                <p:txBody>
                  <a:bodyPr wrap="none" rtlCol="0">
                    <a:spAutoFit/>
                  </a:bodyPr>
                  <a:lstStyle/>
                  <a:p>
                    <a:r>
                      <a:rPr lang="en-US" b="1" dirty="0">
                        <a:solidFill>
                          <a:srgbClr val="C17A90"/>
                        </a:solidFill>
                        <a:latin typeface="Century Gothic" panose="020B0502020202020204" pitchFamily="34" charset="0"/>
                      </a:rPr>
                      <a:t>ordered</a:t>
                    </a:r>
                  </a:p>
                </p:txBody>
              </p:sp>
              <p:sp>
                <p:nvSpPr>
                  <p:cNvPr id="41" name="TextBox 40">
                    <a:extLst>
                      <a:ext uri="{FF2B5EF4-FFF2-40B4-BE49-F238E27FC236}">
                        <a16:creationId xmlns:a16="http://schemas.microsoft.com/office/drawing/2014/main" xmlns="" id="{3E8449A5-0FE5-144E-97DE-D3F20392D1B0}"/>
                      </a:ext>
                    </a:extLst>
                  </p:cNvPr>
                  <p:cNvSpPr txBox="1"/>
                  <p:nvPr/>
                </p:nvSpPr>
                <p:spPr>
                  <a:xfrm>
                    <a:off x="-4846431" y="2904891"/>
                    <a:ext cx="1354858" cy="369332"/>
                  </a:xfrm>
                  <a:prstGeom prst="rect">
                    <a:avLst/>
                  </a:prstGeom>
                  <a:noFill/>
                </p:spPr>
                <p:txBody>
                  <a:bodyPr wrap="none" rtlCol="0">
                    <a:spAutoFit/>
                  </a:bodyPr>
                  <a:lstStyle/>
                  <a:p>
                    <a:r>
                      <a:rPr lang="en-US" b="1" dirty="0">
                        <a:solidFill>
                          <a:srgbClr val="665E8A"/>
                        </a:solidFill>
                        <a:latin typeface="Century Gothic" panose="020B0502020202020204" pitchFamily="34" charset="0"/>
                      </a:rPr>
                      <a:t>cascaded</a:t>
                    </a:r>
                  </a:p>
                </p:txBody>
              </p:sp>
            </p:grpSp>
            <p:cxnSp>
              <p:nvCxnSpPr>
                <p:cNvPr id="25" name="Straight Connector 24">
                  <a:extLst>
                    <a:ext uri="{FF2B5EF4-FFF2-40B4-BE49-F238E27FC236}">
                      <a16:creationId xmlns:a16="http://schemas.microsoft.com/office/drawing/2014/main" xmlns="" id="{54C43CB8-8E52-B142-B461-944FCB1E9C4E}"/>
                    </a:ext>
                  </a:extLst>
                </p:cNvPr>
                <p:cNvCxnSpPr>
                  <a:cxnSpLocks/>
                </p:cNvCxnSpPr>
                <p:nvPr/>
              </p:nvCxnSpPr>
              <p:spPr>
                <a:xfrm>
                  <a:off x="-3491573" y="5064923"/>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xmlns="" id="{50605509-03E7-3A41-8B64-4FE59FDE8323}"/>
                    </a:ext>
                  </a:extLst>
                </p:cNvPr>
                <p:cNvCxnSpPr>
                  <a:cxnSpLocks/>
                </p:cNvCxnSpPr>
                <p:nvPr/>
              </p:nvCxnSpPr>
              <p:spPr>
                <a:xfrm>
                  <a:off x="-4419600" y="5404366"/>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33" name="Straight Connector 32">
                  <a:extLst>
                    <a:ext uri="{FF2B5EF4-FFF2-40B4-BE49-F238E27FC236}">
                      <a16:creationId xmlns:a16="http://schemas.microsoft.com/office/drawing/2014/main" xmlns="" id="{2827880C-9C88-5549-B901-7B0A7F368634}"/>
                    </a:ext>
                  </a:extLst>
                </p:cNvPr>
                <p:cNvCxnSpPr>
                  <a:cxnSpLocks/>
                </p:cNvCxnSpPr>
                <p:nvPr/>
              </p:nvCxnSpPr>
              <p:spPr>
                <a:xfrm>
                  <a:off x="-4089497" y="5404366"/>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xmlns="" id="{4EDD699D-1DE8-1B4A-BB5A-BB8AA332780B}"/>
                    </a:ext>
                  </a:extLst>
                </p:cNvPr>
                <p:cNvCxnSpPr>
                  <a:cxnSpLocks/>
                </p:cNvCxnSpPr>
                <p:nvPr/>
              </p:nvCxnSpPr>
              <p:spPr>
                <a:xfrm>
                  <a:off x="-3060614" y="5064923"/>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xmlns="" id="{F9DEE8B8-2090-4F47-8949-0B4EDE95971C}"/>
                    </a:ext>
                  </a:extLst>
                </p:cNvPr>
                <p:cNvCxnSpPr>
                  <a:cxnSpLocks/>
                </p:cNvCxnSpPr>
                <p:nvPr/>
              </p:nvCxnSpPr>
              <p:spPr>
                <a:xfrm>
                  <a:off x="-2082620" y="5064923"/>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xmlns="" id="{7CA11C6C-D0CB-F04A-9836-DED7C1BF5552}"/>
                    </a:ext>
                  </a:extLst>
                </p:cNvPr>
                <p:cNvCxnSpPr>
                  <a:cxnSpLocks/>
                </p:cNvCxnSpPr>
                <p:nvPr/>
              </p:nvCxnSpPr>
              <p:spPr>
                <a:xfrm>
                  <a:off x="-4953000" y="5064923"/>
                  <a:ext cx="0" cy="339443"/>
                </a:xfrm>
                <a:prstGeom prst="line">
                  <a:avLst/>
                </a:prstGeom>
              </p:spPr>
              <p:style>
                <a:lnRef idx="3">
                  <a:schemeClr val="dk1"/>
                </a:lnRef>
                <a:fillRef idx="0">
                  <a:schemeClr val="dk1"/>
                </a:fillRef>
                <a:effectRef idx="2">
                  <a:schemeClr val="dk1"/>
                </a:effectRef>
                <a:fontRef idx="minor">
                  <a:schemeClr val="tx1"/>
                </a:fontRef>
              </p:style>
            </p:cxnSp>
          </p:grpSp>
          <p:sp>
            <p:nvSpPr>
              <p:cNvPr id="23" name="TextBox 22">
                <a:extLst>
                  <a:ext uri="{FF2B5EF4-FFF2-40B4-BE49-F238E27FC236}">
                    <a16:creationId xmlns:a16="http://schemas.microsoft.com/office/drawing/2014/main" xmlns="" id="{BE26D544-24D4-7F4B-90B9-7F926C0C0E46}"/>
                  </a:ext>
                </a:extLst>
              </p:cNvPr>
              <p:cNvSpPr txBox="1"/>
              <p:nvPr/>
            </p:nvSpPr>
            <p:spPr>
              <a:xfrm>
                <a:off x="8219376" y="4388521"/>
                <a:ext cx="696024" cy="369332"/>
              </a:xfrm>
              <a:prstGeom prst="rect">
                <a:avLst/>
              </a:prstGeom>
              <a:noFill/>
              <a:ln>
                <a:noFill/>
              </a:ln>
            </p:spPr>
            <p:txBody>
              <a:bodyPr wrap="none" rtlCol="0">
                <a:spAutoFit/>
              </a:bodyPr>
              <a:lstStyle/>
              <a:p>
                <a:pPr lvl="0">
                  <a:spcBef>
                    <a:spcPct val="20000"/>
                  </a:spcBef>
                  <a:buClr>
                    <a:srgbClr val="000080"/>
                  </a:buClr>
                </a:pPr>
                <a:r>
                  <a:rPr lang="en-US" dirty="0">
                    <a:solidFill>
                      <a:schemeClr val="bg2"/>
                    </a:solidFill>
                    <a:latin typeface="Century Gothic" panose="020B0502020202020204" pitchFamily="34" charset="0"/>
                    <a:ea typeface="Courier" charset="0"/>
                    <a:cs typeface="Courier" charset="0"/>
                    <a:sym typeface="Wingdings" panose="05000000000000000000" pitchFamily="2" charset="2"/>
                  </a:rPr>
                  <a:t>Time</a:t>
                </a:r>
                <a:endParaRPr lang="en-US" dirty="0">
                  <a:solidFill>
                    <a:schemeClr val="bg2"/>
                  </a:solidFill>
                  <a:latin typeface="Century Gothic" panose="020B0502020202020204" pitchFamily="34" charset="0"/>
                  <a:cs typeface="Calibri" panose="020F0502020204030204" pitchFamily="34" charset="0"/>
                  <a:sym typeface="Wingdings" panose="05000000000000000000" pitchFamily="2" charset="2"/>
                </a:endParaRPr>
              </a:p>
            </p:txBody>
          </p:sp>
        </p:grpSp>
        <p:grpSp>
          <p:nvGrpSpPr>
            <p:cNvPr id="42" name="Group 41">
              <a:extLst>
                <a:ext uri="{FF2B5EF4-FFF2-40B4-BE49-F238E27FC236}">
                  <a16:creationId xmlns:a16="http://schemas.microsoft.com/office/drawing/2014/main" xmlns="" id="{B438BF90-9DC9-7447-A20C-BE6FE88FA4E5}"/>
                </a:ext>
              </a:extLst>
            </p:cNvPr>
            <p:cNvGrpSpPr/>
            <p:nvPr/>
          </p:nvGrpSpPr>
          <p:grpSpPr>
            <a:xfrm>
              <a:off x="4765035" y="5314075"/>
              <a:ext cx="1891865" cy="938832"/>
              <a:chOff x="6420023" y="4438750"/>
              <a:chExt cx="1891865" cy="938832"/>
            </a:xfrm>
          </p:grpSpPr>
          <p:sp>
            <p:nvSpPr>
              <p:cNvPr id="43" name="Bent-Up Arrow 42">
                <a:extLst>
                  <a:ext uri="{FF2B5EF4-FFF2-40B4-BE49-F238E27FC236}">
                    <a16:creationId xmlns:a16="http://schemas.microsoft.com/office/drawing/2014/main" xmlns="" id="{DABE22E9-74EE-774E-8544-49B2D7919221}"/>
                  </a:ext>
                </a:extLst>
              </p:cNvPr>
              <p:cNvSpPr/>
              <p:nvPr/>
            </p:nvSpPr>
            <p:spPr>
              <a:xfrm>
                <a:off x="6436420" y="4438750"/>
                <a:ext cx="1153915" cy="486831"/>
              </a:xfrm>
              <a:prstGeom prst="bentUpArrow">
                <a:avLst>
                  <a:gd name="adj1" fmla="val 15490"/>
                  <a:gd name="adj2" fmla="val 25000"/>
                  <a:gd name="adj3" fmla="val 29755"/>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xmlns="" id="{FC5C6F9F-C35C-5947-BA46-092C82EB02D0}"/>
                  </a:ext>
                </a:extLst>
              </p:cNvPr>
              <p:cNvSpPr txBox="1"/>
              <p:nvPr/>
            </p:nvSpPr>
            <p:spPr>
              <a:xfrm>
                <a:off x="6420023" y="5008250"/>
                <a:ext cx="1891865" cy="369332"/>
              </a:xfrm>
              <a:prstGeom prst="rect">
                <a:avLst/>
              </a:prstGeom>
              <a:noFill/>
            </p:spPr>
            <p:txBody>
              <a:bodyPr wrap="none" rtlCol="0">
                <a:spAutoFit/>
              </a:bodyPr>
              <a:lstStyle/>
              <a:p>
                <a:r>
                  <a:rPr lang="en-US" dirty="0">
                    <a:solidFill>
                      <a:srgbClr val="FF0000"/>
                    </a:solidFill>
                    <a:latin typeface="Century Gothic" panose="020B0502020202020204" pitchFamily="34" charset="0"/>
                  </a:rPr>
                  <a:t>Must be before</a:t>
                </a:r>
              </a:p>
            </p:txBody>
          </p:sp>
        </p:grpSp>
      </p:grpSp>
    </p:spTree>
    <p:extLst>
      <p:ext uri="{BB962C8B-B14F-4D97-AF65-F5344CB8AC3E}">
        <p14:creationId xmlns:p14="http://schemas.microsoft.com/office/powerpoint/2010/main" val="161393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left)">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dissolve">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wipe(left)">
                                      <p:cBhvr>
                                        <p:cTn id="42" dur="5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Rectangle 11"/>
              <p:cNvSpPr/>
              <p:nvPr/>
            </p:nvSpPr>
            <p:spPr>
              <a:xfrm>
                <a:off x="5486400" y="2156397"/>
                <a:ext cx="2575129" cy="6585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400" i="1" smtClean="0">
                              <a:solidFill>
                                <a:schemeClr val="tx1"/>
                              </a:solidFill>
                              <a:latin typeface="Cambria Math" charset="0"/>
                              <a:cs typeface="Calibri" panose="020F0502020204030204" pitchFamily="34" charset="0"/>
                            </a:rPr>
                          </m:ctrlPr>
                        </m:accPr>
                        <m:e>
                          <m:r>
                            <a:rPr lang="en-US" sz="2400" i="1">
                              <a:solidFill>
                                <a:schemeClr val="tx1"/>
                              </a:solidFill>
                              <a:latin typeface="Cambria Math" panose="02040503050406030204" pitchFamily="18" charset="0"/>
                              <a:cs typeface="Calibri" panose="020F0502020204030204" pitchFamily="34" charset="0"/>
                            </a:rPr>
                            <m:t>𝑌</m:t>
                          </m:r>
                        </m:e>
                      </m:acc>
                      <m:r>
                        <a:rPr lang="en-US" sz="2400" i="1">
                          <a:solidFill>
                            <a:schemeClr val="tx1"/>
                          </a:solidFill>
                          <a:latin typeface="Cambria Math" panose="02040503050406030204" pitchFamily="18" charset="0"/>
                          <a:cs typeface="Calibri" panose="020F0502020204030204" pitchFamily="34" charset="0"/>
                        </a:rPr>
                        <m:t>=</m:t>
                      </m:r>
                      <m:func>
                        <m:funcPr>
                          <m:ctrlPr>
                            <a:rPr lang="en-US" sz="2400" i="1">
                              <a:solidFill>
                                <a:schemeClr val="tx1"/>
                              </a:solidFill>
                              <a:latin typeface="Cambria Math" charset="0"/>
                              <a:cs typeface="Calibri" panose="020F0502020204030204" pitchFamily="34" charset="0"/>
                            </a:rPr>
                          </m:ctrlPr>
                        </m:funcPr>
                        <m:fName>
                          <m:limLow>
                            <m:limLowPr>
                              <m:ctrlPr>
                                <a:rPr lang="en-US" sz="2400" i="1">
                                  <a:solidFill>
                                    <a:schemeClr val="tx1"/>
                                  </a:solidFill>
                                  <a:latin typeface="Cambria Math" charset="0"/>
                                  <a:cs typeface="Calibri" panose="020F0502020204030204" pitchFamily="34" charset="0"/>
                                </a:rPr>
                              </m:ctrlPr>
                            </m:limLowPr>
                            <m:e>
                              <m:r>
                                <m:rPr>
                                  <m:sty m:val="p"/>
                                </m:rPr>
                                <a:rPr lang="en-US" sz="2400">
                                  <a:solidFill>
                                    <a:schemeClr val="tx1"/>
                                  </a:solidFill>
                                  <a:latin typeface="Cambria Math" panose="02040503050406030204" pitchFamily="18" charset="0"/>
                                  <a:cs typeface="Calibri" panose="020F0502020204030204" pitchFamily="34" charset="0"/>
                                </a:rPr>
                                <m:t>argmax</m:t>
                              </m:r>
                            </m:e>
                            <m:lim>
                              <m:r>
                                <a:rPr lang="en-US" sz="2400" i="1">
                                  <a:solidFill>
                                    <a:schemeClr val="tx1"/>
                                  </a:solidFill>
                                  <a:latin typeface="Cambria Math" panose="02040503050406030204" pitchFamily="18" charset="0"/>
                                  <a:cs typeface="Calibri" panose="020F0502020204030204" pitchFamily="34" charset="0"/>
                                </a:rPr>
                                <m:t>𝑌</m:t>
                              </m:r>
                              <m:r>
                                <a:rPr lang="en-US" sz="2400" i="1" dirty="0">
                                  <a:solidFill>
                                    <a:schemeClr val="tx1"/>
                                  </a:solidFill>
                                  <a:latin typeface="Cambria Math" panose="02040503050406030204" pitchFamily="18" charset="0"/>
                                  <a:cs typeface="Calibri" panose="020F0502020204030204" pitchFamily="34" charset="0"/>
                                </a:rPr>
                                <m:t>∈</m:t>
                              </m:r>
                              <m:r>
                                <a:rPr lang="en-US" sz="2400" i="1" dirty="0">
                                  <a:solidFill>
                                    <a:schemeClr val="tx1"/>
                                  </a:solidFill>
                                  <a:latin typeface="Cambria Math" panose="02040503050406030204" pitchFamily="18" charset="0"/>
                                  <a:cs typeface="Calibri" panose="020F0502020204030204" pitchFamily="34" charset="0"/>
                                </a:rPr>
                                <m:t>𝒞</m:t>
                              </m:r>
                            </m:lim>
                          </m:limLow>
                        </m:fName>
                        <m:e>
                          <m:sSup>
                            <m:sSupPr>
                              <m:ctrlPr>
                                <a:rPr lang="en-US" sz="2400" i="1">
                                  <a:solidFill>
                                    <a:schemeClr val="tx1"/>
                                  </a:solidFill>
                                  <a:latin typeface="Cambria Math" charset="0"/>
                                  <a:cs typeface="Calibri" panose="020F0502020204030204" pitchFamily="34" charset="0"/>
                                </a:rPr>
                              </m:ctrlPr>
                            </m:sSupPr>
                            <m:e>
                              <m:r>
                                <a:rPr lang="en-US" sz="2400" i="1">
                                  <a:solidFill>
                                    <a:schemeClr val="tx1"/>
                                  </a:solidFill>
                                  <a:latin typeface="Cambria Math" panose="02040503050406030204" pitchFamily="18" charset="0"/>
                                  <a:cs typeface="Calibri" panose="020F0502020204030204" pitchFamily="34" charset="0"/>
                                </a:rPr>
                                <m:t>𝑊</m:t>
                              </m:r>
                            </m:e>
                            <m:sup>
                              <m:r>
                                <a:rPr lang="en-US" sz="2400" i="1">
                                  <a:solidFill>
                                    <a:schemeClr val="tx1"/>
                                  </a:solidFill>
                                  <a:latin typeface="Cambria Math" panose="02040503050406030204" pitchFamily="18" charset="0"/>
                                  <a:cs typeface="Calibri" panose="020F0502020204030204" pitchFamily="34" charset="0"/>
                                </a:rPr>
                                <m:t>𝑇</m:t>
                              </m:r>
                            </m:sup>
                          </m:sSup>
                          <m:r>
                            <a:rPr lang="en-US" sz="2400" i="1">
                              <a:solidFill>
                                <a:schemeClr val="tx1"/>
                              </a:solidFill>
                              <a:latin typeface="Cambria Math" panose="02040503050406030204" pitchFamily="18" charset="0"/>
                              <a:cs typeface="Calibri" panose="020F0502020204030204" pitchFamily="34" charset="0"/>
                            </a:rPr>
                            <m:t>𝑋</m:t>
                          </m:r>
                        </m:e>
                      </m:func>
                    </m:oMath>
                  </m:oMathPara>
                </a14:m>
                <a:endParaRPr lang="en-US" dirty="0">
                  <a:solidFill>
                    <a:schemeClr val="tx1"/>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5486400" y="2156397"/>
                <a:ext cx="2575129" cy="658514"/>
              </a:xfrm>
              <a:prstGeom prst="rect">
                <a:avLst/>
              </a:prstGeom>
              <a:blipFill>
                <a:blip r:embed="rId3"/>
                <a:stretch>
                  <a:fillRect t="-5660" b="-1887"/>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xmlns="" id="{11B7D0D8-B826-48CD-9D53-969F5987D9E6}"/>
              </a:ext>
            </a:extLst>
          </p:cNvPr>
          <p:cNvSpPr>
            <a:spLocks noGrp="1"/>
          </p:cNvSpPr>
          <p:nvPr>
            <p:ph type="title"/>
          </p:nvPr>
        </p:nvSpPr>
        <p:spPr>
          <a:xfrm>
            <a:off x="630238" y="-76200"/>
            <a:ext cx="7886700" cy="1325563"/>
          </a:xfrm>
        </p:spPr>
        <p:txBody>
          <a:bodyPr/>
          <a:lstStyle/>
          <a:p>
            <a:r>
              <a:rPr lang="en-US" dirty="0"/>
              <a:t>Structured (global) Learning</a:t>
            </a:r>
          </a:p>
        </p:txBody>
      </p:sp>
      <p:sp>
        <p:nvSpPr>
          <p:cNvPr id="8" name="Text Placeholder 7">
            <a:extLst>
              <a:ext uri="{FF2B5EF4-FFF2-40B4-BE49-F238E27FC236}">
                <a16:creationId xmlns:a16="http://schemas.microsoft.com/office/drawing/2014/main" xmlns="" id="{8D1916CC-EAD4-4EA7-A445-F8159943258B}"/>
              </a:ext>
            </a:extLst>
          </p:cNvPr>
          <p:cNvSpPr>
            <a:spLocks noGrp="1"/>
          </p:cNvSpPr>
          <p:nvPr>
            <p:ph type="body" idx="1"/>
          </p:nvPr>
        </p:nvSpPr>
        <p:spPr>
          <a:xfrm>
            <a:off x="630238" y="1239838"/>
            <a:ext cx="3868737" cy="452437"/>
          </a:xfrm>
        </p:spPr>
        <p:txBody>
          <a:bodyPr/>
          <a:lstStyle/>
          <a:p>
            <a:r>
              <a:rPr lang="en-US" dirty="0"/>
              <a:t>Local Learning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57B0DF5D-F9CD-4391-92A9-7600F2154229}"/>
                  </a:ext>
                </a:extLst>
              </p:cNvPr>
              <p:cNvSpPr>
                <a:spLocks noGrp="1"/>
              </p:cNvSpPr>
              <p:nvPr>
                <p:ph sz="half" idx="2"/>
              </p:nvPr>
            </p:nvSpPr>
            <p:spPr>
              <a:xfrm>
                <a:off x="630238" y="1692275"/>
                <a:ext cx="3868737" cy="4056063"/>
              </a:xfrm>
            </p:spPr>
            <p:txBody>
              <a:bodyPr/>
              <a:lstStyle/>
              <a:p>
                <a:pPr marL="0" indent="0">
                  <a:buNone/>
                </a:pPr>
                <a:r>
                  <a:rPr lang="en-US" sz="2400" dirty="0"/>
                  <a:t>For each </a:t>
                </a:r>
                <a14:m>
                  <m:oMath xmlns:m="http://schemas.openxmlformats.org/officeDocument/2006/math">
                    <m:d>
                      <m:dPr>
                        <m:ctrlPr>
                          <a:rPr lang="en-US" sz="2400" b="0" i="1" smtClean="0">
                            <a:latin typeface="Cambria Math"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e>
                    </m:d>
                  </m:oMath>
                </a14:m>
                <a:endParaRPr lang="en-US" sz="2400" b="0" dirty="0"/>
              </a:p>
              <a:p>
                <a:pPr marL="0" indent="0">
                  <a:buNone/>
                </a:pPr>
                <a:r>
                  <a:rPr lang="en-US" sz="2400" dirty="0"/>
                  <a:t>	</a:t>
                </a:r>
                <a14:m>
                  <m:oMath xmlns:m="http://schemas.openxmlformats.org/officeDocument/2006/math">
                    <m:acc>
                      <m:accPr>
                        <m:chr m:val="̂"/>
                        <m:ctrlPr>
                          <a:rPr lang="en-US" sz="2400" b="0" i="1" smtClean="0">
                            <a:latin typeface="Cambria Math" charset="0"/>
                          </a:rPr>
                        </m:ctrlPr>
                      </m:accPr>
                      <m:e>
                        <m:r>
                          <a:rPr lang="en-US" sz="2400" b="0" i="1" smtClean="0">
                            <a:latin typeface="Cambria Math" panose="02040503050406030204" pitchFamily="18" charset="0"/>
                          </a:rPr>
                          <m:t>𝑦</m:t>
                        </m:r>
                      </m:e>
                    </m:acc>
                    <m:r>
                      <a:rPr lang="en-US" sz="2400" b="0" i="1" dirty="0" smtClean="0">
                        <a:latin typeface="Cambria Math" panose="02040503050406030204" pitchFamily="18" charset="0"/>
                      </a:rPr>
                      <m:t>=</m:t>
                    </m:r>
                    <m:r>
                      <a:rPr lang="en-US" sz="2400" b="0" i="1" dirty="0" smtClean="0">
                        <a:latin typeface="Cambria Math" panose="02040503050406030204" pitchFamily="18" charset="0"/>
                      </a:rPr>
                      <m:t>𝑠𝑔𝑛</m:t>
                    </m:r>
                    <m:r>
                      <a:rPr lang="en-US" sz="2400" b="0" i="1" dirty="0" smtClean="0">
                        <a:latin typeface="Cambria Math" panose="02040503050406030204" pitchFamily="18" charset="0"/>
                      </a:rPr>
                      <m:t>(</m:t>
                    </m:r>
                    <m:sSup>
                      <m:sSupPr>
                        <m:ctrlPr>
                          <a:rPr lang="en-US" sz="2400" b="0" i="1" dirty="0" smtClean="0">
                            <a:latin typeface="Cambria Math" charset="0"/>
                          </a:rPr>
                        </m:ctrlPr>
                      </m:sSupPr>
                      <m:e>
                        <m:r>
                          <a:rPr lang="en-US" sz="2400" b="0" i="1" dirty="0" smtClean="0">
                            <a:latin typeface="Cambria Math" panose="02040503050406030204" pitchFamily="18" charset="0"/>
                          </a:rPr>
                          <m:t>𝑤</m:t>
                        </m:r>
                      </m:e>
                      <m:sup>
                        <m:r>
                          <a:rPr lang="en-US" sz="2400" b="0" i="1" dirty="0" smtClean="0">
                            <a:latin typeface="Cambria Math" panose="02040503050406030204" pitchFamily="18" charset="0"/>
                          </a:rPr>
                          <m:t>𝑇</m:t>
                        </m:r>
                      </m:sup>
                    </m:sSup>
                    <m:r>
                      <a:rPr lang="en-US" sz="2400" b="0" i="1" dirty="0" smtClean="0">
                        <a:latin typeface="Cambria Math" panose="02040503050406030204" pitchFamily="18" charset="0"/>
                      </a:rPr>
                      <m:t>𝑥</m:t>
                    </m:r>
                    <m:r>
                      <a:rPr lang="en-US" sz="2400" b="0" i="1" dirty="0" smtClean="0">
                        <a:latin typeface="Cambria Math" panose="02040503050406030204" pitchFamily="18" charset="0"/>
                      </a:rPr>
                      <m:t>)</m:t>
                    </m:r>
                  </m:oMath>
                </a14:m>
                <a:endParaRPr lang="en-US" sz="2400" dirty="0"/>
              </a:p>
              <a:p>
                <a:pPr marL="0" indent="0">
                  <a:buNone/>
                </a:pPr>
                <a:r>
                  <a:rPr lang="en-US" sz="2400" dirty="0"/>
                  <a:t>	If </a:t>
                </a:r>
                <a14:m>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acc>
                      <m:accPr>
                        <m:chr m:val="̂"/>
                        <m:ctrlPr>
                          <a:rPr lang="en-US" sz="2400" b="0" i="1" smtClean="0">
                            <a:latin typeface="Cambria Math" charset="0"/>
                          </a:rPr>
                        </m:ctrlPr>
                      </m:accPr>
                      <m:e>
                        <m:r>
                          <a:rPr lang="en-US" sz="2400" b="0" i="1" smtClean="0">
                            <a:latin typeface="Cambria Math" panose="02040503050406030204" pitchFamily="18" charset="0"/>
                          </a:rPr>
                          <m:t>𝑦</m:t>
                        </m:r>
                      </m:e>
                    </m:acc>
                  </m:oMath>
                </a14:m>
                <a:endParaRPr lang="en-US" sz="2400" b="0" dirty="0"/>
              </a:p>
              <a:p>
                <a:pPr marL="0" indent="0">
                  <a:buNone/>
                </a:pPr>
                <a:r>
                  <a:rPr lang="en-US" sz="2400" dirty="0"/>
                  <a:t>		Update </a:t>
                </a:r>
                <a14:m>
                  <m:oMath xmlns:m="http://schemas.openxmlformats.org/officeDocument/2006/math">
                    <m:r>
                      <a:rPr lang="en-US" sz="2400" b="0" i="1" smtClean="0">
                        <a:latin typeface="Cambria Math" panose="02040503050406030204" pitchFamily="18" charset="0"/>
                      </a:rPr>
                      <m:t>𝑤</m:t>
                    </m:r>
                  </m:oMath>
                </a14:m>
                <a:endParaRPr lang="en-US" sz="2400" dirty="0"/>
              </a:p>
              <a:p>
                <a:r>
                  <a:rPr lang="en-US" sz="2400" dirty="0"/>
                  <a:t> </a:t>
                </a:r>
                <a14:m>
                  <m:oMath xmlns:m="http://schemas.openxmlformats.org/officeDocument/2006/math">
                    <m:r>
                      <a:rPr lang="en-US" sz="2400" b="0" i="0"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r>
                      <a:rPr lang="en-US" sz="2400" b="0" i="1" smtClean="0">
                        <a:latin typeface="Cambria Math" panose="02040503050406030204" pitchFamily="18" charset="0"/>
                      </a:rPr>
                      <m:t>)</m:t>
                    </m:r>
                  </m:oMath>
                </a14:m>
                <a:r>
                  <a:rPr lang="en-US" sz="2400" dirty="0"/>
                  <a:t>: feature and label for </a:t>
                </a:r>
                <a:r>
                  <a:rPr lang="en-US" sz="2400" b="1" dirty="0"/>
                  <a:t>a single pair of events</a:t>
                </a:r>
              </a:p>
              <a:p>
                <a:r>
                  <a:rPr lang="en-US" sz="2400" b="1" dirty="0"/>
                  <a:t>Unaware </a:t>
                </a:r>
                <a:r>
                  <a:rPr lang="en-US" sz="2400" dirty="0"/>
                  <a:t>of decisions in other pairs. </a:t>
                </a:r>
              </a:p>
              <a:p>
                <a:endParaRPr lang="en-US" sz="2400" b="1" dirty="0"/>
              </a:p>
              <a:p>
                <a:endParaRPr lang="en-US" sz="2400" dirty="0"/>
              </a:p>
              <a:p>
                <a:endParaRPr lang="en-US" sz="2400" dirty="0"/>
              </a:p>
            </p:txBody>
          </p:sp>
        </mc:Choice>
        <mc:Fallback xmlns="">
          <p:sp>
            <p:nvSpPr>
              <p:cNvPr id="3" name="Content Placeholder 2">
                <a:extLst>
                  <a:ext uri="{FF2B5EF4-FFF2-40B4-BE49-F238E27FC236}">
                    <a16:creationId xmlns:a16="http://schemas.microsoft.com/office/drawing/2014/main" id="{57B0DF5D-F9CD-4391-92A9-7600F2154229}"/>
                  </a:ext>
                </a:extLst>
              </p:cNvPr>
              <p:cNvSpPr>
                <a:spLocks noGrp="1" noRot="1" noChangeAspect="1" noMove="1" noResize="1" noEditPoints="1" noAdjustHandles="1" noChangeArrowheads="1" noChangeShapeType="1" noTextEdit="1"/>
              </p:cNvSpPr>
              <p:nvPr>
                <p:ph sz="half" idx="2"/>
              </p:nvPr>
            </p:nvSpPr>
            <p:spPr>
              <a:xfrm>
                <a:off x="630238" y="1692275"/>
                <a:ext cx="3868737" cy="4056063"/>
              </a:xfrm>
              <a:blipFill>
                <a:blip r:embed="rId4"/>
                <a:stretch>
                  <a:fillRect l="-2295" t="-935"/>
                </a:stretch>
              </a:blipFill>
            </p:spPr>
            <p:txBody>
              <a:bodyPr/>
              <a:lstStyle/>
              <a:p>
                <a:r>
                  <a:rPr lang="en-US">
                    <a:noFill/>
                  </a:rPr>
                  <a:t> </a:t>
                </a:r>
              </a:p>
            </p:txBody>
          </p:sp>
        </mc:Fallback>
      </mc:AlternateContent>
      <p:sp>
        <p:nvSpPr>
          <p:cNvPr id="9" name="Text Placeholder 8">
            <a:extLst>
              <a:ext uri="{FF2B5EF4-FFF2-40B4-BE49-F238E27FC236}">
                <a16:creationId xmlns:a16="http://schemas.microsoft.com/office/drawing/2014/main" xmlns="" id="{87B91A4A-D7F6-49DC-91A6-0AB078951FB2}"/>
              </a:ext>
            </a:extLst>
          </p:cNvPr>
          <p:cNvSpPr>
            <a:spLocks noGrp="1"/>
          </p:cNvSpPr>
          <p:nvPr>
            <p:ph type="body" sz="quarter" idx="3"/>
          </p:nvPr>
        </p:nvSpPr>
        <p:spPr>
          <a:xfrm>
            <a:off x="4629150" y="1239838"/>
            <a:ext cx="3887788" cy="452437"/>
          </a:xfrm>
        </p:spPr>
        <p:txBody>
          <a:bodyPr/>
          <a:lstStyle/>
          <a:p>
            <a:r>
              <a:rPr lang="en-US" dirty="0"/>
              <a:t>Structured Learning</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xmlns="" id="{153DE9B1-AEC7-40D3-BED1-67BAA91B38D6}"/>
                  </a:ext>
                </a:extLst>
              </p:cNvPr>
              <p:cNvSpPr>
                <a:spLocks noGrp="1"/>
              </p:cNvSpPr>
              <p:nvPr>
                <p:ph sz="quarter" idx="4"/>
              </p:nvPr>
            </p:nvSpPr>
            <p:spPr>
              <a:xfrm>
                <a:off x="4629150" y="1692275"/>
                <a:ext cx="3887788" cy="4479925"/>
              </a:xfrm>
            </p:spPr>
            <p:txBody>
              <a:bodyPr/>
              <a:lstStyle/>
              <a:p>
                <a:pPr marL="0" indent="0">
                  <a:buNone/>
                </a:pPr>
                <a:r>
                  <a:rPr lang="en-US" sz="2400" dirty="0"/>
                  <a:t>For each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𝑌</m:t>
                    </m:r>
                    <m:r>
                      <a:rPr lang="en-US" sz="2400" b="0" i="1" smtClean="0">
                        <a:latin typeface="Cambria Math" panose="02040503050406030204" pitchFamily="18" charset="0"/>
                      </a:rPr>
                      <m:t>)</m:t>
                    </m:r>
                  </m:oMath>
                </a14:m>
                <a:endParaRPr lang="en-US" sz="2400" dirty="0"/>
              </a:p>
              <a:p>
                <a:pPr marL="0" indent="0">
                  <a:buNone/>
                </a:pPr>
                <a:r>
                  <a:rPr lang="en-US" sz="2400" dirty="0"/>
                  <a:t>	</a:t>
                </a:r>
                <a14:m>
                  <m:oMath xmlns:m="http://schemas.openxmlformats.org/officeDocument/2006/math">
                    <m:acc>
                      <m:accPr>
                        <m:chr m:val="̂"/>
                        <m:ctrlPr>
                          <a:rPr lang="en-US" sz="2400" b="0" i="1" smtClean="0">
                            <a:latin typeface="Cambria Math" charset="0"/>
                          </a:rPr>
                        </m:ctrlPr>
                      </m:accPr>
                      <m:e>
                        <m:r>
                          <a:rPr lang="en-US" sz="2400" b="0" i="1" smtClean="0">
                            <a:latin typeface="Cambria Math" panose="02040503050406030204" pitchFamily="18" charset="0"/>
                          </a:rPr>
                          <m:t>𝑌</m:t>
                        </m:r>
                      </m:e>
                    </m:acc>
                    <m:r>
                      <a:rPr lang="en-US" sz="2400" b="0" i="1" smtClean="0">
                        <a:latin typeface="Cambria Math" panose="02040503050406030204" pitchFamily="18" charset="0"/>
                      </a:rPr>
                      <m:t>=</m:t>
                    </m:r>
                  </m:oMath>
                </a14:m>
                <a:r>
                  <a:rPr lang="en-US" sz="2400" dirty="0"/>
                  <a:t>“solution to ILP”</a:t>
                </a:r>
              </a:p>
              <a:p>
                <a:pPr marL="0" indent="0">
                  <a:buNone/>
                </a:pPr>
                <a:r>
                  <a:rPr lang="en-US" sz="2400" dirty="0"/>
                  <a:t>	If </a:t>
                </a:r>
                <a14:m>
                  <m:oMath xmlns:m="http://schemas.openxmlformats.org/officeDocument/2006/math">
                    <m:r>
                      <a:rPr lang="en-US" sz="2400" b="0" i="1" smtClean="0">
                        <a:latin typeface="Cambria Math" panose="02040503050406030204" pitchFamily="18" charset="0"/>
                      </a:rPr>
                      <m:t>𝑌</m:t>
                    </m:r>
                    <m:r>
                      <a:rPr lang="en-US" sz="2400" b="0" i="1" smtClean="0">
                        <a:latin typeface="Cambria Math" panose="02040503050406030204" pitchFamily="18" charset="0"/>
                      </a:rPr>
                      <m:t>≠</m:t>
                    </m:r>
                    <m:acc>
                      <m:accPr>
                        <m:chr m:val="̂"/>
                        <m:ctrlPr>
                          <a:rPr lang="en-US" sz="2400" b="0" i="1" smtClean="0">
                            <a:latin typeface="Cambria Math" charset="0"/>
                          </a:rPr>
                        </m:ctrlPr>
                      </m:accPr>
                      <m:e>
                        <m:r>
                          <a:rPr lang="en-US" sz="2400" b="0" i="1" smtClean="0">
                            <a:latin typeface="Cambria Math" panose="02040503050406030204" pitchFamily="18" charset="0"/>
                          </a:rPr>
                          <m:t>𝑌</m:t>
                        </m:r>
                      </m:e>
                    </m:acc>
                  </m:oMath>
                </a14:m>
                <a:endParaRPr lang="en-US" sz="2400" b="0" dirty="0"/>
              </a:p>
              <a:p>
                <a:pPr marL="0" indent="0">
                  <a:buNone/>
                </a:pPr>
                <a:r>
                  <a:rPr lang="en-US" sz="2400" dirty="0"/>
                  <a:t>		Update </a:t>
                </a:r>
                <a14:m>
                  <m:oMath xmlns:m="http://schemas.openxmlformats.org/officeDocument/2006/math">
                    <m:r>
                      <a:rPr lang="en-US" sz="2400" b="0" i="1" smtClean="0">
                        <a:latin typeface="Cambria Math" panose="02040503050406030204" pitchFamily="18" charset="0"/>
                      </a:rPr>
                      <m:t>𝑊</m:t>
                    </m:r>
                  </m:oMath>
                </a14:m>
                <a:endParaRPr lang="en-US" sz="2400" dirty="0"/>
              </a:p>
              <a:p>
                <a14:m>
                  <m:oMath xmlns:m="http://schemas.openxmlformats.org/officeDocument/2006/math">
                    <m:d>
                      <m:dPr>
                        <m:ctrlPr>
                          <a:rPr lang="en-US" sz="2400" b="0" i="1" smtClean="0">
                            <a:latin typeface="Cambria Math"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𝑌</m:t>
                        </m:r>
                      </m:e>
                    </m:d>
                  </m:oMath>
                </a14:m>
                <a:r>
                  <a:rPr lang="en-US" sz="2400" dirty="0"/>
                  <a:t>: features and labels from </a:t>
                </a:r>
                <a:r>
                  <a:rPr lang="en-US" sz="2400" b="1" dirty="0"/>
                  <a:t>the entire situation</a:t>
                </a:r>
              </a:p>
              <a:p>
                <a:r>
                  <a:rPr lang="en-US" sz="2400" b="1" dirty="0"/>
                  <a:t>Aware </a:t>
                </a:r>
                <a:r>
                  <a:rPr lang="en-US" sz="2400" dirty="0"/>
                  <a:t>of other pairs due to global inference in-between</a:t>
                </a:r>
                <a:endParaRPr lang="en-US" sz="2400" b="1" dirty="0"/>
              </a:p>
            </p:txBody>
          </p:sp>
        </mc:Choice>
        <mc:Fallback xmlns="">
          <p:sp>
            <p:nvSpPr>
              <p:cNvPr id="10" name="Content Placeholder 9">
                <a:extLst>
                  <a:ext uri="{FF2B5EF4-FFF2-40B4-BE49-F238E27FC236}">
                    <a16:creationId xmlns:a16="http://schemas.microsoft.com/office/drawing/2014/main" id="{153DE9B1-AEC7-40D3-BED1-67BAA91B38D6}"/>
                  </a:ext>
                </a:extLst>
              </p:cNvPr>
              <p:cNvSpPr>
                <a:spLocks noGrp="1" noRot="1" noChangeAspect="1" noMove="1" noResize="1" noEditPoints="1" noAdjustHandles="1" noChangeArrowheads="1" noChangeShapeType="1" noTextEdit="1"/>
              </p:cNvSpPr>
              <p:nvPr>
                <p:ph sz="quarter" idx="4"/>
              </p:nvPr>
            </p:nvSpPr>
            <p:spPr>
              <a:xfrm>
                <a:off x="4629150" y="1692275"/>
                <a:ext cx="3887788" cy="4479925"/>
              </a:xfrm>
              <a:blipFill>
                <a:blip r:embed="rId5"/>
                <a:stretch>
                  <a:fillRect l="-2280" t="-847" r="-1954"/>
                </a:stretch>
              </a:blipFill>
            </p:spPr>
            <p:txBody>
              <a:bodyPr/>
              <a:lstStyle/>
              <a:p>
                <a:r>
                  <a:rPr lang="en-US">
                    <a:noFill/>
                  </a:rPr>
                  <a:t> </a:t>
                </a:r>
              </a:p>
            </p:txBody>
          </p:sp>
        </mc:Fallback>
      </mc:AlternateContent>
      <p:sp>
        <p:nvSpPr>
          <p:cNvPr id="11" name="Rounded Rectangle 10">
            <a:extLst>
              <a:ext uri="{FF2B5EF4-FFF2-40B4-BE49-F238E27FC236}">
                <a16:creationId xmlns:a16="http://schemas.microsoft.com/office/drawing/2014/main" xmlns="" id="{1DF243D1-2C10-4AB6-BD25-D5EAB4CC6A55}"/>
              </a:ext>
            </a:extLst>
          </p:cNvPr>
          <p:cNvSpPr/>
          <p:nvPr/>
        </p:nvSpPr>
        <p:spPr>
          <a:xfrm>
            <a:off x="5357967" y="2158127"/>
            <a:ext cx="3155795" cy="407274"/>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xmlns="" id="{C28CDFB1-FA75-FB4F-9AAD-87B90DFC8F54}"/>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4" name="TextBox 3">
            <a:extLst>
              <a:ext uri="{FF2B5EF4-FFF2-40B4-BE49-F238E27FC236}">
                <a16:creationId xmlns:a16="http://schemas.microsoft.com/office/drawing/2014/main" xmlns="" id="{38BB9873-5E56-7D4C-B79F-08AEF9A4859C}"/>
              </a:ext>
            </a:extLst>
          </p:cNvPr>
          <p:cNvSpPr txBox="1"/>
          <p:nvPr/>
        </p:nvSpPr>
        <p:spPr>
          <a:xfrm>
            <a:off x="7543800" y="1296758"/>
            <a:ext cx="1697901" cy="369332"/>
          </a:xfrm>
          <a:prstGeom prst="rect">
            <a:avLst/>
          </a:prstGeom>
          <a:noFill/>
        </p:spPr>
        <p:txBody>
          <a:bodyPr wrap="none" rtlCol="0">
            <a:spAutoFit/>
          </a:bodyPr>
          <a:lstStyle/>
          <a:p>
            <a:r>
              <a:rPr lang="en-US" i="1" dirty="0">
                <a:solidFill>
                  <a:schemeClr val="bg2"/>
                </a:solidFill>
                <a:latin typeface="Century Gothic" panose="020B0502020202020204" pitchFamily="34" charset="0"/>
              </a:rPr>
              <a:t>[Collins, 2002]</a:t>
            </a:r>
          </a:p>
        </p:txBody>
      </p:sp>
    </p:spTree>
    <p:extLst>
      <p:ext uri="{BB962C8B-B14F-4D97-AF65-F5344CB8AC3E}">
        <p14:creationId xmlns:p14="http://schemas.microsoft.com/office/powerpoint/2010/main" val="58124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xEl>
                                              <p:pRg st="0" end="0"/>
                                            </p:txEl>
                                          </p:spTgt>
                                        </p:tgtEl>
                                        <p:attrNameLst>
                                          <p:attrName>style.visibility</p:attrName>
                                        </p:attrNameLst>
                                      </p:cBhvr>
                                      <p:to>
                                        <p:strVal val="visible"/>
                                      </p:to>
                                    </p:set>
                                    <p:animEffect transition="in" filter="fade">
                                      <p:cBhvr>
                                        <p:cTn id="10" dur="500"/>
                                        <p:tgtEl>
                                          <p:spTgt spid="10">
                                            <p:txEl>
                                              <p:pRg st="0" end="0"/>
                                            </p:txEl>
                                          </p:spTgt>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fade">
                                      <p:cBhvr>
                                        <p:cTn id="17" dur="500"/>
                                        <p:tgtEl>
                                          <p:spTgt spid="10">
                                            <p:txEl>
                                              <p:pRg st="1" end="1"/>
                                            </p:txEl>
                                          </p:spTgt>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xEl>
                                              <p:pRg st="2" end="2"/>
                                            </p:txEl>
                                          </p:spTgt>
                                        </p:tgtEl>
                                        <p:attrNameLst>
                                          <p:attrName>style.visibility</p:attrName>
                                        </p:attrNameLst>
                                      </p:cBhvr>
                                      <p:to>
                                        <p:strVal val="visible"/>
                                      </p:to>
                                    </p:set>
                                    <p:animEffect transition="in" filter="fade">
                                      <p:cBhvr>
                                        <p:cTn id="24" dur="500"/>
                                        <p:tgtEl>
                                          <p:spTgt spid="10">
                                            <p:txEl>
                                              <p:pRg st="2" end="2"/>
                                            </p:txEl>
                                          </p:spTgt>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xEl>
                                              <p:pRg st="3" end="3"/>
                                            </p:txEl>
                                          </p:spTgt>
                                        </p:tgtEl>
                                        <p:attrNameLst>
                                          <p:attrName>style.visibility</p:attrName>
                                        </p:attrNameLst>
                                      </p:cBhvr>
                                      <p:to>
                                        <p:strVal val="visible"/>
                                      </p:to>
                                    </p:set>
                                    <p:animEffect transition="in" filter="fade">
                                      <p:cBhvr>
                                        <p:cTn id="31" dur="500"/>
                                        <p:tgtEl>
                                          <p:spTgt spid="10">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dissolve">
                                      <p:cBhvr>
                                        <p:cTn id="36" dur="500"/>
                                        <p:tgtEl>
                                          <p:spTgt spid="3">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0">
                                            <p:txEl>
                                              <p:pRg st="4" end="4"/>
                                            </p:txEl>
                                          </p:spTgt>
                                        </p:tgtEl>
                                        <p:attrNameLst>
                                          <p:attrName>style.visibility</p:attrName>
                                        </p:attrNameLst>
                                      </p:cBhvr>
                                      <p:to>
                                        <p:strVal val="visible"/>
                                      </p:to>
                                    </p:set>
                                    <p:animEffect transition="in" filter="dissolve">
                                      <p:cBhvr>
                                        <p:cTn id="41" dur="500"/>
                                        <p:tgtEl>
                                          <p:spTgt spid="10">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3">
                                            <p:txEl>
                                              <p:pRg st="5" end="5"/>
                                            </p:txEl>
                                          </p:spTgt>
                                        </p:tgtEl>
                                        <p:attrNameLst>
                                          <p:attrName>style.visibility</p:attrName>
                                        </p:attrNameLst>
                                      </p:cBhvr>
                                      <p:to>
                                        <p:strVal val="visible"/>
                                      </p:to>
                                    </p:set>
                                    <p:animEffect transition="in" filter="dissolve">
                                      <p:cBhvr>
                                        <p:cTn id="46" dur="500"/>
                                        <p:tgtEl>
                                          <p:spTgt spid="3">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0">
                                            <p:txEl>
                                              <p:pRg st="5" end="5"/>
                                            </p:txEl>
                                          </p:spTgt>
                                        </p:tgtEl>
                                        <p:attrNameLst>
                                          <p:attrName>style.visibility</p:attrName>
                                        </p:attrNameLst>
                                      </p:cBhvr>
                                      <p:to>
                                        <p:strVal val="visible"/>
                                      </p:to>
                                    </p:set>
                                    <p:animEffect transition="in" filter="dissolve">
                                      <p:cBhvr>
                                        <p:cTn id="51" dur="500"/>
                                        <p:tgtEl>
                                          <p:spTgt spid="10">
                                            <p:txEl>
                                              <p:pRg st="5" end="5"/>
                                            </p:txEl>
                                          </p:spTgt>
                                        </p:tgtEl>
                                      </p:cBhvr>
                                    </p:animEffect>
                                  </p:childTnLst>
                                </p:cTn>
                              </p:par>
                            </p:childTnLst>
                          </p:cTn>
                        </p:par>
                        <p:par>
                          <p:cTn id="52" fill="hold">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up)">
                                      <p:cBhvr>
                                        <p:cTn id="5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uiExpand="1" build="p"/>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3F2613-70B0-4C0B-BAF1-9053EED9CF55}"/>
              </a:ext>
            </a:extLst>
          </p:cNvPr>
          <p:cNvSpPr>
            <a:spLocks noGrp="1"/>
          </p:cNvSpPr>
          <p:nvPr>
            <p:ph type="title"/>
          </p:nvPr>
        </p:nvSpPr>
        <p:spPr/>
        <p:txBody>
          <a:bodyPr/>
          <a:lstStyle/>
          <a:p>
            <a:r>
              <a:rPr lang="en-US" dirty="0"/>
              <a:t>Results</a:t>
            </a:r>
          </a:p>
        </p:txBody>
      </p:sp>
      <p:graphicFrame>
        <p:nvGraphicFramePr>
          <p:cNvPr id="7" name="Chart 6"/>
          <p:cNvGraphicFramePr/>
          <p:nvPr>
            <p:extLst>
              <p:ext uri="{D42A27DB-BD31-4B8C-83A1-F6EECF244321}">
                <p14:modId xmlns:p14="http://schemas.microsoft.com/office/powerpoint/2010/main" val="3023141519"/>
              </p:ext>
            </p:extLst>
          </p:nvPr>
        </p:nvGraphicFramePr>
        <p:xfrm>
          <a:off x="1219200" y="779584"/>
          <a:ext cx="6954672" cy="4783015"/>
        </p:xfrm>
        <a:graphic>
          <a:graphicData uri="http://schemas.openxmlformats.org/drawingml/2006/chart">
            <c:chart xmlns:c="http://schemas.openxmlformats.org/drawingml/2006/chart" xmlns:r="http://schemas.openxmlformats.org/officeDocument/2006/relationships" r:id="rId3"/>
          </a:graphicData>
        </a:graphic>
      </p:graphicFrame>
      <p:grpSp>
        <p:nvGrpSpPr>
          <p:cNvPr id="16" name="Group 15"/>
          <p:cNvGrpSpPr/>
          <p:nvPr/>
        </p:nvGrpSpPr>
        <p:grpSpPr>
          <a:xfrm>
            <a:off x="5334000" y="2605121"/>
            <a:ext cx="2686210" cy="762000"/>
            <a:chOff x="5791200" y="2590800"/>
            <a:chExt cx="2686210" cy="762000"/>
          </a:xfrm>
        </p:grpSpPr>
        <p:cxnSp>
          <p:nvCxnSpPr>
            <p:cNvPr id="13" name="Straight Arrow Connector 12"/>
            <p:cNvCxnSpPr/>
            <p:nvPr/>
          </p:nvCxnSpPr>
          <p:spPr>
            <a:xfrm flipV="1">
              <a:off x="5791200" y="2590800"/>
              <a:ext cx="0" cy="76200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867400" y="2787134"/>
              <a:ext cx="261001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Global inference (ILP)</a:t>
              </a:r>
            </a:p>
          </p:txBody>
        </p:sp>
      </p:grpSp>
      <p:sp>
        <p:nvSpPr>
          <p:cNvPr id="21" name="TextBox 20">
            <a:extLst>
              <a:ext uri="{FF2B5EF4-FFF2-40B4-BE49-F238E27FC236}">
                <a16:creationId xmlns:a16="http://schemas.microsoft.com/office/drawing/2014/main" xmlns="" id="{524E73CA-08B7-F84B-AFD1-ED1554955BD2}"/>
              </a:ext>
            </a:extLst>
          </p:cNvPr>
          <p:cNvSpPr txBox="1"/>
          <p:nvPr/>
        </p:nvSpPr>
        <p:spPr>
          <a:xfrm>
            <a:off x="5409327" y="3710245"/>
            <a:ext cx="176683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Local learning</a:t>
            </a:r>
          </a:p>
        </p:txBody>
      </p:sp>
      <p:cxnSp>
        <p:nvCxnSpPr>
          <p:cNvPr id="22" name="Straight Arrow Connector 21">
            <a:extLst>
              <a:ext uri="{FF2B5EF4-FFF2-40B4-BE49-F238E27FC236}">
                <a16:creationId xmlns:a16="http://schemas.microsoft.com/office/drawing/2014/main" xmlns="" id="{C2B6E344-0E0A-CC4C-9BC4-D46DCDBFBEFA}"/>
              </a:ext>
            </a:extLst>
          </p:cNvPr>
          <p:cNvCxnSpPr>
            <a:cxnSpLocks/>
          </p:cNvCxnSpPr>
          <p:nvPr/>
        </p:nvCxnSpPr>
        <p:spPr>
          <a:xfrm flipV="1">
            <a:off x="5334000" y="3355677"/>
            <a:ext cx="0" cy="91440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xmlns="" id="{530D261B-88BC-8344-BAA6-05EB21EA17C8}"/>
              </a:ext>
            </a:extLst>
          </p:cNvPr>
          <p:cNvSpPr txBox="1"/>
          <p:nvPr/>
        </p:nvSpPr>
        <p:spPr>
          <a:xfrm>
            <a:off x="1058894" y="6033700"/>
            <a:ext cx="7180171" cy="261610"/>
          </a:xfrm>
          <a:prstGeom prst="rect">
            <a:avLst/>
          </a:prstGeom>
          <a:noFill/>
        </p:spPr>
        <p:txBody>
          <a:bodyPr wrap="none" rtlCol="0">
            <a:spAutoFit/>
          </a:bodyPr>
          <a:lstStyle/>
          <a:p>
            <a:r>
              <a:rPr lang="en-US" sz="1100" i="1" dirty="0">
                <a:solidFill>
                  <a:schemeClr val="bg2"/>
                </a:solidFill>
                <a:latin typeface="Century Gothic" panose="020B0502020202020204" pitchFamily="34" charset="0"/>
              </a:rPr>
              <a:t>[</a:t>
            </a:r>
            <a:r>
              <a:rPr lang="en-US" sz="1100" i="1" dirty="0" err="1">
                <a:solidFill>
                  <a:schemeClr val="bg2"/>
                </a:solidFill>
                <a:latin typeface="Century Gothic" panose="020B0502020202020204" pitchFamily="34" charset="0"/>
              </a:rPr>
              <a:t>UTTime</a:t>
            </a:r>
            <a:r>
              <a:rPr lang="en-US" sz="1100" i="1" dirty="0">
                <a:solidFill>
                  <a:schemeClr val="bg2"/>
                </a:solidFill>
                <a:latin typeface="Century Gothic" panose="020B0502020202020204" pitchFamily="34" charset="0"/>
              </a:rPr>
              <a:t>] </a:t>
            </a:r>
            <a:r>
              <a:rPr lang="en-US" sz="1100" i="1" dirty="0" err="1">
                <a:solidFill>
                  <a:schemeClr val="bg2"/>
                </a:solidFill>
                <a:latin typeface="Century Gothic" panose="020B0502020202020204" pitchFamily="34" charset="0"/>
              </a:rPr>
              <a:t>Laokulrat</a:t>
            </a:r>
            <a:r>
              <a:rPr lang="en-US" sz="1100" i="1" dirty="0">
                <a:solidFill>
                  <a:schemeClr val="bg2"/>
                </a:solidFill>
                <a:latin typeface="Century Gothic" panose="020B0502020202020204" pitchFamily="34" charset="0"/>
              </a:rPr>
              <a:t> et al. *SEM’13. </a:t>
            </a:r>
            <a:r>
              <a:rPr lang="en-US" sz="1100" i="1" dirty="0" err="1">
                <a:solidFill>
                  <a:schemeClr val="bg2"/>
                </a:solidFill>
                <a:latin typeface="Century Gothic" panose="020B0502020202020204" pitchFamily="34" charset="0"/>
              </a:rPr>
              <a:t>UTTime</a:t>
            </a:r>
            <a:r>
              <a:rPr lang="en-US" sz="1100" i="1" dirty="0">
                <a:solidFill>
                  <a:schemeClr val="bg2"/>
                </a:solidFill>
                <a:latin typeface="Century Gothic" panose="020B0502020202020204" pitchFamily="34" charset="0"/>
              </a:rPr>
              <a:t>: Temporal relation classiﬁcation using deep syntactic features.</a:t>
            </a:r>
          </a:p>
        </p:txBody>
      </p:sp>
      <p:sp>
        <p:nvSpPr>
          <p:cNvPr id="14" name="Rectangle 13">
            <a:extLst>
              <a:ext uri="{FF2B5EF4-FFF2-40B4-BE49-F238E27FC236}">
                <a16:creationId xmlns:a16="http://schemas.microsoft.com/office/drawing/2014/main" xmlns="" id="{8A5982C1-ACA5-DD43-AABE-8E232EBB7B93}"/>
              </a:ext>
            </a:extLst>
          </p:cNvPr>
          <p:cNvSpPr/>
          <p:nvPr/>
        </p:nvSpPr>
        <p:spPr>
          <a:xfrm>
            <a:off x="4696536" y="5138616"/>
            <a:ext cx="3165211" cy="304774"/>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sp>
        <p:nvSpPr>
          <p:cNvPr id="20" name="TextBox 19">
            <a:extLst>
              <a:ext uri="{FF2B5EF4-FFF2-40B4-BE49-F238E27FC236}">
                <a16:creationId xmlns:a16="http://schemas.microsoft.com/office/drawing/2014/main" xmlns="" id="{F5B7D7B5-9342-204A-AC9F-295399A5C820}"/>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12" name="TextBox 11">
            <a:extLst>
              <a:ext uri="{FF2B5EF4-FFF2-40B4-BE49-F238E27FC236}">
                <a16:creationId xmlns:a16="http://schemas.microsoft.com/office/drawing/2014/main" xmlns="" id="{2A5A5A5E-0BCF-D247-8D91-DC5564CF7D65}"/>
              </a:ext>
            </a:extLst>
          </p:cNvPr>
          <p:cNvSpPr txBox="1"/>
          <p:nvPr/>
        </p:nvSpPr>
        <p:spPr>
          <a:xfrm>
            <a:off x="4848698" y="2814005"/>
            <a:ext cx="49244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5%</a:t>
            </a:r>
          </a:p>
        </p:txBody>
      </p:sp>
    </p:spTree>
    <p:extLst>
      <p:ext uri="{BB962C8B-B14F-4D97-AF65-F5344CB8AC3E}">
        <p14:creationId xmlns:p14="http://schemas.microsoft.com/office/powerpoint/2010/main" val="1414026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3F2613-70B0-4C0B-BAF1-9053EED9CF55}"/>
              </a:ext>
            </a:extLst>
          </p:cNvPr>
          <p:cNvSpPr>
            <a:spLocks noGrp="1"/>
          </p:cNvSpPr>
          <p:nvPr>
            <p:ph type="title"/>
          </p:nvPr>
        </p:nvSpPr>
        <p:spPr/>
        <p:txBody>
          <a:bodyPr/>
          <a:lstStyle/>
          <a:p>
            <a:r>
              <a:rPr lang="en-US" dirty="0"/>
              <a:t>Results</a:t>
            </a:r>
          </a:p>
        </p:txBody>
      </p:sp>
      <p:graphicFrame>
        <p:nvGraphicFramePr>
          <p:cNvPr id="7" name="Chart 6"/>
          <p:cNvGraphicFramePr/>
          <p:nvPr>
            <p:extLst/>
          </p:nvPr>
        </p:nvGraphicFramePr>
        <p:xfrm>
          <a:off x="1219200" y="779584"/>
          <a:ext cx="6954672" cy="4783015"/>
        </p:xfrm>
        <a:graphic>
          <a:graphicData uri="http://schemas.openxmlformats.org/drawingml/2006/chart">
            <c:chart xmlns:c="http://schemas.openxmlformats.org/drawingml/2006/chart" xmlns:r="http://schemas.openxmlformats.org/officeDocument/2006/relationships" r:id="rId3"/>
          </a:graphicData>
        </a:graphic>
      </p:graphicFrame>
      <p:grpSp>
        <p:nvGrpSpPr>
          <p:cNvPr id="16" name="Group 15"/>
          <p:cNvGrpSpPr/>
          <p:nvPr/>
        </p:nvGrpSpPr>
        <p:grpSpPr>
          <a:xfrm>
            <a:off x="5334000" y="2605121"/>
            <a:ext cx="2686210" cy="762000"/>
            <a:chOff x="5791200" y="2590800"/>
            <a:chExt cx="2686210" cy="762000"/>
          </a:xfrm>
        </p:grpSpPr>
        <p:cxnSp>
          <p:nvCxnSpPr>
            <p:cNvPr id="13" name="Straight Arrow Connector 12"/>
            <p:cNvCxnSpPr/>
            <p:nvPr/>
          </p:nvCxnSpPr>
          <p:spPr>
            <a:xfrm flipV="1">
              <a:off x="5791200" y="2590800"/>
              <a:ext cx="0" cy="76200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867400" y="2787134"/>
              <a:ext cx="261001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Global inference (ILP)</a:t>
              </a:r>
            </a:p>
          </p:txBody>
        </p:sp>
      </p:grpSp>
      <p:grpSp>
        <p:nvGrpSpPr>
          <p:cNvPr id="18" name="Group 17"/>
          <p:cNvGrpSpPr/>
          <p:nvPr/>
        </p:nvGrpSpPr>
        <p:grpSpPr>
          <a:xfrm>
            <a:off x="5334000" y="1831176"/>
            <a:ext cx="2382369" cy="820030"/>
            <a:chOff x="6096000" y="1828800"/>
            <a:chExt cx="2382369" cy="820030"/>
          </a:xfrm>
        </p:grpSpPr>
        <p:cxnSp>
          <p:nvCxnSpPr>
            <p:cNvPr id="17" name="Straight Arrow Connector 16"/>
            <p:cNvCxnSpPr>
              <a:cxnSpLocks/>
            </p:cNvCxnSpPr>
            <p:nvPr/>
          </p:nvCxnSpPr>
          <p:spPr>
            <a:xfrm flipV="1">
              <a:off x="6096000" y="1828800"/>
              <a:ext cx="0" cy="82003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171327" y="1991303"/>
              <a:ext cx="2307042"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Structured learning</a:t>
              </a:r>
            </a:p>
          </p:txBody>
        </p:sp>
      </p:grpSp>
      <p:sp>
        <p:nvSpPr>
          <p:cNvPr id="21" name="TextBox 20">
            <a:extLst>
              <a:ext uri="{FF2B5EF4-FFF2-40B4-BE49-F238E27FC236}">
                <a16:creationId xmlns:a16="http://schemas.microsoft.com/office/drawing/2014/main" xmlns="" id="{524E73CA-08B7-F84B-AFD1-ED1554955BD2}"/>
              </a:ext>
            </a:extLst>
          </p:cNvPr>
          <p:cNvSpPr txBox="1"/>
          <p:nvPr/>
        </p:nvSpPr>
        <p:spPr>
          <a:xfrm>
            <a:off x="5409327" y="3710245"/>
            <a:ext cx="176683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Local learning</a:t>
            </a:r>
          </a:p>
        </p:txBody>
      </p:sp>
      <p:cxnSp>
        <p:nvCxnSpPr>
          <p:cNvPr id="22" name="Straight Arrow Connector 21">
            <a:extLst>
              <a:ext uri="{FF2B5EF4-FFF2-40B4-BE49-F238E27FC236}">
                <a16:creationId xmlns:a16="http://schemas.microsoft.com/office/drawing/2014/main" xmlns="" id="{C2B6E344-0E0A-CC4C-9BC4-D46DCDBFBEFA}"/>
              </a:ext>
            </a:extLst>
          </p:cNvPr>
          <p:cNvCxnSpPr>
            <a:cxnSpLocks/>
          </p:cNvCxnSpPr>
          <p:nvPr/>
        </p:nvCxnSpPr>
        <p:spPr>
          <a:xfrm flipV="1">
            <a:off x="5334000" y="3355677"/>
            <a:ext cx="0" cy="91440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xmlns="" id="{530D261B-88BC-8344-BAA6-05EB21EA17C8}"/>
              </a:ext>
            </a:extLst>
          </p:cNvPr>
          <p:cNvSpPr txBox="1"/>
          <p:nvPr/>
        </p:nvSpPr>
        <p:spPr>
          <a:xfrm>
            <a:off x="1058894" y="6033700"/>
            <a:ext cx="7180171" cy="261610"/>
          </a:xfrm>
          <a:prstGeom prst="rect">
            <a:avLst/>
          </a:prstGeom>
          <a:noFill/>
        </p:spPr>
        <p:txBody>
          <a:bodyPr wrap="none" rtlCol="0">
            <a:spAutoFit/>
          </a:bodyPr>
          <a:lstStyle/>
          <a:p>
            <a:r>
              <a:rPr lang="en-US" sz="1100" i="1" dirty="0">
                <a:solidFill>
                  <a:schemeClr val="bg2"/>
                </a:solidFill>
                <a:latin typeface="Century Gothic" panose="020B0502020202020204" pitchFamily="34" charset="0"/>
              </a:rPr>
              <a:t>[</a:t>
            </a:r>
            <a:r>
              <a:rPr lang="en-US" sz="1100" i="1" dirty="0" err="1">
                <a:solidFill>
                  <a:schemeClr val="bg2"/>
                </a:solidFill>
                <a:latin typeface="Century Gothic" panose="020B0502020202020204" pitchFamily="34" charset="0"/>
              </a:rPr>
              <a:t>UTTime</a:t>
            </a:r>
            <a:r>
              <a:rPr lang="en-US" sz="1100" i="1" dirty="0">
                <a:solidFill>
                  <a:schemeClr val="bg2"/>
                </a:solidFill>
                <a:latin typeface="Century Gothic" panose="020B0502020202020204" pitchFamily="34" charset="0"/>
              </a:rPr>
              <a:t>] </a:t>
            </a:r>
            <a:r>
              <a:rPr lang="en-US" sz="1100" i="1" dirty="0" err="1">
                <a:solidFill>
                  <a:schemeClr val="bg2"/>
                </a:solidFill>
                <a:latin typeface="Century Gothic" panose="020B0502020202020204" pitchFamily="34" charset="0"/>
              </a:rPr>
              <a:t>Laokulrat</a:t>
            </a:r>
            <a:r>
              <a:rPr lang="en-US" sz="1100" i="1" dirty="0">
                <a:solidFill>
                  <a:schemeClr val="bg2"/>
                </a:solidFill>
                <a:latin typeface="Century Gothic" panose="020B0502020202020204" pitchFamily="34" charset="0"/>
              </a:rPr>
              <a:t> et al. *SEM’13. </a:t>
            </a:r>
            <a:r>
              <a:rPr lang="en-US" sz="1100" i="1" dirty="0" err="1">
                <a:solidFill>
                  <a:schemeClr val="bg2"/>
                </a:solidFill>
                <a:latin typeface="Century Gothic" panose="020B0502020202020204" pitchFamily="34" charset="0"/>
              </a:rPr>
              <a:t>UTTime</a:t>
            </a:r>
            <a:r>
              <a:rPr lang="en-US" sz="1100" i="1" dirty="0">
                <a:solidFill>
                  <a:schemeClr val="bg2"/>
                </a:solidFill>
                <a:latin typeface="Century Gothic" panose="020B0502020202020204" pitchFamily="34" charset="0"/>
              </a:rPr>
              <a:t>: Temporal relation classiﬁcation using deep syntactic features.</a:t>
            </a:r>
          </a:p>
        </p:txBody>
      </p:sp>
      <p:sp>
        <p:nvSpPr>
          <p:cNvPr id="20" name="TextBox 19">
            <a:extLst>
              <a:ext uri="{FF2B5EF4-FFF2-40B4-BE49-F238E27FC236}">
                <a16:creationId xmlns:a16="http://schemas.microsoft.com/office/drawing/2014/main" xmlns="" id="{F5B7D7B5-9342-204A-AC9F-295399A5C820}"/>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3" name="Rounded Rectangle 2">
            <a:extLst>
              <a:ext uri="{FF2B5EF4-FFF2-40B4-BE49-F238E27FC236}">
                <a16:creationId xmlns:a16="http://schemas.microsoft.com/office/drawing/2014/main" xmlns="" id="{B3253653-C8C6-7B46-9D25-AC305EC2F6D0}"/>
              </a:ext>
            </a:extLst>
          </p:cNvPr>
          <p:cNvSpPr/>
          <p:nvPr/>
        </p:nvSpPr>
        <p:spPr>
          <a:xfrm>
            <a:off x="5334000" y="771980"/>
            <a:ext cx="2017509" cy="533400"/>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46861570-BE78-1140-9E76-351BA9307B38}"/>
              </a:ext>
            </a:extLst>
          </p:cNvPr>
          <p:cNvSpPr txBox="1"/>
          <p:nvPr/>
        </p:nvSpPr>
        <p:spPr>
          <a:xfrm>
            <a:off x="4181370" y="253461"/>
            <a:ext cx="4537074" cy="369332"/>
          </a:xfrm>
          <a:prstGeom prst="rect">
            <a:avLst/>
          </a:prstGeom>
          <a:noFill/>
        </p:spPr>
        <p:txBody>
          <a:bodyPr wrap="square" rtlCol="0">
            <a:spAutoFit/>
          </a:bodyPr>
          <a:lstStyle/>
          <a:p>
            <a:r>
              <a:rPr lang="en-US" i="1" dirty="0">
                <a:solidFill>
                  <a:srgbClr val="C17A90"/>
                </a:solidFill>
                <a:latin typeface="Century Gothic" panose="020B0502020202020204" pitchFamily="34" charset="0"/>
              </a:rPr>
              <a:t>We know which event pairs are related</a:t>
            </a:r>
          </a:p>
        </p:txBody>
      </p:sp>
      <p:grpSp>
        <p:nvGrpSpPr>
          <p:cNvPr id="24" name="Group 23">
            <a:extLst>
              <a:ext uri="{FF2B5EF4-FFF2-40B4-BE49-F238E27FC236}">
                <a16:creationId xmlns:a16="http://schemas.microsoft.com/office/drawing/2014/main" xmlns="" id="{0AC6B81B-6894-A84D-88AF-6B1B55C8F4B8}"/>
              </a:ext>
            </a:extLst>
          </p:cNvPr>
          <p:cNvGrpSpPr/>
          <p:nvPr/>
        </p:nvGrpSpPr>
        <p:grpSpPr>
          <a:xfrm>
            <a:off x="7967921" y="647654"/>
            <a:ext cx="999609" cy="944075"/>
            <a:chOff x="2226911" y="1490958"/>
            <a:chExt cx="999609" cy="944075"/>
          </a:xfrm>
          <a:solidFill>
            <a:srgbClr val="C17A90"/>
          </a:solidFill>
        </p:grpSpPr>
        <p:sp>
          <p:nvSpPr>
            <p:cNvPr id="25" name="Oval 24">
              <a:extLst>
                <a:ext uri="{FF2B5EF4-FFF2-40B4-BE49-F238E27FC236}">
                  <a16:creationId xmlns:a16="http://schemas.microsoft.com/office/drawing/2014/main" xmlns="" id="{9019B126-1106-8A4F-8C66-2B39DCB2FA56}"/>
                </a:ext>
              </a:extLst>
            </p:cNvPr>
            <p:cNvSpPr/>
            <p:nvPr/>
          </p:nvSpPr>
          <p:spPr>
            <a:xfrm>
              <a:off x="2634159" y="1490958"/>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6" name="Oval 25">
              <a:extLst>
                <a:ext uri="{FF2B5EF4-FFF2-40B4-BE49-F238E27FC236}">
                  <a16:creationId xmlns:a16="http://schemas.microsoft.com/office/drawing/2014/main" xmlns="" id="{B54E1A34-0BF3-4E42-87FE-DA5455E44981}"/>
                </a:ext>
              </a:extLst>
            </p:cNvPr>
            <p:cNvSpPr/>
            <p:nvPr/>
          </p:nvSpPr>
          <p:spPr>
            <a:xfrm>
              <a:off x="2226911" y="1787138"/>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7" name="Oval 26">
              <a:extLst>
                <a:ext uri="{FF2B5EF4-FFF2-40B4-BE49-F238E27FC236}">
                  <a16:creationId xmlns:a16="http://schemas.microsoft.com/office/drawing/2014/main" xmlns="" id="{20D884F4-AEFB-B446-B98B-2229DD557753}"/>
                </a:ext>
              </a:extLst>
            </p:cNvPr>
            <p:cNvSpPr/>
            <p:nvPr/>
          </p:nvSpPr>
          <p:spPr>
            <a:xfrm>
              <a:off x="3041407" y="1787138"/>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8" name="Oval 27">
              <a:extLst>
                <a:ext uri="{FF2B5EF4-FFF2-40B4-BE49-F238E27FC236}">
                  <a16:creationId xmlns:a16="http://schemas.microsoft.com/office/drawing/2014/main" xmlns="" id="{670843C1-1F53-364A-BF87-6ADBD11D8484}"/>
                </a:ext>
              </a:extLst>
            </p:cNvPr>
            <p:cNvSpPr/>
            <p:nvPr/>
          </p:nvSpPr>
          <p:spPr>
            <a:xfrm>
              <a:off x="2412024" y="2249920"/>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9" name="Oval 28">
              <a:extLst>
                <a:ext uri="{FF2B5EF4-FFF2-40B4-BE49-F238E27FC236}">
                  <a16:creationId xmlns:a16="http://schemas.microsoft.com/office/drawing/2014/main" xmlns="" id="{D73A717A-CA42-5A44-A491-49E32BF1FA0E}"/>
                </a:ext>
              </a:extLst>
            </p:cNvPr>
            <p:cNvSpPr/>
            <p:nvPr/>
          </p:nvSpPr>
          <p:spPr>
            <a:xfrm>
              <a:off x="2856294" y="2249920"/>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31" name="Straight Arrow Connector 30">
              <a:extLst>
                <a:ext uri="{FF2B5EF4-FFF2-40B4-BE49-F238E27FC236}">
                  <a16:creationId xmlns:a16="http://schemas.microsoft.com/office/drawing/2014/main" xmlns="" id="{48625842-45C8-C841-9BB0-B381DEB425C6}"/>
                </a:ext>
              </a:extLst>
            </p:cNvPr>
            <p:cNvCxnSpPr/>
            <p:nvPr/>
          </p:nvCxnSpPr>
          <p:spPr>
            <a:xfrm flipH="1">
              <a:off x="2384915" y="1648962"/>
              <a:ext cx="276353" cy="165286"/>
            </a:xfrm>
            <a:prstGeom prst="straightConnector1">
              <a:avLst/>
            </a:prstGeom>
            <a:grpFill/>
            <a:ln w="38100">
              <a:solidFill>
                <a:srgbClr val="C17A9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xmlns="" id="{8300EE3F-0D2C-674C-ADBD-4E66CE5ABC04}"/>
                </a:ext>
              </a:extLst>
            </p:cNvPr>
            <p:cNvCxnSpPr/>
            <p:nvPr/>
          </p:nvCxnSpPr>
          <p:spPr>
            <a:xfrm flipH="1">
              <a:off x="2504580" y="1676071"/>
              <a:ext cx="222135" cy="573850"/>
            </a:xfrm>
            <a:prstGeom prst="straightConnector1">
              <a:avLst/>
            </a:prstGeom>
            <a:grpFill/>
            <a:ln w="38100">
              <a:solidFill>
                <a:srgbClr val="C17A9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xmlns="" id="{A8947BB3-FAC2-3142-8075-C5ECC1A5EBA2}"/>
                </a:ext>
              </a:extLst>
            </p:cNvPr>
            <p:cNvCxnSpPr/>
            <p:nvPr/>
          </p:nvCxnSpPr>
          <p:spPr>
            <a:xfrm>
              <a:off x="2726715" y="1676071"/>
              <a:ext cx="222135" cy="573850"/>
            </a:xfrm>
            <a:prstGeom prst="straightConnector1">
              <a:avLst/>
            </a:prstGeom>
            <a:grpFill/>
            <a:ln w="38100">
              <a:solidFill>
                <a:srgbClr val="C17A9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xmlns="" id="{D5A75323-18F0-1049-87CF-9A20B5932C03}"/>
                </a:ext>
              </a:extLst>
            </p:cNvPr>
            <p:cNvCxnSpPr/>
            <p:nvPr/>
          </p:nvCxnSpPr>
          <p:spPr>
            <a:xfrm flipH="1">
              <a:off x="3014297" y="1972251"/>
              <a:ext cx="119665" cy="304778"/>
            </a:xfrm>
            <a:prstGeom prst="straightConnector1">
              <a:avLst/>
            </a:prstGeom>
            <a:grpFill/>
            <a:ln w="38100">
              <a:solidFill>
                <a:srgbClr val="C17A9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xmlns="" id="{589ABDB9-0329-DB4C-9D81-13EA971CE210}"/>
                </a:ext>
              </a:extLst>
            </p:cNvPr>
            <p:cNvCxnSpPr/>
            <p:nvPr/>
          </p:nvCxnSpPr>
          <p:spPr>
            <a:xfrm>
              <a:off x="2412024" y="1879695"/>
              <a:ext cx="629383" cy="0"/>
            </a:xfrm>
            <a:prstGeom prst="straightConnector1">
              <a:avLst/>
            </a:prstGeom>
            <a:grpFill/>
            <a:ln w="38100">
              <a:solidFill>
                <a:srgbClr val="C17A9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xmlns="" id="{65DF0F2D-FAE9-C743-8D46-C00BC314AD29}"/>
                </a:ext>
              </a:extLst>
            </p:cNvPr>
            <p:cNvCxnSpPr/>
            <p:nvPr/>
          </p:nvCxnSpPr>
          <p:spPr>
            <a:xfrm>
              <a:off x="2597136" y="2342477"/>
              <a:ext cx="259158" cy="0"/>
            </a:xfrm>
            <a:prstGeom prst="straightConnector1">
              <a:avLst/>
            </a:prstGeom>
            <a:grpFill/>
            <a:ln w="38100">
              <a:solidFill>
                <a:srgbClr val="C17A9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xmlns="" id="{2FAE6305-B62A-044B-B32F-6CED7C5B7430}"/>
              </a:ext>
            </a:extLst>
          </p:cNvPr>
          <p:cNvSpPr txBox="1"/>
          <p:nvPr/>
        </p:nvSpPr>
        <p:spPr>
          <a:xfrm>
            <a:off x="4848698" y="2814005"/>
            <a:ext cx="49244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5%</a:t>
            </a:r>
          </a:p>
        </p:txBody>
      </p:sp>
      <p:sp>
        <p:nvSpPr>
          <p:cNvPr id="30" name="TextBox 29">
            <a:extLst>
              <a:ext uri="{FF2B5EF4-FFF2-40B4-BE49-F238E27FC236}">
                <a16:creationId xmlns:a16="http://schemas.microsoft.com/office/drawing/2014/main" xmlns="" id="{82679807-881A-CE45-81FB-B1BE0C274DA0}"/>
              </a:ext>
            </a:extLst>
          </p:cNvPr>
          <p:cNvSpPr txBox="1"/>
          <p:nvPr/>
        </p:nvSpPr>
        <p:spPr>
          <a:xfrm>
            <a:off x="4848698" y="2080079"/>
            <a:ext cx="49244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5%</a:t>
            </a:r>
          </a:p>
        </p:txBody>
      </p:sp>
    </p:spTree>
    <p:extLst>
      <p:ext uri="{BB962C8B-B14F-4D97-AF65-F5344CB8AC3E}">
        <p14:creationId xmlns:p14="http://schemas.microsoft.com/office/powerpoint/2010/main" val="3933925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dissolve">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par>
                                <p:cTn id="20" presetID="9"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dissolv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3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graphicFrame>
        <p:nvGraphicFramePr>
          <p:cNvPr id="4" name="Chart 3"/>
          <p:cNvGraphicFramePr/>
          <p:nvPr>
            <p:extLst>
              <p:ext uri="{D42A27DB-BD31-4B8C-83A1-F6EECF244321}">
                <p14:modId xmlns:p14="http://schemas.microsoft.com/office/powerpoint/2010/main" val="2623970943"/>
              </p:ext>
            </p:extLst>
          </p:nvPr>
        </p:nvGraphicFramePr>
        <p:xfrm>
          <a:off x="914400" y="990600"/>
          <a:ext cx="7761849" cy="5174566"/>
        </p:xfrm>
        <a:graphic>
          <a:graphicData uri="http://schemas.openxmlformats.org/drawingml/2006/chart">
            <c:chart xmlns:c="http://schemas.openxmlformats.org/drawingml/2006/chart" xmlns:r="http://schemas.openxmlformats.org/officeDocument/2006/relationships" r:id="rId3"/>
          </a:graphicData>
        </a:graphic>
      </p:graphicFrame>
      <p:sp>
        <p:nvSpPr>
          <p:cNvPr id="13" name="Rounded Rectangle 12"/>
          <p:cNvSpPr/>
          <p:nvPr/>
        </p:nvSpPr>
        <p:spPr>
          <a:xfrm>
            <a:off x="2133600" y="5715000"/>
            <a:ext cx="1219200" cy="304800"/>
          </a:xfrm>
          <a:prstGeom prst="roundRect">
            <a:avLst/>
          </a:prstGeom>
          <a:noFill/>
          <a:ln w="38100">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944778" y="2488977"/>
            <a:ext cx="2148345"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Structure learning</a:t>
            </a:r>
          </a:p>
          <a:p>
            <a:pPr algn="ctr"/>
            <a:r>
              <a:rPr lang="en-US" dirty="0">
                <a:solidFill>
                  <a:schemeClr val="bg2"/>
                </a:solidFill>
                <a:latin typeface="Century Gothic" panose="020B0502020202020204" pitchFamily="34" charset="0"/>
              </a:rPr>
              <a:t>+4%</a:t>
            </a:r>
          </a:p>
        </p:txBody>
      </p:sp>
      <p:sp>
        <p:nvSpPr>
          <p:cNvPr id="3" name="TextBox 2"/>
          <p:cNvSpPr txBox="1"/>
          <p:nvPr/>
        </p:nvSpPr>
        <p:spPr>
          <a:xfrm>
            <a:off x="1377243" y="6185948"/>
            <a:ext cx="6832320" cy="276999"/>
          </a:xfrm>
          <a:prstGeom prst="rect">
            <a:avLst/>
          </a:prstGeom>
          <a:noFill/>
        </p:spPr>
        <p:txBody>
          <a:bodyPr wrap="none" rtlCol="0">
            <a:spAutoFit/>
          </a:bodyPr>
          <a:lstStyle/>
          <a:p>
            <a:r>
              <a:rPr lang="en-US" sz="1200" i="1" dirty="0">
                <a:solidFill>
                  <a:schemeClr val="bg2"/>
                </a:solidFill>
                <a:latin typeface="Century Gothic" panose="020B0502020202020204" pitchFamily="34" charset="0"/>
              </a:rPr>
              <a:t>[CAEVO] Chambers et al. TACL2014. Dense event ordering with a multi-pass architecture.</a:t>
            </a:r>
          </a:p>
        </p:txBody>
      </p:sp>
      <p:sp>
        <p:nvSpPr>
          <p:cNvPr id="16" name="TextBox 15">
            <a:extLst>
              <a:ext uri="{FF2B5EF4-FFF2-40B4-BE49-F238E27FC236}">
                <a16:creationId xmlns:a16="http://schemas.microsoft.com/office/drawing/2014/main" xmlns="" id="{C16B2D94-5DA6-3545-94C8-73FE6B2CA42B}"/>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a:t>
            </a:r>
          </a:p>
        </p:txBody>
      </p:sp>
      <p:sp>
        <p:nvSpPr>
          <p:cNvPr id="17" name="TextBox 16">
            <a:extLst>
              <a:ext uri="{FF2B5EF4-FFF2-40B4-BE49-F238E27FC236}">
                <a16:creationId xmlns:a16="http://schemas.microsoft.com/office/drawing/2014/main" xmlns="" id="{A20D91BC-553B-9F48-8CAD-030C1B29359A}"/>
              </a:ext>
            </a:extLst>
          </p:cNvPr>
          <p:cNvSpPr txBox="1"/>
          <p:nvPr/>
        </p:nvSpPr>
        <p:spPr>
          <a:xfrm>
            <a:off x="1982296" y="2876371"/>
            <a:ext cx="2335377" cy="923330"/>
          </a:xfrm>
          <a:prstGeom prst="rect">
            <a:avLst/>
          </a:prstGeom>
          <a:noFill/>
        </p:spPr>
        <p:txBody>
          <a:bodyPr wrap="square" rtlCol="0">
            <a:spAutoFit/>
          </a:bodyPr>
          <a:lstStyle/>
          <a:p>
            <a:pPr algn="ctr"/>
            <a:r>
              <a:rPr lang="en-US" dirty="0">
                <a:solidFill>
                  <a:schemeClr val="bg2"/>
                </a:solidFill>
                <a:latin typeface="Century Gothic" panose="020B0502020202020204" pitchFamily="34" charset="0"/>
              </a:rPr>
              <a:t>Local learning</a:t>
            </a:r>
          </a:p>
          <a:p>
            <a:pPr algn="ctr"/>
            <a:r>
              <a:rPr lang="en-US" dirty="0">
                <a:solidFill>
                  <a:schemeClr val="bg2"/>
                </a:solidFill>
                <a:latin typeface="Century Gothic" panose="020B0502020202020204" pitchFamily="34" charset="0"/>
              </a:rPr>
              <a:t>&amp;</a:t>
            </a:r>
          </a:p>
          <a:p>
            <a:pPr algn="ctr"/>
            <a:r>
              <a:rPr lang="en-US" dirty="0">
                <a:solidFill>
                  <a:schemeClr val="bg2"/>
                </a:solidFill>
                <a:latin typeface="Century Gothic" panose="020B0502020202020204" pitchFamily="34" charset="0"/>
              </a:rPr>
              <a:t>Global inference</a:t>
            </a:r>
          </a:p>
        </p:txBody>
      </p:sp>
      <p:sp>
        <p:nvSpPr>
          <p:cNvPr id="19" name="Rectangle 18">
            <a:extLst>
              <a:ext uri="{FF2B5EF4-FFF2-40B4-BE49-F238E27FC236}">
                <a16:creationId xmlns:a16="http://schemas.microsoft.com/office/drawing/2014/main" xmlns="" id="{B6442371-53D5-5248-AB4A-7C23C646DF54}"/>
              </a:ext>
            </a:extLst>
          </p:cNvPr>
          <p:cNvSpPr/>
          <p:nvPr/>
        </p:nvSpPr>
        <p:spPr>
          <a:xfrm>
            <a:off x="5018952" y="5736255"/>
            <a:ext cx="3165211" cy="304774"/>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sp>
        <p:nvSpPr>
          <p:cNvPr id="15" name="Rounded Rectangle 14">
            <a:extLst>
              <a:ext uri="{FF2B5EF4-FFF2-40B4-BE49-F238E27FC236}">
                <a16:creationId xmlns:a16="http://schemas.microsoft.com/office/drawing/2014/main" xmlns="" id="{F63E02BE-D0CB-FC4B-BBDB-7519CB9B9FEC}"/>
              </a:ext>
            </a:extLst>
          </p:cNvPr>
          <p:cNvSpPr/>
          <p:nvPr/>
        </p:nvSpPr>
        <p:spPr>
          <a:xfrm>
            <a:off x="5334000" y="1044036"/>
            <a:ext cx="1102418" cy="533400"/>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xmlns="" id="{C747CC61-603D-584A-A509-595EADBFDA80}"/>
              </a:ext>
            </a:extLst>
          </p:cNvPr>
          <p:cNvSpPr txBox="1"/>
          <p:nvPr/>
        </p:nvSpPr>
        <p:spPr>
          <a:xfrm>
            <a:off x="5018951" y="215811"/>
            <a:ext cx="3698874" cy="646331"/>
          </a:xfrm>
          <a:prstGeom prst="rect">
            <a:avLst/>
          </a:prstGeom>
          <a:noFill/>
        </p:spPr>
        <p:txBody>
          <a:bodyPr wrap="square" rtlCol="0">
            <a:spAutoFit/>
          </a:bodyPr>
          <a:lstStyle/>
          <a:p>
            <a:r>
              <a:rPr lang="en-US" i="1" dirty="0">
                <a:solidFill>
                  <a:srgbClr val="C17A90"/>
                </a:solidFill>
                <a:latin typeface="Century Gothic" panose="020B0502020202020204" pitchFamily="34" charset="0"/>
              </a:rPr>
              <a:t>We don’t know which event pairs are related</a:t>
            </a:r>
          </a:p>
        </p:txBody>
      </p:sp>
      <p:grpSp>
        <p:nvGrpSpPr>
          <p:cNvPr id="12" name="Group 11">
            <a:extLst>
              <a:ext uri="{FF2B5EF4-FFF2-40B4-BE49-F238E27FC236}">
                <a16:creationId xmlns:a16="http://schemas.microsoft.com/office/drawing/2014/main" xmlns="" id="{BA7949C0-C825-8F44-8D4B-EF973D65C1E1}"/>
              </a:ext>
            </a:extLst>
          </p:cNvPr>
          <p:cNvGrpSpPr/>
          <p:nvPr/>
        </p:nvGrpSpPr>
        <p:grpSpPr>
          <a:xfrm>
            <a:off x="7967921" y="647654"/>
            <a:ext cx="999609" cy="944075"/>
            <a:chOff x="2226911" y="1490958"/>
            <a:chExt cx="999609" cy="944075"/>
          </a:xfrm>
          <a:solidFill>
            <a:srgbClr val="C17A90"/>
          </a:solidFill>
        </p:grpSpPr>
        <p:sp>
          <p:nvSpPr>
            <p:cNvPr id="14" name="Oval 13">
              <a:extLst>
                <a:ext uri="{FF2B5EF4-FFF2-40B4-BE49-F238E27FC236}">
                  <a16:creationId xmlns:a16="http://schemas.microsoft.com/office/drawing/2014/main" xmlns="" id="{D40606C1-4A94-534E-B812-A63687A7D680}"/>
                </a:ext>
              </a:extLst>
            </p:cNvPr>
            <p:cNvSpPr/>
            <p:nvPr/>
          </p:nvSpPr>
          <p:spPr>
            <a:xfrm>
              <a:off x="2634159" y="1490958"/>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8" name="Oval 17">
              <a:extLst>
                <a:ext uri="{FF2B5EF4-FFF2-40B4-BE49-F238E27FC236}">
                  <a16:creationId xmlns:a16="http://schemas.microsoft.com/office/drawing/2014/main" xmlns="" id="{D5A7304A-EF60-B94A-B40D-A3B3D5A9BD9A}"/>
                </a:ext>
              </a:extLst>
            </p:cNvPr>
            <p:cNvSpPr/>
            <p:nvPr/>
          </p:nvSpPr>
          <p:spPr>
            <a:xfrm>
              <a:off x="2226911" y="1787138"/>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1" name="Oval 20">
              <a:extLst>
                <a:ext uri="{FF2B5EF4-FFF2-40B4-BE49-F238E27FC236}">
                  <a16:creationId xmlns:a16="http://schemas.microsoft.com/office/drawing/2014/main" xmlns="" id="{5785B17B-0330-744F-839F-1E5A85F4AC9E}"/>
                </a:ext>
              </a:extLst>
            </p:cNvPr>
            <p:cNvSpPr/>
            <p:nvPr/>
          </p:nvSpPr>
          <p:spPr>
            <a:xfrm>
              <a:off x="3041407" y="1787138"/>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2" name="Oval 21">
              <a:extLst>
                <a:ext uri="{FF2B5EF4-FFF2-40B4-BE49-F238E27FC236}">
                  <a16:creationId xmlns:a16="http://schemas.microsoft.com/office/drawing/2014/main" xmlns="" id="{78949AF5-DC4F-CF45-8EB1-DF7E05A98AE9}"/>
                </a:ext>
              </a:extLst>
            </p:cNvPr>
            <p:cNvSpPr/>
            <p:nvPr/>
          </p:nvSpPr>
          <p:spPr>
            <a:xfrm>
              <a:off x="2412024" y="2249920"/>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3" name="Oval 22">
              <a:extLst>
                <a:ext uri="{FF2B5EF4-FFF2-40B4-BE49-F238E27FC236}">
                  <a16:creationId xmlns:a16="http://schemas.microsoft.com/office/drawing/2014/main" xmlns="" id="{60CB6431-B572-F14D-A1B2-B4D8A5A372EF}"/>
                </a:ext>
              </a:extLst>
            </p:cNvPr>
            <p:cNvSpPr/>
            <p:nvPr/>
          </p:nvSpPr>
          <p:spPr>
            <a:xfrm>
              <a:off x="2856294" y="2249920"/>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sp>
        <p:nvSpPr>
          <p:cNvPr id="5" name="TextBox 4">
            <a:extLst>
              <a:ext uri="{FF2B5EF4-FFF2-40B4-BE49-F238E27FC236}">
                <a16:creationId xmlns:a16="http://schemas.microsoft.com/office/drawing/2014/main" xmlns="" id="{B32504A5-3939-FA42-9BE8-321EBC4268FB}"/>
              </a:ext>
            </a:extLst>
          </p:cNvPr>
          <p:cNvSpPr txBox="1"/>
          <p:nvPr/>
        </p:nvSpPr>
        <p:spPr>
          <a:xfrm>
            <a:off x="8303462" y="890458"/>
            <a:ext cx="327334" cy="461665"/>
          </a:xfrm>
          <a:prstGeom prst="rect">
            <a:avLst/>
          </a:prstGeom>
          <a:noFill/>
        </p:spPr>
        <p:txBody>
          <a:bodyPr wrap="none" rtlCol="0">
            <a:spAutoFit/>
          </a:bodyPr>
          <a:lstStyle/>
          <a:p>
            <a:r>
              <a:rPr lang="en-US" sz="2400" dirty="0">
                <a:solidFill>
                  <a:srgbClr val="C17A90"/>
                </a:solidFill>
                <a:latin typeface="+mj-lt"/>
              </a:rPr>
              <a:t>?</a:t>
            </a:r>
          </a:p>
        </p:txBody>
      </p:sp>
    </p:spTree>
    <p:extLst>
      <p:ext uri="{BB962C8B-B14F-4D97-AF65-F5344CB8AC3E}">
        <p14:creationId xmlns:p14="http://schemas.microsoft.com/office/powerpoint/2010/main" val="663829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par>
                                <p:cTn id="8" presetID="9"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par>
                                <p:cTn id="19" presetID="42"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1000"/>
                                        <p:tgtEl>
                                          <p:spTgt spid="17"/>
                                        </p:tgtEl>
                                      </p:cBhvr>
                                    </p:animEffect>
                                    <p:anim calcmode="lin" valueType="num">
                                      <p:cBhvr>
                                        <p:cTn id="22" dur="1000" fill="hold"/>
                                        <p:tgtEl>
                                          <p:spTgt spid="17"/>
                                        </p:tgtEl>
                                        <p:attrNameLst>
                                          <p:attrName>ppt_x</p:attrName>
                                        </p:attrNameLst>
                                      </p:cBhvr>
                                      <p:tavLst>
                                        <p:tav tm="0">
                                          <p:val>
                                            <p:strVal val="#ppt_x"/>
                                          </p:val>
                                        </p:tav>
                                        <p:tav tm="100000">
                                          <p:val>
                                            <p:strVal val="#ppt_x"/>
                                          </p:val>
                                        </p:tav>
                                      </p:tavLst>
                                    </p:anim>
                                    <p:anim calcmode="lin" valueType="num">
                                      <p:cBhvr>
                                        <p:cTn id="2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1" grpId="0"/>
      <p:bldP spid="17" grpId="0"/>
      <p:bldP spid="20" grpId="0"/>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xmlns="" id="{E722C95D-5972-134C-B56C-148F3C45A894}"/>
              </a:ext>
            </a:extLst>
          </p:cNvPr>
          <p:cNvSpPr txBox="1"/>
          <p:nvPr/>
        </p:nvSpPr>
        <p:spPr>
          <a:xfrm>
            <a:off x="228600" y="2493117"/>
            <a:ext cx="8534400" cy="523220"/>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 Structured learning</a:t>
            </a:r>
          </a:p>
        </p:txBody>
      </p:sp>
      <p:sp>
        <p:nvSpPr>
          <p:cNvPr id="16" name="TextBox 15">
            <a:extLst>
              <a:ext uri="{FF2B5EF4-FFF2-40B4-BE49-F238E27FC236}">
                <a16:creationId xmlns:a16="http://schemas.microsoft.com/office/drawing/2014/main" xmlns="" id="{1CD47D7E-E500-CD47-A35C-95027F29B79A}"/>
              </a:ext>
            </a:extLst>
          </p:cNvPr>
          <p:cNvSpPr txBox="1"/>
          <p:nvPr/>
        </p:nvSpPr>
        <p:spPr>
          <a:xfrm>
            <a:off x="-228600" y="4343400"/>
            <a:ext cx="9186864" cy="646331"/>
          </a:xfrm>
          <a:prstGeom prst="rect">
            <a:avLst/>
          </a:prstGeom>
          <a:noFill/>
        </p:spPr>
        <p:txBody>
          <a:bodyPr wrap="square" rtlCol="0">
            <a:spAutoFit/>
          </a:bodyPr>
          <a:lstStyle/>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[EMNLP’17]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Z. Feng, and D. Roth. A Structured Learning Approach to Temporal Relation Extraction</a:t>
            </a:r>
          </a:p>
        </p:txBody>
      </p:sp>
      <p:cxnSp>
        <p:nvCxnSpPr>
          <p:cNvPr id="4" name="Straight Connector 3">
            <a:extLst>
              <a:ext uri="{FF2B5EF4-FFF2-40B4-BE49-F238E27FC236}">
                <a16:creationId xmlns:a16="http://schemas.microsoft.com/office/drawing/2014/main" xmlns=""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7" name="Freeform 6">
            <a:extLst>
              <a:ext uri="{FF2B5EF4-FFF2-40B4-BE49-F238E27FC236}">
                <a16:creationId xmlns:a16="http://schemas.microsoft.com/office/drawing/2014/main" xmlns="" id="{83400AEF-85EA-7B4C-8D53-44B4E99936D7}"/>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8" name="Freeform 7">
            <a:extLst>
              <a:ext uri="{FF2B5EF4-FFF2-40B4-BE49-F238E27FC236}">
                <a16:creationId xmlns:a16="http://schemas.microsoft.com/office/drawing/2014/main" xmlns="" id="{F3B5E4C5-CCD7-EA44-915F-7E2918615642}"/>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9" name="Freeform 8">
            <a:extLst>
              <a:ext uri="{FF2B5EF4-FFF2-40B4-BE49-F238E27FC236}">
                <a16:creationId xmlns:a16="http://schemas.microsoft.com/office/drawing/2014/main" xmlns="" id="{DDF6EFEB-F338-0C41-A3F8-D29E7EEE2CE2}"/>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0" name="Freeform 9">
            <a:extLst>
              <a:ext uri="{FF2B5EF4-FFF2-40B4-BE49-F238E27FC236}">
                <a16:creationId xmlns:a16="http://schemas.microsoft.com/office/drawing/2014/main" xmlns="" id="{FA6647F9-1E57-3B41-9C07-019C1EAA9D36}"/>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1" name="Freeform 10">
            <a:extLst>
              <a:ext uri="{FF2B5EF4-FFF2-40B4-BE49-F238E27FC236}">
                <a16:creationId xmlns:a16="http://schemas.microsoft.com/office/drawing/2014/main" xmlns="" id="{6E9112B1-EC4A-854D-B296-C8D381E90E59}"/>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2" name="Freeform 11">
            <a:extLst>
              <a:ext uri="{FF2B5EF4-FFF2-40B4-BE49-F238E27FC236}">
                <a16:creationId xmlns:a16="http://schemas.microsoft.com/office/drawing/2014/main" xmlns="" id="{E1952D22-282C-4147-A2C7-BABEC250DF29}"/>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4" name="Freeform 13">
            <a:extLst>
              <a:ext uri="{FF2B5EF4-FFF2-40B4-BE49-F238E27FC236}">
                <a16:creationId xmlns:a16="http://schemas.microsoft.com/office/drawing/2014/main" xmlns="" id="{4E4B3FD1-5ED1-0146-9026-FE8CD53EC451}"/>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pic>
        <p:nvPicPr>
          <p:cNvPr id="17" name="Picture 16" descr="A close up of a logo&#10;&#10;Description automatically generated">
            <a:extLst>
              <a:ext uri="{FF2B5EF4-FFF2-40B4-BE49-F238E27FC236}">
                <a16:creationId xmlns:a16="http://schemas.microsoft.com/office/drawing/2014/main" xmlns="" id="{165CA682-DBBA-274A-BF6C-67F04CA82BD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023646" y="2280954"/>
            <a:ext cx="345100" cy="264119"/>
          </a:xfrm>
          <a:prstGeom prst="rect">
            <a:avLst/>
          </a:prstGeom>
        </p:spPr>
      </p:pic>
      <p:pic>
        <p:nvPicPr>
          <p:cNvPr id="18" name="Picture 17" descr="A close up of a logo&#10;&#10;Description automatically generated">
            <a:extLst>
              <a:ext uri="{FF2B5EF4-FFF2-40B4-BE49-F238E27FC236}">
                <a16:creationId xmlns:a16="http://schemas.microsoft.com/office/drawing/2014/main" xmlns="" id="{2F9A737E-BC3D-FF46-960C-1D934C487BFC}"/>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a:stretch/>
        </p:blipFill>
        <p:spPr>
          <a:xfrm>
            <a:off x="6475458" y="3608299"/>
            <a:ext cx="468738" cy="333325"/>
          </a:xfrm>
          <a:prstGeom prst="rect">
            <a:avLst/>
          </a:prstGeom>
        </p:spPr>
      </p:pic>
      <p:pic>
        <p:nvPicPr>
          <p:cNvPr id="20" name="Picture 19" descr="A close up of a logo&#10;&#10;Description automatically generated">
            <a:extLst>
              <a:ext uri="{FF2B5EF4-FFF2-40B4-BE49-F238E27FC236}">
                <a16:creationId xmlns:a16="http://schemas.microsoft.com/office/drawing/2014/main" xmlns="" id="{585AE5B7-75E4-D047-8018-E186DB0EE907}"/>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spTree>
    <p:extLst>
      <p:ext uri="{BB962C8B-B14F-4D97-AF65-F5344CB8AC3E}">
        <p14:creationId xmlns:p14="http://schemas.microsoft.com/office/powerpoint/2010/main" val="481995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80">
                                          <p:stCondLst>
                                            <p:cond delay="0"/>
                                          </p:stCondLst>
                                        </p:cTn>
                                        <p:tgtEl>
                                          <p:spTgt spid="17"/>
                                        </p:tgtEl>
                                      </p:cBhvr>
                                    </p:animEffect>
                                    <p:anim calcmode="lin" valueType="num">
                                      <p:cBhvr>
                                        <p:cTn id="8"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3" dur="26">
                                          <p:stCondLst>
                                            <p:cond delay="650"/>
                                          </p:stCondLst>
                                        </p:cTn>
                                        <p:tgtEl>
                                          <p:spTgt spid="17"/>
                                        </p:tgtEl>
                                      </p:cBhvr>
                                      <p:to x="100000" y="60000"/>
                                    </p:animScale>
                                    <p:animScale>
                                      <p:cBhvr>
                                        <p:cTn id="14" dur="166" decel="50000">
                                          <p:stCondLst>
                                            <p:cond delay="676"/>
                                          </p:stCondLst>
                                        </p:cTn>
                                        <p:tgtEl>
                                          <p:spTgt spid="17"/>
                                        </p:tgtEl>
                                      </p:cBhvr>
                                      <p:to x="100000" y="100000"/>
                                    </p:animScale>
                                    <p:animScale>
                                      <p:cBhvr>
                                        <p:cTn id="15" dur="26">
                                          <p:stCondLst>
                                            <p:cond delay="1312"/>
                                          </p:stCondLst>
                                        </p:cTn>
                                        <p:tgtEl>
                                          <p:spTgt spid="17"/>
                                        </p:tgtEl>
                                      </p:cBhvr>
                                      <p:to x="100000" y="80000"/>
                                    </p:animScale>
                                    <p:animScale>
                                      <p:cBhvr>
                                        <p:cTn id="16" dur="166" decel="50000">
                                          <p:stCondLst>
                                            <p:cond delay="1338"/>
                                          </p:stCondLst>
                                        </p:cTn>
                                        <p:tgtEl>
                                          <p:spTgt spid="17"/>
                                        </p:tgtEl>
                                      </p:cBhvr>
                                      <p:to x="100000" y="100000"/>
                                    </p:animScale>
                                    <p:animScale>
                                      <p:cBhvr>
                                        <p:cTn id="17" dur="26">
                                          <p:stCondLst>
                                            <p:cond delay="1642"/>
                                          </p:stCondLst>
                                        </p:cTn>
                                        <p:tgtEl>
                                          <p:spTgt spid="17"/>
                                        </p:tgtEl>
                                      </p:cBhvr>
                                      <p:to x="100000" y="90000"/>
                                    </p:animScale>
                                    <p:animScale>
                                      <p:cBhvr>
                                        <p:cTn id="18" dur="166" decel="50000">
                                          <p:stCondLst>
                                            <p:cond delay="1668"/>
                                          </p:stCondLst>
                                        </p:cTn>
                                        <p:tgtEl>
                                          <p:spTgt spid="17"/>
                                        </p:tgtEl>
                                      </p:cBhvr>
                                      <p:to x="100000" y="100000"/>
                                    </p:animScale>
                                    <p:animScale>
                                      <p:cBhvr>
                                        <p:cTn id="19" dur="26">
                                          <p:stCondLst>
                                            <p:cond delay="1808"/>
                                          </p:stCondLst>
                                        </p:cTn>
                                        <p:tgtEl>
                                          <p:spTgt spid="17"/>
                                        </p:tgtEl>
                                      </p:cBhvr>
                                      <p:to x="100000" y="95000"/>
                                    </p:animScale>
                                    <p:animScale>
                                      <p:cBhvr>
                                        <p:cTn id="20" dur="166" decel="50000">
                                          <p:stCondLst>
                                            <p:cond delay="1834"/>
                                          </p:stCondLst>
                                        </p:cTn>
                                        <p:tgtEl>
                                          <p:spTgt spid="1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257A71-24D0-FD41-87CD-4974D047C2BD}"/>
              </a:ext>
            </a:extLst>
          </p:cNvPr>
          <p:cNvSpPr>
            <a:spLocks noGrp="1"/>
          </p:cNvSpPr>
          <p:nvPr>
            <p:ph type="title"/>
          </p:nvPr>
        </p:nvSpPr>
        <p:spPr/>
        <p:txBody>
          <a:bodyPr/>
          <a:lstStyle/>
          <a:p>
            <a:r>
              <a:rPr lang="en-US" sz="2800" dirty="0"/>
              <a:t>Relation extraction: general vs temporal</a:t>
            </a:r>
          </a:p>
        </p:txBody>
      </p:sp>
      <p:sp>
        <p:nvSpPr>
          <p:cNvPr id="3" name="Content Placeholder 2">
            <a:extLst>
              <a:ext uri="{FF2B5EF4-FFF2-40B4-BE49-F238E27FC236}">
                <a16:creationId xmlns:a16="http://schemas.microsoft.com/office/drawing/2014/main" xmlns="" id="{D42E90E0-7C60-F247-B662-3A28792CAD2F}"/>
              </a:ext>
            </a:extLst>
          </p:cNvPr>
          <p:cNvSpPr>
            <a:spLocks noGrp="1"/>
          </p:cNvSpPr>
          <p:nvPr>
            <p:ph idx="1"/>
          </p:nvPr>
        </p:nvSpPr>
        <p:spPr/>
        <p:txBody>
          <a:bodyPr/>
          <a:lstStyle/>
          <a:p>
            <a:pPr marL="0" indent="0">
              <a:buNone/>
            </a:pPr>
            <a:r>
              <a:rPr lang="en-US" b="1" dirty="0"/>
              <a:t>Conceptually</a:t>
            </a:r>
            <a:r>
              <a:rPr lang="en-US" dirty="0"/>
              <a:t>, general relation extraction is of course harder, because “temporal” is only a subset of it.</a:t>
            </a:r>
          </a:p>
          <a:p>
            <a:pPr marL="0" indent="0">
              <a:buNone/>
            </a:pPr>
            <a:endParaRPr lang="en-US" dirty="0"/>
          </a:p>
          <a:p>
            <a:pPr marL="0" indent="0">
              <a:buNone/>
            </a:pPr>
            <a:r>
              <a:rPr lang="en-US" b="1" dirty="0"/>
              <a:t>However</a:t>
            </a:r>
            <a:r>
              <a:rPr lang="en-US" dirty="0"/>
              <a:t>, existing works are limited to relations like place of birth, residence, or headquarter, marriage, and employment.</a:t>
            </a:r>
          </a:p>
          <a:p>
            <a:pPr lvl="1"/>
            <a:r>
              <a:rPr lang="en-US" dirty="0"/>
              <a:t>do not require structural consideration in a situation (i.e., they are at the sentence-level)</a:t>
            </a:r>
          </a:p>
          <a:p>
            <a:pPr lvl="1"/>
            <a:r>
              <a:rPr lang="en-US" dirty="0"/>
              <a:t>clearly defined by the context in a sentence</a:t>
            </a:r>
          </a:p>
        </p:txBody>
      </p:sp>
    </p:spTree>
    <p:extLst>
      <p:ext uri="{BB962C8B-B14F-4D97-AF65-F5344CB8AC3E}">
        <p14:creationId xmlns:p14="http://schemas.microsoft.com/office/powerpoint/2010/main" val="3091182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xmlns="" id="{E722C95D-5972-134C-B56C-148F3C45A894}"/>
              </a:ext>
            </a:extLst>
          </p:cNvPr>
          <p:cNvSpPr txBox="1"/>
          <p:nvPr/>
        </p:nvSpPr>
        <p:spPr>
          <a:xfrm>
            <a:off x="228600" y="2493117"/>
            <a:ext cx="8534400" cy="1040285"/>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alpha val="50000"/>
                  </a:schemeClr>
                </a:solidFill>
                <a:latin typeface="Century Gothic" charset="0"/>
                <a:ea typeface="Century Gothic" charset="0"/>
                <a:cs typeface="Century Gothic" charset="0"/>
              </a:rPr>
              <a:t>Part I: Structured learning</a:t>
            </a:r>
          </a:p>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II: Common sense</a:t>
            </a:r>
          </a:p>
        </p:txBody>
      </p:sp>
      <p:sp>
        <p:nvSpPr>
          <p:cNvPr id="16" name="TextBox 15">
            <a:extLst>
              <a:ext uri="{FF2B5EF4-FFF2-40B4-BE49-F238E27FC236}">
                <a16:creationId xmlns:a16="http://schemas.microsoft.com/office/drawing/2014/main" xmlns="" id="{1CD47D7E-E500-CD47-A35C-95027F29B79A}"/>
              </a:ext>
            </a:extLst>
          </p:cNvPr>
          <p:cNvSpPr txBox="1"/>
          <p:nvPr/>
        </p:nvSpPr>
        <p:spPr>
          <a:xfrm>
            <a:off x="-228600" y="4343400"/>
            <a:ext cx="9186864" cy="1255728"/>
          </a:xfrm>
          <a:prstGeom prst="rect">
            <a:avLst/>
          </a:prstGeom>
          <a:noFill/>
        </p:spPr>
        <p:txBody>
          <a:bodyPr wrap="square" rtlCol="0">
            <a:spAutoFit/>
          </a:bodyPr>
          <a:lstStyle/>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[EMNLP’17]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Z. Feng, and D. Roth. A Structured Learning Approach to Temporal Relation Extraction</a:t>
            </a:r>
          </a:p>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[NAACL’18]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H. Wu, H. Peng, and D. Roth. Improving Temporal Relation Extraction with a Globally Acquired Statistical Resource</a:t>
            </a:r>
          </a:p>
        </p:txBody>
      </p:sp>
      <p:cxnSp>
        <p:nvCxnSpPr>
          <p:cNvPr id="4" name="Straight Connector 3">
            <a:extLst>
              <a:ext uri="{FF2B5EF4-FFF2-40B4-BE49-F238E27FC236}">
                <a16:creationId xmlns:a16="http://schemas.microsoft.com/office/drawing/2014/main" xmlns=""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32" name="Freeform 31">
            <a:extLst>
              <a:ext uri="{FF2B5EF4-FFF2-40B4-BE49-F238E27FC236}">
                <a16:creationId xmlns:a16="http://schemas.microsoft.com/office/drawing/2014/main" xmlns="" id="{737704AE-40D6-5B41-93A5-0619AD29734D}"/>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3" name="Freeform 32">
            <a:extLst>
              <a:ext uri="{FF2B5EF4-FFF2-40B4-BE49-F238E27FC236}">
                <a16:creationId xmlns:a16="http://schemas.microsoft.com/office/drawing/2014/main" xmlns="" id="{67656835-B3B1-0140-8366-F388DE9AC7DE}"/>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4" name="Freeform 33">
            <a:extLst>
              <a:ext uri="{FF2B5EF4-FFF2-40B4-BE49-F238E27FC236}">
                <a16:creationId xmlns:a16="http://schemas.microsoft.com/office/drawing/2014/main" xmlns="" id="{DBB7266B-EAB7-C647-9721-E2CEA856426A}"/>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5" name="Freeform 34">
            <a:extLst>
              <a:ext uri="{FF2B5EF4-FFF2-40B4-BE49-F238E27FC236}">
                <a16:creationId xmlns:a16="http://schemas.microsoft.com/office/drawing/2014/main" xmlns="" id="{72A1C4BA-E7EE-AF4C-B12C-B7BDA3B98276}"/>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6" name="Freeform 35">
            <a:extLst>
              <a:ext uri="{FF2B5EF4-FFF2-40B4-BE49-F238E27FC236}">
                <a16:creationId xmlns:a16="http://schemas.microsoft.com/office/drawing/2014/main" xmlns="" id="{40C968C7-2328-774C-9161-CAE68F4D7E4C}"/>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7" name="Freeform 36">
            <a:extLst>
              <a:ext uri="{FF2B5EF4-FFF2-40B4-BE49-F238E27FC236}">
                <a16:creationId xmlns:a16="http://schemas.microsoft.com/office/drawing/2014/main" xmlns="" id="{5D85D7CC-A2D1-1F4B-B090-CA149D2B57BE}"/>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8" name="Freeform 37">
            <a:extLst>
              <a:ext uri="{FF2B5EF4-FFF2-40B4-BE49-F238E27FC236}">
                <a16:creationId xmlns:a16="http://schemas.microsoft.com/office/drawing/2014/main" xmlns="" id="{FA8C2487-C668-E44C-ADFE-D14AACBBFE14}"/>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pic>
        <p:nvPicPr>
          <p:cNvPr id="39" name="Picture 38" descr="A close up of a logo&#10;&#10;Description automatically generated">
            <a:extLst>
              <a:ext uri="{FF2B5EF4-FFF2-40B4-BE49-F238E27FC236}">
                <a16:creationId xmlns:a16="http://schemas.microsoft.com/office/drawing/2014/main" xmlns="" id="{5DEBAE03-1406-3D4D-9456-439219582AF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475458" y="3608299"/>
            <a:ext cx="468738" cy="333325"/>
          </a:xfrm>
          <a:prstGeom prst="rect">
            <a:avLst/>
          </a:prstGeom>
        </p:spPr>
      </p:pic>
      <p:pic>
        <p:nvPicPr>
          <p:cNvPr id="40" name="Picture 39" descr="A close up of a logo&#10;&#10;Description automatically generated">
            <a:extLst>
              <a:ext uri="{FF2B5EF4-FFF2-40B4-BE49-F238E27FC236}">
                <a16:creationId xmlns:a16="http://schemas.microsoft.com/office/drawing/2014/main" xmlns="" id="{29476940-6C69-1C4D-A06E-F1334286427B}"/>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pic>
        <p:nvPicPr>
          <p:cNvPr id="41" name="Picture 40" descr="A close up of a logo&#10;&#10;Description automatically generated">
            <a:extLst>
              <a:ext uri="{FF2B5EF4-FFF2-40B4-BE49-F238E27FC236}">
                <a16:creationId xmlns:a16="http://schemas.microsoft.com/office/drawing/2014/main" xmlns="" id="{6EB66274-7F58-6C4F-A635-1034AE91BC8D}"/>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a:stretch/>
        </p:blipFill>
        <p:spPr>
          <a:xfrm>
            <a:off x="7023646" y="2280954"/>
            <a:ext cx="345100" cy="264119"/>
          </a:xfrm>
          <a:prstGeom prst="rect">
            <a:avLst/>
          </a:prstGeom>
        </p:spPr>
      </p:pic>
    </p:spTree>
    <p:extLst>
      <p:ext uri="{BB962C8B-B14F-4D97-AF65-F5344CB8AC3E}">
        <p14:creationId xmlns:p14="http://schemas.microsoft.com/office/powerpoint/2010/main" val="3639517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BF23C841-9656-A049-87FE-07FF02F8D5A4}"/>
              </a:ext>
            </a:extLst>
          </p:cNvPr>
          <p:cNvSpPr>
            <a:spLocks noGrp="1"/>
          </p:cNvSpPr>
          <p:nvPr>
            <p:ph type="title"/>
          </p:nvPr>
        </p:nvSpPr>
        <p:spPr/>
        <p:txBody>
          <a:bodyPr/>
          <a:lstStyle/>
          <a:p>
            <a:r>
              <a:rPr lang="en-US" dirty="0"/>
              <a:t>More than 10 people have (</a:t>
            </a:r>
            <a:r>
              <a:rPr lang="en-US" b="1" dirty="0"/>
              <a:t>event1: </a:t>
            </a:r>
            <a:r>
              <a:rPr lang="en-US" b="1" dirty="0">
                <a:solidFill>
                  <a:schemeClr val="tx1"/>
                </a:solidFill>
              </a:rPr>
              <a:t>died</a:t>
            </a:r>
            <a:r>
              <a:rPr lang="en-US" dirty="0"/>
              <a:t>), police said. A car (</a:t>
            </a:r>
            <a:r>
              <a:rPr lang="en-US" b="1" dirty="0"/>
              <a:t>event2</a:t>
            </a:r>
            <a:r>
              <a:rPr lang="en-US" dirty="0"/>
              <a:t>: </a:t>
            </a:r>
            <a:r>
              <a:rPr lang="en-US" b="1" dirty="0">
                <a:solidFill>
                  <a:schemeClr val="tx1"/>
                </a:solidFill>
              </a:rPr>
              <a:t>exploded</a:t>
            </a:r>
            <a:r>
              <a:rPr lang="en-US" dirty="0"/>
              <a:t>) on Friday in a group of men in north Pakistan.</a:t>
            </a:r>
            <a:br>
              <a:rPr lang="en-US" dirty="0"/>
            </a:br>
            <a:endParaRPr lang="en-US" dirty="0"/>
          </a:p>
        </p:txBody>
      </p:sp>
    </p:spTree>
    <p:extLst>
      <p:ext uri="{BB962C8B-B14F-4D97-AF65-F5344CB8AC3E}">
        <p14:creationId xmlns:p14="http://schemas.microsoft.com/office/powerpoint/2010/main" val="370019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BF23C841-9656-A049-87FE-07FF02F8D5A4}"/>
              </a:ext>
            </a:extLst>
          </p:cNvPr>
          <p:cNvSpPr>
            <a:spLocks noGrp="1"/>
          </p:cNvSpPr>
          <p:nvPr>
            <p:ph type="title"/>
          </p:nvPr>
        </p:nvSpPr>
        <p:spPr/>
        <p:txBody>
          <a:bodyPr/>
          <a:lstStyle/>
          <a:p>
            <a:r>
              <a:rPr lang="en-US" dirty="0">
                <a:solidFill>
                  <a:schemeClr val="bg2"/>
                </a:solidFill>
              </a:rPr>
              <a:t>More than 10 people have (</a:t>
            </a:r>
            <a:r>
              <a:rPr lang="en-US" b="1" dirty="0">
                <a:solidFill>
                  <a:schemeClr val="bg2"/>
                </a:solidFill>
              </a:rPr>
              <a:t>event1: died</a:t>
            </a:r>
            <a:r>
              <a:rPr lang="en-US" dirty="0">
                <a:solidFill>
                  <a:schemeClr val="bg2"/>
                </a:solidFill>
              </a:rPr>
              <a:t>), police said. A car (</a:t>
            </a:r>
            <a:r>
              <a:rPr lang="en-US" b="1" dirty="0">
                <a:solidFill>
                  <a:schemeClr val="bg2"/>
                </a:solidFill>
              </a:rPr>
              <a:t>event2</a:t>
            </a:r>
            <a:r>
              <a:rPr lang="en-US" dirty="0">
                <a:solidFill>
                  <a:schemeClr val="bg2"/>
                </a:solidFill>
              </a:rPr>
              <a:t>: </a:t>
            </a:r>
            <a:r>
              <a:rPr lang="en-US" b="1" dirty="0">
                <a:solidFill>
                  <a:schemeClr val="bg2"/>
                </a:solidFill>
              </a:rPr>
              <a:t>exploded</a:t>
            </a:r>
            <a:r>
              <a:rPr lang="en-US" dirty="0">
                <a:solidFill>
                  <a:schemeClr val="bg2"/>
                </a:solidFill>
              </a:rPr>
              <a:t>) on Friday in a group of men in north Pakistan.</a:t>
            </a:r>
            <a:br>
              <a:rPr lang="en-US" dirty="0">
                <a:solidFill>
                  <a:schemeClr val="bg2"/>
                </a:solidFill>
              </a:rPr>
            </a:br>
            <a:endParaRPr lang="en-US" dirty="0">
              <a:solidFill>
                <a:schemeClr val="bg2"/>
              </a:solidFill>
            </a:endParaRPr>
          </a:p>
        </p:txBody>
      </p:sp>
    </p:spTree>
    <p:extLst>
      <p:ext uri="{BB962C8B-B14F-4D97-AF65-F5344CB8AC3E}">
        <p14:creationId xmlns:p14="http://schemas.microsoft.com/office/powerpoint/2010/main" val="1885586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events are …</a:t>
            </a:r>
            <a:endParaRPr lang="en-US" u="sng" dirty="0"/>
          </a:p>
        </p:txBody>
      </p:sp>
      <p:sp>
        <p:nvSpPr>
          <p:cNvPr id="3" name="Content Placeholder 2"/>
          <p:cNvSpPr>
            <a:spLocks noGrp="1"/>
          </p:cNvSpPr>
          <p:nvPr>
            <p:ph idx="1"/>
          </p:nvPr>
        </p:nvSpPr>
        <p:spPr/>
        <p:txBody>
          <a:bodyPr/>
          <a:lstStyle/>
          <a:p>
            <a:pPr marL="0" indent="0">
              <a:buNone/>
            </a:pPr>
            <a:r>
              <a:rPr lang="en-US" dirty="0"/>
              <a:t>… missing</a:t>
            </a:r>
          </a:p>
          <a:p>
            <a:pPr marL="0" indent="0">
              <a:buNone/>
            </a:pPr>
            <a:endParaRPr lang="en-US" dirty="0"/>
          </a:p>
          <a:p>
            <a:pPr marL="0" indent="0">
              <a:buNone/>
            </a:pPr>
            <a:r>
              <a:rPr lang="en-US" dirty="0"/>
              <a:t>More than 10 people have (</a:t>
            </a:r>
            <a:r>
              <a:rPr lang="en-US" b="1" dirty="0"/>
              <a:t>event1: </a:t>
            </a:r>
            <a:r>
              <a:rPr lang="en-US" b="1" dirty="0">
                <a:solidFill>
                  <a:schemeClr val="tx1"/>
                </a:solidFill>
              </a:rPr>
              <a:t>died</a:t>
            </a:r>
            <a:r>
              <a:rPr lang="en-US" dirty="0"/>
              <a:t>), police said. A car (</a:t>
            </a:r>
            <a:r>
              <a:rPr lang="en-US" b="1" dirty="0"/>
              <a:t>event2</a:t>
            </a:r>
            <a:r>
              <a:rPr lang="en-US" dirty="0"/>
              <a:t>: </a:t>
            </a:r>
            <a:r>
              <a:rPr lang="en-US" b="1" dirty="0">
                <a:solidFill>
                  <a:schemeClr val="tx1"/>
                </a:solidFill>
              </a:rPr>
              <a:t>exploded</a:t>
            </a:r>
            <a:r>
              <a:rPr lang="en-US" dirty="0"/>
              <a:t>) on Friday in a group of men.</a:t>
            </a:r>
          </a:p>
          <a:p>
            <a:pPr marL="0" indent="0">
              <a:buNone/>
            </a:pPr>
            <a:endParaRPr lang="en-US" dirty="0"/>
          </a:p>
          <a:p>
            <a:pPr marL="0" indent="0">
              <a:buNone/>
            </a:pPr>
            <a:r>
              <a:rPr lang="en-US" dirty="0"/>
              <a:t>This turns out to be </a:t>
            </a:r>
            <a:r>
              <a:rPr lang="en-US" b="1" u="sng" dirty="0"/>
              <a:t>difficult</a:t>
            </a:r>
            <a:r>
              <a:rPr lang="en-US" dirty="0"/>
              <a:t>. </a:t>
            </a:r>
          </a:p>
        </p:txBody>
      </p:sp>
      <p:sp>
        <p:nvSpPr>
          <p:cNvPr id="4" name="TextBox 3">
            <a:extLst>
              <a:ext uri="{FF2B5EF4-FFF2-40B4-BE49-F238E27FC236}">
                <a16:creationId xmlns:a16="http://schemas.microsoft.com/office/drawing/2014/main" xmlns="" id="{1827CA05-0F8A-F244-AF4A-3319047CC3CA}"/>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3071081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events are …</a:t>
            </a:r>
            <a:endParaRPr lang="en-US" u="sng" dirty="0"/>
          </a:p>
        </p:txBody>
      </p:sp>
      <p:sp>
        <p:nvSpPr>
          <p:cNvPr id="3" name="Content Placeholder 2"/>
          <p:cNvSpPr>
            <a:spLocks noGrp="1"/>
          </p:cNvSpPr>
          <p:nvPr>
            <p:ph idx="1"/>
          </p:nvPr>
        </p:nvSpPr>
        <p:spPr/>
        <p:txBody>
          <a:bodyPr/>
          <a:lstStyle/>
          <a:p>
            <a:pPr marL="0" indent="0">
              <a:buNone/>
            </a:pPr>
            <a:r>
              <a:rPr lang="en-US" dirty="0"/>
              <a:t>… present</a:t>
            </a:r>
          </a:p>
          <a:p>
            <a:pPr marL="0" indent="0">
              <a:buNone/>
            </a:pPr>
            <a:endParaRPr lang="en-US" dirty="0"/>
          </a:p>
          <a:p>
            <a:pPr marL="0" indent="0">
              <a:buNone/>
            </a:pPr>
            <a:r>
              <a:rPr lang="en-US" dirty="0"/>
              <a:t>More than 10 people have (</a:t>
            </a:r>
            <a:r>
              <a:rPr lang="en-US" b="1" dirty="0"/>
              <a:t>event1: died</a:t>
            </a:r>
            <a:r>
              <a:rPr lang="en-US" dirty="0"/>
              <a:t>), police said. A car (</a:t>
            </a:r>
            <a:r>
              <a:rPr lang="en-US" b="1" dirty="0"/>
              <a:t>event2</a:t>
            </a:r>
            <a:r>
              <a:rPr lang="en-US" dirty="0"/>
              <a:t>: </a:t>
            </a:r>
            <a:r>
              <a:rPr lang="en-US" b="1" dirty="0"/>
              <a:t>exploded</a:t>
            </a:r>
            <a:r>
              <a:rPr lang="en-US" dirty="0"/>
              <a:t>) on Friday in a group of men.</a:t>
            </a:r>
          </a:p>
          <a:p>
            <a:pPr marL="0" indent="0">
              <a:buNone/>
            </a:pPr>
            <a:endParaRPr lang="en-US" dirty="0"/>
          </a:p>
          <a:p>
            <a:pPr marL="0" indent="0">
              <a:buNone/>
            </a:pPr>
            <a:r>
              <a:rPr lang="en-US" dirty="0"/>
              <a:t>This turns out to be </a:t>
            </a:r>
            <a:r>
              <a:rPr lang="en-US" b="1" u="sng" dirty="0"/>
              <a:t>easy</a:t>
            </a:r>
            <a:r>
              <a:rPr lang="en-US" dirty="0"/>
              <a:t> because humans have the </a:t>
            </a:r>
            <a:r>
              <a:rPr lang="en-US" b="1" u="sng" dirty="0"/>
              <a:t>common sense</a:t>
            </a:r>
            <a:r>
              <a:rPr lang="en-US" b="1" dirty="0"/>
              <a:t> </a:t>
            </a:r>
            <a:r>
              <a:rPr lang="en-US" dirty="0"/>
              <a:t>of which event “usually” happens before another.</a:t>
            </a:r>
          </a:p>
          <a:p>
            <a:pPr marL="0" indent="0">
              <a:buNone/>
            </a:pPr>
            <a:endParaRPr lang="en-US" dirty="0"/>
          </a:p>
          <a:p>
            <a:pPr marL="0" indent="0">
              <a:buNone/>
            </a:pPr>
            <a:r>
              <a:rPr lang="en-US" dirty="0"/>
              <a:t>We would like to acquire this common sense.</a:t>
            </a:r>
          </a:p>
          <a:p>
            <a:pPr marL="0" indent="0">
              <a:buNone/>
            </a:pPr>
            <a:endParaRPr lang="en-US" dirty="0"/>
          </a:p>
        </p:txBody>
      </p:sp>
      <p:sp>
        <p:nvSpPr>
          <p:cNvPr id="5" name="TextBox 4">
            <a:extLst>
              <a:ext uri="{FF2B5EF4-FFF2-40B4-BE49-F238E27FC236}">
                <a16:creationId xmlns:a16="http://schemas.microsoft.com/office/drawing/2014/main" xmlns="" id="{316EE82A-7D98-5F40-A1A8-4F5E5F1FBDB5}"/>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857170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left)">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err="1"/>
              <a:t>TemProb</a:t>
            </a:r>
            <a:r>
              <a:rPr lang="en-US" sz="2400" dirty="0"/>
              <a:t> [NAACL’18]:</a:t>
            </a:r>
            <a:br>
              <a:rPr lang="en-US" sz="2400" dirty="0"/>
            </a:br>
            <a:r>
              <a:rPr lang="en-US" sz="2400" b="1" dirty="0"/>
              <a:t>Tem</a:t>
            </a:r>
            <a:r>
              <a:rPr lang="en-US" sz="2400" dirty="0"/>
              <a:t>poral Relation </a:t>
            </a:r>
            <a:r>
              <a:rPr lang="en-US" sz="2400" b="1" dirty="0"/>
              <a:t>Prob</a:t>
            </a:r>
            <a:r>
              <a:rPr lang="en-US" sz="2400" dirty="0"/>
              <a:t>abilistic Knowledge Base</a:t>
            </a:r>
          </a:p>
        </p:txBody>
      </p:sp>
      <p:sp>
        <p:nvSpPr>
          <p:cNvPr id="3" name="Content Placeholder 2"/>
          <p:cNvSpPr>
            <a:spLocks noGrp="1"/>
          </p:cNvSpPr>
          <p:nvPr>
            <p:ph idx="1"/>
          </p:nvPr>
        </p:nvSpPr>
        <p:spPr/>
        <p:txBody>
          <a:bodyPr/>
          <a:lstStyle/>
          <a:p>
            <a:pPr marL="0" indent="0">
              <a:buNone/>
            </a:pPr>
            <a:r>
              <a:rPr lang="en-US" dirty="0"/>
              <a:t>To mimic human’s reading experience</a:t>
            </a:r>
          </a:p>
          <a:p>
            <a:r>
              <a:rPr lang="en-US" dirty="0"/>
              <a:t>New York Times 1987-2007, #Articles~1M</a:t>
            </a:r>
          </a:p>
          <a:p>
            <a:r>
              <a:rPr lang="en-US" dirty="0"/>
              <a:t>Ran our system on top of it (via AWS)</a:t>
            </a:r>
          </a:p>
          <a:p>
            <a:r>
              <a:rPr lang="en-US" dirty="0">
                <a:sym typeface="Wingdings" pitchFamily="2" charset="2"/>
              </a:rPr>
              <a:t>80M temporal relations</a:t>
            </a:r>
          </a:p>
          <a:p>
            <a:r>
              <a:rPr lang="en-US" dirty="0"/>
              <a:t>Simply by counting, we get</a:t>
            </a:r>
          </a:p>
          <a:p>
            <a:pPr lvl="2"/>
            <a:endParaRPr lang="en-US" dirty="0"/>
          </a:p>
          <a:p>
            <a:endParaRPr lang="en-US" dirty="0"/>
          </a:p>
        </p:txBody>
      </p:sp>
      <p:graphicFrame>
        <p:nvGraphicFramePr>
          <p:cNvPr id="4" name="Table 3">
            <a:extLst>
              <a:ext uri="{FF2B5EF4-FFF2-40B4-BE49-F238E27FC236}">
                <a16:creationId xmlns:a16="http://schemas.microsoft.com/office/drawing/2014/main" xmlns="" id="{3C78FF00-D755-4A8F-936C-5605ADF618FE}"/>
              </a:ext>
            </a:extLst>
          </p:cNvPr>
          <p:cNvGraphicFramePr>
            <a:graphicFrameLocks noGrp="1"/>
          </p:cNvGraphicFramePr>
          <p:nvPr>
            <p:extLst>
              <p:ext uri="{D42A27DB-BD31-4B8C-83A1-F6EECF244321}">
                <p14:modId xmlns:p14="http://schemas.microsoft.com/office/powerpoint/2010/main" val="3404511650"/>
              </p:ext>
            </p:extLst>
          </p:nvPr>
        </p:nvGraphicFramePr>
        <p:xfrm>
          <a:off x="1176336" y="3835400"/>
          <a:ext cx="6791328" cy="2225040"/>
        </p:xfrm>
        <a:graphic>
          <a:graphicData uri="http://schemas.openxmlformats.org/drawingml/2006/table">
            <a:tbl>
              <a:tblPr firstRow="1" bandRow="1">
                <a:tableStyleId>{5940675A-B579-460E-94D1-54222C63F5DA}</a:tableStyleId>
              </a:tblPr>
              <a:tblGrid>
                <a:gridCol w="1697832">
                  <a:extLst>
                    <a:ext uri="{9D8B030D-6E8A-4147-A177-3AD203B41FA5}">
                      <a16:colId xmlns:a16="http://schemas.microsoft.com/office/drawing/2014/main" xmlns="" val="2761333320"/>
                    </a:ext>
                  </a:extLst>
                </a:gridCol>
                <a:gridCol w="1697832">
                  <a:extLst>
                    <a:ext uri="{9D8B030D-6E8A-4147-A177-3AD203B41FA5}">
                      <a16:colId xmlns:a16="http://schemas.microsoft.com/office/drawing/2014/main" xmlns="" val="4032749486"/>
                    </a:ext>
                  </a:extLst>
                </a:gridCol>
                <a:gridCol w="1697832">
                  <a:extLst>
                    <a:ext uri="{9D8B030D-6E8A-4147-A177-3AD203B41FA5}">
                      <a16:colId xmlns:a16="http://schemas.microsoft.com/office/drawing/2014/main" xmlns="" val="1662114478"/>
                    </a:ext>
                  </a:extLst>
                </a:gridCol>
                <a:gridCol w="1697832">
                  <a:extLst>
                    <a:ext uri="{9D8B030D-6E8A-4147-A177-3AD203B41FA5}">
                      <a16:colId xmlns:a16="http://schemas.microsoft.com/office/drawing/2014/main" xmlns="" val="118045171"/>
                    </a:ext>
                  </a:extLst>
                </a:gridCol>
              </a:tblGrid>
              <a:tr h="370840">
                <a:tc gridSpan="2">
                  <a:txBody>
                    <a:bodyPr/>
                    <a:lstStyle/>
                    <a:p>
                      <a:pPr algn="ctr"/>
                      <a:r>
                        <a:rPr lang="en-US" dirty="0">
                          <a:solidFill>
                            <a:schemeClr val="bg2"/>
                          </a:solidFill>
                          <a:latin typeface="Century Gothic" panose="020B0502020202020204" pitchFamily="34" charset="0"/>
                        </a:rPr>
                        <a:t>Example pairs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tc hMerge="1">
                  <a:txBody>
                    <a:bodyPr/>
                    <a:lstStyle/>
                    <a:p>
                      <a:endParaRPr lang="en-US" dirty="0"/>
                    </a:p>
                  </a:txBody>
                  <a:tcPr/>
                </a:tc>
                <a:tc rowSpan="2">
                  <a:txBody>
                    <a:bodyPr/>
                    <a:lstStyle/>
                    <a:p>
                      <a:pPr algn="ctr"/>
                      <a:r>
                        <a:rPr lang="en-US" dirty="0">
                          <a:solidFill>
                            <a:schemeClr val="bg2"/>
                          </a:solidFill>
                          <a:latin typeface="Century Gothic" panose="020B0502020202020204" pitchFamily="34" charset="0"/>
                        </a:rPr>
                        <a:t>Time Before (%)</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tc rowSpan="2">
                  <a:txBody>
                    <a:bodyPr/>
                    <a:lstStyle/>
                    <a:p>
                      <a:pPr algn="ctr"/>
                      <a:r>
                        <a:rPr lang="en-US" dirty="0">
                          <a:solidFill>
                            <a:schemeClr val="bg2"/>
                          </a:solidFill>
                          <a:latin typeface="Century Gothic" panose="020B0502020202020204" pitchFamily="34" charset="0"/>
                        </a:rPr>
                        <a:t>Time After (%)</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extLst>
                  <a:ext uri="{0D108BD9-81ED-4DB2-BD59-A6C34878D82A}">
                    <a16:rowId xmlns:a16="http://schemas.microsoft.com/office/drawing/2014/main" xmlns="" val="3984453807"/>
                  </a:ext>
                </a:extLst>
              </a:tr>
              <a:tr h="370840">
                <a:tc>
                  <a:txBody>
                    <a:bodyPr/>
                    <a:lstStyle/>
                    <a:p>
                      <a:pPr algn="ctr"/>
                      <a:r>
                        <a:rPr lang="en-US" dirty="0">
                          <a:solidFill>
                            <a:schemeClr val="bg2"/>
                          </a:solidFill>
                          <a:latin typeface="Century Gothic" panose="020B0502020202020204" pitchFamily="34" charset="0"/>
                        </a:rPr>
                        <a:t>Text Before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tc>
                  <a:txBody>
                    <a:bodyPr/>
                    <a:lstStyle/>
                    <a:p>
                      <a:pPr algn="ctr"/>
                      <a:r>
                        <a:rPr lang="en-US" dirty="0">
                          <a:solidFill>
                            <a:schemeClr val="bg2"/>
                          </a:solidFill>
                          <a:latin typeface="Century Gothic" panose="020B0502020202020204" pitchFamily="34" charset="0"/>
                        </a:rPr>
                        <a:t>Text After</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xmlns="" val="10001"/>
                  </a:ext>
                </a:extLst>
              </a:tr>
              <a:tr h="370840">
                <a:tc>
                  <a:txBody>
                    <a:bodyPr/>
                    <a:lstStyle/>
                    <a:p>
                      <a:pPr algn="ctr"/>
                      <a:r>
                        <a:rPr lang="en-US" dirty="0">
                          <a:solidFill>
                            <a:schemeClr val="bg2"/>
                          </a:solidFill>
                          <a:latin typeface="Century Gothic" panose="020B0502020202020204" pitchFamily="34" charset="0"/>
                        </a:rPr>
                        <a:t>Ask</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Help</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86</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9</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4049109764"/>
                  </a:ext>
                </a:extLst>
              </a:tr>
              <a:tr h="370840">
                <a:tc>
                  <a:txBody>
                    <a:bodyPr/>
                    <a:lstStyle/>
                    <a:p>
                      <a:pPr algn="ctr"/>
                      <a:r>
                        <a:rPr lang="en-US" dirty="0">
                          <a:solidFill>
                            <a:schemeClr val="bg2"/>
                          </a:solidFill>
                          <a:latin typeface="Century Gothic" panose="020B0502020202020204" pitchFamily="34" charset="0"/>
                        </a:rPr>
                        <a:t>Attend</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Schedule</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1</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82</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3722957401"/>
                  </a:ext>
                </a:extLst>
              </a:tr>
              <a:tr h="370840">
                <a:tc>
                  <a:txBody>
                    <a:bodyPr/>
                    <a:lstStyle/>
                    <a:p>
                      <a:pPr algn="ctr"/>
                      <a:r>
                        <a:rPr lang="en-US" dirty="0">
                          <a:solidFill>
                            <a:schemeClr val="bg2"/>
                          </a:solidFill>
                          <a:latin typeface="Century Gothic" panose="020B0502020202020204" pitchFamily="34" charset="0"/>
                        </a:rPr>
                        <a:t>Accept</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Propose</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10</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77</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3582377463"/>
                  </a:ext>
                </a:extLst>
              </a:tr>
              <a:tr h="370840">
                <a:tc>
                  <a:txBody>
                    <a:bodyPr/>
                    <a:lstStyle/>
                    <a:p>
                      <a:pPr algn="ctr"/>
                      <a:r>
                        <a:rPr lang="en-US" dirty="0">
                          <a:solidFill>
                            <a:schemeClr val="bg2"/>
                          </a:solidFill>
                          <a:latin typeface="Century Gothic" panose="020B0502020202020204" pitchFamily="34" charset="0"/>
                        </a:rPr>
                        <a:t>Die </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Explode</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14</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83</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1228930219"/>
                  </a:ext>
                </a:extLst>
              </a:tr>
            </a:tbl>
          </a:graphicData>
        </a:graphic>
      </p:graphicFrame>
      <p:sp>
        <p:nvSpPr>
          <p:cNvPr id="6" name="TextBox 5">
            <a:extLst>
              <a:ext uri="{FF2B5EF4-FFF2-40B4-BE49-F238E27FC236}">
                <a16:creationId xmlns:a16="http://schemas.microsoft.com/office/drawing/2014/main" xmlns="" id="{0E5A1BDB-2DBC-9D49-80A8-4313B74337BD}"/>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3672234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dissolv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xmlns="" id="{256372E4-154A-426F-984B-E68843429810}"/>
              </a:ext>
            </a:extLst>
          </p:cNvPr>
          <p:cNvGrpSpPr/>
          <p:nvPr/>
        </p:nvGrpSpPr>
        <p:grpSpPr>
          <a:xfrm>
            <a:off x="-68580" y="1538142"/>
            <a:ext cx="4648154" cy="2097089"/>
            <a:chOff x="2990850" y="567266"/>
            <a:chExt cx="6257926" cy="5418667"/>
          </a:xfrm>
        </p:grpSpPr>
        <p:graphicFrame>
          <p:nvGraphicFramePr>
            <p:cNvPr id="35" name="Chart 34">
              <a:extLst>
                <a:ext uri="{FF2B5EF4-FFF2-40B4-BE49-F238E27FC236}">
                  <a16:creationId xmlns:a16="http://schemas.microsoft.com/office/drawing/2014/main" xmlns="" id="{A0AEE44E-D9FC-45DF-A88D-ACDA6468085F}"/>
                </a:ext>
              </a:extLst>
            </p:cNvPr>
            <p:cNvGraphicFramePr/>
            <p:nvPr>
              <p:extLst>
                <p:ext uri="{D42A27DB-BD31-4B8C-83A1-F6EECF244321}">
                  <p14:modId xmlns:p14="http://schemas.microsoft.com/office/powerpoint/2010/main" val="1601165932"/>
                </p:ext>
              </p:extLst>
            </p:nvPr>
          </p:nvGraphicFramePr>
          <p:xfrm>
            <a:off x="6143626" y="567266"/>
            <a:ext cx="3105150" cy="531611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6" name="Chart 35" title="‰">
              <a:extLst>
                <a:ext uri="{FF2B5EF4-FFF2-40B4-BE49-F238E27FC236}">
                  <a16:creationId xmlns:a16="http://schemas.microsoft.com/office/drawing/2014/main" xmlns="" id="{401D81E2-6BFB-4D12-86A1-BECC96D72668}"/>
                </a:ext>
              </a:extLst>
            </p:cNvPr>
            <p:cNvGraphicFramePr/>
            <p:nvPr>
              <p:extLst>
                <p:ext uri="{D42A27DB-BD31-4B8C-83A1-F6EECF244321}">
                  <p14:modId xmlns:p14="http://schemas.microsoft.com/office/powerpoint/2010/main" val="3426354333"/>
                </p:ext>
              </p:extLst>
            </p:nvPr>
          </p:nvGraphicFramePr>
          <p:xfrm>
            <a:off x="2990850" y="567266"/>
            <a:ext cx="3105150" cy="5418667"/>
          </p:xfrm>
          <a:graphic>
            <a:graphicData uri="http://schemas.openxmlformats.org/drawingml/2006/chart">
              <c:chart xmlns:c="http://schemas.openxmlformats.org/drawingml/2006/chart" xmlns:r="http://schemas.openxmlformats.org/officeDocument/2006/relationships" r:id="rId4"/>
            </a:graphicData>
          </a:graphic>
        </p:graphicFrame>
      </p:grpSp>
      <p:sp>
        <p:nvSpPr>
          <p:cNvPr id="2" name="Title 1"/>
          <p:cNvSpPr>
            <a:spLocks noGrp="1"/>
          </p:cNvSpPr>
          <p:nvPr>
            <p:ph type="title"/>
          </p:nvPr>
        </p:nvSpPr>
        <p:spPr/>
        <p:txBody>
          <a:bodyPr>
            <a:noAutofit/>
          </a:bodyPr>
          <a:lstStyle/>
          <a:p>
            <a:r>
              <a:rPr lang="en-US" sz="3600" dirty="0">
                <a:latin typeface="Century Gothic" charset="0"/>
                <a:ea typeface="Century Gothic" charset="0"/>
                <a:cs typeface="Century Gothic" charset="0"/>
              </a:rPr>
              <a:t>Event distributions from </a:t>
            </a:r>
            <a:r>
              <a:rPr lang="en-US" sz="3600" dirty="0" err="1">
                <a:latin typeface="Century Gothic" charset="0"/>
                <a:ea typeface="Century Gothic" charset="0"/>
                <a:cs typeface="Century Gothic" charset="0"/>
              </a:rPr>
              <a:t>TemProb</a:t>
            </a:r>
            <a:endParaRPr lang="en-US" sz="3600" dirty="0">
              <a:latin typeface="Century Gothic" charset="0"/>
              <a:ea typeface="Century Gothic" charset="0"/>
              <a:cs typeface="Century Gothic" charset="0"/>
            </a:endParaRPr>
          </a:p>
        </p:txBody>
      </p:sp>
      <p:grpSp>
        <p:nvGrpSpPr>
          <p:cNvPr id="37" name="Group 36">
            <a:extLst>
              <a:ext uri="{FF2B5EF4-FFF2-40B4-BE49-F238E27FC236}">
                <a16:creationId xmlns:a16="http://schemas.microsoft.com/office/drawing/2014/main" xmlns="" id="{60DBE023-6F6D-4A6A-AD2E-1F4DD648E333}"/>
              </a:ext>
            </a:extLst>
          </p:cNvPr>
          <p:cNvGrpSpPr/>
          <p:nvPr/>
        </p:nvGrpSpPr>
        <p:grpSpPr>
          <a:xfrm>
            <a:off x="4439125" y="1525035"/>
            <a:ext cx="4648154" cy="2123303"/>
            <a:chOff x="2990850" y="567264"/>
            <a:chExt cx="6257926" cy="5486400"/>
          </a:xfrm>
        </p:grpSpPr>
        <p:graphicFrame>
          <p:nvGraphicFramePr>
            <p:cNvPr id="38" name="Chart 37">
              <a:extLst>
                <a:ext uri="{FF2B5EF4-FFF2-40B4-BE49-F238E27FC236}">
                  <a16:creationId xmlns:a16="http://schemas.microsoft.com/office/drawing/2014/main" xmlns="" id="{8E55CE37-515A-4AF3-908E-A9A686DCC65B}"/>
                </a:ext>
              </a:extLst>
            </p:cNvPr>
            <p:cNvGraphicFramePr/>
            <p:nvPr>
              <p:extLst>
                <p:ext uri="{D42A27DB-BD31-4B8C-83A1-F6EECF244321}">
                  <p14:modId xmlns:p14="http://schemas.microsoft.com/office/powerpoint/2010/main" val="3833280503"/>
                </p:ext>
              </p:extLst>
            </p:nvPr>
          </p:nvGraphicFramePr>
          <p:xfrm>
            <a:off x="6143626" y="567264"/>
            <a:ext cx="3105150" cy="54864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9" name="Chart 38" title="‰">
              <a:extLst>
                <a:ext uri="{FF2B5EF4-FFF2-40B4-BE49-F238E27FC236}">
                  <a16:creationId xmlns:a16="http://schemas.microsoft.com/office/drawing/2014/main" xmlns="" id="{F3F024C7-EFC7-45B1-A25B-4B19640666AF}"/>
                </a:ext>
              </a:extLst>
            </p:cNvPr>
            <p:cNvGraphicFramePr/>
            <p:nvPr>
              <p:extLst>
                <p:ext uri="{D42A27DB-BD31-4B8C-83A1-F6EECF244321}">
                  <p14:modId xmlns:p14="http://schemas.microsoft.com/office/powerpoint/2010/main" val="128257219"/>
                </p:ext>
              </p:extLst>
            </p:nvPr>
          </p:nvGraphicFramePr>
          <p:xfrm>
            <a:off x="2990850" y="567266"/>
            <a:ext cx="3105150" cy="5418668"/>
          </p:xfrm>
          <a:graphic>
            <a:graphicData uri="http://schemas.openxmlformats.org/drawingml/2006/chart">
              <c:chart xmlns:c="http://schemas.openxmlformats.org/drawingml/2006/chart" xmlns:r="http://schemas.openxmlformats.org/officeDocument/2006/relationships" r:id="rId6"/>
            </a:graphicData>
          </a:graphic>
        </p:graphicFrame>
      </p:grpSp>
      <p:grpSp>
        <p:nvGrpSpPr>
          <p:cNvPr id="40" name="Group 39">
            <a:extLst>
              <a:ext uri="{FF2B5EF4-FFF2-40B4-BE49-F238E27FC236}">
                <a16:creationId xmlns:a16="http://schemas.microsoft.com/office/drawing/2014/main" xmlns="" id="{256372E4-154A-426F-984B-E68843429810}"/>
              </a:ext>
            </a:extLst>
          </p:cNvPr>
          <p:cNvGrpSpPr/>
          <p:nvPr/>
        </p:nvGrpSpPr>
        <p:grpSpPr>
          <a:xfrm>
            <a:off x="-83298" y="3592604"/>
            <a:ext cx="4648154" cy="2210336"/>
            <a:chOff x="2990850" y="567266"/>
            <a:chExt cx="6257926" cy="5711284"/>
          </a:xfrm>
        </p:grpSpPr>
        <p:graphicFrame>
          <p:nvGraphicFramePr>
            <p:cNvPr id="41" name="Chart 40">
              <a:extLst>
                <a:ext uri="{FF2B5EF4-FFF2-40B4-BE49-F238E27FC236}">
                  <a16:creationId xmlns:a16="http://schemas.microsoft.com/office/drawing/2014/main" xmlns="" id="{A0AEE44E-D9FC-45DF-A88D-ACDA6468085F}"/>
                </a:ext>
              </a:extLst>
            </p:cNvPr>
            <p:cNvGraphicFramePr/>
            <p:nvPr>
              <p:extLst>
                <p:ext uri="{D42A27DB-BD31-4B8C-83A1-F6EECF244321}">
                  <p14:modId xmlns:p14="http://schemas.microsoft.com/office/powerpoint/2010/main" val="2473944885"/>
                </p:ext>
              </p:extLst>
            </p:nvPr>
          </p:nvGraphicFramePr>
          <p:xfrm>
            <a:off x="6143626" y="567266"/>
            <a:ext cx="3105150" cy="571128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2" name="Chart 41" title="‰">
              <a:extLst>
                <a:ext uri="{FF2B5EF4-FFF2-40B4-BE49-F238E27FC236}">
                  <a16:creationId xmlns:a16="http://schemas.microsoft.com/office/drawing/2014/main" xmlns="" id="{401D81E2-6BFB-4D12-86A1-BECC96D72668}"/>
                </a:ext>
              </a:extLst>
            </p:cNvPr>
            <p:cNvGraphicFramePr/>
            <p:nvPr>
              <p:extLst>
                <p:ext uri="{D42A27DB-BD31-4B8C-83A1-F6EECF244321}">
                  <p14:modId xmlns:p14="http://schemas.microsoft.com/office/powerpoint/2010/main" val="2154020980"/>
                </p:ext>
              </p:extLst>
            </p:nvPr>
          </p:nvGraphicFramePr>
          <p:xfrm>
            <a:off x="2990850" y="567266"/>
            <a:ext cx="3105150" cy="5418667"/>
          </p:xfrm>
          <a:graphic>
            <a:graphicData uri="http://schemas.openxmlformats.org/drawingml/2006/chart">
              <c:chart xmlns:c="http://schemas.openxmlformats.org/drawingml/2006/chart" xmlns:r="http://schemas.openxmlformats.org/officeDocument/2006/relationships" r:id="rId8"/>
            </a:graphicData>
          </a:graphic>
        </p:graphicFrame>
      </p:grpSp>
      <p:grpSp>
        <p:nvGrpSpPr>
          <p:cNvPr id="43" name="Group 42">
            <a:extLst>
              <a:ext uri="{FF2B5EF4-FFF2-40B4-BE49-F238E27FC236}">
                <a16:creationId xmlns:a16="http://schemas.microsoft.com/office/drawing/2014/main" xmlns="" id="{256372E4-154A-426F-984B-E68843429810}"/>
              </a:ext>
            </a:extLst>
          </p:cNvPr>
          <p:cNvGrpSpPr/>
          <p:nvPr/>
        </p:nvGrpSpPr>
        <p:grpSpPr>
          <a:xfrm>
            <a:off x="4267200" y="3618817"/>
            <a:ext cx="4876800" cy="2210336"/>
            <a:chOff x="2990850" y="567266"/>
            <a:chExt cx="6257926" cy="5711284"/>
          </a:xfrm>
        </p:grpSpPr>
        <p:graphicFrame>
          <p:nvGraphicFramePr>
            <p:cNvPr id="44" name="Chart 43">
              <a:extLst>
                <a:ext uri="{FF2B5EF4-FFF2-40B4-BE49-F238E27FC236}">
                  <a16:creationId xmlns:a16="http://schemas.microsoft.com/office/drawing/2014/main" xmlns="" id="{A0AEE44E-D9FC-45DF-A88D-ACDA6468085F}"/>
                </a:ext>
              </a:extLst>
            </p:cNvPr>
            <p:cNvGraphicFramePr/>
            <p:nvPr>
              <p:extLst>
                <p:ext uri="{D42A27DB-BD31-4B8C-83A1-F6EECF244321}">
                  <p14:modId xmlns:p14="http://schemas.microsoft.com/office/powerpoint/2010/main" val="2119410826"/>
                </p:ext>
              </p:extLst>
            </p:nvPr>
          </p:nvGraphicFramePr>
          <p:xfrm>
            <a:off x="6143626" y="567266"/>
            <a:ext cx="3105150" cy="5711284"/>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45" name="Chart 44" title="‰">
              <a:extLst>
                <a:ext uri="{FF2B5EF4-FFF2-40B4-BE49-F238E27FC236}">
                  <a16:creationId xmlns:a16="http://schemas.microsoft.com/office/drawing/2014/main" xmlns="" id="{401D81E2-6BFB-4D12-86A1-BECC96D72668}"/>
                </a:ext>
              </a:extLst>
            </p:cNvPr>
            <p:cNvGraphicFramePr/>
            <p:nvPr>
              <p:extLst>
                <p:ext uri="{D42A27DB-BD31-4B8C-83A1-F6EECF244321}">
                  <p14:modId xmlns:p14="http://schemas.microsoft.com/office/powerpoint/2010/main" val="411061018"/>
                </p:ext>
              </p:extLst>
            </p:nvPr>
          </p:nvGraphicFramePr>
          <p:xfrm>
            <a:off x="2990850" y="567266"/>
            <a:ext cx="3105150" cy="5418667"/>
          </p:xfrm>
          <a:graphic>
            <a:graphicData uri="http://schemas.openxmlformats.org/drawingml/2006/chart">
              <c:chart xmlns:c="http://schemas.openxmlformats.org/drawingml/2006/chart" xmlns:r="http://schemas.openxmlformats.org/officeDocument/2006/relationships" r:id="rId10"/>
            </a:graphicData>
          </a:graphic>
        </p:graphicFrame>
      </p:grpSp>
      <p:sp>
        <p:nvSpPr>
          <p:cNvPr id="16" name="TextBox 15">
            <a:extLst>
              <a:ext uri="{FF2B5EF4-FFF2-40B4-BE49-F238E27FC236}">
                <a16:creationId xmlns:a16="http://schemas.microsoft.com/office/drawing/2014/main" xmlns="" id="{B2384ACD-E7AC-9645-A90C-998D44EEC4A1}"/>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1565855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xmlns="" id="{442613AB-8E01-2947-BD06-5CF76D1FCF19}"/>
              </a:ext>
            </a:extLst>
          </p:cNvPr>
          <p:cNvGrpSpPr/>
          <p:nvPr/>
        </p:nvGrpSpPr>
        <p:grpSpPr>
          <a:xfrm>
            <a:off x="76200" y="1617609"/>
            <a:ext cx="8590218" cy="3875614"/>
            <a:chOff x="2990850" y="567266"/>
            <a:chExt cx="6257926" cy="5418667"/>
          </a:xfrm>
        </p:grpSpPr>
        <p:graphicFrame>
          <p:nvGraphicFramePr>
            <p:cNvPr id="17" name="Chart 16">
              <a:extLst>
                <a:ext uri="{FF2B5EF4-FFF2-40B4-BE49-F238E27FC236}">
                  <a16:creationId xmlns:a16="http://schemas.microsoft.com/office/drawing/2014/main" xmlns="" id="{8EB65856-515B-2549-9D3A-9DBFFEBF3605}"/>
                </a:ext>
              </a:extLst>
            </p:cNvPr>
            <p:cNvGraphicFramePr/>
            <p:nvPr>
              <p:extLst>
                <p:ext uri="{D42A27DB-BD31-4B8C-83A1-F6EECF244321}">
                  <p14:modId xmlns:p14="http://schemas.microsoft.com/office/powerpoint/2010/main" val="2025722213"/>
                </p:ext>
              </p:extLst>
            </p:nvPr>
          </p:nvGraphicFramePr>
          <p:xfrm>
            <a:off x="6143626" y="567266"/>
            <a:ext cx="3105150" cy="531611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17" title="‰">
              <a:extLst>
                <a:ext uri="{FF2B5EF4-FFF2-40B4-BE49-F238E27FC236}">
                  <a16:creationId xmlns:a16="http://schemas.microsoft.com/office/drawing/2014/main" xmlns="" id="{1AFA9A9D-FF3E-CF4E-848C-21BDC537D590}"/>
                </a:ext>
              </a:extLst>
            </p:cNvPr>
            <p:cNvGraphicFramePr/>
            <p:nvPr>
              <p:extLst>
                <p:ext uri="{D42A27DB-BD31-4B8C-83A1-F6EECF244321}">
                  <p14:modId xmlns:p14="http://schemas.microsoft.com/office/powerpoint/2010/main" val="92119025"/>
                </p:ext>
              </p:extLst>
            </p:nvPr>
          </p:nvGraphicFramePr>
          <p:xfrm>
            <a:off x="2990850" y="567266"/>
            <a:ext cx="3105150" cy="5418667"/>
          </p:xfrm>
          <a:graphic>
            <a:graphicData uri="http://schemas.openxmlformats.org/drawingml/2006/chart">
              <c:chart xmlns:c="http://schemas.openxmlformats.org/drawingml/2006/chart" xmlns:r="http://schemas.openxmlformats.org/officeDocument/2006/relationships" r:id="rId4"/>
            </a:graphicData>
          </a:graphic>
        </p:graphicFrame>
      </p:grpSp>
      <p:sp>
        <p:nvSpPr>
          <p:cNvPr id="4" name="Rounded Rectangle 3"/>
          <p:cNvSpPr/>
          <p:nvPr/>
        </p:nvSpPr>
        <p:spPr>
          <a:xfrm rot="18692017">
            <a:off x="1085066" y="4598112"/>
            <a:ext cx="739238" cy="368546"/>
          </a:xfrm>
          <a:prstGeom prst="roundRect">
            <a:avLst/>
          </a:prstGeom>
          <a:noFill/>
          <a:ln w="38100">
            <a:solidFill>
              <a:srgbClr val="C3799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ounded Rectangle 19"/>
          <p:cNvSpPr/>
          <p:nvPr/>
        </p:nvSpPr>
        <p:spPr>
          <a:xfrm rot="18692017">
            <a:off x="5342525" y="4715049"/>
            <a:ext cx="905866" cy="390357"/>
          </a:xfrm>
          <a:prstGeom prst="roundRect">
            <a:avLst/>
          </a:prstGeom>
          <a:noFill/>
          <a:ln w="38100">
            <a:solidFill>
              <a:srgbClr val="C3799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itle 1"/>
          <p:cNvSpPr>
            <a:spLocks noGrp="1"/>
          </p:cNvSpPr>
          <p:nvPr>
            <p:ph type="title"/>
          </p:nvPr>
        </p:nvSpPr>
        <p:spPr/>
        <p:txBody>
          <a:bodyPr>
            <a:noAutofit/>
          </a:bodyPr>
          <a:lstStyle/>
          <a:p>
            <a:r>
              <a:rPr lang="en-US" sz="3600" dirty="0">
                <a:latin typeface="Century Gothic" charset="0"/>
                <a:ea typeface="Century Gothic" charset="0"/>
                <a:cs typeface="Century Gothic" charset="0"/>
              </a:rPr>
              <a:t>Event distributions from </a:t>
            </a:r>
            <a:r>
              <a:rPr lang="en-US" sz="3600" dirty="0" err="1">
                <a:latin typeface="Century Gothic" charset="0"/>
                <a:ea typeface="Century Gothic" charset="0"/>
                <a:cs typeface="Century Gothic" charset="0"/>
              </a:rPr>
              <a:t>TemProb</a:t>
            </a:r>
            <a:endParaRPr lang="en-US" sz="3600" dirty="0">
              <a:latin typeface="Century Gothic" charset="0"/>
              <a:ea typeface="Century Gothic" charset="0"/>
              <a:cs typeface="Century Gothic" charset="0"/>
            </a:endParaRPr>
          </a:p>
        </p:txBody>
      </p:sp>
      <p:sp>
        <p:nvSpPr>
          <p:cNvPr id="23" name="Rounded Rectangle 22">
            <a:extLst>
              <a:ext uri="{FF2B5EF4-FFF2-40B4-BE49-F238E27FC236}">
                <a16:creationId xmlns:a16="http://schemas.microsoft.com/office/drawing/2014/main" xmlns="" id="{1E5E5077-DE00-5445-947B-F4893BED47EA}"/>
              </a:ext>
            </a:extLst>
          </p:cNvPr>
          <p:cNvSpPr/>
          <p:nvPr/>
        </p:nvSpPr>
        <p:spPr>
          <a:xfrm rot="18692017">
            <a:off x="7590426" y="4715049"/>
            <a:ext cx="905866" cy="390357"/>
          </a:xfrm>
          <a:prstGeom prst="roundRect">
            <a:avLst/>
          </a:prstGeom>
          <a:noFill/>
          <a:ln w="38100">
            <a:solidFill>
              <a:srgbClr val="C3799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ounded Rectangle 23">
            <a:extLst>
              <a:ext uri="{FF2B5EF4-FFF2-40B4-BE49-F238E27FC236}">
                <a16:creationId xmlns:a16="http://schemas.microsoft.com/office/drawing/2014/main" xmlns="" id="{6B186DD4-DAA2-B848-8FFA-74B0634D1B5E}"/>
              </a:ext>
            </a:extLst>
          </p:cNvPr>
          <p:cNvSpPr/>
          <p:nvPr/>
        </p:nvSpPr>
        <p:spPr>
          <a:xfrm rot="18692017">
            <a:off x="4809125" y="4715049"/>
            <a:ext cx="905866" cy="390357"/>
          </a:xfrm>
          <a:prstGeom prst="roundRect">
            <a:avLst/>
          </a:prstGeom>
          <a:noFill/>
          <a:ln w="38100">
            <a:solidFill>
              <a:srgbClr val="C3799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xmlns="" id="{67E45F79-C683-AF45-9A47-87E61D49150C}"/>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18446817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xmlns="" id="{DA3668F8-65DC-B84D-BDAA-8A06D4D33CDC}"/>
              </a:ext>
            </a:extLst>
          </p:cNvPr>
          <p:cNvGrpSpPr/>
          <p:nvPr/>
        </p:nvGrpSpPr>
        <p:grpSpPr>
          <a:xfrm>
            <a:off x="286711" y="1686836"/>
            <a:ext cx="8551526" cy="3906385"/>
            <a:chOff x="2990850" y="567264"/>
            <a:chExt cx="6257926" cy="5486400"/>
          </a:xfrm>
        </p:grpSpPr>
        <p:graphicFrame>
          <p:nvGraphicFramePr>
            <p:cNvPr id="23" name="Chart 22">
              <a:extLst>
                <a:ext uri="{FF2B5EF4-FFF2-40B4-BE49-F238E27FC236}">
                  <a16:creationId xmlns:a16="http://schemas.microsoft.com/office/drawing/2014/main" xmlns="" id="{116145C5-F23D-9543-8862-C3F676EF9287}"/>
                </a:ext>
              </a:extLst>
            </p:cNvPr>
            <p:cNvGraphicFramePr/>
            <p:nvPr>
              <p:extLst>
                <p:ext uri="{D42A27DB-BD31-4B8C-83A1-F6EECF244321}">
                  <p14:modId xmlns:p14="http://schemas.microsoft.com/office/powerpoint/2010/main" val="956958780"/>
                </p:ext>
              </p:extLst>
            </p:nvPr>
          </p:nvGraphicFramePr>
          <p:xfrm>
            <a:off x="6143626" y="567264"/>
            <a:ext cx="3105150" cy="5486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4" name="Chart 23" title="‰">
              <a:extLst>
                <a:ext uri="{FF2B5EF4-FFF2-40B4-BE49-F238E27FC236}">
                  <a16:creationId xmlns:a16="http://schemas.microsoft.com/office/drawing/2014/main" xmlns="" id="{E781FF3B-4C8B-7445-96C7-9D4CF5E02448}"/>
                </a:ext>
              </a:extLst>
            </p:cNvPr>
            <p:cNvGraphicFramePr/>
            <p:nvPr>
              <p:extLst>
                <p:ext uri="{D42A27DB-BD31-4B8C-83A1-F6EECF244321}">
                  <p14:modId xmlns:p14="http://schemas.microsoft.com/office/powerpoint/2010/main" val="2465197067"/>
                </p:ext>
              </p:extLst>
            </p:nvPr>
          </p:nvGraphicFramePr>
          <p:xfrm>
            <a:off x="2990850" y="567266"/>
            <a:ext cx="3105150" cy="5418668"/>
          </p:xfrm>
          <a:graphic>
            <a:graphicData uri="http://schemas.openxmlformats.org/drawingml/2006/chart">
              <c:chart xmlns:c="http://schemas.openxmlformats.org/drawingml/2006/chart" xmlns:r="http://schemas.openxmlformats.org/officeDocument/2006/relationships" r:id="rId4"/>
            </a:graphicData>
          </a:graphic>
        </p:graphicFrame>
      </p:grpSp>
      <p:sp>
        <p:nvSpPr>
          <p:cNvPr id="4" name="Rounded Rectangle 3"/>
          <p:cNvSpPr/>
          <p:nvPr/>
        </p:nvSpPr>
        <p:spPr>
          <a:xfrm rot="18692017">
            <a:off x="1032787" y="4831191"/>
            <a:ext cx="1061513" cy="334776"/>
          </a:xfrm>
          <a:prstGeom prst="roundRect">
            <a:avLst/>
          </a:prstGeom>
          <a:noFill/>
          <a:ln w="38100">
            <a:solidFill>
              <a:srgbClr val="95A28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itle 1"/>
          <p:cNvSpPr>
            <a:spLocks noGrp="1"/>
          </p:cNvSpPr>
          <p:nvPr>
            <p:ph type="title"/>
          </p:nvPr>
        </p:nvSpPr>
        <p:spPr/>
        <p:txBody>
          <a:bodyPr>
            <a:noAutofit/>
          </a:bodyPr>
          <a:lstStyle/>
          <a:p>
            <a:r>
              <a:rPr lang="en-US" sz="3600" dirty="0">
                <a:latin typeface="Century Gothic" charset="0"/>
                <a:ea typeface="Century Gothic" charset="0"/>
                <a:cs typeface="Century Gothic" charset="0"/>
              </a:rPr>
              <a:t>Event distributions from </a:t>
            </a:r>
            <a:r>
              <a:rPr lang="en-US" sz="3600" dirty="0" err="1">
                <a:latin typeface="Century Gothic" charset="0"/>
                <a:ea typeface="Century Gothic" charset="0"/>
                <a:cs typeface="Century Gothic" charset="0"/>
              </a:rPr>
              <a:t>TemProb</a:t>
            </a:r>
            <a:endParaRPr lang="en-US" sz="3600" dirty="0">
              <a:latin typeface="Century Gothic" charset="0"/>
              <a:ea typeface="Century Gothic" charset="0"/>
              <a:cs typeface="Century Gothic" charset="0"/>
            </a:endParaRPr>
          </a:p>
        </p:txBody>
      </p:sp>
      <p:sp>
        <p:nvSpPr>
          <p:cNvPr id="25" name="Rounded Rectangle 24">
            <a:extLst>
              <a:ext uri="{FF2B5EF4-FFF2-40B4-BE49-F238E27FC236}">
                <a16:creationId xmlns:a16="http://schemas.microsoft.com/office/drawing/2014/main" xmlns="" id="{63AE01F0-5307-3C40-AFEA-7AC5CA4659FC}"/>
              </a:ext>
            </a:extLst>
          </p:cNvPr>
          <p:cNvSpPr/>
          <p:nvPr/>
        </p:nvSpPr>
        <p:spPr>
          <a:xfrm rot="18692017">
            <a:off x="1489987" y="4831192"/>
            <a:ext cx="1061513" cy="334776"/>
          </a:xfrm>
          <a:prstGeom prst="roundRect">
            <a:avLst/>
          </a:prstGeom>
          <a:noFill/>
          <a:ln w="38100">
            <a:solidFill>
              <a:srgbClr val="95A28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ounded Rectangle 25">
            <a:extLst>
              <a:ext uri="{FF2B5EF4-FFF2-40B4-BE49-F238E27FC236}">
                <a16:creationId xmlns:a16="http://schemas.microsoft.com/office/drawing/2014/main" xmlns="" id="{71C5771A-D82D-054D-951D-58BD61DC7D94}"/>
              </a:ext>
            </a:extLst>
          </p:cNvPr>
          <p:cNvSpPr/>
          <p:nvPr/>
        </p:nvSpPr>
        <p:spPr>
          <a:xfrm rot="18692017">
            <a:off x="5133002" y="4889445"/>
            <a:ext cx="1203578" cy="304614"/>
          </a:xfrm>
          <a:prstGeom prst="roundRect">
            <a:avLst/>
          </a:prstGeom>
          <a:noFill/>
          <a:ln w="38100">
            <a:solidFill>
              <a:srgbClr val="95A28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xmlns="" id="{395F17A5-1482-774D-9436-4AA0AA0FFA2E}"/>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
        <p:nvSpPr>
          <p:cNvPr id="12" name="Rounded Rectangle 11">
            <a:extLst>
              <a:ext uri="{FF2B5EF4-FFF2-40B4-BE49-F238E27FC236}">
                <a16:creationId xmlns:a16="http://schemas.microsoft.com/office/drawing/2014/main" xmlns="" id="{C9E516F6-A600-464C-B5F0-02555FD2C3AF}"/>
              </a:ext>
            </a:extLst>
          </p:cNvPr>
          <p:cNvSpPr/>
          <p:nvPr/>
        </p:nvSpPr>
        <p:spPr>
          <a:xfrm rot="18692017">
            <a:off x="3390977" y="4831192"/>
            <a:ext cx="1061513" cy="334776"/>
          </a:xfrm>
          <a:prstGeom prst="roundRect">
            <a:avLst/>
          </a:prstGeom>
          <a:noFill/>
          <a:ln w="38100">
            <a:solidFill>
              <a:srgbClr val="95A28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ounded Rectangle 12">
            <a:extLst>
              <a:ext uri="{FF2B5EF4-FFF2-40B4-BE49-F238E27FC236}">
                <a16:creationId xmlns:a16="http://schemas.microsoft.com/office/drawing/2014/main" xmlns="" id="{080BB011-DCF6-6F4A-8158-16AF63EEF632}"/>
              </a:ext>
            </a:extLst>
          </p:cNvPr>
          <p:cNvSpPr/>
          <p:nvPr/>
        </p:nvSpPr>
        <p:spPr>
          <a:xfrm rot="18692017">
            <a:off x="7511726" y="4889445"/>
            <a:ext cx="1203578" cy="304614"/>
          </a:xfrm>
          <a:prstGeom prst="roundRect">
            <a:avLst/>
          </a:prstGeom>
          <a:noFill/>
          <a:ln w="38100">
            <a:solidFill>
              <a:srgbClr val="95A28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47134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xmlns="" id="{5F00F344-24FB-4241-B98A-EA66746672A6}"/>
              </a:ext>
            </a:extLst>
          </p:cNvPr>
          <p:cNvGrpSpPr/>
          <p:nvPr/>
        </p:nvGrpSpPr>
        <p:grpSpPr>
          <a:xfrm>
            <a:off x="406811" y="1639181"/>
            <a:ext cx="8311325" cy="3952283"/>
            <a:chOff x="2990850" y="567266"/>
            <a:chExt cx="6257926" cy="5711284"/>
          </a:xfrm>
        </p:grpSpPr>
        <p:graphicFrame>
          <p:nvGraphicFramePr>
            <p:cNvPr id="22" name="Chart 21">
              <a:extLst>
                <a:ext uri="{FF2B5EF4-FFF2-40B4-BE49-F238E27FC236}">
                  <a16:creationId xmlns:a16="http://schemas.microsoft.com/office/drawing/2014/main" xmlns="" id="{A7ACD9A5-F34E-7D40-B87A-B72B9A7D1C89}"/>
                </a:ext>
              </a:extLst>
            </p:cNvPr>
            <p:cNvGraphicFramePr/>
            <p:nvPr>
              <p:extLst>
                <p:ext uri="{D42A27DB-BD31-4B8C-83A1-F6EECF244321}">
                  <p14:modId xmlns:p14="http://schemas.microsoft.com/office/powerpoint/2010/main" val="2360566092"/>
                </p:ext>
              </p:extLst>
            </p:nvPr>
          </p:nvGraphicFramePr>
          <p:xfrm>
            <a:off x="6143626" y="567266"/>
            <a:ext cx="3105150" cy="57112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22" title="‰">
              <a:extLst>
                <a:ext uri="{FF2B5EF4-FFF2-40B4-BE49-F238E27FC236}">
                  <a16:creationId xmlns:a16="http://schemas.microsoft.com/office/drawing/2014/main" xmlns="" id="{88CE20C0-8B24-6A49-BDED-1B4E844C855D}"/>
                </a:ext>
              </a:extLst>
            </p:cNvPr>
            <p:cNvGraphicFramePr/>
            <p:nvPr>
              <p:extLst>
                <p:ext uri="{D42A27DB-BD31-4B8C-83A1-F6EECF244321}">
                  <p14:modId xmlns:p14="http://schemas.microsoft.com/office/powerpoint/2010/main" val="2504173405"/>
                </p:ext>
              </p:extLst>
            </p:nvPr>
          </p:nvGraphicFramePr>
          <p:xfrm>
            <a:off x="2990850" y="567266"/>
            <a:ext cx="3105150" cy="5418667"/>
          </p:xfrm>
          <a:graphic>
            <a:graphicData uri="http://schemas.openxmlformats.org/drawingml/2006/chart">
              <c:chart xmlns:c="http://schemas.openxmlformats.org/drawingml/2006/chart" xmlns:r="http://schemas.openxmlformats.org/officeDocument/2006/relationships" r:id="rId4"/>
            </a:graphicData>
          </a:graphic>
        </p:graphicFrame>
      </p:grpSp>
      <p:sp>
        <p:nvSpPr>
          <p:cNvPr id="4" name="Rounded Rectangle 3"/>
          <p:cNvSpPr/>
          <p:nvPr/>
        </p:nvSpPr>
        <p:spPr>
          <a:xfrm rot="18692017">
            <a:off x="897443" y="4652088"/>
            <a:ext cx="739238" cy="324641"/>
          </a:xfrm>
          <a:prstGeom prst="roundRect">
            <a:avLst/>
          </a:prstGeom>
          <a:noFill/>
          <a:ln w="38100">
            <a:solidFill>
              <a:srgbClr val="665E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ed Rectangle 18"/>
          <p:cNvSpPr/>
          <p:nvPr/>
        </p:nvSpPr>
        <p:spPr>
          <a:xfrm rot="18692017">
            <a:off x="2537223" y="4739925"/>
            <a:ext cx="869597" cy="368546"/>
          </a:xfrm>
          <a:prstGeom prst="roundRect">
            <a:avLst/>
          </a:prstGeom>
          <a:noFill/>
          <a:ln w="38100">
            <a:solidFill>
              <a:srgbClr val="665E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ounded Rectangle 19"/>
          <p:cNvSpPr/>
          <p:nvPr/>
        </p:nvSpPr>
        <p:spPr>
          <a:xfrm rot="18692017">
            <a:off x="5038414" y="4793140"/>
            <a:ext cx="860005" cy="368546"/>
          </a:xfrm>
          <a:prstGeom prst="roundRect">
            <a:avLst/>
          </a:prstGeom>
          <a:noFill/>
          <a:ln w="38100">
            <a:solidFill>
              <a:srgbClr val="665E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rot="18692017">
            <a:off x="3594934" y="4691133"/>
            <a:ext cx="739238" cy="368546"/>
          </a:xfrm>
          <a:prstGeom prst="roundRect">
            <a:avLst/>
          </a:prstGeom>
          <a:noFill/>
          <a:ln w="38100">
            <a:solidFill>
              <a:srgbClr val="665E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itle 1"/>
          <p:cNvSpPr>
            <a:spLocks noGrp="1"/>
          </p:cNvSpPr>
          <p:nvPr>
            <p:ph type="title"/>
          </p:nvPr>
        </p:nvSpPr>
        <p:spPr/>
        <p:txBody>
          <a:bodyPr>
            <a:noAutofit/>
          </a:bodyPr>
          <a:lstStyle/>
          <a:p>
            <a:r>
              <a:rPr lang="en-US" sz="3600" dirty="0">
                <a:latin typeface="Century Gothic" charset="0"/>
                <a:ea typeface="Century Gothic" charset="0"/>
                <a:cs typeface="Century Gothic" charset="0"/>
              </a:rPr>
              <a:t>Event distributions from </a:t>
            </a:r>
            <a:r>
              <a:rPr lang="en-US" sz="3600" dirty="0" err="1">
                <a:latin typeface="Century Gothic" charset="0"/>
                <a:ea typeface="Century Gothic" charset="0"/>
                <a:cs typeface="Century Gothic" charset="0"/>
              </a:rPr>
              <a:t>TemProb</a:t>
            </a:r>
            <a:endParaRPr lang="en-US" sz="3600" dirty="0">
              <a:latin typeface="Century Gothic" charset="0"/>
              <a:ea typeface="Century Gothic" charset="0"/>
              <a:cs typeface="Century Gothic" charset="0"/>
            </a:endParaRPr>
          </a:p>
        </p:txBody>
      </p:sp>
      <p:sp>
        <p:nvSpPr>
          <p:cNvPr id="24" name="Rounded Rectangle 23">
            <a:extLst>
              <a:ext uri="{FF2B5EF4-FFF2-40B4-BE49-F238E27FC236}">
                <a16:creationId xmlns:a16="http://schemas.microsoft.com/office/drawing/2014/main" xmlns="" id="{0364FDA4-BA70-BF43-BCAE-43EE56404990}"/>
              </a:ext>
            </a:extLst>
          </p:cNvPr>
          <p:cNvSpPr/>
          <p:nvPr/>
        </p:nvSpPr>
        <p:spPr>
          <a:xfrm rot="18692017">
            <a:off x="7823399" y="4743517"/>
            <a:ext cx="739238" cy="368546"/>
          </a:xfrm>
          <a:prstGeom prst="roundRect">
            <a:avLst/>
          </a:prstGeom>
          <a:noFill/>
          <a:ln w="38100">
            <a:solidFill>
              <a:srgbClr val="665E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ounded Rectangle 24">
            <a:extLst>
              <a:ext uri="{FF2B5EF4-FFF2-40B4-BE49-F238E27FC236}">
                <a16:creationId xmlns:a16="http://schemas.microsoft.com/office/drawing/2014/main" xmlns="" id="{A2F9E6C8-867A-AD49-A732-C447D45E119D}"/>
              </a:ext>
            </a:extLst>
          </p:cNvPr>
          <p:cNvSpPr/>
          <p:nvPr/>
        </p:nvSpPr>
        <p:spPr>
          <a:xfrm rot="18692017">
            <a:off x="5613599" y="4743517"/>
            <a:ext cx="739238" cy="368546"/>
          </a:xfrm>
          <a:prstGeom prst="roundRect">
            <a:avLst/>
          </a:prstGeom>
          <a:noFill/>
          <a:ln w="38100">
            <a:solidFill>
              <a:srgbClr val="665E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xmlns="" id="{8CEDBD31-CCF0-F643-AFBB-9F6527276537}"/>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5759450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EE7ADF-5BC0-414F-9158-EFB96D484FD3}"/>
              </a:ext>
            </a:extLst>
          </p:cNvPr>
          <p:cNvSpPr>
            <a:spLocks noGrp="1"/>
          </p:cNvSpPr>
          <p:nvPr>
            <p:ph type="title"/>
          </p:nvPr>
        </p:nvSpPr>
        <p:spPr/>
        <p:txBody>
          <a:bodyPr/>
          <a:lstStyle/>
          <a:p>
            <a:r>
              <a:rPr lang="en-US" dirty="0"/>
              <a:t>Apply </a:t>
            </a:r>
            <a:r>
              <a:rPr lang="en-US" dirty="0" err="1"/>
              <a:t>TemProb</a:t>
            </a:r>
            <a:r>
              <a:rPr lang="en-US" dirty="0"/>
              <a:t> in </a:t>
            </a:r>
            <a:r>
              <a:rPr lang="en-US" u="sng" dirty="0"/>
              <a:t>learning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19D1DA06-FD6B-465D-A38F-AD3A108E37A2}"/>
                  </a:ext>
                </a:extLst>
              </p:cNvPr>
              <p:cNvSpPr>
                <a:spLocks noGrp="1"/>
              </p:cNvSpPr>
              <p:nvPr>
                <p:ph idx="1"/>
              </p:nvPr>
            </p:nvSpPr>
            <p:spPr/>
            <p:txBody>
              <a:bodyPr/>
              <a:lstStyle/>
              <a:p>
                <a:pPr marL="0" indent="0">
                  <a:buNone/>
                </a:pPr>
                <a:r>
                  <a:rPr lang="en-US" sz="2400" dirty="0"/>
                  <a:t>Let </a:t>
                </a:r>
                <a14:m>
                  <m:oMath xmlns:m="http://schemas.openxmlformats.org/officeDocument/2006/math">
                    <m:r>
                      <a:rPr lang="en-US" sz="2400" b="0" i="1" smtClean="0">
                        <a:latin typeface="Cambria Math" panose="02040503050406030204" pitchFamily="18" charset="0"/>
                      </a:rPr>
                      <m:t>𝐶</m:t>
                    </m:r>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oMath>
                </a14:m>
                <a:r>
                  <a:rPr lang="en-US" sz="2400" dirty="0"/>
                  <a:t> be the number of appearances of </a:t>
                </a:r>
                <a14:m>
                  <m:oMath xmlns:m="http://schemas.openxmlformats.org/officeDocument/2006/math">
                    <m:d>
                      <m:dPr>
                        <m:ctrlPr>
                          <a:rPr lang="en-US" sz="2400" b="0" i="1" smtClean="0">
                            <a:latin typeface="Cambria Math" charset="0"/>
                          </a:rPr>
                        </m:ctrlPr>
                      </m:dPr>
                      <m:e>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𝑗</m:t>
                            </m:r>
                          </m:sub>
                        </m:sSub>
                      </m:e>
                    </m:d>
                  </m:oMath>
                </a14:m>
                <a:r>
                  <a:rPr lang="en-US" sz="2400" dirty="0"/>
                  <a:t> in </a:t>
                </a:r>
                <a:r>
                  <a:rPr lang="en-US" sz="2400" dirty="0" err="1"/>
                  <a:t>TemProb</a:t>
                </a:r>
                <a:r>
                  <a:rPr lang="en-US" sz="2400" dirty="0"/>
                  <a:t> that are classified to be relation </a:t>
                </a:r>
                <a14:m>
                  <m:oMath xmlns:m="http://schemas.openxmlformats.org/officeDocument/2006/math">
                    <m:r>
                      <a:rPr lang="en-US" sz="2400" b="0" i="1" smtClean="0">
                        <a:latin typeface="Cambria Math" panose="02040503050406030204" pitchFamily="18" charset="0"/>
                      </a:rPr>
                      <m:t>𝑟</m:t>
                    </m:r>
                  </m:oMath>
                </a14:m>
                <a:r>
                  <a:rPr lang="en-US" sz="2400" dirty="0"/>
                  <a:t>.</a:t>
                </a:r>
              </a:p>
              <a:p>
                <a:pPr marL="0" indent="0">
                  <a:buNone/>
                </a:pPr>
                <a:endParaRPr lang="en-US" sz="2400" dirty="0"/>
              </a:p>
              <a:p>
                <a:pPr marL="0" indent="0">
                  <a:buNone/>
                </a:pPr>
                <a:r>
                  <a:rPr lang="en-US" sz="2400" dirty="0"/>
                  <a:t>For each pair of verb events,</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charset="0"/>
                            </a:rPr>
                          </m:ctrlPr>
                        </m:sSubPr>
                        <m:e>
                          <m:r>
                            <a:rPr lang="en-US" sz="2400" b="0" i="1" smtClean="0">
                              <a:latin typeface="Cambria Math" charset="0"/>
                            </a:rPr>
                            <m:t>h</m:t>
                          </m:r>
                        </m:e>
                        <m:sub>
                          <m:r>
                            <a:rPr lang="en-US" sz="2400" b="0" i="1" smtClean="0">
                              <a:latin typeface="Cambria Math" panose="02040503050406030204" pitchFamily="18" charset="0"/>
                            </a:rPr>
                            <m:t>𝑟</m:t>
                          </m:r>
                        </m:sub>
                      </m:sSub>
                      <m:d>
                        <m:dPr>
                          <m:ctrlPr>
                            <a:rPr lang="en-US" sz="2400" b="0" i="1" smtClean="0">
                              <a:latin typeface="Cambria Math" charset="0"/>
                            </a:rPr>
                          </m:ctrlPr>
                        </m:dPr>
                        <m:e>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𝑗</m:t>
                              </m:r>
                            </m:sub>
                          </m:sSub>
                        </m:e>
                      </m:d>
                      <m:r>
                        <a:rPr lang="en-US" sz="2400" b="0" i="1" smtClean="0">
                          <a:latin typeface="Cambria Math" panose="02040503050406030204" pitchFamily="18" charset="0"/>
                        </a:rPr>
                        <m:t>=</m:t>
                      </m:r>
                      <m:f>
                        <m:fPr>
                          <m:ctrlPr>
                            <a:rPr lang="en-US" sz="2400" b="0" i="1" smtClean="0">
                              <a:latin typeface="Cambria Math" charset="0"/>
                            </a:rPr>
                          </m:ctrlPr>
                        </m:fPr>
                        <m:num>
                          <m:r>
                            <a:rPr lang="en-US" sz="2400" b="0" i="1" smtClean="0">
                              <a:latin typeface="Cambria Math" panose="02040503050406030204" pitchFamily="18" charset="0"/>
                            </a:rPr>
                            <m:t>𝐶</m:t>
                          </m:r>
                          <m:d>
                            <m:dPr>
                              <m:ctrlPr>
                                <a:rPr lang="en-US" sz="2400" b="0" i="1" smtClean="0">
                                  <a:latin typeface="Cambria Math" charset="0"/>
                                </a:rPr>
                              </m:ctrlPr>
                            </m:dPr>
                            <m:e>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m:t>
                              </m:r>
                              <m:r>
                                <a:rPr lang="en-US" sz="2400" b="0" i="1" smtClean="0">
                                  <a:latin typeface="Cambria Math" panose="02040503050406030204" pitchFamily="18" charset="0"/>
                                </a:rPr>
                                <m:t>𝑟</m:t>
                              </m:r>
                            </m:e>
                          </m:d>
                        </m:num>
                        <m:den>
                          <m:nary>
                            <m:naryPr>
                              <m:chr m:val="∑"/>
                              <m:supHide m:val="on"/>
                              <m:ctrlPr>
                                <a:rPr lang="en-US" sz="2400" b="0" i="1" smtClean="0">
                                  <a:latin typeface="Cambria Math" charset="0"/>
                                </a:rPr>
                              </m:ctrlPr>
                            </m:naryPr>
                            <m:sub>
                              <m:sSup>
                                <m:sSupPr>
                                  <m:ctrlPr>
                                    <a:rPr lang="en-US" sz="2400" b="0" i="1" smtClean="0">
                                      <a:latin typeface="Cambria Math" charset="0"/>
                                    </a:rPr>
                                  </m:ctrlPr>
                                </m:sSupPr>
                                <m:e>
                                  <m:r>
                                    <a:rPr lang="en-US" sz="2400" b="0" i="1" smtClean="0">
                                      <a:latin typeface="Cambria Math" panose="02040503050406030204" pitchFamily="18" charset="0"/>
                                    </a:rPr>
                                    <m:t>𝑟</m:t>
                                  </m:r>
                                </m:e>
                                <m:sup>
                                  <m:r>
                                    <a:rPr lang="en-US" sz="2400" b="0" i="1" smtClean="0">
                                      <a:latin typeface="Cambria Math" panose="02040503050406030204" pitchFamily="18" charset="0"/>
                                    </a:rPr>
                                    <m:t>′</m:t>
                                  </m:r>
                                </m:sup>
                              </m:sSup>
                            </m:sub>
                            <m:sup/>
                            <m:e>
                              <m:r>
                                <a:rPr lang="en-US" sz="2400" b="0" i="1" smtClean="0">
                                  <a:latin typeface="Cambria Math" panose="02040503050406030204" pitchFamily="18" charset="0"/>
                                </a:rPr>
                                <m:t>𝐶</m:t>
                              </m:r>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m:t>
                              </m:r>
                              <m:sSup>
                                <m:sSupPr>
                                  <m:ctrlPr>
                                    <a:rPr lang="en-US" sz="2400" b="0" i="1" smtClean="0">
                                      <a:latin typeface="Cambria Math" charset="0"/>
                                    </a:rPr>
                                  </m:ctrlPr>
                                </m:sSupPr>
                                <m:e>
                                  <m:r>
                                    <a:rPr lang="en-US" sz="2400" b="0" i="1" smtClean="0">
                                      <a:latin typeface="Cambria Math" panose="02040503050406030204" pitchFamily="18" charset="0"/>
                                    </a:rPr>
                                    <m:t>𝑟</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e>
                          </m:nary>
                        </m:den>
                      </m:f>
                    </m:oMath>
                  </m:oMathPara>
                </a14:m>
                <a:endParaRPr lang="en-US" sz="2400" dirty="0"/>
              </a:p>
              <a:p>
                <a:pPr marL="0" indent="0">
                  <a:buNone/>
                </a:pPr>
                <a:r>
                  <a:rPr lang="en-US" sz="2400" dirty="0"/>
                  <a:t>is the prior probability of them being relation </a:t>
                </a:r>
                <a14:m>
                  <m:oMath xmlns:m="http://schemas.openxmlformats.org/officeDocument/2006/math">
                    <m:r>
                      <a:rPr lang="en-US" sz="2400" b="0" i="1" smtClean="0">
                        <a:latin typeface="Cambria Math" panose="02040503050406030204" pitchFamily="18" charset="0"/>
                      </a:rPr>
                      <m:t>𝑟</m:t>
                    </m:r>
                  </m:oMath>
                </a14:m>
                <a:r>
                  <a:rPr lang="en-US" sz="2400" dirty="0"/>
                  <a:t>.</a:t>
                </a:r>
              </a:p>
              <a:p>
                <a:pPr marL="0" indent="0">
                  <a:buNone/>
                </a:pPr>
                <a:endParaRPr lang="en-US" sz="2400" dirty="0"/>
              </a:p>
              <a:p>
                <a:pPr marL="0" indent="0">
                  <a:buNone/>
                </a:pPr>
                <a:r>
                  <a:rPr lang="en-US" sz="2400" dirty="0"/>
                  <a:t>Learning: We can add the prior in </a:t>
                </a:r>
                <a:r>
                  <a:rPr lang="en-US" sz="2400" dirty="0" err="1"/>
                  <a:t>TemProb</a:t>
                </a:r>
                <a:r>
                  <a:rPr lang="en-US" sz="2400" dirty="0"/>
                  <a:t> as an additional feature and retrain our system.</a:t>
                </a:r>
              </a:p>
            </p:txBody>
          </p:sp>
        </mc:Choice>
        <mc:Fallback xmlns="">
          <p:sp>
            <p:nvSpPr>
              <p:cNvPr id="3" name="Content Placeholder 2">
                <a:extLst>
                  <a:ext uri="{FF2B5EF4-FFF2-40B4-BE49-F238E27FC236}">
                    <a16:creationId xmlns:a16="http://schemas.microsoft.com/office/drawing/2014/main" id="{19D1DA06-FD6B-465D-A38F-AD3A108E37A2}"/>
                  </a:ext>
                </a:extLst>
              </p:cNvPr>
              <p:cNvSpPr>
                <a:spLocks noGrp="1" noRot="1" noChangeAspect="1" noMove="1" noResize="1" noEditPoints="1" noAdjustHandles="1" noChangeArrowheads="1" noChangeShapeType="1" noTextEdit="1"/>
              </p:cNvSpPr>
              <p:nvPr>
                <p:ph idx="1"/>
              </p:nvPr>
            </p:nvSpPr>
            <p:spPr>
              <a:blipFill>
                <a:blip r:embed="rId3"/>
                <a:stretch>
                  <a:fillRect l="-1040" t="-490"/>
                </a:stretch>
              </a:blipFill>
            </p:spPr>
            <p:txBody>
              <a:bodyPr/>
              <a:lstStyle/>
              <a:p>
                <a:r>
                  <a:rPr lang="en-US">
                    <a:noFill/>
                  </a:rPr>
                  <a:t> </a:t>
                </a:r>
              </a:p>
            </p:txBody>
          </p:sp>
        </mc:Fallback>
      </mc:AlternateContent>
    </p:spTree>
    <p:extLst>
      <p:ext uri="{BB962C8B-B14F-4D97-AF65-F5344CB8AC3E}">
        <p14:creationId xmlns:p14="http://schemas.microsoft.com/office/powerpoint/2010/main" val="37960773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B7DAD8-661B-426E-A64C-930C32D1572C}"/>
              </a:ext>
            </a:extLst>
          </p:cNvPr>
          <p:cNvSpPr>
            <a:spLocks noGrp="1"/>
          </p:cNvSpPr>
          <p:nvPr>
            <p:ph type="title"/>
          </p:nvPr>
        </p:nvSpPr>
        <p:spPr/>
        <p:txBody>
          <a:bodyPr/>
          <a:lstStyle/>
          <a:p>
            <a:r>
              <a:rPr lang="en-US" dirty="0"/>
              <a:t>Apply </a:t>
            </a:r>
            <a:r>
              <a:rPr lang="en-US" dirty="0" err="1"/>
              <a:t>TemProb</a:t>
            </a:r>
            <a:r>
              <a:rPr lang="en-US" dirty="0"/>
              <a:t> in our task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F02C4E20-21E9-49F2-99C9-0CA78E0DF464}"/>
                  </a:ext>
                </a:extLst>
              </p:cNvPr>
              <p:cNvSpPr>
                <a:spLocks noGrp="1"/>
              </p:cNvSpPr>
              <p:nvPr>
                <p:ph idx="4294967295"/>
              </p:nvPr>
            </p:nvSpPr>
            <p:spPr>
              <a:xfrm>
                <a:off x="609600" y="1219200"/>
                <a:ext cx="8534400" cy="5181600"/>
              </a:xfrm>
            </p:spPr>
            <p:txBody>
              <a:bodyPr/>
              <a:lstStyle/>
              <a:p>
                <a:pPr marL="0" indent="0">
                  <a:buNone/>
                </a:pPr>
                <a:r>
                  <a:rPr lang="en-US" u="sng" dirty="0"/>
                  <a:t>Learning</a:t>
                </a:r>
                <a:r>
                  <a:rPr lang="en-US" dirty="0"/>
                  <a:t>: We can add the prior in </a:t>
                </a:r>
                <a:r>
                  <a:rPr lang="en-US" dirty="0" err="1"/>
                  <a:t>TemProb</a:t>
                </a:r>
                <a:r>
                  <a:rPr lang="en-US" dirty="0"/>
                  <a:t> as an additional feature and retrain our system.</a:t>
                </a:r>
              </a:p>
              <a:p>
                <a:pPr marL="0" indent="0">
                  <a:buNone/>
                </a:pPr>
                <a:endParaRPr lang="en-US" dirty="0"/>
              </a:p>
              <a:p>
                <a:pPr marL="0" indent="0">
                  <a:buNone/>
                </a:pPr>
                <a:r>
                  <a:rPr lang="en-US" u="sng" dirty="0"/>
                  <a:t>Inference</a:t>
                </a:r>
                <a:r>
                  <a:rPr lang="en-US" dirty="0"/>
                  <a:t>: We can further add this prior as regularization terms. </a:t>
                </a:r>
              </a:p>
              <a:p>
                <a:pPr lvl="1"/>
                <a:endParaRPr lang="en-US" dirty="0">
                  <a:solidFill>
                    <a:srgbClr val="7030A0"/>
                  </a:solidFill>
                </a:endParaRPr>
              </a:p>
              <a:p>
                <a:pPr marL="457200" lvl="1" indent="0">
                  <a:buNone/>
                </a:pPr>
                <a14:m>
                  <m:oMathPara xmlns:m="http://schemas.openxmlformats.org/officeDocument/2006/math">
                    <m:oMathParaPr>
                      <m:jc m:val="centerGroup"/>
                    </m:oMathParaPr>
                    <m:oMath xmlns:m="http://schemas.openxmlformats.org/officeDocument/2006/math">
                      <m:acc>
                        <m:accPr>
                          <m:chr m:val="̂"/>
                          <m:ctrlPr>
                            <a:rPr lang="en-US" i="1" smtClean="0">
                              <a:solidFill>
                                <a:schemeClr val="tx1">
                                  <a:lumMod val="50000"/>
                                </a:schemeClr>
                              </a:solidFill>
                              <a:latin typeface="Cambria Math" charset="0"/>
                            </a:rPr>
                          </m:ctrlPr>
                        </m:accPr>
                        <m:e>
                          <m:r>
                            <a:rPr lang="en-US" i="1">
                              <a:solidFill>
                                <a:schemeClr val="tx1">
                                  <a:lumMod val="50000"/>
                                </a:schemeClr>
                              </a:solidFill>
                              <a:latin typeface="Cambria Math" panose="02040503050406030204" pitchFamily="18" charset="0"/>
                            </a:rPr>
                            <m:t>𝐼</m:t>
                          </m:r>
                        </m:e>
                      </m:acc>
                      <m:r>
                        <a:rPr lang="en-US" i="1" dirty="0">
                          <a:solidFill>
                            <a:schemeClr val="tx1">
                              <a:lumMod val="50000"/>
                            </a:schemeClr>
                          </a:solidFill>
                          <a:latin typeface="Cambria Math" panose="02040503050406030204" pitchFamily="18" charset="0"/>
                        </a:rPr>
                        <m:t>=</m:t>
                      </m:r>
                      <m:r>
                        <a:rPr lang="en-US" i="1" dirty="0">
                          <a:solidFill>
                            <a:schemeClr val="tx1">
                              <a:lumMod val="50000"/>
                            </a:schemeClr>
                          </a:solidFill>
                          <a:latin typeface="Cambria Math" panose="02040503050406030204" pitchFamily="18" charset="0"/>
                        </a:rPr>
                        <m:t>𝑎𝑟𝑔</m:t>
                      </m:r>
                      <m:func>
                        <m:funcPr>
                          <m:ctrlPr>
                            <a:rPr lang="en-US" i="1" dirty="0">
                              <a:solidFill>
                                <a:schemeClr val="tx1">
                                  <a:lumMod val="50000"/>
                                </a:schemeClr>
                              </a:solidFill>
                              <a:latin typeface="Cambria Math" charset="0"/>
                            </a:rPr>
                          </m:ctrlPr>
                        </m:funcPr>
                        <m:fName>
                          <m:limLow>
                            <m:limLowPr>
                              <m:ctrlPr>
                                <a:rPr lang="en-US" i="1" dirty="0">
                                  <a:solidFill>
                                    <a:schemeClr val="tx1">
                                      <a:lumMod val="50000"/>
                                    </a:schemeClr>
                                  </a:solidFill>
                                  <a:latin typeface="Cambria Math" charset="0"/>
                                </a:rPr>
                              </m:ctrlPr>
                            </m:limLowPr>
                            <m:e>
                              <m:r>
                                <m:rPr>
                                  <m:sty m:val="p"/>
                                </m:rPr>
                                <a:rPr lang="en-US" dirty="0">
                                  <a:solidFill>
                                    <a:schemeClr val="tx1">
                                      <a:lumMod val="50000"/>
                                    </a:schemeClr>
                                  </a:solidFill>
                                  <a:latin typeface="Cambria Math" panose="02040503050406030204" pitchFamily="18" charset="0"/>
                                </a:rPr>
                                <m:t>m</m:t>
                              </m:r>
                              <m:r>
                                <m:rPr>
                                  <m:sty m:val="p"/>
                                </m:rPr>
                                <a:rPr lang="en-US" dirty="0">
                                  <a:solidFill>
                                    <a:schemeClr val="tx1">
                                      <a:lumMod val="50000"/>
                                    </a:schemeClr>
                                  </a:solidFill>
                                  <a:latin typeface="Cambria Math" charset="0"/>
                                </a:rPr>
                                <m:t>ax</m:t>
                              </m:r>
                            </m:e>
                            <m:lim>
                              <m:r>
                                <a:rPr lang="en-US" i="1" dirty="0">
                                  <a:solidFill>
                                    <a:schemeClr val="tx1">
                                      <a:lumMod val="50000"/>
                                    </a:schemeClr>
                                  </a:solidFill>
                                  <a:latin typeface="Cambria Math" panose="02040503050406030204" pitchFamily="18" charset="0"/>
                                </a:rPr>
                                <m:t>𝐼</m:t>
                              </m:r>
                            </m:lim>
                          </m:limLow>
                        </m:fName>
                        <m:e>
                          <m:nary>
                            <m:naryPr>
                              <m:chr m:val="∑"/>
                              <m:supHide m:val="on"/>
                              <m:ctrlPr>
                                <a:rPr lang="en-US" i="1" dirty="0">
                                  <a:solidFill>
                                    <a:schemeClr val="tx1">
                                      <a:lumMod val="50000"/>
                                    </a:schemeClr>
                                  </a:solidFill>
                                  <a:latin typeface="Cambria Math" charset="0"/>
                                </a:rPr>
                              </m:ctrlPr>
                            </m:naryPr>
                            <m:sub>
                              <m:r>
                                <a:rPr lang="en-US" i="1" dirty="0">
                                  <a:solidFill>
                                    <a:schemeClr val="tx1">
                                      <a:lumMod val="50000"/>
                                    </a:schemeClr>
                                  </a:solidFill>
                                  <a:latin typeface="Cambria Math" panose="02040503050406030204" pitchFamily="18" charset="0"/>
                                </a:rPr>
                                <m:t>𝑖</m:t>
                              </m:r>
                              <m:r>
                                <a:rPr lang="en-US" i="1" dirty="0">
                                  <a:solidFill>
                                    <a:schemeClr val="tx1">
                                      <a:lumMod val="50000"/>
                                    </a:schemeClr>
                                  </a:solidFill>
                                  <a:latin typeface="Cambria Math" panose="02040503050406030204" pitchFamily="18" charset="0"/>
                                </a:rPr>
                                <m:t>&lt;</m:t>
                              </m:r>
                              <m:r>
                                <a:rPr lang="en-US" i="1" dirty="0">
                                  <a:solidFill>
                                    <a:schemeClr val="tx1">
                                      <a:lumMod val="50000"/>
                                    </a:schemeClr>
                                  </a:solidFill>
                                  <a:latin typeface="Cambria Math" panose="02040503050406030204" pitchFamily="18" charset="0"/>
                                </a:rPr>
                                <m:t>𝑗</m:t>
                              </m:r>
                            </m:sub>
                            <m:sup/>
                            <m:e>
                              <m:nary>
                                <m:naryPr>
                                  <m:chr m:val="∑"/>
                                  <m:supHide m:val="on"/>
                                  <m:ctrlPr>
                                    <a:rPr lang="en-US" i="1" dirty="0">
                                      <a:solidFill>
                                        <a:schemeClr val="tx1">
                                          <a:lumMod val="50000"/>
                                        </a:schemeClr>
                                      </a:solidFill>
                                      <a:latin typeface="Cambria Math" charset="0"/>
                                    </a:rPr>
                                  </m:ctrlPr>
                                </m:naryPr>
                                <m:sub>
                                  <m:r>
                                    <a:rPr lang="en-US" i="1" dirty="0">
                                      <a:solidFill>
                                        <a:schemeClr val="tx1">
                                          <a:lumMod val="50000"/>
                                        </a:schemeClr>
                                      </a:solidFill>
                                      <a:latin typeface="Cambria Math" panose="02040503050406030204" pitchFamily="18" charset="0"/>
                                    </a:rPr>
                                    <m:t>𝑟</m:t>
                                  </m:r>
                                </m:sub>
                                <m:sup/>
                                <m:e>
                                  <m:r>
                                    <a:rPr lang="en-US" i="1" dirty="0">
                                      <a:solidFill>
                                        <a:schemeClr val="tx1">
                                          <a:lumMod val="50000"/>
                                        </a:schemeClr>
                                      </a:solidFill>
                                      <a:latin typeface="Cambria Math" panose="02040503050406030204" pitchFamily="18" charset="0"/>
                                    </a:rPr>
                                    <m:t>(</m:t>
                                  </m:r>
                                  <m:sSub>
                                    <m:sSubPr>
                                      <m:ctrlPr>
                                        <a:rPr lang="en-US" i="1" dirty="0">
                                          <a:solidFill>
                                            <a:schemeClr val="tx1">
                                              <a:lumMod val="50000"/>
                                            </a:schemeClr>
                                          </a:solidFill>
                                          <a:latin typeface="Cambria Math" charset="0"/>
                                        </a:rPr>
                                      </m:ctrlPr>
                                    </m:sSubPr>
                                    <m:e>
                                      <m:r>
                                        <a:rPr lang="en-US" i="1" dirty="0">
                                          <a:solidFill>
                                            <a:schemeClr val="tx1">
                                              <a:lumMod val="50000"/>
                                            </a:schemeClr>
                                          </a:solidFill>
                                          <a:latin typeface="Cambria Math" panose="02040503050406030204" pitchFamily="18" charset="0"/>
                                        </a:rPr>
                                        <m:t>𝑓</m:t>
                                      </m:r>
                                    </m:e>
                                    <m:sub>
                                      <m:r>
                                        <a:rPr lang="en-US" i="1" dirty="0">
                                          <a:solidFill>
                                            <a:schemeClr val="tx1">
                                              <a:lumMod val="50000"/>
                                            </a:schemeClr>
                                          </a:solidFill>
                                          <a:latin typeface="Cambria Math" panose="02040503050406030204" pitchFamily="18" charset="0"/>
                                        </a:rPr>
                                        <m:t>𝑟</m:t>
                                      </m:r>
                                    </m:sub>
                                  </m:sSub>
                                  <m:d>
                                    <m:dPr>
                                      <m:ctrlPr>
                                        <a:rPr lang="en-US" i="1" dirty="0">
                                          <a:solidFill>
                                            <a:schemeClr val="tx1">
                                              <a:lumMod val="50000"/>
                                            </a:schemeClr>
                                          </a:solidFill>
                                          <a:latin typeface="Cambria Math" charset="0"/>
                                        </a:rPr>
                                      </m:ctrlPr>
                                    </m:dPr>
                                    <m:e>
                                      <m:r>
                                        <a:rPr lang="en-US" i="1" dirty="0">
                                          <a:solidFill>
                                            <a:schemeClr val="tx1">
                                              <a:lumMod val="50000"/>
                                            </a:schemeClr>
                                          </a:solidFill>
                                          <a:latin typeface="Cambria Math" panose="02040503050406030204" pitchFamily="18" charset="0"/>
                                        </a:rPr>
                                        <m:t>𝑖𝑗</m:t>
                                      </m:r>
                                    </m:e>
                                  </m:d>
                                  <m:r>
                                    <a:rPr lang="en-US" i="1" dirty="0">
                                      <a:solidFill>
                                        <a:schemeClr val="tx1">
                                          <a:lumMod val="50000"/>
                                        </a:schemeClr>
                                      </a:solidFill>
                                      <a:latin typeface="Cambria Math" panose="02040503050406030204" pitchFamily="18" charset="0"/>
                                    </a:rPr>
                                    <m:t>+</m:t>
                                  </m:r>
                                  <m:sSub>
                                    <m:sSubPr>
                                      <m:ctrlPr>
                                        <a:rPr lang="en-US" i="1" dirty="0" smtClean="0">
                                          <a:solidFill>
                                            <a:srgbClr val="C17A90"/>
                                          </a:solidFill>
                                          <a:latin typeface="Cambria Math" charset="0"/>
                                        </a:rPr>
                                      </m:ctrlPr>
                                    </m:sSubPr>
                                    <m:e>
                                      <m:r>
                                        <a:rPr lang="en-US" i="1" dirty="0">
                                          <a:solidFill>
                                            <a:srgbClr val="C17A90"/>
                                          </a:solidFill>
                                          <a:latin typeface="Cambria Math" panose="02040503050406030204" pitchFamily="18" charset="0"/>
                                        </a:rPr>
                                        <m:t>h</m:t>
                                      </m:r>
                                    </m:e>
                                    <m:sub>
                                      <m:r>
                                        <a:rPr lang="en-US" i="1" dirty="0">
                                          <a:solidFill>
                                            <a:srgbClr val="C17A90"/>
                                          </a:solidFill>
                                          <a:latin typeface="Cambria Math" panose="02040503050406030204" pitchFamily="18" charset="0"/>
                                        </a:rPr>
                                        <m:t>𝑟</m:t>
                                      </m:r>
                                    </m:sub>
                                  </m:sSub>
                                  <m:r>
                                    <a:rPr lang="en-US" i="1" dirty="0">
                                      <a:solidFill>
                                        <a:srgbClr val="C17A90"/>
                                      </a:solidFill>
                                      <a:latin typeface="Cambria Math" panose="02040503050406030204" pitchFamily="18" charset="0"/>
                                    </a:rPr>
                                    <m:t>(</m:t>
                                  </m:r>
                                  <m:r>
                                    <a:rPr lang="en-US" i="1" dirty="0">
                                      <a:solidFill>
                                        <a:srgbClr val="C17A90"/>
                                      </a:solidFill>
                                      <a:latin typeface="Cambria Math" panose="02040503050406030204" pitchFamily="18" charset="0"/>
                                    </a:rPr>
                                    <m:t>𝑖𝑗</m:t>
                                  </m:r>
                                  <m:r>
                                    <a:rPr lang="en-US" i="1" dirty="0">
                                      <a:solidFill>
                                        <a:srgbClr val="C17A90"/>
                                      </a:solidFill>
                                      <a:latin typeface="Cambria Math" panose="02040503050406030204" pitchFamily="18" charset="0"/>
                                    </a:rPr>
                                    <m:t>))</m:t>
                                  </m:r>
                                  <m:sSub>
                                    <m:sSubPr>
                                      <m:ctrlPr>
                                        <a:rPr lang="en-US" i="1" dirty="0">
                                          <a:solidFill>
                                            <a:schemeClr val="tx1">
                                              <a:lumMod val="50000"/>
                                            </a:schemeClr>
                                          </a:solidFill>
                                          <a:latin typeface="Cambria Math" charset="0"/>
                                        </a:rPr>
                                      </m:ctrlPr>
                                    </m:sSubPr>
                                    <m:e>
                                      <m:r>
                                        <a:rPr lang="en-US" i="1" dirty="0">
                                          <a:solidFill>
                                            <a:schemeClr val="tx1">
                                              <a:lumMod val="50000"/>
                                            </a:schemeClr>
                                          </a:solidFill>
                                          <a:latin typeface="Cambria Math" panose="02040503050406030204" pitchFamily="18" charset="0"/>
                                        </a:rPr>
                                        <m:t>𝐼</m:t>
                                      </m:r>
                                    </m:e>
                                    <m:sub>
                                      <m:r>
                                        <a:rPr lang="en-US" i="1" dirty="0">
                                          <a:solidFill>
                                            <a:schemeClr val="tx1">
                                              <a:lumMod val="50000"/>
                                            </a:schemeClr>
                                          </a:solidFill>
                                          <a:latin typeface="Cambria Math" panose="02040503050406030204" pitchFamily="18" charset="0"/>
                                        </a:rPr>
                                        <m:t>𝑟</m:t>
                                      </m:r>
                                    </m:sub>
                                  </m:sSub>
                                  <m:r>
                                    <a:rPr lang="en-US" i="1" dirty="0">
                                      <a:solidFill>
                                        <a:schemeClr val="tx1">
                                          <a:lumMod val="50000"/>
                                        </a:schemeClr>
                                      </a:solidFill>
                                      <a:latin typeface="Cambria Math" panose="02040503050406030204" pitchFamily="18" charset="0"/>
                                    </a:rPr>
                                    <m:t>(</m:t>
                                  </m:r>
                                  <m:r>
                                    <a:rPr lang="en-US" i="1" dirty="0">
                                      <a:solidFill>
                                        <a:schemeClr val="tx1">
                                          <a:lumMod val="50000"/>
                                        </a:schemeClr>
                                      </a:solidFill>
                                      <a:latin typeface="Cambria Math" panose="02040503050406030204" pitchFamily="18" charset="0"/>
                                    </a:rPr>
                                    <m:t>𝑖𝑗</m:t>
                                  </m:r>
                                  <m:r>
                                    <a:rPr lang="en-US" i="1" dirty="0">
                                      <a:solidFill>
                                        <a:schemeClr val="tx1">
                                          <a:lumMod val="50000"/>
                                        </a:schemeClr>
                                      </a:solidFill>
                                      <a:latin typeface="Cambria Math" panose="02040503050406030204" pitchFamily="18" charset="0"/>
                                    </a:rPr>
                                    <m:t>)</m:t>
                                  </m:r>
                                </m:e>
                              </m:nary>
                            </m:e>
                          </m:nary>
                        </m:e>
                      </m:func>
                    </m:oMath>
                  </m:oMathPara>
                </a14:m>
                <a:endParaRPr lang="en-US" i="1" dirty="0">
                  <a:solidFill>
                    <a:schemeClr val="tx1">
                      <a:lumMod val="50000"/>
                    </a:schemeClr>
                  </a:solidFill>
                  <a:latin typeface="Cambria Math" charset="0"/>
                </a:endParaRPr>
              </a:p>
              <a:p>
                <a:pPr marL="457200" lvl="1" indent="0">
                  <a:buNone/>
                </a:pPr>
                <a:endParaRPr lang="en-US" i="1" dirty="0">
                  <a:solidFill>
                    <a:schemeClr val="tx1">
                      <a:lumMod val="50000"/>
                    </a:schemeClr>
                  </a:solidFill>
                  <a:latin typeface="Cambria Math" charset="0"/>
                </a:endParaRPr>
              </a:p>
              <a:p>
                <a:pPr marL="0" lvl="0" indent="0">
                  <a:buNone/>
                </a:pPr>
                <a:r>
                  <a:rPr lang="en-US" dirty="0">
                    <a:solidFill>
                      <a:srgbClr val="000000">
                        <a:lumMod val="85000"/>
                        <a:lumOff val="15000"/>
                      </a:srgbClr>
                    </a:solidFill>
                  </a:rPr>
                  <a:t>Straightforward yet effective.</a:t>
                </a:r>
              </a:p>
            </p:txBody>
          </p:sp>
        </mc:Choice>
        <mc:Fallback xmlns="">
          <p:sp>
            <p:nvSpPr>
              <p:cNvPr id="3" name="Content Placeholder 2">
                <a:extLst>
                  <a:ext uri="{FF2B5EF4-FFF2-40B4-BE49-F238E27FC236}">
                    <a16:creationId xmlns:a16="http://schemas.microsoft.com/office/drawing/2014/main" id="{F02C4E20-21E9-49F2-99C9-0CA78E0DF464}"/>
                  </a:ext>
                </a:extLst>
              </p:cNvPr>
              <p:cNvSpPr>
                <a:spLocks noGrp="1" noRot="1" noChangeAspect="1" noMove="1" noResize="1" noEditPoints="1" noAdjustHandles="1" noChangeArrowheads="1" noChangeShapeType="1" noTextEdit="1"/>
              </p:cNvSpPr>
              <p:nvPr>
                <p:ph idx="4294967295"/>
              </p:nvPr>
            </p:nvSpPr>
            <p:spPr>
              <a:xfrm>
                <a:off x="609600" y="1219200"/>
                <a:ext cx="8534400" cy="5181600"/>
              </a:xfrm>
              <a:blipFill>
                <a:blip r:embed="rId3"/>
                <a:stretch>
                  <a:fillRect l="-1637" t="-1471" b="-6618"/>
                </a:stretch>
              </a:blipFill>
            </p:spPr>
            <p:txBody>
              <a:bodyPr/>
              <a:lstStyle/>
              <a:p>
                <a:r>
                  <a:rPr lang="en-US">
                    <a:noFill/>
                  </a:rPr>
                  <a:t> </a:t>
                </a:r>
              </a:p>
            </p:txBody>
          </p:sp>
        </mc:Fallback>
      </mc:AlternateContent>
      <p:sp>
        <p:nvSpPr>
          <p:cNvPr id="7" name="Rounded Rectangle 6"/>
          <p:cNvSpPr/>
          <p:nvPr/>
        </p:nvSpPr>
        <p:spPr>
          <a:xfrm>
            <a:off x="5638800" y="4114800"/>
            <a:ext cx="849081" cy="533400"/>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xmlns="" id="{EB41F9BF-8DB1-8C43-AB67-7ACEF3CB8C20}"/>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164226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dissolve">
                                      <p:cBhvr>
                                        <p:cTn id="15" dur="500"/>
                                        <p:tgtEl>
                                          <p:spTgt spid="3">
                                            <p:txEl>
                                              <p:pRg st="4" end="4"/>
                                            </p:txEl>
                                          </p:spTgt>
                                        </p:tgtEl>
                                      </p:cBhvr>
                                    </p:animEffect>
                                  </p:childTnLst>
                                </p:cTn>
                              </p:par>
                            </p:childTnLst>
                          </p:cTn>
                        </p:par>
                        <p:par>
                          <p:cTn id="16" fill="hold">
                            <p:stCondLst>
                              <p:cond delay="500"/>
                            </p:stCondLst>
                            <p:childTnLst>
                              <p:par>
                                <p:cTn id="17" presetID="2" presetClass="entr" presetSubtype="4"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dissolv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improvement by </a:t>
            </a:r>
            <a:r>
              <a:rPr lang="en-US" dirty="0" err="1"/>
              <a:t>TemProb</a:t>
            </a:r>
            <a:endParaRPr lang="en-US" dirty="0"/>
          </a:p>
        </p:txBody>
      </p:sp>
      <p:graphicFrame>
        <p:nvGraphicFramePr>
          <p:cNvPr id="4" name="Chart 3"/>
          <p:cNvGraphicFramePr/>
          <p:nvPr>
            <p:extLst>
              <p:ext uri="{D42A27DB-BD31-4B8C-83A1-F6EECF244321}">
                <p14:modId xmlns:p14="http://schemas.microsoft.com/office/powerpoint/2010/main" val="4258291562"/>
              </p:ext>
            </p:extLst>
          </p:nvPr>
        </p:nvGraphicFramePr>
        <p:xfrm>
          <a:off x="914400" y="990600"/>
          <a:ext cx="7761849" cy="5174566"/>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5867400" y="1288562"/>
            <a:ext cx="1492717" cy="830997"/>
          </a:xfrm>
          <a:prstGeom prst="rect">
            <a:avLst/>
          </a:prstGeom>
          <a:noFill/>
        </p:spPr>
        <p:txBody>
          <a:bodyPr wrap="none" rtlCol="0">
            <a:spAutoFit/>
          </a:bodyPr>
          <a:lstStyle/>
          <a:p>
            <a:pPr algn="ctr"/>
            <a:r>
              <a:rPr lang="en-US" sz="2400" dirty="0" err="1">
                <a:solidFill>
                  <a:schemeClr val="bg2"/>
                </a:solidFill>
                <a:latin typeface="Century Gothic" panose="020B0502020202020204" pitchFamily="34" charset="0"/>
              </a:rPr>
              <a:t>TemProb</a:t>
            </a:r>
            <a:endParaRPr lang="en-US" sz="2400" dirty="0">
              <a:solidFill>
                <a:schemeClr val="bg2"/>
              </a:solidFill>
              <a:latin typeface="Century Gothic" panose="020B0502020202020204" pitchFamily="34" charset="0"/>
            </a:endParaRPr>
          </a:p>
          <a:p>
            <a:pPr algn="ctr"/>
            <a:r>
              <a:rPr lang="en-US" sz="2400" dirty="0">
                <a:solidFill>
                  <a:schemeClr val="bg2"/>
                </a:solidFill>
                <a:latin typeface="Century Gothic" panose="020B0502020202020204" pitchFamily="34" charset="0"/>
              </a:rPr>
              <a:t>+4%</a:t>
            </a:r>
          </a:p>
        </p:txBody>
      </p:sp>
      <p:sp>
        <p:nvSpPr>
          <p:cNvPr id="11" name="TextBox 10"/>
          <p:cNvSpPr txBox="1"/>
          <p:nvPr/>
        </p:nvSpPr>
        <p:spPr>
          <a:xfrm>
            <a:off x="3886200" y="2217088"/>
            <a:ext cx="2148345"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Structure learning</a:t>
            </a:r>
          </a:p>
          <a:p>
            <a:pPr algn="ctr"/>
            <a:r>
              <a:rPr lang="en-US" dirty="0">
                <a:solidFill>
                  <a:schemeClr val="bg2"/>
                </a:solidFill>
                <a:latin typeface="Century Gothic" panose="020B0502020202020204" pitchFamily="34" charset="0"/>
              </a:rPr>
              <a:t>+4%</a:t>
            </a:r>
          </a:p>
        </p:txBody>
      </p:sp>
      <p:sp>
        <p:nvSpPr>
          <p:cNvPr id="3" name="TextBox 2"/>
          <p:cNvSpPr txBox="1"/>
          <p:nvPr/>
        </p:nvSpPr>
        <p:spPr>
          <a:xfrm>
            <a:off x="1377243" y="6185948"/>
            <a:ext cx="6832320" cy="276999"/>
          </a:xfrm>
          <a:prstGeom prst="rect">
            <a:avLst/>
          </a:prstGeom>
          <a:noFill/>
        </p:spPr>
        <p:txBody>
          <a:bodyPr wrap="none" rtlCol="0">
            <a:spAutoFit/>
          </a:bodyPr>
          <a:lstStyle/>
          <a:p>
            <a:r>
              <a:rPr lang="en-US" sz="1200" i="1" dirty="0">
                <a:solidFill>
                  <a:schemeClr val="bg2"/>
                </a:solidFill>
                <a:latin typeface="Century Gothic" panose="020B0502020202020204" pitchFamily="34" charset="0"/>
              </a:rPr>
              <a:t>[CAEVO] Chambers et al. TACL2014. Dense event ordering with a multi-pass architecture.</a:t>
            </a:r>
          </a:p>
        </p:txBody>
      </p:sp>
      <p:sp>
        <p:nvSpPr>
          <p:cNvPr id="9" name="TextBox 8">
            <a:extLst>
              <a:ext uri="{FF2B5EF4-FFF2-40B4-BE49-F238E27FC236}">
                <a16:creationId xmlns:a16="http://schemas.microsoft.com/office/drawing/2014/main" xmlns="" id="{B2FFE208-46CD-2C47-A94D-28B82AECD583}"/>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
        <p:nvSpPr>
          <p:cNvPr id="10" name="TextBox 9">
            <a:extLst>
              <a:ext uri="{FF2B5EF4-FFF2-40B4-BE49-F238E27FC236}">
                <a16:creationId xmlns:a16="http://schemas.microsoft.com/office/drawing/2014/main" xmlns="" id="{C3D4EF6B-8C15-8D46-B0D2-EC6DB09E80DC}"/>
              </a:ext>
            </a:extLst>
          </p:cNvPr>
          <p:cNvSpPr txBox="1"/>
          <p:nvPr/>
        </p:nvSpPr>
        <p:spPr>
          <a:xfrm>
            <a:off x="2057400" y="2717393"/>
            <a:ext cx="2335377" cy="923330"/>
          </a:xfrm>
          <a:prstGeom prst="rect">
            <a:avLst/>
          </a:prstGeom>
          <a:noFill/>
        </p:spPr>
        <p:txBody>
          <a:bodyPr wrap="square" rtlCol="0">
            <a:spAutoFit/>
          </a:bodyPr>
          <a:lstStyle/>
          <a:p>
            <a:pPr algn="ctr"/>
            <a:r>
              <a:rPr lang="en-US" dirty="0">
                <a:solidFill>
                  <a:schemeClr val="bg2"/>
                </a:solidFill>
                <a:latin typeface="Century Gothic" panose="020B0502020202020204" pitchFamily="34" charset="0"/>
              </a:rPr>
              <a:t>Local learning</a:t>
            </a:r>
          </a:p>
          <a:p>
            <a:pPr algn="ctr"/>
            <a:r>
              <a:rPr lang="en-US" dirty="0">
                <a:solidFill>
                  <a:schemeClr val="bg2"/>
                </a:solidFill>
                <a:latin typeface="Century Gothic" panose="020B0502020202020204" pitchFamily="34" charset="0"/>
              </a:rPr>
              <a:t>&amp;</a:t>
            </a:r>
          </a:p>
          <a:p>
            <a:pPr algn="ctr"/>
            <a:r>
              <a:rPr lang="en-US" dirty="0">
                <a:solidFill>
                  <a:schemeClr val="bg2"/>
                </a:solidFill>
                <a:latin typeface="Century Gothic" panose="020B0502020202020204" pitchFamily="34" charset="0"/>
              </a:rPr>
              <a:t>Global inference</a:t>
            </a:r>
          </a:p>
        </p:txBody>
      </p:sp>
    </p:spTree>
    <p:extLst>
      <p:ext uri="{BB962C8B-B14F-4D97-AF65-F5344CB8AC3E}">
        <p14:creationId xmlns:p14="http://schemas.microsoft.com/office/powerpoint/2010/main" val="1067953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xmlns="" id="{E722C95D-5972-134C-B56C-148F3C45A894}"/>
              </a:ext>
            </a:extLst>
          </p:cNvPr>
          <p:cNvSpPr txBox="1"/>
          <p:nvPr/>
        </p:nvSpPr>
        <p:spPr>
          <a:xfrm>
            <a:off x="228600" y="2493117"/>
            <a:ext cx="8534400" cy="1040285"/>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 Structured learning</a:t>
            </a:r>
          </a:p>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II: Common sense</a:t>
            </a:r>
          </a:p>
        </p:txBody>
      </p:sp>
      <p:sp>
        <p:nvSpPr>
          <p:cNvPr id="16" name="TextBox 15">
            <a:extLst>
              <a:ext uri="{FF2B5EF4-FFF2-40B4-BE49-F238E27FC236}">
                <a16:creationId xmlns:a16="http://schemas.microsoft.com/office/drawing/2014/main" xmlns="" id="{1CD47D7E-E500-CD47-A35C-95027F29B79A}"/>
              </a:ext>
            </a:extLst>
          </p:cNvPr>
          <p:cNvSpPr txBox="1"/>
          <p:nvPr/>
        </p:nvSpPr>
        <p:spPr>
          <a:xfrm>
            <a:off x="-228600" y="4343400"/>
            <a:ext cx="9186864" cy="1255728"/>
          </a:xfrm>
          <a:prstGeom prst="rect">
            <a:avLst/>
          </a:prstGeom>
          <a:noFill/>
        </p:spPr>
        <p:txBody>
          <a:bodyPr wrap="square" rtlCol="0">
            <a:spAutoFit/>
          </a:bodyPr>
          <a:lstStyle/>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[EMNLP’17]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Z. Feng, and D. Roth. A Structured Learning Approach to Temporal Relation Extraction</a:t>
            </a:r>
          </a:p>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[NAACL’18]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H. Wu, H. Peng, and D. Roth. Improving Temporal Relation Extraction with a Globally Acquired Statistical Resource</a:t>
            </a:r>
          </a:p>
        </p:txBody>
      </p:sp>
      <p:cxnSp>
        <p:nvCxnSpPr>
          <p:cNvPr id="4" name="Straight Connector 3">
            <a:extLst>
              <a:ext uri="{FF2B5EF4-FFF2-40B4-BE49-F238E27FC236}">
                <a16:creationId xmlns:a16="http://schemas.microsoft.com/office/drawing/2014/main" xmlns=""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32" name="Freeform 31">
            <a:extLst>
              <a:ext uri="{FF2B5EF4-FFF2-40B4-BE49-F238E27FC236}">
                <a16:creationId xmlns:a16="http://schemas.microsoft.com/office/drawing/2014/main" xmlns="" id="{D3EF9F4B-0FD8-BE45-8D5C-1064FEDBBE05}"/>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3" name="Freeform 32">
            <a:extLst>
              <a:ext uri="{FF2B5EF4-FFF2-40B4-BE49-F238E27FC236}">
                <a16:creationId xmlns:a16="http://schemas.microsoft.com/office/drawing/2014/main" xmlns="" id="{20543483-FFA3-354F-A168-32F26C4B335D}"/>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4" name="Freeform 33">
            <a:extLst>
              <a:ext uri="{FF2B5EF4-FFF2-40B4-BE49-F238E27FC236}">
                <a16:creationId xmlns:a16="http://schemas.microsoft.com/office/drawing/2014/main" xmlns="" id="{B905B0C0-8385-FB48-84E0-8A1EB42145FC}"/>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5" name="Freeform 34">
            <a:extLst>
              <a:ext uri="{FF2B5EF4-FFF2-40B4-BE49-F238E27FC236}">
                <a16:creationId xmlns:a16="http://schemas.microsoft.com/office/drawing/2014/main" xmlns="" id="{0B107DC4-0CAD-5E4A-8253-8011615CCA2E}"/>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6" name="Freeform 35">
            <a:extLst>
              <a:ext uri="{FF2B5EF4-FFF2-40B4-BE49-F238E27FC236}">
                <a16:creationId xmlns:a16="http://schemas.microsoft.com/office/drawing/2014/main" xmlns="" id="{2803CF2D-ABB1-6D47-A209-3FA3C2C8560B}"/>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7" name="Freeform 36">
            <a:extLst>
              <a:ext uri="{FF2B5EF4-FFF2-40B4-BE49-F238E27FC236}">
                <a16:creationId xmlns:a16="http://schemas.microsoft.com/office/drawing/2014/main" xmlns="" id="{32FEC271-8D98-1643-866E-527F2AE271D5}"/>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8" name="Freeform 37">
            <a:extLst>
              <a:ext uri="{FF2B5EF4-FFF2-40B4-BE49-F238E27FC236}">
                <a16:creationId xmlns:a16="http://schemas.microsoft.com/office/drawing/2014/main" xmlns="" id="{C122E7F4-2C82-E044-83F5-613636E29680}"/>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pic>
        <p:nvPicPr>
          <p:cNvPr id="39" name="Picture 38" descr="A close up of a logo&#10;&#10;Description automatically generated">
            <a:extLst>
              <a:ext uri="{FF2B5EF4-FFF2-40B4-BE49-F238E27FC236}">
                <a16:creationId xmlns:a16="http://schemas.microsoft.com/office/drawing/2014/main" xmlns="" id="{78EAD8AC-F660-6D4F-8CAD-E1914E78953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475458" y="3608299"/>
            <a:ext cx="468738" cy="333325"/>
          </a:xfrm>
          <a:prstGeom prst="rect">
            <a:avLst/>
          </a:prstGeom>
        </p:spPr>
      </p:pic>
      <p:pic>
        <p:nvPicPr>
          <p:cNvPr id="40" name="Picture 39" descr="A close up of a logo&#10;&#10;Description automatically generated">
            <a:extLst>
              <a:ext uri="{FF2B5EF4-FFF2-40B4-BE49-F238E27FC236}">
                <a16:creationId xmlns:a16="http://schemas.microsoft.com/office/drawing/2014/main" xmlns="" id="{84393B74-A1C2-384A-BA9C-EDF64095B913}"/>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pic>
        <p:nvPicPr>
          <p:cNvPr id="41" name="Picture 40" descr="A close up of a logo&#10;&#10;Description automatically generated">
            <a:extLst>
              <a:ext uri="{FF2B5EF4-FFF2-40B4-BE49-F238E27FC236}">
                <a16:creationId xmlns:a16="http://schemas.microsoft.com/office/drawing/2014/main" xmlns="" id="{E0A508D1-0AC6-AD49-896F-58EFA6EA448C}"/>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a:stretch/>
        </p:blipFill>
        <p:spPr>
          <a:xfrm>
            <a:off x="7023646" y="2280954"/>
            <a:ext cx="345100" cy="264119"/>
          </a:xfrm>
          <a:prstGeom prst="rect">
            <a:avLst/>
          </a:prstGeom>
        </p:spPr>
      </p:pic>
    </p:spTree>
    <p:extLst>
      <p:ext uri="{BB962C8B-B14F-4D97-AF65-F5344CB8AC3E}">
        <p14:creationId xmlns:p14="http://schemas.microsoft.com/office/powerpoint/2010/main" val="273866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down)">
                                      <p:cBhvr>
                                        <p:cTn id="7" dur="580">
                                          <p:stCondLst>
                                            <p:cond delay="0"/>
                                          </p:stCondLst>
                                        </p:cTn>
                                        <p:tgtEl>
                                          <p:spTgt spid="39"/>
                                        </p:tgtEl>
                                      </p:cBhvr>
                                    </p:animEffect>
                                    <p:anim calcmode="lin" valueType="num">
                                      <p:cBhvr>
                                        <p:cTn id="8" dur="1822" tmFilter="0,0; 0.14,0.36; 0.43,0.73; 0.71,0.91; 1.0,1.0">
                                          <p:stCondLst>
                                            <p:cond delay="0"/>
                                          </p:stCondLst>
                                        </p:cTn>
                                        <p:tgtEl>
                                          <p:spTgt spid="3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9"/>
                                        </p:tgtEl>
                                        <p:attrNameLst>
                                          <p:attrName>ppt_y</p:attrName>
                                        </p:attrNameLst>
                                      </p:cBhvr>
                                      <p:tavLst>
                                        <p:tav tm="0" fmla="#ppt_y-sin(pi*$)/81">
                                          <p:val>
                                            <p:fltVal val="0"/>
                                          </p:val>
                                        </p:tav>
                                        <p:tav tm="100000">
                                          <p:val>
                                            <p:fltVal val="1"/>
                                          </p:val>
                                        </p:tav>
                                      </p:tavLst>
                                    </p:anim>
                                    <p:animScale>
                                      <p:cBhvr>
                                        <p:cTn id="13" dur="26">
                                          <p:stCondLst>
                                            <p:cond delay="650"/>
                                          </p:stCondLst>
                                        </p:cTn>
                                        <p:tgtEl>
                                          <p:spTgt spid="39"/>
                                        </p:tgtEl>
                                      </p:cBhvr>
                                      <p:to x="100000" y="60000"/>
                                    </p:animScale>
                                    <p:animScale>
                                      <p:cBhvr>
                                        <p:cTn id="14" dur="166" decel="50000">
                                          <p:stCondLst>
                                            <p:cond delay="676"/>
                                          </p:stCondLst>
                                        </p:cTn>
                                        <p:tgtEl>
                                          <p:spTgt spid="39"/>
                                        </p:tgtEl>
                                      </p:cBhvr>
                                      <p:to x="100000" y="100000"/>
                                    </p:animScale>
                                    <p:animScale>
                                      <p:cBhvr>
                                        <p:cTn id="15" dur="26">
                                          <p:stCondLst>
                                            <p:cond delay="1312"/>
                                          </p:stCondLst>
                                        </p:cTn>
                                        <p:tgtEl>
                                          <p:spTgt spid="39"/>
                                        </p:tgtEl>
                                      </p:cBhvr>
                                      <p:to x="100000" y="80000"/>
                                    </p:animScale>
                                    <p:animScale>
                                      <p:cBhvr>
                                        <p:cTn id="16" dur="166" decel="50000">
                                          <p:stCondLst>
                                            <p:cond delay="1338"/>
                                          </p:stCondLst>
                                        </p:cTn>
                                        <p:tgtEl>
                                          <p:spTgt spid="39"/>
                                        </p:tgtEl>
                                      </p:cBhvr>
                                      <p:to x="100000" y="100000"/>
                                    </p:animScale>
                                    <p:animScale>
                                      <p:cBhvr>
                                        <p:cTn id="17" dur="26">
                                          <p:stCondLst>
                                            <p:cond delay="1642"/>
                                          </p:stCondLst>
                                        </p:cTn>
                                        <p:tgtEl>
                                          <p:spTgt spid="39"/>
                                        </p:tgtEl>
                                      </p:cBhvr>
                                      <p:to x="100000" y="90000"/>
                                    </p:animScale>
                                    <p:animScale>
                                      <p:cBhvr>
                                        <p:cTn id="18" dur="166" decel="50000">
                                          <p:stCondLst>
                                            <p:cond delay="1668"/>
                                          </p:stCondLst>
                                        </p:cTn>
                                        <p:tgtEl>
                                          <p:spTgt spid="39"/>
                                        </p:tgtEl>
                                      </p:cBhvr>
                                      <p:to x="100000" y="100000"/>
                                    </p:animScale>
                                    <p:animScale>
                                      <p:cBhvr>
                                        <p:cTn id="19" dur="26">
                                          <p:stCondLst>
                                            <p:cond delay="1808"/>
                                          </p:stCondLst>
                                        </p:cTn>
                                        <p:tgtEl>
                                          <p:spTgt spid="39"/>
                                        </p:tgtEl>
                                      </p:cBhvr>
                                      <p:to x="100000" y="95000"/>
                                    </p:animScale>
                                    <p:animScale>
                                      <p:cBhvr>
                                        <p:cTn id="20" dur="166" decel="50000">
                                          <p:stCondLst>
                                            <p:cond delay="1834"/>
                                          </p:stCondLst>
                                        </p:cTn>
                                        <p:tgtEl>
                                          <p:spTgt spid="3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xmlns="" id="{E722C95D-5972-134C-B56C-148F3C45A894}"/>
              </a:ext>
            </a:extLst>
          </p:cNvPr>
          <p:cNvSpPr txBox="1"/>
          <p:nvPr/>
        </p:nvSpPr>
        <p:spPr>
          <a:xfrm>
            <a:off x="228600" y="2493117"/>
            <a:ext cx="8534400" cy="1557349"/>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alpha val="50000"/>
                  </a:schemeClr>
                </a:solidFill>
                <a:latin typeface="Century Gothic" charset="0"/>
                <a:ea typeface="Century Gothic" charset="0"/>
                <a:cs typeface="Century Gothic" charset="0"/>
              </a:rPr>
              <a:t>Part I: Structured learning</a:t>
            </a:r>
          </a:p>
          <a:p>
            <a:pPr lvl="1">
              <a:spcBef>
                <a:spcPct val="20000"/>
              </a:spcBef>
              <a:buClr>
                <a:srgbClr val="400080"/>
              </a:buClr>
              <a:buSzPct val="65000"/>
            </a:pPr>
            <a:r>
              <a:rPr lang="en-US" sz="2800" i="1" dirty="0">
                <a:solidFill>
                  <a:schemeClr val="bg2">
                    <a:alpha val="50000"/>
                  </a:schemeClr>
                </a:solidFill>
                <a:latin typeface="Century Gothic" charset="0"/>
                <a:ea typeface="Century Gothic" charset="0"/>
                <a:cs typeface="Century Gothic" charset="0"/>
              </a:rPr>
              <a:t>Part II: Common sense</a:t>
            </a:r>
          </a:p>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III: Data annotation</a:t>
            </a:r>
          </a:p>
        </p:txBody>
      </p:sp>
      <p:sp>
        <p:nvSpPr>
          <p:cNvPr id="16" name="TextBox 15">
            <a:extLst>
              <a:ext uri="{FF2B5EF4-FFF2-40B4-BE49-F238E27FC236}">
                <a16:creationId xmlns:a16="http://schemas.microsoft.com/office/drawing/2014/main" xmlns="" id="{1CD47D7E-E500-CD47-A35C-95027F29B79A}"/>
              </a:ext>
            </a:extLst>
          </p:cNvPr>
          <p:cNvSpPr txBox="1"/>
          <p:nvPr/>
        </p:nvSpPr>
        <p:spPr>
          <a:xfrm>
            <a:off x="-228600" y="4343400"/>
            <a:ext cx="9186864" cy="1865126"/>
          </a:xfrm>
          <a:prstGeom prst="rect">
            <a:avLst/>
          </a:prstGeom>
          <a:noFill/>
        </p:spPr>
        <p:txBody>
          <a:bodyPr wrap="square" rtlCol="0">
            <a:spAutoFit/>
          </a:bodyPr>
          <a:lstStyle/>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[EMNLP’17]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Z. Feng, and D. Roth. A Structured Learning Approach to Temporal Relation Extraction</a:t>
            </a:r>
          </a:p>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[NAACL’18]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H. Wu, H. Peng, and D. Roth. Improving Temporal Relation Extraction with a Globally Acquired Statistical Resource</a:t>
            </a:r>
          </a:p>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[ACL’18]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H. Wu, and D. Roth. A Multi-Axis Annotation Scheme for Event Temporal Relations.</a:t>
            </a:r>
          </a:p>
        </p:txBody>
      </p:sp>
      <p:cxnSp>
        <p:nvCxnSpPr>
          <p:cNvPr id="4" name="Straight Connector 3">
            <a:extLst>
              <a:ext uri="{FF2B5EF4-FFF2-40B4-BE49-F238E27FC236}">
                <a16:creationId xmlns:a16="http://schemas.microsoft.com/office/drawing/2014/main" xmlns=""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32" name="Freeform 31">
            <a:extLst>
              <a:ext uri="{FF2B5EF4-FFF2-40B4-BE49-F238E27FC236}">
                <a16:creationId xmlns:a16="http://schemas.microsoft.com/office/drawing/2014/main" xmlns="" id="{7D2431B0-C777-4D49-9983-DE4819603D2A}"/>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3" name="Freeform 32">
            <a:extLst>
              <a:ext uri="{FF2B5EF4-FFF2-40B4-BE49-F238E27FC236}">
                <a16:creationId xmlns:a16="http://schemas.microsoft.com/office/drawing/2014/main" xmlns="" id="{1F78A952-05AC-B349-BFE5-7F50A6869E9D}"/>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4" name="Freeform 33">
            <a:extLst>
              <a:ext uri="{FF2B5EF4-FFF2-40B4-BE49-F238E27FC236}">
                <a16:creationId xmlns:a16="http://schemas.microsoft.com/office/drawing/2014/main" xmlns="" id="{8010E7A2-F5C1-FC41-ADAC-0080563972DB}"/>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5" name="Freeform 34">
            <a:extLst>
              <a:ext uri="{FF2B5EF4-FFF2-40B4-BE49-F238E27FC236}">
                <a16:creationId xmlns:a16="http://schemas.microsoft.com/office/drawing/2014/main" xmlns="" id="{E9A8AA00-853D-1248-8FD6-F8CA09817C53}"/>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6" name="Freeform 35">
            <a:extLst>
              <a:ext uri="{FF2B5EF4-FFF2-40B4-BE49-F238E27FC236}">
                <a16:creationId xmlns:a16="http://schemas.microsoft.com/office/drawing/2014/main" xmlns="" id="{8D63F9A4-21DB-A340-9C79-D3CD61423B60}"/>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7" name="Freeform 36">
            <a:extLst>
              <a:ext uri="{FF2B5EF4-FFF2-40B4-BE49-F238E27FC236}">
                <a16:creationId xmlns:a16="http://schemas.microsoft.com/office/drawing/2014/main" xmlns="" id="{35E75A3C-D457-E644-86E6-28ACC18FC8D7}"/>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8" name="Freeform 37">
            <a:extLst>
              <a:ext uri="{FF2B5EF4-FFF2-40B4-BE49-F238E27FC236}">
                <a16:creationId xmlns:a16="http://schemas.microsoft.com/office/drawing/2014/main" xmlns="" id="{50DEB409-B758-2B4B-AC56-902EA1726CE1}"/>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pic>
        <p:nvPicPr>
          <p:cNvPr id="39" name="Picture 38" descr="A close up of a logo&#10;&#10;Description automatically generated">
            <a:extLst>
              <a:ext uri="{FF2B5EF4-FFF2-40B4-BE49-F238E27FC236}">
                <a16:creationId xmlns:a16="http://schemas.microsoft.com/office/drawing/2014/main" xmlns="" id="{DA2F62AF-563C-D94C-98C3-1C873C7DF50A}"/>
              </a:ext>
            </a:extLst>
          </p:cNvPr>
          <p:cNvPicPr>
            <a:picLocks noChangeAspect="1"/>
          </p:cNvPicPr>
          <p:nvPr/>
        </p:nvPicPr>
        <p:blipFill rotWithShape="1">
          <a:blip r:embed="rId2" cstate="email">
            <a:alphaModFix amt="50000"/>
            <a:extLst>
              <a:ext uri="{28A0092B-C50C-407E-A947-70E740481C1C}">
                <a14:useLocalDpi xmlns:a14="http://schemas.microsoft.com/office/drawing/2010/main"/>
              </a:ext>
            </a:extLst>
          </a:blip>
          <a:srcRect/>
          <a:stretch/>
        </p:blipFill>
        <p:spPr>
          <a:xfrm>
            <a:off x="6475458" y="3608299"/>
            <a:ext cx="468738" cy="333325"/>
          </a:xfrm>
          <a:prstGeom prst="rect">
            <a:avLst/>
          </a:prstGeom>
        </p:spPr>
      </p:pic>
      <p:pic>
        <p:nvPicPr>
          <p:cNvPr id="40" name="Picture 39" descr="A close up of a logo&#10;&#10;Description automatically generated">
            <a:extLst>
              <a:ext uri="{FF2B5EF4-FFF2-40B4-BE49-F238E27FC236}">
                <a16:creationId xmlns:a16="http://schemas.microsoft.com/office/drawing/2014/main" xmlns="" id="{DEB47B5F-6CA0-A443-BAAA-0CE4D55DD0DB}"/>
              </a:ext>
            </a:extLst>
          </p:cNvPr>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pic>
        <p:nvPicPr>
          <p:cNvPr id="41" name="Picture 40" descr="A close up of a logo&#10;&#10;Description automatically generated">
            <a:extLst>
              <a:ext uri="{FF2B5EF4-FFF2-40B4-BE49-F238E27FC236}">
                <a16:creationId xmlns:a16="http://schemas.microsoft.com/office/drawing/2014/main" xmlns="" id="{E07324D3-0FA7-5045-AC26-64B8031B3E41}"/>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a:stretch/>
        </p:blipFill>
        <p:spPr>
          <a:xfrm>
            <a:off x="7023646" y="2280954"/>
            <a:ext cx="345100" cy="264119"/>
          </a:xfrm>
          <a:prstGeom prst="rect">
            <a:avLst/>
          </a:prstGeom>
        </p:spPr>
      </p:pic>
    </p:spTree>
    <p:extLst>
      <p:ext uri="{BB962C8B-B14F-4D97-AF65-F5344CB8AC3E}">
        <p14:creationId xmlns:p14="http://schemas.microsoft.com/office/powerpoint/2010/main" val="36727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“Bottleneck”</a:t>
            </a:r>
          </a:p>
        </p:txBody>
      </p:sp>
      <p:sp>
        <p:nvSpPr>
          <p:cNvPr id="3" name="Content Placeholder 2"/>
          <p:cNvSpPr>
            <a:spLocks noGrp="1"/>
          </p:cNvSpPr>
          <p:nvPr>
            <p:ph idx="1"/>
          </p:nvPr>
        </p:nvSpPr>
        <p:spPr/>
        <p:txBody>
          <a:bodyPr/>
          <a:lstStyle/>
          <a:p>
            <a:pPr marL="0" indent="0">
              <a:spcBef>
                <a:spcPts val="0"/>
              </a:spcBef>
              <a:spcAft>
                <a:spcPts val="600"/>
              </a:spcAft>
              <a:buNone/>
            </a:pPr>
            <a:r>
              <a:rPr lang="en-US" sz="2400" dirty="0"/>
              <a:t>The performance of temporal relation systems has come to a </a:t>
            </a:r>
            <a:r>
              <a:rPr lang="en-US" sz="2400" dirty="0">
                <a:solidFill>
                  <a:srgbClr val="C17A90"/>
                </a:solidFill>
              </a:rPr>
              <a:t>bottleneck</a:t>
            </a:r>
            <a:r>
              <a:rPr lang="en-US" sz="2400" dirty="0"/>
              <a:t>. Even if we address this problem from </a:t>
            </a:r>
            <a:r>
              <a:rPr lang="en-US" sz="2400" dirty="0">
                <a:solidFill>
                  <a:srgbClr val="92D050"/>
                </a:solidFill>
              </a:rPr>
              <a:t>structured learning </a:t>
            </a:r>
            <a:r>
              <a:rPr lang="en-US" sz="2400" dirty="0"/>
              <a:t>and </a:t>
            </a:r>
            <a:r>
              <a:rPr lang="en-US" sz="2400" dirty="0">
                <a:solidFill>
                  <a:srgbClr val="6881B4"/>
                </a:solidFill>
              </a:rPr>
              <a:t>common sense</a:t>
            </a:r>
            <a:r>
              <a:rPr lang="en-US" sz="2400" dirty="0"/>
              <a:t>, it’s still very low.</a:t>
            </a:r>
          </a:p>
          <a:p>
            <a:pPr marL="0" indent="0">
              <a:buNone/>
            </a:pPr>
            <a:r>
              <a:rPr lang="en-US" sz="2400" dirty="0"/>
              <a:t>Bottleneck: size and quality of datasets</a:t>
            </a:r>
          </a:p>
          <a:p>
            <a:pPr lvl="1"/>
            <a:r>
              <a:rPr lang="en-US" sz="2000" dirty="0"/>
              <a:t>Not scalable: requirement for expertise on this task (honestly, only the authors of those papers know how)</a:t>
            </a:r>
          </a:p>
          <a:p>
            <a:pPr lvl="1"/>
            <a:r>
              <a:rPr lang="en-US" sz="2000" dirty="0"/>
              <a:t>Low inter-annotator agreement (IAA): low chance of agreement when people work on it without discussion</a:t>
            </a:r>
          </a:p>
          <a:p>
            <a:pPr lvl="2"/>
            <a:r>
              <a:rPr lang="en-US" sz="1600" dirty="0"/>
              <a:t>TB-Dense: Cohen’s Kappa 56%~64%</a:t>
            </a:r>
          </a:p>
          <a:p>
            <a:pPr lvl="2"/>
            <a:r>
              <a:rPr lang="en-US" sz="1600" dirty="0"/>
              <a:t>RED: F1&lt;60%</a:t>
            </a:r>
          </a:p>
          <a:p>
            <a:pPr lvl="2">
              <a:spcBef>
                <a:spcPts val="0"/>
              </a:spcBef>
              <a:spcAft>
                <a:spcPts val="600"/>
              </a:spcAft>
            </a:pPr>
            <a:r>
              <a:rPr lang="en-US" sz="1600" dirty="0" err="1"/>
              <a:t>EventTimeCorpus</a:t>
            </a:r>
            <a:r>
              <a:rPr lang="en-US" sz="1600" dirty="0"/>
              <a:t>: </a:t>
            </a:r>
            <a:r>
              <a:rPr lang="en-US" sz="1600" dirty="0" err="1"/>
              <a:t>Krippendorff’s</a:t>
            </a:r>
            <a:r>
              <a:rPr lang="en-US" sz="1600" dirty="0"/>
              <a:t> Alpha~60%</a:t>
            </a:r>
          </a:p>
          <a:p>
            <a:pPr marL="0" indent="0">
              <a:buNone/>
            </a:pPr>
            <a:r>
              <a:rPr lang="en-US" sz="2400" dirty="0"/>
              <a:t>The annotation task was difficult even for the researchers who designed the annotation guidelines.</a:t>
            </a:r>
          </a:p>
        </p:txBody>
      </p:sp>
      <p:sp>
        <p:nvSpPr>
          <p:cNvPr id="4" name="TextBox 3">
            <a:extLst>
              <a:ext uri="{FF2B5EF4-FFF2-40B4-BE49-F238E27FC236}">
                <a16:creationId xmlns:a16="http://schemas.microsoft.com/office/drawing/2014/main" xmlns="" id="{0B27CBA3-79BE-A847-8226-18495346F699}"/>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sp>
        <p:nvSpPr>
          <p:cNvPr id="5" name="Up Ribbon 4">
            <a:extLst>
              <a:ext uri="{FF2B5EF4-FFF2-40B4-BE49-F238E27FC236}">
                <a16:creationId xmlns:a16="http://schemas.microsoft.com/office/drawing/2014/main" xmlns="" id="{2CAEFB98-52D5-1249-958C-E21FF1910CE0}"/>
              </a:ext>
            </a:extLst>
          </p:cNvPr>
          <p:cNvSpPr/>
          <p:nvPr/>
        </p:nvSpPr>
        <p:spPr>
          <a:xfrm rot="19800000">
            <a:off x="3931823" y="3898228"/>
            <a:ext cx="3300289" cy="762000"/>
          </a:xfrm>
          <a:prstGeom prst="ribbon2">
            <a:avLst/>
          </a:prstGeom>
          <a:solidFill>
            <a:srgbClr val="C2799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entury Gothic" panose="020B0502020202020204" pitchFamily="34" charset="0"/>
              </a:rPr>
              <a:t>No more than 60%</a:t>
            </a:r>
          </a:p>
        </p:txBody>
      </p:sp>
    </p:spTree>
    <p:extLst>
      <p:ext uri="{BB962C8B-B14F-4D97-AF65-F5344CB8AC3E}">
        <p14:creationId xmlns:p14="http://schemas.microsoft.com/office/powerpoint/2010/main" val="3402038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2"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Scale>
                                      <p:cBhvr>
                                        <p:cTn id="36"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7" dur="1000" decel="50000" fill="hold">
                                          <p:stCondLst>
                                            <p:cond delay="0"/>
                                          </p:stCondLst>
                                        </p:cTn>
                                        <p:tgtEl>
                                          <p:spTgt spid="5"/>
                                        </p:tgtEl>
                                        <p:attrNameLst>
                                          <p:attrName>ppt_x</p:attrName>
                                          <p:attrName>ppt_y</p:attrName>
                                        </p:attrNameLst>
                                      </p:cBhvr>
                                    </p:animMotion>
                                    <p:animEffect transition="in" filter="fade">
                                      <p:cBhvr>
                                        <p:cTn id="38" dur="10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400" i="1" dirty="0"/>
              <a:t>Police </a:t>
            </a:r>
            <a:r>
              <a:rPr lang="en-US" sz="2400" b="1" i="1" dirty="0"/>
              <a:t>tried</a:t>
            </a:r>
            <a:r>
              <a:rPr lang="en-US" sz="2400" i="1" dirty="0"/>
              <a:t> to </a:t>
            </a:r>
            <a:r>
              <a:rPr lang="en-US" sz="2400" b="1" i="1" dirty="0"/>
              <a:t>eliminate</a:t>
            </a:r>
            <a:r>
              <a:rPr lang="en-US" sz="2400" i="1" dirty="0"/>
              <a:t> the pro-independence army and </a:t>
            </a:r>
            <a:r>
              <a:rPr lang="en-US" sz="2400" b="1" i="1" dirty="0"/>
              <a:t>restore</a:t>
            </a:r>
            <a:r>
              <a:rPr lang="en-US" sz="2400" i="1" dirty="0"/>
              <a:t> order. At least 51 people were </a:t>
            </a:r>
            <a:r>
              <a:rPr lang="en-US" sz="2400" b="1" i="1" dirty="0"/>
              <a:t>killed</a:t>
            </a:r>
            <a:r>
              <a:rPr lang="en-US" sz="2400" i="1" dirty="0"/>
              <a:t> in clashes between police and citizens in the troubled region.</a:t>
            </a:r>
          </a:p>
          <a:p>
            <a:r>
              <a:rPr lang="en-US" altLang="zh-CN" sz="2400" dirty="0"/>
              <a:t>Annotation task: to</a:t>
            </a:r>
            <a:r>
              <a:rPr lang="zh-CN" altLang="en-US" sz="2400" dirty="0"/>
              <a:t> </a:t>
            </a:r>
            <a:r>
              <a:rPr lang="en-US" altLang="zh-CN" sz="2400" dirty="0"/>
              <a:t>label the</a:t>
            </a:r>
            <a:r>
              <a:rPr lang="zh-CN" altLang="en-US" sz="2400" dirty="0"/>
              <a:t> </a:t>
            </a:r>
            <a:r>
              <a:rPr lang="en-US" altLang="zh-CN" sz="2400" dirty="0" err="1"/>
              <a:t>TempRels</a:t>
            </a:r>
            <a:r>
              <a:rPr lang="zh-CN" altLang="en-US" sz="2400" dirty="0"/>
              <a:t> </a:t>
            </a:r>
            <a:r>
              <a:rPr lang="en-US" altLang="zh-CN" sz="2400" dirty="0"/>
              <a:t>between</a:t>
            </a:r>
            <a:r>
              <a:rPr lang="zh-CN" altLang="en-US" sz="2400" dirty="0"/>
              <a:t> </a:t>
            </a:r>
            <a:r>
              <a:rPr lang="en-US" altLang="zh-CN" sz="2400" dirty="0"/>
              <a:t>the </a:t>
            </a:r>
            <a:r>
              <a:rPr lang="en-US" altLang="zh-CN" sz="2400" b="1" dirty="0"/>
              <a:t>bold</a:t>
            </a:r>
            <a:r>
              <a:rPr lang="zh-CN" altLang="en-US" sz="2400" dirty="0"/>
              <a:t> </a:t>
            </a:r>
            <a:r>
              <a:rPr lang="en-US" altLang="zh-CN" sz="2400" dirty="0"/>
              <a:t>faced</a:t>
            </a:r>
            <a:r>
              <a:rPr lang="zh-CN" altLang="en-US" sz="2400" dirty="0"/>
              <a:t> </a:t>
            </a:r>
            <a:r>
              <a:rPr lang="en-US" altLang="zh-CN" sz="2400" dirty="0"/>
              <a:t>events</a:t>
            </a:r>
            <a:endParaRPr lang="en-US" sz="2400" dirty="0"/>
          </a:p>
          <a:p>
            <a:endParaRPr lang="en-US" sz="2400" b="1" i="1" dirty="0"/>
          </a:p>
          <a:p>
            <a:r>
              <a:rPr lang="en-US" sz="2400" dirty="0"/>
              <a:t>Existing Scheme 1: </a:t>
            </a:r>
            <a:r>
              <a:rPr lang="en-US" sz="2400" dirty="0" err="1"/>
              <a:t>TimeBank</a:t>
            </a:r>
            <a:r>
              <a:rPr lang="zh-CN" altLang="en-US" sz="2400" dirty="0"/>
              <a:t> </a:t>
            </a:r>
            <a:r>
              <a:rPr lang="en-US" altLang="zh-CN" sz="1600" i="1" dirty="0"/>
              <a:t>[</a:t>
            </a:r>
            <a:r>
              <a:rPr lang="en-US" sz="1600" i="1" dirty="0" err="1"/>
              <a:t>Pustejovsky</a:t>
            </a:r>
            <a:r>
              <a:rPr lang="en-US" sz="1600" i="1" dirty="0"/>
              <a:t> et al., 2003]</a:t>
            </a:r>
            <a:endParaRPr lang="en-US" sz="2400" dirty="0"/>
          </a:p>
          <a:p>
            <a:pPr lvl="1"/>
            <a:r>
              <a:rPr lang="en-US" sz="2000" dirty="0"/>
              <a:t>Annotators </a:t>
            </a:r>
            <a:r>
              <a:rPr lang="en-US" altLang="zh-CN" sz="2000" i="1" u="sng" dirty="0"/>
              <a:t>freely</a:t>
            </a:r>
            <a:r>
              <a:rPr lang="zh-CN" altLang="en-US" sz="2000" dirty="0"/>
              <a:t> </a:t>
            </a:r>
            <a:r>
              <a:rPr lang="en-US" altLang="zh-CN" sz="2000" dirty="0"/>
              <a:t>add</a:t>
            </a:r>
            <a:r>
              <a:rPr lang="zh-CN" altLang="en-US" sz="2000" dirty="0"/>
              <a:t> </a:t>
            </a:r>
            <a:r>
              <a:rPr lang="en-US" sz="2000" dirty="0" err="1"/>
              <a:t>TempRels</a:t>
            </a:r>
            <a:r>
              <a:rPr lang="en-US" sz="2000" dirty="0"/>
              <a:t> </a:t>
            </a:r>
            <a:r>
              <a:rPr lang="en-US" altLang="zh-CN" sz="2000" dirty="0"/>
              <a:t>between</a:t>
            </a:r>
            <a:r>
              <a:rPr lang="zh-CN" altLang="en-US" sz="2000" dirty="0"/>
              <a:t> </a:t>
            </a:r>
            <a:r>
              <a:rPr lang="en-US" altLang="zh-CN" sz="2000" dirty="0"/>
              <a:t>those</a:t>
            </a:r>
            <a:r>
              <a:rPr lang="zh-CN" altLang="en-US" sz="2000" dirty="0"/>
              <a:t> </a:t>
            </a:r>
            <a:r>
              <a:rPr lang="en-US" altLang="zh-CN" sz="2000" dirty="0"/>
              <a:t>events</a:t>
            </a:r>
            <a:r>
              <a:rPr lang="en-US" sz="2000" dirty="0"/>
              <a:t>.</a:t>
            </a:r>
          </a:p>
          <a:p>
            <a:pPr lvl="1"/>
            <a:r>
              <a:rPr lang="en-US" sz="2000" dirty="0"/>
              <a:t>It’s </a:t>
            </a:r>
            <a:r>
              <a:rPr lang="en-US" sz="2000" i="1" u="sng" dirty="0"/>
              <a:t>inevitable</a:t>
            </a:r>
            <a:r>
              <a:rPr lang="en-US" sz="2000" dirty="0"/>
              <a:t> that some </a:t>
            </a:r>
            <a:r>
              <a:rPr lang="en-US" sz="2000" dirty="0" err="1"/>
              <a:t>TempRels</a:t>
            </a:r>
            <a:r>
              <a:rPr lang="en-US" sz="2000" dirty="0"/>
              <a:t> will be missed.</a:t>
            </a:r>
          </a:p>
          <a:p>
            <a:pPr lvl="1"/>
            <a:r>
              <a:rPr lang="en-US" sz="2000" dirty="0"/>
              <a:t>E.g., only one relation between “</a:t>
            </a:r>
            <a:r>
              <a:rPr lang="en-US" sz="2000" b="1" dirty="0"/>
              <a:t>eliminate</a:t>
            </a:r>
            <a:r>
              <a:rPr lang="en-US" sz="2000" dirty="0"/>
              <a:t>” and “</a:t>
            </a:r>
            <a:r>
              <a:rPr lang="en-US" sz="2000" b="1" dirty="0"/>
              <a:t>restore</a:t>
            </a:r>
            <a:r>
              <a:rPr lang="en-US" sz="2000" dirty="0"/>
              <a:t>” is annotated in </a:t>
            </a:r>
            <a:r>
              <a:rPr lang="en-US" sz="2000" dirty="0" err="1"/>
              <a:t>TimeBank</a:t>
            </a:r>
            <a:r>
              <a:rPr lang="en-US" sz="2000" dirty="0"/>
              <a:t>, while other relations such as “</a:t>
            </a:r>
            <a:r>
              <a:rPr lang="en-US" sz="2000" b="1" dirty="0"/>
              <a:t>tried</a:t>
            </a:r>
            <a:r>
              <a:rPr lang="en-US" sz="2000" dirty="0"/>
              <a:t>” is before “</a:t>
            </a:r>
            <a:r>
              <a:rPr lang="en-US" sz="2000" b="1" dirty="0"/>
              <a:t>eliminate</a:t>
            </a:r>
            <a:r>
              <a:rPr lang="en-US" sz="2000" dirty="0"/>
              <a:t>” and “</a:t>
            </a:r>
            <a:r>
              <a:rPr lang="en-US" sz="2000" b="1" dirty="0"/>
              <a:t>tried</a:t>
            </a:r>
            <a:r>
              <a:rPr lang="en-US" sz="2000" dirty="0"/>
              <a:t>” is also before “</a:t>
            </a:r>
            <a:r>
              <a:rPr lang="en-US" sz="2000" b="1" dirty="0"/>
              <a:t>killed</a:t>
            </a:r>
            <a:r>
              <a:rPr lang="en-US" sz="2000" dirty="0"/>
              <a:t>” are missed.</a:t>
            </a:r>
          </a:p>
        </p:txBody>
      </p:sp>
      <p:sp>
        <p:nvSpPr>
          <p:cNvPr id="2" name="Title 1"/>
          <p:cNvSpPr>
            <a:spLocks noGrp="1"/>
          </p:cNvSpPr>
          <p:nvPr>
            <p:ph type="title"/>
          </p:nvPr>
        </p:nvSpPr>
        <p:spPr/>
        <p:txBody>
          <a:bodyPr/>
          <a:lstStyle/>
          <a:p>
            <a:r>
              <a:rPr lang="en-US" altLang="zh-CN" dirty="0"/>
              <a:t>Existing annotation schemes</a:t>
            </a:r>
            <a:endParaRPr lang="en-US" dirty="0"/>
          </a:p>
        </p:txBody>
      </p:sp>
      <p:cxnSp>
        <p:nvCxnSpPr>
          <p:cNvPr id="5" name="Straight Connector 4"/>
          <p:cNvCxnSpPr>
            <a:cxnSpLocks/>
          </p:cNvCxnSpPr>
          <p:nvPr/>
        </p:nvCxnSpPr>
        <p:spPr>
          <a:xfrm>
            <a:off x="2514600" y="1600200"/>
            <a:ext cx="1447800" cy="0"/>
          </a:xfrm>
          <a:prstGeom prst="line">
            <a:avLst/>
          </a:prstGeom>
          <a:ln w="3810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066800" y="1997826"/>
            <a:ext cx="1143000" cy="0"/>
          </a:xfrm>
          <a:prstGeom prst="line">
            <a:avLst/>
          </a:prstGeom>
          <a:ln w="3810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015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left)">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left)">
                                      <p:cBhvr>
                                        <p:cTn id="27" dur="500"/>
                                        <p:tgtEl>
                                          <p:spTgt spid="3">
                                            <p:txEl>
                                              <p:pRg st="6" end="6"/>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par>
                                <p:cTn id="31" presetID="22" presetClass="entr" presetSubtype="8"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400" i="1" dirty="0"/>
              <a:t>Police </a:t>
            </a:r>
            <a:r>
              <a:rPr lang="en-US" sz="2400" b="1" i="1" dirty="0"/>
              <a:t>tried</a:t>
            </a:r>
            <a:r>
              <a:rPr lang="en-US" sz="2400" i="1" dirty="0"/>
              <a:t> to </a:t>
            </a:r>
            <a:r>
              <a:rPr lang="en-US" sz="2400" b="1" i="1" dirty="0"/>
              <a:t>eliminate</a:t>
            </a:r>
            <a:r>
              <a:rPr lang="en-US" sz="2400" i="1" dirty="0"/>
              <a:t> the pro-independence army and </a:t>
            </a:r>
            <a:r>
              <a:rPr lang="en-US" sz="2400" b="1" i="1" dirty="0"/>
              <a:t>restore</a:t>
            </a:r>
            <a:r>
              <a:rPr lang="en-US" sz="2400" i="1" dirty="0"/>
              <a:t> order. At least 51 people were </a:t>
            </a:r>
            <a:r>
              <a:rPr lang="en-US" sz="2400" b="1" i="1" dirty="0"/>
              <a:t>killed</a:t>
            </a:r>
            <a:r>
              <a:rPr lang="en-US" sz="2400" i="1" dirty="0"/>
              <a:t> in clashes between police and citizens in the troubled region.</a:t>
            </a:r>
          </a:p>
          <a:p>
            <a:endParaRPr lang="en-US" sz="2400" dirty="0"/>
          </a:p>
          <a:p>
            <a:r>
              <a:rPr lang="en-US" sz="2400" dirty="0"/>
              <a:t>Existing Scheme 2: </a:t>
            </a:r>
            <a:r>
              <a:rPr lang="en-US" sz="2400" dirty="0" err="1"/>
              <a:t>TimeBank</a:t>
            </a:r>
            <a:r>
              <a:rPr lang="en-US" sz="2400" dirty="0"/>
              <a:t>-Dense </a:t>
            </a:r>
            <a:r>
              <a:rPr lang="en-US" sz="1600" i="1" dirty="0"/>
              <a:t>[Cassidy et al., 2014]</a:t>
            </a:r>
          </a:p>
          <a:p>
            <a:pPr marL="457200" lvl="1" indent="0">
              <a:buNone/>
            </a:pPr>
            <a:r>
              <a:rPr lang="en-US" sz="2000" b="1" i="1" dirty="0"/>
              <a:t>“All”</a:t>
            </a:r>
            <a:r>
              <a:rPr lang="en-US" sz="2000" dirty="0"/>
              <a:t> – all event pairs are presented, one-by-one, and an annotator </a:t>
            </a:r>
            <a:r>
              <a:rPr lang="en-US" sz="2000" i="1" u="sng" dirty="0"/>
              <a:t>must</a:t>
            </a:r>
            <a:r>
              <a:rPr lang="en-US" sz="2000" dirty="0"/>
              <a:t> provide a response  for each of them.</a:t>
            </a:r>
          </a:p>
          <a:p>
            <a:pPr marL="457200" lvl="1" indent="0">
              <a:buNone/>
            </a:pPr>
            <a:r>
              <a:rPr lang="en-US" sz="2000" b="1" i="1" dirty="0"/>
              <a:t>“1” </a:t>
            </a:r>
            <a:r>
              <a:rPr lang="en-US" sz="2000" i="1" dirty="0"/>
              <a:t>–</a:t>
            </a:r>
            <a:r>
              <a:rPr lang="en-US" sz="2000" dirty="0"/>
              <a:t> In the physical world, time is one dimensional.</a:t>
            </a:r>
          </a:p>
          <a:p>
            <a:pPr marL="457200" lvl="1" indent="0">
              <a:buNone/>
            </a:pPr>
            <a:r>
              <a:rPr lang="en-US" sz="2000" b="1" i="1" dirty="0"/>
              <a:t>“0”</a:t>
            </a:r>
            <a:r>
              <a:rPr lang="en-US" sz="2000" dirty="0"/>
              <a:t> – missing relations anymore.</a:t>
            </a:r>
          </a:p>
          <a:p>
            <a:pPr marL="457200" lvl="1" indent="0">
              <a:buNone/>
            </a:pPr>
            <a:r>
              <a:rPr lang="en-US" sz="2000" b="1" i="1" dirty="0"/>
              <a:t>“?”</a:t>
            </a:r>
            <a:r>
              <a:rPr lang="en-US" sz="2000" i="1" dirty="0"/>
              <a:t> –</a:t>
            </a:r>
            <a:r>
              <a:rPr lang="en-US" sz="2000" b="1" i="1" dirty="0"/>
              <a:t> </a:t>
            </a:r>
            <a:r>
              <a:rPr lang="en-US" sz="2000" i="1" dirty="0"/>
              <a:t>However</a:t>
            </a:r>
            <a:r>
              <a:rPr lang="en-US" sz="2000" dirty="0"/>
              <a:t>, some pairs of events are very </a:t>
            </a:r>
            <a:r>
              <a:rPr lang="en-US" sz="2000" i="1" u="sng" dirty="0"/>
              <a:t>confusing</a:t>
            </a:r>
            <a:r>
              <a:rPr lang="en-US" sz="2000" dirty="0"/>
              <a:t>, resulting in disagreement.</a:t>
            </a:r>
          </a:p>
        </p:txBody>
      </p:sp>
      <p:sp>
        <p:nvSpPr>
          <p:cNvPr id="2" name="Title 1"/>
          <p:cNvSpPr>
            <a:spLocks noGrp="1"/>
          </p:cNvSpPr>
          <p:nvPr>
            <p:ph type="title"/>
          </p:nvPr>
        </p:nvSpPr>
        <p:spPr/>
        <p:txBody>
          <a:bodyPr/>
          <a:lstStyle/>
          <a:p>
            <a:r>
              <a:rPr lang="en-US" altLang="zh-CN" dirty="0"/>
              <a:t>Existing annotation schemes</a:t>
            </a:r>
            <a:endParaRPr lang="en-US" dirty="0"/>
          </a:p>
        </p:txBody>
      </p:sp>
      <p:sp>
        <p:nvSpPr>
          <p:cNvPr id="4" name="Freeform 3"/>
          <p:cNvSpPr/>
          <p:nvPr/>
        </p:nvSpPr>
        <p:spPr>
          <a:xfrm>
            <a:off x="2085975" y="1000026"/>
            <a:ext cx="1371600" cy="357287"/>
          </a:xfrm>
          <a:custGeom>
            <a:avLst/>
            <a:gdLst>
              <a:gd name="connsiteX0" fmla="*/ 0 w 1371600"/>
              <a:gd name="connsiteY0" fmla="*/ 328712 h 357287"/>
              <a:gd name="connsiteX1" fmla="*/ 671513 w 1371600"/>
              <a:gd name="connsiteY1" fmla="*/ 99 h 357287"/>
              <a:gd name="connsiteX2" fmla="*/ 1371600 w 1371600"/>
              <a:gd name="connsiteY2" fmla="*/ 357287 h 357287"/>
            </a:gdLst>
            <a:ahLst/>
            <a:cxnLst>
              <a:cxn ang="0">
                <a:pos x="connsiteX0" y="connsiteY0"/>
              </a:cxn>
              <a:cxn ang="0">
                <a:pos x="connsiteX1" y="connsiteY1"/>
              </a:cxn>
              <a:cxn ang="0">
                <a:pos x="connsiteX2" y="connsiteY2"/>
              </a:cxn>
            </a:cxnLst>
            <a:rect l="l" t="t" r="r" b="b"/>
            <a:pathLst>
              <a:path w="1371600" h="357287">
                <a:moveTo>
                  <a:pt x="0" y="328712"/>
                </a:moveTo>
                <a:cubicBezTo>
                  <a:pt x="221456" y="162024"/>
                  <a:pt x="442913" y="-4663"/>
                  <a:pt x="671513" y="99"/>
                </a:cubicBezTo>
                <a:cubicBezTo>
                  <a:pt x="900113" y="4861"/>
                  <a:pt x="1371600" y="357287"/>
                  <a:pt x="1371600" y="357287"/>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p:cNvSpPr/>
          <p:nvPr/>
        </p:nvSpPr>
        <p:spPr>
          <a:xfrm>
            <a:off x="1600200" y="1000807"/>
            <a:ext cx="609599" cy="770843"/>
          </a:xfrm>
          <a:custGeom>
            <a:avLst/>
            <a:gdLst>
              <a:gd name="connsiteX0" fmla="*/ 857250 w 857250"/>
              <a:gd name="connsiteY0" fmla="*/ 356506 h 770843"/>
              <a:gd name="connsiteX1" fmla="*/ 328613 w 857250"/>
              <a:gd name="connsiteY1" fmla="*/ 13606 h 770843"/>
              <a:gd name="connsiteX2" fmla="*/ 0 w 857250"/>
              <a:gd name="connsiteY2" fmla="*/ 770843 h 770843"/>
            </a:gdLst>
            <a:ahLst/>
            <a:cxnLst>
              <a:cxn ang="0">
                <a:pos x="connsiteX0" y="connsiteY0"/>
              </a:cxn>
              <a:cxn ang="0">
                <a:pos x="connsiteX1" y="connsiteY1"/>
              </a:cxn>
              <a:cxn ang="0">
                <a:pos x="connsiteX2" y="connsiteY2"/>
              </a:cxn>
            </a:cxnLst>
            <a:rect l="l" t="t" r="r" b="b"/>
            <a:pathLst>
              <a:path w="857250" h="770843">
                <a:moveTo>
                  <a:pt x="857250" y="356506"/>
                </a:moveTo>
                <a:cubicBezTo>
                  <a:pt x="664369" y="150528"/>
                  <a:pt x="471488" y="-55450"/>
                  <a:pt x="328613" y="13606"/>
                </a:cubicBezTo>
                <a:cubicBezTo>
                  <a:pt x="185738" y="82662"/>
                  <a:pt x="0" y="770843"/>
                  <a:pt x="0" y="770843"/>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p:cNvSpPr/>
          <p:nvPr/>
        </p:nvSpPr>
        <p:spPr>
          <a:xfrm>
            <a:off x="2043112" y="931118"/>
            <a:ext cx="5424487" cy="797670"/>
          </a:xfrm>
          <a:custGeom>
            <a:avLst/>
            <a:gdLst>
              <a:gd name="connsiteX0" fmla="*/ 0 w 3757612"/>
              <a:gd name="connsiteY0" fmla="*/ 397620 h 797670"/>
              <a:gd name="connsiteX1" fmla="*/ 2200275 w 3757612"/>
              <a:gd name="connsiteY1" fmla="*/ 11857 h 797670"/>
              <a:gd name="connsiteX2" fmla="*/ 3757612 w 3757612"/>
              <a:gd name="connsiteY2" fmla="*/ 797670 h 797670"/>
            </a:gdLst>
            <a:ahLst/>
            <a:cxnLst>
              <a:cxn ang="0">
                <a:pos x="connsiteX0" y="connsiteY0"/>
              </a:cxn>
              <a:cxn ang="0">
                <a:pos x="connsiteX1" y="connsiteY1"/>
              </a:cxn>
              <a:cxn ang="0">
                <a:pos x="connsiteX2" y="connsiteY2"/>
              </a:cxn>
            </a:cxnLst>
            <a:rect l="l" t="t" r="r" b="b"/>
            <a:pathLst>
              <a:path w="3757612" h="797670">
                <a:moveTo>
                  <a:pt x="0" y="397620"/>
                </a:moveTo>
                <a:cubicBezTo>
                  <a:pt x="787003" y="171401"/>
                  <a:pt x="1574006" y="-54818"/>
                  <a:pt x="2200275" y="11857"/>
                </a:cubicBezTo>
                <a:cubicBezTo>
                  <a:pt x="2826544" y="78532"/>
                  <a:pt x="3757612" y="797670"/>
                  <a:pt x="3757612" y="797670"/>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1600199" y="760865"/>
            <a:ext cx="1857375" cy="967923"/>
          </a:xfrm>
          <a:custGeom>
            <a:avLst/>
            <a:gdLst>
              <a:gd name="connsiteX0" fmla="*/ 2214562 w 2214562"/>
              <a:gd name="connsiteY0" fmla="*/ 539298 h 967923"/>
              <a:gd name="connsiteX1" fmla="*/ 857250 w 2214562"/>
              <a:gd name="connsiteY1" fmla="*/ 10660 h 967923"/>
              <a:gd name="connsiteX2" fmla="*/ 0 w 2214562"/>
              <a:gd name="connsiteY2" fmla="*/ 967923 h 967923"/>
            </a:gdLst>
            <a:ahLst/>
            <a:cxnLst>
              <a:cxn ang="0">
                <a:pos x="connsiteX0" y="connsiteY0"/>
              </a:cxn>
              <a:cxn ang="0">
                <a:pos x="connsiteX1" y="connsiteY1"/>
              </a:cxn>
              <a:cxn ang="0">
                <a:pos x="connsiteX2" y="connsiteY2"/>
              </a:cxn>
            </a:cxnLst>
            <a:rect l="l" t="t" r="r" b="b"/>
            <a:pathLst>
              <a:path w="2214562" h="967923">
                <a:moveTo>
                  <a:pt x="2214562" y="539298"/>
                </a:moveTo>
                <a:cubicBezTo>
                  <a:pt x="1720453" y="239260"/>
                  <a:pt x="1226344" y="-60778"/>
                  <a:pt x="857250" y="10660"/>
                </a:cubicBezTo>
                <a:cubicBezTo>
                  <a:pt x="488156" y="82097"/>
                  <a:pt x="0" y="967923"/>
                  <a:pt x="0" y="967923"/>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429000" y="862494"/>
            <a:ext cx="4114800" cy="852006"/>
          </a:xfrm>
          <a:custGeom>
            <a:avLst/>
            <a:gdLst>
              <a:gd name="connsiteX0" fmla="*/ 0 w 2443163"/>
              <a:gd name="connsiteY0" fmla="*/ 480531 h 852006"/>
              <a:gd name="connsiteX1" fmla="*/ 1571625 w 2443163"/>
              <a:gd name="connsiteY1" fmla="*/ 9044 h 852006"/>
              <a:gd name="connsiteX2" fmla="*/ 2443163 w 2443163"/>
              <a:gd name="connsiteY2" fmla="*/ 852006 h 852006"/>
            </a:gdLst>
            <a:ahLst/>
            <a:cxnLst>
              <a:cxn ang="0">
                <a:pos x="connsiteX0" y="connsiteY0"/>
              </a:cxn>
              <a:cxn ang="0">
                <a:pos x="connsiteX1" y="connsiteY1"/>
              </a:cxn>
              <a:cxn ang="0">
                <a:pos x="connsiteX2" y="connsiteY2"/>
              </a:cxn>
            </a:cxnLst>
            <a:rect l="l" t="t" r="r" b="b"/>
            <a:pathLst>
              <a:path w="2443163" h="852006">
                <a:moveTo>
                  <a:pt x="0" y="480531"/>
                </a:moveTo>
                <a:cubicBezTo>
                  <a:pt x="582215" y="213831"/>
                  <a:pt x="1164431" y="-52869"/>
                  <a:pt x="1571625" y="9044"/>
                </a:cubicBezTo>
                <a:cubicBezTo>
                  <a:pt x="1978819" y="70956"/>
                  <a:pt x="2443163" y="852006"/>
                  <a:pt x="2443163" y="852006"/>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1905000" y="1943100"/>
            <a:ext cx="5257800" cy="514429"/>
          </a:xfrm>
          <a:custGeom>
            <a:avLst/>
            <a:gdLst>
              <a:gd name="connsiteX0" fmla="*/ 0 w 4572000"/>
              <a:gd name="connsiteY0" fmla="*/ 0 h 514429"/>
              <a:gd name="connsiteX1" fmla="*/ 2528887 w 4572000"/>
              <a:gd name="connsiteY1" fmla="*/ 514350 h 514429"/>
              <a:gd name="connsiteX2" fmla="*/ 4572000 w 4572000"/>
              <a:gd name="connsiteY2" fmla="*/ 42863 h 514429"/>
            </a:gdLst>
            <a:ahLst/>
            <a:cxnLst>
              <a:cxn ang="0">
                <a:pos x="connsiteX0" y="connsiteY0"/>
              </a:cxn>
              <a:cxn ang="0">
                <a:pos x="connsiteX1" y="connsiteY1"/>
              </a:cxn>
              <a:cxn ang="0">
                <a:pos x="connsiteX2" y="connsiteY2"/>
              </a:cxn>
            </a:cxnLst>
            <a:rect l="l" t="t" r="r" b="b"/>
            <a:pathLst>
              <a:path w="4572000" h="514429">
                <a:moveTo>
                  <a:pt x="0" y="0"/>
                </a:moveTo>
                <a:cubicBezTo>
                  <a:pt x="883443" y="253603"/>
                  <a:pt x="1766887" y="507206"/>
                  <a:pt x="2528887" y="514350"/>
                </a:cubicBezTo>
                <a:cubicBezTo>
                  <a:pt x="3290887" y="521494"/>
                  <a:pt x="4572000" y="42863"/>
                  <a:pt x="4572000" y="42863"/>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xmlns="" id="{80CECC2E-9B3C-C64F-96D2-55308AA5CD49}"/>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spTree>
    <p:extLst>
      <p:ext uri="{BB962C8B-B14F-4D97-AF65-F5344CB8AC3E}">
        <p14:creationId xmlns:p14="http://schemas.microsoft.com/office/powerpoint/2010/main" val="15574090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250"/>
                                        <p:tgtEl>
                                          <p:spTgt spid="5"/>
                                        </p:tgtEl>
                                      </p:cBhvr>
                                    </p:animEffect>
                                  </p:childTnLst>
                                </p:cTn>
                              </p:par>
                            </p:childTnLst>
                          </p:cTn>
                        </p:par>
                        <p:par>
                          <p:cTn id="11" fill="hold">
                            <p:stCondLst>
                              <p:cond delay="500"/>
                            </p:stCondLst>
                            <p:childTnLst>
                              <p:par>
                                <p:cTn id="12" presetID="9" presetClass="entr" presetSubtype="0" fill="hold" grpId="0" nodeType="afterEffect">
                                  <p:stCondLst>
                                    <p:cond delay="500"/>
                                  </p:stCondLst>
                                  <p:childTnLst>
                                    <p:set>
                                      <p:cBhvr>
                                        <p:cTn id="13" dur="1" fill="hold">
                                          <p:stCondLst>
                                            <p:cond delay="0"/>
                                          </p:stCondLst>
                                        </p:cTn>
                                        <p:tgtEl>
                                          <p:spTgt spid="4"/>
                                        </p:tgtEl>
                                        <p:attrNameLst>
                                          <p:attrName>style.visibility</p:attrName>
                                        </p:attrNameLst>
                                      </p:cBhvr>
                                      <p:to>
                                        <p:strVal val="visible"/>
                                      </p:to>
                                    </p:set>
                                    <p:animEffect transition="in" filter="dissolve">
                                      <p:cBhvr>
                                        <p:cTn id="14" dur="250"/>
                                        <p:tgtEl>
                                          <p:spTgt spid="4"/>
                                        </p:tgtEl>
                                      </p:cBhvr>
                                    </p:animEffect>
                                  </p:childTnLst>
                                </p:cTn>
                              </p:par>
                            </p:childTnLst>
                          </p:cTn>
                        </p:par>
                        <p:par>
                          <p:cTn id="15" fill="hold">
                            <p:stCondLst>
                              <p:cond delay="1250"/>
                            </p:stCondLst>
                            <p:childTnLst>
                              <p:par>
                                <p:cTn id="16" presetID="9" presetClass="entr" presetSubtype="0" fill="hold" grpId="0" nodeType="afterEffect">
                                  <p:stCondLst>
                                    <p:cond delay="50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250"/>
                                        <p:tgtEl>
                                          <p:spTgt spid="6"/>
                                        </p:tgtEl>
                                      </p:cBhvr>
                                    </p:animEffect>
                                  </p:childTnLst>
                                </p:cTn>
                              </p:par>
                            </p:childTnLst>
                          </p:cTn>
                        </p:par>
                        <p:par>
                          <p:cTn id="19" fill="hold">
                            <p:stCondLst>
                              <p:cond delay="2000"/>
                            </p:stCondLst>
                            <p:childTnLst>
                              <p:par>
                                <p:cTn id="20" presetID="9" presetClass="entr" presetSubtype="0" fill="hold" grpId="0" nodeType="afterEffect">
                                  <p:stCondLst>
                                    <p:cond delay="50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250"/>
                                        <p:tgtEl>
                                          <p:spTgt spid="7"/>
                                        </p:tgtEl>
                                      </p:cBhvr>
                                    </p:animEffect>
                                  </p:childTnLst>
                                </p:cTn>
                              </p:par>
                            </p:childTnLst>
                          </p:cTn>
                        </p:par>
                        <p:par>
                          <p:cTn id="23" fill="hold">
                            <p:stCondLst>
                              <p:cond delay="2750"/>
                            </p:stCondLst>
                            <p:childTnLst>
                              <p:par>
                                <p:cTn id="24" presetID="9" presetClass="entr" presetSubtype="0" fill="hold" grpId="0" nodeType="afterEffect">
                                  <p:stCondLst>
                                    <p:cond delay="50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250"/>
                                        <p:tgtEl>
                                          <p:spTgt spid="8"/>
                                        </p:tgtEl>
                                      </p:cBhvr>
                                    </p:animEffect>
                                  </p:childTnLst>
                                </p:cTn>
                              </p:par>
                            </p:childTnLst>
                          </p:cTn>
                        </p:par>
                        <p:par>
                          <p:cTn id="27" fill="hold">
                            <p:stCondLst>
                              <p:cond delay="3500"/>
                            </p:stCondLst>
                            <p:childTnLst>
                              <p:par>
                                <p:cTn id="28" presetID="9" presetClass="entr" presetSubtype="0" fill="hold" grpId="0" nodeType="afterEffect">
                                  <p:stCondLst>
                                    <p:cond delay="500"/>
                                  </p:stCondLst>
                                  <p:childTnLst>
                                    <p:set>
                                      <p:cBhvr>
                                        <p:cTn id="29" dur="1" fill="hold">
                                          <p:stCondLst>
                                            <p:cond delay="0"/>
                                          </p:stCondLst>
                                        </p:cTn>
                                        <p:tgtEl>
                                          <p:spTgt spid="9"/>
                                        </p:tgtEl>
                                        <p:attrNameLst>
                                          <p:attrName>style.visibility</p:attrName>
                                        </p:attrNameLst>
                                      </p:cBhvr>
                                      <p:to>
                                        <p:strVal val="visible"/>
                                      </p:to>
                                    </p:set>
                                    <p:animEffect transition="in" filter="dissolve">
                                      <p:cBhvr>
                                        <p:cTn id="30" dur="25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dissolve">
                                      <p:cBhvr>
                                        <p:cTn id="35" dur="5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dissolve">
                                      <p:cBhvr>
                                        <p:cTn id="40" dur="500"/>
                                        <p:tgtEl>
                                          <p:spTgt spid="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dissolve">
                                      <p:cBhvr>
                                        <p:cTn id="4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P spid="4" grpId="0" uiExpand="1" animBg="1"/>
      <p:bldP spid="5" grpId="0" uiExpand="1" animBg="1"/>
      <p:bldP spid="6" grpId="0" uiExpand="1" animBg="1"/>
      <p:bldP spid="7" grpId="0" uiExpand="1" animBg="1"/>
      <p:bldP spid="8" grpId="0" uiExpand="1" animBg="1"/>
      <p:bldP spid="9" grpId="0" uiExpan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Existing annotation schemes</a:t>
            </a:r>
            <a:endParaRPr lang="en-US" dirty="0"/>
          </a:p>
        </p:txBody>
      </p:sp>
      <p:sp>
        <p:nvSpPr>
          <p:cNvPr id="3" name="Content Placeholder 2"/>
          <p:cNvSpPr>
            <a:spLocks noGrp="1"/>
          </p:cNvSpPr>
          <p:nvPr>
            <p:ph idx="1"/>
          </p:nvPr>
        </p:nvSpPr>
        <p:spPr/>
        <p:txBody>
          <a:bodyPr/>
          <a:lstStyle/>
          <a:p>
            <a:pPr marL="0" indent="0">
              <a:buNone/>
            </a:pPr>
            <a:r>
              <a:rPr lang="en-US" sz="2400" i="1" dirty="0"/>
              <a:t>Police </a:t>
            </a:r>
            <a:r>
              <a:rPr lang="en-US" sz="2400" b="1" i="1" dirty="0"/>
              <a:t>tried</a:t>
            </a:r>
            <a:r>
              <a:rPr lang="en-US" sz="2400" i="1" dirty="0"/>
              <a:t> to </a:t>
            </a:r>
            <a:r>
              <a:rPr lang="en-US" sz="2400" b="1" i="1" dirty="0"/>
              <a:t>eliminate</a:t>
            </a:r>
            <a:r>
              <a:rPr lang="en-US" sz="2400" i="1" dirty="0"/>
              <a:t> the pro-independence army and </a:t>
            </a:r>
            <a:r>
              <a:rPr lang="en-US" sz="2400" b="1" i="1" dirty="0"/>
              <a:t>restore</a:t>
            </a:r>
            <a:r>
              <a:rPr lang="en-US" sz="2400" i="1" dirty="0"/>
              <a:t> order. At least 51 people were </a:t>
            </a:r>
            <a:r>
              <a:rPr lang="en-US" sz="2400" b="1" i="1" dirty="0"/>
              <a:t>killed</a:t>
            </a:r>
            <a:r>
              <a:rPr lang="en-US" sz="2400" i="1" dirty="0"/>
              <a:t> in clashes between police and citizens in the troubled region.</a:t>
            </a:r>
          </a:p>
          <a:p>
            <a:pPr lvl="1"/>
            <a:endParaRPr lang="en-US" sz="2000" dirty="0"/>
          </a:p>
          <a:p>
            <a:r>
              <a:rPr lang="en-US" sz="2400" dirty="0"/>
              <a:t>E.g., what’s the relation between </a:t>
            </a:r>
            <a:r>
              <a:rPr lang="en-US" sz="2400" b="1" i="1" dirty="0"/>
              <a:t>restore </a:t>
            </a:r>
            <a:r>
              <a:rPr lang="en-US" sz="2400" dirty="0"/>
              <a:t>and </a:t>
            </a:r>
            <a:r>
              <a:rPr lang="en-US" sz="2400" b="1" i="1" dirty="0"/>
              <a:t>killed</a:t>
            </a:r>
            <a:r>
              <a:rPr lang="en-US" sz="2400" dirty="0"/>
              <a:t>?</a:t>
            </a:r>
          </a:p>
          <a:p>
            <a:pPr lvl="1"/>
            <a:r>
              <a:rPr lang="en-US" sz="2000" dirty="0"/>
              <a:t>restore </a:t>
            </a:r>
            <a:r>
              <a:rPr lang="en-US" sz="2000" dirty="0">
                <a:latin typeface="Courier" charset="0"/>
                <a:ea typeface="Courier" charset="0"/>
                <a:cs typeface="Courier" charset="0"/>
              </a:rPr>
              <a:t>BEFORE</a:t>
            </a:r>
            <a:r>
              <a:rPr lang="en-US" sz="2000" dirty="0">
                <a:latin typeface="Calibri" charset="0"/>
                <a:ea typeface="Calibri" charset="0"/>
                <a:cs typeface="Calibri" charset="0"/>
              </a:rPr>
              <a:t> </a:t>
            </a:r>
            <a:r>
              <a:rPr lang="en-US" sz="2000" dirty="0"/>
              <a:t>killed?</a:t>
            </a:r>
          </a:p>
          <a:p>
            <a:pPr lvl="1"/>
            <a:r>
              <a:rPr lang="en-US" sz="2000" dirty="0"/>
              <a:t>restore </a:t>
            </a:r>
            <a:r>
              <a:rPr lang="en-US" sz="2000" dirty="0">
                <a:latin typeface="Courier" charset="0"/>
                <a:ea typeface="Courier" charset="0"/>
                <a:cs typeface="Courier" charset="0"/>
              </a:rPr>
              <a:t>INCLUDES</a:t>
            </a:r>
            <a:r>
              <a:rPr lang="en-US" sz="2000" dirty="0"/>
              <a:t> killed?</a:t>
            </a:r>
          </a:p>
          <a:p>
            <a:pPr lvl="1"/>
            <a:r>
              <a:rPr lang="en-US" sz="2000" dirty="0"/>
              <a:t>restore </a:t>
            </a:r>
            <a:r>
              <a:rPr lang="en-US" sz="2000" dirty="0">
                <a:latin typeface="Courier" charset="0"/>
                <a:ea typeface="Courier" charset="0"/>
                <a:cs typeface="Courier" charset="0"/>
              </a:rPr>
              <a:t>AFTER</a:t>
            </a:r>
            <a:r>
              <a:rPr lang="en-US" sz="2000" dirty="0"/>
              <a:t> killed?</a:t>
            </a:r>
          </a:p>
          <a:p>
            <a:endParaRPr lang="en-US" sz="2400" dirty="0"/>
          </a:p>
          <a:p>
            <a:endParaRPr lang="en-US" sz="2400" dirty="0"/>
          </a:p>
          <a:p>
            <a:endParaRPr lang="en-US" sz="2400" dirty="0"/>
          </a:p>
        </p:txBody>
      </p:sp>
      <p:sp>
        <p:nvSpPr>
          <p:cNvPr id="8" name="TextBox 7">
            <a:extLst>
              <a:ext uri="{FF2B5EF4-FFF2-40B4-BE49-F238E27FC236}">
                <a16:creationId xmlns:a16="http://schemas.microsoft.com/office/drawing/2014/main" xmlns="" id="{213C7945-6BDA-1544-9CA8-67583719AD2A}"/>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cxnSp>
        <p:nvCxnSpPr>
          <p:cNvPr id="9" name="Straight Connector 8"/>
          <p:cNvCxnSpPr>
            <a:cxnSpLocks/>
          </p:cNvCxnSpPr>
          <p:nvPr/>
        </p:nvCxnSpPr>
        <p:spPr>
          <a:xfrm>
            <a:off x="990600" y="1981200"/>
            <a:ext cx="1219199" cy="0"/>
          </a:xfrm>
          <a:prstGeom prst="line">
            <a:avLst/>
          </a:prstGeom>
          <a:ln w="3810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757987" y="1943100"/>
            <a:ext cx="914400" cy="0"/>
          </a:xfrm>
          <a:prstGeom prst="line">
            <a:avLst/>
          </a:prstGeom>
          <a:ln w="3810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055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dissolve">
                                      <p:cBhvr>
                                        <p:cTn id="10" dur="500"/>
                                        <p:tgtEl>
                                          <p:spTgt spid="3">
                                            <p:txEl>
                                              <p:pRg st="3" end="3"/>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dissolve">
                                      <p:cBhvr>
                                        <p:cTn id="13" dur="500"/>
                                        <p:tgtEl>
                                          <p:spTgt spid="3">
                                            <p:txEl>
                                              <p:pRg st="4" end="4"/>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dissolve">
                                      <p:cBhvr>
                                        <p:cTn id="16" dur="500"/>
                                        <p:tgtEl>
                                          <p:spTgt spid="3">
                                            <p:txEl>
                                              <p:pRg st="5" end="5"/>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p:cNvGrpSpPr/>
          <p:nvPr/>
        </p:nvGrpSpPr>
        <p:grpSpPr>
          <a:xfrm>
            <a:off x="4094417" y="4087597"/>
            <a:ext cx="1556084" cy="1860884"/>
            <a:chOff x="3850105" y="3914274"/>
            <a:chExt cx="1556084" cy="1860884"/>
          </a:xfrm>
        </p:grpSpPr>
        <p:sp>
          <p:nvSpPr>
            <p:cNvPr id="26" name="Freeform 25"/>
            <p:cNvSpPr/>
            <p:nvPr/>
          </p:nvSpPr>
          <p:spPr>
            <a:xfrm>
              <a:off x="3882189" y="4876800"/>
              <a:ext cx="1491916" cy="898358"/>
            </a:xfrm>
            <a:custGeom>
              <a:avLst/>
              <a:gdLst>
                <a:gd name="connsiteX0" fmla="*/ 0 w 1491916"/>
                <a:gd name="connsiteY0" fmla="*/ 0 h 898358"/>
                <a:gd name="connsiteX1" fmla="*/ 1090864 w 1491916"/>
                <a:gd name="connsiteY1" fmla="*/ 433137 h 898358"/>
                <a:gd name="connsiteX2" fmla="*/ 1491916 w 1491916"/>
                <a:gd name="connsiteY2" fmla="*/ 898358 h 898358"/>
              </a:gdLst>
              <a:ahLst/>
              <a:cxnLst>
                <a:cxn ang="0">
                  <a:pos x="connsiteX0" y="connsiteY0"/>
                </a:cxn>
                <a:cxn ang="0">
                  <a:pos x="connsiteX1" y="connsiteY1"/>
                </a:cxn>
                <a:cxn ang="0">
                  <a:pos x="connsiteX2" y="connsiteY2"/>
                </a:cxn>
              </a:cxnLst>
              <a:rect l="l" t="t" r="r" b="b"/>
              <a:pathLst>
                <a:path w="1491916" h="898358">
                  <a:moveTo>
                    <a:pt x="0" y="0"/>
                  </a:moveTo>
                  <a:cubicBezTo>
                    <a:pt x="421105" y="141705"/>
                    <a:pt x="842211" y="283411"/>
                    <a:pt x="1090864" y="433137"/>
                  </a:cubicBezTo>
                  <a:cubicBezTo>
                    <a:pt x="1339517" y="582863"/>
                    <a:pt x="1491916" y="898358"/>
                    <a:pt x="1491916" y="898358"/>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3850105" y="3914274"/>
              <a:ext cx="1556084" cy="1780673"/>
            </a:xfrm>
            <a:custGeom>
              <a:avLst/>
              <a:gdLst>
                <a:gd name="connsiteX0" fmla="*/ 0 w 1556084"/>
                <a:gd name="connsiteY0" fmla="*/ 0 h 1780673"/>
                <a:gd name="connsiteX1" fmla="*/ 1042737 w 1556084"/>
                <a:gd name="connsiteY1" fmla="*/ 545431 h 1780673"/>
                <a:gd name="connsiteX2" fmla="*/ 1556084 w 1556084"/>
                <a:gd name="connsiteY2" fmla="*/ 1780673 h 1780673"/>
              </a:gdLst>
              <a:ahLst/>
              <a:cxnLst>
                <a:cxn ang="0">
                  <a:pos x="connsiteX0" y="connsiteY0"/>
                </a:cxn>
                <a:cxn ang="0">
                  <a:pos x="connsiteX1" y="connsiteY1"/>
                </a:cxn>
                <a:cxn ang="0">
                  <a:pos x="connsiteX2" y="connsiteY2"/>
                </a:cxn>
              </a:cxnLst>
              <a:rect l="l" t="t" r="r" b="b"/>
              <a:pathLst>
                <a:path w="1556084" h="1780673">
                  <a:moveTo>
                    <a:pt x="0" y="0"/>
                  </a:moveTo>
                  <a:cubicBezTo>
                    <a:pt x="391695" y="124326"/>
                    <a:pt x="783390" y="248652"/>
                    <a:pt x="1042737" y="545431"/>
                  </a:cubicBezTo>
                  <a:cubicBezTo>
                    <a:pt x="1302084" y="842210"/>
                    <a:pt x="1556084" y="1780673"/>
                    <a:pt x="1556084" y="1780673"/>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lstStyle/>
          <a:p>
            <a:r>
              <a:rPr lang="en-US" dirty="0"/>
              <a:t>Proposed solution: multi-axis</a:t>
            </a:r>
          </a:p>
        </p:txBody>
      </p:sp>
      <p:sp>
        <p:nvSpPr>
          <p:cNvPr id="3" name="Content Placeholder 2"/>
          <p:cNvSpPr>
            <a:spLocks noGrp="1"/>
          </p:cNvSpPr>
          <p:nvPr>
            <p:ph idx="1"/>
          </p:nvPr>
        </p:nvSpPr>
        <p:spPr/>
        <p:txBody>
          <a:bodyPr/>
          <a:lstStyle/>
          <a:p>
            <a:pPr marL="0" indent="0">
              <a:buNone/>
            </a:pPr>
            <a:r>
              <a:rPr lang="en-US" sz="2400" i="1" dirty="0"/>
              <a:t>Police </a:t>
            </a:r>
            <a:r>
              <a:rPr lang="en-US" sz="2400" b="1" i="1" dirty="0"/>
              <a:t>tried</a:t>
            </a:r>
            <a:r>
              <a:rPr lang="en-US" sz="2400" i="1" dirty="0"/>
              <a:t> to </a:t>
            </a:r>
            <a:r>
              <a:rPr lang="en-US" sz="2400" b="1" i="1" dirty="0"/>
              <a:t>eliminate</a:t>
            </a:r>
            <a:r>
              <a:rPr lang="en-US" sz="2400" i="1" dirty="0"/>
              <a:t> the pro-independence army and </a:t>
            </a:r>
            <a:r>
              <a:rPr lang="en-US" sz="2400" b="1" i="1" dirty="0"/>
              <a:t>restore</a:t>
            </a:r>
            <a:r>
              <a:rPr lang="en-US" sz="2400" i="1" dirty="0"/>
              <a:t> order. At least 51 people were </a:t>
            </a:r>
            <a:r>
              <a:rPr lang="en-US" sz="2400" b="1" i="1" dirty="0"/>
              <a:t>killed</a:t>
            </a:r>
            <a:r>
              <a:rPr lang="en-US" sz="2400" i="1" dirty="0"/>
              <a:t> in clashes between police and citizens in the troubled region.</a:t>
            </a:r>
          </a:p>
          <a:p>
            <a:r>
              <a:rPr lang="en-US" sz="2400" dirty="0"/>
              <a:t>We suggest that </a:t>
            </a:r>
            <a:r>
              <a:rPr lang="en-US" sz="2400" b="1" dirty="0"/>
              <a:t>multiple time axes may exist in natural language</a:t>
            </a:r>
            <a:r>
              <a:rPr lang="en-US" sz="2400" dirty="0"/>
              <a:t>.</a:t>
            </a:r>
          </a:p>
          <a:p>
            <a:endParaRPr lang="en-US" sz="2400" dirty="0"/>
          </a:p>
        </p:txBody>
      </p:sp>
      <p:grpSp>
        <p:nvGrpSpPr>
          <p:cNvPr id="4" name="Group 3"/>
          <p:cNvGrpSpPr/>
          <p:nvPr/>
        </p:nvGrpSpPr>
        <p:grpSpPr>
          <a:xfrm>
            <a:off x="2133600" y="3602323"/>
            <a:ext cx="4596817" cy="2733665"/>
            <a:chOff x="2265173" y="-47460"/>
            <a:chExt cx="4596817" cy="2733665"/>
          </a:xfrm>
        </p:grpSpPr>
        <p:grpSp>
          <p:nvGrpSpPr>
            <p:cNvPr id="9" name="Group 8"/>
            <p:cNvGrpSpPr/>
            <p:nvPr/>
          </p:nvGrpSpPr>
          <p:grpSpPr>
            <a:xfrm>
              <a:off x="2265173" y="-47460"/>
              <a:ext cx="4596817" cy="2733665"/>
              <a:chOff x="3569311" y="1831175"/>
              <a:chExt cx="4596817" cy="2733665"/>
            </a:xfrm>
          </p:grpSpPr>
          <p:cxnSp>
            <p:nvCxnSpPr>
              <p:cNvPr id="12" name="Straight Connector 11"/>
              <p:cNvCxnSpPr/>
              <p:nvPr/>
            </p:nvCxnSpPr>
            <p:spPr>
              <a:xfrm>
                <a:off x="4454620" y="4246080"/>
                <a:ext cx="3711508" cy="0"/>
              </a:xfrm>
              <a:prstGeom prst="line">
                <a:avLst/>
              </a:prstGeom>
              <a:ln w="38100">
                <a:solidFill>
                  <a:schemeClr val="bg2"/>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5505161" y="1831175"/>
                <a:ext cx="0" cy="2526134"/>
              </a:xfrm>
              <a:prstGeom prst="line">
                <a:avLst/>
              </a:prstGeom>
              <a:ln w="38100">
                <a:solidFill>
                  <a:schemeClr val="bg2"/>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366087" y="4257063"/>
                <a:ext cx="1175322" cy="307777"/>
              </a:xfrm>
              <a:prstGeom prst="rect">
                <a:avLst/>
              </a:prstGeom>
              <a:noFill/>
              <a:ln>
                <a:noFill/>
              </a:ln>
            </p:spPr>
            <p:txBody>
              <a:bodyPr wrap="none" rtlCol="0">
                <a:spAutoFit/>
              </a:bodyPr>
              <a:lstStyle/>
              <a:p>
                <a:r>
                  <a:rPr lang="en-US" sz="1400" b="1" dirty="0">
                    <a:solidFill>
                      <a:schemeClr val="bg2"/>
                    </a:solidFill>
                    <a:latin typeface="Century Gothic" panose="020B0502020202020204" pitchFamily="34" charset="0"/>
                    <a:ea typeface="Times New Roman" charset="0"/>
                    <a:cs typeface="Times New Roman" charset="0"/>
                  </a:rPr>
                  <a:t>police </a:t>
                </a:r>
                <a:r>
                  <a:rPr lang="en-US" sz="1400" b="1" u="sng" dirty="0">
                    <a:solidFill>
                      <a:schemeClr val="bg2"/>
                    </a:solidFill>
                    <a:latin typeface="Century Gothic" panose="020B0502020202020204" pitchFamily="34" charset="0"/>
                    <a:ea typeface="Times New Roman" charset="0"/>
                    <a:cs typeface="Times New Roman" charset="0"/>
                  </a:rPr>
                  <a:t>tried</a:t>
                </a:r>
              </a:p>
            </p:txBody>
          </p:sp>
          <p:sp>
            <p:nvSpPr>
              <p:cNvPr id="15" name="TextBox 14"/>
              <p:cNvSpPr txBox="1"/>
              <p:nvPr/>
            </p:nvSpPr>
            <p:spPr>
              <a:xfrm>
                <a:off x="6355510" y="4243106"/>
                <a:ext cx="1580882" cy="307777"/>
              </a:xfrm>
              <a:prstGeom prst="rect">
                <a:avLst/>
              </a:prstGeom>
              <a:noFill/>
              <a:ln>
                <a:noFill/>
              </a:ln>
            </p:spPr>
            <p:txBody>
              <a:bodyPr wrap="none" rtlCol="0">
                <a:spAutoFit/>
              </a:bodyPr>
              <a:lstStyle/>
              <a:p>
                <a:r>
                  <a:rPr lang="en-US" sz="1400" b="1" dirty="0">
                    <a:solidFill>
                      <a:schemeClr val="bg2"/>
                    </a:solidFill>
                    <a:latin typeface="Century Gothic" panose="020B0502020202020204" pitchFamily="34" charset="0"/>
                    <a:ea typeface="Times New Roman" charset="0"/>
                    <a:cs typeface="Times New Roman" charset="0"/>
                  </a:rPr>
                  <a:t>51 people </a:t>
                </a:r>
                <a:r>
                  <a:rPr lang="en-US" sz="1400" b="1" u="sng" dirty="0">
                    <a:solidFill>
                      <a:schemeClr val="bg2"/>
                    </a:solidFill>
                    <a:latin typeface="Century Gothic" panose="020B0502020202020204" pitchFamily="34" charset="0"/>
                    <a:ea typeface="Times New Roman" charset="0"/>
                    <a:cs typeface="Times New Roman" charset="0"/>
                  </a:rPr>
                  <a:t>killed</a:t>
                </a:r>
              </a:p>
            </p:txBody>
          </p:sp>
          <p:sp>
            <p:nvSpPr>
              <p:cNvPr id="16" name="TextBox 15"/>
              <p:cNvSpPr txBox="1"/>
              <p:nvPr/>
            </p:nvSpPr>
            <p:spPr>
              <a:xfrm>
                <a:off x="3569311" y="2920187"/>
                <a:ext cx="1712328" cy="307777"/>
              </a:xfrm>
              <a:prstGeom prst="rect">
                <a:avLst/>
              </a:prstGeom>
              <a:noFill/>
              <a:ln>
                <a:noFill/>
              </a:ln>
            </p:spPr>
            <p:txBody>
              <a:bodyPr wrap="none" rtlCol="0">
                <a:spAutoFit/>
              </a:bodyPr>
              <a:lstStyle/>
              <a:p>
                <a:r>
                  <a:rPr lang="en-US" sz="1400" b="1" dirty="0">
                    <a:solidFill>
                      <a:schemeClr val="bg2"/>
                    </a:solidFill>
                    <a:latin typeface="Century Gothic" panose="020B0502020202020204" pitchFamily="34" charset="0"/>
                    <a:ea typeface="Times New Roman" charset="0"/>
                    <a:cs typeface="Times New Roman" charset="0"/>
                  </a:rPr>
                  <a:t>to </a:t>
                </a:r>
                <a:r>
                  <a:rPr lang="en-US" sz="1400" b="1" u="sng" dirty="0">
                    <a:solidFill>
                      <a:schemeClr val="bg2"/>
                    </a:solidFill>
                    <a:latin typeface="Century Gothic" panose="020B0502020202020204" pitchFamily="34" charset="0"/>
                    <a:ea typeface="Times New Roman" charset="0"/>
                    <a:cs typeface="Times New Roman" charset="0"/>
                  </a:rPr>
                  <a:t>eliminate</a:t>
                </a:r>
                <a:r>
                  <a:rPr lang="en-US" sz="1400" b="1" dirty="0">
                    <a:solidFill>
                      <a:schemeClr val="bg2"/>
                    </a:solidFill>
                    <a:latin typeface="Century Gothic" panose="020B0502020202020204" pitchFamily="34" charset="0"/>
                    <a:ea typeface="Times New Roman" charset="0"/>
                    <a:cs typeface="Times New Roman" charset="0"/>
                  </a:rPr>
                  <a:t> army</a:t>
                </a:r>
              </a:p>
            </p:txBody>
          </p:sp>
          <p:sp>
            <p:nvSpPr>
              <p:cNvPr id="21" name="TextBox 20"/>
              <p:cNvSpPr txBox="1"/>
              <p:nvPr/>
            </p:nvSpPr>
            <p:spPr>
              <a:xfrm>
                <a:off x="3976602" y="2095938"/>
                <a:ext cx="1293944" cy="307777"/>
              </a:xfrm>
              <a:prstGeom prst="rect">
                <a:avLst/>
              </a:prstGeom>
              <a:noFill/>
              <a:ln>
                <a:noFill/>
              </a:ln>
            </p:spPr>
            <p:txBody>
              <a:bodyPr wrap="none" rtlCol="0">
                <a:spAutoFit/>
              </a:bodyPr>
              <a:lstStyle/>
              <a:p>
                <a:r>
                  <a:rPr lang="en-US" sz="1400" b="1" u="sng" dirty="0">
                    <a:solidFill>
                      <a:schemeClr val="bg2"/>
                    </a:solidFill>
                    <a:latin typeface="Century Gothic" panose="020B0502020202020204" pitchFamily="34" charset="0"/>
                    <a:ea typeface="Times New Roman" charset="0"/>
                    <a:cs typeface="Times New Roman" charset="0"/>
                  </a:rPr>
                  <a:t>restore</a:t>
                </a:r>
                <a:r>
                  <a:rPr lang="en-US" sz="1400" b="1" dirty="0">
                    <a:solidFill>
                      <a:schemeClr val="bg2"/>
                    </a:solidFill>
                    <a:latin typeface="Century Gothic" panose="020B0502020202020204" pitchFamily="34" charset="0"/>
                    <a:ea typeface="Times New Roman" charset="0"/>
                    <a:cs typeface="Times New Roman" charset="0"/>
                  </a:rPr>
                  <a:t> order</a:t>
                </a:r>
              </a:p>
            </p:txBody>
          </p:sp>
        </p:grpSp>
        <p:sp>
          <p:nvSpPr>
            <p:cNvPr id="6" name="Oval 5"/>
            <p:cNvSpPr/>
            <p:nvPr/>
          </p:nvSpPr>
          <p:spPr>
            <a:xfrm>
              <a:off x="4113545" y="2293769"/>
              <a:ext cx="166255" cy="166255"/>
            </a:xfrm>
            <a:prstGeom prst="ellipse">
              <a:avLst/>
            </a:prstGeom>
            <a:solidFill>
              <a:srgbClr val="665E8A"/>
            </a:solidFill>
            <a:ln w="38100">
              <a:no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solidFill>
              </a:endParaRPr>
            </a:p>
          </p:txBody>
        </p:sp>
        <p:sp>
          <p:nvSpPr>
            <p:cNvPr id="7" name="Oval 6"/>
            <p:cNvSpPr/>
            <p:nvPr/>
          </p:nvSpPr>
          <p:spPr>
            <a:xfrm>
              <a:off x="4113545" y="1352255"/>
              <a:ext cx="166255" cy="166255"/>
            </a:xfrm>
            <a:prstGeom prst="ellipse">
              <a:avLst/>
            </a:prstGeom>
            <a:solidFill>
              <a:srgbClr val="665E8A"/>
            </a:solidFill>
            <a:ln w="38100">
              <a:no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solidFill>
              </a:endParaRPr>
            </a:p>
          </p:txBody>
        </p:sp>
        <p:sp>
          <p:nvSpPr>
            <p:cNvPr id="8" name="Oval 7"/>
            <p:cNvSpPr/>
            <p:nvPr/>
          </p:nvSpPr>
          <p:spPr>
            <a:xfrm>
              <a:off x="5670759" y="2293769"/>
              <a:ext cx="166255" cy="166255"/>
            </a:xfrm>
            <a:prstGeom prst="ellipse">
              <a:avLst/>
            </a:prstGeom>
            <a:solidFill>
              <a:srgbClr val="665E8A"/>
            </a:solidFill>
            <a:ln w="38100">
              <a:no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solidFill>
              </a:endParaRPr>
            </a:p>
          </p:txBody>
        </p:sp>
        <p:sp>
          <p:nvSpPr>
            <p:cNvPr id="22" name="Oval 21"/>
            <p:cNvSpPr/>
            <p:nvPr/>
          </p:nvSpPr>
          <p:spPr>
            <a:xfrm>
              <a:off x="4113545" y="383648"/>
              <a:ext cx="166255" cy="166255"/>
            </a:xfrm>
            <a:prstGeom prst="ellipse">
              <a:avLst/>
            </a:prstGeom>
            <a:solidFill>
              <a:srgbClr val="665E8A"/>
            </a:solidFill>
            <a:ln w="38100">
              <a:no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solidFill>
              </a:endParaRPr>
            </a:p>
          </p:txBody>
        </p:sp>
      </p:grpSp>
      <p:grpSp>
        <p:nvGrpSpPr>
          <p:cNvPr id="32" name="Group 31"/>
          <p:cNvGrpSpPr/>
          <p:nvPr/>
        </p:nvGrpSpPr>
        <p:grpSpPr>
          <a:xfrm>
            <a:off x="4874663" y="4421433"/>
            <a:ext cx="524665" cy="1295138"/>
            <a:chOff x="4648200" y="4248110"/>
            <a:chExt cx="524665" cy="1295138"/>
          </a:xfrm>
        </p:grpSpPr>
        <p:sp>
          <p:nvSpPr>
            <p:cNvPr id="24" name="Multiply 23"/>
            <p:cNvSpPr/>
            <p:nvPr/>
          </p:nvSpPr>
          <p:spPr>
            <a:xfrm>
              <a:off x="4648200" y="5018583"/>
              <a:ext cx="524665" cy="524665"/>
            </a:xfrm>
            <a:prstGeom prst="mathMultiply">
              <a:avLst/>
            </a:prstGeom>
            <a:solidFill>
              <a:srgbClr val="FF0000"/>
            </a:solidFill>
            <a:ln w="3175">
              <a:solidFill>
                <a:srgbClr val="FF0000"/>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Multiply 29"/>
            <p:cNvSpPr/>
            <p:nvPr/>
          </p:nvSpPr>
          <p:spPr>
            <a:xfrm>
              <a:off x="4648200" y="4248110"/>
              <a:ext cx="524665" cy="524665"/>
            </a:xfrm>
            <a:prstGeom prst="mathMultiply">
              <a:avLst/>
            </a:prstGeom>
            <a:solidFill>
              <a:srgbClr val="FF0000"/>
            </a:solidFill>
            <a:ln w="3175">
              <a:solidFill>
                <a:srgbClr val="FF0000"/>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39" name="Group 38"/>
          <p:cNvGrpSpPr/>
          <p:nvPr/>
        </p:nvGrpSpPr>
        <p:grpSpPr>
          <a:xfrm>
            <a:off x="3097966" y="4121149"/>
            <a:ext cx="2099862" cy="2776139"/>
            <a:chOff x="2871503" y="3947826"/>
            <a:chExt cx="2099862" cy="2776139"/>
          </a:xfrm>
        </p:grpSpPr>
        <p:sp>
          <p:nvSpPr>
            <p:cNvPr id="37" name="TextBox 36"/>
            <p:cNvSpPr txBox="1"/>
            <p:nvPr/>
          </p:nvSpPr>
          <p:spPr>
            <a:xfrm>
              <a:off x="2871503" y="3947826"/>
              <a:ext cx="646331" cy="646331"/>
            </a:xfrm>
            <a:prstGeom prst="rect">
              <a:avLst/>
            </a:prstGeom>
            <a:noFill/>
          </p:spPr>
          <p:txBody>
            <a:bodyPr wrap="none" rtlCol="0">
              <a:spAutoFit/>
            </a:bodyPr>
            <a:lstStyle/>
            <a:p>
              <a:r>
                <a:rPr lang="en-US" sz="3600" dirty="0">
                  <a:solidFill>
                    <a:srgbClr val="00B050"/>
                  </a:solidFill>
                </a:rPr>
                <a:t>✓</a:t>
              </a:r>
            </a:p>
          </p:txBody>
        </p:sp>
        <p:sp>
          <p:nvSpPr>
            <p:cNvPr id="38" name="TextBox 37"/>
            <p:cNvSpPr txBox="1"/>
            <p:nvPr/>
          </p:nvSpPr>
          <p:spPr>
            <a:xfrm>
              <a:off x="2871503" y="4994970"/>
              <a:ext cx="646331" cy="646331"/>
            </a:xfrm>
            <a:prstGeom prst="rect">
              <a:avLst/>
            </a:prstGeom>
            <a:noFill/>
          </p:spPr>
          <p:txBody>
            <a:bodyPr wrap="none" rtlCol="0">
              <a:spAutoFit/>
            </a:bodyPr>
            <a:lstStyle/>
            <a:p>
              <a:r>
                <a:rPr lang="en-US" sz="3600" dirty="0">
                  <a:solidFill>
                    <a:srgbClr val="00B050"/>
                  </a:solidFill>
                </a:rPr>
                <a:t>✓</a:t>
              </a:r>
            </a:p>
          </p:txBody>
        </p:sp>
        <p:sp>
          <p:nvSpPr>
            <p:cNvPr id="41" name="TextBox 40"/>
            <p:cNvSpPr txBox="1"/>
            <p:nvPr/>
          </p:nvSpPr>
          <p:spPr>
            <a:xfrm>
              <a:off x="4325034" y="6077634"/>
              <a:ext cx="646331" cy="646331"/>
            </a:xfrm>
            <a:prstGeom prst="rect">
              <a:avLst/>
            </a:prstGeom>
            <a:noFill/>
          </p:spPr>
          <p:txBody>
            <a:bodyPr wrap="none" rtlCol="0">
              <a:spAutoFit/>
            </a:bodyPr>
            <a:lstStyle/>
            <a:p>
              <a:r>
                <a:rPr lang="en-US" sz="3600" dirty="0">
                  <a:solidFill>
                    <a:srgbClr val="00B050"/>
                  </a:solidFill>
                </a:rPr>
                <a:t>✓</a:t>
              </a:r>
            </a:p>
          </p:txBody>
        </p:sp>
      </p:grpSp>
      <p:grpSp>
        <p:nvGrpSpPr>
          <p:cNvPr id="42" name="Group 41"/>
          <p:cNvGrpSpPr/>
          <p:nvPr/>
        </p:nvGrpSpPr>
        <p:grpSpPr>
          <a:xfrm>
            <a:off x="3499052" y="4128444"/>
            <a:ext cx="2101516" cy="2301365"/>
            <a:chOff x="3272589" y="3955121"/>
            <a:chExt cx="2101516" cy="2301365"/>
          </a:xfrm>
        </p:grpSpPr>
        <p:grpSp>
          <p:nvGrpSpPr>
            <p:cNvPr id="36" name="Group 35"/>
            <p:cNvGrpSpPr/>
            <p:nvPr/>
          </p:nvGrpSpPr>
          <p:grpSpPr>
            <a:xfrm>
              <a:off x="3272589" y="3955121"/>
              <a:ext cx="497306" cy="1884205"/>
              <a:chOff x="3272589" y="3955121"/>
              <a:chExt cx="497306" cy="1884205"/>
            </a:xfrm>
          </p:grpSpPr>
          <p:sp>
            <p:nvSpPr>
              <p:cNvPr id="33" name="Freeform 32"/>
              <p:cNvSpPr/>
              <p:nvPr/>
            </p:nvSpPr>
            <p:spPr>
              <a:xfrm>
                <a:off x="3272589" y="4940968"/>
                <a:ext cx="497306" cy="898358"/>
              </a:xfrm>
              <a:custGeom>
                <a:avLst/>
                <a:gdLst>
                  <a:gd name="connsiteX0" fmla="*/ 497306 w 497306"/>
                  <a:gd name="connsiteY0" fmla="*/ 898358 h 898358"/>
                  <a:gd name="connsiteX1" fmla="*/ 0 w 497306"/>
                  <a:gd name="connsiteY1" fmla="*/ 417095 h 898358"/>
                  <a:gd name="connsiteX2" fmla="*/ 497306 w 497306"/>
                  <a:gd name="connsiteY2" fmla="*/ 0 h 898358"/>
                </a:gdLst>
                <a:ahLst/>
                <a:cxnLst>
                  <a:cxn ang="0">
                    <a:pos x="connsiteX0" y="connsiteY0"/>
                  </a:cxn>
                  <a:cxn ang="0">
                    <a:pos x="connsiteX1" y="connsiteY1"/>
                  </a:cxn>
                  <a:cxn ang="0">
                    <a:pos x="connsiteX2" y="connsiteY2"/>
                  </a:cxn>
                </a:cxnLst>
                <a:rect l="l" t="t" r="r" b="b"/>
                <a:pathLst>
                  <a:path w="497306" h="898358">
                    <a:moveTo>
                      <a:pt x="497306" y="898358"/>
                    </a:moveTo>
                    <a:cubicBezTo>
                      <a:pt x="248653" y="732589"/>
                      <a:pt x="0" y="566821"/>
                      <a:pt x="0" y="417095"/>
                    </a:cubicBezTo>
                    <a:cubicBezTo>
                      <a:pt x="0" y="267369"/>
                      <a:pt x="497306" y="0"/>
                      <a:pt x="497306" y="0"/>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a:off x="3272589" y="3955121"/>
                <a:ext cx="497306" cy="898358"/>
              </a:xfrm>
              <a:custGeom>
                <a:avLst/>
                <a:gdLst>
                  <a:gd name="connsiteX0" fmla="*/ 497306 w 497306"/>
                  <a:gd name="connsiteY0" fmla="*/ 898358 h 898358"/>
                  <a:gd name="connsiteX1" fmla="*/ 0 w 497306"/>
                  <a:gd name="connsiteY1" fmla="*/ 417095 h 898358"/>
                  <a:gd name="connsiteX2" fmla="*/ 497306 w 497306"/>
                  <a:gd name="connsiteY2" fmla="*/ 0 h 898358"/>
                </a:gdLst>
                <a:ahLst/>
                <a:cxnLst>
                  <a:cxn ang="0">
                    <a:pos x="connsiteX0" y="connsiteY0"/>
                  </a:cxn>
                  <a:cxn ang="0">
                    <a:pos x="connsiteX1" y="connsiteY1"/>
                  </a:cxn>
                  <a:cxn ang="0">
                    <a:pos x="connsiteX2" y="connsiteY2"/>
                  </a:cxn>
                </a:cxnLst>
                <a:rect l="l" t="t" r="r" b="b"/>
                <a:pathLst>
                  <a:path w="497306" h="898358">
                    <a:moveTo>
                      <a:pt x="497306" y="898358"/>
                    </a:moveTo>
                    <a:cubicBezTo>
                      <a:pt x="248653" y="732589"/>
                      <a:pt x="0" y="566821"/>
                      <a:pt x="0" y="417095"/>
                    </a:cubicBezTo>
                    <a:cubicBezTo>
                      <a:pt x="0" y="267369"/>
                      <a:pt x="497306" y="0"/>
                      <a:pt x="497306" y="0"/>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Freeform 39"/>
            <p:cNvSpPr/>
            <p:nvPr/>
          </p:nvSpPr>
          <p:spPr>
            <a:xfrm>
              <a:off x="3818021" y="5903495"/>
              <a:ext cx="1556084" cy="352991"/>
            </a:xfrm>
            <a:custGeom>
              <a:avLst/>
              <a:gdLst>
                <a:gd name="connsiteX0" fmla="*/ 0 w 1556084"/>
                <a:gd name="connsiteY0" fmla="*/ 0 h 352991"/>
                <a:gd name="connsiteX1" fmla="*/ 850232 w 1556084"/>
                <a:gd name="connsiteY1" fmla="*/ 352926 h 352991"/>
                <a:gd name="connsiteX2" fmla="*/ 1556084 w 1556084"/>
                <a:gd name="connsiteY2" fmla="*/ 32084 h 352991"/>
              </a:gdLst>
              <a:ahLst/>
              <a:cxnLst>
                <a:cxn ang="0">
                  <a:pos x="connsiteX0" y="connsiteY0"/>
                </a:cxn>
                <a:cxn ang="0">
                  <a:pos x="connsiteX1" y="connsiteY1"/>
                </a:cxn>
                <a:cxn ang="0">
                  <a:pos x="connsiteX2" y="connsiteY2"/>
                </a:cxn>
              </a:cxnLst>
              <a:rect l="l" t="t" r="r" b="b"/>
              <a:pathLst>
                <a:path w="1556084" h="352991">
                  <a:moveTo>
                    <a:pt x="0" y="0"/>
                  </a:moveTo>
                  <a:cubicBezTo>
                    <a:pt x="295442" y="173789"/>
                    <a:pt x="590885" y="347579"/>
                    <a:pt x="850232" y="352926"/>
                  </a:cubicBezTo>
                  <a:cubicBezTo>
                    <a:pt x="1109579" y="358273"/>
                    <a:pt x="1556084" y="32084"/>
                    <a:pt x="1556084" y="32084"/>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TextBox 33"/>
          <p:cNvSpPr txBox="1"/>
          <p:nvPr/>
        </p:nvSpPr>
        <p:spPr>
          <a:xfrm>
            <a:off x="4254941" y="3452446"/>
            <a:ext cx="1330814" cy="307777"/>
          </a:xfrm>
          <a:prstGeom prst="rect">
            <a:avLst/>
          </a:prstGeom>
          <a:noFill/>
        </p:spPr>
        <p:txBody>
          <a:bodyPr wrap="none" rtlCol="0">
            <a:spAutoFit/>
          </a:bodyPr>
          <a:lstStyle/>
          <a:p>
            <a:r>
              <a:rPr lang="en-US" sz="1400" b="1" i="1" dirty="0">
                <a:solidFill>
                  <a:srgbClr val="C27990"/>
                </a:solidFill>
                <a:latin typeface="Century Gothic" panose="020B0502020202020204" pitchFamily="34" charset="0"/>
              </a:rPr>
              <a:t>Intention axis</a:t>
            </a:r>
          </a:p>
        </p:txBody>
      </p:sp>
      <p:sp>
        <p:nvSpPr>
          <p:cNvPr id="43" name="TextBox 42"/>
          <p:cNvSpPr txBox="1"/>
          <p:nvPr/>
        </p:nvSpPr>
        <p:spPr>
          <a:xfrm>
            <a:off x="6911717" y="5943180"/>
            <a:ext cx="1007007" cy="307777"/>
          </a:xfrm>
          <a:prstGeom prst="rect">
            <a:avLst/>
          </a:prstGeom>
          <a:noFill/>
        </p:spPr>
        <p:txBody>
          <a:bodyPr wrap="none" rtlCol="0">
            <a:spAutoFit/>
          </a:bodyPr>
          <a:lstStyle/>
          <a:p>
            <a:r>
              <a:rPr lang="en-US" sz="1400" b="1" i="1" dirty="0">
                <a:solidFill>
                  <a:srgbClr val="C27990"/>
                </a:solidFill>
                <a:latin typeface="Century Gothic" panose="020B0502020202020204" pitchFamily="34" charset="0"/>
              </a:rPr>
              <a:t>Main axis</a:t>
            </a:r>
          </a:p>
        </p:txBody>
      </p:sp>
      <p:sp>
        <p:nvSpPr>
          <p:cNvPr id="44" name="TextBox 43">
            <a:extLst>
              <a:ext uri="{FF2B5EF4-FFF2-40B4-BE49-F238E27FC236}">
                <a16:creationId xmlns:a16="http://schemas.microsoft.com/office/drawing/2014/main" xmlns="" id="{BD667938-435A-9042-B386-E0FEC45553B1}"/>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spTree>
    <p:extLst>
      <p:ext uri="{BB962C8B-B14F-4D97-AF65-F5344CB8AC3E}">
        <p14:creationId xmlns:p14="http://schemas.microsoft.com/office/powerpoint/2010/main" val="1173615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dissolve">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dissolve">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dissolve">
                                      <p:cBhvr>
                                        <p:cTn id="27" dur="500"/>
                                        <p:tgtEl>
                                          <p:spTgt spid="42"/>
                                        </p:tgtEl>
                                      </p:cBhvr>
                                    </p:animEffect>
                                  </p:childTnLst>
                                </p:cTn>
                              </p:par>
                              <p:par>
                                <p:cTn id="28" presetID="9" presetClass="entr" presetSubtype="0" fill="hold"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dissolve">
                                      <p:cBhvr>
                                        <p:cTn id="30" dur="500"/>
                                        <p:tgtEl>
                                          <p:spTgt spid="3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dissolve">
                                      <p:cBhvr>
                                        <p:cTn id="35" dur="500"/>
                                        <p:tgtEl>
                                          <p:spTgt spid="31"/>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dissolve">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4" grpId="0"/>
      <p:bldP spid="4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solution: multi-axis</a:t>
            </a:r>
          </a:p>
        </p:txBody>
      </p:sp>
      <p:sp>
        <p:nvSpPr>
          <p:cNvPr id="3" name="Content Placeholder 2"/>
          <p:cNvSpPr>
            <a:spLocks noGrp="1"/>
          </p:cNvSpPr>
          <p:nvPr>
            <p:ph idx="1"/>
          </p:nvPr>
        </p:nvSpPr>
        <p:spPr/>
        <p:txBody>
          <a:bodyPr/>
          <a:lstStyle/>
          <a:p>
            <a:pPr marL="0" indent="0">
              <a:buNone/>
            </a:pPr>
            <a:r>
              <a:rPr lang="en-US" dirty="0"/>
              <a:t>We complete a set of definitions for axes</a:t>
            </a:r>
          </a:p>
          <a:p>
            <a:endParaRPr lang="en-US" dirty="0"/>
          </a:p>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xmlns="" id="{9117A306-8441-D440-8856-11BA4F8B32F1}"/>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graphicFrame>
        <p:nvGraphicFramePr>
          <p:cNvPr id="6" name="Table 5">
            <a:extLst>
              <a:ext uri="{FF2B5EF4-FFF2-40B4-BE49-F238E27FC236}">
                <a16:creationId xmlns:a16="http://schemas.microsoft.com/office/drawing/2014/main" xmlns="" id="{4AA603B3-74DC-7C48-9160-1E5B32C000D2}"/>
              </a:ext>
            </a:extLst>
          </p:cNvPr>
          <p:cNvGraphicFramePr>
            <a:graphicFrameLocks noGrp="1"/>
          </p:cNvGraphicFramePr>
          <p:nvPr>
            <p:extLst>
              <p:ext uri="{D42A27DB-BD31-4B8C-83A1-F6EECF244321}">
                <p14:modId xmlns:p14="http://schemas.microsoft.com/office/powerpoint/2010/main" val="569857473"/>
              </p:ext>
            </p:extLst>
          </p:nvPr>
        </p:nvGraphicFramePr>
        <p:xfrm>
          <a:off x="576261" y="2418637"/>
          <a:ext cx="7972426" cy="3182004"/>
        </p:xfrm>
        <a:graphic>
          <a:graphicData uri="http://schemas.openxmlformats.org/drawingml/2006/table">
            <a:tbl>
              <a:tblPr firstRow="1" bandRow="1">
                <a:tableStyleId>{5940675A-B579-460E-94D1-54222C63F5DA}</a:tableStyleId>
              </a:tblPr>
              <a:tblGrid>
                <a:gridCol w="3356811">
                  <a:extLst>
                    <a:ext uri="{9D8B030D-6E8A-4147-A177-3AD203B41FA5}">
                      <a16:colId xmlns:a16="http://schemas.microsoft.com/office/drawing/2014/main" xmlns="" val="4032749486"/>
                    </a:ext>
                  </a:extLst>
                </a:gridCol>
                <a:gridCol w="3776412">
                  <a:extLst>
                    <a:ext uri="{9D8B030D-6E8A-4147-A177-3AD203B41FA5}">
                      <a16:colId xmlns:a16="http://schemas.microsoft.com/office/drawing/2014/main" xmlns="" val="1662114478"/>
                    </a:ext>
                  </a:extLst>
                </a:gridCol>
                <a:gridCol w="839203">
                  <a:extLst>
                    <a:ext uri="{9D8B030D-6E8A-4147-A177-3AD203B41FA5}">
                      <a16:colId xmlns:a16="http://schemas.microsoft.com/office/drawing/2014/main" xmlns="" val="118045171"/>
                    </a:ext>
                  </a:extLst>
                </a:gridCol>
              </a:tblGrid>
              <a:tr h="370840">
                <a:tc>
                  <a:txBody>
                    <a:bodyPr/>
                    <a:lstStyle/>
                    <a:p>
                      <a:pPr algn="ctr"/>
                      <a:r>
                        <a:rPr lang="en-US" sz="3200" i="1" dirty="0">
                          <a:solidFill>
                            <a:schemeClr val="bg2"/>
                          </a:solidFill>
                          <a:latin typeface="Century Gothic" panose="020B0502020202020204" pitchFamily="34" charset="0"/>
                        </a:rPr>
                        <a:t>Event Type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tc>
                  <a:txBody>
                    <a:bodyPr/>
                    <a:lstStyle/>
                    <a:p>
                      <a:pPr algn="ctr"/>
                      <a:r>
                        <a:rPr lang="en-US" sz="3200" i="1" dirty="0">
                          <a:solidFill>
                            <a:schemeClr val="bg2"/>
                          </a:solidFill>
                          <a:latin typeface="Century Gothic" panose="020B0502020202020204" pitchFamily="34" charset="0"/>
                        </a:rPr>
                        <a:t>Axis Type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tc>
                  <a:txBody>
                    <a:bodyPr/>
                    <a:lstStyle/>
                    <a:p>
                      <a:pPr algn="ctr"/>
                      <a:r>
                        <a:rPr lang="en-US" sz="3200" dirty="0">
                          <a:solidFill>
                            <a:sysClr val="windowText" lastClr="000000"/>
                          </a:solidFill>
                          <a:latin typeface="Century Gothic" panose="020B0502020202020204" pitchFamily="34" charset="0"/>
                        </a:rPr>
                        <a:t>%</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extLst>
                  <a:ext uri="{0D108BD9-81ED-4DB2-BD59-A6C34878D82A}">
                    <a16:rowId xmlns:a16="http://schemas.microsoft.com/office/drawing/2014/main" xmlns="" val="831685165"/>
                  </a:ext>
                </a:extLst>
              </a:tr>
              <a:tr h="370840">
                <a:tc>
                  <a:txBody>
                    <a:bodyPr/>
                    <a:lstStyle/>
                    <a:p>
                      <a:r>
                        <a:rPr lang="en-US" sz="2400" dirty="0">
                          <a:solidFill>
                            <a:sysClr val="windowText" lastClr="000000"/>
                          </a:solidFill>
                          <a:latin typeface="Century Gothic" panose="020B0502020202020204" pitchFamily="34" charset="0"/>
                        </a:rPr>
                        <a:t>intention, opinion</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orthogonal axis</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~20</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4049109764"/>
                  </a:ext>
                </a:extLst>
              </a:tr>
              <a:tr h="370840">
                <a:tc>
                  <a:txBody>
                    <a:bodyPr/>
                    <a:lstStyle/>
                    <a:p>
                      <a:r>
                        <a:rPr lang="en-US" sz="2400" dirty="0">
                          <a:solidFill>
                            <a:sysClr val="windowText" lastClr="000000"/>
                          </a:solidFill>
                          <a:latin typeface="Century Gothic" panose="020B0502020202020204" pitchFamily="34" charset="0"/>
                        </a:rPr>
                        <a:t>hypothesis, generic</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parallel axis</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rowSpan="3">
                  <a:txBody>
                    <a:bodyPr/>
                    <a:lstStyle/>
                    <a:p>
                      <a:r>
                        <a:rPr lang="en-US" sz="2400" dirty="0">
                          <a:solidFill>
                            <a:sysClr val="windowText" lastClr="000000"/>
                          </a:solidFill>
                          <a:latin typeface="Century Gothic" panose="020B0502020202020204" pitchFamily="34" charset="0"/>
                        </a:rPr>
                        <a:t>~10</a:t>
                      </a:r>
                    </a:p>
                  </a:txBody>
                  <a:tcPr marL="144254" marR="144254" marT="72127" marB="72127"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3722957401"/>
                  </a:ext>
                </a:extLst>
              </a:tr>
              <a:tr h="370840">
                <a:tc>
                  <a:txBody>
                    <a:bodyPr/>
                    <a:lstStyle/>
                    <a:p>
                      <a:r>
                        <a:rPr lang="en-US" sz="2400" dirty="0">
                          <a:solidFill>
                            <a:sysClr val="windowText" lastClr="000000"/>
                          </a:solidFill>
                          <a:latin typeface="Century Gothic" panose="020B0502020202020204" pitchFamily="34" charset="0"/>
                        </a:rPr>
                        <a:t>negation</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not on any axis</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vMerge="1">
                  <a:txBody>
                    <a:bodyPr/>
                    <a:lstStyle/>
                    <a:p>
                      <a:endParaRPr lang="en-US" sz="1600" dirty="0">
                        <a:solidFill>
                          <a:sysClr val="windowText" lastClr="000000"/>
                        </a:solidFill>
                      </a:endParaRPr>
                    </a:p>
                  </a:txBody>
                  <a:tcPr marL="96702" marR="96702" marT="48351" marB="48351">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3582377463"/>
                  </a:ext>
                </a:extLst>
              </a:tr>
              <a:tr h="370840">
                <a:tc>
                  <a:txBody>
                    <a:bodyPr/>
                    <a:lstStyle/>
                    <a:p>
                      <a:r>
                        <a:rPr lang="en-US" sz="2400" dirty="0">
                          <a:solidFill>
                            <a:sysClr val="windowText" lastClr="000000"/>
                          </a:solidFill>
                          <a:latin typeface="Century Gothic" panose="020B0502020202020204" pitchFamily="34" charset="0"/>
                        </a:rPr>
                        <a:t>static,</a:t>
                      </a:r>
                      <a:r>
                        <a:rPr lang="en-US" sz="2400" baseline="0" dirty="0">
                          <a:solidFill>
                            <a:sysClr val="windowText" lastClr="000000"/>
                          </a:solidFill>
                          <a:latin typeface="Century Gothic" panose="020B0502020202020204" pitchFamily="34" charset="0"/>
                        </a:rPr>
                        <a:t> recurrent</a:t>
                      </a:r>
                      <a:endParaRPr lang="en-US" sz="2400" dirty="0">
                        <a:solidFill>
                          <a:sysClr val="windowText" lastClr="000000"/>
                        </a:solidFill>
                        <a:latin typeface="Century Gothic" panose="020B0502020202020204" pitchFamily="34" charset="0"/>
                      </a:endParaRP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not considered</a:t>
                      </a:r>
                      <a:r>
                        <a:rPr lang="en-US" sz="2400" baseline="0" dirty="0">
                          <a:solidFill>
                            <a:sysClr val="windowText" lastClr="000000"/>
                          </a:solidFill>
                          <a:latin typeface="Century Gothic" panose="020B0502020202020204" pitchFamily="34" charset="0"/>
                        </a:rPr>
                        <a:t> now</a:t>
                      </a:r>
                      <a:endParaRPr lang="en-US" sz="2400" dirty="0">
                        <a:solidFill>
                          <a:sysClr val="windowText" lastClr="000000"/>
                        </a:solidFill>
                        <a:latin typeface="Century Gothic" panose="020B0502020202020204" pitchFamily="34" charset="0"/>
                      </a:endParaRP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vMerge="1">
                  <a:txBody>
                    <a:bodyPr/>
                    <a:lstStyle/>
                    <a:p>
                      <a:endParaRPr lang="en-US" sz="1600" dirty="0">
                        <a:solidFill>
                          <a:sysClr val="windowText" lastClr="000000"/>
                        </a:solidFill>
                      </a:endParaRPr>
                    </a:p>
                  </a:txBody>
                  <a:tcPr marL="96702" marR="96702" marT="48351" marB="48351">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1228930219"/>
                  </a:ext>
                </a:extLst>
              </a:tr>
              <a:tr h="370840">
                <a:tc>
                  <a:txBody>
                    <a:bodyPr/>
                    <a:lstStyle/>
                    <a:p>
                      <a:r>
                        <a:rPr lang="en-US" sz="2400" dirty="0">
                          <a:solidFill>
                            <a:sysClr val="windowText" lastClr="000000"/>
                          </a:solidFill>
                          <a:latin typeface="Century Gothic" panose="020B0502020202020204" pitchFamily="34" charset="0"/>
                        </a:rPr>
                        <a:t>main</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main axis</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~70</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xmlns="" val="2393312665"/>
                  </a:ext>
                </a:extLst>
              </a:tr>
            </a:tbl>
          </a:graphicData>
        </a:graphic>
      </p:graphicFrame>
    </p:spTree>
    <p:extLst>
      <p:ext uri="{BB962C8B-B14F-4D97-AF65-F5344CB8AC3E}">
        <p14:creationId xmlns:p14="http://schemas.microsoft.com/office/powerpoint/2010/main" val="1972853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altLang="zh-CN" sz="3200" b="1" dirty="0"/>
              <a:t>20k:</a:t>
            </a:r>
            <a:r>
              <a:rPr lang="zh-CN" altLang="en-US" sz="3200" dirty="0"/>
              <a:t> </a:t>
            </a:r>
            <a:r>
              <a:rPr lang="en-US" sz="3200" dirty="0"/>
              <a:t>Annotated the </a:t>
            </a:r>
            <a:r>
              <a:rPr lang="en-US" altLang="zh-CN" sz="3200" dirty="0"/>
              <a:t>20k relations</a:t>
            </a:r>
          </a:p>
          <a:p>
            <a:pPr marL="0" indent="0">
              <a:buNone/>
            </a:pPr>
            <a:endParaRPr lang="en-US" sz="3200" dirty="0"/>
          </a:p>
          <a:p>
            <a:pPr marL="0" indent="0">
              <a:buNone/>
            </a:pPr>
            <a:r>
              <a:rPr lang="en-US" altLang="zh-CN" sz="3200" b="1" dirty="0"/>
              <a:t>1</a:t>
            </a:r>
            <a:r>
              <a:rPr lang="zh-CN" altLang="en-US" sz="3200" b="1" dirty="0"/>
              <a:t> </a:t>
            </a:r>
            <a:r>
              <a:rPr lang="en-US" altLang="zh-CN" sz="3200" b="1" dirty="0"/>
              <a:t>week:</a:t>
            </a:r>
            <a:r>
              <a:rPr lang="zh-CN" altLang="en-US" sz="3200" dirty="0"/>
              <a:t> </a:t>
            </a:r>
            <a:r>
              <a:rPr lang="en-US" sz="3200" dirty="0"/>
              <a:t>Finished in about one week using </a:t>
            </a:r>
            <a:r>
              <a:rPr lang="en-US" sz="3200" dirty="0">
                <a:solidFill>
                  <a:srgbClr val="C17A90"/>
                </a:solidFill>
              </a:rPr>
              <a:t>crowdsourcing</a:t>
            </a:r>
            <a:r>
              <a:rPr lang="en-US" sz="3200" dirty="0"/>
              <a:t> (actual time much shorter)</a:t>
            </a:r>
          </a:p>
          <a:p>
            <a:pPr marL="0" indent="0">
              <a:buNone/>
            </a:pPr>
            <a:endParaRPr lang="en-US" sz="3200" dirty="0"/>
          </a:p>
          <a:p>
            <a:pPr marL="0" indent="0">
              <a:buNone/>
            </a:pPr>
            <a:r>
              <a:rPr lang="en-US" altLang="zh-CN" sz="3200" b="1" dirty="0"/>
              <a:t>80%:</a:t>
            </a:r>
            <a:r>
              <a:rPr lang="zh-CN" altLang="en-US" sz="3200" dirty="0"/>
              <a:t> </a:t>
            </a:r>
            <a:r>
              <a:rPr lang="en-US" sz="3200" dirty="0"/>
              <a:t>IAA improved </a:t>
            </a:r>
            <a:r>
              <a:rPr lang="en-US" sz="3200" dirty="0">
                <a:solidFill>
                  <a:srgbClr val="C17A90"/>
                </a:solidFill>
              </a:rPr>
              <a:t>from literature’s 60% to 80%</a:t>
            </a:r>
            <a:r>
              <a:rPr lang="en-US" sz="3200" dirty="0"/>
              <a:t>, although those </a:t>
            </a:r>
            <a:r>
              <a:rPr lang="en-US" sz="3200" dirty="0" err="1"/>
              <a:t>crowdsourcers</a:t>
            </a:r>
            <a:r>
              <a:rPr lang="en-US" sz="3200" dirty="0"/>
              <a:t> are laymen in NLP</a:t>
            </a:r>
          </a:p>
        </p:txBody>
      </p:sp>
      <p:sp>
        <p:nvSpPr>
          <p:cNvPr id="2" name="Title 1"/>
          <p:cNvSpPr>
            <a:spLocks noGrp="1"/>
          </p:cNvSpPr>
          <p:nvPr>
            <p:ph type="title"/>
          </p:nvPr>
        </p:nvSpPr>
        <p:spPr/>
        <p:txBody>
          <a:bodyPr/>
          <a:lstStyle/>
          <a:p>
            <a:r>
              <a:rPr lang="en-US" dirty="0"/>
              <a:t>What we achieved</a:t>
            </a:r>
          </a:p>
        </p:txBody>
      </p:sp>
      <p:sp>
        <p:nvSpPr>
          <p:cNvPr id="5" name="TextBox 4">
            <a:extLst>
              <a:ext uri="{FF2B5EF4-FFF2-40B4-BE49-F238E27FC236}">
                <a16:creationId xmlns:a16="http://schemas.microsoft.com/office/drawing/2014/main" xmlns="" id="{0B27CBA3-79BE-A847-8226-18495346F699}"/>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spTree>
    <p:extLst>
      <p:ext uri="{BB962C8B-B14F-4D97-AF65-F5344CB8AC3E}">
        <p14:creationId xmlns:p14="http://schemas.microsoft.com/office/powerpoint/2010/main" val="12032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scheme: multi-axis</a:t>
            </a:r>
          </a:p>
        </p:txBody>
      </p:sp>
      <p:pic>
        <p:nvPicPr>
          <p:cNvPr id="4" name="Content Placeholder 3"/>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447800" y="1066800"/>
            <a:ext cx="6457981" cy="5181600"/>
          </a:xfrm>
          <a:prstGeom prst="rect">
            <a:avLst/>
          </a:prstGeom>
        </p:spPr>
      </p:pic>
      <p:sp>
        <p:nvSpPr>
          <p:cNvPr id="5" name="TextBox 4">
            <a:extLst>
              <a:ext uri="{FF2B5EF4-FFF2-40B4-BE49-F238E27FC236}">
                <a16:creationId xmlns:a16="http://schemas.microsoft.com/office/drawing/2014/main" xmlns="" id="{CED0AFE5-EA30-6346-8FAE-9E0BEBB8B43C}"/>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spTree>
    <p:extLst>
      <p:ext uri="{BB962C8B-B14F-4D97-AF65-F5344CB8AC3E}">
        <p14:creationId xmlns:p14="http://schemas.microsoft.com/office/powerpoint/2010/main" val="8173480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7">
            <a:extLst>
              <a:ext uri="{FF2B5EF4-FFF2-40B4-BE49-F238E27FC236}">
                <a16:creationId xmlns:a16="http://schemas.microsoft.com/office/drawing/2014/main" xmlns="" id="{60E1B2AE-F89F-3544-912B-BA63A56A1035}"/>
              </a:ext>
            </a:extLst>
          </p:cNvPr>
          <p:cNvSpPr>
            <a:spLocks noGrp="1"/>
          </p:cNvSpPr>
          <p:nvPr>
            <p:ph idx="1"/>
          </p:nvPr>
        </p:nvSpPr>
        <p:spPr>
          <a:xfrm>
            <a:off x="381000" y="958166"/>
            <a:ext cx="8534400" cy="5181600"/>
          </a:xfrm>
        </p:spPr>
        <p:txBody>
          <a:bodyPr/>
          <a:lstStyle/>
          <a:p>
            <a:pPr marL="0" indent="0">
              <a:buNone/>
            </a:pPr>
            <a:r>
              <a:rPr lang="en-US" sz="2400" dirty="0"/>
              <a:t>The performance of a </a:t>
            </a:r>
            <a:r>
              <a:rPr lang="en-US" sz="2400" b="1" dirty="0"/>
              <a:t>baseline</a:t>
            </a:r>
            <a:r>
              <a:rPr lang="en-US" sz="2400" dirty="0"/>
              <a:t> system on our new dataset is </a:t>
            </a:r>
            <a:r>
              <a:rPr lang="en-US" sz="2400" b="1" dirty="0"/>
              <a:t>much better </a:t>
            </a:r>
            <a:r>
              <a:rPr lang="en-US" sz="2400" dirty="0"/>
              <a:t>than one on the old dataset</a:t>
            </a:r>
          </a:p>
        </p:txBody>
      </p:sp>
      <p:sp>
        <p:nvSpPr>
          <p:cNvPr id="2" name="Title 1"/>
          <p:cNvSpPr>
            <a:spLocks noGrp="1"/>
          </p:cNvSpPr>
          <p:nvPr>
            <p:ph type="title"/>
          </p:nvPr>
        </p:nvSpPr>
        <p:spPr/>
        <p:txBody>
          <a:bodyPr/>
          <a:lstStyle/>
          <a:p>
            <a:r>
              <a:rPr lang="en-US" dirty="0"/>
              <a:t>With a better IAA (&gt;80%)</a:t>
            </a:r>
          </a:p>
        </p:txBody>
      </p:sp>
      <p:graphicFrame>
        <p:nvGraphicFramePr>
          <p:cNvPr id="4" name="Chart 3"/>
          <p:cNvGraphicFramePr/>
          <p:nvPr>
            <p:extLst>
              <p:ext uri="{D42A27DB-BD31-4B8C-83A1-F6EECF244321}">
                <p14:modId xmlns:p14="http://schemas.microsoft.com/office/powerpoint/2010/main" val="3940202016"/>
              </p:ext>
            </p:extLst>
          </p:nvPr>
        </p:nvGraphicFramePr>
        <p:xfrm>
          <a:off x="914400" y="2133600"/>
          <a:ext cx="7761849" cy="4031566"/>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xmlns="" id="{8C1F8133-DD70-2947-AC41-ED1AA81B1E7C}"/>
              </a:ext>
            </a:extLst>
          </p:cNvPr>
          <p:cNvSpPr txBox="1"/>
          <p:nvPr/>
        </p:nvSpPr>
        <p:spPr>
          <a:xfrm>
            <a:off x="786209" y="6393766"/>
            <a:ext cx="7723982" cy="276999"/>
          </a:xfrm>
          <a:prstGeom prst="rect">
            <a:avLst/>
          </a:prstGeom>
          <a:noFill/>
        </p:spPr>
        <p:txBody>
          <a:bodyPr wrap="square" rtlCol="0">
            <a:spAutoFit/>
          </a:bodyPr>
          <a:lstStyle/>
          <a:p>
            <a:r>
              <a:rPr lang="en-US" sz="1200" i="1" dirty="0">
                <a:solidFill>
                  <a:schemeClr val="bg2"/>
                </a:solidFill>
                <a:latin typeface="Century Gothic" panose="020B0502020202020204" pitchFamily="34" charset="0"/>
              </a:rPr>
              <a:t>[Old dataset] Cassidy et al. ACL’14. An annotation framework for dense event ordering.</a:t>
            </a:r>
          </a:p>
        </p:txBody>
      </p:sp>
      <p:sp>
        <p:nvSpPr>
          <p:cNvPr id="8" name="TextBox 7">
            <a:extLst>
              <a:ext uri="{FF2B5EF4-FFF2-40B4-BE49-F238E27FC236}">
                <a16:creationId xmlns:a16="http://schemas.microsoft.com/office/drawing/2014/main" xmlns="" id="{8B63114D-DFE6-5746-919B-974508E163D4}"/>
              </a:ext>
            </a:extLst>
          </p:cNvPr>
          <p:cNvSpPr txBox="1"/>
          <p:nvPr/>
        </p:nvSpPr>
        <p:spPr>
          <a:xfrm>
            <a:off x="6858000" y="3364300"/>
            <a:ext cx="760144" cy="369332"/>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+21%</a:t>
            </a:r>
          </a:p>
        </p:txBody>
      </p:sp>
      <p:sp>
        <p:nvSpPr>
          <p:cNvPr id="11" name="TextBox 10">
            <a:extLst>
              <a:ext uri="{FF2B5EF4-FFF2-40B4-BE49-F238E27FC236}">
                <a16:creationId xmlns:a16="http://schemas.microsoft.com/office/drawing/2014/main" xmlns="" id="{E2C469A8-DD6A-5546-ABC4-FBB4DF2EB8EE}"/>
              </a:ext>
            </a:extLst>
          </p:cNvPr>
          <p:cNvSpPr txBox="1"/>
          <p:nvPr/>
        </p:nvSpPr>
        <p:spPr>
          <a:xfrm>
            <a:off x="3391827" y="2895600"/>
            <a:ext cx="760144" cy="369332"/>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+22%</a:t>
            </a:r>
          </a:p>
        </p:txBody>
      </p:sp>
    </p:spTree>
    <p:extLst>
      <p:ext uri="{BB962C8B-B14F-4D97-AF65-F5344CB8AC3E}">
        <p14:creationId xmlns:p14="http://schemas.microsoft.com/office/powerpoint/2010/main" val="1605913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checkerboard(across)">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8" grpId="0"/>
      <p:bldP spid="1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Discussion</a:t>
            </a:r>
          </a:p>
        </p:txBody>
      </p:sp>
      <p:sp>
        <p:nvSpPr>
          <p:cNvPr id="9" name="TextBox 8">
            <a:extLst>
              <a:ext uri="{FF2B5EF4-FFF2-40B4-BE49-F238E27FC236}">
                <a16:creationId xmlns:a16="http://schemas.microsoft.com/office/drawing/2014/main" xmlns="" id="{15B668C4-2071-C943-ABB3-C3BF9FD33F9B}"/>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sp>
        <p:nvSpPr>
          <p:cNvPr id="11" name="Content Placeholder 7">
            <a:extLst>
              <a:ext uri="{FF2B5EF4-FFF2-40B4-BE49-F238E27FC236}">
                <a16:creationId xmlns:a16="http://schemas.microsoft.com/office/drawing/2014/main" xmlns="" id="{FFA022B9-35A6-6543-999D-1D2CA8C48742}"/>
              </a:ext>
            </a:extLst>
          </p:cNvPr>
          <p:cNvSpPr>
            <a:spLocks noGrp="1"/>
          </p:cNvSpPr>
          <p:nvPr>
            <p:ph idx="1"/>
          </p:nvPr>
        </p:nvSpPr>
        <p:spPr>
          <a:xfrm>
            <a:off x="381000" y="958166"/>
            <a:ext cx="8534400" cy="5181600"/>
          </a:xfrm>
        </p:spPr>
        <p:txBody>
          <a:bodyPr/>
          <a:lstStyle/>
          <a:p>
            <a:pPr marL="0" indent="0">
              <a:buNone/>
            </a:pPr>
            <a:r>
              <a:rPr lang="en-US" sz="2400" dirty="0"/>
              <a:t>With a better IAA, the overall performance on our new dataset is much better than those in the literature</a:t>
            </a:r>
          </a:p>
          <a:p>
            <a:endParaRPr lang="en-US" sz="2400" dirty="0"/>
          </a:p>
          <a:p>
            <a:r>
              <a:rPr lang="en-US" sz="2400" dirty="0"/>
              <a:t>The </a:t>
            </a:r>
            <a:r>
              <a:rPr lang="en-US" sz="2400" b="1" dirty="0"/>
              <a:t>learning task is defined in a better way </a:t>
            </a:r>
            <a:r>
              <a:rPr lang="en-US" sz="2400" dirty="0"/>
              <a:t>by the new annotation scheme</a:t>
            </a:r>
          </a:p>
          <a:p>
            <a:r>
              <a:rPr lang="en-US" sz="2400" dirty="0"/>
              <a:t>It represents </a:t>
            </a:r>
            <a:r>
              <a:rPr lang="en-US" sz="2400" b="1" dirty="0"/>
              <a:t>a deeper understanding</a:t>
            </a:r>
            <a:r>
              <a:rPr lang="en-US" sz="2400" dirty="0"/>
              <a:t> of how time is expressed in language</a:t>
            </a:r>
          </a:p>
        </p:txBody>
      </p:sp>
      <p:pic>
        <p:nvPicPr>
          <p:cNvPr id="5" name="Picture 4">
            <a:extLst>
              <a:ext uri="{FF2B5EF4-FFF2-40B4-BE49-F238E27FC236}">
                <a16:creationId xmlns:a16="http://schemas.microsoft.com/office/drawing/2014/main" xmlns="" id="{749FED99-BDD7-9944-A1AE-360C8682D83F}"/>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38200" y="4199776"/>
            <a:ext cx="1742506" cy="1939990"/>
          </a:xfrm>
          <a:prstGeom prst="rect">
            <a:avLst/>
          </a:prstGeom>
          <a:effectLst>
            <a:softEdge rad="0"/>
          </a:effectLst>
        </p:spPr>
      </p:pic>
      <p:sp>
        <p:nvSpPr>
          <p:cNvPr id="2" name="TextBox 1">
            <a:extLst>
              <a:ext uri="{FF2B5EF4-FFF2-40B4-BE49-F238E27FC236}">
                <a16:creationId xmlns:a16="http://schemas.microsoft.com/office/drawing/2014/main" xmlns="" id="{50272A97-EFBA-9C49-941F-2E3BC3A7A941}"/>
              </a:ext>
            </a:extLst>
          </p:cNvPr>
          <p:cNvSpPr txBox="1"/>
          <p:nvPr/>
        </p:nvSpPr>
        <p:spPr>
          <a:xfrm>
            <a:off x="3033203" y="4038692"/>
            <a:ext cx="6110797" cy="2616101"/>
          </a:xfrm>
          <a:prstGeom prst="rect">
            <a:avLst/>
          </a:prstGeom>
          <a:noFill/>
        </p:spPr>
        <p:txBody>
          <a:bodyPr wrap="square" rtlCol="0">
            <a:spAutoFit/>
          </a:bodyPr>
          <a:lstStyle/>
          <a:p>
            <a:pPr marL="285750" indent="-285750">
              <a:spcAft>
                <a:spcPts val="600"/>
              </a:spcAft>
              <a:buSzPct val="65000"/>
              <a:buFont typeface="Wingdings" pitchFamily="2" charset="2"/>
              <a:buChar char="q"/>
            </a:pPr>
            <a:r>
              <a:rPr lang="en-US" dirty="0">
                <a:solidFill>
                  <a:schemeClr val="bg2"/>
                </a:solidFill>
                <a:latin typeface="Century Gothic" panose="020B0502020202020204" pitchFamily="34" charset="0"/>
              </a:rPr>
              <a:t>“Language distinguishes us from other species”</a:t>
            </a:r>
          </a:p>
          <a:p>
            <a:pPr marL="285750" indent="-285750">
              <a:spcAft>
                <a:spcPts val="600"/>
              </a:spcAft>
              <a:buSzPct val="65000"/>
              <a:buFont typeface="Wingdings" pitchFamily="2" charset="2"/>
              <a:buChar char="q"/>
            </a:pPr>
            <a:r>
              <a:rPr lang="en-US" dirty="0">
                <a:solidFill>
                  <a:schemeClr val="bg2"/>
                </a:solidFill>
                <a:latin typeface="Century Gothic" panose="020B0502020202020204" pitchFamily="34" charset="0"/>
              </a:rPr>
              <a:t>Wait…Animals also have language</a:t>
            </a:r>
          </a:p>
          <a:p>
            <a:pPr marL="285750" indent="-285750">
              <a:spcAft>
                <a:spcPts val="600"/>
              </a:spcAft>
              <a:buSzPct val="65000"/>
              <a:buFont typeface="Wingdings" pitchFamily="2" charset="2"/>
              <a:buChar char="q"/>
            </a:pPr>
            <a:r>
              <a:rPr lang="en-US" dirty="0">
                <a:solidFill>
                  <a:schemeClr val="bg2"/>
                </a:solidFill>
                <a:latin typeface="Century Gothic" panose="020B0502020202020204" pitchFamily="34" charset="0"/>
              </a:rPr>
              <a:t>Well, more precisely, we’re the only species that can express our </a:t>
            </a:r>
            <a:r>
              <a:rPr lang="en-US" b="1" dirty="0">
                <a:solidFill>
                  <a:schemeClr val="bg2"/>
                </a:solidFill>
                <a:latin typeface="Century Gothic" panose="020B0502020202020204" pitchFamily="34" charset="0"/>
              </a:rPr>
              <a:t>imaginations </a:t>
            </a:r>
            <a:r>
              <a:rPr lang="en-US" dirty="0">
                <a:solidFill>
                  <a:schemeClr val="bg2"/>
                </a:solidFill>
                <a:latin typeface="Century Gothic" panose="020B0502020202020204" pitchFamily="34" charset="0"/>
              </a:rPr>
              <a:t>via language</a:t>
            </a:r>
          </a:p>
          <a:p>
            <a:pPr marL="285750" indent="-285750">
              <a:spcAft>
                <a:spcPts val="600"/>
              </a:spcAft>
              <a:buSzPct val="65000"/>
              <a:buFont typeface="Wingdings" pitchFamily="2" charset="2"/>
              <a:buChar char="q"/>
            </a:pPr>
            <a:r>
              <a:rPr lang="en-US" dirty="0">
                <a:solidFill>
                  <a:schemeClr val="bg2"/>
                </a:solidFill>
                <a:latin typeface="Century Gothic" panose="020B0502020202020204" pitchFamily="34" charset="0"/>
              </a:rPr>
              <a:t>Banks get our money by promising us more in the future, but </a:t>
            </a:r>
            <a:r>
              <a:rPr lang="en-US" b="1" dirty="0">
                <a:solidFill>
                  <a:schemeClr val="bg2"/>
                </a:solidFill>
                <a:latin typeface="Century Gothic" panose="020B0502020202020204" pitchFamily="34" charset="0"/>
              </a:rPr>
              <a:t>we cannot get a banana by promising a monkey two bananas in ten minutes</a:t>
            </a:r>
          </a:p>
          <a:p>
            <a:pPr marL="285750" indent="-285750">
              <a:spcAft>
                <a:spcPts val="600"/>
              </a:spcAft>
              <a:buSzPct val="65000"/>
              <a:buFont typeface="Wingdings" pitchFamily="2" charset="2"/>
              <a:buChar char="q"/>
            </a:pPr>
            <a:r>
              <a:rPr lang="en-US" dirty="0">
                <a:solidFill>
                  <a:schemeClr val="bg2"/>
                </a:solidFill>
                <a:latin typeface="Century Gothic" panose="020B0502020202020204" pitchFamily="34" charset="0"/>
              </a:rPr>
              <a:t>Intention, Opinion, Hypothesis, Negation, etc.</a:t>
            </a:r>
          </a:p>
        </p:txBody>
      </p:sp>
    </p:spTree>
    <p:extLst>
      <p:ext uri="{BB962C8B-B14F-4D97-AF65-F5344CB8AC3E}">
        <p14:creationId xmlns:p14="http://schemas.microsoft.com/office/powerpoint/2010/main" val="1639084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wipe(left)">
                                      <p:cBhvr>
                                        <p:cTn id="7" dur="500"/>
                                        <p:tgtEl>
                                          <p:spTgt spid="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xEl>
                                              <p:pRg st="3" end="3"/>
                                            </p:txEl>
                                          </p:spTgt>
                                        </p:tgtEl>
                                        <p:attrNameLst>
                                          <p:attrName>style.visibility</p:attrName>
                                        </p:attrNameLst>
                                      </p:cBhvr>
                                      <p:to>
                                        <p:strVal val="visible"/>
                                      </p:to>
                                    </p:set>
                                    <p:animEffect transition="in" filter="wipe(left)">
                                      <p:cBhvr>
                                        <p:cTn id="12" dur="500"/>
                                        <p:tgtEl>
                                          <p:spTgt spid="1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wipe(left)">
                                      <p:cBhvr>
                                        <p:cTn id="21" dur="500"/>
                                        <p:tgtEl>
                                          <p:spTgt spid="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animEffect transition="in" filter="wipe(left)">
                                      <p:cBhvr>
                                        <p:cTn id="26" dur="500"/>
                                        <p:tgtEl>
                                          <p:spTgt spid="2">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animEffect transition="in" filter="wipe(left)">
                                      <p:cBhvr>
                                        <p:cTn id="31" dur="500"/>
                                        <p:tgtEl>
                                          <p:spTgt spid="2">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
                                            <p:txEl>
                                              <p:pRg st="3" end="3"/>
                                            </p:txEl>
                                          </p:spTgt>
                                        </p:tgtEl>
                                        <p:attrNameLst>
                                          <p:attrName>style.visibility</p:attrName>
                                        </p:attrNameLst>
                                      </p:cBhvr>
                                      <p:to>
                                        <p:strVal val="visible"/>
                                      </p:to>
                                    </p:set>
                                    <p:animEffect transition="in" filter="wipe(left)">
                                      <p:cBhvr>
                                        <p:cTn id="36" dur="500"/>
                                        <p:tgtEl>
                                          <p:spTgt spid="2">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
                                            <p:txEl>
                                              <p:pRg st="4" end="4"/>
                                            </p:txEl>
                                          </p:spTgt>
                                        </p:tgtEl>
                                        <p:attrNameLst>
                                          <p:attrName>style.visibility</p:attrName>
                                        </p:attrNameLst>
                                      </p:cBhvr>
                                      <p:to>
                                        <p:strVal val="visible"/>
                                      </p:to>
                                    </p:set>
                                    <p:animEffect transition="in" filter="wipe(left)">
                                      <p:cBhvr>
                                        <p:cTn id="41"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P spid="2"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xmlns="" id="{E722C95D-5972-134C-B56C-148F3C45A894}"/>
              </a:ext>
            </a:extLst>
          </p:cNvPr>
          <p:cNvSpPr txBox="1"/>
          <p:nvPr/>
        </p:nvSpPr>
        <p:spPr>
          <a:xfrm>
            <a:off x="228600" y="2493117"/>
            <a:ext cx="8534400" cy="1557349"/>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alpha val="50000"/>
                  </a:schemeClr>
                </a:solidFill>
                <a:latin typeface="Century Gothic" charset="0"/>
                <a:ea typeface="Century Gothic" charset="0"/>
                <a:cs typeface="Century Gothic" charset="0"/>
              </a:rPr>
              <a:t>Part I: Structured learning</a:t>
            </a:r>
          </a:p>
          <a:p>
            <a:pPr lvl="1">
              <a:spcBef>
                <a:spcPct val="20000"/>
              </a:spcBef>
              <a:buClr>
                <a:srgbClr val="400080"/>
              </a:buClr>
              <a:buSzPct val="65000"/>
            </a:pPr>
            <a:r>
              <a:rPr lang="en-US" sz="2800" i="1" dirty="0">
                <a:solidFill>
                  <a:schemeClr val="bg2">
                    <a:alpha val="50000"/>
                  </a:schemeClr>
                </a:solidFill>
                <a:latin typeface="Century Gothic" charset="0"/>
                <a:ea typeface="Century Gothic" charset="0"/>
                <a:cs typeface="Century Gothic" charset="0"/>
              </a:rPr>
              <a:t>Part II: Common sense</a:t>
            </a:r>
          </a:p>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III: Data annotation</a:t>
            </a:r>
          </a:p>
        </p:txBody>
      </p:sp>
      <p:sp>
        <p:nvSpPr>
          <p:cNvPr id="16" name="TextBox 15">
            <a:extLst>
              <a:ext uri="{FF2B5EF4-FFF2-40B4-BE49-F238E27FC236}">
                <a16:creationId xmlns:a16="http://schemas.microsoft.com/office/drawing/2014/main" xmlns="" id="{1CD47D7E-E500-CD47-A35C-95027F29B79A}"/>
              </a:ext>
            </a:extLst>
          </p:cNvPr>
          <p:cNvSpPr txBox="1"/>
          <p:nvPr/>
        </p:nvSpPr>
        <p:spPr>
          <a:xfrm>
            <a:off x="-228600" y="4343400"/>
            <a:ext cx="9186864" cy="1865126"/>
          </a:xfrm>
          <a:prstGeom prst="rect">
            <a:avLst/>
          </a:prstGeom>
          <a:noFill/>
        </p:spPr>
        <p:txBody>
          <a:bodyPr wrap="square" rtlCol="0">
            <a:spAutoFit/>
          </a:bodyPr>
          <a:lstStyle/>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[EMNLP’17]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Z. Feng, and D. Roth. A Structured Learning Approach to Temporal Relation Extraction</a:t>
            </a:r>
          </a:p>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[NAACL’18]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H. Wu, H. Peng, and D. Roth. Improving Temporal Relation Extraction with a Globally Acquired Statistical Resource</a:t>
            </a:r>
          </a:p>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[ACL’18]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H. Wu, and D. Roth. A Multi-Axis Annotation Scheme for Event Temporal Relations.</a:t>
            </a:r>
          </a:p>
        </p:txBody>
      </p:sp>
      <p:cxnSp>
        <p:nvCxnSpPr>
          <p:cNvPr id="4" name="Straight Connector 3">
            <a:extLst>
              <a:ext uri="{FF2B5EF4-FFF2-40B4-BE49-F238E27FC236}">
                <a16:creationId xmlns:a16="http://schemas.microsoft.com/office/drawing/2014/main" xmlns=""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32" name="Freeform 31">
            <a:extLst>
              <a:ext uri="{FF2B5EF4-FFF2-40B4-BE49-F238E27FC236}">
                <a16:creationId xmlns:a16="http://schemas.microsoft.com/office/drawing/2014/main" xmlns="" id="{7D2431B0-C777-4D49-9983-DE4819603D2A}"/>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3" name="Freeform 32">
            <a:extLst>
              <a:ext uri="{FF2B5EF4-FFF2-40B4-BE49-F238E27FC236}">
                <a16:creationId xmlns:a16="http://schemas.microsoft.com/office/drawing/2014/main" xmlns="" id="{1F78A952-05AC-B349-BFE5-7F50A6869E9D}"/>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4" name="Freeform 33">
            <a:extLst>
              <a:ext uri="{FF2B5EF4-FFF2-40B4-BE49-F238E27FC236}">
                <a16:creationId xmlns:a16="http://schemas.microsoft.com/office/drawing/2014/main" xmlns="" id="{8010E7A2-F5C1-FC41-ADAC-0080563972DB}"/>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5" name="Freeform 34">
            <a:extLst>
              <a:ext uri="{FF2B5EF4-FFF2-40B4-BE49-F238E27FC236}">
                <a16:creationId xmlns:a16="http://schemas.microsoft.com/office/drawing/2014/main" xmlns="" id="{E9A8AA00-853D-1248-8FD6-F8CA09817C53}"/>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6" name="Freeform 35">
            <a:extLst>
              <a:ext uri="{FF2B5EF4-FFF2-40B4-BE49-F238E27FC236}">
                <a16:creationId xmlns:a16="http://schemas.microsoft.com/office/drawing/2014/main" xmlns="" id="{8D63F9A4-21DB-A340-9C79-D3CD61423B60}"/>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7" name="Freeform 36">
            <a:extLst>
              <a:ext uri="{FF2B5EF4-FFF2-40B4-BE49-F238E27FC236}">
                <a16:creationId xmlns:a16="http://schemas.microsoft.com/office/drawing/2014/main" xmlns="" id="{35E75A3C-D457-E644-86E6-28ACC18FC8D7}"/>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8" name="Freeform 37">
            <a:extLst>
              <a:ext uri="{FF2B5EF4-FFF2-40B4-BE49-F238E27FC236}">
                <a16:creationId xmlns:a16="http://schemas.microsoft.com/office/drawing/2014/main" xmlns="" id="{50DEB409-B758-2B4B-AC56-902EA1726CE1}"/>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pic>
        <p:nvPicPr>
          <p:cNvPr id="39" name="Picture 38" descr="A close up of a logo&#10;&#10;Description automatically generated">
            <a:extLst>
              <a:ext uri="{FF2B5EF4-FFF2-40B4-BE49-F238E27FC236}">
                <a16:creationId xmlns:a16="http://schemas.microsoft.com/office/drawing/2014/main" xmlns="" id="{DA2F62AF-563C-D94C-98C3-1C873C7DF50A}"/>
              </a:ext>
            </a:extLst>
          </p:cNvPr>
          <p:cNvPicPr>
            <a:picLocks noChangeAspect="1"/>
          </p:cNvPicPr>
          <p:nvPr/>
        </p:nvPicPr>
        <p:blipFill rotWithShape="1">
          <a:blip r:embed="rId3" cstate="email">
            <a:alphaModFix amt="50000"/>
            <a:extLst>
              <a:ext uri="{28A0092B-C50C-407E-A947-70E740481C1C}">
                <a14:useLocalDpi xmlns:a14="http://schemas.microsoft.com/office/drawing/2010/main"/>
              </a:ext>
            </a:extLst>
          </a:blip>
          <a:srcRect/>
          <a:stretch/>
        </p:blipFill>
        <p:spPr>
          <a:xfrm>
            <a:off x="6475458" y="3608299"/>
            <a:ext cx="468738" cy="333325"/>
          </a:xfrm>
          <a:prstGeom prst="rect">
            <a:avLst/>
          </a:prstGeom>
        </p:spPr>
      </p:pic>
      <p:pic>
        <p:nvPicPr>
          <p:cNvPr id="40" name="Picture 39" descr="A close up of a logo&#10;&#10;Description automatically generated">
            <a:extLst>
              <a:ext uri="{FF2B5EF4-FFF2-40B4-BE49-F238E27FC236}">
                <a16:creationId xmlns:a16="http://schemas.microsoft.com/office/drawing/2014/main" xmlns="" id="{DEB47B5F-6CA0-A443-BAAA-0CE4D55DD0DB}"/>
              </a:ext>
            </a:extLst>
          </p:cNvPr>
          <p:cNvPicPr>
            <a:picLocks noChangeAspect="1"/>
          </p:cNvPicPr>
          <p:nvPr/>
        </p:nvPicPr>
        <p:blipFill rotWithShape="1">
          <a:blip r:embed="rId4" cstate="email">
            <a:alphaModFix/>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pic>
        <p:nvPicPr>
          <p:cNvPr id="41" name="Picture 40" descr="A close up of a logo&#10;&#10;Description automatically generated">
            <a:extLst>
              <a:ext uri="{FF2B5EF4-FFF2-40B4-BE49-F238E27FC236}">
                <a16:creationId xmlns:a16="http://schemas.microsoft.com/office/drawing/2014/main" xmlns="" id="{E07324D3-0FA7-5045-AC26-64B8031B3E41}"/>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a:stretch/>
        </p:blipFill>
        <p:spPr>
          <a:xfrm>
            <a:off x="7023646" y="2280954"/>
            <a:ext cx="345100" cy="264119"/>
          </a:xfrm>
          <a:prstGeom prst="rect">
            <a:avLst/>
          </a:prstGeom>
        </p:spPr>
      </p:pic>
    </p:spTree>
    <p:extLst>
      <p:ext uri="{BB962C8B-B14F-4D97-AF65-F5344CB8AC3E}">
        <p14:creationId xmlns:p14="http://schemas.microsoft.com/office/powerpoint/2010/main" val="174614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580">
                                          <p:stCondLst>
                                            <p:cond delay="0"/>
                                          </p:stCondLst>
                                        </p:cTn>
                                        <p:tgtEl>
                                          <p:spTgt spid="40"/>
                                        </p:tgtEl>
                                      </p:cBhvr>
                                    </p:animEffect>
                                    <p:anim calcmode="lin" valueType="num">
                                      <p:cBhvr>
                                        <p:cTn id="8" dur="1822"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0"/>
                                        </p:tgtEl>
                                        <p:attrNameLst>
                                          <p:attrName>ppt_y</p:attrName>
                                        </p:attrNameLst>
                                      </p:cBhvr>
                                      <p:tavLst>
                                        <p:tav tm="0" fmla="#ppt_y-sin(pi*$)/81">
                                          <p:val>
                                            <p:fltVal val="0"/>
                                          </p:val>
                                        </p:tav>
                                        <p:tav tm="100000">
                                          <p:val>
                                            <p:fltVal val="1"/>
                                          </p:val>
                                        </p:tav>
                                      </p:tavLst>
                                    </p:anim>
                                    <p:animScale>
                                      <p:cBhvr>
                                        <p:cTn id="13" dur="26">
                                          <p:stCondLst>
                                            <p:cond delay="650"/>
                                          </p:stCondLst>
                                        </p:cTn>
                                        <p:tgtEl>
                                          <p:spTgt spid="40"/>
                                        </p:tgtEl>
                                      </p:cBhvr>
                                      <p:to x="100000" y="60000"/>
                                    </p:animScale>
                                    <p:animScale>
                                      <p:cBhvr>
                                        <p:cTn id="14" dur="166" decel="50000">
                                          <p:stCondLst>
                                            <p:cond delay="676"/>
                                          </p:stCondLst>
                                        </p:cTn>
                                        <p:tgtEl>
                                          <p:spTgt spid="40"/>
                                        </p:tgtEl>
                                      </p:cBhvr>
                                      <p:to x="100000" y="100000"/>
                                    </p:animScale>
                                    <p:animScale>
                                      <p:cBhvr>
                                        <p:cTn id="15" dur="26">
                                          <p:stCondLst>
                                            <p:cond delay="1312"/>
                                          </p:stCondLst>
                                        </p:cTn>
                                        <p:tgtEl>
                                          <p:spTgt spid="40"/>
                                        </p:tgtEl>
                                      </p:cBhvr>
                                      <p:to x="100000" y="80000"/>
                                    </p:animScale>
                                    <p:animScale>
                                      <p:cBhvr>
                                        <p:cTn id="16" dur="166" decel="50000">
                                          <p:stCondLst>
                                            <p:cond delay="1338"/>
                                          </p:stCondLst>
                                        </p:cTn>
                                        <p:tgtEl>
                                          <p:spTgt spid="40"/>
                                        </p:tgtEl>
                                      </p:cBhvr>
                                      <p:to x="100000" y="100000"/>
                                    </p:animScale>
                                    <p:animScale>
                                      <p:cBhvr>
                                        <p:cTn id="17" dur="26">
                                          <p:stCondLst>
                                            <p:cond delay="1642"/>
                                          </p:stCondLst>
                                        </p:cTn>
                                        <p:tgtEl>
                                          <p:spTgt spid="40"/>
                                        </p:tgtEl>
                                      </p:cBhvr>
                                      <p:to x="100000" y="90000"/>
                                    </p:animScale>
                                    <p:animScale>
                                      <p:cBhvr>
                                        <p:cTn id="18" dur="166" decel="50000">
                                          <p:stCondLst>
                                            <p:cond delay="1668"/>
                                          </p:stCondLst>
                                        </p:cTn>
                                        <p:tgtEl>
                                          <p:spTgt spid="40"/>
                                        </p:tgtEl>
                                      </p:cBhvr>
                                      <p:to x="100000" y="100000"/>
                                    </p:animScale>
                                    <p:animScale>
                                      <p:cBhvr>
                                        <p:cTn id="19" dur="26">
                                          <p:stCondLst>
                                            <p:cond delay="1808"/>
                                          </p:stCondLst>
                                        </p:cTn>
                                        <p:tgtEl>
                                          <p:spTgt spid="40"/>
                                        </p:tgtEl>
                                      </p:cBhvr>
                                      <p:to x="100000" y="95000"/>
                                    </p:animScale>
                                    <p:animScale>
                                      <p:cBhvr>
                                        <p:cTn id="20" dur="166" decel="50000">
                                          <p:stCondLst>
                                            <p:cond delay="1834"/>
                                          </p:stCondLst>
                                        </p:cTn>
                                        <p:tgtEl>
                                          <p:spTgt spid="4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xmlns="" id="{E722C95D-5972-134C-B56C-148F3C45A894}"/>
              </a:ext>
            </a:extLst>
          </p:cNvPr>
          <p:cNvSpPr txBox="1"/>
          <p:nvPr/>
        </p:nvSpPr>
        <p:spPr>
          <a:xfrm>
            <a:off x="228600" y="3044861"/>
            <a:ext cx="8534400" cy="523220"/>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Put all pieces together</a:t>
            </a:r>
          </a:p>
        </p:txBody>
      </p:sp>
      <p:sp>
        <p:nvSpPr>
          <p:cNvPr id="16" name="TextBox 15">
            <a:extLst>
              <a:ext uri="{FF2B5EF4-FFF2-40B4-BE49-F238E27FC236}">
                <a16:creationId xmlns:a16="http://schemas.microsoft.com/office/drawing/2014/main" xmlns="" id="{1CD47D7E-E500-CD47-A35C-95027F29B79A}"/>
              </a:ext>
            </a:extLst>
          </p:cNvPr>
          <p:cNvSpPr txBox="1"/>
          <p:nvPr/>
        </p:nvSpPr>
        <p:spPr>
          <a:xfrm>
            <a:off x="-228600" y="4343400"/>
            <a:ext cx="9186864" cy="2474524"/>
          </a:xfrm>
          <a:prstGeom prst="rect">
            <a:avLst/>
          </a:prstGeom>
          <a:noFill/>
        </p:spPr>
        <p:txBody>
          <a:bodyPr wrap="square" rtlCol="0">
            <a:spAutoFit/>
          </a:bodyPr>
          <a:lstStyle/>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[EMNLP’17]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Z. Feng, and D. Roth. A Structured Learning Approach to Temporal Relation Extraction</a:t>
            </a:r>
          </a:p>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[NAACL’18]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H. Wu, H. Peng, and D. Roth. Improving Temporal Relation Extraction with a Globally Acquired Statistical Resource</a:t>
            </a:r>
          </a:p>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[ACL’18]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H. Wu, and D. Roth. A Multi-Axis Annotation Scheme for Event Temporal Relations.</a:t>
            </a:r>
          </a:p>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[In submission]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S. Subramanian, and D. Roth. An improved neural approach for temporal relation extraction</a:t>
            </a:r>
          </a:p>
        </p:txBody>
      </p:sp>
      <p:cxnSp>
        <p:nvCxnSpPr>
          <p:cNvPr id="4" name="Straight Connector 3">
            <a:extLst>
              <a:ext uri="{FF2B5EF4-FFF2-40B4-BE49-F238E27FC236}">
                <a16:creationId xmlns:a16="http://schemas.microsoft.com/office/drawing/2014/main" xmlns=""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32" name="Freeform 31">
            <a:extLst>
              <a:ext uri="{FF2B5EF4-FFF2-40B4-BE49-F238E27FC236}">
                <a16:creationId xmlns:a16="http://schemas.microsoft.com/office/drawing/2014/main" xmlns="" id="{FABD47A7-B8F4-B743-BF55-7CF588D55F18}"/>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3" name="Freeform 32">
            <a:extLst>
              <a:ext uri="{FF2B5EF4-FFF2-40B4-BE49-F238E27FC236}">
                <a16:creationId xmlns:a16="http://schemas.microsoft.com/office/drawing/2014/main" xmlns="" id="{260B581B-5F6E-BC48-BB21-EA3D5C717A62}"/>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4" name="Freeform 33">
            <a:extLst>
              <a:ext uri="{FF2B5EF4-FFF2-40B4-BE49-F238E27FC236}">
                <a16:creationId xmlns:a16="http://schemas.microsoft.com/office/drawing/2014/main" xmlns="" id="{7B6FCA6E-ADB9-C84E-A91C-590FE2DC7D34}"/>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5" name="Freeform 34">
            <a:extLst>
              <a:ext uri="{FF2B5EF4-FFF2-40B4-BE49-F238E27FC236}">
                <a16:creationId xmlns:a16="http://schemas.microsoft.com/office/drawing/2014/main" xmlns="" id="{E54B8F61-0D1B-554E-B513-F5E9DD1E8D04}"/>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6" name="Freeform 35">
            <a:extLst>
              <a:ext uri="{FF2B5EF4-FFF2-40B4-BE49-F238E27FC236}">
                <a16:creationId xmlns:a16="http://schemas.microsoft.com/office/drawing/2014/main" xmlns="" id="{EB73D38B-16CB-1043-B42A-F2A44DF6D54B}"/>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7" name="Freeform 36">
            <a:extLst>
              <a:ext uri="{FF2B5EF4-FFF2-40B4-BE49-F238E27FC236}">
                <a16:creationId xmlns:a16="http://schemas.microsoft.com/office/drawing/2014/main" xmlns="" id="{26CB7F31-535A-9944-B427-F34891E83683}"/>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8" name="Freeform 37">
            <a:extLst>
              <a:ext uri="{FF2B5EF4-FFF2-40B4-BE49-F238E27FC236}">
                <a16:creationId xmlns:a16="http://schemas.microsoft.com/office/drawing/2014/main" xmlns="" id="{16B74714-AD11-2746-A770-75CA2E5EAB00}"/>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pic>
        <p:nvPicPr>
          <p:cNvPr id="40" name="Picture 39" descr="A close up of a logo&#10;&#10;Description automatically generated">
            <a:extLst>
              <a:ext uri="{FF2B5EF4-FFF2-40B4-BE49-F238E27FC236}">
                <a16:creationId xmlns:a16="http://schemas.microsoft.com/office/drawing/2014/main" xmlns="" id="{7E781EDA-212F-8547-9FF1-DE6466D882EF}"/>
              </a:ext>
            </a:extLst>
          </p:cNvPr>
          <p:cNvPicPr>
            <a:picLocks noChangeAspect="1"/>
          </p:cNvPicPr>
          <p:nvPr/>
        </p:nvPicPr>
        <p:blipFill rotWithShape="1">
          <a:blip r:embed="rId3" cstate="email">
            <a:alphaModFix amt="50000"/>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pic>
        <p:nvPicPr>
          <p:cNvPr id="41" name="Picture 40" descr="A close up of a logo&#10;&#10;Description automatically generated">
            <a:extLst>
              <a:ext uri="{FF2B5EF4-FFF2-40B4-BE49-F238E27FC236}">
                <a16:creationId xmlns:a16="http://schemas.microsoft.com/office/drawing/2014/main" xmlns="" id="{BC3416AA-A695-FE42-9EB6-02EA4EDBC7EA}"/>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a:stretch/>
        </p:blipFill>
        <p:spPr>
          <a:xfrm>
            <a:off x="7023646" y="2280954"/>
            <a:ext cx="345100" cy="264119"/>
          </a:xfrm>
          <a:prstGeom prst="rect">
            <a:avLst/>
          </a:prstGeom>
        </p:spPr>
      </p:pic>
      <p:pic>
        <p:nvPicPr>
          <p:cNvPr id="39" name="Picture 38" descr="A close up of a logo&#10;&#10;Description automatically generated">
            <a:extLst>
              <a:ext uri="{FF2B5EF4-FFF2-40B4-BE49-F238E27FC236}">
                <a16:creationId xmlns:a16="http://schemas.microsoft.com/office/drawing/2014/main" xmlns="" id="{70DEA86B-45FF-C94B-8322-F5D8C07E7026}"/>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a:stretch/>
        </p:blipFill>
        <p:spPr>
          <a:xfrm>
            <a:off x="6475458" y="3608299"/>
            <a:ext cx="468738" cy="333325"/>
          </a:xfrm>
          <a:prstGeom prst="rect">
            <a:avLst/>
          </a:prstGeom>
        </p:spPr>
      </p:pic>
    </p:spTree>
    <p:extLst>
      <p:ext uri="{BB962C8B-B14F-4D97-AF65-F5344CB8AC3E}">
        <p14:creationId xmlns:p14="http://schemas.microsoft.com/office/powerpoint/2010/main" val="17142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240">
            <a:extLst>
              <a:ext uri="{FF2B5EF4-FFF2-40B4-BE49-F238E27FC236}">
                <a16:creationId xmlns:a16="http://schemas.microsoft.com/office/drawing/2014/main" xmlns="" id="{5790CE86-06B3-0640-85F8-123ADF285DA2}"/>
              </a:ext>
            </a:extLst>
          </p:cNvPr>
          <p:cNvSpPr txBox="1">
            <a:spLocks/>
          </p:cNvSpPr>
          <p:nvPr/>
        </p:nvSpPr>
        <p:spPr>
          <a:xfrm>
            <a:off x="4435924" y="228600"/>
            <a:ext cx="4127049"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pPr lvl="0"/>
            <a:r>
              <a:rPr lang="en-US" sz="2800" dirty="0"/>
              <a:t>: i</a:t>
            </a:r>
            <a:r>
              <a:rPr lang="en-US" sz="2800" dirty="0" smtClean="0"/>
              <a:t>nitial try </a:t>
            </a:r>
            <a:r>
              <a:rPr lang="en-US" sz="1400" i="1" dirty="0" smtClean="0">
                <a:solidFill>
                  <a:srgbClr val="000000"/>
                </a:solidFill>
                <a:cs typeface=""/>
              </a:rPr>
              <a:t>[EMNLP’18</a:t>
            </a:r>
            <a:r>
              <a:rPr lang="en-US" sz="1400" i="1" dirty="0">
                <a:solidFill>
                  <a:srgbClr val="000000"/>
                </a:solidFill>
                <a:cs typeface=""/>
              </a:rPr>
              <a:t>]</a:t>
            </a:r>
          </a:p>
        </p:txBody>
      </p:sp>
      <p:sp>
        <p:nvSpPr>
          <p:cNvPr id="11" name="TextBox 10">
            <a:extLst>
              <a:ext uri="{FF2B5EF4-FFF2-40B4-BE49-F238E27FC236}">
                <a16:creationId xmlns:a16="http://schemas.microsoft.com/office/drawing/2014/main" xmlns="" id="{D5A5EAD6-AFD7-8343-93D8-AF16AB54D323}"/>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aphicFrame>
        <p:nvGraphicFramePr>
          <p:cNvPr id="12" name="Chart 11">
            <a:extLst>
              <a:ext uri="{FF2B5EF4-FFF2-40B4-BE49-F238E27FC236}">
                <a16:creationId xmlns:a16="http://schemas.microsoft.com/office/drawing/2014/main" xmlns="" id="{278FC97D-E638-7E41-AB57-FB6A9CE22C67}"/>
              </a:ext>
            </a:extLst>
          </p:cNvPr>
          <p:cNvGraphicFramePr/>
          <p:nvPr>
            <p:extLst>
              <p:ext uri="{D42A27DB-BD31-4B8C-83A1-F6EECF244321}">
                <p14:modId xmlns:p14="http://schemas.microsoft.com/office/powerpoint/2010/main" val="11101314"/>
              </p:ext>
            </p:extLst>
          </p:nvPr>
        </p:nvGraphicFramePr>
        <p:xfrm>
          <a:off x="561974" y="914400"/>
          <a:ext cx="8001000" cy="5334000"/>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a:extLst>
              <a:ext uri="{FF2B5EF4-FFF2-40B4-BE49-F238E27FC236}">
                <a16:creationId xmlns:a16="http://schemas.microsoft.com/office/drawing/2014/main" xmlns="" id="{42629E23-9D5D-7E42-BA83-D68498125D5B}"/>
              </a:ext>
            </a:extLst>
          </p:cNvPr>
          <p:cNvSpPr/>
          <p:nvPr/>
        </p:nvSpPr>
        <p:spPr>
          <a:xfrm>
            <a:off x="990600" y="5943600"/>
            <a:ext cx="5029200" cy="228600"/>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xmlns="" id="{83D49199-1C85-434F-A859-D17886F4BA0F}"/>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
        <p:nvSpPr>
          <p:cNvPr id="15" name="TextBox 14">
            <a:extLst>
              <a:ext uri="{FF2B5EF4-FFF2-40B4-BE49-F238E27FC236}">
                <a16:creationId xmlns:a16="http://schemas.microsoft.com/office/drawing/2014/main" xmlns="" id="{CAEAA90C-A302-024A-987A-56A1B29B31AA}"/>
              </a:ext>
            </a:extLst>
          </p:cNvPr>
          <p:cNvSpPr txBox="1"/>
          <p:nvPr/>
        </p:nvSpPr>
        <p:spPr>
          <a:xfrm>
            <a:off x="5638800" y="4430260"/>
            <a:ext cx="2743199" cy="523220"/>
          </a:xfrm>
          <a:prstGeom prst="rect">
            <a:avLst/>
          </a:prstGeom>
          <a:noFill/>
        </p:spPr>
        <p:txBody>
          <a:bodyPr wrap="square" rtlCol="0">
            <a:spAutoFit/>
          </a:bodyPr>
          <a:lstStyle/>
          <a:p>
            <a:r>
              <a:rPr lang="en-US" sz="1400" i="1" dirty="0">
                <a:solidFill>
                  <a:schemeClr val="bg2"/>
                </a:solidFill>
                <a:latin typeface="Century Gothic" panose="020B0502020202020204" pitchFamily="34" charset="0"/>
              </a:rPr>
              <a:t>*Not a fair comparison because test set is re-labeled</a:t>
            </a:r>
          </a:p>
        </p:txBody>
      </p:sp>
      <p:sp>
        <p:nvSpPr>
          <p:cNvPr id="18" name="TextBox 17">
            <a:extLst>
              <a:ext uri="{FF2B5EF4-FFF2-40B4-BE49-F238E27FC236}">
                <a16:creationId xmlns:a16="http://schemas.microsoft.com/office/drawing/2014/main" xmlns="" id="{AE08A418-7767-454A-8A5D-8DCBEACE0E88}"/>
              </a:ext>
            </a:extLst>
          </p:cNvPr>
          <p:cNvSpPr txBox="1"/>
          <p:nvPr/>
        </p:nvSpPr>
        <p:spPr>
          <a:xfrm>
            <a:off x="4191000" y="1819682"/>
            <a:ext cx="1321196" cy="523220"/>
          </a:xfrm>
          <a:prstGeom prst="rect">
            <a:avLst/>
          </a:prstGeom>
          <a:noFill/>
        </p:spPr>
        <p:txBody>
          <a:bodyPr wrap="none" rtlCol="0">
            <a:spAutoFit/>
          </a:bodyPr>
          <a:lstStyle/>
          <a:p>
            <a:r>
              <a:rPr lang="en-US" sz="1400" dirty="0">
                <a:solidFill>
                  <a:schemeClr val="bg2"/>
                </a:solidFill>
                <a:latin typeface="Century Gothic" panose="020B0502020202020204" pitchFamily="34" charset="0"/>
              </a:rPr>
              <a:t>New Dataset</a:t>
            </a:r>
          </a:p>
          <a:p>
            <a:pPr algn="ctr"/>
            <a:r>
              <a:rPr lang="en-US" sz="1400" dirty="0">
                <a:solidFill>
                  <a:schemeClr val="bg2"/>
                </a:solidFill>
                <a:latin typeface="Century Gothic" panose="020B0502020202020204" pitchFamily="34" charset="0"/>
              </a:rPr>
              <a:t>+11.1%*</a:t>
            </a:r>
          </a:p>
        </p:txBody>
      </p:sp>
      <p:sp>
        <p:nvSpPr>
          <p:cNvPr id="21" name="TextBox 20">
            <a:extLst>
              <a:ext uri="{FF2B5EF4-FFF2-40B4-BE49-F238E27FC236}">
                <a16:creationId xmlns:a16="http://schemas.microsoft.com/office/drawing/2014/main" xmlns="" id="{7DF72AD5-9AAE-AB4D-A2F4-76503FA217EA}"/>
              </a:ext>
            </a:extLst>
          </p:cNvPr>
          <p:cNvSpPr txBox="1"/>
          <p:nvPr/>
        </p:nvSpPr>
        <p:spPr>
          <a:xfrm>
            <a:off x="3148518" y="2837962"/>
            <a:ext cx="1540807" cy="523220"/>
          </a:xfrm>
          <a:prstGeom prst="rect">
            <a:avLst/>
          </a:prstGeom>
          <a:noFill/>
        </p:spPr>
        <p:txBody>
          <a:bodyPr wrap="none" rtlCol="0">
            <a:spAutoFit/>
          </a:bodyPr>
          <a:lstStyle/>
          <a:p>
            <a:pPr algn="ctr"/>
            <a:r>
              <a:rPr lang="en-US" sz="1400" dirty="0">
                <a:solidFill>
                  <a:schemeClr val="bg2"/>
                </a:solidFill>
                <a:latin typeface="Century Gothic" panose="020B0502020202020204" pitchFamily="34" charset="0"/>
              </a:rPr>
              <a:t>Common sense</a:t>
            </a:r>
          </a:p>
          <a:p>
            <a:pPr algn="ctr"/>
            <a:r>
              <a:rPr lang="en-US" sz="1400" dirty="0">
                <a:solidFill>
                  <a:schemeClr val="bg2"/>
                </a:solidFill>
                <a:latin typeface="Century Gothic" panose="020B0502020202020204" pitchFamily="34" charset="0"/>
              </a:rPr>
              <a:t>+4%</a:t>
            </a:r>
          </a:p>
        </p:txBody>
      </p:sp>
      <p:sp>
        <p:nvSpPr>
          <p:cNvPr id="22" name="TextBox 21">
            <a:extLst>
              <a:ext uri="{FF2B5EF4-FFF2-40B4-BE49-F238E27FC236}">
                <a16:creationId xmlns:a16="http://schemas.microsoft.com/office/drawing/2014/main" xmlns="" id="{5B5029EC-3408-7044-AF7C-6DCDA514C3EA}"/>
              </a:ext>
            </a:extLst>
          </p:cNvPr>
          <p:cNvSpPr txBox="1"/>
          <p:nvPr/>
        </p:nvSpPr>
        <p:spPr>
          <a:xfrm>
            <a:off x="2209800" y="3429000"/>
            <a:ext cx="1709122" cy="523220"/>
          </a:xfrm>
          <a:prstGeom prst="rect">
            <a:avLst/>
          </a:prstGeom>
          <a:noFill/>
        </p:spPr>
        <p:txBody>
          <a:bodyPr wrap="none" rtlCol="0">
            <a:spAutoFit/>
          </a:bodyPr>
          <a:lstStyle/>
          <a:p>
            <a:pPr algn="ctr"/>
            <a:r>
              <a:rPr lang="en-US" sz="1400" dirty="0">
                <a:solidFill>
                  <a:schemeClr val="bg2"/>
                </a:solidFill>
                <a:latin typeface="Century Gothic" panose="020B0502020202020204" pitchFamily="34" charset="0"/>
              </a:rPr>
              <a:t>Structure learning</a:t>
            </a:r>
          </a:p>
          <a:p>
            <a:pPr algn="ctr"/>
            <a:r>
              <a:rPr lang="en-US" sz="1400" dirty="0">
                <a:solidFill>
                  <a:schemeClr val="bg2"/>
                </a:solidFill>
                <a:latin typeface="Century Gothic" panose="020B0502020202020204" pitchFamily="34" charset="0"/>
              </a:rPr>
              <a:t>+4%</a:t>
            </a:r>
          </a:p>
        </p:txBody>
      </p:sp>
    </p:spTree>
    <p:extLst>
      <p:ext uri="{BB962C8B-B14F-4D97-AF65-F5344CB8AC3E}">
        <p14:creationId xmlns:p14="http://schemas.microsoft.com/office/powerpoint/2010/main" val="1040950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Title 240">
            <a:extLst>
              <a:ext uri="{FF2B5EF4-FFF2-40B4-BE49-F238E27FC236}">
                <a16:creationId xmlns:a16="http://schemas.microsoft.com/office/drawing/2014/main" xmlns="" id="{C000E2B7-26F9-E54F-92E1-30BB4A3FF193}"/>
              </a:ext>
            </a:extLst>
          </p:cNvPr>
          <p:cNvSpPr>
            <a:spLocks noGrp="1"/>
          </p:cNvSpPr>
          <p:nvPr>
            <p:ph type="title"/>
          </p:nvPr>
        </p:nvSpPr>
        <p:spPr>
          <a:xfrm>
            <a:off x="4435925" y="228600"/>
            <a:ext cx="3857374" cy="533400"/>
          </a:xfrm>
        </p:spPr>
        <p:txBody>
          <a:bodyPr/>
          <a:lstStyle/>
          <a:p>
            <a:r>
              <a:rPr lang="en-US" sz="2800" dirty="0"/>
              <a:t>: a neural approach</a:t>
            </a:r>
          </a:p>
        </p:txBody>
      </p:sp>
      <p:grpSp>
        <p:nvGrpSpPr>
          <p:cNvPr id="5" name="Group 4">
            <a:extLst>
              <a:ext uri="{FF2B5EF4-FFF2-40B4-BE49-F238E27FC236}">
                <a16:creationId xmlns:a16="http://schemas.microsoft.com/office/drawing/2014/main" xmlns="" id="{081E340B-34B3-0045-8A2F-DA6DF6341388}"/>
              </a:ext>
            </a:extLst>
          </p:cNvPr>
          <p:cNvGrpSpPr/>
          <p:nvPr/>
        </p:nvGrpSpPr>
        <p:grpSpPr>
          <a:xfrm>
            <a:off x="6085302" y="1473960"/>
            <a:ext cx="2597303" cy="1486783"/>
            <a:chOff x="6085302" y="1473960"/>
            <a:chExt cx="2597303" cy="1486783"/>
          </a:xfrm>
        </p:grpSpPr>
        <p:sp>
          <p:nvSpPr>
            <p:cNvPr id="148" name="Rectangle 147">
              <a:extLst>
                <a:ext uri="{FF2B5EF4-FFF2-40B4-BE49-F238E27FC236}">
                  <a16:creationId xmlns:a16="http://schemas.microsoft.com/office/drawing/2014/main" xmlns="" id="{D92D59EF-973B-804F-962F-B078BE109ADE}"/>
                </a:ext>
              </a:extLst>
            </p:cNvPr>
            <p:cNvSpPr/>
            <p:nvPr/>
          </p:nvSpPr>
          <p:spPr>
            <a:xfrm>
              <a:off x="6085302" y="1473960"/>
              <a:ext cx="2597303" cy="1486783"/>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xmlns="" id="{6F555E23-F6C4-6B4C-B2F9-2391258E661B}"/>
                </a:ext>
              </a:extLst>
            </p:cNvPr>
            <p:cNvSpPr txBox="1"/>
            <p:nvPr/>
          </p:nvSpPr>
          <p:spPr>
            <a:xfrm>
              <a:off x="6364612" y="1839762"/>
              <a:ext cx="2103461"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Siamese network</a:t>
              </a:r>
            </a:p>
            <a:p>
              <a:pPr algn="ctr"/>
              <a:r>
                <a:rPr lang="en-US" b="1" dirty="0">
                  <a:solidFill>
                    <a:schemeClr val="bg2"/>
                  </a:solidFill>
                  <a:latin typeface="Century Gothic" panose="020B0502020202020204" pitchFamily="34" charset="0"/>
                </a:rPr>
                <a:t>(Common sense)</a:t>
              </a:r>
            </a:p>
          </p:txBody>
        </p:sp>
      </p:grpSp>
      <p:grpSp>
        <p:nvGrpSpPr>
          <p:cNvPr id="3" name="Group 2">
            <a:extLst>
              <a:ext uri="{FF2B5EF4-FFF2-40B4-BE49-F238E27FC236}">
                <a16:creationId xmlns:a16="http://schemas.microsoft.com/office/drawing/2014/main" xmlns="" id="{41D386EA-41F2-7B4F-AB93-A31415AEF531}"/>
              </a:ext>
            </a:extLst>
          </p:cNvPr>
          <p:cNvGrpSpPr/>
          <p:nvPr/>
        </p:nvGrpSpPr>
        <p:grpSpPr>
          <a:xfrm>
            <a:off x="266700" y="3750327"/>
            <a:ext cx="4722256" cy="2087398"/>
            <a:chOff x="266700" y="3750327"/>
            <a:chExt cx="4722256" cy="2087398"/>
          </a:xfrm>
        </p:grpSpPr>
        <p:sp>
          <p:nvSpPr>
            <p:cNvPr id="147" name="Rectangle 146">
              <a:extLst>
                <a:ext uri="{FF2B5EF4-FFF2-40B4-BE49-F238E27FC236}">
                  <a16:creationId xmlns:a16="http://schemas.microsoft.com/office/drawing/2014/main" xmlns="" id="{7DC20B6A-F75D-1148-8BC0-C100E4FA2229}"/>
                </a:ext>
              </a:extLst>
            </p:cNvPr>
            <p:cNvSpPr/>
            <p:nvPr/>
          </p:nvSpPr>
          <p:spPr>
            <a:xfrm>
              <a:off x="266700" y="3750327"/>
              <a:ext cx="4722256" cy="2087398"/>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2" name="TextBox 91">
              <a:extLst>
                <a:ext uri="{FF2B5EF4-FFF2-40B4-BE49-F238E27FC236}">
                  <a16:creationId xmlns:a16="http://schemas.microsoft.com/office/drawing/2014/main" xmlns="" id="{39EF388D-A3E7-B74F-A5C3-3EE2D02DCAC2}"/>
                </a:ext>
              </a:extLst>
            </p:cNvPr>
            <p:cNvSpPr txBox="1"/>
            <p:nvPr/>
          </p:nvSpPr>
          <p:spPr>
            <a:xfrm>
              <a:off x="714918" y="4560737"/>
              <a:ext cx="3876382"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Long short-term memory network</a:t>
              </a:r>
            </a:p>
            <a:p>
              <a:pPr algn="ctr"/>
              <a:r>
                <a:rPr lang="en-US" b="1" dirty="0">
                  <a:solidFill>
                    <a:schemeClr val="bg2"/>
                  </a:solidFill>
                  <a:latin typeface="Century Gothic" panose="020B0502020202020204" pitchFamily="34" charset="0"/>
                </a:rPr>
                <a:t>(Structured learning)</a:t>
              </a:r>
            </a:p>
          </p:txBody>
        </p:sp>
      </p:grpSp>
      <p:grpSp>
        <p:nvGrpSpPr>
          <p:cNvPr id="4" name="Group 3">
            <a:extLst>
              <a:ext uri="{FF2B5EF4-FFF2-40B4-BE49-F238E27FC236}">
                <a16:creationId xmlns:a16="http://schemas.microsoft.com/office/drawing/2014/main" xmlns="" id="{BC004482-2F70-5445-AA88-B4125076ADF6}"/>
              </a:ext>
            </a:extLst>
          </p:cNvPr>
          <p:cNvGrpSpPr/>
          <p:nvPr/>
        </p:nvGrpSpPr>
        <p:grpSpPr>
          <a:xfrm>
            <a:off x="6085302" y="3594646"/>
            <a:ext cx="2656082" cy="2243079"/>
            <a:chOff x="6085302" y="3594646"/>
            <a:chExt cx="2656082" cy="2243079"/>
          </a:xfrm>
        </p:grpSpPr>
        <p:sp>
          <p:nvSpPr>
            <p:cNvPr id="149" name="Rectangle 148">
              <a:extLst>
                <a:ext uri="{FF2B5EF4-FFF2-40B4-BE49-F238E27FC236}">
                  <a16:creationId xmlns:a16="http://schemas.microsoft.com/office/drawing/2014/main" xmlns="" id="{8B1E2EAE-5545-5640-8516-928AFDAE73FD}"/>
                </a:ext>
              </a:extLst>
            </p:cNvPr>
            <p:cNvSpPr/>
            <p:nvPr/>
          </p:nvSpPr>
          <p:spPr>
            <a:xfrm>
              <a:off x="6085302" y="3594646"/>
              <a:ext cx="2597303" cy="2243079"/>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3" name="TextBox 92">
              <a:extLst>
                <a:ext uri="{FF2B5EF4-FFF2-40B4-BE49-F238E27FC236}">
                  <a16:creationId xmlns:a16="http://schemas.microsoft.com/office/drawing/2014/main" xmlns="" id="{F8E6E6CE-233C-FB4A-9FDE-3D002893DA1C}"/>
                </a:ext>
              </a:extLst>
            </p:cNvPr>
            <p:cNvSpPr txBox="1"/>
            <p:nvPr/>
          </p:nvSpPr>
          <p:spPr>
            <a:xfrm>
              <a:off x="6091300" y="4531519"/>
              <a:ext cx="2650084"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Feedforward network</a:t>
              </a:r>
            </a:p>
            <a:p>
              <a:pPr algn="ctr"/>
              <a:r>
                <a:rPr lang="en-US" b="1" dirty="0">
                  <a:solidFill>
                    <a:schemeClr val="bg2"/>
                  </a:solidFill>
                  <a:latin typeface="Century Gothic" panose="020B0502020202020204" pitchFamily="34" charset="0"/>
                </a:rPr>
                <a:t>(Trained on new data)</a:t>
              </a:r>
            </a:p>
          </p:txBody>
        </p:sp>
      </p:grpSp>
      <p:cxnSp>
        <p:nvCxnSpPr>
          <p:cNvPr id="12" name="Straight Arrow Connector 11">
            <a:extLst>
              <a:ext uri="{FF2B5EF4-FFF2-40B4-BE49-F238E27FC236}">
                <a16:creationId xmlns:a16="http://schemas.microsoft.com/office/drawing/2014/main" xmlns="" id="{2428F8EC-B6AB-7243-B549-B1DF8ACEFBA2}"/>
              </a:ext>
            </a:extLst>
          </p:cNvPr>
          <p:cNvCxnSpPr>
            <a:stCxn id="147" idx="3"/>
          </p:cNvCxnSpPr>
          <p:nvPr/>
        </p:nvCxnSpPr>
        <p:spPr>
          <a:xfrm>
            <a:off x="4988956" y="4794026"/>
            <a:ext cx="1096346" cy="0"/>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xmlns="" id="{66C9234D-0753-EC42-BBBB-0A689AB90467}"/>
              </a:ext>
            </a:extLst>
          </p:cNvPr>
          <p:cNvCxnSpPr>
            <a:cxnSpLocks/>
            <a:stCxn id="148" idx="2"/>
            <a:endCxn id="149" idx="0"/>
          </p:cNvCxnSpPr>
          <p:nvPr/>
        </p:nvCxnSpPr>
        <p:spPr>
          <a:xfrm>
            <a:off x="7383954" y="2960743"/>
            <a:ext cx="0" cy="633903"/>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xmlns="" id="{A57CE848-7C61-9240-8373-57CBCB7D7B5C}"/>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sp>
        <p:nvSpPr>
          <p:cNvPr id="18" name="TextBox 17">
            <a:extLst>
              <a:ext uri="{FF2B5EF4-FFF2-40B4-BE49-F238E27FC236}">
                <a16:creationId xmlns:a16="http://schemas.microsoft.com/office/drawing/2014/main" xmlns="" id="{3DF212FA-13DF-964C-BB67-954846C1294A}"/>
              </a:ext>
            </a:extLst>
          </p:cNvPr>
          <p:cNvSpPr txBox="1"/>
          <p:nvPr/>
        </p:nvSpPr>
        <p:spPr>
          <a:xfrm>
            <a:off x="975140" y="1406130"/>
            <a:ext cx="2973891" cy="1938992"/>
          </a:xfrm>
          <a:prstGeom prst="rect">
            <a:avLst/>
          </a:prstGeom>
          <a:noFill/>
        </p:spPr>
        <p:txBody>
          <a:bodyPr wrap="none" rtlCol="0">
            <a:spAutoFit/>
          </a:bodyPr>
          <a:lstStyle/>
          <a:p>
            <a:pPr algn="ctr"/>
            <a:r>
              <a:rPr lang="en-US" sz="2400" dirty="0">
                <a:solidFill>
                  <a:schemeClr val="bg2"/>
                </a:solidFill>
                <a:latin typeface="Century Gothic" panose="020B0502020202020204" pitchFamily="34" charset="0"/>
              </a:rPr>
              <a:t>LSTM </a:t>
            </a:r>
          </a:p>
          <a:p>
            <a:pPr algn="ctr"/>
            <a:r>
              <a:rPr lang="en-US" sz="2400" dirty="0">
                <a:solidFill>
                  <a:schemeClr val="bg2"/>
                </a:solidFill>
                <a:latin typeface="Century Gothic" panose="020B0502020202020204" pitchFamily="34" charset="0"/>
              </a:rPr>
              <a:t>+</a:t>
            </a:r>
          </a:p>
          <a:p>
            <a:pPr algn="ctr"/>
            <a:r>
              <a:rPr lang="en-US" sz="2400" dirty="0">
                <a:solidFill>
                  <a:schemeClr val="bg2"/>
                </a:solidFill>
                <a:latin typeface="Century Gothic" panose="020B0502020202020204" pitchFamily="34" charset="0"/>
              </a:rPr>
              <a:t> Feed-Forward NN </a:t>
            </a:r>
          </a:p>
          <a:p>
            <a:pPr algn="ctr"/>
            <a:r>
              <a:rPr lang="en-US" sz="2400" dirty="0">
                <a:solidFill>
                  <a:schemeClr val="bg2"/>
                </a:solidFill>
                <a:latin typeface="Century Gothic" panose="020B0502020202020204" pitchFamily="34" charset="0"/>
              </a:rPr>
              <a:t>+</a:t>
            </a:r>
          </a:p>
          <a:p>
            <a:pPr algn="ctr"/>
            <a:r>
              <a:rPr lang="en-US" sz="2400" dirty="0">
                <a:solidFill>
                  <a:schemeClr val="bg2"/>
                </a:solidFill>
                <a:latin typeface="Century Gothic" panose="020B0502020202020204" pitchFamily="34" charset="0"/>
              </a:rPr>
              <a:t> Siamese</a:t>
            </a:r>
          </a:p>
        </p:txBody>
      </p:sp>
      <p:sp>
        <p:nvSpPr>
          <p:cNvPr id="16" name="TextBox 15">
            <a:extLst>
              <a:ext uri="{FF2B5EF4-FFF2-40B4-BE49-F238E27FC236}">
                <a16:creationId xmlns:a16="http://schemas.microsoft.com/office/drawing/2014/main" xmlns="" id="{1C06C5B6-9CC4-D54B-A238-7B05FFB54FB2}"/>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Tree>
    <p:extLst>
      <p:ext uri="{BB962C8B-B14F-4D97-AF65-F5344CB8AC3E}">
        <p14:creationId xmlns:p14="http://schemas.microsoft.com/office/powerpoint/2010/main" val="2209951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6"/>
                                        </p:tgtEl>
                                        <p:attrNameLst>
                                          <p:attrName>style.visibility</p:attrName>
                                        </p:attrNameLst>
                                      </p:cBhvr>
                                      <p:to>
                                        <p:strVal val="visible"/>
                                      </p:to>
                                    </p:set>
                                    <p:animEffect transition="in" filter="wipe(up)">
                                      <p:cBhvr>
                                        <p:cTn id="23"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angle 146">
            <a:extLst>
              <a:ext uri="{FF2B5EF4-FFF2-40B4-BE49-F238E27FC236}">
                <a16:creationId xmlns:a16="http://schemas.microsoft.com/office/drawing/2014/main" xmlns="" id="{7DC20B6A-F75D-1148-8BC0-C100E4FA2229}"/>
              </a:ext>
            </a:extLst>
          </p:cNvPr>
          <p:cNvSpPr/>
          <p:nvPr/>
        </p:nvSpPr>
        <p:spPr>
          <a:xfrm>
            <a:off x="266700" y="3750327"/>
            <a:ext cx="4722256" cy="2087398"/>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9" name="Rectangle 148">
            <a:extLst>
              <a:ext uri="{FF2B5EF4-FFF2-40B4-BE49-F238E27FC236}">
                <a16:creationId xmlns:a16="http://schemas.microsoft.com/office/drawing/2014/main" xmlns="" id="{8B1E2EAE-5545-5640-8516-928AFDAE73FD}"/>
              </a:ext>
            </a:extLst>
          </p:cNvPr>
          <p:cNvSpPr/>
          <p:nvPr/>
        </p:nvSpPr>
        <p:spPr>
          <a:xfrm>
            <a:off x="6085302" y="3594646"/>
            <a:ext cx="2597303" cy="2243079"/>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8" name="Rectangle 147">
            <a:extLst>
              <a:ext uri="{FF2B5EF4-FFF2-40B4-BE49-F238E27FC236}">
                <a16:creationId xmlns:a16="http://schemas.microsoft.com/office/drawing/2014/main" xmlns="" id="{D92D59EF-973B-804F-962F-B078BE109ADE}"/>
              </a:ext>
            </a:extLst>
          </p:cNvPr>
          <p:cNvSpPr/>
          <p:nvPr/>
        </p:nvSpPr>
        <p:spPr>
          <a:xfrm>
            <a:off x="6085302" y="1473960"/>
            <a:ext cx="2597303" cy="1486783"/>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xmlns="" id="{2428F8EC-B6AB-7243-B549-B1DF8ACEFBA2}"/>
              </a:ext>
            </a:extLst>
          </p:cNvPr>
          <p:cNvCxnSpPr>
            <a:stCxn id="147" idx="3"/>
          </p:cNvCxnSpPr>
          <p:nvPr/>
        </p:nvCxnSpPr>
        <p:spPr>
          <a:xfrm>
            <a:off x="4988956" y="4794026"/>
            <a:ext cx="1096346" cy="0"/>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xmlns="" id="{66C9234D-0753-EC42-BBBB-0A689AB90467}"/>
              </a:ext>
            </a:extLst>
          </p:cNvPr>
          <p:cNvCxnSpPr>
            <a:cxnSpLocks/>
            <a:stCxn id="148" idx="2"/>
            <a:endCxn id="149" idx="0"/>
          </p:cNvCxnSpPr>
          <p:nvPr/>
        </p:nvCxnSpPr>
        <p:spPr>
          <a:xfrm>
            <a:off x="7383954" y="2960743"/>
            <a:ext cx="0" cy="633903"/>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364410" y="4133475"/>
            <a:ext cx="4626667" cy="1678639"/>
            <a:chOff x="364410" y="4133475"/>
            <a:chExt cx="4626667" cy="1678639"/>
          </a:xfrm>
        </p:grpSpPr>
        <p:sp>
          <p:nvSpPr>
            <p:cNvPr id="13" name="TextBox 12">
              <a:extLst>
                <a:ext uri="{FF2B5EF4-FFF2-40B4-BE49-F238E27FC236}">
                  <a16:creationId xmlns:a16="http://schemas.microsoft.com/office/drawing/2014/main" xmlns="" id="{57FAABF5-FCFF-FD47-889B-36412271B4D9}"/>
                </a:ext>
              </a:extLst>
            </p:cNvPr>
            <p:cNvSpPr txBox="1"/>
            <p:nvPr/>
          </p:nvSpPr>
          <p:spPr>
            <a:xfrm>
              <a:off x="364410" y="5550504"/>
              <a:ext cx="462666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LSTM w/ concatenations of two hidden states</a:t>
              </a:r>
            </a:p>
          </p:txBody>
        </p:sp>
        <p:sp>
          <p:nvSpPr>
            <p:cNvPr id="14" name="Rectangle 13">
              <a:extLst>
                <a:ext uri="{FF2B5EF4-FFF2-40B4-BE49-F238E27FC236}">
                  <a16:creationId xmlns:a16="http://schemas.microsoft.com/office/drawing/2014/main" xmlns="" id="{71505336-B73F-ED4D-9DB9-3F6F4E958A0E}"/>
                </a:ext>
              </a:extLst>
            </p:cNvPr>
            <p:cNvSpPr/>
            <p:nvPr/>
          </p:nvSpPr>
          <p:spPr>
            <a:xfrm>
              <a:off x="1644998" y="4133475"/>
              <a:ext cx="2150931" cy="551983"/>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ourier" charset="0"/>
                  <a:ea typeface="Courier" charset="0"/>
                  <a:cs typeface="Courier" charset="0"/>
                </a:rPr>
                <a:t>LSTM</a:t>
              </a:r>
            </a:p>
          </p:txBody>
        </p:sp>
        <p:sp>
          <p:nvSpPr>
            <p:cNvPr id="15" name="Rectangle 14">
              <a:extLst>
                <a:ext uri="{FF2B5EF4-FFF2-40B4-BE49-F238E27FC236}">
                  <a16:creationId xmlns:a16="http://schemas.microsoft.com/office/drawing/2014/main" xmlns="" id="{37EE7DC9-402A-E649-8450-ADB67AE946ED}"/>
                </a:ext>
              </a:extLst>
            </p:cNvPr>
            <p:cNvSpPr/>
            <p:nvPr/>
          </p:nvSpPr>
          <p:spPr>
            <a:xfrm flipH="1">
              <a:off x="179510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xmlns="" id="{A5BE672E-97BB-DB4A-B9AA-A00EC9D2D12A}"/>
                </a:ext>
              </a:extLst>
            </p:cNvPr>
            <p:cNvCxnSpPr>
              <a:stCxn id="15" idx="0"/>
            </p:cNvCxnSpPr>
            <p:nvPr/>
          </p:nvCxnSpPr>
          <p:spPr>
            <a:xfrm flipV="1">
              <a:off x="1832316"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7" name="Rectangle 16">
              <a:extLst>
                <a:ext uri="{FF2B5EF4-FFF2-40B4-BE49-F238E27FC236}">
                  <a16:creationId xmlns:a16="http://schemas.microsoft.com/office/drawing/2014/main" xmlns="" id="{A638AB4B-8D15-6E49-AC1F-8094368CC28C}"/>
                </a:ext>
              </a:extLst>
            </p:cNvPr>
            <p:cNvSpPr/>
            <p:nvPr/>
          </p:nvSpPr>
          <p:spPr>
            <a:xfrm flipH="1">
              <a:off x="2085824"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xmlns="" id="{AA8F34D5-FD04-AA46-84E4-F521D9AD2E58}"/>
                </a:ext>
              </a:extLst>
            </p:cNvPr>
            <p:cNvCxnSpPr>
              <a:stCxn id="17" idx="0"/>
            </p:cNvCxnSpPr>
            <p:nvPr/>
          </p:nvCxnSpPr>
          <p:spPr>
            <a:xfrm flipV="1">
              <a:off x="2123034"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9" name="Rectangle 18">
              <a:extLst>
                <a:ext uri="{FF2B5EF4-FFF2-40B4-BE49-F238E27FC236}">
                  <a16:creationId xmlns:a16="http://schemas.microsoft.com/office/drawing/2014/main" xmlns="" id="{0CBCAED4-EC87-334B-8A0F-372205831836}"/>
                </a:ext>
              </a:extLst>
            </p:cNvPr>
            <p:cNvSpPr/>
            <p:nvPr/>
          </p:nvSpPr>
          <p:spPr>
            <a:xfrm flipH="1">
              <a:off x="2367991"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xmlns="" id="{433F8AF9-C877-D14C-9693-2041753C6D14}"/>
                </a:ext>
              </a:extLst>
            </p:cNvPr>
            <p:cNvCxnSpPr>
              <a:stCxn id="19" idx="0"/>
            </p:cNvCxnSpPr>
            <p:nvPr/>
          </p:nvCxnSpPr>
          <p:spPr>
            <a:xfrm flipV="1">
              <a:off x="2405202"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1" name="Rectangle 20">
              <a:extLst>
                <a:ext uri="{FF2B5EF4-FFF2-40B4-BE49-F238E27FC236}">
                  <a16:creationId xmlns:a16="http://schemas.microsoft.com/office/drawing/2014/main" xmlns="" id="{2FCB6297-337C-CE4E-AD03-C52E209019D6}"/>
                </a:ext>
              </a:extLst>
            </p:cNvPr>
            <p:cNvSpPr/>
            <p:nvPr/>
          </p:nvSpPr>
          <p:spPr>
            <a:xfrm flipH="1">
              <a:off x="359071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xmlns="" id="{830D6567-A8F6-6248-97CF-49F1B93FE54F}"/>
                </a:ext>
              </a:extLst>
            </p:cNvPr>
            <p:cNvCxnSpPr>
              <a:stCxn id="21" idx="0"/>
            </p:cNvCxnSpPr>
            <p:nvPr/>
          </p:nvCxnSpPr>
          <p:spPr>
            <a:xfrm flipV="1">
              <a:off x="3627927"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3" name="TextBox 22">
              <a:extLst>
                <a:ext uri="{FF2B5EF4-FFF2-40B4-BE49-F238E27FC236}">
                  <a16:creationId xmlns:a16="http://schemas.microsoft.com/office/drawing/2014/main" xmlns="" id="{E4E50330-C745-154D-B316-011EFB5E0319}"/>
                </a:ext>
              </a:extLst>
            </p:cNvPr>
            <p:cNvSpPr txBox="1"/>
            <p:nvPr/>
          </p:nvSpPr>
          <p:spPr>
            <a:xfrm>
              <a:off x="1728588" y="5358199"/>
              <a:ext cx="2117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0  </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err="1">
                  <a:ln>
                    <a:noFill/>
                  </a:ln>
                  <a:solidFill>
                    <a:prstClr val="black"/>
                  </a:solidFill>
                  <a:effectLst/>
                  <a:uLnTx/>
                  <a:uFillTx/>
                  <a:latin typeface="Courier" charset="0"/>
                  <a:ea typeface="Courier" charset="0"/>
                  <a:cs typeface="Courier" charset="0"/>
                </a:rPr>
                <a:t>n</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sp>
        <p:nvSpPr>
          <p:cNvPr id="27" name="TextBox 26">
            <a:extLst>
              <a:ext uri="{FF2B5EF4-FFF2-40B4-BE49-F238E27FC236}">
                <a16:creationId xmlns:a16="http://schemas.microsoft.com/office/drawing/2014/main" xmlns="" id="{80B1D00D-1AA4-6840-8931-CC4B40767130}"/>
              </a:ext>
            </a:extLst>
          </p:cNvPr>
          <p:cNvSpPr txBox="1"/>
          <p:nvPr/>
        </p:nvSpPr>
        <p:spPr>
          <a:xfrm>
            <a:off x="6364612" y="1839762"/>
            <a:ext cx="2103461"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Siamese network</a:t>
            </a:r>
          </a:p>
          <a:p>
            <a:pPr algn="ctr"/>
            <a:r>
              <a:rPr lang="en-US" b="1" dirty="0">
                <a:solidFill>
                  <a:schemeClr val="bg2"/>
                </a:solidFill>
                <a:latin typeface="Century Gothic" panose="020B0502020202020204" pitchFamily="34" charset="0"/>
              </a:rPr>
              <a:t>(Common sense)</a:t>
            </a:r>
          </a:p>
        </p:txBody>
      </p:sp>
      <p:sp>
        <p:nvSpPr>
          <p:cNvPr id="28" name="TextBox 27">
            <a:extLst>
              <a:ext uri="{FF2B5EF4-FFF2-40B4-BE49-F238E27FC236}">
                <a16:creationId xmlns:a16="http://schemas.microsoft.com/office/drawing/2014/main" xmlns="" id="{C0B4805D-9F54-8340-8F65-CD4209531321}"/>
              </a:ext>
            </a:extLst>
          </p:cNvPr>
          <p:cNvSpPr txBox="1"/>
          <p:nvPr/>
        </p:nvSpPr>
        <p:spPr>
          <a:xfrm>
            <a:off x="6062445" y="4531519"/>
            <a:ext cx="2707793"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Feedforward network</a:t>
            </a:r>
          </a:p>
          <a:p>
            <a:pPr algn="ctr"/>
            <a:r>
              <a:rPr lang="en-US" b="1" dirty="0">
                <a:solidFill>
                  <a:schemeClr val="bg2"/>
                </a:solidFill>
                <a:latin typeface="Century Gothic" panose="020B0502020202020204" pitchFamily="34" charset="0"/>
              </a:rPr>
              <a:t>(Trained on new data)</a:t>
            </a:r>
          </a:p>
        </p:txBody>
      </p:sp>
      <p:grpSp>
        <p:nvGrpSpPr>
          <p:cNvPr id="6" name="Group 5">
            <a:extLst>
              <a:ext uri="{FF2B5EF4-FFF2-40B4-BE49-F238E27FC236}">
                <a16:creationId xmlns:a16="http://schemas.microsoft.com/office/drawing/2014/main" xmlns="" id="{26D87E97-3BAE-7B41-B4F9-069C739F3649}"/>
              </a:ext>
            </a:extLst>
          </p:cNvPr>
          <p:cNvGrpSpPr/>
          <p:nvPr/>
        </p:nvGrpSpPr>
        <p:grpSpPr>
          <a:xfrm>
            <a:off x="25167" y="228600"/>
            <a:ext cx="8268132" cy="533400"/>
            <a:chOff x="25167" y="228600"/>
            <a:chExt cx="8268132" cy="533400"/>
          </a:xfrm>
        </p:grpSpPr>
        <p:sp>
          <p:nvSpPr>
            <p:cNvPr id="31" name="Title 240">
              <a:extLst>
                <a:ext uri="{FF2B5EF4-FFF2-40B4-BE49-F238E27FC236}">
                  <a16:creationId xmlns:a16="http://schemas.microsoft.com/office/drawing/2014/main" xmlns="" id="{AA93E823-DA84-874F-B363-44CB4E9BEBEB}"/>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dirty="0"/>
                <a:t>: a neural approach</a:t>
              </a:r>
            </a:p>
          </p:txBody>
        </p:sp>
        <p:sp>
          <p:nvSpPr>
            <p:cNvPr id="32" name="TextBox 31">
              <a:extLst>
                <a:ext uri="{FF2B5EF4-FFF2-40B4-BE49-F238E27FC236}">
                  <a16:creationId xmlns:a16="http://schemas.microsoft.com/office/drawing/2014/main" xmlns="" id="{5B99ECFE-A883-EB43-A634-E217003C5621}"/>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sp>
        <p:nvSpPr>
          <p:cNvPr id="33" name="TextBox 32">
            <a:extLst>
              <a:ext uri="{FF2B5EF4-FFF2-40B4-BE49-F238E27FC236}">
                <a16:creationId xmlns:a16="http://schemas.microsoft.com/office/drawing/2014/main" xmlns="" id="{E977AB19-A005-7F40-AEDD-4F04247AF22F}"/>
              </a:ext>
            </a:extLst>
          </p:cNvPr>
          <p:cNvSpPr txBox="1"/>
          <p:nvPr/>
        </p:nvSpPr>
        <p:spPr>
          <a:xfrm>
            <a:off x="266700" y="1338702"/>
            <a:ext cx="5412377" cy="1938992"/>
          </a:xfrm>
          <a:prstGeom prst="rect">
            <a:avLst/>
          </a:prstGeom>
          <a:noFill/>
        </p:spPr>
        <p:txBody>
          <a:bodyPr wrap="square" rtlCol="0">
            <a:spAutoFit/>
          </a:bodyPr>
          <a:lstStyle/>
          <a:p>
            <a:pPr marL="342900" indent="-342900">
              <a:buSzPct val="65000"/>
              <a:buFont typeface="Wingdings" pitchFamily="2" charset="2"/>
              <a:buChar char="q"/>
            </a:pPr>
            <a:r>
              <a:rPr lang="en-US" sz="2000" b="1" dirty="0">
                <a:solidFill>
                  <a:schemeClr val="bg2"/>
                </a:solidFill>
                <a:latin typeface="Century Gothic" panose="020B0502020202020204" pitchFamily="34" charset="0"/>
              </a:rPr>
              <a:t>LSTM takes word embeddings as input</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Hidden vectors represent events</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FFNN predicts the labels of temporal relations (followed by ILP inference)</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Siamese network is a generalized </a:t>
            </a:r>
            <a:r>
              <a:rPr lang="en-US" sz="2000" dirty="0" err="1">
                <a:solidFill>
                  <a:schemeClr val="bg2"/>
                </a:solidFill>
                <a:latin typeface="Century Gothic" panose="020B0502020202020204" pitchFamily="34" charset="0"/>
              </a:rPr>
              <a:t>TemProb</a:t>
            </a:r>
            <a:endParaRPr lang="en-US" sz="2000" dirty="0">
              <a:solidFill>
                <a:schemeClr val="bg2"/>
              </a:solidFill>
              <a:latin typeface="Century Gothic" panose="020B0502020202020204" pitchFamily="34" charset="0"/>
            </a:endParaRPr>
          </a:p>
        </p:txBody>
      </p:sp>
      <p:sp>
        <p:nvSpPr>
          <p:cNvPr id="36" name="TextBox 35">
            <a:extLst>
              <a:ext uri="{FF2B5EF4-FFF2-40B4-BE49-F238E27FC236}">
                <a16:creationId xmlns:a16="http://schemas.microsoft.com/office/drawing/2014/main" xmlns="" id="{C5019D54-9E17-1846-B03C-2A2579A9F8D2}"/>
              </a:ext>
            </a:extLst>
          </p:cNvPr>
          <p:cNvSpPr txBox="1"/>
          <p:nvPr/>
        </p:nvSpPr>
        <p:spPr>
          <a:xfrm>
            <a:off x="508497" y="4756068"/>
            <a:ext cx="112077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word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embeddings</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26" name="TextBox 25">
            <a:extLst>
              <a:ext uri="{FF2B5EF4-FFF2-40B4-BE49-F238E27FC236}">
                <a16:creationId xmlns:a16="http://schemas.microsoft.com/office/drawing/2014/main" xmlns="" id="{AED0303F-D013-1C4F-A057-55F54B361363}"/>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Tree>
    <p:extLst>
      <p:ext uri="{BB962C8B-B14F-4D97-AF65-F5344CB8AC3E}">
        <p14:creationId xmlns:p14="http://schemas.microsoft.com/office/powerpoint/2010/main" val="1695196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1000"/>
                                        <p:tgtEl>
                                          <p:spTgt spid="36"/>
                                        </p:tgtEl>
                                      </p:cBhvr>
                                    </p:animEffect>
                                    <p:anim calcmode="lin" valueType="num">
                                      <p:cBhvr>
                                        <p:cTn id="13" dur="1000" fill="hold"/>
                                        <p:tgtEl>
                                          <p:spTgt spid="36"/>
                                        </p:tgtEl>
                                        <p:attrNameLst>
                                          <p:attrName>ppt_x</p:attrName>
                                        </p:attrNameLst>
                                      </p:cBhvr>
                                      <p:tavLst>
                                        <p:tav tm="0">
                                          <p:val>
                                            <p:strVal val="#ppt_x"/>
                                          </p:val>
                                        </p:tav>
                                        <p:tav tm="100000">
                                          <p:val>
                                            <p:strVal val="#ppt_x"/>
                                          </p:val>
                                        </p:tav>
                                      </p:tavLst>
                                    </p:anim>
                                    <p:anim calcmode="lin" valueType="num">
                                      <p:cBhvr>
                                        <p:cTn id="14"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angle 146">
            <a:extLst>
              <a:ext uri="{FF2B5EF4-FFF2-40B4-BE49-F238E27FC236}">
                <a16:creationId xmlns:a16="http://schemas.microsoft.com/office/drawing/2014/main" xmlns="" id="{7DC20B6A-F75D-1148-8BC0-C100E4FA2229}"/>
              </a:ext>
            </a:extLst>
          </p:cNvPr>
          <p:cNvSpPr/>
          <p:nvPr/>
        </p:nvSpPr>
        <p:spPr>
          <a:xfrm>
            <a:off x="266700" y="3750327"/>
            <a:ext cx="4722256" cy="2087398"/>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9" name="Rectangle 148">
            <a:extLst>
              <a:ext uri="{FF2B5EF4-FFF2-40B4-BE49-F238E27FC236}">
                <a16:creationId xmlns:a16="http://schemas.microsoft.com/office/drawing/2014/main" xmlns="" id="{8B1E2EAE-5545-5640-8516-928AFDAE73FD}"/>
              </a:ext>
            </a:extLst>
          </p:cNvPr>
          <p:cNvSpPr/>
          <p:nvPr/>
        </p:nvSpPr>
        <p:spPr>
          <a:xfrm>
            <a:off x="6085302" y="3594646"/>
            <a:ext cx="2597303" cy="2243079"/>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8" name="Rectangle 147">
            <a:extLst>
              <a:ext uri="{FF2B5EF4-FFF2-40B4-BE49-F238E27FC236}">
                <a16:creationId xmlns:a16="http://schemas.microsoft.com/office/drawing/2014/main" xmlns="" id="{D92D59EF-973B-804F-962F-B078BE109ADE}"/>
              </a:ext>
            </a:extLst>
          </p:cNvPr>
          <p:cNvSpPr/>
          <p:nvPr/>
        </p:nvSpPr>
        <p:spPr>
          <a:xfrm>
            <a:off x="6085302" y="1473960"/>
            <a:ext cx="2597303" cy="1486783"/>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96" name="Straight Arrow Connector 95">
            <a:extLst>
              <a:ext uri="{FF2B5EF4-FFF2-40B4-BE49-F238E27FC236}">
                <a16:creationId xmlns:a16="http://schemas.microsoft.com/office/drawing/2014/main" xmlns="" id="{66C9234D-0753-EC42-BBBB-0A689AB90467}"/>
              </a:ext>
            </a:extLst>
          </p:cNvPr>
          <p:cNvCxnSpPr>
            <a:cxnSpLocks/>
            <a:stCxn id="148" idx="2"/>
            <a:endCxn id="149" idx="0"/>
          </p:cNvCxnSpPr>
          <p:nvPr/>
        </p:nvCxnSpPr>
        <p:spPr>
          <a:xfrm>
            <a:off x="7383954" y="2960743"/>
            <a:ext cx="0" cy="633903"/>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364410" y="4133475"/>
            <a:ext cx="4626667" cy="1678639"/>
            <a:chOff x="364410" y="4133475"/>
            <a:chExt cx="4626667" cy="1678639"/>
          </a:xfrm>
        </p:grpSpPr>
        <p:sp>
          <p:nvSpPr>
            <p:cNvPr id="13" name="TextBox 12">
              <a:extLst>
                <a:ext uri="{FF2B5EF4-FFF2-40B4-BE49-F238E27FC236}">
                  <a16:creationId xmlns:a16="http://schemas.microsoft.com/office/drawing/2014/main" xmlns="" id="{57FAABF5-FCFF-FD47-889B-36412271B4D9}"/>
                </a:ext>
              </a:extLst>
            </p:cNvPr>
            <p:cNvSpPr txBox="1"/>
            <p:nvPr/>
          </p:nvSpPr>
          <p:spPr>
            <a:xfrm>
              <a:off x="364410" y="5550504"/>
              <a:ext cx="462666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LSTM w/ concatenations of two hidden states</a:t>
              </a:r>
            </a:p>
          </p:txBody>
        </p:sp>
        <p:sp>
          <p:nvSpPr>
            <p:cNvPr id="14" name="Rectangle 13">
              <a:extLst>
                <a:ext uri="{FF2B5EF4-FFF2-40B4-BE49-F238E27FC236}">
                  <a16:creationId xmlns:a16="http://schemas.microsoft.com/office/drawing/2014/main" xmlns="" id="{71505336-B73F-ED4D-9DB9-3F6F4E958A0E}"/>
                </a:ext>
              </a:extLst>
            </p:cNvPr>
            <p:cNvSpPr/>
            <p:nvPr/>
          </p:nvSpPr>
          <p:spPr>
            <a:xfrm>
              <a:off x="1644998" y="4133475"/>
              <a:ext cx="2150931" cy="551983"/>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ourier" charset="0"/>
                  <a:ea typeface="Courier" charset="0"/>
                  <a:cs typeface="Courier" charset="0"/>
                </a:rPr>
                <a:t>LSTM</a:t>
              </a:r>
            </a:p>
          </p:txBody>
        </p:sp>
        <p:sp>
          <p:nvSpPr>
            <p:cNvPr id="15" name="Rectangle 14">
              <a:extLst>
                <a:ext uri="{FF2B5EF4-FFF2-40B4-BE49-F238E27FC236}">
                  <a16:creationId xmlns:a16="http://schemas.microsoft.com/office/drawing/2014/main" xmlns="" id="{37EE7DC9-402A-E649-8450-ADB67AE946ED}"/>
                </a:ext>
              </a:extLst>
            </p:cNvPr>
            <p:cNvSpPr/>
            <p:nvPr/>
          </p:nvSpPr>
          <p:spPr>
            <a:xfrm flipH="1">
              <a:off x="179510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xmlns="" id="{A5BE672E-97BB-DB4A-B9AA-A00EC9D2D12A}"/>
                </a:ext>
              </a:extLst>
            </p:cNvPr>
            <p:cNvCxnSpPr>
              <a:stCxn id="15" idx="0"/>
            </p:cNvCxnSpPr>
            <p:nvPr/>
          </p:nvCxnSpPr>
          <p:spPr>
            <a:xfrm flipV="1">
              <a:off x="1832316"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7" name="Rectangle 16">
              <a:extLst>
                <a:ext uri="{FF2B5EF4-FFF2-40B4-BE49-F238E27FC236}">
                  <a16:creationId xmlns:a16="http://schemas.microsoft.com/office/drawing/2014/main" xmlns="" id="{A638AB4B-8D15-6E49-AC1F-8094368CC28C}"/>
                </a:ext>
              </a:extLst>
            </p:cNvPr>
            <p:cNvSpPr/>
            <p:nvPr/>
          </p:nvSpPr>
          <p:spPr>
            <a:xfrm flipH="1">
              <a:off x="2085824"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xmlns="" id="{AA8F34D5-FD04-AA46-84E4-F521D9AD2E58}"/>
                </a:ext>
              </a:extLst>
            </p:cNvPr>
            <p:cNvCxnSpPr>
              <a:stCxn id="17" idx="0"/>
            </p:cNvCxnSpPr>
            <p:nvPr/>
          </p:nvCxnSpPr>
          <p:spPr>
            <a:xfrm flipV="1">
              <a:off x="2123034"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9" name="Rectangle 18">
              <a:extLst>
                <a:ext uri="{FF2B5EF4-FFF2-40B4-BE49-F238E27FC236}">
                  <a16:creationId xmlns:a16="http://schemas.microsoft.com/office/drawing/2014/main" xmlns="" id="{0CBCAED4-EC87-334B-8A0F-372205831836}"/>
                </a:ext>
              </a:extLst>
            </p:cNvPr>
            <p:cNvSpPr/>
            <p:nvPr/>
          </p:nvSpPr>
          <p:spPr>
            <a:xfrm flipH="1">
              <a:off x="2367991"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xmlns="" id="{433F8AF9-C877-D14C-9693-2041753C6D14}"/>
                </a:ext>
              </a:extLst>
            </p:cNvPr>
            <p:cNvCxnSpPr>
              <a:stCxn id="19" idx="0"/>
            </p:cNvCxnSpPr>
            <p:nvPr/>
          </p:nvCxnSpPr>
          <p:spPr>
            <a:xfrm flipV="1">
              <a:off x="2405202"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1" name="Rectangle 20">
              <a:extLst>
                <a:ext uri="{FF2B5EF4-FFF2-40B4-BE49-F238E27FC236}">
                  <a16:creationId xmlns:a16="http://schemas.microsoft.com/office/drawing/2014/main" xmlns="" id="{2FCB6297-337C-CE4E-AD03-C52E209019D6}"/>
                </a:ext>
              </a:extLst>
            </p:cNvPr>
            <p:cNvSpPr/>
            <p:nvPr/>
          </p:nvSpPr>
          <p:spPr>
            <a:xfrm flipH="1">
              <a:off x="359071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xmlns="" id="{830D6567-A8F6-6248-97CF-49F1B93FE54F}"/>
                </a:ext>
              </a:extLst>
            </p:cNvPr>
            <p:cNvCxnSpPr>
              <a:stCxn id="21" idx="0"/>
            </p:cNvCxnSpPr>
            <p:nvPr/>
          </p:nvCxnSpPr>
          <p:spPr>
            <a:xfrm flipV="1">
              <a:off x="3627927"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3" name="TextBox 22">
              <a:extLst>
                <a:ext uri="{FF2B5EF4-FFF2-40B4-BE49-F238E27FC236}">
                  <a16:creationId xmlns:a16="http://schemas.microsoft.com/office/drawing/2014/main" xmlns="" id="{E4E50330-C745-154D-B316-011EFB5E0319}"/>
                </a:ext>
              </a:extLst>
            </p:cNvPr>
            <p:cNvSpPr txBox="1"/>
            <p:nvPr/>
          </p:nvSpPr>
          <p:spPr>
            <a:xfrm>
              <a:off x="1728588" y="5358199"/>
              <a:ext cx="2117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0  </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err="1">
                  <a:ln>
                    <a:noFill/>
                  </a:ln>
                  <a:solidFill>
                    <a:prstClr val="black"/>
                  </a:solidFill>
                  <a:effectLst/>
                  <a:uLnTx/>
                  <a:uFillTx/>
                  <a:latin typeface="Courier" charset="0"/>
                  <a:ea typeface="Courier" charset="0"/>
                  <a:cs typeface="Courier" charset="0"/>
                </a:rPr>
                <a:t>n</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sp>
        <p:nvSpPr>
          <p:cNvPr id="27" name="TextBox 26">
            <a:extLst>
              <a:ext uri="{FF2B5EF4-FFF2-40B4-BE49-F238E27FC236}">
                <a16:creationId xmlns:a16="http://schemas.microsoft.com/office/drawing/2014/main" xmlns="" id="{80B1D00D-1AA4-6840-8931-CC4B40767130}"/>
              </a:ext>
            </a:extLst>
          </p:cNvPr>
          <p:cNvSpPr txBox="1"/>
          <p:nvPr/>
        </p:nvSpPr>
        <p:spPr>
          <a:xfrm>
            <a:off x="6364612" y="1839762"/>
            <a:ext cx="2103461"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Siamese network</a:t>
            </a:r>
          </a:p>
          <a:p>
            <a:pPr algn="ctr"/>
            <a:r>
              <a:rPr lang="en-US" b="1" dirty="0">
                <a:solidFill>
                  <a:schemeClr val="bg2"/>
                </a:solidFill>
                <a:latin typeface="Century Gothic" panose="020B0502020202020204" pitchFamily="34" charset="0"/>
              </a:rPr>
              <a:t>(Common sense)</a:t>
            </a:r>
          </a:p>
        </p:txBody>
      </p:sp>
      <p:grpSp>
        <p:nvGrpSpPr>
          <p:cNvPr id="6" name="Group 5">
            <a:extLst>
              <a:ext uri="{FF2B5EF4-FFF2-40B4-BE49-F238E27FC236}">
                <a16:creationId xmlns:a16="http://schemas.microsoft.com/office/drawing/2014/main" xmlns="" id="{26D87E97-3BAE-7B41-B4F9-069C739F3649}"/>
              </a:ext>
            </a:extLst>
          </p:cNvPr>
          <p:cNvGrpSpPr/>
          <p:nvPr/>
        </p:nvGrpSpPr>
        <p:grpSpPr>
          <a:xfrm>
            <a:off x="25167" y="228600"/>
            <a:ext cx="8268132" cy="533400"/>
            <a:chOff x="25167" y="228600"/>
            <a:chExt cx="8268132" cy="533400"/>
          </a:xfrm>
        </p:grpSpPr>
        <p:sp>
          <p:nvSpPr>
            <p:cNvPr id="31" name="Title 240">
              <a:extLst>
                <a:ext uri="{FF2B5EF4-FFF2-40B4-BE49-F238E27FC236}">
                  <a16:creationId xmlns:a16="http://schemas.microsoft.com/office/drawing/2014/main" xmlns="" id="{AA93E823-DA84-874F-B363-44CB4E9BEBEB}"/>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a:t>: a neural approach</a:t>
              </a:r>
              <a:endParaRPr lang="en-US" sz="2800" dirty="0"/>
            </a:p>
          </p:txBody>
        </p:sp>
        <p:sp>
          <p:nvSpPr>
            <p:cNvPr id="32" name="TextBox 31">
              <a:extLst>
                <a:ext uri="{FF2B5EF4-FFF2-40B4-BE49-F238E27FC236}">
                  <a16:creationId xmlns:a16="http://schemas.microsoft.com/office/drawing/2014/main" xmlns="" id="{5B99ECFE-A883-EB43-A634-E217003C5621}"/>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grpSp>
        <p:nvGrpSpPr>
          <p:cNvPr id="26" name="Group 25">
            <a:extLst>
              <a:ext uri="{FF2B5EF4-FFF2-40B4-BE49-F238E27FC236}">
                <a16:creationId xmlns:a16="http://schemas.microsoft.com/office/drawing/2014/main" xmlns="" id="{B2EA2C41-6AF5-3C48-9C9E-8CA8347D0572}"/>
              </a:ext>
            </a:extLst>
          </p:cNvPr>
          <p:cNvGrpSpPr/>
          <p:nvPr/>
        </p:nvGrpSpPr>
        <p:grpSpPr>
          <a:xfrm>
            <a:off x="2057545" y="3610478"/>
            <a:ext cx="5367078" cy="1941686"/>
            <a:chOff x="2057545" y="3610478"/>
            <a:chExt cx="5367078" cy="1941686"/>
          </a:xfrm>
        </p:grpSpPr>
        <p:sp>
          <p:nvSpPr>
            <p:cNvPr id="29" name="TextBox 28">
              <a:extLst>
                <a:ext uri="{FF2B5EF4-FFF2-40B4-BE49-F238E27FC236}">
                  <a16:creationId xmlns:a16="http://schemas.microsoft.com/office/drawing/2014/main" xmlns="" id="{1BEC9E07-A852-BA4B-8E8B-338457D1F3D8}"/>
                </a:ext>
              </a:extLst>
            </p:cNvPr>
            <p:cNvSpPr txBox="1"/>
            <p:nvPr/>
          </p:nvSpPr>
          <p:spPr>
            <a:xfrm>
              <a:off x="6760755" y="4836033"/>
              <a:ext cx="419602"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e2</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33" name="TextBox 32">
              <a:extLst>
                <a:ext uri="{FF2B5EF4-FFF2-40B4-BE49-F238E27FC236}">
                  <a16:creationId xmlns:a16="http://schemas.microsoft.com/office/drawing/2014/main" xmlns="" id="{DE29157F-628A-FF42-9411-894779B8745A}"/>
                </a:ext>
              </a:extLst>
            </p:cNvPr>
            <p:cNvSpPr txBox="1"/>
            <p:nvPr/>
          </p:nvSpPr>
          <p:spPr>
            <a:xfrm>
              <a:off x="6694541" y="3610478"/>
              <a:ext cx="504663"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e1</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nvGrpSpPr>
            <p:cNvPr id="34" name="Group 33">
              <a:extLst>
                <a:ext uri="{FF2B5EF4-FFF2-40B4-BE49-F238E27FC236}">
                  <a16:creationId xmlns:a16="http://schemas.microsoft.com/office/drawing/2014/main" xmlns="" id="{A0302575-CEDA-9349-A079-636F7474C069}"/>
                </a:ext>
              </a:extLst>
            </p:cNvPr>
            <p:cNvGrpSpPr/>
            <p:nvPr/>
          </p:nvGrpSpPr>
          <p:grpSpPr>
            <a:xfrm>
              <a:off x="2057545" y="3849696"/>
              <a:ext cx="5367078" cy="1702468"/>
              <a:chOff x="2057545" y="3849696"/>
              <a:chExt cx="5367078" cy="1702468"/>
            </a:xfrm>
          </p:grpSpPr>
          <p:grpSp>
            <p:nvGrpSpPr>
              <p:cNvPr id="35" name="Group 34">
                <a:extLst>
                  <a:ext uri="{FF2B5EF4-FFF2-40B4-BE49-F238E27FC236}">
                    <a16:creationId xmlns:a16="http://schemas.microsoft.com/office/drawing/2014/main" xmlns="" id="{AB9776E4-A930-2446-A717-466A63D170EF}"/>
                  </a:ext>
                </a:extLst>
              </p:cNvPr>
              <p:cNvGrpSpPr/>
              <p:nvPr/>
            </p:nvGrpSpPr>
            <p:grpSpPr>
              <a:xfrm>
                <a:off x="2057545" y="3898229"/>
                <a:ext cx="5235488" cy="1230841"/>
                <a:chOff x="2057545" y="3898229"/>
                <a:chExt cx="5235488" cy="1230841"/>
              </a:xfrm>
            </p:grpSpPr>
            <p:sp>
              <p:nvSpPr>
                <p:cNvPr id="40" name="Bent-Up Arrow 39">
                  <a:extLst>
                    <a:ext uri="{FF2B5EF4-FFF2-40B4-BE49-F238E27FC236}">
                      <a16:creationId xmlns:a16="http://schemas.microsoft.com/office/drawing/2014/main" xmlns="" id="{749B142F-A334-F24A-BD28-5CDEB0D3E081}"/>
                    </a:ext>
                  </a:extLst>
                </p:cNvPr>
                <p:cNvSpPr/>
                <p:nvPr/>
              </p:nvSpPr>
              <p:spPr>
                <a:xfrm rot="5400000" flipH="1">
                  <a:off x="4552793" y="1402981"/>
                  <a:ext cx="233389" cy="5223885"/>
                </a:xfrm>
                <a:prstGeom prst="bentUpArrow">
                  <a:avLst>
                    <a:gd name="adj1" fmla="val 0"/>
                    <a:gd name="adj2" fmla="val 6756"/>
                    <a:gd name="adj3" fmla="val 20135"/>
                  </a:avLst>
                </a:prstGeom>
                <a:solidFill>
                  <a:sysClr val="windowText" lastClr="000000"/>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1" name="Group 40">
                  <a:extLst>
                    <a:ext uri="{FF2B5EF4-FFF2-40B4-BE49-F238E27FC236}">
                      <a16:creationId xmlns:a16="http://schemas.microsoft.com/office/drawing/2014/main" xmlns="" id="{7B085608-A053-AB45-8FF0-99A30FAA0AAC}"/>
                    </a:ext>
                  </a:extLst>
                </p:cNvPr>
                <p:cNvGrpSpPr/>
                <p:nvPr/>
              </p:nvGrpSpPr>
              <p:grpSpPr>
                <a:xfrm>
                  <a:off x="3132702" y="4071242"/>
                  <a:ext cx="4160331" cy="1057828"/>
                  <a:chOff x="4427129" y="4129048"/>
                  <a:chExt cx="2314332" cy="1597344"/>
                </a:xfrm>
              </p:grpSpPr>
              <p:cxnSp>
                <p:nvCxnSpPr>
                  <p:cNvPr id="42" name="Elbow Connector 41">
                    <a:extLst>
                      <a:ext uri="{FF2B5EF4-FFF2-40B4-BE49-F238E27FC236}">
                        <a16:creationId xmlns:a16="http://schemas.microsoft.com/office/drawing/2014/main" xmlns="" id="{C01802C8-6206-BC4C-A5A9-203286F39FE6}"/>
                      </a:ext>
                    </a:extLst>
                  </p:cNvPr>
                  <p:cNvCxnSpPr>
                    <a:endCxn id="36" idx="3"/>
                  </p:cNvCxnSpPr>
                  <p:nvPr/>
                </p:nvCxnSpPr>
                <p:spPr>
                  <a:xfrm>
                    <a:off x="4427134" y="4129048"/>
                    <a:ext cx="2314327" cy="1597344"/>
                  </a:xfrm>
                  <a:prstGeom prst="bentConnector3">
                    <a:avLst>
                      <a:gd name="adj1" fmla="val 50000"/>
                    </a:avLst>
                  </a:prstGeom>
                  <a:noFill/>
                  <a:ln w="6350" cap="flat" cmpd="sng" algn="ctr">
                    <a:solidFill>
                      <a:sysClr val="windowText" lastClr="000000"/>
                    </a:solidFill>
                    <a:prstDash val="solid"/>
                    <a:miter lim="800000"/>
                    <a:tailEnd type="triangle"/>
                  </a:ln>
                  <a:effectLst/>
                </p:spPr>
              </p:cxnSp>
              <p:cxnSp>
                <p:nvCxnSpPr>
                  <p:cNvPr id="43" name="Straight Arrow Connector 42">
                    <a:extLst>
                      <a:ext uri="{FF2B5EF4-FFF2-40B4-BE49-F238E27FC236}">
                        <a16:creationId xmlns:a16="http://schemas.microsoft.com/office/drawing/2014/main" xmlns="" id="{B92FE208-41D5-5D4A-BAB8-40C2E2771D8B}"/>
                      </a:ext>
                    </a:extLst>
                  </p:cNvPr>
                  <p:cNvCxnSpPr/>
                  <p:nvPr/>
                </p:nvCxnSpPr>
                <p:spPr>
                  <a:xfrm flipH="1">
                    <a:off x="4427129" y="4129049"/>
                    <a:ext cx="1" cy="91140"/>
                  </a:xfrm>
                  <a:prstGeom prst="straightConnector1">
                    <a:avLst/>
                  </a:prstGeom>
                  <a:noFill/>
                  <a:ln w="6350" cap="flat" cmpd="sng" algn="ctr">
                    <a:solidFill>
                      <a:sysClr val="windowText" lastClr="000000"/>
                    </a:solidFill>
                    <a:prstDash val="solid"/>
                    <a:miter lim="800000"/>
                    <a:headEnd type="none" w="med" len="med"/>
                    <a:tailEnd type="none" w="med" len="med"/>
                  </a:ln>
                  <a:effectLst/>
                </p:spPr>
              </p:cxnSp>
            </p:grpSp>
          </p:grpSp>
          <p:sp>
            <p:nvSpPr>
              <p:cNvPr id="36" name="Rectangle 35">
                <a:extLst>
                  <a:ext uri="{FF2B5EF4-FFF2-40B4-BE49-F238E27FC236}">
                    <a16:creationId xmlns:a16="http://schemas.microsoft.com/office/drawing/2014/main" xmlns="" id="{0B3BECAF-7BD3-5D4B-9177-97F9B0A52872}"/>
                  </a:ext>
                </a:extLst>
              </p:cNvPr>
              <p:cNvSpPr/>
              <p:nvPr/>
            </p:nvSpPr>
            <p:spPr>
              <a:xfrm flipH="1">
                <a:off x="7293026" y="4705974"/>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xmlns="" id="{47010FEE-D80A-FA4A-B4BE-9CD20B7A1982}"/>
                  </a:ext>
                </a:extLst>
              </p:cNvPr>
              <p:cNvSpPr/>
              <p:nvPr/>
            </p:nvSpPr>
            <p:spPr>
              <a:xfrm flipH="1">
                <a:off x="7293026" y="3849696"/>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xmlns="" id="{6AD0BF0A-16AB-484F-AD99-790A9004BEC1}"/>
                  </a:ext>
                </a:extLst>
              </p:cNvPr>
              <p:cNvSpPr txBox="1"/>
              <p:nvPr/>
            </p:nvSpPr>
            <p:spPr>
              <a:xfrm>
                <a:off x="6909405" y="4057607"/>
                <a:ext cx="45852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39" name="TextBox 38">
                <a:extLst>
                  <a:ext uri="{FF2B5EF4-FFF2-40B4-BE49-F238E27FC236}">
                    <a16:creationId xmlns:a16="http://schemas.microsoft.com/office/drawing/2014/main" xmlns="" id="{3314052D-A997-F24F-BF1C-AE0FE3EFBBB6}"/>
                  </a:ext>
                </a:extLst>
              </p:cNvPr>
              <p:cNvSpPr txBox="1"/>
              <p:nvPr/>
            </p:nvSpPr>
            <p:spPr>
              <a:xfrm>
                <a:off x="6870296" y="5186806"/>
                <a:ext cx="554327"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grpSp>
      <p:sp>
        <p:nvSpPr>
          <p:cNvPr id="47" name="TextBox 46">
            <a:extLst>
              <a:ext uri="{FF2B5EF4-FFF2-40B4-BE49-F238E27FC236}">
                <a16:creationId xmlns:a16="http://schemas.microsoft.com/office/drawing/2014/main" xmlns="" id="{7A1C6EAD-06FC-0545-945D-58A34A9350FA}"/>
              </a:ext>
            </a:extLst>
          </p:cNvPr>
          <p:cNvSpPr txBox="1"/>
          <p:nvPr/>
        </p:nvSpPr>
        <p:spPr>
          <a:xfrm>
            <a:off x="508497" y="4756068"/>
            <a:ext cx="112077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word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embeddings</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48" name="TextBox 47">
            <a:extLst>
              <a:ext uri="{FF2B5EF4-FFF2-40B4-BE49-F238E27FC236}">
                <a16:creationId xmlns:a16="http://schemas.microsoft.com/office/drawing/2014/main" xmlns="" id="{CE463C90-B1AD-F947-BCC3-5458BEC992EF}"/>
              </a:ext>
            </a:extLst>
          </p:cNvPr>
          <p:cNvSpPr txBox="1"/>
          <p:nvPr/>
        </p:nvSpPr>
        <p:spPr>
          <a:xfrm>
            <a:off x="266700" y="1338702"/>
            <a:ext cx="5412377" cy="1938992"/>
          </a:xfrm>
          <a:prstGeom prst="rect">
            <a:avLst/>
          </a:prstGeom>
          <a:noFill/>
        </p:spPr>
        <p:txBody>
          <a:bodyPr wrap="square" rtlCol="0">
            <a:spAutoFit/>
          </a:bodyPr>
          <a:lstStyle/>
          <a:p>
            <a:pPr marL="342900" indent="-342900">
              <a:buSzPct val="65000"/>
              <a:buFont typeface="Wingdings" pitchFamily="2" charset="2"/>
              <a:buChar char="q"/>
            </a:pPr>
            <a:r>
              <a:rPr lang="en-US" sz="2000" dirty="0">
                <a:solidFill>
                  <a:schemeClr val="bg2"/>
                </a:solidFill>
                <a:latin typeface="Century Gothic" panose="020B0502020202020204" pitchFamily="34" charset="0"/>
              </a:rPr>
              <a:t>LSTM takes word embeddings as input</a:t>
            </a:r>
          </a:p>
          <a:p>
            <a:pPr marL="342900" indent="-342900">
              <a:buSzPct val="65000"/>
              <a:buFont typeface="Wingdings" pitchFamily="2" charset="2"/>
              <a:buChar char="q"/>
            </a:pPr>
            <a:r>
              <a:rPr lang="en-US" sz="2000" b="1" dirty="0">
                <a:solidFill>
                  <a:schemeClr val="bg2"/>
                </a:solidFill>
                <a:latin typeface="Century Gothic" panose="020B0502020202020204" pitchFamily="34" charset="0"/>
              </a:rPr>
              <a:t>Hidden vectors represent events</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FFNN predicts the labels of temporal relations (followed by ILP inference)</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Siamese network is a generalized </a:t>
            </a:r>
            <a:r>
              <a:rPr lang="en-US" sz="2000" dirty="0" err="1">
                <a:solidFill>
                  <a:schemeClr val="bg2"/>
                </a:solidFill>
                <a:latin typeface="Century Gothic" panose="020B0502020202020204" pitchFamily="34" charset="0"/>
              </a:rPr>
              <a:t>TemProb</a:t>
            </a:r>
            <a:endParaRPr lang="en-US" sz="2000" dirty="0">
              <a:solidFill>
                <a:schemeClr val="bg2"/>
              </a:solidFill>
              <a:latin typeface="Century Gothic" panose="020B0502020202020204" pitchFamily="34" charset="0"/>
            </a:endParaRPr>
          </a:p>
        </p:txBody>
      </p:sp>
      <p:sp>
        <p:nvSpPr>
          <p:cNvPr id="44" name="TextBox 43">
            <a:extLst>
              <a:ext uri="{FF2B5EF4-FFF2-40B4-BE49-F238E27FC236}">
                <a16:creationId xmlns:a16="http://schemas.microsoft.com/office/drawing/2014/main" xmlns="" id="{730B30E4-44CD-8D47-8709-82784D0E73E4}"/>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Tree>
    <p:extLst>
      <p:ext uri="{BB962C8B-B14F-4D97-AF65-F5344CB8AC3E}">
        <p14:creationId xmlns:p14="http://schemas.microsoft.com/office/powerpoint/2010/main" val="294289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angle 146">
            <a:extLst>
              <a:ext uri="{FF2B5EF4-FFF2-40B4-BE49-F238E27FC236}">
                <a16:creationId xmlns:a16="http://schemas.microsoft.com/office/drawing/2014/main" xmlns="" id="{7DC20B6A-F75D-1148-8BC0-C100E4FA2229}"/>
              </a:ext>
            </a:extLst>
          </p:cNvPr>
          <p:cNvSpPr/>
          <p:nvPr/>
        </p:nvSpPr>
        <p:spPr>
          <a:xfrm>
            <a:off x="266700" y="3750327"/>
            <a:ext cx="4722256" cy="2087398"/>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9" name="Rectangle 148">
            <a:extLst>
              <a:ext uri="{FF2B5EF4-FFF2-40B4-BE49-F238E27FC236}">
                <a16:creationId xmlns:a16="http://schemas.microsoft.com/office/drawing/2014/main" xmlns="" id="{8B1E2EAE-5545-5640-8516-928AFDAE73FD}"/>
              </a:ext>
            </a:extLst>
          </p:cNvPr>
          <p:cNvSpPr/>
          <p:nvPr/>
        </p:nvSpPr>
        <p:spPr>
          <a:xfrm>
            <a:off x="6085302" y="3594646"/>
            <a:ext cx="2597303" cy="2243079"/>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8" name="Rectangle 147">
            <a:extLst>
              <a:ext uri="{FF2B5EF4-FFF2-40B4-BE49-F238E27FC236}">
                <a16:creationId xmlns:a16="http://schemas.microsoft.com/office/drawing/2014/main" xmlns="" id="{D92D59EF-973B-804F-962F-B078BE109ADE}"/>
              </a:ext>
            </a:extLst>
          </p:cNvPr>
          <p:cNvSpPr/>
          <p:nvPr/>
        </p:nvSpPr>
        <p:spPr>
          <a:xfrm>
            <a:off x="6085302" y="1473960"/>
            <a:ext cx="2597303" cy="1486783"/>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96" name="Straight Arrow Connector 95">
            <a:extLst>
              <a:ext uri="{FF2B5EF4-FFF2-40B4-BE49-F238E27FC236}">
                <a16:creationId xmlns:a16="http://schemas.microsoft.com/office/drawing/2014/main" xmlns="" id="{66C9234D-0753-EC42-BBBB-0A689AB90467}"/>
              </a:ext>
            </a:extLst>
          </p:cNvPr>
          <p:cNvCxnSpPr>
            <a:cxnSpLocks/>
            <a:stCxn id="148" idx="2"/>
            <a:endCxn id="149" idx="0"/>
          </p:cNvCxnSpPr>
          <p:nvPr/>
        </p:nvCxnSpPr>
        <p:spPr>
          <a:xfrm>
            <a:off x="7383954" y="2960743"/>
            <a:ext cx="0" cy="633903"/>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364410" y="4133475"/>
            <a:ext cx="4626667" cy="1678639"/>
            <a:chOff x="364410" y="4133475"/>
            <a:chExt cx="4626667" cy="1678639"/>
          </a:xfrm>
        </p:grpSpPr>
        <p:sp>
          <p:nvSpPr>
            <p:cNvPr id="13" name="TextBox 12">
              <a:extLst>
                <a:ext uri="{FF2B5EF4-FFF2-40B4-BE49-F238E27FC236}">
                  <a16:creationId xmlns:a16="http://schemas.microsoft.com/office/drawing/2014/main" xmlns="" id="{57FAABF5-FCFF-FD47-889B-36412271B4D9}"/>
                </a:ext>
              </a:extLst>
            </p:cNvPr>
            <p:cNvSpPr txBox="1"/>
            <p:nvPr/>
          </p:nvSpPr>
          <p:spPr>
            <a:xfrm>
              <a:off x="364410" y="5550504"/>
              <a:ext cx="462666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LSTM w/ concatenations of two hidden states</a:t>
              </a:r>
            </a:p>
          </p:txBody>
        </p:sp>
        <p:sp>
          <p:nvSpPr>
            <p:cNvPr id="14" name="Rectangle 13">
              <a:extLst>
                <a:ext uri="{FF2B5EF4-FFF2-40B4-BE49-F238E27FC236}">
                  <a16:creationId xmlns:a16="http://schemas.microsoft.com/office/drawing/2014/main" xmlns="" id="{71505336-B73F-ED4D-9DB9-3F6F4E958A0E}"/>
                </a:ext>
              </a:extLst>
            </p:cNvPr>
            <p:cNvSpPr/>
            <p:nvPr/>
          </p:nvSpPr>
          <p:spPr>
            <a:xfrm>
              <a:off x="1644998" y="4133475"/>
              <a:ext cx="2150931" cy="551983"/>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ourier" charset="0"/>
                  <a:ea typeface="Courier" charset="0"/>
                  <a:cs typeface="Courier" charset="0"/>
                </a:rPr>
                <a:t>LSTM</a:t>
              </a:r>
            </a:p>
          </p:txBody>
        </p:sp>
        <p:sp>
          <p:nvSpPr>
            <p:cNvPr id="15" name="Rectangle 14">
              <a:extLst>
                <a:ext uri="{FF2B5EF4-FFF2-40B4-BE49-F238E27FC236}">
                  <a16:creationId xmlns:a16="http://schemas.microsoft.com/office/drawing/2014/main" xmlns="" id="{37EE7DC9-402A-E649-8450-ADB67AE946ED}"/>
                </a:ext>
              </a:extLst>
            </p:cNvPr>
            <p:cNvSpPr/>
            <p:nvPr/>
          </p:nvSpPr>
          <p:spPr>
            <a:xfrm flipH="1">
              <a:off x="179510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xmlns="" id="{A5BE672E-97BB-DB4A-B9AA-A00EC9D2D12A}"/>
                </a:ext>
              </a:extLst>
            </p:cNvPr>
            <p:cNvCxnSpPr>
              <a:stCxn id="15" idx="0"/>
            </p:cNvCxnSpPr>
            <p:nvPr/>
          </p:nvCxnSpPr>
          <p:spPr>
            <a:xfrm flipV="1">
              <a:off x="1832316"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7" name="Rectangle 16">
              <a:extLst>
                <a:ext uri="{FF2B5EF4-FFF2-40B4-BE49-F238E27FC236}">
                  <a16:creationId xmlns:a16="http://schemas.microsoft.com/office/drawing/2014/main" xmlns="" id="{A638AB4B-8D15-6E49-AC1F-8094368CC28C}"/>
                </a:ext>
              </a:extLst>
            </p:cNvPr>
            <p:cNvSpPr/>
            <p:nvPr/>
          </p:nvSpPr>
          <p:spPr>
            <a:xfrm flipH="1">
              <a:off x="2085824"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xmlns="" id="{AA8F34D5-FD04-AA46-84E4-F521D9AD2E58}"/>
                </a:ext>
              </a:extLst>
            </p:cNvPr>
            <p:cNvCxnSpPr>
              <a:stCxn id="17" idx="0"/>
            </p:cNvCxnSpPr>
            <p:nvPr/>
          </p:nvCxnSpPr>
          <p:spPr>
            <a:xfrm flipV="1">
              <a:off x="2123034"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9" name="Rectangle 18">
              <a:extLst>
                <a:ext uri="{FF2B5EF4-FFF2-40B4-BE49-F238E27FC236}">
                  <a16:creationId xmlns:a16="http://schemas.microsoft.com/office/drawing/2014/main" xmlns="" id="{0CBCAED4-EC87-334B-8A0F-372205831836}"/>
                </a:ext>
              </a:extLst>
            </p:cNvPr>
            <p:cNvSpPr/>
            <p:nvPr/>
          </p:nvSpPr>
          <p:spPr>
            <a:xfrm flipH="1">
              <a:off x="2367991"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xmlns="" id="{433F8AF9-C877-D14C-9693-2041753C6D14}"/>
                </a:ext>
              </a:extLst>
            </p:cNvPr>
            <p:cNvCxnSpPr>
              <a:stCxn id="19" idx="0"/>
            </p:cNvCxnSpPr>
            <p:nvPr/>
          </p:nvCxnSpPr>
          <p:spPr>
            <a:xfrm flipV="1">
              <a:off x="2405202"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1" name="Rectangle 20">
              <a:extLst>
                <a:ext uri="{FF2B5EF4-FFF2-40B4-BE49-F238E27FC236}">
                  <a16:creationId xmlns:a16="http://schemas.microsoft.com/office/drawing/2014/main" xmlns="" id="{2FCB6297-337C-CE4E-AD03-C52E209019D6}"/>
                </a:ext>
              </a:extLst>
            </p:cNvPr>
            <p:cNvSpPr/>
            <p:nvPr/>
          </p:nvSpPr>
          <p:spPr>
            <a:xfrm flipH="1">
              <a:off x="359071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xmlns="" id="{830D6567-A8F6-6248-97CF-49F1B93FE54F}"/>
                </a:ext>
              </a:extLst>
            </p:cNvPr>
            <p:cNvCxnSpPr>
              <a:stCxn id="21" idx="0"/>
            </p:cNvCxnSpPr>
            <p:nvPr/>
          </p:nvCxnSpPr>
          <p:spPr>
            <a:xfrm flipV="1">
              <a:off x="3627927"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3" name="TextBox 22">
              <a:extLst>
                <a:ext uri="{FF2B5EF4-FFF2-40B4-BE49-F238E27FC236}">
                  <a16:creationId xmlns:a16="http://schemas.microsoft.com/office/drawing/2014/main" xmlns="" id="{E4E50330-C745-154D-B316-011EFB5E0319}"/>
                </a:ext>
              </a:extLst>
            </p:cNvPr>
            <p:cNvSpPr txBox="1"/>
            <p:nvPr/>
          </p:nvSpPr>
          <p:spPr>
            <a:xfrm>
              <a:off x="1728588" y="5358199"/>
              <a:ext cx="2117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0  </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err="1">
                  <a:ln>
                    <a:noFill/>
                  </a:ln>
                  <a:solidFill>
                    <a:prstClr val="black"/>
                  </a:solidFill>
                  <a:effectLst/>
                  <a:uLnTx/>
                  <a:uFillTx/>
                  <a:latin typeface="Courier" charset="0"/>
                  <a:ea typeface="Courier" charset="0"/>
                  <a:cs typeface="Courier" charset="0"/>
                </a:rPr>
                <a:t>n</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sp>
        <p:nvSpPr>
          <p:cNvPr id="27" name="TextBox 26">
            <a:extLst>
              <a:ext uri="{FF2B5EF4-FFF2-40B4-BE49-F238E27FC236}">
                <a16:creationId xmlns:a16="http://schemas.microsoft.com/office/drawing/2014/main" xmlns="" id="{80B1D00D-1AA4-6840-8931-CC4B40767130}"/>
              </a:ext>
            </a:extLst>
          </p:cNvPr>
          <p:cNvSpPr txBox="1"/>
          <p:nvPr/>
        </p:nvSpPr>
        <p:spPr>
          <a:xfrm>
            <a:off x="6364612" y="1839762"/>
            <a:ext cx="2103461"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Siamese network</a:t>
            </a:r>
          </a:p>
          <a:p>
            <a:pPr algn="ctr"/>
            <a:r>
              <a:rPr lang="en-US" b="1" dirty="0">
                <a:solidFill>
                  <a:schemeClr val="bg2"/>
                </a:solidFill>
                <a:latin typeface="Century Gothic" panose="020B0502020202020204" pitchFamily="34" charset="0"/>
              </a:rPr>
              <a:t>(Common sense)</a:t>
            </a:r>
          </a:p>
        </p:txBody>
      </p:sp>
      <p:grpSp>
        <p:nvGrpSpPr>
          <p:cNvPr id="6" name="Group 5">
            <a:extLst>
              <a:ext uri="{FF2B5EF4-FFF2-40B4-BE49-F238E27FC236}">
                <a16:creationId xmlns:a16="http://schemas.microsoft.com/office/drawing/2014/main" xmlns="" id="{26D87E97-3BAE-7B41-B4F9-069C739F3649}"/>
              </a:ext>
            </a:extLst>
          </p:cNvPr>
          <p:cNvGrpSpPr/>
          <p:nvPr/>
        </p:nvGrpSpPr>
        <p:grpSpPr>
          <a:xfrm>
            <a:off x="25167" y="228600"/>
            <a:ext cx="8268132" cy="533400"/>
            <a:chOff x="25167" y="228600"/>
            <a:chExt cx="8268132" cy="533400"/>
          </a:xfrm>
        </p:grpSpPr>
        <p:sp>
          <p:nvSpPr>
            <p:cNvPr id="31" name="Title 240">
              <a:extLst>
                <a:ext uri="{FF2B5EF4-FFF2-40B4-BE49-F238E27FC236}">
                  <a16:creationId xmlns:a16="http://schemas.microsoft.com/office/drawing/2014/main" xmlns="" id="{AA93E823-DA84-874F-B363-44CB4E9BEBEB}"/>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a:t>: a neural approach</a:t>
              </a:r>
              <a:endParaRPr lang="en-US" sz="2800" dirty="0"/>
            </a:p>
          </p:txBody>
        </p:sp>
        <p:sp>
          <p:nvSpPr>
            <p:cNvPr id="32" name="TextBox 31">
              <a:extLst>
                <a:ext uri="{FF2B5EF4-FFF2-40B4-BE49-F238E27FC236}">
                  <a16:creationId xmlns:a16="http://schemas.microsoft.com/office/drawing/2014/main" xmlns="" id="{5B99ECFE-A883-EB43-A634-E217003C5621}"/>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grpSp>
        <p:nvGrpSpPr>
          <p:cNvPr id="26" name="Group 25">
            <a:extLst>
              <a:ext uri="{FF2B5EF4-FFF2-40B4-BE49-F238E27FC236}">
                <a16:creationId xmlns:a16="http://schemas.microsoft.com/office/drawing/2014/main" xmlns="" id="{B2EA2C41-6AF5-3C48-9C9E-8CA8347D0572}"/>
              </a:ext>
            </a:extLst>
          </p:cNvPr>
          <p:cNvGrpSpPr/>
          <p:nvPr/>
        </p:nvGrpSpPr>
        <p:grpSpPr>
          <a:xfrm>
            <a:off x="2057545" y="3610478"/>
            <a:ext cx="5367078" cy="1941686"/>
            <a:chOff x="2057545" y="3610478"/>
            <a:chExt cx="5367078" cy="1941686"/>
          </a:xfrm>
        </p:grpSpPr>
        <p:sp>
          <p:nvSpPr>
            <p:cNvPr id="29" name="TextBox 28">
              <a:extLst>
                <a:ext uri="{FF2B5EF4-FFF2-40B4-BE49-F238E27FC236}">
                  <a16:creationId xmlns:a16="http://schemas.microsoft.com/office/drawing/2014/main" xmlns="" id="{1BEC9E07-A852-BA4B-8E8B-338457D1F3D8}"/>
                </a:ext>
              </a:extLst>
            </p:cNvPr>
            <p:cNvSpPr txBox="1"/>
            <p:nvPr/>
          </p:nvSpPr>
          <p:spPr>
            <a:xfrm>
              <a:off x="6760755" y="4836033"/>
              <a:ext cx="419602"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e2</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33" name="TextBox 32">
              <a:extLst>
                <a:ext uri="{FF2B5EF4-FFF2-40B4-BE49-F238E27FC236}">
                  <a16:creationId xmlns:a16="http://schemas.microsoft.com/office/drawing/2014/main" xmlns="" id="{DE29157F-628A-FF42-9411-894779B8745A}"/>
                </a:ext>
              </a:extLst>
            </p:cNvPr>
            <p:cNvSpPr txBox="1"/>
            <p:nvPr/>
          </p:nvSpPr>
          <p:spPr>
            <a:xfrm>
              <a:off x="6694541" y="3610478"/>
              <a:ext cx="504663"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e1</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nvGrpSpPr>
            <p:cNvPr id="34" name="Group 33">
              <a:extLst>
                <a:ext uri="{FF2B5EF4-FFF2-40B4-BE49-F238E27FC236}">
                  <a16:creationId xmlns:a16="http://schemas.microsoft.com/office/drawing/2014/main" xmlns="" id="{A0302575-CEDA-9349-A079-636F7474C069}"/>
                </a:ext>
              </a:extLst>
            </p:cNvPr>
            <p:cNvGrpSpPr/>
            <p:nvPr/>
          </p:nvGrpSpPr>
          <p:grpSpPr>
            <a:xfrm>
              <a:off x="2057545" y="3849696"/>
              <a:ext cx="5367078" cy="1702468"/>
              <a:chOff x="2057545" y="3849696"/>
              <a:chExt cx="5367078" cy="1702468"/>
            </a:xfrm>
          </p:grpSpPr>
          <p:grpSp>
            <p:nvGrpSpPr>
              <p:cNvPr id="35" name="Group 34">
                <a:extLst>
                  <a:ext uri="{FF2B5EF4-FFF2-40B4-BE49-F238E27FC236}">
                    <a16:creationId xmlns:a16="http://schemas.microsoft.com/office/drawing/2014/main" xmlns="" id="{AB9776E4-A930-2446-A717-466A63D170EF}"/>
                  </a:ext>
                </a:extLst>
              </p:cNvPr>
              <p:cNvGrpSpPr/>
              <p:nvPr/>
            </p:nvGrpSpPr>
            <p:grpSpPr>
              <a:xfrm>
                <a:off x="2057545" y="3898229"/>
                <a:ext cx="5235488" cy="1230841"/>
                <a:chOff x="2057545" y="3898229"/>
                <a:chExt cx="5235488" cy="1230841"/>
              </a:xfrm>
            </p:grpSpPr>
            <p:sp>
              <p:nvSpPr>
                <p:cNvPr id="40" name="Bent-Up Arrow 39">
                  <a:extLst>
                    <a:ext uri="{FF2B5EF4-FFF2-40B4-BE49-F238E27FC236}">
                      <a16:creationId xmlns:a16="http://schemas.microsoft.com/office/drawing/2014/main" xmlns="" id="{749B142F-A334-F24A-BD28-5CDEB0D3E081}"/>
                    </a:ext>
                  </a:extLst>
                </p:cNvPr>
                <p:cNvSpPr/>
                <p:nvPr/>
              </p:nvSpPr>
              <p:spPr>
                <a:xfrm rot="5400000" flipH="1">
                  <a:off x="4552793" y="1402981"/>
                  <a:ext cx="233389" cy="5223885"/>
                </a:xfrm>
                <a:prstGeom prst="bentUpArrow">
                  <a:avLst>
                    <a:gd name="adj1" fmla="val 0"/>
                    <a:gd name="adj2" fmla="val 6756"/>
                    <a:gd name="adj3" fmla="val 20135"/>
                  </a:avLst>
                </a:prstGeom>
                <a:solidFill>
                  <a:sysClr val="windowText" lastClr="000000"/>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1" name="Group 40">
                  <a:extLst>
                    <a:ext uri="{FF2B5EF4-FFF2-40B4-BE49-F238E27FC236}">
                      <a16:creationId xmlns:a16="http://schemas.microsoft.com/office/drawing/2014/main" xmlns="" id="{7B085608-A053-AB45-8FF0-99A30FAA0AAC}"/>
                    </a:ext>
                  </a:extLst>
                </p:cNvPr>
                <p:cNvGrpSpPr/>
                <p:nvPr/>
              </p:nvGrpSpPr>
              <p:grpSpPr>
                <a:xfrm>
                  <a:off x="3132702" y="4071242"/>
                  <a:ext cx="4160331" cy="1057828"/>
                  <a:chOff x="4427129" y="4129048"/>
                  <a:chExt cx="2314332" cy="1597344"/>
                </a:xfrm>
              </p:grpSpPr>
              <p:cxnSp>
                <p:nvCxnSpPr>
                  <p:cNvPr id="42" name="Elbow Connector 41">
                    <a:extLst>
                      <a:ext uri="{FF2B5EF4-FFF2-40B4-BE49-F238E27FC236}">
                        <a16:creationId xmlns:a16="http://schemas.microsoft.com/office/drawing/2014/main" xmlns="" id="{C01802C8-6206-BC4C-A5A9-203286F39FE6}"/>
                      </a:ext>
                    </a:extLst>
                  </p:cNvPr>
                  <p:cNvCxnSpPr>
                    <a:endCxn id="36" idx="3"/>
                  </p:cNvCxnSpPr>
                  <p:nvPr/>
                </p:nvCxnSpPr>
                <p:spPr>
                  <a:xfrm>
                    <a:off x="4427134" y="4129048"/>
                    <a:ext cx="2314327" cy="1597344"/>
                  </a:xfrm>
                  <a:prstGeom prst="bentConnector3">
                    <a:avLst>
                      <a:gd name="adj1" fmla="val 50000"/>
                    </a:avLst>
                  </a:prstGeom>
                  <a:noFill/>
                  <a:ln w="6350" cap="flat" cmpd="sng" algn="ctr">
                    <a:solidFill>
                      <a:sysClr val="windowText" lastClr="000000"/>
                    </a:solidFill>
                    <a:prstDash val="solid"/>
                    <a:miter lim="800000"/>
                    <a:tailEnd type="triangle"/>
                  </a:ln>
                  <a:effectLst/>
                </p:spPr>
              </p:cxnSp>
              <p:cxnSp>
                <p:nvCxnSpPr>
                  <p:cNvPr id="43" name="Straight Arrow Connector 42">
                    <a:extLst>
                      <a:ext uri="{FF2B5EF4-FFF2-40B4-BE49-F238E27FC236}">
                        <a16:creationId xmlns:a16="http://schemas.microsoft.com/office/drawing/2014/main" xmlns="" id="{B92FE208-41D5-5D4A-BAB8-40C2E2771D8B}"/>
                      </a:ext>
                    </a:extLst>
                  </p:cNvPr>
                  <p:cNvCxnSpPr/>
                  <p:nvPr/>
                </p:nvCxnSpPr>
                <p:spPr>
                  <a:xfrm flipH="1">
                    <a:off x="4427129" y="4129049"/>
                    <a:ext cx="1" cy="91140"/>
                  </a:xfrm>
                  <a:prstGeom prst="straightConnector1">
                    <a:avLst/>
                  </a:prstGeom>
                  <a:noFill/>
                  <a:ln w="6350" cap="flat" cmpd="sng" algn="ctr">
                    <a:solidFill>
                      <a:sysClr val="windowText" lastClr="000000"/>
                    </a:solidFill>
                    <a:prstDash val="solid"/>
                    <a:miter lim="800000"/>
                    <a:headEnd type="none" w="med" len="med"/>
                    <a:tailEnd type="none" w="med" len="med"/>
                  </a:ln>
                  <a:effectLst/>
                </p:spPr>
              </p:cxnSp>
            </p:grpSp>
          </p:grpSp>
          <p:sp>
            <p:nvSpPr>
              <p:cNvPr id="36" name="Rectangle 35">
                <a:extLst>
                  <a:ext uri="{FF2B5EF4-FFF2-40B4-BE49-F238E27FC236}">
                    <a16:creationId xmlns:a16="http://schemas.microsoft.com/office/drawing/2014/main" xmlns="" id="{0B3BECAF-7BD3-5D4B-9177-97F9B0A52872}"/>
                  </a:ext>
                </a:extLst>
              </p:cNvPr>
              <p:cNvSpPr/>
              <p:nvPr/>
            </p:nvSpPr>
            <p:spPr>
              <a:xfrm flipH="1">
                <a:off x="7293026" y="4705974"/>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xmlns="" id="{47010FEE-D80A-FA4A-B4BE-9CD20B7A1982}"/>
                  </a:ext>
                </a:extLst>
              </p:cNvPr>
              <p:cNvSpPr/>
              <p:nvPr/>
            </p:nvSpPr>
            <p:spPr>
              <a:xfrm flipH="1">
                <a:off x="7293026" y="3849696"/>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xmlns="" id="{6AD0BF0A-16AB-484F-AD99-790A9004BEC1}"/>
                  </a:ext>
                </a:extLst>
              </p:cNvPr>
              <p:cNvSpPr txBox="1"/>
              <p:nvPr/>
            </p:nvSpPr>
            <p:spPr>
              <a:xfrm>
                <a:off x="6909405" y="4057607"/>
                <a:ext cx="45852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39" name="TextBox 38">
                <a:extLst>
                  <a:ext uri="{FF2B5EF4-FFF2-40B4-BE49-F238E27FC236}">
                    <a16:creationId xmlns:a16="http://schemas.microsoft.com/office/drawing/2014/main" xmlns="" id="{3314052D-A997-F24F-BF1C-AE0FE3EFBBB6}"/>
                  </a:ext>
                </a:extLst>
              </p:cNvPr>
              <p:cNvSpPr txBox="1"/>
              <p:nvPr/>
            </p:nvSpPr>
            <p:spPr>
              <a:xfrm>
                <a:off x="6870296" y="5186806"/>
                <a:ext cx="554327"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grpSp>
      <p:grpSp>
        <p:nvGrpSpPr>
          <p:cNvPr id="3" name="Group 2">
            <a:extLst>
              <a:ext uri="{FF2B5EF4-FFF2-40B4-BE49-F238E27FC236}">
                <a16:creationId xmlns:a16="http://schemas.microsoft.com/office/drawing/2014/main" xmlns="" id="{DEC33DAE-30F8-A04B-8EF4-B1D608A85D13}"/>
              </a:ext>
            </a:extLst>
          </p:cNvPr>
          <p:cNvGrpSpPr/>
          <p:nvPr/>
        </p:nvGrpSpPr>
        <p:grpSpPr>
          <a:xfrm>
            <a:off x="7371689" y="4132189"/>
            <a:ext cx="1374279" cy="1321620"/>
            <a:chOff x="7371689" y="4132189"/>
            <a:chExt cx="1374279" cy="1321620"/>
          </a:xfrm>
        </p:grpSpPr>
        <p:sp>
          <p:nvSpPr>
            <p:cNvPr id="44" name="Rectangle 43">
              <a:extLst>
                <a:ext uri="{FF2B5EF4-FFF2-40B4-BE49-F238E27FC236}">
                  <a16:creationId xmlns:a16="http://schemas.microsoft.com/office/drawing/2014/main" xmlns="" id="{4912E571-EF04-BA48-AC5B-4190A38E37DF}"/>
                </a:ext>
              </a:extLst>
            </p:cNvPr>
            <p:cNvSpPr/>
            <p:nvPr/>
          </p:nvSpPr>
          <p:spPr>
            <a:xfrm flipH="1">
              <a:off x="7769699" y="4535844"/>
              <a:ext cx="81145" cy="436932"/>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xmlns="" id="{E711711B-62C7-0542-9FBC-FB81C8C9D01D}"/>
                </a:ext>
              </a:extLst>
            </p:cNvPr>
            <p:cNvSpPr>
              <a:spLocks/>
            </p:cNvSpPr>
            <p:nvPr/>
          </p:nvSpPr>
          <p:spPr>
            <a:xfrm flipH="1">
              <a:off x="8247848" y="4607761"/>
              <a:ext cx="69066" cy="317429"/>
            </a:xfrm>
            <a:prstGeom prst="rect">
              <a:avLst/>
            </a:prstGeom>
            <a:solidFill>
              <a:srgbClr val="00B05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46" name="Straight Arrow Connector 45">
              <a:extLst>
                <a:ext uri="{FF2B5EF4-FFF2-40B4-BE49-F238E27FC236}">
                  <a16:creationId xmlns:a16="http://schemas.microsoft.com/office/drawing/2014/main" xmlns="" id="{AF419D41-88D0-EE4A-AFCB-1027DD05071D}"/>
                </a:ext>
              </a:extLst>
            </p:cNvPr>
            <p:cNvCxnSpPr/>
            <p:nvPr/>
          </p:nvCxnSpPr>
          <p:spPr>
            <a:xfrm>
              <a:off x="7849238" y="4764357"/>
              <a:ext cx="398613" cy="0"/>
            </a:xfrm>
            <a:prstGeom prst="straightConnector1">
              <a:avLst/>
            </a:prstGeom>
            <a:noFill/>
            <a:ln w="6350" cap="flat" cmpd="sng" algn="ctr">
              <a:solidFill>
                <a:sysClr val="windowText" lastClr="000000"/>
              </a:solidFill>
              <a:prstDash val="solid"/>
              <a:miter lim="800000"/>
              <a:tailEnd type="triangle"/>
            </a:ln>
            <a:effectLst/>
          </p:spPr>
        </p:cxnSp>
        <p:cxnSp>
          <p:nvCxnSpPr>
            <p:cNvPr id="47" name="Straight Arrow Connector 46">
              <a:extLst>
                <a:ext uri="{FF2B5EF4-FFF2-40B4-BE49-F238E27FC236}">
                  <a16:creationId xmlns:a16="http://schemas.microsoft.com/office/drawing/2014/main" xmlns="" id="{34504C94-7403-FB40-AD9B-B6EC34AA22FD}"/>
                </a:ext>
              </a:extLst>
            </p:cNvPr>
            <p:cNvCxnSpPr>
              <a:endCxn id="44" idx="3"/>
            </p:cNvCxnSpPr>
            <p:nvPr/>
          </p:nvCxnSpPr>
          <p:spPr>
            <a:xfrm>
              <a:off x="7371689" y="4535844"/>
              <a:ext cx="39801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48" name="Straight Arrow Connector 47">
              <a:extLst>
                <a:ext uri="{FF2B5EF4-FFF2-40B4-BE49-F238E27FC236}">
                  <a16:creationId xmlns:a16="http://schemas.microsoft.com/office/drawing/2014/main" xmlns="" id="{B689A6C0-9A68-B54B-9BB5-37FF5D0FB441}"/>
                </a:ext>
              </a:extLst>
            </p:cNvPr>
            <p:cNvCxnSpPr>
              <a:endCxn id="44" idx="3"/>
            </p:cNvCxnSpPr>
            <p:nvPr/>
          </p:nvCxnSpPr>
          <p:spPr>
            <a:xfrm>
              <a:off x="7371689" y="4369085"/>
              <a:ext cx="398010" cy="385225"/>
            </a:xfrm>
            <a:prstGeom prst="straightConnector1">
              <a:avLst/>
            </a:prstGeom>
            <a:noFill/>
            <a:ln w="6350" cap="flat" cmpd="sng" algn="ctr">
              <a:solidFill>
                <a:sysClr val="windowText" lastClr="000000"/>
              </a:solidFill>
              <a:prstDash val="solid"/>
              <a:miter lim="800000"/>
              <a:tailEnd type="triangle"/>
            </a:ln>
            <a:effectLst/>
          </p:spPr>
        </p:cxnSp>
        <p:cxnSp>
          <p:nvCxnSpPr>
            <p:cNvPr id="49" name="Straight Arrow Connector 48">
              <a:extLst>
                <a:ext uri="{FF2B5EF4-FFF2-40B4-BE49-F238E27FC236}">
                  <a16:creationId xmlns:a16="http://schemas.microsoft.com/office/drawing/2014/main" xmlns="" id="{7788E35A-8643-4C43-BEDD-ACDFDDD55BFF}"/>
                </a:ext>
              </a:extLst>
            </p:cNvPr>
            <p:cNvCxnSpPr/>
            <p:nvPr/>
          </p:nvCxnSpPr>
          <p:spPr>
            <a:xfrm flipV="1">
              <a:off x="7376805" y="4773072"/>
              <a:ext cx="398011" cy="218466"/>
            </a:xfrm>
            <a:prstGeom prst="straightConnector1">
              <a:avLst/>
            </a:prstGeom>
            <a:noFill/>
            <a:ln w="6350" cap="flat" cmpd="sng" algn="ctr">
              <a:solidFill>
                <a:sysClr val="windowText" lastClr="000000"/>
              </a:solidFill>
              <a:prstDash val="solid"/>
              <a:miter lim="800000"/>
              <a:tailEnd type="triangle"/>
            </a:ln>
            <a:effectLst/>
          </p:spPr>
        </p:cxnSp>
        <p:cxnSp>
          <p:nvCxnSpPr>
            <p:cNvPr id="50" name="Straight Arrow Connector 49">
              <a:extLst>
                <a:ext uri="{FF2B5EF4-FFF2-40B4-BE49-F238E27FC236}">
                  <a16:creationId xmlns:a16="http://schemas.microsoft.com/office/drawing/2014/main" xmlns="" id="{524B3F39-9250-FB4C-9EB5-6EB5DDD296AF}"/>
                </a:ext>
              </a:extLst>
            </p:cNvPr>
            <p:cNvCxnSpPr/>
            <p:nvPr/>
          </p:nvCxnSpPr>
          <p:spPr>
            <a:xfrm flipV="1">
              <a:off x="7376805" y="4773072"/>
              <a:ext cx="398011" cy="385225"/>
            </a:xfrm>
            <a:prstGeom prst="straightConnector1">
              <a:avLst/>
            </a:prstGeom>
            <a:noFill/>
            <a:ln w="6350" cap="flat" cmpd="sng" algn="ctr">
              <a:solidFill>
                <a:sysClr val="windowText" lastClr="000000"/>
              </a:solidFill>
              <a:prstDash val="solid"/>
              <a:miter lim="800000"/>
              <a:tailEnd type="triangle"/>
            </a:ln>
            <a:effectLst/>
          </p:spPr>
        </p:cxnSp>
        <p:cxnSp>
          <p:nvCxnSpPr>
            <p:cNvPr id="51" name="Straight Arrow Connector 50">
              <a:extLst>
                <a:ext uri="{FF2B5EF4-FFF2-40B4-BE49-F238E27FC236}">
                  <a16:creationId xmlns:a16="http://schemas.microsoft.com/office/drawing/2014/main" xmlns="" id="{E774F0FD-827D-C64D-BC34-B67E322DD6F4}"/>
                </a:ext>
              </a:extLst>
            </p:cNvPr>
            <p:cNvCxnSpPr/>
            <p:nvPr/>
          </p:nvCxnSpPr>
          <p:spPr>
            <a:xfrm>
              <a:off x="7846861" y="4639383"/>
              <a:ext cx="398011" cy="118264"/>
            </a:xfrm>
            <a:prstGeom prst="straightConnector1">
              <a:avLst/>
            </a:prstGeom>
            <a:noFill/>
            <a:ln w="6350" cap="flat" cmpd="sng" algn="ctr">
              <a:solidFill>
                <a:sysClr val="windowText" lastClr="000000"/>
              </a:solidFill>
              <a:prstDash val="solid"/>
              <a:miter lim="800000"/>
              <a:tailEnd type="triangle"/>
            </a:ln>
            <a:effectLst/>
          </p:spPr>
        </p:cxnSp>
        <p:cxnSp>
          <p:nvCxnSpPr>
            <p:cNvPr id="52" name="Straight Arrow Connector 51">
              <a:extLst>
                <a:ext uri="{FF2B5EF4-FFF2-40B4-BE49-F238E27FC236}">
                  <a16:creationId xmlns:a16="http://schemas.microsoft.com/office/drawing/2014/main" xmlns="" id="{4C4E45AB-3A8E-3D42-8594-FF4F1633F4F5}"/>
                </a:ext>
              </a:extLst>
            </p:cNvPr>
            <p:cNvCxnSpPr/>
            <p:nvPr/>
          </p:nvCxnSpPr>
          <p:spPr>
            <a:xfrm>
              <a:off x="7846861" y="4549111"/>
              <a:ext cx="398011" cy="208537"/>
            </a:xfrm>
            <a:prstGeom prst="straightConnector1">
              <a:avLst/>
            </a:prstGeom>
            <a:noFill/>
            <a:ln w="6350" cap="flat" cmpd="sng" algn="ctr">
              <a:solidFill>
                <a:sysClr val="windowText" lastClr="000000"/>
              </a:solidFill>
              <a:prstDash val="solid"/>
              <a:miter lim="800000"/>
              <a:tailEnd type="triangle"/>
            </a:ln>
            <a:effectLst/>
          </p:spPr>
        </p:cxnSp>
        <p:cxnSp>
          <p:nvCxnSpPr>
            <p:cNvPr id="53" name="Straight Arrow Connector 52">
              <a:extLst>
                <a:ext uri="{FF2B5EF4-FFF2-40B4-BE49-F238E27FC236}">
                  <a16:creationId xmlns:a16="http://schemas.microsoft.com/office/drawing/2014/main" xmlns="" id="{42BD8F8E-EB0D-5746-83E4-D3AFCB948505}"/>
                </a:ext>
              </a:extLst>
            </p:cNvPr>
            <p:cNvCxnSpPr/>
            <p:nvPr/>
          </p:nvCxnSpPr>
          <p:spPr>
            <a:xfrm flipV="1">
              <a:off x="7846861" y="4757647"/>
              <a:ext cx="398011" cy="118264"/>
            </a:xfrm>
            <a:prstGeom prst="straightConnector1">
              <a:avLst/>
            </a:prstGeom>
            <a:noFill/>
            <a:ln w="6350" cap="flat" cmpd="sng" algn="ctr">
              <a:solidFill>
                <a:sysClr val="windowText" lastClr="000000"/>
              </a:solidFill>
              <a:prstDash val="solid"/>
              <a:miter lim="800000"/>
              <a:tailEnd type="triangle"/>
            </a:ln>
            <a:effectLst/>
          </p:spPr>
        </p:cxnSp>
        <p:cxnSp>
          <p:nvCxnSpPr>
            <p:cNvPr id="54" name="Straight Arrow Connector 53">
              <a:extLst>
                <a:ext uri="{FF2B5EF4-FFF2-40B4-BE49-F238E27FC236}">
                  <a16:creationId xmlns:a16="http://schemas.microsoft.com/office/drawing/2014/main" xmlns="" id="{4E614E47-321F-4F4E-97FA-5D83D0C5C2C9}"/>
                </a:ext>
              </a:extLst>
            </p:cNvPr>
            <p:cNvCxnSpPr/>
            <p:nvPr/>
          </p:nvCxnSpPr>
          <p:spPr>
            <a:xfrm flipV="1">
              <a:off x="7846861" y="4757647"/>
              <a:ext cx="398011" cy="208537"/>
            </a:xfrm>
            <a:prstGeom prst="straightConnector1">
              <a:avLst/>
            </a:prstGeom>
            <a:noFill/>
            <a:ln w="6350" cap="flat" cmpd="sng" algn="ctr">
              <a:solidFill>
                <a:sysClr val="windowText" lastClr="000000"/>
              </a:solidFill>
              <a:prstDash val="solid"/>
              <a:miter lim="800000"/>
              <a:tailEnd type="triangle"/>
            </a:ln>
            <a:effectLst/>
          </p:spPr>
        </p:cxnSp>
        <p:sp>
          <p:nvSpPr>
            <p:cNvPr id="55" name="TextBox 54">
              <a:extLst>
                <a:ext uri="{FF2B5EF4-FFF2-40B4-BE49-F238E27FC236}">
                  <a16:creationId xmlns:a16="http://schemas.microsoft.com/office/drawing/2014/main" xmlns="" id="{8D6B5939-95A0-D64B-913C-80EFD529819C}"/>
                </a:ext>
              </a:extLst>
            </p:cNvPr>
            <p:cNvSpPr txBox="1"/>
            <p:nvPr/>
          </p:nvSpPr>
          <p:spPr>
            <a:xfrm>
              <a:off x="8282380" y="4579960"/>
              <a:ext cx="463588" cy="553998"/>
            </a:xfrm>
            <a:prstGeom prst="rect">
              <a:avLst/>
            </a:prstGeom>
            <a:noFill/>
          </p:spPr>
          <p:txBody>
            <a:bodyPr wrap="none" rtlCol="0">
              <a:spAutoFit/>
            </a:bodyPr>
            <a:lstStyle/>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before</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after</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equal</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vague</a:t>
              </a:r>
            </a:p>
          </p:txBody>
        </p:sp>
        <p:cxnSp>
          <p:nvCxnSpPr>
            <p:cNvPr id="56" name="Straight Arrow Connector 55">
              <a:extLst>
                <a:ext uri="{FF2B5EF4-FFF2-40B4-BE49-F238E27FC236}">
                  <a16:creationId xmlns:a16="http://schemas.microsoft.com/office/drawing/2014/main" xmlns="" id="{6A52DD67-121C-EE40-ADA3-E8A5B50BDF99}"/>
                </a:ext>
              </a:extLst>
            </p:cNvPr>
            <p:cNvCxnSpPr>
              <a:endCxn id="44" idx="3"/>
            </p:cNvCxnSpPr>
            <p:nvPr/>
          </p:nvCxnSpPr>
          <p:spPr>
            <a:xfrm>
              <a:off x="7374065" y="4132189"/>
              <a:ext cx="395635" cy="622121"/>
            </a:xfrm>
            <a:prstGeom prst="straightConnector1">
              <a:avLst/>
            </a:prstGeom>
            <a:noFill/>
            <a:ln w="6350" cap="flat" cmpd="sng" algn="ctr">
              <a:solidFill>
                <a:sysClr val="windowText" lastClr="000000"/>
              </a:solidFill>
              <a:prstDash val="solid"/>
              <a:miter lim="800000"/>
              <a:tailEnd type="triangle"/>
            </a:ln>
            <a:effectLst/>
          </p:spPr>
        </p:cxnSp>
        <p:cxnSp>
          <p:nvCxnSpPr>
            <p:cNvPr id="57" name="Straight Arrow Connector 56">
              <a:extLst>
                <a:ext uri="{FF2B5EF4-FFF2-40B4-BE49-F238E27FC236}">
                  <a16:creationId xmlns:a16="http://schemas.microsoft.com/office/drawing/2014/main" xmlns="" id="{DE8AD148-0BF7-B44B-852A-2D59D153519F}"/>
                </a:ext>
              </a:extLst>
            </p:cNvPr>
            <p:cNvCxnSpPr/>
            <p:nvPr/>
          </p:nvCxnSpPr>
          <p:spPr>
            <a:xfrm flipV="1">
              <a:off x="7372025" y="4831688"/>
              <a:ext cx="395635" cy="622121"/>
            </a:xfrm>
            <a:prstGeom prst="straightConnector1">
              <a:avLst/>
            </a:prstGeom>
            <a:noFill/>
            <a:ln w="6350" cap="flat" cmpd="sng" algn="ctr">
              <a:solidFill>
                <a:sysClr val="windowText" lastClr="000000"/>
              </a:solidFill>
              <a:prstDash val="solid"/>
              <a:miter lim="800000"/>
              <a:tailEnd type="triangle"/>
            </a:ln>
            <a:effectLst/>
          </p:spPr>
        </p:cxnSp>
        <p:sp>
          <p:nvSpPr>
            <p:cNvPr id="58" name="TextBox 57">
              <a:extLst>
                <a:ext uri="{FF2B5EF4-FFF2-40B4-BE49-F238E27FC236}">
                  <a16:creationId xmlns:a16="http://schemas.microsoft.com/office/drawing/2014/main" xmlns="" id="{33AD5490-6C98-0C42-9E21-D2A1C1BD134A}"/>
                </a:ext>
              </a:extLst>
            </p:cNvPr>
            <p:cNvSpPr txBox="1"/>
            <p:nvPr/>
          </p:nvSpPr>
          <p:spPr>
            <a:xfrm>
              <a:off x="7957296" y="4386573"/>
              <a:ext cx="639934"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output</a:t>
              </a:r>
            </a:p>
          </p:txBody>
        </p:sp>
        <p:sp>
          <p:nvSpPr>
            <p:cNvPr id="59" name="TextBox 58">
              <a:extLst>
                <a:ext uri="{FF2B5EF4-FFF2-40B4-BE49-F238E27FC236}">
                  <a16:creationId xmlns:a16="http://schemas.microsoft.com/office/drawing/2014/main" xmlns="" id="{AE8FF3FD-FF60-2F40-9709-0642924CEB23}"/>
                </a:ext>
              </a:extLst>
            </p:cNvPr>
            <p:cNvSpPr txBox="1"/>
            <p:nvPr/>
          </p:nvSpPr>
          <p:spPr>
            <a:xfrm>
              <a:off x="7607290" y="5024021"/>
              <a:ext cx="407098"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64</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sp>
        <p:nvSpPr>
          <p:cNvPr id="60" name="TextBox 59">
            <a:extLst>
              <a:ext uri="{FF2B5EF4-FFF2-40B4-BE49-F238E27FC236}">
                <a16:creationId xmlns:a16="http://schemas.microsoft.com/office/drawing/2014/main" xmlns="" id="{F740E140-21E5-C944-B719-A7A1EB5860BE}"/>
              </a:ext>
            </a:extLst>
          </p:cNvPr>
          <p:cNvSpPr txBox="1"/>
          <p:nvPr/>
        </p:nvSpPr>
        <p:spPr>
          <a:xfrm>
            <a:off x="6085303" y="5585612"/>
            <a:ext cx="237784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050" kern="0" dirty="0">
                <a:solidFill>
                  <a:prstClr val="black"/>
                </a:solidFill>
                <a:latin typeface="Courier" charset="0"/>
                <a:ea typeface="Courier" charset="0"/>
                <a:cs typeface="Courier" charset="0"/>
              </a:rPr>
              <a:t>O</a:t>
            </a:r>
            <a:r>
              <a:rPr kumimoji="0" lang="en-US" sz="1050" b="0" i="0" u="none" strike="noStrike" kern="0" cap="none" spc="0" normalizeH="0" baseline="0" noProof="0" dirty="0" err="1">
                <a:ln>
                  <a:noFill/>
                </a:ln>
                <a:solidFill>
                  <a:prstClr val="black"/>
                </a:solidFill>
                <a:effectLst/>
                <a:uLnTx/>
                <a:uFillTx/>
                <a:latin typeface="Courier" charset="0"/>
                <a:ea typeface="Courier" charset="0"/>
                <a:cs typeface="Courier" charset="0"/>
              </a:rPr>
              <a:t>utput</a:t>
            </a:r>
            <a:r>
              <a:rPr kumimoji="0" lang="en-US" sz="1050" b="0" i="0" u="none" strike="noStrike" kern="0" cap="none" spc="0" normalizeH="0" noProof="0" dirty="0">
                <a:ln>
                  <a:noFill/>
                </a:ln>
                <a:solidFill>
                  <a:prstClr val="black"/>
                </a:solidFill>
                <a:effectLst/>
                <a:uLnTx/>
                <a:uFillTx/>
                <a:latin typeface="Courier" charset="0"/>
                <a:ea typeface="Courier" charset="0"/>
                <a:cs typeface="Courier" charset="0"/>
              </a:rPr>
              <a:t> confidence scores</a:t>
            </a:r>
            <a:endPar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64" name="TextBox 63">
            <a:extLst>
              <a:ext uri="{FF2B5EF4-FFF2-40B4-BE49-F238E27FC236}">
                <a16:creationId xmlns:a16="http://schemas.microsoft.com/office/drawing/2014/main" xmlns="" id="{E7A9DC38-EB69-7843-A435-672B98D754B9}"/>
              </a:ext>
            </a:extLst>
          </p:cNvPr>
          <p:cNvSpPr txBox="1"/>
          <p:nvPr/>
        </p:nvSpPr>
        <p:spPr>
          <a:xfrm>
            <a:off x="508497" y="4756068"/>
            <a:ext cx="112077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word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embeddings</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65" name="TextBox 64">
            <a:extLst>
              <a:ext uri="{FF2B5EF4-FFF2-40B4-BE49-F238E27FC236}">
                <a16:creationId xmlns:a16="http://schemas.microsoft.com/office/drawing/2014/main" xmlns="" id="{7DCF150D-3938-E843-85DD-C391704A17B9}"/>
              </a:ext>
            </a:extLst>
          </p:cNvPr>
          <p:cNvSpPr txBox="1"/>
          <p:nvPr/>
        </p:nvSpPr>
        <p:spPr>
          <a:xfrm>
            <a:off x="266700" y="1338702"/>
            <a:ext cx="5412377" cy="1938992"/>
          </a:xfrm>
          <a:prstGeom prst="rect">
            <a:avLst/>
          </a:prstGeom>
          <a:noFill/>
        </p:spPr>
        <p:txBody>
          <a:bodyPr wrap="square" rtlCol="0">
            <a:spAutoFit/>
          </a:bodyPr>
          <a:lstStyle/>
          <a:p>
            <a:pPr marL="342900" indent="-342900">
              <a:buSzPct val="65000"/>
              <a:buFont typeface="Wingdings" pitchFamily="2" charset="2"/>
              <a:buChar char="q"/>
            </a:pPr>
            <a:r>
              <a:rPr lang="en-US" sz="2000" dirty="0">
                <a:solidFill>
                  <a:schemeClr val="bg2"/>
                </a:solidFill>
                <a:latin typeface="Century Gothic" panose="020B0502020202020204" pitchFamily="34" charset="0"/>
              </a:rPr>
              <a:t>LSTM takes word embeddings as input</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Hidden vectors represent events</a:t>
            </a:r>
          </a:p>
          <a:p>
            <a:pPr marL="342900" indent="-342900">
              <a:buSzPct val="65000"/>
              <a:buFont typeface="Wingdings" pitchFamily="2" charset="2"/>
              <a:buChar char="q"/>
            </a:pPr>
            <a:r>
              <a:rPr lang="en-US" sz="2000" b="1" dirty="0">
                <a:solidFill>
                  <a:schemeClr val="bg2"/>
                </a:solidFill>
                <a:latin typeface="Century Gothic" panose="020B0502020202020204" pitchFamily="34" charset="0"/>
              </a:rPr>
              <a:t>FFNN predicts the labels of temporal relations (followed by ILP inference)</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Siamese network is a generalized </a:t>
            </a:r>
            <a:r>
              <a:rPr lang="en-US" sz="2000" dirty="0" err="1">
                <a:solidFill>
                  <a:schemeClr val="bg2"/>
                </a:solidFill>
                <a:latin typeface="Century Gothic" panose="020B0502020202020204" pitchFamily="34" charset="0"/>
              </a:rPr>
              <a:t>TemProb</a:t>
            </a:r>
            <a:endParaRPr lang="en-US" sz="2000" dirty="0">
              <a:solidFill>
                <a:schemeClr val="bg2"/>
              </a:solidFill>
              <a:latin typeface="Century Gothic" panose="020B0502020202020204" pitchFamily="34" charset="0"/>
            </a:endParaRPr>
          </a:p>
        </p:txBody>
      </p:sp>
      <p:sp>
        <p:nvSpPr>
          <p:cNvPr id="61" name="TextBox 60">
            <a:extLst>
              <a:ext uri="{FF2B5EF4-FFF2-40B4-BE49-F238E27FC236}">
                <a16:creationId xmlns:a16="http://schemas.microsoft.com/office/drawing/2014/main" xmlns="" id="{ABAC4B62-41A5-7E40-BEE2-0ABA2917EC03}"/>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Tree>
    <p:extLst>
      <p:ext uri="{BB962C8B-B14F-4D97-AF65-F5344CB8AC3E}">
        <p14:creationId xmlns:p14="http://schemas.microsoft.com/office/powerpoint/2010/main" val="1355149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wipe(left)">
                                      <p:cBhvr>
                                        <p:cTn id="1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angle 146">
            <a:extLst>
              <a:ext uri="{FF2B5EF4-FFF2-40B4-BE49-F238E27FC236}">
                <a16:creationId xmlns:a16="http://schemas.microsoft.com/office/drawing/2014/main" xmlns="" id="{7DC20B6A-F75D-1148-8BC0-C100E4FA2229}"/>
              </a:ext>
            </a:extLst>
          </p:cNvPr>
          <p:cNvSpPr/>
          <p:nvPr/>
        </p:nvSpPr>
        <p:spPr>
          <a:xfrm>
            <a:off x="266700" y="3750327"/>
            <a:ext cx="4722256" cy="2087398"/>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9" name="Rectangle 148">
            <a:extLst>
              <a:ext uri="{FF2B5EF4-FFF2-40B4-BE49-F238E27FC236}">
                <a16:creationId xmlns:a16="http://schemas.microsoft.com/office/drawing/2014/main" xmlns="" id="{8B1E2EAE-5545-5640-8516-928AFDAE73FD}"/>
              </a:ext>
            </a:extLst>
          </p:cNvPr>
          <p:cNvSpPr/>
          <p:nvPr/>
        </p:nvSpPr>
        <p:spPr>
          <a:xfrm>
            <a:off x="6085302" y="3594646"/>
            <a:ext cx="2597303" cy="2243079"/>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96" name="Straight Arrow Connector 95">
            <a:extLst>
              <a:ext uri="{FF2B5EF4-FFF2-40B4-BE49-F238E27FC236}">
                <a16:creationId xmlns:a16="http://schemas.microsoft.com/office/drawing/2014/main" xmlns="" id="{66C9234D-0753-EC42-BBBB-0A689AB90467}"/>
              </a:ext>
            </a:extLst>
          </p:cNvPr>
          <p:cNvCxnSpPr>
            <a:cxnSpLocks/>
            <a:endCxn id="149" idx="0"/>
          </p:cNvCxnSpPr>
          <p:nvPr/>
        </p:nvCxnSpPr>
        <p:spPr>
          <a:xfrm>
            <a:off x="7383954" y="2960743"/>
            <a:ext cx="0" cy="633903"/>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364410" y="4133475"/>
            <a:ext cx="4626667" cy="1678639"/>
            <a:chOff x="364410" y="4133475"/>
            <a:chExt cx="4626667" cy="1678639"/>
          </a:xfrm>
        </p:grpSpPr>
        <p:sp>
          <p:nvSpPr>
            <p:cNvPr id="13" name="TextBox 12">
              <a:extLst>
                <a:ext uri="{FF2B5EF4-FFF2-40B4-BE49-F238E27FC236}">
                  <a16:creationId xmlns:a16="http://schemas.microsoft.com/office/drawing/2014/main" xmlns="" id="{57FAABF5-FCFF-FD47-889B-36412271B4D9}"/>
                </a:ext>
              </a:extLst>
            </p:cNvPr>
            <p:cNvSpPr txBox="1"/>
            <p:nvPr/>
          </p:nvSpPr>
          <p:spPr>
            <a:xfrm>
              <a:off x="364410" y="5550504"/>
              <a:ext cx="462666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LSTM w/ concatenations of two hidden states</a:t>
              </a:r>
            </a:p>
          </p:txBody>
        </p:sp>
        <p:sp>
          <p:nvSpPr>
            <p:cNvPr id="14" name="Rectangle 13">
              <a:extLst>
                <a:ext uri="{FF2B5EF4-FFF2-40B4-BE49-F238E27FC236}">
                  <a16:creationId xmlns:a16="http://schemas.microsoft.com/office/drawing/2014/main" xmlns="" id="{71505336-B73F-ED4D-9DB9-3F6F4E958A0E}"/>
                </a:ext>
              </a:extLst>
            </p:cNvPr>
            <p:cNvSpPr/>
            <p:nvPr/>
          </p:nvSpPr>
          <p:spPr>
            <a:xfrm>
              <a:off x="1644998" y="4133475"/>
              <a:ext cx="2150931" cy="551983"/>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ourier" charset="0"/>
                  <a:ea typeface="Courier" charset="0"/>
                  <a:cs typeface="Courier" charset="0"/>
                </a:rPr>
                <a:t>LSTM</a:t>
              </a:r>
            </a:p>
          </p:txBody>
        </p:sp>
        <p:sp>
          <p:nvSpPr>
            <p:cNvPr id="15" name="Rectangle 14">
              <a:extLst>
                <a:ext uri="{FF2B5EF4-FFF2-40B4-BE49-F238E27FC236}">
                  <a16:creationId xmlns:a16="http://schemas.microsoft.com/office/drawing/2014/main" xmlns="" id="{37EE7DC9-402A-E649-8450-ADB67AE946ED}"/>
                </a:ext>
              </a:extLst>
            </p:cNvPr>
            <p:cNvSpPr/>
            <p:nvPr/>
          </p:nvSpPr>
          <p:spPr>
            <a:xfrm flipH="1">
              <a:off x="179510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xmlns="" id="{A5BE672E-97BB-DB4A-B9AA-A00EC9D2D12A}"/>
                </a:ext>
              </a:extLst>
            </p:cNvPr>
            <p:cNvCxnSpPr>
              <a:stCxn id="15" idx="0"/>
            </p:cNvCxnSpPr>
            <p:nvPr/>
          </p:nvCxnSpPr>
          <p:spPr>
            <a:xfrm flipV="1">
              <a:off x="1832316"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7" name="Rectangle 16">
              <a:extLst>
                <a:ext uri="{FF2B5EF4-FFF2-40B4-BE49-F238E27FC236}">
                  <a16:creationId xmlns:a16="http://schemas.microsoft.com/office/drawing/2014/main" xmlns="" id="{A638AB4B-8D15-6E49-AC1F-8094368CC28C}"/>
                </a:ext>
              </a:extLst>
            </p:cNvPr>
            <p:cNvSpPr/>
            <p:nvPr/>
          </p:nvSpPr>
          <p:spPr>
            <a:xfrm flipH="1">
              <a:off x="2085824"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xmlns="" id="{AA8F34D5-FD04-AA46-84E4-F521D9AD2E58}"/>
                </a:ext>
              </a:extLst>
            </p:cNvPr>
            <p:cNvCxnSpPr>
              <a:stCxn id="17" idx="0"/>
            </p:cNvCxnSpPr>
            <p:nvPr/>
          </p:nvCxnSpPr>
          <p:spPr>
            <a:xfrm flipV="1">
              <a:off x="2123034"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9" name="Rectangle 18">
              <a:extLst>
                <a:ext uri="{FF2B5EF4-FFF2-40B4-BE49-F238E27FC236}">
                  <a16:creationId xmlns:a16="http://schemas.microsoft.com/office/drawing/2014/main" xmlns="" id="{0CBCAED4-EC87-334B-8A0F-372205831836}"/>
                </a:ext>
              </a:extLst>
            </p:cNvPr>
            <p:cNvSpPr/>
            <p:nvPr/>
          </p:nvSpPr>
          <p:spPr>
            <a:xfrm flipH="1">
              <a:off x="2367991"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xmlns="" id="{433F8AF9-C877-D14C-9693-2041753C6D14}"/>
                </a:ext>
              </a:extLst>
            </p:cNvPr>
            <p:cNvCxnSpPr>
              <a:stCxn id="19" idx="0"/>
            </p:cNvCxnSpPr>
            <p:nvPr/>
          </p:nvCxnSpPr>
          <p:spPr>
            <a:xfrm flipV="1">
              <a:off x="2405202"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1" name="Rectangle 20">
              <a:extLst>
                <a:ext uri="{FF2B5EF4-FFF2-40B4-BE49-F238E27FC236}">
                  <a16:creationId xmlns:a16="http://schemas.microsoft.com/office/drawing/2014/main" xmlns="" id="{2FCB6297-337C-CE4E-AD03-C52E209019D6}"/>
                </a:ext>
              </a:extLst>
            </p:cNvPr>
            <p:cNvSpPr/>
            <p:nvPr/>
          </p:nvSpPr>
          <p:spPr>
            <a:xfrm flipH="1">
              <a:off x="359071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xmlns="" id="{830D6567-A8F6-6248-97CF-49F1B93FE54F}"/>
                </a:ext>
              </a:extLst>
            </p:cNvPr>
            <p:cNvCxnSpPr>
              <a:stCxn id="21" idx="0"/>
            </p:cNvCxnSpPr>
            <p:nvPr/>
          </p:nvCxnSpPr>
          <p:spPr>
            <a:xfrm flipV="1">
              <a:off x="3627927"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3" name="TextBox 22">
              <a:extLst>
                <a:ext uri="{FF2B5EF4-FFF2-40B4-BE49-F238E27FC236}">
                  <a16:creationId xmlns:a16="http://schemas.microsoft.com/office/drawing/2014/main" xmlns="" id="{E4E50330-C745-154D-B316-011EFB5E0319}"/>
                </a:ext>
              </a:extLst>
            </p:cNvPr>
            <p:cNvSpPr txBox="1"/>
            <p:nvPr/>
          </p:nvSpPr>
          <p:spPr>
            <a:xfrm>
              <a:off x="1728588" y="5358199"/>
              <a:ext cx="2117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0  </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err="1">
                  <a:ln>
                    <a:noFill/>
                  </a:ln>
                  <a:solidFill>
                    <a:prstClr val="black"/>
                  </a:solidFill>
                  <a:effectLst/>
                  <a:uLnTx/>
                  <a:uFillTx/>
                  <a:latin typeface="Courier" charset="0"/>
                  <a:ea typeface="Courier" charset="0"/>
                  <a:cs typeface="Courier" charset="0"/>
                </a:rPr>
                <a:t>n</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grpSp>
        <p:nvGrpSpPr>
          <p:cNvPr id="6" name="Group 5">
            <a:extLst>
              <a:ext uri="{FF2B5EF4-FFF2-40B4-BE49-F238E27FC236}">
                <a16:creationId xmlns:a16="http://schemas.microsoft.com/office/drawing/2014/main" xmlns="" id="{26D87E97-3BAE-7B41-B4F9-069C739F3649}"/>
              </a:ext>
            </a:extLst>
          </p:cNvPr>
          <p:cNvGrpSpPr/>
          <p:nvPr/>
        </p:nvGrpSpPr>
        <p:grpSpPr>
          <a:xfrm>
            <a:off x="25167" y="228600"/>
            <a:ext cx="8268132" cy="533400"/>
            <a:chOff x="25167" y="228600"/>
            <a:chExt cx="8268132" cy="533400"/>
          </a:xfrm>
        </p:grpSpPr>
        <p:sp>
          <p:nvSpPr>
            <p:cNvPr id="31" name="Title 240">
              <a:extLst>
                <a:ext uri="{FF2B5EF4-FFF2-40B4-BE49-F238E27FC236}">
                  <a16:creationId xmlns:a16="http://schemas.microsoft.com/office/drawing/2014/main" xmlns="" id="{AA93E823-DA84-874F-B363-44CB4E9BEBEB}"/>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a:t>: a neural approach</a:t>
              </a:r>
              <a:endParaRPr lang="en-US" sz="2800" dirty="0"/>
            </a:p>
          </p:txBody>
        </p:sp>
        <p:sp>
          <p:nvSpPr>
            <p:cNvPr id="32" name="TextBox 31">
              <a:extLst>
                <a:ext uri="{FF2B5EF4-FFF2-40B4-BE49-F238E27FC236}">
                  <a16:creationId xmlns:a16="http://schemas.microsoft.com/office/drawing/2014/main" xmlns="" id="{5B99ECFE-A883-EB43-A634-E217003C5621}"/>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grpSp>
        <p:nvGrpSpPr>
          <p:cNvPr id="26" name="Group 25">
            <a:extLst>
              <a:ext uri="{FF2B5EF4-FFF2-40B4-BE49-F238E27FC236}">
                <a16:creationId xmlns:a16="http://schemas.microsoft.com/office/drawing/2014/main" xmlns="" id="{B2EA2C41-6AF5-3C48-9C9E-8CA8347D0572}"/>
              </a:ext>
            </a:extLst>
          </p:cNvPr>
          <p:cNvGrpSpPr/>
          <p:nvPr/>
        </p:nvGrpSpPr>
        <p:grpSpPr>
          <a:xfrm>
            <a:off x="2057545" y="3610478"/>
            <a:ext cx="5367078" cy="1941686"/>
            <a:chOff x="2057545" y="3610478"/>
            <a:chExt cx="5367078" cy="1941686"/>
          </a:xfrm>
        </p:grpSpPr>
        <p:sp>
          <p:nvSpPr>
            <p:cNvPr id="29" name="TextBox 28">
              <a:extLst>
                <a:ext uri="{FF2B5EF4-FFF2-40B4-BE49-F238E27FC236}">
                  <a16:creationId xmlns:a16="http://schemas.microsoft.com/office/drawing/2014/main" xmlns="" id="{1BEC9E07-A852-BA4B-8E8B-338457D1F3D8}"/>
                </a:ext>
              </a:extLst>
            </p:cNvPr>
            <p:cNvSpPr txBox="1"/>
            <p:nvPr/>
          </p:nvSpPr>
          <p:spPr>
            <a:xfrm>
              <a:off x="6760755" y="4836033"/>
              <a:ext cx="419602"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e2</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33" name="TextBox 32">
              <a:extLst>
                <a:ext uri="{FF2B5EF4-FFF2-40B4-BE49-F238E27FC236}">
                  <a16:creationId xmlns:a16="http://schemas.microsoft.com/office/drawing/2014/main" xmlns="" id="{DE29157F-628A-FF42-9411-894779B8745A}"/>
                </a:ext>
              </a:extLst>
            </p:cNvPr>
            <p:cNvSpPr txBox="1"/>
            <p:nvPr/>
          </p:nvSpPr>
          <p:spPr>
            <a:xfrm>
              <a:off x="6694541" y="3610478"/>
              <a:ext cx="504663"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e1</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nvGrpSpPr>
            <p:cNvPr id="34" name="Group 33">
              <a:extLst>
                <a:ext uri="{FF2B5EF4-FFF2-40B4-BE49-F238E27FC236}">
                  <a16:creationId xmlns:a16="http://schemas.microsoft.com/office/drawing/2014/main" xmlns="" id="{A0302575-CEDA-9349-A079-636F7474C069}"/>
                </a:ext>
              </a:extLst>
            </p:cNvPr>
            <p:cNvGrpSpPr/>
            <p:nvPr/>
          </p:nvGrpSpPr>
          <p:grpSpPr>
            <a:xfrm>
              <a:off x="2057545" y="3849696"/>
              <a:ext cx="5367078" cy="1702468"/>
              <a:chOff x="2057545" y="3849696"/>
              <a:chExt cx="5367078" cy="1702468"/>
            </a:xfrm>
          </p:grpSpPr>
          <p:grpSp>
            <p:nvGrpSpPr>
              <p:cNvPr id="35" name="Group 34">
                <a:extLst>
                  <a:ext uri="{FF2B5EF4-FFF2-40B4-BE49-F238E27FC236}">
                    <a16:creationId xmlns:a16="http://schemas.microsoft.com/office/drawing/2014/main" xmlns="" id="{AB9776E4-A930-2446-A717-466A63D170EF}"/>
                  </a:ext>
                </a:extLst>
              </p:cNvPr>
              <p:cNvGrpSpPr/>
              <p:nvPr/>
            </p:nvGrpSpPr>
            <p:grpSpPr>
              <a:xfrm>
                <a:off x="2057545" y="3898229"/>
                <a:ext cx="5235488" cy="1230841"/>
                <a:chOff x="2057545" y="3898229"/>
                <a:chExt cx="5235488" cy="1230841"/>
              </a:xfrm>
            </p:grpSpPr>
            <p:sp>
              <p:nvSpPr>
                <p:cNvPr id="40" name="Bent-Up Arrow 39">
                  <a:extLst>
                    <a:ext uri="{FF2B5EF4-FFF2-40B4-BE49-F238E27FC236}">
                      <a16:creationId xmlns:a16="http://schemas.microsoft.com/office/drawing/2014/main" xmlns="" id="{749B142F-A334-F24A-BD28-5CDEB0D3E081}"/>
                    </a:ext>
                  </a:extLst>
                </p:cNvPr>
                <p:cNvSpPr/>
                <p:nvPr/>
              </p:nvSpPr>
              <p:spPr>
                <a:xfrm rot="5400000" flipH="1">
                  <a:off x="4552793" y="1402981"/>
                  <a:ext cx="233389" cy="5223885"/>
                </a:xfrm>
                <a:prstGeom prst="bentUpArrow">
                  <a:avLst>
                    <a:gd name="adj1" fmla="val 0"/>
                    <a:gd name="adj2" fmla="val 6756"/>
                    <a:gd name="adj3" fmla="val 20135"/>
                  </a:avLst>
                </a:prstGeom>
                <a:solidFill>
                  <a:sysClr val="windowText" lastClr="000000"/>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1" name="Group 40">
                  <a:extLst>
                    <a:ext uri="{FF2B5EF4-FFF2-40B4-BE49-F238E27FC236}">
                      <a16:creationId xmlns:a16="http://schemas.microsoft.com/office/drawing/2014/main" xmlns="" id="{7B085608-A053-AB45-8FF0-99A30FAA0AAC}"/>
                    </a:ext>
                  </a:extLst>
                </p:cNvPr>
                <p:cNvGrpSpPr/>
                <p:nvPr/>
              </p:nvGrpSpPr>
              <p:grpSpPr>
                <a:xfrm>
                  <a:off x="3132702" y="4071242"/>
                  <a:ext cx="4160331" cy="1057828"/>
                  <a:chOff x="4427129" y="4129048"/>
                  <a:chExt cx="2314332" cy="1597344"/>
                </a:xfrm>
              </p:grpSpPr>
              <p:cxnSp>
                <p:nvCxnSpPr>
                  <p:cNvPr id="42" name="Elbow Connector 41">
                    <a:extLst>
                      <a:ext uri="{FF2B5EF4-FFF2-40B4-BE49-F238E27FC236}">
                        <a16:creationId xmlns:a16="http://schemas.microsoft.com/office/drawing/2014/main" xmlns="" id="{C01802C8-6206-BC4C-A5A9-203286F39FE6}"/>
                      </a:ext>
                    </a:extLst>
                  </p:cNvPr>
                  <p:cNvCxnSpPr>
                    <a:endCxn id="36" idx="3"/>
                  </p:cNvCxnSpPr>
                  <p:nvPr/>
                </p:nvCxnSpPr>
                <p:spPr>
                  <a:xfrm>
                    <a:off x="4427134" y="4129048"/>
                    <a:ext cx="2314327" cy="1597344"/>
                  </a:xfrm>
                  <a:prstGeom prst="bentConnector3">
                    <a:avLst>
                      <a:gd name="adj1" fmla="val 50000"/>
                    </a:avLst>
                  </a:prstGeom>
                  <a:noFill/>
                  <a:ln w="6350" cap="flat" cmpd="sng" algn="ctr">
                    <a:solidFill>
                      <a:sysClr val="windowText" lastClr="000000"/>
                    </a:solidFill>
                    <a:prstDash val="solid"/>
                    <a:miter lim="800000"/>
                    <a:tailEnd type="triangle"/>
                  </a:ln>
                  <a:effectLst/>
                </p:spPr>
              </p:cxnSp>
              <p:cxnSp>
                <p:nvCxnSpPr>
                  <p:cNvPr id="43" name="Straight Arrow Connector 42">
                    <a:extLst>
                      <a:ext uri="{FF2B5EF4-FFF2-40B4-BE49-F238E27FC236}">
                        <a16:creationId xmlns:a16="http://schemas.microsoft.com/office/drawing/2014/main" xmlns="" id="{B92FE208-41D5-5D4A-BAB8-40C2E2771D8B}"/>
                      </a:ext>
                    </a:extLst>
                  </p:cNvPr>
                  <p:cNvCxnSpPr/>
                  <p:nvPr/>
                </p:nvCxnSpPr>
                <p:spPr>
                  <a:xfrm flipH="1">
                    <a:off x="4427129" y="4129049"/>
                    <a:ext cx="1" cy="91140"/>
                  </a:xfrm>
                  <a:prstGeom prst="straightConnector1">
                    <a:avLst/>
                  </a:prstGeom>
                  <a:noFill/>
                  <a:ln w="6350" cap="flat" cmpd="sng" algn="ctr">
                    <a:solidFill>
                      <a:sysClr val="windowText" lastClr="000000"/>
                    </a:solidFill>
                    <a:prstDash val="solid"/>
                    <a:miter lim="800000"/>
                    <a:headEnd type="none" w="med" len="med"/>
                    <a:tailEnd type="none" w="med" len="med"/>
                  </a:ln>
                  <a:effectLst/>
                </p:spPr>
              </p:cxnSp>
            </p:grpSp>
          </p:grpSp>
          <p:sp>
            <p:nvSpPr>
              <p:cNvPr id="36" name="Rectangle 35">
                <a:extLst>
                  <a:ext uri="{FF2B5EF4-FFF2-40B4-BE49-F238E27FC236}">
                    <a16:creationId xmlns:a16="http://schemas.microsoft.com/office/drawing/2014/main" xmlns="" id="{0B3BECAF-7BD3-5D4B-9177-97F9B0A52872}"/>
                  </a:ext>
                </a:extLst>
              </p:cNvPr>
              <p:cNvSpPr/>
              <p:nvPr/>
            </p:nvSpPr>
            <p:spPr>
              <a:xfrm flipH="1">
                <a:off x="7293026" y="4705974"/>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xmlns="" id="{47010FEE-D80A-FA4A-B4BE-9CD20B7A1982}"/>
                  </a:ext>
                </a:extLst>
              </p:cNvPr>
              <p:cNvSpPr/>
              <p:nvPr/>
            </p:nvSpPr>
            <p:spPr>
              <a:xfrm flipH="1">
                <a:off x="7293026" y="3849696"/>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xmlns="" id="{6AD0BF0A-16AB-484F-AD99-790A9004BEC1}"/>
                  </a:ext>
                </a:extLst>
              </p:cNvPr>
              <p:cNvSpPr txBox="1"/>
              <p:nvPr/>
            </p:nvSpPr>
            <p:spPr>
              <a:xfrm>
                <a:off x="6909405" y="4057607"/>
                <a:ext cx="45852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39" name="TextBox 38">
                <a:extLst>
                  <a:ext uri="{FF2B5EF4-FFF2-40B4-BE49-F238E27FC236}">
                    <a16:creationId xmlns:a16="http://schemas.microsoft.com/office/drawing/2014/main" xmlns="" id="{3314052D-A997-F24F-BF1C-AE0FE3EFBBB6}"/>
                  </a:ext>
                </a:extLst>
              </p:cNvPr>
              <p:cNvSpPr txBox="1"/>
              <p:nvPr/>
            </p:nvSpPr>
            <p:spPr>
              <a:xfrm>
                <a:off x="6870296" y="5186806"/>
                <a:ext cx="554327"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grpSp>
      <p:grpSp>
        <p:nvGrpSpPr>
          <p:cNvPr id="3" name="Group 2">
            <a:extLst>
              <a:ext uri="{FF2B5EF4-FFF2-40B4-BE49-F238E27FC236}">
                <a16:creationId xmlns:a16="http://schemas.microsoft.com/office/drawing/2014/main" xmlns="" id="{DEC33DAE-30F8-A04B-8EF4-B1D608A85D13}"/>
              </a:ext>
            </a:extLst>
          </p:cNvPr>
          <p:cNvGrpSpPr/>
          <p:nvPr/>
        </p:nvGrpSpPr>
        <p:grpSpPr>
          <a:xfrm>
            <a:off x="7371689" y="4132189"/>
            <a:ext cx="1374279" cy="1321620"/>
            <a:chOff x="7371689" y="4132189"/>
            <a:chExt cx="1374279" cy="1321620"/>
          </a:xfrm>
        </p:grpSpPr>
        <p:sp>
          <p:nvSpPr>
            <p:cNvPr id="44" name="Rectangle 43">
              <a:extLst>
                <a:ext uri="{FF2B5EF4-FFF2-40B4-BE49-F238E27FC236}">
                  <a16:creationId xmlns:a16="http://schemas.microsoft.com/office/drawing/2014/main" xmlns="" id="{4912E571-EF04-BA48-AC5B-4190A38E37DF}"/>
                </a:ext>
              </a:extLst>
            </p:cNvPr>
            <p:cNvSpPr/>
            <p:nvPr/>
          </p:nvSpPr>
          <p:spPr>
            <a:xfrm flipH="1">
              <a:off x="7769699" y="4535844"/>
              <a:ext cx="81145" cy="436932"/>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xmlns="" id="{E711711B-62C7-0542-9FBC-FB81C8C9D01D}"/>
                </a:ext>
              </a:extLst>
            </p:cNvPr>
            <p:cNvSpPr>
              <a:spLocks/>
            </p:cNvSpPr>
            <p:nvPr/>
          </p:nvSpPr>
          <p:spPr>
            <a:xfrm flipH="1">
              <a:off x="8247848" y="4607761"/>
              <a:ext cx="69066" cy="317429"/>
            </a:xfrm>
            <a:prstGeom prst="rect">
              <a:avLst/>
            </a:prstGeom>
            <a:solidFill>
              <a:srgbClr val="00B05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46" name="Straight Arrow Connector 45">
              <a:extLst>
                <a:ext uri="{FF2B5EF4-FFF2-40B4-BE49-F238E27FC236}">
                  <a16:creationId xmlns:a16="http://schemas.microsoft.com/office/drawing/2014/main" xmlns="" id="{AF419D41-88D0-EE4A-AFCB-1027DD05071D}"/>
                </a:ext>
              </a:extLst>
            </p:cNvPr>
            <p:cNvCxnSpPr/>
            <p:nvPr/>
          </p:nvCxnSpPr>
          <p:spPr>
            <a:xfrm>
              <a:off x="7849238" y="4764357"/>
              <a:ext cx="398613" cy="0"/>
            </a:xfrm>
            <a:prstGeom prst="straightConnector1">
              <a:avLst/>
            </a:prstGeom>
            <a:noFill/>
            <a:ln w="6350" cap="flat" cmpd="sng" algn="ctr">
              <a:solidFill>
                <a:sysClr val="windowText" lastClr="000000"/>
              </a:solidFill>
              <a:prstDash val="solid"/>
              <a:miter lim="800000"/>
              <a:tailEnd type="triangle"/>
            </a:ln>
            <a:effectLst/>
          </p:spPr>
        </p:cxnSp>
        <p:cxnSp>
          <p:nvCxnSpPr>
            <p:cNvPr id="47" name="Straight Arrow Connector 46">
              <a:extLst>
                <a:ext uri="{FF2B5EF4-FFF2-40B4-BE49-F238E27FC236}">
                  <a16:creationId xmlns:a16="http://schemas.microsoft.com/office/drawing/2014/main" xmlns="" id="{34504C94-7403-FB40-AD9B-B6EC34AA22FD}"/>
                </a:ext>
              </a:extLst>
            </p:cNvPr>
            <p:cNvCxnSpPr>
              <a:endCxn id="44" idx="3"/>
            </p:cNvCxnSpPr>
            <p:nvPr/>
          </p:nvCxnSpPr>
          <p:spPr>
            <a:xfrm>
              <a:off x="7371689" y="4535844"/>
              <a:ext cx="39801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48" name="Straight Arrow Connector 47">
              <a:extLst>
                <a:ext uri="{FF2B5EF4-FFF2-40B4-BE49-F238E27FC236}">
                  <a16:creationId xmlns:a16="http://schemas.microsoft.com/office/drawing/2014/main" xmlns="" id="{B689A6C0-9A68-B54B-9BB5-37FF5D0FB441}"/>
                </a:ext>
              </a:extLst>
            </p:cNvPr>
            <p:cNvCxnSpPr>
              <a:endCxn id="44" idx="3"/>
            </p:cNvCxnSpPr>
            <p:nvPr/>
          </p:nvCxnSpPr>
          <p:spPr>
            <a:xfrm>
              <a:off x="7371689" y="4369085"/>
              <a:ext cx="398010" cy="385225"/>
            </a:xfrm>
            <a:prstGeom prst="straightConnector1">
              <a:avLst/>
            </a:prstGeom>
            <a:noFill/>
            <a:ln w="6350" cap="flat" cmpd="sng" algn="ctr">
              <a:solidFill>
                <a:sysClr val="windowText" lastClr="000000"/>
              </a:solidFill>
              <a:prstDash val="solid"/>
              <a:miter lim="800000"/>
              <a:tailEnd type="triangle"/>
            </a:ln>
            <a:effectLst/>
          </p:spPr>
        </p:cxnSp>
        <p:cxnSp>
          <p:nvCxnSpPr>
            <p:cNvPr id="49" name="Straight Arrow Connector 48">
              <a:extLst>
                <a:ext uri="{FF2B5EF4-FFF2-40B4-BE49-F238E27FC236}">
                  <a16:creationId xmlns:a16="http://schemas.microsoft.com/office/drawing/2014/main" xmlns="" id="{7788E35A-8643-4C43-BEDD-ACDFDDD55BFF}"/>
                </a:ext>
              </a:extLst>
            </p:cNvPr>
            <p:cNvCxnSpPr/>
            <p:nvPr/>
          </p:nvCxnSpPr>
          <p:spPr>
            <a:xfrm flipV="1">
              <a:off x="7376805" y="4773072"/>
              <a:ext cx="398011" cy="218466"/>
            </a:xfrm>
            <a:prstGeom prst="straightConnector1">
              <a:avLst/>
            </a:prstGeom>
            <a:noFill/>
            <a:ln w="6350" cap="flat" cmpd="sng" algn="ctr">
              <a:solidFill>
                <a:sysClr val="windowText" lastClr="000000"/>
              </a:solidFill>
              <a:prstDash val="solid"/>
              <a:miter lim="800000"/>
              <a:tailEnd type="triangle"/>
            </a:ln>
            <a:effectLst/>
          </p:spPr>
        </p:cxnSp>
        <p:cxnSp>
          <p:nvCxnSpPr>
            <p:cNvPr id="50" name="Straight Arrow Connector 49">
              <a:extLst>
                <a:ext uri="{FF2B5EF4-FFF2-40B4-BE49-F238E27FC236}">
                  <a16:creationId xmlns:a16="http://schemas.microsoft.com/office/drawing/2014/main" xmlns="" id="{524B3F39-9250-FB4C-9EB5-6EB5DDD296AF}"/>
                </a:ext>
              </a:extLst>
            </p:cNvPr>
            <p:cNvCxnSpPr/>
            <p:nvPr/>
          </p:nvCxnSpPr>
          <p:spPr>
            <a:xfrm flipV="1">
              <a:off x="7376805" y="4773072"/>
              <a:ext cx="398011" cy="385225"/>
            </a:xfrm>
            <a:prstGeom prst="straightConnector1">
              <a:avLst/>
            </a:prstGeom>
            <a:noFill/>
            <a:ln w="6350" cap="flat" cmpd="sng" algn="ctr">
              <a:solidFill>
                <a:sysClr val="windowText" lastClr="000000"/>
              </a:solidFill>
              <a:prstDash val="solid"/>
              <a:miter lim="800000"/>
              <a:tailEnd type="triangle"/>
            </a:ln>
            <a:effectLst/>
          </p:spPr>
        </p:cxnSp>
        <p:cxnSp>
          <p:nvCxnSpPr>
            <p:cNvPr id="51" name="Straight Arrow Connector 50">
              <a:extLst>
                <a:ext uri="{FF2B5EF4-FFF2-40B4-BE49-F238E27FC236}">
                  <a16:creationId xmlns:a16="http://schemas.microsoft.com/office/drawing/2014/main" xmlns="" id="{E774F0FD-827D-C64D-BC34-B67E322DD6F4}"/>
                </a:ext>
              </a:extLst>
            </p:cNvPr>
            <p:cNvCxnSpPr/>
            <p:nvPr/>
          </p:nvCxnSpPr>
          <p:spPr>
            <a:xfrm>
              <a:off x="7846861" y="4639383"/>
              <a:ext cx="398011" cy="118264"/>
            </a:xfrm>
            <a:prstGeom prst="straightConnector1">
              <a:avLst/>
            </a:prstGeom>
            <a:noFill/>
            <a:ln w="6350" cap="flat" cmpd="sng" algn="ctr">
              <a:solidFill>
                <a:sysClr val="windowText" lastClr="000000"/>
              </a:solidFill>
              <a:prstDash val="solid"/>
              <a:miter lim="800000"/>
              <a:tailEnd type="triangle"/>
            </a:ln>
            <a:effectLst/>
          </p:spPr>
        </p:cxnSp>
        <p:cxnSp>
          <p:nvCxnSpPr>
            <p:cNvPr id="52" name="Straight Arrow Connector 51">
              <a:extLst>
                <a:ext uri="{FF2B5EF4-FFF2-40B4-BE49-F238E27FC236}">
                  <a16:creationId xmlns:a16="http://schemas.microsoft.com/office/drawing/2014/main" xmlns="" id="{4C4E45AB-3A8E-3D42-8594-FF4F1633F4F5}"/>
                </a:ext>
              </a:extLst>
            </p:cNvPr>
            <p:cNvCxnSpPr/>
            <p:nvPr/>
          </p:nvCxnSpPr>
          <p:spPr>
            <a:xfrm>
              <a:off x="7846861" y="4549111"/>
              <a:ext cx="398011" cy="208537"/>
            </a:xfrm>
            <a:prstGeom prst="straightConnector1">
              <a:avLst/>
            </a:prstGeom>
            <a:noFill/>
            <a:ln w="6350" cap="flat" cmpd="sng" algn="ctr">
              <a:solidFill>
                <a:sysClr val="windowText" lastClr="000000"/>
              </a:solidFill>
              <a:prstDash val="solid"/>
              <a:miter lim="800000"/>
              <a:tailEnd type="triangle"/>
            </a:ln>
            <a:effectLst/>
          </p:spPr>
        </p:cxnSp>
        <p:cxnSp>
          <p:nvCxnSpPr>
            <p:cNvPr id="53" name="Straight Arrow Connector 52">
              <a:extLst>
                <a:ext uri="{FF2B5EF4-FFF2-40B4-BE49-F238E27FC236}">
                  <a16:creationId xmlns:a16="http://schemas.microsoft.com/office/drawing/2014/main" xmlns="" id="{42BD8F8E-EB0D-5746-83E4-D3AFCB948505}"/>
                </a:ext>
              </a:extLst>
            </p:cNvPr>
            <p:cNvCxnSpPr/>
            <p:nvPr/>
          </p:nvCxnSpPr>
          <p:spPr>
            <a:xfrm flipV="1">
              <a:off x="7846861" y="4757647"/>
              <a:ext cx="398011" cy="118264"/>
            </a:xfrm>
            <a:prstGeom prst="straightConnector1">
              <a:avLst/>
            </a:prstGeom>
            <a:noFill/>
            <a:ln w="6350" cap="flat" cmpd="sng" algn="ctr">
              <a:solidFill>
                <a:sysClr val="windowText" lastClr="000000"/>
              </a:solidFill>
              <a:prstDash val="solid"/>
              <a:miter lim="800000"/>
              <a:tailEnd type="triangle"/>
            </a:ln>
            <a:effectLst/>
          </p:spPr>
        </p:cxnSp>
        <p:cxnSp>
          <p:nvCxnSpPr>
            <p:cNvPr id="54" name="Straight Arrow Connector 53">
              <a:extLst>
                <a:ext uri="{FF2B5EF4-FFF2-40B4-BE49-F238E27FC236}">
                  <a16:creationId xmlns:a16="http://schemas.microsoft.com/office/drawing/2014/main" xmlns="" id="{4E614E47-321F-4F4E-97FA-5D83D0C5C2C9}"/>
                </a:ext>
              </a:extLst>
            </p:cNvPr>
            <p:cNvCxnSpPr/>
            <p:nvPr/>
          </p:nvCxnSpPr>
          <p:spPr>
            <a:xfrm flipV="1">
              <a:off x="7846861" y="4757647"/>
              <a:ext cx="398011" cy="208537"/>
            </a:xfrm>
            <a:prstGeom prst="straightConnector1">
              <a:avLst/>
            </a:prstGeom>
            <a:noFill/>
            <a:ln w="6350" cap="flat" cmpd="sng" algn="ctr">
              <a:solidFill>
                <a:sysClr val="windowText" lastClr="000000"/>
              </a:solidFill>
              <a:prstDash val="solid"/>
              <a:miter lim="800000"/>
              <a:tailEnd type="triangle"/>
            </a:ln>
            <a:effectLst/>
          </p:spPr>
        </p:cxnSp>
        <p:sp>
          <p:nvSpPr>
            <p:cNvPr id="55" name="TextBox 54">
              <a:extLst>
                <a:ext uri="{FF2B5EF4-FFF2-40B4-BE49-F238E27FC236}">
                  <a16:creationId xmlns:a16="http://schemas.microsoft.com/office/drawing/2014/main" xmlns="" id="{8D6B5939-95A0-D64B-913C-80EFD529819C}"/>
                </a:ext>
              </a:extLst>
            </p:cNvPr>
            <p:cNvSpPr txBox="1"/>
            <p:nvPr/>
          </p:nvSpPr>
          <p:spPr>
            <a:xfrm>
              <a:off x="8282380" y="4579960"/>
              <a:ext cx="463588" cy="553998"/>
            </a:xfrm>
            <a:prstGeom prst="rect">
              <a:avLst/>
            </a:prstGeom>
            <a:noFill/>
          </p:spPr>
          <p:txBody>
            <a:bodyPr wrap="none" rtlCol="0">
              <a:spAutoFit/>
            </a:bodyPr>
            <a:lstStyle/>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before</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after</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equal</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vague</a:t>
              </a:r>
            </a:p>
          </p:txBody>
        </p:sp>
        <p:cxnSp>
          <p:nvCxnSpPr>
            <p:cNvPr id="56" name="Straight Arrow Connector 55">
              <a:extLst>
                <a:ext uri="{FF2B5EF4-FFF2-40B4-BE49-F238E27FC236}">
                  <a16:creationId xmlns:a16="http://schemas.microsoft.com/office/drawing/2014/main" xmlns="" id="{6A52DD67-121C-EE40-ADA3-E8A5B50BDF99}"/>
                </a:ext>
              </a:extLst>
            </p:cNvPr>
            <p:cNvCxnSpPr>
              <a:endCxn id="44" idx="3"/>
            </p:cNvCxnSpPr>
            <p:nvPr/>
          </p:nvCxnSpPr>
          <p:spPr>
            <a:xfrm>
              <a:off x="7374065" y="4132189"/>
              <a:ext cx="395635" cy="622121"/>
            </a:xfrm>
            <a:prstGeom prst="straightConnector1">
              <a:avLst/>
            </a:prstGeom>
            <a:noFill/>
            <a:ln w="6350" cap="flat" cmpd="sng" algn="ctr">
              <a:solidFill>
                <a:sysClr val="windowText" lastClr="000000"/>
              </a:solidFill>
              <a:prstDash val="solid"/>
              <a:miter lim="800000"/>
              <a:tailEnd type="triangle"/>
            </a:ln>
            <a:effectLst/>
          </p:spPr>
        </p:cxnSp>
        <p:cxnSp>
          <p:nvCxnSpPr>
            <p:cNvPr id="57" name="Straight Arrow Connector 56">
              <a:extLst>
                <a:ext uri="{FF2B5EF4-FFF2-40B4-BE49-F238E27FC236}">
                  <a16:creationId xmlns:a16="http://schemas.microsoft.com/office/drawing/2014/main" xmlns="" id="{DE8AD148-0BF7-B44B-852A-2D59D153519F}"/>
                </a:ext>
              </a:extLst>
            </p:cNvPr>
            <p:cNvCxnSpPr/>
            <p:nvPr/>
          </p:nvCxnSpPr>
          <p:spPr>
            <a:xfrm flipV="1">
              <a:off x="7372025" y="4831688"/>
              <a:ext cx="395635" cy="622121"/>
            </a:xfrm>
            <a:prstGeom prst="straightConnector1">
              <a:avLst/>
            </a:prstGeom>
            <a:noFill/>
            <a:ln w="6350" cap="flat" cmpd="sng" algn="ctr">
              <a:solidFill>
                <a:sysClr val="windowText" lastClr="000000"/>
              </a:solidFill>
              <a:prstDash val="solid"/>
              <a:miter lim="800000"/>
              <a:tailEnd type="triangle"/>
            </a:ln>
            <a:effectLst/>
          </p:spPr>
        </p:cxnSp>
        <p:sp>
          <p:nvSpPr>
            <p:cNvPr id="58" name="TextBox 57">
              <a:extLst>
                <a:ext uri="{FF2B5EF4-FFF2-40B4-BE49-F238E27FC236}">
                  <a16:creationId xmlns:a16="http://schemas.microsoft.com/office/drawing/2014/main" xmlns="" id="{33AD5490-6C98-0C42-9E21-D2A1C1BD134A}"/>
                </a:ext>
              </a:extLst>
            </p:cNvPr>
            <p:cNvSpPr txBox="1"/>
            <p:nvPr/>
          </p:nvSpPr>
          <p:spPr>
            <a:xfrm>
              <a:off x="7957296" y="4386573"/>
              <a:ext cx="639934"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output</a:t>
              </a:r>
            </a:p>
          </p:txBody>
        </p:sp>
        <p:sp>
          <p:nvSpPr>
            <p:cNvPr id="59" name="TextBox 58">
              <a:extLst>
                <a:ext uri="{FF2B5EF4-FFF2-40B4-BE49-F238E27FC236}">
                  <a16:creationId xmlns:a16="http://schemas.microsoft.com/office/drawing/2014/main" xmlns="" id="{AE8FF3FD-FF60-2F40-9709-0642924CEB23}"/>
                </a:ext>
              </a:extLst>
            </p:cNvPr>
            <p:cNvSpPr txBox="1"/>
            <p:nvPr/>
          </p:nvSpPr>
          <p:spPr>
            <a:xfrm>
              <a:off x="7607290" y="5024021"/>
              <a:ext cx="407098"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64</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sp>
        <p:nvSpPr>
          <p:cNvPr id="60" name="TextBox 59">
            <a:extLst>
              <a:ext uri="{FF2B5EF4-FFF2-40B4-BE49-F238E27FC236}">
                <a16:creationId xmlns:a16="http://schemas.microsoft.com/office/drawing/2014/main" xmlns="" id="{F740E140-21E5-C944-B719-A7A1EB5860BE}"/>
              </a:ext>
            </a:extLst>
          </p:cNvPr>
          <p:cNvSpPr txBox="1"/>
          <p:nvPr/>
        </p:nvSpPr>
        <p:spPr>
          <a:xfrm>
            <a:off x="6085303" y="5585612"/>
            <a:ext cx="237784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050" kern="0" dirty="0">
                <a:solidFill>
                  <a:prstClr val="black"/>
                </a:solidFill>
                <a:latin typeface="Courier" charset="0"/>
                <a:ea typeface="Courier" charset="0"/>
                <a:cs typeface="Courier" charset="0"/>
              </a:rPr>
              <a:t>Output confidence scores</a:t>
            </a:r>
          </a:p>
        </p:txBody>
      </p:sp>
      <p:sp>
        <p:nvSpPr>
          <p:cNvPr id="66" name="Rectangle 65">
            <a:extLst>
              <a:ext uri="{FF2B5EF4-FFF2-40B4-BE49-F238E27FC236}">
                <a16:creationId xmlns:a16="http://schemas.microsoft.com/office/drawing/2014/main" xmlns="" id="{7540B02E-F3CA-7A41-B9F1-90F0B20C34E8}"/>
              </a:ext>
            </a:extLst>
          </p:cNvPr>
          <p:cNvSpPr>
            <a:spLocks noChangeAspect="1"/>
          </p:cNvSpPr>
          <p:nvPr/>
        </p:nvSpPr>
        <p:spPr>
          <a:xfrm flipH="1">
            <a:off x="7289835" y="2857499"/>
            <a:ext cx="203894" cy="81144"/>
          </a:xfrm>
          <a:prstGeom prst="rect">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xmlns="" id="{E1A2BF7F-5EF1-A841-BBFD-CD34B062BD4F}"/>
              </a:ext>
            </a:extLst>
          </p:cNvPr>
          <p:cNvSpPr/>
          <p:nvPr/>
        </p:nvSpPr>
        <p:spPr>
          <a:xfrm>
            <a:off x="6085302" y="1473960"/>
            <a:ext cx="2597303" cy="1486783"/>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xmlns="" id="{D33EED2F-F4EA-A64D-BD20-7ACF261822AE}"/>
              </a:ext>
            </a:extLst>
          </p:cNvPr>
          <p:cNvGrpSpPr/>
          <p:nvPr/>
        </p:nvGrpSpPr>
        <p:grpSpPr>
          <a:xfrm>
            <a:off x="6052335" y="1528708"/>
            <a:ext cx="2630270" cy="1321671"/>
            <a:chOff x="6052335" y="1528708"/>
            <a:chExt cx="2630270" cy="1321671"/>
          </a:xfrm>
        </p:grpSpPr>
        <p:sp>
          <p:nvSpPr>
            <p:cNvPr id="62" name="Rectangle 61">
              <a:extLst>
                <a:ext uri="{FF2B5EF4-FFF2-40B4-BE49-F238E27FC236}">
                  <a16:creationId xmlns:a16="http://schemas.microsoft.com/office/drawing/2014/main" xmlns="" id="{1A09AF94-106D-3645-9CD9-E3AA368D1FF5}"/>
                </a:ext>
              </a:extLst>
            </p:cNvPr>
            <p:cNvSpPr/>
            <p:nvPr/>
          </p:nvSpPr>
          <p:spPr>
            <a:xfrm flipH="1">
              <a:off x="6461826" y="2080485"/>
              <a:ext cx="819604" cy="94493"/>
            </a:xfrm>
            <a:prstGeom prst="rect">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3" name="Rectangle 62">
              <a:extLst>
                <a:ext uri="{FF2B5EF4-FFF2-40B4-BE49-F238E27FC236}">
                  <a16:creationId xmlns:a16="http://schemas.microsoft.com/office/drawing/2014/main" xmlns="" id="{C6AD86B0-8EAF-C44C-8627-D218DCE32B1D}"/>
                </a:ext>
              </a:extLst>
            </p:cNvPr>
            <p:cNvSpPr/>
            <p:nvPr/>
          </p:nvSpPr>
          <p:spPr>
            <a:xfrm flipH="1">
              <a:off x="7528953" y="2080485"/>
              <a:ext cx="819604" cy="94493"/>
            </a:xfrm>
            <a:prstGeom prst="rect">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4" name="Rectangle 63">
              <a:extLst>
                <a:ext uri="{FF2B5EF4-FFF2-40B4-BE49-F238E27FC236}">
                  <a16:creationId xmlns:a16="http://schemas.microsoft.com/office/drawing/2014/main" xmlns="" id="{292AE01C-82B8-0040-BD13-A4F2CFDFB70F}"/>
                </a:ext>
              </a:extLst>
            </p:cNvPr>
            <p:cNvSpPr/>
            <p:nvPr/>
          </p:nvSpPr>
          <p:spPr>
            <a:xfrm flipH="1">
              <a:off x="6787849" y="2384271"/>
              <a:ext cx="1248377" cy="94493"/>
            </a:xfrm>
            <a:prstGeom prst="rect">
              <a:avLst/>
            </a:prstGeom>
            <a:solidFill>
              <a:srgbClr val="E7E6E6">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5" name="Rectangle 64">
              <a:extLst>
                <a:ext uri="{FF2B5EF4-FFF2-40B4-BE49-F238E27FC236}">
                  <a16:creationId xmlns:a16="http://schemas.microsoft.com/office/drawing/2014/main" xmlns="" id="{C887EF61-D8E1-3740-9DBE-D1D1727FBC9E}"/>
                </a:ext>
              </a:extLst>
            </p:cNvPr>
            <p:cNvSpPr/>
            <p:nvPr/>
          </p:nvSpPr>
          <p:spPr>
            <a:xfrm flipH="1">
              <a:off x="7099943" y="2621167"/>
              <a:ext cx="624188" cy="94493"/>
            </a:xfrm>
            <a:prstGeom prst="rect">
              <a:avLst/>
            </a:prstGeom>
            <a:solidFill>
              <a:srgbClr val="E7E6E6">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7" name="TextBox 66">
              <a:extLst>
                <a:ext uri="{FF2B5EF4-FFF2-40B4-BE49-F238E27FC236}">
                  <a16:creationId xmlns:a16="http://schemas.microsoft.com/office/drawing/2014/main" xmlns="" id="{2B65061E-9681-254B-9BCB-98DFD97B0802}"/>
                </a:ext>
              </a:extLst>
            </p:cNvPr>
            <p:cNvSpPr txBox="1"/>
            <p:nvPr/>
          </p:nvSpPr>
          <p:spPr>
            <a:xfrm>
              <a:off x="6303851" y="1874975"/>
              <a:ext cx="1120773"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v</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p>
          </p:txBody>
        </p:sp>
        <p:sp>
          <p:nvSpPr>
            <p:cNvPr id="68" name="TextBox 67">
              <a:extLst>
                <a:ext uri="{FF2B5EF4-FFF2-40B4-BE49-F238E27FC236}">
                  <a16:creationId xmlns:a16="http://schemas.microsoft.com/office/drawing/2014/main" xmlns="" id="{AC79644C-43D0-784C-81C5-4CBE84AE6DE9}"/>
                </a:ext>
              </a:extLst>
            </p:cNvPr>
            <p:cNvSpPr txBox="1"/>
            <p:nvPr/>
          </p:nvSpPr>
          <p:spPr>
            <a:xfrm>
              <a:off x="7369699" y="1874975"/>
              <a:ext cx="1120773"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v</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cxnSp>
          <p:nvCxnSpPr>
            <p:cNvPr id="69" name="Straight Arrow Connector 68">
              <a:extLst>
                <a:ext uri="{FF2B5EF4-FFF2-40B4-BE49-F238E27FC236}">
                  <a16:creationId xmlns:a16="http://schemas.microsoft.com/office/drawing/2014/main" xmlns="" id="{8992F45C-566E-844D-9E2F-0B5A79E77E60}"/>
                </a:ext>
              </a:extLst>
            </p:cNvPr>
            <p:cNvCxnSpPr/>
            <p:nvPr/>
          </p:nvCxnSpPr>
          <p:spPr>
            <a:xfrm flipH="1">
              <a:off x="7392711" y="2182098"/>
              <a:ext cx="290644" cy="202179"/>
            </a:xfrm>
            <a:prstGeom prst="straightConnector1">
              <a:avLst/>
            </a:prstGeom>
            <a:noFill/>
            <a:ln w="6350" cap="flat" cmpd="sng" algn="ctr">
              <a:solidFill>
                <a:sysClr val="windowText" lastClr="000000"/>
              </a:solidFill>
              <a:prstDash val="solid"/>
              <a:miter lim="800000"/>
              <a:tailEnd type="triangle"/>
            </a:ln>
            <a:effectLst/>
          </p:spPr>
        </p:cxnSp>
        <p:cxnSp>
          <p:nvCxnSpPr>
            <p:cNvPr id="70" name="Straight Arrow Connector 69">
              <a:extLst>
                <a:ext uri="{FF2B5EF4-FFF2-40B4-BE49-F238E27FC236}">
                  <a16:creationId xmlns:a16="http://schemas.microsoft.com/office/drawing/2014/main" xmlns="" id="{D1931E52-799B-F847-BF13-D0D97F1C9C31}"/>
                </a:ext>
              </a:extLst>
            </p:cNvPr>
            <p:cNvCxnSpPr>
              <a:stCxn id="63" idx="2"/>
            </p:cNvCxnSpPr>
            <p:nvPr/>
          </p:nvCxnSpPr>
          <p:spPr>
            <a:xfrm flipH="1">
              <a:off x="7392711" y="2174978"/>
              <a:ext cx="546044" cy="209299"/>
            </a:xfrm>
            <a:prstGeom prst="straightConnector1">
              <a:avLst/>
            </a:prstGeom>
            <a:noFill/>
            <a:ln w="6350" cap="flat" cmpd="sng" algn="ctr">
              <a:solidFill>
                <a:sysClr val="windowText" lastClr="000000"/>
              </a:solidFill>
              <a:prstDash val="solid"/>
              <a:miter lim="800000"/>
              <a:tailEnd type="triangle"/>
            </a:ln>
            <a:effectLst/>
          </p:spPr>
        </p:cxnSp>
        <p:grpSp>
          <p:nvGrpSpPr>
            <p:cNvPr id="71" name="Group 70">
              <a:extLst>
                <a:ext uri="{FF2B5EF4-FFF2-40B4-BE49-F238E27FC236}">
                  <a16:creationId xmlns:a16="http://schemas.microsoft.com/office/drawing/2014/main" xmlns="" id="{A7C3D8DD-6021-5F44-B776-C5566A1AC939}"/>
                </a:ext>
              </a:extLst>
            </p:cNvPr>
            <p:cNvGrpSpPr/>
            <p:nvPr/>
          </p:nvGrpSpPr>
          <p:grpSpPr>
            <a:xfrm rot="5400000" flipV="1">
              <a:off x="7027519" y="2019084"/>
              <a:ext cx="209302" cy="521085"/>
              <a:chOff x="4885023" y="1789674"/>
              <a:chExt cx="803023" cy="763359"/>
            </a:xfrm>
          </p:grpSpPr>
          <p:cxnSp>
            <p:nvCxnSpPr>
              <p:cNvPr id="91" name="Straight Arrow Connector 90">
                <a:extLst>
                  <a:ext uri="{FF2B5EF4-FFF2-40B4-BE49-F238E27FC236}">
                    <a16:creationId xmlns:a16="http://schemas.microsoft.com/office/drawing/2014/main" xmlns="" id="{253FDEF4-3636-8443-A5FC-1868FD26D728}"/>
                  </a:ext>
                </a:extLst>
              </p:cNvPr>
              <p:cNvCxnSpPr/>
              <p:nvPr/>
            </p:nvCxnSpPr>
            <p:spPr>
              <a:xfrm rot="5400000" flipV="1">
                <a:off x="5073605" y="1938591"/>
                <a:ext cx="435490" cy="793393"/>
              </a:xfrm>
              <a:prstGeom prst="straightConnector1">
                <a:avLst/>
              </a:prstGeom>
              <a:noFill/>
              <a:ln w="6350" cap="flat" cmpd="sng" algn="ctr">
                <a:solidFill>
                  <a:sysClr val="windowText" lastClr="000000"/>
                </a:solidFill>
                <a:prstDash val="solid"/>
                <a:miter lim="800000"/>
                <a:tailEnd type="triangle"/>
              </a:ln>
              <a:effectLst/>
            </p:spPr>
          </p:cxnSp>
          <p:cxnSp>
            <p:nvCxnSpPr>
              <p:cNvPr id="92" name="Straight Arrow Connector 91">
                <a:extLst>
                  <a:ext uri="{FF2B5EF4-FFF2-40B4-BE49-F238E27FC236}">
                    <a16:creationId xmlns:a16="http://schemas.microsoft.com/office/drawing/2014/main" xmlns="" id="{AE28A4C5-9018-4D48-9F13-89E1C597D870}"/>
                  </a:ext>
                </a:extLst>
              </p:cNvPr>
              <p:cNvCxnSpPr>
                <a:stCxn id="62" idx="2"/>
              </p:cNvCxnSpPr>
              <p:nvPr/>
            </p:nvCxnSpPr>
            <p:spPr>
              <a:xfrm rot="5400000" flipV="1">
                <a:off x="4904855" y="1769842"/>
                <a:ext cx="763357" cy="803021"/>
              </a:xfrm>
              <a:prstGeom prst="straightConnector1">
                <a:avLst/>
              </a:prstGeom>
              <a:noFill/>
              <a:ln w="6350" cap="flat" cmpd="sng" algn="ctr">
                <a:solidFill>
                  <a:sysClr val="windowText" lastClr="000000"/>
                </a:solidFill>
                <a:prstDash val="solid"/>
                <a:miter lim="800000"/>
                <a:tailEnd type="triangle"/>
              </a:ln>
              <a:effectLst/>
            </p:spPr>
          </p:cxnSp>
        </p:grpSp>
        <p:cxnSp>
          <p:nvCxnSpPr>
            <p:cNvPr id="72" name="Straight Arrow Connector 71">
              <a:extLst>
                <a:ext uri="{FF2B5EF4-FFF2-40B4-BE49-F238E27FC236}">
                  <a16:creationId xmlns:a16="http://schemas.microsoft.com/office/drawing/2014/main" xmlns="" id="{E38EE8DD-9DC6-054E-B51B-7B144FAC75BC}"/>
                </a:ext>
              </a:extLst>
            </p:cNvPr>
            <p:cNvCxnSpPr/>
            <p:nvPr/>
          </p:nvCxnSpPr>
          <p:spPr>
            <a:xfrm rot="5400000">
              <a:off x="7309774" y="2554749"/>
              <a:ext cx="151970" cy="0"/>
            </a:xfrm>
            <a:prstGeom prst="straightConnector1">
              <a:avLst/>
            </a:prstGeom>
            <a:noFill/>
            <a:ln w="6350" cap="flat" cmpd="sng" algn="ctr">
              <a:solidFill>
                <a:sysClr val="windowText" lastClr="000000"/>
              </a:solidFill>
              <a:prstDash val="solid"/>
              <a:miter lim="800000"/>
              <a:tailEnd type="triangle"/>
            </a:ln>
            <a:effectLst/>
          </p:spPr>
        </p:cxnSp>
        <p:cxnSp>
          <p:nvCxnSpPr>
            <p:cNvPr id="73" name="Straight Arrow Connector 72">
              <a:extLst>
                <a:ext uri="{FF2B5EF4-FFF2-40B4-BE49-F238E27FC236}">
                  <a16:creationId xmlns:a16="http://schemas.microsoft.com/office/drawing/2014/main" xmlns="" id="{1CA23853-3FA5-AE4D-9FAC-9D46059F5686}"/>
                </a:ext>
              </a:extLst>
            </p:cNvPr>
            <p:cNvCxnSpPr/>
            <p:nvPr/>
          </p:nvCxnSpPr>
          <p:spPr>
            <a:xfrm rot="5400000">
              <a:off x="7419007" y="2445516"/>
              <a:ext cx="15197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74" name="Straight Arrow Connector 73">
              <a:extLst>
                <a:ext uri="{FF2B5EF4-FFF2-40B4-BE49-F238E27FC236}">
                  <a16:creationId xmlns:a16="http://schemas.microsoft.com/office/drawing/2014/main" xmlns="" id="{750BB14E-018A-9E44-8FE6-5394B72F7038}"/>
                </a:ext>
              </a:extLst>
            </p:cNvPr>
            <p:cNvCxnSpPr/>
            <p:nvPr/>
          </p:nvCxnSpPr>
          <p:spPr>
            <a:xfrm rot="5400000">
              <a:off x="7502386" y="2362136"/>
              <a:ext cx="151970" cy="385225"/>
            </a:xfrm>
            <a:prstGeom prst="straightConnector1">
              <a:avLst/>
            </a:prstGeom>
            <a:noFill/>
            <a:ln w="6350" cap="flat" cmpd="sng" algn="ctr">
              <a:solidFill>
                <a:sysClr val="windowText" lastClr="000000"/>
              </a:solidFill>
              <a:prstDash val="solid"/>
              <a:miter lim="800000"/>
              <a:tailEnd type="triangle"/>
            </a:ln>
            <a:effectLst/>
          </p:spPr>
        </p:cxnSp>
        <p:grpSp>
          <p:nvGrpSpPr>
            <p:cNvPr id="75" name="Group 74">
              <a:extLst>
                <a:ext uri="{FF2B5EF4-FFF2-40B4-BE49-F238E27FC236}">
                  <a16:creationId xmlns:a16="http://schemas.microsoft.com/office/drawing/2014/main" xmlns="" id="{A76988D8-AD9D-A847-99C0-A44F52D7B0AB}"/>
                </a:ext>
              </a:extLst>
            </p:cNvPr>
            <p:cNvGrpSpPr/>
            <p:nvPr/>
          </p:nvGrpSpPr>
          <p:grpSpPr>
            <a:xfrm rot="5400000" flipV="1">
              <a:off x="7117162" y="2362136"/>
              <a:ext cx="151970" cy="385225"/>
              <a:chOff x="5104983" y="1988699"/>
              <a:chExt cx="583063" cy="564332"/>
            </a:xfrm>
          </p:grpSpPr>
          <p:cxnSp>
            <p:nvCxnSpPr>
              <p:cNvPr id="89" name="Straight Arrow Connector 88">
                <a:extLst>
                  <a:ext uri="{FF2B5EF4-FFF2-40B4-BE49-F238E27FC236}">
                    <a16:creationId xmlns:a16="http://schemas.microsoft.com/office/drawing/2014/main" xmlns="" id="{1B7F84BD-39B2-F441-8D4C-6FEECE6DE29D}"/>
                  </a:ext>
                </a:extLst>
              </p:cNvPr>
              <p:cNvCxnSpPr/>
              <p:nvPr/>
            </p:nvCxnSpPr>
            <p:spPr>
              <a:xfrm>
                <a:off x="5104983" y="2232991"/>
                <a:ext cx="583063" cy="320040"/>
              </a:xfrm>
              <a:prstGeom prst="straightConnector1">
                <a:avLst/>
              </a:prstGeom>
              <a:noFill/>
              <a:ln w="6350" cap="flat" cmpd="sng" algn="ctr">
                <a:solidFill>
                  <a:sysClr val="windowText" lastClr="000000"/>
                </a:solidFill>
                <a:prstDash val="solid"/>
                <a:miter lim="800000"/>
                <a:tailEnd type="triangle"/>
              </a:ln>
              <a:effectLst/>
            </p:spPr>
          </p:cxnSp>
          <p:cxnSp>
            <p:nvCxnSpPr>
              <p:cNvPr id="90" name="Straight Arrow Connector 89">
                <a:extLst>
                  <a:ext uri="{FF2B5EF4-FFF2-40B4-BE49-F238E27FC236}">
                    <a16:creationId xmlns:a16="http://schemas.microsoft.com/office/drawing/2014/main" xmlns="" id="{8E5E5DB8-E4C8-1F4D-B23A-B67BC3A0F43B}"/>
                  </a:ext>
                </a:extLst>
              </p:cNvPr>
              <p:cNvCxnSpPr/>
              <p:nvPr/>
            </p:nvCxnSpPr>
            <p:spPr>
              <a:xfrm>
                <a:off x="5104983" y="1988699"/>
                <a:ext cx="583063" cy="564332"/>
              </a:xfrm>
              <a:prstGeom prst="straightConnector1">
                <a:avLst/>
              </a:prstGeom>
              <a:noFill/>
              <a:ln w="6350" cap="flat" cmpd="sng" algn="ctr">
                <a:solidFill>
                  <a:sysClr val="windowText" lastClr="000000"/>
                </a:solidFill>
                <a:prstDash val="solid"/>
                <a:miter lim="800000"/>
                <a:tailEnd type="triangle"/>
              </a:ln>
              <a:effectLst/>
            </p:spPr>
          </p:cxnSp>
        </p:grpSp>
        <p:cxnSp>
          <p:nvCxnSpPr>
            <p:cNvPr id="76" name="Straight Arrow Connector 75">
              <a:extLst>
                <a:ext uri="{FF2B5EF4-FFF2-40B4-BE49-F238E27FC236}">
                  <a16:creationId xmlns:a16="http://schemas.microsoft.com/office/drawing/2014/main" xmlns="" id="{5DEF899B-626E-874D-BB5F-C612E83AFD69}"/>
                </a:ext>
              </a:extLst>
            </p:cNvPr>
            <p:cNvCxnSpPr/>
            <p:nvPr/>
          </p:nvCxnSpPr>
          <p:spPr>
            <a:xfrm rot="5400000">
              <a:off x="7309774" y="2774394"/>
              <a:ext cx="151970" cy="0"/>
            </a:xfrm>
            <a:prstGeom prst="straightConnector1">
              <a:avLst/>
            </a:prstGeom>
            <a:noFill/>
            <a:ln w="6350" cap="flat" cmpd="sng" algn="ctr">
              <a:solidFill>
                <a:sysClr val="windowText" lastClr="000000"/>
              </a:solidFill>
              <a:prstDash val="solid"/>
              <a:miter lim="800000"/>
              <a:tailEnd type="triangle"/>
            </a:ln>
            <a:effectLst/>
          </p:spPr>
        </p:cxnSp>
        <p:cxnSp>
          <p:nvCxnSpPr>
            <p:cNvPr id="77" name="Straight Arrow Connector 76">
              <a:extLst>
                <a:ext uri="{FF2B5EF4-FFF2-40B4-BE49-F238E27FC236}">
                  <a16:creationId xmlns:a16="http://schemas.microsoft.com/office/drawing/2014/main" xmlns="" id="{F5A8D19C-FC95-744F-A270-35563EB30860}"/>
                </a:ext>
              </a:extLst>
            </p:cNvPr>
            <p:cNvCxnSpPr/>
            <p:nvPr/>
          </p:nvCxnSpPr>
          <p:spPr>
            <a:xfrm rot="5400000">
              <a:off x="7419007" y="2665161"/>
              <a:ext cx="15197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78" name="Straight Arrow Connector 77">
              <a:extLst>
                <a:ext uri="{FF2B5EF4-FFF2-40B4-BE49-F238E27FC236}">
                  <a16:creationId xmlns:a16="http://schemas.microsoft.com/office/drawing/2014/main" xmlns="" id="{B92E2B80-5FBB-674D-83D0-E3EA266865AC}"/>
                </a:ext>
              </a:extLst>
            </p:cNvPr>
            <p:cNvCxnSpPr/>
            <p:nvPr/>
          </p:nvCxnSpPr>
          <p:spPr>
            <a:xfrm rot="5400000" flipV="1">
              <a:off x="7200541" y="2665161"/>
              <a:ext cx="15197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79" name="Straight Arrow Connector 78">
              <a:extLst>
                <a:ext uri="{FF2B5EF4-FFF2-40B4-BE49-F238E27FC236}">
                  <a16:creationId xmlns:a16="http://schemas.microsoft.com/office/drawing/2014/main" xmlns="" id="{4D31B2A3-9CD3-924A-843A-468472D79C23}"/>
                </a:ext>
              </a:extLst>
            </p:cNvPr>
            <p:cNvCxnSpPr/>
            <p:nvPr/>
          </p:nvCxnSpPr>
          <p:spPr>
            <a:xfrm flipH="1">
              <a:off x="7406586" y="2184856"/>
              <a:ext cx="780427" cy="196323"/>
            </a:xfrm>
            <a:prstGeom prst="straightConnector1">
              <a:avLst/>
            </a:prstGeom>
            <a:noFill/>
            <a:ln w="6350" cap="flat" cmpd="sng" algn="ctr">
              <a:solidFill>
                <a:sysClr val="windowText" lastClr="000000"/>
              </a:solidFill>
              <a:prstDash val="solid"/>
              <a:miter lim="800000"/>
              <a:tailEnd type="triangle"/>
            </a:ln>
            <a:effectLst/>
          </p:spPr>
        </p:cxnSp>
        <p:sp>
          <p:nvSpPr>
            <p:cNvPr id="80" name="TextBox 79">
              <a:extLst>
                <a:ext uri="{FF2B5EF4-FFF2-40B4-BE49-F238E27FC236}">
                  <a16:creationId xmlns:a16="http://schemas.microsoft.com/office/drawing/2014/main" xmlns="" id="{95CF6EF2-0C49-DF4C-8BE9-65A4876943F8}"/>
                </a:ext>
              </a:extLst>
            </p:cNvPr>
            <p:cNvSpPr txBox="1"/>
            <p:nvPr/>
          </p:nvSpPr>
          <p:spPr>
            <a:xfrm>
              <a:off x="6052335" y="1996059"/>
              <a:ext cx="417386"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500</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1" name="TextBox 80">
              <a:extLst>
                <a:ext uri="{FF2B5EF4-FFF2-40B4-BE49-F238E27FC236}">
                  <a16:creationId xmlns:a16="http://schemas.microsoft.com/office/drawing/2014/main" xmlns="" id="{E63D9937-0727-A84B-AF8A-8E321AF0CA6A}"/>
                </a:ext>
              </a:extLst>
            </p:cNvPr>
            <p:cNvSpPr txBox="1"/>
            <p:nvPr/>
          </p:nvSpPr>
          <p:spPr>
            <a:xfrm>
              <a:off x="6236397" y="2323492"/>
              <a:ext cx="79443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150</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2" name="TextBox 81">
              <a:extLst>
                <a:ext uri="{FF2B5EF4-FFF2-40B4-BE49-F238E27FC236}">
                  <a16:creationId xmlns:a16="http://schemas.microsoft.com/office/drawing/2014/main" xmlns="" id="{87B045AE-4DDB-3148-8C46-360466075ADF}"/>
                </a:ext>
              </a:extLst>
            </p:cNvPr>
            <p:cNvSpPr txBox="1"/>
            <p:nvPr/>
          </p:nvSpPr>
          <p:spPr>
            <a:xfrm>
              <a:off x="8265838" y="1994270"/>
              <a:ext cx="416767"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500</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3" name="TextBox 82">
              <a:extLst>
                <a:ext uri="{FF2B5EF4-FFF2-40B4-BE49-F238E27FC236}">
                  <a16:creationId xmlns:a16="http://schemas.microsoft.com/office/drawing/2014/main" xmlns="" id="{E51141DA-68BD-CC41-88C3-E8337AB63830}"/>
                </a:ext>
              </a:extLst>
            </p:cNvPr>
            <p:cNvSpPr txBox="1"/>
            <p:nvPr/>
          </p:nvSpPr>
          <p:spPr>
            <a:xfrm>
              <a:off x="6535802" y="2562365"/>
              <a:ext cx="79443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45</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4" name="TextBox 83">
              <a:extLst>
                <a:ext uri="{FF2B5EF4-FFF2-40B4-BE49-F238E27FC236}">
                  <a16:creationId xmlns:a16="http://schemas.microsoft.com/office/drawing/2014/main" xmlns="" id="{C9EFB4BC-8C4E-A24E-835E-F6516B2468E9}"/>
                </a:ext>
              </a:extLst>
            </p:cNvPr>
            <p:cNvSpPr txBox="1"/>
            <p:nvPr/>
          </p:nvSpPr>
          <p:spPr>
            <a:xfrm>
              <a:off x="6447163" y="1528708"/>
              <a:ext cx="1954921" cy="43088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Siamese network trained on </a:t>
              </a:r>
              <a:r>
                <a:rPr kumimoji="0" lang="en-US" sz="1050" b="0" i="0" u="none" strike="noStrike" kern="0" cap="none" spc="0" normalizeH="0" baseline="0" noProof="0" dirty="0" err="1">
                  <a:ln>
                    <a:noFill/>
                  </a:ln>
                  <a:solidFill>
                    <a:prstClr val="black"/>
                  </a:solidFill>
                  <a:effectLst/>
                  <a:uLnTx/>
                  <a:uFillTx/>
                  <a:latin typeface="Courier" charset="0"/>
                  <a:ea typeface="Courier" charset="0"/>
                  <a:cs typeface="Courier" charset="0"/>
                </a:rPr>
                <a:t>TemProb</a:t>
              </a:r>
              <a:endPar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86" name="TextBox 85">
              <a:extLst>
                <a:ext uri="{FF2B5EF4-FFF2-40B4-BE49-F238E27FC236}">
                  <a16:creationId xmlns:a16="http://schemas.microsoft.com/office/drawing/2014/main" xmlns="" id="{D384117C-7C05-E84C-990C-039044BE48DB}"/>
                </a:ext>
              </a:extLst>
            </p:cNvPr>
            <p:cNvSpPr txBox="1"/>
            <p:nvPr/>
          </p:nvSpPr>
          <p:spPr>
            <a:xfrm>
              <a:off x="7694098" y="2210184"/>
              <a:ext cx="942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dropout 0.3</a:t>
              </a:r>
            </a:p>
          </p:txBody>
        </p:sp>
        <p:sp>
          <p:nvSpPr>
            <p:cNvPr id="87" name="TextBox 86">
              <a:extLst>
                <a:ext uri="{FF2B5EF4-FFF2-40B4-BE49-F238E27FC236}">
                  <a16:creationId xmlns:a16="http://schemas.microsoft.com/office/drawing/2014/main" xmlns="" id="{ADE0FB66-27C1-1941-B7A5-821FE19BB2C4}"/>
                </a:ext>
              </a:extLst>
            </p:cNvPr>
            <p:cNvSpPr txBox="1"/>
            <p:nvPr/>
          </p:nvSpPr>
          <p:spPr>
            <a:xfrm>
              <a:off x="7582284" y="2454827"/>
              <a:ext cx="942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dropout 0.3</a:t>
              </a:r>
            </a:p>
          </p:txBody>
        </p:sp>
        <p:cxnSp>
          <p:nvCxnSpPr>
            <p:cNvPr id="88" name="Straight Arrow Connector 87">
              <a:extLst>
                <a:ext uri="{FF2B5EF4-FFF2-40B4-BE49-F238E27FC236}">
                  <a16:creationId xmlns:a16="http://schemas.microsoft.com/office/drawing/2014/main" xmlns="" id="{6D7772DF-2D47-2944-826A-669549E2F806}"/>
                </a:ext>
              </a:extLst>
            </p:cNvPr>
            <p:cNvCxnSpPr/>
            <p:nvPr/>
          </p:nvCxnSpPr>
          <p:spPr>
            <a:xfrm>
              <a:off x="6539013" y="2173346"/>
              <a:ext cx="835052" cy="210064"/>
            </a:xfrm>
            <a:prstGeom prst="straightConnector1">
              <a:avLst/>
            </a:prstGeom>
            <a:noFill/>
            <a:ln w="6350" cap="flat" cmpd="sng" algn="ctr">
              <a:solidFill>
                <a:sysClr val="windowText" lastClr="000000"/>
              </a:solidFill>
              <a:prstDash val="solid"/>
              <a:miter lim="800000"/>
              <a:tailEnd type="triangle"/>
            </a:ln>
            <a:effectLst/>
          </p:spPr>
        </p:cxnSp>
      </p:grpSp>
      <p:sp>
        <p:nvSpPr>
          <p:cNvPr id="97" name="TextBox 96">
            <a:extLst>
              <a:ext uri="{FF2B5EF4-FFF2-40B4-BE49-F238E27FC236}">
                <a16:creationId xmlns:a16="http://schemas.microsoft.com/office/drawing/2014/main" xmlns="" id="{4D4C5454-AA8D-2345-9F7C-7EAC764BABD7}"/>
              </a:ext>
            </a:extLst>
          </p:cNvPr>
          <p:cNvSpPr txBox="1"/>
          <p:nvPr/>
        </p:nvSpPr>
        <p:spPr>
          <a:xfrm>
            <a:off x="508497" y="4756068"/>
            <a:ext cx="112077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word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embeddings</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98" name="TextBox 97">
            <a:extLst>
              <a:ext uri="{FF2B5EF4-FFF2-40B4-BE49-F238E27FC236}">
                <a16:creationId xmlns:a16="http://schemas.microsoft.com/office/drawing/2014/main" xmlns="" id="{6DD65844-F3A1-7F41-858B-5DD543918C2E}"/>
              </a:ext>
            </a:extLst>
          </p:cNvPr>
          <p:cNvSpPr txBox="1"/>
          <p:nvPr/>
        </p:nvSpPr>
        <p:spPr>
          <a:xfrm>
            <a:off x="266700" y="1338702"/>
            <a:ext cx="5412377" cy="1938992"/>
          </a:xfrm>
          <a:prstGeom prst="rect">
            <a:avLst/>
          </a:prstGeom>
          <a:noFill/>
        </p:spPr>
        <p:txBody>
          <a:bodyPr wrap="square" rtlCol="0">
            <a:spAutoFit/>
          </a:bodyPr>
          <a:lstStyle/>
          <a:p>
            <a:pPr marL="342900" indent="-342900">
              <a:buSzPct val="65000"/>
              <a:buFont typeface="Wingdings" pitchFamily="2" charset="2"/>
              <a:buChar char="q"/>
            </a:pPr>
            <a:r>
              <a:rPr lang="en-US" sz="2000" dirty="0">
                <a:solidFill>
                  <a:schemeClr val="bg2"/>
                </a:solidFill>
                <a:latin typeface="Century Gothic" panose="020B0502020202020204" pitchFamily="34" charset="0"/>
              </a:rPr>
              <a:t>LSTM takes word embeddings as input</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Hidden vectors represent events</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FFNN predicts the labels of temporal relations (followed by ILP inference)</a:t>
            </a:r>
          </a:p>
          <a:p>
            <a:pPr marL="342900" indent="-342900">
              <a:buSzPct val="65000"/>
              <a:buFont typeface="Wingdings" pitchFamily="2" charset="2"/>
              <a:buChar char="q"/>
            </a:pPr>
            <a:r>
              <a:rPr lang="en-US" sz="2000" b="1" dirty="0">
                <a:solidFill>
                  <a:schemeClr val="bg2"/>
                </a:solidFill>
                <a:latin typeface="Century Gothic" panose="020B0502020202020204" pitchFamily="34" charset="0"/>
              </a:rPr>
              <a:t>Siamese network is a generalized </a:t>
            </a:r>
            <a:r>
              <a:rPr lang="en-US" sz="2000" b="1" dirty="0" err="1">
                <a:solidFill>
                  <a:schemeClr val="bg2"/>
                </a:solidFill>
                <a:latin typeface="Century Gothic" panose="020B0502020202020204" pitchFamily="34" charset="0"/>
              </a:rPr>
              <a:t>TemProb</a:t>
            </a:r>
            <a:endParaRPr lang="en-US" sz="2000" b="1" dirty="0">
              <a:solidFill>
                <a:schemeClr val="bg2"/>
              </a:solidFill>
              <a:latin typeface="Century Gothic" panose="020B0502020202020204" pitchFamily="34" charset="0"/>
            </a:endParaRPr>
          </a:p>
        </p:txBody>
      </p:sp>
      <p:sp>
        <p:nvSpPr>
          <p:cNvPr id="93" name="TextBox 92">
            <a:extLst>
              <a:ext uri="{FF2B5EF4-FFF2-40B4-BE49-F238E27FC236}">
                <a16:creationId xmlns:a16="http://schemas.microsoft.com/office/drawing/2014/main" xmlns="" id="{7A918F35-1946-1E41-BC79-7251CE85C63E}"/>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Tree>
    <p:extLst>
      <p:ext uri="{BB962C8B-B14F-4D97-AF65-F5344CB8AC3E}">
        <p14:creationId xmlns:p14="http://schemas.microsoft.com/office/powerpoint/2010/main" val="76541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angle 146">
            <a:extLst>
              <a:ext uri="{FF2B5EF4-FFF2-40B4-BE49-F238E27FC236}">
                <a16:creationId xmlns:a16="http://schemas.microsoft.com/office/drawing/2014/main" xmlns="" id="{7DC20B6A-F75D-1148-8BC0-C100E4FA2229}"/>
              </a:ext>
            </a:extLst>
          </p:cNvPr>
          <p:cNvSpPr/>
          <p:nvPr/>
        </p:nvSpPr>
        <p:spPr>
          <a:xfrm>
            <a:off x="266700" y="3750327"/>
            <a:ext cx="4722256" cy="2087398"/>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9" name="Rectangle 148">
            <a:extLst>
              <a:ext uri="{FF2B5EF4-FFF2-40B4-BE49-F238E27FC236}">
                <a16:creationId xmlns:a16="http://schemas.microsoft.com/office/drawing/2014/main" xmlns="" id="{8B1E2EAE-5545-5640-8516-928AFDAE73FD}"/>
              </a:ext>
            </a:extLst>
          </p:cNvPr>
          <p:cNvSpPr/>
          <p:nvPr/>
        </p:nvSpPr>
        <p:spPr>
          <a:xfrm>
            <a:off x="6085302" y="3594646"/>
            <a:ext cx="2597303" cy="2243079"/>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2" name="Group 1"/>
          <p:cNvGrpSpPr/>
          <p:nvPr/>
        </p:nvGrpSpPr>
        <p:grpSpPr>
          <a:xfrm>
            <a:off x="364410" y="4133475"/>
            <a:ext cx="4626667" cy="1678639"/>
            <a:chOff x="364410" y="4133475"/>
            <a:chExt cx="4626667" cy="1678639"/>
          </a:xfrm>
        </p:grpSpPr>
        <p:sp>
          <p:nvSpPr>
            <p:cNvPr id="13" name="TextBox 12">
              <a:extLst>
                <a:ext uri="{FF2B5EF4-FFF2-40B4-BE49-F238E27FC236}">
                  <a16:creationId xmlns:a16="http://schemas.microsoft.com/office/drawing/2014/main" xmlns="" id="{57FAABF5-FCFF-FD47-889B-36412271B4D9}"/>
                </a:ext>
              </a:extLst>
            </p:cNvPr>
            <p:cNvSpPr txBox="1"/>
            <p:nvPr/>
          </p:nvSpPr>
          <p:spPr>
            <a:xfrm>
              <a:off x="364410" y="5550504"/>
              <a:ext cx="462666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LSTM w/ concatenations of two hidden states</a:t>
              </a:r>
            </a:p>
          </p:txBody>
        </p:sp>
        <p:sp>
          <p:nvSpPr>
            <p:cNvPr id="14" name="Rectangle 13">
              <a:extLst>
                <a:ext uri="{FF2B5EF4-FFF2-40B4-BE49-F238E27FC236}">
                  <a16:creationId xmlns:a16="http://schemas.microsoft.com/office/drawing/2014/main" xmlns="" id="{71505336-B73F-ED4D-9DB9-3F6F4E958A0E}"/>
                </a:ext>
              </a:extLst>
            </p:cNvPr>
            <p:cNvSpPr/>
            <p:nvPr/>
          </p:nvSpPr>
          <p:spPr>
            <a:xfrm>
              <a:off x="1644998" y="4133475"/>
              <a:ext cx="2150931" cy="551983"/>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ourier" charset="0"/>
                  <a:ea typeface="Courier" charset="0"/>
                  <a:cs typeface="Courier" charset="0"/>
                </a:rPr>
                <a:t>LSTM</a:t>
              </a:r>
            </a:p>
          </p:txBody>
        </p:sp>
        <p:sp>
          <p:nvSpPr>
            <p:cNvPr id="15" name="Rectangle 14">
              <a:extLst>
                <a:ext uri="{FF2B5EF4-FFF2-40B4-BE49-F238E27FC236}">
                  <a16:creationId xmlns:a16="http://schemas.microsoft.com/office/drawing/2014/main" xmlns="" id="{37EE7DC9-402A-E649-8450-ADB67AE946ED}"/>
                </a:ext>
              </a:extLst>
            </p:cNvPr>
            <p:cNvSpPr/>
            <p:nvPr/>
          </p:nvSpPr>
          <p:spPr>
            <a:xfrm flipH="1">
              <a:off x="179510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xmlns="" id="{A5BE672E-97BB-DB4A-B9AA-A00EC9D2D12A}"/>
                </a:ext>
              </a:extLst>
            </p:cNvPr>
            <p:cNvCxnSpPr>
              <a:stCxn id="15" idx="0"/>
            </p:cNvCxnSpPr>
            <p:nvPr/>
          </p:nvCxnSpPr>
          <p:spPr>
            <a:xfrm flipV="1">
              <a:off x="1832316"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7" name="Rectangle 16">
              <a:extLst>
                <a:ext uri="{FF2B5EF4-FFF2-40B4-BE49-F238E27FC236}">
                  <a16:creationId xmlns:a16="http://schemas.microsoft.com/office/drawing/2014/main" xmlns="" id="{A638AB4B-8D15-6E49-AC1F-8094368CC28C}"/>
                </a:ext>
              </a:extLst>
            </p:cNvPr>
            <p:cNvSpPr/>
            <p:nvPr/>
          </p:nvSpPr>
          <p:spPr>
            <a:xfrm flipH="1">
              <a:off x="2085824"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xmlns="" id="{AA8F34D5-FD04-AA46-84E4-F521D9AD2E58}"/>
                </a:ext>
              </a:extLst>
            </p:cNvPr>
            <p:cNvCxnSpPr>
              <a:stCxn id="17" idx="0"/>
            </p:cNvCxnSpPr>
            <p:nvPr/>
          </p:nvCxnSpPr>
          <p:spPr>
            <a:xfrm flipV="1">
              <a:off x="2123034"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9" name="Rectangle 18">
              <a:extLst>
                <a:ext uri="{FF2B5EF4-FFF2-40B4-BE49-F238E27FC236}">
                  <a16:creationId xmlns:a16="http://schemas.microsoft.com/office/drawing/2014/main" xmlns="" id="{0CBCAED4-EC87-334B-8A0F-372205831836}"/>
                </a:ext>
              </a:extLst>
            </p:cNvPr>
            <p:cNvSpPr/>
            <p:nvPr/>
          </p:nvSpPr>
          <p:spPr>
            <a:xfrm flipH="1">
              <a:off x="2367991"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xmlns="" id="{433F8AF9-C877-D14C-9693-2041753C6D14}"/>
                </a:ext>
              </a:extLst>
            </p:cNvPr>
            <p:cNvCxnSpPr>
              <a:stCxn id="19" idx="0"/>
            </p:cNvCxnSpPr>
            <p:nvPr/>
          </p:nvCxnSpPr>
          <p:spPr>
            <a:xfrm flipV="1">
              <a:off x="2405202"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1" name="Rectangle 20">
              <a:extLst>
                <a:ext uri="{FF2B5EF4-FFF2-40B4-BE49-F238E27FC236}">
                  <a16:creationId xmlns:a16="http://schemas.microsoft.com/office/drawing/2014/main" xmlns="" id="{2FCB6297-337C-CE4E-AD03-C52E209019D6}"/>
                </a:ext>
              </a:extLst>
            </p:cNvPr>
            <p:cNvSpPr/>
            <p:nvPr/>
          </p:nvSpPr>
          <p:spPr>
            <a:xfrm flipH="1">
              <a:off x="359071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xmlns="" id="{830D6567-A8F6-6248-97CF-49F1B93FE54F}"/>
                </a:ext>
              </a:extLst>
            </p:cNvPr>
            <p:cNvCxnSpPr>
              <a:stCxn id="21" idx="0"/>
            </p:cNvCxnSpPr>
            <p:nvPr/>
          </p:nvCxnSpPr>
          <p:spPr>
            <a:xfrm flipV="1">
              <a:off x="3627927"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3" name="TextBox 22">
              <a:extLst>
                <a:ext uri="{FF2B5EF4-FFF2-40B4-BE49-F238E27FC236}">
                  <a16:creationId xmlns:a16="http://schemas.microsoft.com/office/drawing/2014/main" xmlns="" id="{E4E50330-C745-154D-B316-011EFB5E0319}"/>
                </a:ext>
              </a:extLst>
            </p:cNvPr>
            <p:cNvSpPr txBox="1"/>
            <p:nvPr/>
          </p:nvSpPr>
          <p:spPr>
            <a:xfrm>
              <a:off x="1728588" y="5358199"/>
              <a:ext cx="2117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0  </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err="1">
                  <a:ln>
                    <a:noFill/>
                  </a:ln>
                  <a:solidFill>
                    <a:prstClr val="black"/>
                  </a:solidFill>
                  <a:effectLst/>
                  <a:uLnTx/>
                  <a:uFillTx/>
                  <a:latin typeface="Courier" charset="0"/>
                  <a:ea typeface="Courier" charset="0"/>
                  <a:cs typeface="Courier" charset="0"/>
                </a:rPr>
                <a:t>n</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grpSp>
        <p:nvGrpSpPr>
          <p:cNvPr id="6" name="Group 5">
            <a:extLst>
              <a:ext uri="{FF2B5EF4-FFF2-40B4-BE49-F238E27FC236}">
                <a16:creationId xmlns:a16="http://schemas.microsoft.com/office/drawing/2014/main" xmlns="" id="{26D87E97-3BAE-7B41-B4F9-069C739F3649}"/>
              </a:ext>
            </a:extLst>
          </p:cNvPr>
          <p:cNvGrpSpPr/>
          <p:nvPr/>
        </p:nvGrpSpPr>
        <p:grpSpPr>
          <a:xfrm>
            <a:off x="25167" y="228600"/>
            <a:ext cx="8268132" cy="533400"/>
            <a:chOff x="25167" y="228600"/>
            <a:chExt cx="8268132" cy="533400"/>
          </a:xfrm>
        </p:grpSpPr>
        <p:sp>
          <p:nvSpPr>
            <p:cNvPr id="31" name="Title 240">
              <a:extLst>
                <a:ext uri="{FF2B5EF4-FFF2-40B4-BE49-F238E27FC236}">
                  <a16:creationId xmlns:a16="http://schemas.microsoft.com/office/drawing/2014/main" xmlns="" id="{AA93E823-DA84-874F-B363-44CB4E9BEBEB}"/>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dirty="0"/>
                <a:t>: a neural approach</a:t>
              </a:r>
            </a:p>
          </p:txBody>
        </p:sp>
        <p:sp>
          <p:nvSpPr>
            <p:cNvPr id="32" name="TextBox 31">
              <a:extLst>
                <a:ext uri="{FF2B5EF4-FFF2-40B4-BE49-F238E27FC236}">
                  <a16:creationId xmlns:a16="http://schemas.microsoft.com/office/drawing/2014/main" xmlns="" id="{5B99ECFE-A883-EB43-A634-E217003C5621}"/>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grpSp>
        <p:nvGrpSpPr>
          <p:cNvPr id="26" name="Group 25">
            <a:extLst>
              <a:ext uri="{FF2B5EF4-FFF2-40B4-BE49-F238E27FC236}">
                <a16:creationId xmlns:a16="http://schemas.microsoft.com/office/drawing/2014/main" xmlns="" id="{B2EA2C41-6AF5-3C48-9C9E-8CA8347D0572}"/>
              </a:ext>
            </a:extLst>
          </p:cNvPr>
          <p:cNvGrpSpPr/>
          <p:nvPr/>
        </p:nvGrpSpPr>
        <p:grpSpPr>
          <a:xfrm>
            <a:off x="2057545" y="3610478"/>
            <a:ext cx="5367078" cy="1941686"/>
            <a:chOff x="2057545" y="3610478"/>
            <a:chExt cx="5367078" cy="1941686"/>
          </a:xfrm>
        </p:grpSpPr>
        <p:sp>
          <p:nvSpPr>
            <p:cNvPr id="29" name="TextBox 28">
              <a:extLst>
                <a:ext uri="{FF2B5EF4-FFF2-40B4-BE49-F238E27FC236}">
                  <a16:creationId xmlns:a16="http://schemas.microsoft.com/office/drawing/2014/main" xmlns="" id="{1BEC9E07-A852-BA4B-8E8B-338457D1F3D8}"/>
                </a:ext>
              </a:extLst>
            </p:cNvPr>
            <p:cNvSpPr txBox="1"/>
            <p:nvPr/>
          </p:nvSpPr>
          <p:spPr>
            <a:xfrm>
              <a:off x="6760755" y="4836033"/>
              <a:ext cx="419602"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e2</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33" name="TextBox 32">
              <a:extLst>
                <a:ext uri="{FF2B5EF4-FFF2-40B4-BE49-F238E27FC236}">
                  <a16:creationId xmlns:a16="http://schemas.microsoft.com/office/drawing/2014/main" xmlns="" id="{DE29157F-628A-FF42-9411-894779B8745A}"/>
                </a:ext>
              </a:extLst>
            </p:cNvPr>
            <p:cNvSpPr txBox="1"/>
            <p:nvPr/>
          </p:nvSpPr>
          <p:spPr>
            <a:xfrm>
              <a:off x="6694541" y="3610478"/>
              <a:ext cx="504663"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e1</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nvGrpSpPr>
            <p:cNvPr id="34" name="Group 33">
              <a:extLst>
                <a:ext uri="{FF2B5EF4-FFF2-40B4-BE49-F238E27FC236}">
                  <a16:creationId xmlns:a16="http://schemas.microsoft.com/office/drawing/2014/main" xmlns="" id="{A0302575-CEDA-9349-A079-636F7474C069}"/>
                </a:ext>
              </a:extLst>
            </p:cNvPr>
            <p:cNvGrpSpPr/>
            <p:nvPr/>
          </p:nvGrpSpPr>
          <p:grpSpPr>
            <a:xfrm>
              <a:off x="2057545" y="3849696"/>
              <a:ext cx="5367078" cy="1702468"/>
              <a:chOff x="2057545" y="3849696"/>
              <a:chExt cx="5367078" cy="1702468"/>
            </a:xfrm>
          </p:grpSpPr>
          <p:grpSp>
            <p:nvGrpSpPr>
              <p:cNvPr id="35" name="Group 34">
                <a:extLst>
                  <a:ext uri="{FF2B5EF4-FFF2-40B4-BE49-F238E27FC236}">
                    <a16:creationId xmlns:a16="http://schemas.microsoft.com/office/drawing/2014/main" xmlns="" id="{AB9776E4-A930-2446-A717-466A63D170EF}"/>
                  </a:ext>
                </a:extLst>
              </p:cNvPr>
              <p:cNvGrpSpPr/>
              <p:nvPr/>
            </p:nvGrpSpPr>
            <p:grpSpPr>
              <a:xfrm>
                <a:off x="2057545" y="3898229"/>
                <a:ext cx="5235488" cy="1230841"/>
                <a:chOff x="2057545" y="3898229"/>
                <a:chExt cx="5235488" cy="1230841"/>
              </a:xfrm>
            </p:grpSpPr>
            <p:sp>
              <p:nvSpPr>
                <p:cNvPr id="40" name="Bent-Up Arrow 39">
                  <a:extLst>
                    <a:ext uri="{FF2B5EF4-FFF2-40B4-BE49-F238E27FC236}">
                      <a16:creationId xmlns:a16="http://schemas.microsoft.com/office/drawing/2014/main" xmlns="" id="{749B142F-A334-F24A-BD28-5CDEB0D3E081}"/>
                    </a:ext>
                  </a:extLst>
                </p:cNvPr>
                <p:cNvSpPr/>
                <p:nvPr/>
              </p:nvSpPr>
              <p:spPr>
                <a:xfrm rot="5400000" flipH="1">
                  <a:off x="4552793" y="1402981"/>
                  <a:ext cx="233389" cy="5223885"/>
                </a:xfrm>
                <a:prstGeom prst="bentUpArrow">
                  <a:avLst>
                    <a:gd name="adj1" fmla="val 0"/>
                    <a:gd name="adj2" fmla="val 6756"/>
                    <a:gd name="adj3" fmla="val 20135"/>
                  </a:avLst>
                </a:prstGeom>
                <a:solidFill>
                  <a:sysClr val="windowText" lastClr="000000"/>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1" name="Group 40">
                  <a:extLst>
                    <a:ext uri="{FF2B5EF4-FFF2-40B4-BE49-F238E27FC236}">
                      <a16:creationId xmlns:a16="http://schemas.microsoft.com/office/drawing/2014/main" xmlns="" id="{7B085608-A053-AB45-8FF0-99A30FAA0AAC}"/>
                    </a:ext>
                  </a:extLst>
                </p:cNvPr>
                <p:cNvGrpSpPr/>
                <p:nvPr/>
              </p:nvGrpSpPr>
              <p:grpSpPr>
                <a:xfrm>
                  <a:off x="3132702" y="4071242"/>
                  <a:ext cx="4160331" cy="1057828"/>
                  <a:chOff x="4427129" y="4129048"/>
                  <a:chExt cx="2314332" cy="1597344"/>
                </a:xfrm>
              </p:grpSpPr>
              <p:cxnSp>
                <p:nvCxnSpPr>
                  <p:cNvPr id="42" name="Elbow Connector 41">
                    <a:extLst>
                      <a:ext uri="{FF2B5EF4-FFF2-40B4-BE49-F238E27FC236}">
                        <a16:creationId xmlns:a16="http://schemas.microsoft.com/office/drawing/2014/main" xmlns="" id="{C01802C8-6206-BC4C-A5A9-203286F39FE6}"/>
                      </a:ext>
                    </a:extLst>
                  </p:cNvPr>
                  <p:cNvCxnSpPr>
                    <a:endCxn id="36" idx="3"/>
                  </p:cNvCxnSpPr>
                  <p:nvPr/>
                </p:nvCxnSpPr>
                <p:spPr>
                  <a:xfrm>
                    <a:off x="4427134" y="4129048"/>
                    <a:ext cx="2314327" cy="1597344"/>
                  </a:xfrm>
                  <a:prstGeom prst="bentConnector3">
                    <a:avLst>
                      <a:gd name="adj1" fmla="val 50000"/>
                    </a:avLst>
                  </a:prstGeom>
                  <a:noFill/>
                  <a:ln w="6350" cap="flat" cmpd="sng" algn="ctr">
                    <a:solidFill>
                      <a:sysClr val="windowText" lastClr="000000"/>
                    </a:solidFill>
                    <a:prstDash val="solid"/>
                    <a:miter lim="800000"/>
                    <a:tailEnd type="triangle"/>
                  </a:ln>
                  <a:effectLst/>
                </p:spPr>
              </p:cxnSp>
              <p:cxnSp>
                <p:nvCxnSpPr>
                  <p:cNvPr id="43" name="Straight Arrow Connector 42">
                    <a:extLst>
                      <a:ext uri="{FF2B5EF4-FFF2-40B4-BE49-F238E27FC236}">
                        <a16:creationId xmlns:a16="http://schemas.microsoft.com/office/drawing/2014/main" xmlns="" id="{B92FE208-41D5-5D4A-BAB8-40C2E2771D8B}"/>
                      </a:ext>
                    </a:extLst>
                  </p:cNvPr>
                  <p:cNvCxnSpPr/>
                  <p:nvPr/>
                </p:nvCxnSpPr>
                <p:spPr>
                  <a:xfrm flipH="1">
                    <a:off x="4427129" y="4129049"/>
                    <a:ext cx="1" cy="91140"/>
                  </a:xfrm>
                  <a:prstGeom prst="straightConnector1">
                    <a:avLst/>
                  </a:prstGeom>
                  <a:noFill/>
                  <a:ln w="6350" cap="flat" cmpd="sng" algn="ctr">
                    <a:solidFill>
                      <a:sysClr val="windowText" lastClr="000000"/>
                    </a:solidFill>
                    <a:prstDash val="solid"/>
                    <a:miter lim="800000"/>
                    <a:headEnd type="none" w="med" len="med"/>
                    <a:tailEnd type="none" w="med" len="med"/>
                  </a:ln>
                  <a:effectLst/>
                </p:spPr>
              </p:cxnSp>
            </p:grpSp>
          </p:grpSp>
          <p:sp>
            <p:nvSpPr>
              <p:cNvPr id="36" name="Rectangle 35">
                <a:extLst>
                  <a:ext uri="{FF2B5EF4-FFF2-40B4-BE49-F238E27FC236}">
                    <a16:creationId xmlns:a16="http://schemas.microsoft.com/office/drawing/2014/main" xmlns="" id="{0B3BECAF-7BD3-5D4B-9177-97F9B0A52872}"/>
                  </a:ext>
                </a:extLst>
              </p:cNvPr>
              <p:cNvSpPr/>
              <p:nvPr/>
            </p:nvSpPr>
            <p:spPr>
              <a:xfrm flipH="1">
                <a:off x="7293026" y="4705974"/>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xmlns="" id="{47010FEE-D80A-FA4A-B4BE-9CD20B7A1982}"/>
                  </a:ext>
                </a:extLst>
              </p:cNvPr>
              <p:cNvSpPr/>
              <p:nvPr/>
            </p:nvSpPr>
            <p:spPr>
              <a:xfrm flipH="1">
                <a:off x="7293026" y="3849696"/>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xmlns="" id="{6AD0BF0A-16AB-484F-AD99-790A9004BEC1}"/>
                  </a:ext>
                </a:extLst>
              </p:cNvPr>
              <p:cNvSpPr txBox="1"/>
              <p:nvPr/>
            </p:nvSpPr>
            <p:spPr>
              <a:xfrm>
                <a:off x="6909405" y="4057607"/>
                <a:ext cx="45852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39" name="TextBox 38">
                <a:extLst>
                  <a:ext uri="{FF2B5EF4-FFF2-40B4-BE49-F238E27FC236}">
                    <a16:creationId xmlns:a16="http://schemas.microsoft.com/office/drawing/2014/main" xmlns="" id="{3314052D-A997-F24F-BF1C-AE0FE3EFBBB6}"/>
                  </a:ext>
                </a:extLst>
              </p:cNvPr>
              <p:cNvSpPr txBox="1"/>
              <p:nvPr/>
            </p:nvSpPr>
            <p:spPr>
              <a:xfrm>
                <a:off x="6870296" y="5186806"/>
                <a:ext cx="554327"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grpSp>
      <p:grpSp>
        <p:nvGrpSpPr>
          <p:cNvPr id="3" name="Group 2">
            <a:extLst>
              <a:ext uri="{FF2B5EF4-FFF2-40B4-BE49-F238E27FC236}">
                <a16:creationId xmlns:a16="http://schemas.microsoft.com/office/drawing/2014/main" xmlns="" id="{DEC33DAE-30F8-A04B-8EF4-B1D608A85D13}"/>
              </a:ext>
            </a:extLst>
          </p:cNvPr>
          <p:cNvGrpSpPr/>
          <p:nvPr/>
        </p:nvGrpSpPr>
        <p:grpSpPr>
          <a:xfrm>
            <a:off x="7371689" y="4132189"/>
            <a:ext cx="1374279" cy="1321620"/>
            <a:chOff x="7371689" y="4132189"/>
            <a:chExt cx="1374279" cy="1321620"/>
          </a:xfrm>
        </p:grpSpPr>
        <p:sp>
          <p:nvSpPr>
            <p:cNvPr id="44" name="Rectangle 43">
              <a:extLst>
                <a:ext uri="{FF2B5EF4-FFF2-40B4-BE49-F238E27FC236}">
                  <a16:creationId xmlns:a16="http://schemas.microsoft.com/office/drawing/2014/main" xmlns="" id="{4912E571-EF04-BA48-AC5B-4190A38E37DF}"/>
                </a:ext>
              </a:extLst>
            </p:cNvPr>
            <p:cNvSpPr/>
            <p:nvPr/>
          </p:nvSpPr>
          <p:spPr>
            <a:xfrm flipH="1">
              <a:off x="7769699" y="4535844"/>
              <a:ext cx="81145" cy="436932"/>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xmlns="" id="{E711711B-62C7-0542-9FBC-FB81C8C9D01D}"/>
                </a:ext>
              </a:extLst>
            </p:cNvPr>
            <p:cNvSpPr>
              <a:spLocks/>
            </p:cNvSpPr>
            <p:nvPr/>
          </p:nvSpPr>
          <p:spPr>
            <a:xfrm flipH="1">
              <a:off x="8247848" y="4607761"/>
              <a:ext cx="69066" cy="317429"/>
            </a:xfrm>
            <a:prstGeom prst="rect">
              <a:avLst/>
            </a:prstGeom>
            <a:solidFill>
              <a:srgbClr val="00B05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46" name="Straight Arrow Connector 45">
              <a:extLst>
                <a:ext uri="{FF2B5EF4-FFF2-40B4-BE49-F238E27FC236}">
                  <a16:creationId xmlns:a16="http://schemas.microsoft.com/office/drawing/2014/main" xmlns="" id="{AF419D41-88D0-EE4A-AFCB-1027DD05071D}"/>
                </a:ext>
              </a:extLst>
            </p:cNvPr>
            <p:cNvCxnSpPr/>
            <p:nvPr/>
          </p:nvCxnSpPr>
          <p:spPr>
            <a:xfrm>
              <a:off x="7849238" y="4764357"/>
              <a:ext cx="398613" cy="0"/>
            </a:xfrm>
            <a:prstGeom prst="straightConnector1">
              <a:avLst/>
            </a:prstGeom>
            <a:noFill/>
            <a:ln w="6350" cap="flat" cmpd="sng" algn="ctr">
              <a:solidFill>
                <a:sysClr val="windowText" lastClr="000000"/>
              </a:solidFill>
              <a:prstDash val="solid"/>
              <a:miter lim="800000"/>
              <a:tailEnd type="triangle"/>
            </a:ln>
            <a:effectLst/>
          </p:spPr>
        </p:cxnSp>
        <p:cxnSp>
          <p:nvCxnSpPr>
            <p:cNvPr id="47" name="Straight Arrow Connector 46">
              <a:extLst>
                <a:ext uri="{FF2B5EF4-FFF2-40B4-BE49-F238E27FC236}">
                  <a16:creationId xmlns:a16="http://schemas.microsoft.com/office/drawing/2014/main" xmlns="" id="{34504C94-7403-FB40-AD9B-B6EC34AA22FD}"/>
                </a:ext>
              </a:extLst>
            </p:cNvPr>
            <p:cNvCxnSpPr>
              <a:endCxn id="44" idx="3"/>
            </p:cNvCxnSpPr>
            <p:nvPr/>
          </p:nvCxnSpPr>
          <p:spPr>
            <a:xfrm>
              <a:off x="7371689" y="4535844"/>
              <a:ext cx="39801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48" name="Straight Arrow Connector 47">
              <a:extLst>
                <a:ext uri="{FF2B5EF4-FFF2-40B4-BE49-F238E27FC236}">
                  <a16:creationId xmlns:a16="http://schemas.microsoft.com/office/drawing/2014/main" xmlns="" id="{B689A6C0-9A68-B54B-9BB5-37FF5D0FB441}"/>
                </a:ext>
              </a:extLst>
            </p:cNvPr>
            <p:cNvCxnSpPr>
              <a:endCxn id="44" idx="3"/>
            </p:cNvCxnSpPr>
            <p:nvPr/>
          </p:nvCxnSpPr>
          <p:spPr>
            <a:xfrm>
              <a:off x="7371689" y="4369085"/>
              <a:ext cx="398010" cy="385225"/>
            </a:xfrm>
            <a:prstGeom prst="straightConnector1">
              <a:avLst/>
            </a:prstGeom>
            <a:noFill/>
            <a:ln w="6350" cap="flat" cmpd="sng" algn="ctr">
              <a:solidFill>
                <a:sysClr val="windowText" lastClr="000000"/>
              </a:solidFill>
              <a:prstDash val="solid"/>
              <a:miter lim="800000"/>
              <a:tailEnd type="triangle"/>
            </a:ln>
            <a:effectLst/>
          </p:spPr>
        </p:cxnSp>
        <p:cxnSp>
          <p:nvCxnSpPr>
            <p:cNvPr id="49" name="Straight Arrow Connector 48">
              <a:extLst>
                <a:ext uri="{FF2B5EF4-FFF2-40B4-BE49-F238E27FC236}">
                  <a16:creationId xmlns:a16="http://schemas.microsoft.com/office/drawing/2014/main" xmlns="" id="{7788E35A-8643-4C43-BEDD-ACDFDDD55BFF}"/>
                </a:ext>
              </a:extLst>
            </p:cNvPr>
            <p:cNvCxnSpPr/>
            <p:nvPr/>
          </p:nvCxnSpPr>
          <p:spPr>
            <a:xfrm flipV="1">
              <a:off x="7376805" y="4773072"/>
              <a:ext cx="398011" cy="218466"/>
            </a:xfrm>
            <a:prstGeom prst="straightConnector1">
              <a:avLst/>
            </a:prstGeom>
            <a:noFill/>
            <a:ln w="6350" cap="flat" cmpd="sng" algn="ctr">
              <a:solidFill>
                <a:sysClr val="windowText" lastClr="000000"/>
              </a:solidFill>
              <a:prstDash val="solid"/>
              <a:miter lim="800000"/>
              <a:tailEnd type="triangle"/>
            </a:ln>
            <a:effectLst/>
          </p:spPr>
        </p:cxnSp>
        <p:cxnSp>
          <p:nvCxnSpPr>
            <p:cNvPr id="50" name="Straight Arrow Connector 49">
              <a:extLst>
                <a:ext uri="{FF2B5EF4-FFF2-40B4-BE49-F238E27FC236}">
                  <a16:creationId xmlns:a16="http://schemas.microsoft.com/office/drawing/2014/main" xmlns="" id="{524B3F39-9250-FB4C-9EB5-6EB5DDD296AF}"/>
                </a:ext>
              </a:extLst>
            </p:cNvPr>
            <p:cNvCxnSpPr/>
            <p:nvPr/>
          </p:nvCxnSpPr>
          <p:spPr>
            <a:xfrm flipV="1">
              <a:off x="7376805" y="4773072"/>
              <a:ext cx="398011" cy="385225"/>
            </a:xfrm>
            <a:prstGeom prst="straightConnector1">
              <a:avLst/>
            </a:prstGeom>
            <a:noFill/>
            <a:ln w="6350" cap="flat" cmpd="sng" algn="ctr">
              <a:solidFill>
                <a:sysClr val="windowText" lastClr="000000"/>
              </a:solidFill>
              <a:prstDash val="solid"/>
              <a:miter lim="800000"/>
              <a:tailEnd type="triangle"/>
            </a:ln>
            <a:effectLst/>
          </p:spPr>
        </p:cxnSp>
        <p:cxnSp>
          <p:nvCxnSpPr>
            <p:cNvPr id="51" name="Straight Arrow Connector 50">
              <a:extLst>
                <a:ext uri="{FF2B5EF4-FFF2-40B4-BE49-F238E27FC236}">
                  <a16:creationId xmlns:a16="http://schemas.microsoft.com/office/drawing/2014/main" xmlns="" id="{E774F0FD-827D-C64D-BC34-B67E322DD6F4}"/>
                </a:ext>
              </a:extLst>
            </p:cNvPr>
            <p:cNvCxnSpPr/>
            <p:nvPr/>
          </p:nvCxnSpPr>
          <p:spPr>
            <a:xfrm>
              <a:off x="7846861" y="4639383"/>
              <a:ext cx="398011" cy="118264"/>
            </a:xfrm>
            <a:prstGeom prst="straightConnector1">
              <a:avLst/>
            </a:prstGeom>
            <a:noFill/>
            <a:ln w="6350" cap="flat" cmpd="sng" algn="ctr">
              <a:solidFill>
                <a:sysClr val="windowText" lastClr="000000"/>
              </a:solidFill>
              <a:prstDash val="solid"/>
              <a:miter lim="800000"/>
              <a:tailEnd type="triangle"/>
            </a:ln>
            <a:effectLst/>
          </p:spPr>
        </p:cxnSp>
        <p:cxnSp>
          <p:nvCxnSpPr>
            <p:cNvPr id="52" name="Straight Arrow Connector 51">
              <a:extLst>
                <a:ext uri="{FF2B5EF4-FFF2-40B4-BE49-F238E27FC236}">
                  <a16:creationId xmlns:a16="http://schemas.microsoft.com/office/drawing/2014/main" xmlns="" id="{4C4E45AB-3A8E-3D42-8594-FF4F1633F4F5}"/>
                </a:ext>
              </a:extLst>
            </p:cNvPr>
            <p:cNvCxnSpPr/>
            <p:nvPr/>
          </p:nvCxnSpPr>
          <p:spPr>
            <a:xfrm>
              <a:off x="7846861" y="4549111"/>
              <a:ext cx="398011" cy="208537"/>
            </a:xfrm>
            <a:prstGeom prst="straightConnector1">
              <a:avLst/>
            </a:prstGeom>
            <a:noFill/>
            <a:ln w="6350" cap="flat" cmpd="sng" algn="ctr">
              <a:solidFill>
                <a:sysClr val="windowText" lastClr="000000"/>
              </a:solidFill>
              <a:prstDash val="solid"/>
              <a:miter lim="800000"/>
              <a:tailEnd type="triangle"/>
            </a:ln>
            <a:effectLst/>
          </p:spPr>
        </p:cxnSp>
        <p:cxnSp>
          <p:nvCxnSpPr>
            <p:cNvPr id="53" name="Straight Arrow Connector 52">
              <a:extLst>
                <a:ext uri="{FF2B5EF4-FFF2-40B4-BE49-F238E27FC236}">
                  <a16:creationId xmlns:a16="http://schemas.microsoft.com/office/drawing/2014/main" xmlns="" id="{42BD8F8E-EB0D-5746-83E4-D3AFCB948505}"/>
                </a:ext>
              </a:extLst>
            </p:cNvPr>
            <p:cNvCxnSpPr/>
            <p:nvPr/>
          </p:nvCxnSpPr>
          <p:spPr>
            <a:xfrm flipV="1">
              <a:off x="7846861" y="4757647"/>
              <a:ext cx="398011" cy="118264"/>
            </a:xfrm>
            <a:prstGeom prst="straightConnector1">
              <a:avLst/>
            </a:prstGeom>
            <a:noFill/>
            <a:ln w="6350" cap="flat" cmpd="sng" algn="ctr">
              <a:solidFill>
                <a:sysClr val="windowText" lastClr="000000"/>
              </a:solidFill>
              <a:prstDash val="solid"/>
              <a:miter lim="800000"/>
              <a:tailEnd type="triangle"/>
            </a:ln>
            <a:effectLst/>
          </p:spPr>
        </p:cxnSp>
        <p:cxnSp>
          <p:nvCxnSpPr>
            <p:cNvPr id="54" name="Straight Arrow Connector 53">
              <a:extLst>
                <a:ext uri="{FF2B5EF4-FFF2-40B4-BE49-F238E27FC236}">
                  <a16:creationId xmlns:a16="http://schemas.microsoft.com/office/drawing/2014/main" xmlns="" id="{4E614E47-321F-4F4E-97FA-5D83D0C5C2C9}"/>
                </a:ext>
              </a:extLst>
            </p:cNvPr>
            <p:cNvCxnSpPr/>
            <p:nvPr/>
          </p:nvCxnSpPr>
          <p:spPr>
            <a:xfrm flipV="1">
              <a:off x="7846861" y="4757647"/>
              <a:ext cx="398011" cy="208537"/>
            </a:xfrm>
            <a:prstGeom prst="straightConnector1">
              <a:avLst/>
            </a:prstGeom>
            <a:noFill/>
            <a:ln w="6350" cap="flat" cmpd="sng" algn="ctr">
              <a:solidFill>
                <a:sysClr val="windowText" lastClr="000000"/>
              </a:solidFill>
              <a:prstDash val="solid"/>
              <a:miter lim="800000"/>
              <a:tailEnd type="triangle"/>
            </a:ln>
            <a:effectLst/>
          </p:spPr>
        </p:cxnSp>
        <p:sp>
          <p:nvSpPr>
            <p:cNvPr id="55" name="TextBox 54">
              <a:extLst>
                <a:ext uri="{FF2B5EF4-FFF2-40B4-BE49-F238E27FC236}">
                  <a16:creationId xmlns:a16="http://schemas.microsoft.com/office/drawing/2014/main" xmlns="" id="{8D6B5939-95A0-D64B-913C-80EFD529819C}"/>
                </a:ext>
              </a:extLst>
            </p:cNvPr>
            <p:cNvSpPr txBox="1"/>
            <p:nvPr/>
          </p:nvSpPr>
          <p:spPr>
            <a:xfrm>
              <a:off x="8282380" y="4579960"/>
              <a:ext cx="463588" cy="553998"/>
            </a:xfrm>
            <a:prstGeom prst="rect">
              <a:avLst/>
            </a:prstGeom>
            <a:noFill/>
          </p:spPr>
          <p:txBody>
            <a:bodyPr wrap="none" rtlCol="0">
              <a:spAutoFit/>
            </a:bodyPr>
            <a:lstStyle/>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before</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after</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equal</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vague</a:t>
              </a:r>
            </a:p>
          </p:txBody>
        </p:sp>
        <p:cxnSp>
          <p:nvCxnSpPr>
            <p:cNvPr id="56" name="Straight Arrow Connector 55">
              <a:extLst>
                <a:ext uri="{FF2B5EF4-FFF2-40B4-BE49-F238E27FC236}">
                  <a16:creationId xmlns:a16="http://schemas.microsoft.com/office/drawing/2014/main" xmlns="" id="{6A52DD67-121C-EE40-ADA3-E8A5B50BDF99}"/>
                </a:ext>
              </a:extLst>
            </p:cNvPr>
            <p:cNvCxnSpPr>
              <a:endCxn id="44" idx="3"/>
            </p:cNvCxnSpPr>
            <p:nvPr/>
          </p:nvCxnSpPr>
          <p:spPr>
            <a:xfrm>
              <a:off x="7374065" y="4132189"/>
              <a:ext cx="395635" cy="622121"/>
            </a:xfrm>
            <a:prstGeom prst="straightConnector1">
              <a:avLst/>
            </a:prstGeom>
            <a:noFill/>
            <a:ln w="6350" cap="flat" cmpd="sng" algn="ctr">
              <a:solidFill>
                <a:sysClr val="windowText" lastClr="000000"/>
              </a:solidFill>
              <a:prstDash val="solid"/>
              <a:miter lim="800000"/>
              <a:tailEnd type="triangle"/>
            </a:ln>
            <a:effectLst/>
          </p:spPr>
        </p:cxnSp>
        <p:cxnSp>
          <p:nvCxnSpPr>
            <p:cNvPr id="57" name="Straight Arrow Connector 56">
              <a:extLst>
                <a:ext uri="{FF2B5EF4-FFF2-40B4-BE49-F238E27FC236}">
                  <a16:creationId xmlns:a16="http://schemas.microsoft.com/office/drawing/2014/main" xmlns="" id="{DE8AD148-0BF7-B44B-852A-2D59D153519F}"/>
                </a:ext>
              </a:extLst>
            </p:cNvPr>
            <p:cNvCxnSpPr/>
            <p:nvPr/>
          </p:nvCxnSpPr>
          <p:spPr>
            <a:xfrm flipV="1">
              <a:off x="7372025" y="4831688"/>
              <a:ext cx="395635" cy="622121"/>
            </a:xfrm>
            <a:prstGeom prst="straightConnector1">
              <a:avLst/>
            </a:prstGeom>
            <a:noFill/>
            <a:ln w="6350" cap="flat" cmpd="sng" algn="ctr">
              <a:solidFill>
                <a:sysClr val="windowText" lastClr="000000"/>
              </a:solidFill>
              <a:prstDash val="solid"/>
              <a:miter lim="800000"/>
              <a:tailEnd type="triangle"/>
            </a:ln>
            <a:effectLst/>
          </p:spPr>
        </p:cxnSp>
        <p:sp>
          <p:nvSpPr>
            <p:cNvPr id="58" name="TextBox 57">
              <a:extLst>
                <a:ext uri="{FF2B5EF4-FFF2-40B4-BE49-F238E27FC236}">
                  <a16:creationId xmlns:a16="http://schemas.microsoft.com/office/drawing/2014/main" xmlns="" id="{33AD5490-6C98-0C42-9E21-D2A1C1BD134A}"/>
                </a:ext>
              </a:extLst>
            </p:cNvPr>
            <p:cNvSpPr txBox="1"/>
            <p:nvPr/>
          </p:nvSpPr>
          <p:spPr>
            <a:xfrm>
              <a:off x="7957296" y="4386573"/>
              <a:ext cx="639934"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output</a:t>
              </a:r>
            </a:p>
          </p:txBody>
        </p:sp>
        <p:sp>
          <p:nvSpPr>
            <p:cNvPr id="59" name="TextBox 58">
              <a:extLst>
                <a:ext uri="{FF2B5EF4-FFF2-40B4-BE49-F238E27FC236}">
                  <a16:creationId xmlns:a16="http://schemas.microsoft.com/office/drawing/2014/main" xmlns="" id="{AE8FF3FD-FF60-2F40-9709-0642924CEB23}"/>
                </a:ext>
              </a:extLst>
            </p:cNvPr>
            <p:cNvSpPr txBox="1"/>
            <p:nvPr/>
          </p:nvSpPr>
          <p:spPr>
            <a:xfrm>
              <a:off x="7607290" y="5024021"/>
              <a:ext cx="407098"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64</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sp>
        <p:nvSpPr>
          <p:cNvPr id="60" name="TextBox 59">
            <a:extLst>
              <a:ext uri="{FF2B5EF4-FFF2-40B4-BE49-F238E27FC236}">
                <a16:creationId xmlns:a16="http://schemas.microsoft.com/office/drawing/2014/main" xmlns="" id="{F740E140-21E5-C944-B719-A7A1EB5860BE}"/>
              </a:ext>
            </a:extLst>
          </p:cNvPr>
          <p:cNvSpPr txBox="1"/>
          <p:nvPr/>
        </p:nvSpPr>
        <p:spPr>
          <a:xfrm>
            <a:off x="6085303" y="5585612"/>
            <a:ext cx="237784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050" kern="0" dirty="0">
                <a:solidFill>
                  <a:prstClr val="black"/>
                </a:solidFill>
                <a:latin typeface="Courier" charset="0"/>
                <a:ea typeface="Courier" charset="0"/>
                <a:cs typeface="Courier" charset="0"/>
              </a:rPr>
              <a:t>Output confidence scores</a:t>
            </a:r>
          </a:p>
        </p:txBody>
      </p:sp>
      <p:sp>
        <p:nvSpPr>
          <p:cNvPr id="66" name="Rectangle 65">
            <a:extLst>
              <a:ext uri="{FF2B5EF4-FFF2-40B4-BE49-F238E27FC236}">
                <a16:creationId xmlns:a16="http://schemas.microsoft.com/office/drawing/2014/main" xmlns="" id="{7540B02E-F3CA-7A41-B9F1-90F0B20C34E8}"/>
              </a:ext>
            </a:extLst>
          </p:cNvPr>
          <p:cNvSpPr>
            <a:spLocks noChangeAspect="1"/>
          </p:cNvSpPr>
          <p:nvPr/>
        </p:nvSpPr>
        <p:spPr>
          <a:xfrm flipH="1">
            <a:off x="7289835" y="2857499"/>
            <a:ext cx="203894" cy="81144"/>
          </a:xfrm>
          <a:prstGeom prst="rect">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xmlns="" id="{E1A2BF7F-5EF1-A841-BBFD-CD34B062BD4F}"/>
              </a:ext>
            </a:extLst>
          </p:cNvPr>
          <p:cNvSpPr/>
          <p:nvPr/>
        </p:nvSpPr>
        <p:spPr>
          <a:xfrm>
            <a:off x="6085302" y="1473960"/>
            <a:ext cx="2597303" cy="1486783"/>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xmlns="" id="{D33EED2F-F4EA-A64D-BD20-7ACF261822AE}"/>
              </a:ext>
            </a:extLst>
          </p:cNvPr>
          <p:cNvGrpSpPr/>
          <p:nvPr/>
        </p:nvGrpSpPr>
        <p:grpSpPr>
          <a:xfrm>
            <a:off x="6052335" y="1528708"/>
            <a:ext cx="2630270" cy="1321671"/>
            <a:chOff x="6052335" y="1528708"/>
            <a:chExt cx="2630270" cy="1321671"/>
          </a:xfrm>
        </p:grpSpPr>
        <p:sp>
          <p:nvSpPr>
            <p:cNvPr id="62" name="Rectangle 61">
              <a:extLst>
                <a:ext uri="{FF2B5EF4-FFF2-40B4-BE49-F238E27FC236}">
                  <a16:creationId xmlns:a16="http://schemas.microsoft.com/office/drawing/2014/main" xmlns="" id="{1A09AF94-106D-3645-9CD9-E3AA368D1FF5}"/>
                </a:ext>
              </a:extLst>
            </p:cNvPr>
            <p:cNvSpPr/>
            <p:nvPr/>
          </p:nvSpPr>
          <p:spPr>
            <a:xfrm flipH="1">
              <a:off x="6461826" y="2080485"/>
              <a:ext cx="819604" cy="94493"/>
            </a:xfrm>
            <a:prstGeom prst="rect">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3" name="Rectangle 62">
              <a:extLst>
                <a:ext uri="{FF2B5EF4-FFF2-40B4-BE49-F238E27FC236}">
                  <a16:creationId xmlns:a16="http://schemas.microsoft.com/office/drawing/2014/main" xmlns="" id="{C6AD86B0-8EAF-C44C-8627-D218DCE32B1D}"/>
                </a:ext>
              </a:extLst>
            </p:cNvPr>
            <p:cNvSpPr/>
            <p:nvPr/>
          </p:nvSpPr>
          <p:spPr>
            <a:xfrm flipH="1">
              <a:off x="7528953" y="2080485"/>
              <a:ext cx="819604" cy="94493"/>
            </a:xfrm>
            <a:prstGeom prst="rect">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4" name="Rectangle 63">
              <a:extLst>
                <a:ext uri="{FF2B5EF4-FFF2-40B4-BE49-F238E27FC236}">
                  <a16:creationId xmlns:a16="http://schemas.microsoft.com/office/drawing/2014/main" xmlns="" id="{292AE01C-82B8-0040-BD13-A4F2CFDFB70F}"/>
                </a:ext>
              </a:extLst>
            </p:cNvPr>
            <p:cNvSpPr/>
            <p:nvPr/>
          </p:nvSpPr>
          <p:spPr>
            <a:xfrm flipH="1">
              <a:off x="6787849" y="2384271"/>
              <a:ext cx="1248377" cy="94493"/>
            </a:xfrm>
            <a:prstGeom prst="rect">
              <a:avLst/>
            </a:prstGeom>
            <a:solidFill>
              <a:srgbClr val="E7E6E6">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5" name="Rectangle 64">
              <a:extLst>
                <a:ext uri="{FF2B5EF4-FFF2-40B4-BE49-F238E27FC236}">
                  <a16:creationId xmlns:a16="http://schemas.microsoft.com/office/drawing/2014/main" xmlns="" id="{C887EF61-D8E1-3740-9DBE-D1D1727FBC9E}"/>
                </a:ext>
              </a:extLst>
            </p:cNvPr>
            <p:cNvSpPr/>
            <p:nvPr/>
          </p:nvSpPr>
          <p:spPr>
            <a:xfrm flipH="1">
              <a:off x="7099943" y="2621167"/>
              <a:ext cx="624188" cy="94493"/>
            </a:xfrm>
            <a:prstGeom prst="rect">
              <a:avLst/>
            </a:prstGeom>
            <a:solidFill>
              <a:srgbClr val="E7E6E6">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7" name="TextBox 66">
              <a:extLst>
                <a:ext uri="{FF2B5EF4-FFF2-40B4-BE49-F238E27FC236}">
                  <a16:creationId xmlns:a16="http://schemas.microsoft.com/office/drawing/2014/main" xmlns="" id="{2B65061E-9681-254B-9BCB-98DFD97B0802}"/>
                </a:ext>
              </a:extLst>
            </p:cNvPr>
            <p:cNvSpPr txBox="1"/>
            <p:nvPr/>
          </p:nvSpPr>
          <p:spPr>
            <a:xfrm>
              <a:off x="6303851" y="1874975"/>
              <a:ext cx="1120773"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v</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p>
          </p:txBody>
        </p:sp>
        <p:sp>
          <p:nvSpPr>
            <p:cNvPr id="68" name="TextBox 67">
              <a:extLst>
                <a:ext uri="{FF2B5EF4-FFF2-40B4-BE49-F238E27FC236}">
                  <a16:creationId xmlns:a16="http://schemas.microsoft.com/office/drawing/2014/main" xmlns="" id="{AC79644C-43D0-784C-81C5-4CBE84AE6DE9}"/>
                </a:ext>
              </a:extLst>
            </p:cNvPr>
            <p:cNvSpPr txBox="1"/>
            <p:nvPr/>
          </p:nvSpPr>
          <p:spPr>
            <a:xfrm>
              <a:off x="7369699" y="1874975"/>
              <a:ext cx="1120773"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v</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cxnSp>
          <p:nvCxnSpPr>
            <p:cNvPr id="69" name="Straight Arrow Connector 68">
              <a:extLst>
                <a:ext uri="{FF2B5EF4-FFF2-40B4-BE49-F238E27FC236}">
                  <a16:creationId xmlns:a16="http://schemas.microsoft.com/office/drawing/2014/main" xmlns="" id="{8992F45C-566E-844D-9E2F-0B5A79E77E60}"/>
                </a:ext>
              </a:extLst>
            </p:cNvPr>
            <p:cNvCxnSpPr/>
            <p:nvPr/>
          </p:nvCxnSpPr>
          <p:spPr>
            <a:xfrm flipH="1">
              <a:off x="7392711" y="2182098"/>
              <a:ext cx="290644" cy="202179"/>
            </a:xfrm>
            <a:prstGeom prst="straightConnector1">
              <a:avLst/>
            </a:prstGeom>
            <a:noFill/>
            <a:ln w="6350" cap="flat" cmpd="sng" algn="ctr">
              <a:solidFill>
                <a:sysClr val="windowText" lastClr="000000"/>
              </a:solidFill>
              <a:prstDash val="solid"/>
              <a:miter lim="800000"/>
              <a:tailEnd type="triangle"/>
            </a:ln>
            <a:effectLst/>
          </p:spPr>
        </p:cxnSp>
        <p:cxnSp>
          <p:nvCxnSpPr>
            <p:cNvPr id="70" name="Straight Arrow Connector 69">
              <a:extLst>
                <a:ext uri="{FF2B5EF4-FFF2-40B4-BE49-F238E27FC236}">
                  <a16:creationId xmlns:a16="http://schemas.microsoft.com/office/drawing/2014/main" xmlns="" id="{D1931E52-799B-F847-BF13-D0D97F1C9C31}"/>
                </a:ext>
              </a:extLst>
            </p:cNvPr>
            <p:cNvCxnSpPr>
              <a:stCxn id="63" idx="2"/>
            </p:cNvCxnSpPr>
            <p:nvPr/>
          </p:nvCxnSpPr>
          <p:spPr>
            <a:xfrm flipH="1">
              <a:off x="7392711" y="2174978"/>
              <a:ext cx="546044" cy="209299"/>
            </a:xfrm>
            <a:prstGeom prst="straightConnector1">
              <a:avLst/>
            </a:prstGeom>
            <a:noFill/>
            <a:ln w="6350" cap="flat" cmpd="sng" algn="ctr">
              <a:solidFill>
                <a:sysClr val="windowText" lastClr="000000"/>
              </a:solidFill>
              <a:prstDash val="solid"/>
              <a:miter lim="800000"/>
              <a:tailEnd type="triangle"/>
            </a:ln>
            <a:effectLst/>
          </p:spPr>
        </p:cxnSp>
        <p:grpSp>
          <p:nvGrpSpPr>
            <p:cNvPr id="71" name="Group 70">
              <a:extLst>
                <a:ext uri="{FF2B5EF4-FFF2-40B4-BE49-F238E27FC236}">
                  <a16:creationId xmlns:a16="http://schemas.microsoft.com/office/drawing/2014/main" xmlns="" id="{A7C3D8DD-6021-5F44-B776-C5566A1AC939}"/>
                </a:ext>
              </a:extLst>
            </p:cNvPr>
            <p:cNvGrpSpPr/>
            <p:nvPr/>
          </p:nvGrpSpPr>
          <p:grpSpPr>
            <a:xfrm rot="5400000" flipV="1">
              <a:off x="7027519" y="2019084"/>
              <a:ext cx="209302" cy="521085"/>
              <a:chOff x="4885023" y="1789674"/>
              <a:chExt cx="803023" cy="763359"/>
            </a:xfrm>
          </p:grpSpPr>
          <p:cxnSp>
            <p:nvCxnSpPr>
              <p:cNvPr id="91" name="Straight Arrow Connector 90">
                <a:extLst>
                  <a:ext uri="{FF2B5EF4-FFF2-40B4-BE49-F238E27FC236}">
                    <a16:creationId xmlns:a16="http://schemas.microsoft.com/office/drawing/2014/main" xmlns="" id="{253FDEF4-3636-8443-A5FC-1868FD26D728}"/>
                  </a:ext>
                </a:extLst>
              </p:cNvPr>
              <p:cNvCxnSpPr/>
              <p:nvPr/>
            </p:nvCxnSpPr>
            <p:spPr>
              <a:xfrm rot="5400000" flipV="1">
                <a:off x="5073605" y="1938591"/>
                <a:ext cx="435490" cy="793393"/>
              </a:xfrm>
              <a:prstGeom prst="straightConnector1">
                <a:avLst/>
              </a:prstGeom>
              <a:noFill/>
              <a:ln w="6350" cap="flat" cmpd="sng" algn="ctr">
                <a:solidFill>
                  <a:sysClr val="windowText" lastClr="000000"/>
                </a:solidFill>
                <a:prstDash val="solid"/>
                <a:miter lim="800000"/>
                <a:tailEnd type="triangle"/>
              </a:ln>
              <a:effectLst/>
            </p:spPr>
          </p:cxnSp>
          <p:cxnSp>
            <p:nvCxnSpPr>
              <p:cNvPr id="92" name="Straight Arrow Connector 91">
                <a:extLst>
                  <a:ext uri="{FF2B5EF4-FFF2-40B4-BE49-F238E27FC236}">
                    <a16:creationId xmlns:a16="http://schemas.microsoft.com/office/drawing/2014/main" xmlns="" id="{AE28A4C5-9018-4D48-9F13-89E1C597D870}"/>
                  </a:ext>
                </a:extLst>
              </p:cNvPr>
              <p:cNvCxnSpPr>
                <a:stCxn id="62" idx="2"/>
              </p:cNvCxnSpPr>
              <p:nvPr/>
            </p:nvCxnSpPr>
            <p:spPr>
              <a:xfrm rot="5400000" flipV="1">
                <a:off x="4904855" y="1769842"/>
                <a:ext cx="763357" cy="803021"/>
              </a:xfrm>
              <a:prstGeom prst="straightConnector1">
                <a:avLst/>
              </a:prstGeom>
              <a:noFill/>
              <a:ln w="6350" cap="flat" cmpd="sng" algn="ctr">
                <a:solidFill>
                  <a:sysClr val="windowText" lastClr="000000"/>
                </a:solidFill>
                <a:prstDash val="solid"/>
                <a:miter lim="800000"/>
                <a:tailEnd type="triangle"/>
              </a:ln>
              <a:effectLst/>
            </p:spPr>
          </p:cxnSp>
        </p:grpSp>
        <p:cxnSp>
          <p:nvCxnSpPr>
            <p:cNvPr id="72" name="Straight Arrow Connector 71">
              <a:extLst>
                <a:ext uri="{FF2B5EF4-FFF2-40B4-BE49-F238E27FC236}">
                  <a16:creationId xmlns:a16="http://schemas.microsoft.com/office/drawing/2014/main" xmlns="" id="{E38EE8DD-9DC6-054E-B51B-7B144FAC75BC}"/>
                </a:ext>
              </a:extLst>
            </p:cNvPr>
            <p:cNvCxnSpPr/>
            <p:nvPr/>
          </p:nvCxnSpPr>
          <p:spPr>
            <a:xfrm rot="5400000">
              <a:off x="7309774" y="2554749"/>
              <a:ext cx="151970" cy="0"/>
            </a:xfrm>
            <a:prstGeom prst="straightConnector1">
              <a:avLst/>
            </a:prstGeom>
            <a:noFill/>
            <a:ln w="6350" cap="flat" cmpd="sng" algn="ctr">
              <a:solidFill>
                <a:sysClr val="windowText" lastClr="000000"/>
              </a:solidFill>
              <a:prstDash val="solid"/>
              <a:miter lim="800000"/>
              <a:tailEnd type="triangle"/>
            </a:ln>
            <a:effectLst/>
          </p:spPr>
        </p:cxnSp>
        <p:cxnSp>
          <p:nvCxnSpPr>
            <p:cNvPr id="73" name="Straight Arrow Connector 72">
              <a:extLst>
                <a:ext uri="{FF2B5EF4-FFF2-40B4-BE49-F238E27FC236}">
                  <a16:creationId xmlns:a16="http://schemas.microsoft.com/office/drawing/2014/main" xmlns="" id="{1CA23853-3FA5-AE4D-9FAC-9D46059F5686}"/>
                </a:ext>
              </a:extLst>
            </p:cNvPr>
            <p:cNvCxnSpPr/>
            <p:nvPr/>
          </p:nvCxnSpPr>
          <p:spPr>
            <a:xfrm rot="5400000">
              <a:off x="7419007" y="2445516"/>
              <a:ext cx="15197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74" name="Straight Arrow Connector 73">
              <a:extLst>
                <a:ext uri="{FF2B5EF4-FFF2-40B4-BE49-F238E27FC236}">
                  <a16:creationId xmlns:a16="http://schemas.microsoft.com/office/drawing/2014/main" xmlns="" id="{750BB14E-018A-9E44-8FE6-5394B72F7038}"/>
                </a:ext>
              </a:extLst>
            </p:cNvPr>
            <p:cNvCxnSpPr/>
            <p:nvPr/>
          </p:nvCxnSpPr>
          <p:spPr>
            <a:xfrm rot="5400000">
              <a:off x="7502386" y="2362136"/>
              <a:ext cx="151970" cy="385225"/>
            </a:xfrm>
            <a:prstGeom prst="straightConnector1">
              <a:avLst/>
            </a:prstGeom>
            <a:noFill/>
            <a:ln w="6350" cap="flat" cmpd="sng" algn="ctr">
              <a:solidFill>
                <a:sysClr val="windowText" lastClr="000000"/>
              </a:solidFill>
              <a:prstDash val="solid"/>
              <a:miter lim="800000"/>
              <a:tailEnd type="triangle"/>
            </a:ln>
            <a:effectLst/>
          </p:spPr>
        </p:cxnSp>
        <p:grpSp>
          <p:nvGrpSpPr>
            <p:cNvPr id="75" name="Group 74">
              <a:extLst>
                <a:ext uri="{FF2B5EF4-FFF2-40B4-BE49-F238E27FC236}">
                  <a16:creationId xmlns:a16="http://schemas.microsoft.com/office/drawing/2014/main" xmlns="" id="{A76988D8-AD9D-A847-99C0-A44F52D7B0AB}"/>
                </a:ext>
              </a:extLst>
            </p:cNvPr>
            <p:cNvGrpSpPr/>
            <p:nvPr/>
          </p:nvGrpSpPr>
          <p:grpSpPr>
            <a:xfrm rot="5400000" flipV="1">
              <a:off x="7117162" y="2362136"/>
              <a:ext cx="151970" cy="385225"/>
              <a:chOff x="5104983" y="1988699"/>
              <a:chExt cx="583063" cy="564332"/>
            </a:xfrm>
          </p:grpSpPr>
          <p:cxnSp>
            <p:nvCxnSpPr>
              <p:cNvPr id="89" name="Straight Arrow Connector 88">
                <a:extLst>
                  <a:ext uri="{FF2B5EF4-FFF2-40B4-BE49-F238E27FC236}">
                    <a16:creationId xmlns:a16="http://schemas.microsoft.com/office/drawing/2014/main" xmlns="" id="{1B7F84BD-39B2-F441-8D4C-6FEECE6DE29D}"/>
                  </a:ext>
                </a:extLst>
              </p:cNvPr>
              <p:cNvCxnSpPr/>
              <p:nvPr/>
            </p:nvCxnSpPr>
            <p:spPr>
              <a:xfrm>
                <a:off x="5104983" y="2232991"/>
                <a:ext cx="583063" cy="320040"/>
              </a:xfrm>
              <a:prstGeom prst="straightConnector1">
                <a:avLst/>
              </a:prstGeom>
              <a:noFill/>
              <a:ln w="6350" cap="flat" cmpd="sng" algn="ctr">
                <a:solidFill>
                  <a:sysClr val="windowText" lastClr="000000"/>
                </a:solidFill>
                <a:prstDash val="solid"/>
                <a:miter lim="800000"/>
                <a:tailEnd type="triangle"/>
              </a:ln>
              <a:effectLst/>
            </p:spPr>
          </p:cxnSp>
          <p:cxnSp>
            <p:nvCxnSpPr>
              <p:cNvPr id="90" name="Straight Arrow Connector 89">
                <a:extLst>
                  <a:ext uri="{FF2B5EF4-FFF2-40B4-BE49-F238E27FC236}">
                    <a16:creationId xmlns:a16="http://schemas.microsoft.com/office/drawing/2014/main" xmlns="" id="{8E5E5DB8-E4C8-1F4D-B23A-B67BC3A0F43B}"/>
                  </a:ext>
                </a:extLst>
              </p:cNvPr>
              <p:cNvCxnSpPr/>
              <p:nvPr/>
            </p:nvCxnSpPr>
            <p:spPr>
              <a:xfrm>
                <a:off x="5104983" y="1988699"/>
                <a:ext cx="583063" cy="564332"/>
              </a:xfrm>
              <a:prstGeom prst="straightConnector1">
                <a:avLst/>
              </a:prstGeom>
              <a:noFill/>
              <a:ln w="6350" cap="flat" cmpd="sng" algn="ctr">
                <a:solidFill>
                  <a:sysClr val="windowText" lastClr="000000"/>
                </a:solidFill>
                <a:prstDash val="solid"/>
                <a:miter lim="800000"/>
                <a:tailEnd type="triangle"/>
              </a:ln>
              <a:effectLst/>
            </p:spPr>
          </p:cxnSp>
        </p:grpSp>
        <p:cxnSp>
          <p:nvCxnSpPr>
            <p:cNvPr id="76" name="Straight Arrow Connector 75">
              <a:extLst>
                <a:ext uri="{FF2B5EF4-FFF2-40B4-BE49-F238E27FC236}">
                  <a16:creationId xmlns:a16="http://schemas.microsoft.com/office/drawing/2014/main" xmlns="" id="{5DEF899B-626E-874D-BB5F-C612E83AFD69}"/>
                </a:ext>
              </a:extLst>
            </p:cNvPr>
            <p:cNvCxnSpPr/>
            <p:nvPr/>
          </p:nvCxnSpPr>
          <p:spPr>
            <a:xfrm rot="5400000">
              <a:off x="7309774" y="2774394"/>
              <a:ext cx="151970" cy="0"/>
            </a:xfrm>
            <a:prstGeom prst="straightConnector1">
              <a:avLst/>
            </a:prstGeom>
            <a:noFill/>
            <a:ln w="6350" cap="flat" cmpd="sng" algn="ctr">
              <a:solidFill>
                <a:sysClr val="windowText" lastClr="000000"/>
              </a:solidFill>
              <a:prstDash val="solid"/>
              <a:miter lim="800000"/>
              <a:tailEnd type="triangle"/>
            </a:ln>
            <a:effectLst/>
          </p:spPr>
        </p:cxnSp>
        <p:cxnSp>
          <p:nvCxnSpPr>
            <p:cNvPr id="77" name="Straight Arrow Connector 76">
              <a:extLst>
                <a:ext uri="{FF2B5EF4-FFF2-40B4-BE49-F238E27FC236}">
                  <a16:creationId xmlns:a16="http://schemas.microsoft.com/office/drawing/2014/main" xmlns="" id="{F5A8D19C-FC95-744F-A270-35563EB30860}"/>
                </a:ext>
              </a:extLst>
            </p:cNvPr>
            <p:cNvCxnSpPr/>
            <p:nvPr/>
          </p:nvCxnSpPr>
          <p:spPr>
            <a:xfrm rot="5400000">
              <a:off x="7419007" y="2665161"/>
              <a:ext cx="15197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78" name="Straight Arrow Connector 77">
              <a:extLst>
                <a:ext uri="{FF2B5EF4-FFF2-40B4-BE49-F238E27FC236}">
                  <a16:creationId xmlns:a16="http://schemas.microsoft.com/office/drawing/2014/main" xmlns="" id="{B92E2B80-5FBB-674D-83D0-E3EA266865AC}"/>
                </a:ext>
              </a:extLst>
            </p:cNvPr>
            <p:cNvCxnSpPr/>
            <p:nvPr/>
          </p:nvCxnSpPr>
          <p:spPr>
            <a:xfrm rot="5400000" flipV="1">
              <a:off x="7200541" y="2665161"/>
              <a:ext cx="15197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79" name="Straight Arrow Connector 78">
              <a:extLst>
                <a:ext uri="{FF2B5EF4-FFF2-40B4-BE49-F238E27FC236}">
                  <a16:creationId xmlns:a16="http://schemas.microsoft.com/office/drawing/2014/main" xmlns="" id="{4D31B2A3-9CD3-924A-843A-468472D79C23}"/>
                </a:ext>
              </a:extLst>
            </p:cNvPr>
            <p:cNvCxnSpPr/>
            <p:nvPr/>
          </p:nvCxnSpPr>
          <p:spPr>
            <a:xfrm flipH="1">
              <a:off x="7406586" y="2184856"/>
              <a:ext cx="780427" cy="196323"/>
            </a:xfrm>
            <a:prstGeom prst="straightConnector1">
              <a:avLst/>
            </a:prstGeom>
            <a:noFill/>
            <a:ln w="6350" cap="flat" cmpd="sng" algn="ctr">
              <a:solidFill>
                <a:sysClr val="windowText" lastClr="000000"/>
              </a:solidFill>
              <a:prstDash val="solid"/>
              <a:miter lim="800000"/>
              <a:tailEnd type="triangle"/>
            </a:ln>
            <a:effectLst/>
          </p:spPr>
        </p:cxnSp>
        <p:sp>
          <p:nvSpPr>
            <p:cNvPr id="80" name="TextBox 79">
              <a:extLst>
                <a:ext uri="{FF2B5EF4-FFF2-40B4-BE49-F238E27FC236}">
                  <a16:creationId xmlns:a16="http://schemas.microsoft.com/office/drawing/2014/main" xmlns="" id="{95CF6EF2-0C49-DF4C-8BE9-65A4876943F8}"/>
                </a:ext>
              </a:extLst>
            </p:cNvPr>
            <p:cNvSpPr txBox="1"/>
            <p:nvPr/>
          </p:nvSpPr>
          <p:spPr>
            <a:xfrm>
              <a:off x="6052335" y="1996059"/>
              <a:ext cx="417386"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500</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1" name="TextBox 80">
              <a:extLst>
                <a:ext uri="{FF2B5EF4-FFF2-40B4-BE49-F238E27FC236}">
                  <a16:creationId xmlns:a16="http://schemas.microsoft.com/office/drawing/2014/main" xmlns="" id="{E63D9937-0727-A84B-AF8A-8E321AF0CA6A}"/>
                </a:ext>
              </a:extLst>
            </p:cNvPr>
            <p:cNvSpPr txBox="1"/>
            <p:nvPr/>
          </p:nvSpPr>
          <p:spPr>
            <a:xfrm>
              <a:off x="6236397" y="2323492"/>
              <a:ext cx="79443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150</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2" name="TextBox 81">
              <a:extLst>
                <a:ext uri="{FF2B5EF4-FFF2-40B4-BE49-F238E27FC236}">
                  <a16:creationId xmlns:a16="http://schemas.microsoft.com/office/drawing/2014/main" xmlns="" id="{87B045AE-4DDB-3148-8C46-360466075ADF}"/>
                </a:ext>
              </a:extLst>
            </p:cNvPr>
            <p:cNvSpPr txBox="1"/>
            <p:nvPr/>
          </p:nvSpPr>
          <p:spPr>
            <a:xfrm>
              <a:off x="8265838" y="1994270"/>
              <a:ext cx="416767"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500</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3" name="TextBox 82">
              <a:extLst>
                <a:ext uri="{FF2B5EF4-FFF2-40B4-BE49-F238E27FC236}">
                  <a16:creationId xmlns:a16="http://schemas.microsoft.com/office/drawing/2014/main" xmlns="" id="{E51141DA-68BD-CC41-88C3-E8337AB63830}"/>
                </a:ext>
              </a:extLst>
            </p:cNvPr>
            <p:cNvSpPr txBox="1"/>
            <p:nvPr/>
          </p:nvSpPr>
          <p:spPr>
            <a:xfrm>
              <a:off x="6535802" y="2562365"/>
              <a:ext cx="79443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45</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4" name="TextBox 83">
              <a:extLst>
                <a:ext uri="{FF2B5EF4-FFF2-40B4-BE49-F238E27FC236}">
                  <a16:creationId xmlns:a16="http://schemas.microsoft.com/office/drawing/2014/main" xmlns="" id="{C9EFB4BC-8C4E-A24E-835E-F6516B2468E9}"/>
                </a:ext>
              </a:extLst>
            </p:cNvPr>
            <p:cNvSpPr txBox="1"/>
            <p:nvPr/>
          </p:nvSpPr>
          <p:spPr>
            <a:xfrm>
              <a:off x="6447163" y="1528708"/>
              <a:ext cx="1954921" cy="43088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Siamese network trained on </a:t>
              </a:r>
              <a:r>
                <a:rPr kumimoji="0" lang="en-US" sz="1050" b="0" i="0" u="none" strike="noStrike" kern="0" cap="none" spc="0" normalizeH="0" baseline="0" noProof="0" dirty="0" err="1">
                  <a:ln>
                    <a:noFill/>
                  </a:ln>
                  <a:solidFill>
                    <a:prstClr val="black"/>
                  </a:solidFill>
                  <a:effectLst/>
                  <a:uLnTx/>
                  <a:uFillTx/>
                  <a:latin typeface="Courier" charset="0"/>
                  <a:ea typeface="Courier" charset="0"/>
                  <a:cs typeface="Courier" charset="0"/>
                </a:rPr>
                <a:t>TemProb</a:t>
              </a:r>
              <a:endPar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86" name="TextBox 85">
              <a:extLst>
                <a:ext uri="{FF2B5EF4-FFF2-40B4-BE49-F238E27FC236}">
                  <a16:creationId xmlns:a16="http://schemas.microsoft.com/office/drawing/2014/main" xmlns="" id="{D384117C-7C05-E84C-990C-039044BE48DB}"/>
                </a:ext>
              </a:extLst>
            </p:cNvPr>
            <p:cNvSpPr txBox="1"/>
            <p:nvPr/>
          </p:nvSpPr>
          <p:spPr>
            <a:xfrm>
              <a:off x="7694098" y="2210184"/>
              <a:ext cx="942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dropout 0.3</a:t>
              </a:r>
            </a:p>
          </p:txBody>
        </p:sp>
        <p:sp>
          <p:nvSpPr>
            <p:cNvPr id="87" name="TextBox 86">
              <a:extLst>
                <a:ext uri="{FF2B5EF4-FFF2-40B4-BE49-F238E27FC236}">
                  <a16:creationId xmlns:a16="http://schemas.microsoft.com/office/drawing/2014/main" xmlns="" id="{ADE0FB66-27C1-1941-B7A5-821FE19BB2C4}"/>
                </a:ext>
              </a:extLst>
            </p:cNvPr>
            <p:cNvSpPr txBox="1"/>
            <p:nvPr/>
          </p:nvSpPr>
          <p:spPr>
            <a:xfrm>
              <a:off x="7582284" y="2454827"/>
              <a:ext cx="942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dropout 0.3</a:t>
              </a:r>
            </a:p>
          </p:txBody>
        </p:sp>
        <p:cxnSp>
          <p:nvCxnSpPr>
            <p:cNvPr id="88" name="Straight Arrow Connector 87">
              <a:extLst>
                <a:ext uri="{FF2B5EF4-FFF2-40B4-BE49-F238E27FC236}">
                  <a16:creationId xmlns:a16="http://schemas.microsoft.com/office/drawing/2014/main" xmlns="" id="{6D7772DF-2D47-2944-826A-669549E2F806}"/>
                </a:ext>
              </a:extLst>
            </p:cNvPr>
            <p:cNvCxnSpPr/>
            <p:nvPr/>
          </p:nvCxnSpPr>
          <p:spPr>
            <a:xfrm>
              <a:off x="6539013" y="2173346"/>
              <a:ext cx="835052" cy="210064"/>
            </a:xfrm>
            <a:prstGeom prst="straightConnector1">
              <a:avLst/>
            </a:prstGeom>
            <a:noFill/>
            <a:ln w="6350" cap="flat" cmpd="sng" algn="ctr">
              <a:solidFill>
                <a:sysClr val="windowText" lastClr="000000"/>
              </a:solidFill>
              <a:prstDash val="solid"/>
              <a:miter lim="800000"/>
              <a:tailEnd type="triangle"/>
            </a:ln>
            <a:effectLst/>
          </p:spPr>
        </p:cxnSp>
      </p:grpSp>
      <p:grpSp>
        <p:nvGrpSpPr>
          <p:cNvPr id="93" name="Group 92">
            <a:extLst>
              <a:ext uri="{FF2B5EF4-FFF2-40B4-BE49-F238E27FC236}">
                <a16:creationId xmlns:a16="http://schemas.microsoft.com/office/drawing/2014/main" xmlns="" id="{797B45D5-D351-674E-96A2-6E1F3B01E0D0}"/>
              </a:ext>
            </a:extLst>
          </p:cNvPr>
          <p:cNvGrpSpPr/>
          <p:nvPr/>
        </p:nvGrpSpPr>
        <p:grpSpPr>
          <a:xfrm>
            <a:off x="7290880" y="2938643"/>
            <a:ext cx="557925" cy="1597202"/>
            <a:chOff x="7290880" y="2938643"/>
            <a:chExt cx="557925" cy="1597202"/>
          </a:xfrm>
        </p:grpSpPr>
        <p:cxnSp>
          <p:nvCxnSpPr>
            <p:cNvPr id="94" name="Straight Arrow Connector 93">
              <a:extLst>
                <a:ext uri="{FF2B5EF4-FFF2-40B4-BE49-F238E27FC236}">
                  <a16:creationId xmlns:a16="http://schemas.microsoft.com/office/drawing/2014/main" xmlns="" id="{712BA1C8-54D6-E641-8013-3ADECBE0C9C1}"/>
                </a:ext>
              </a:extLst>
            </p:cNvPr>
            <p:cNvCxnSpPr>
              <a:cxnSpLocks/>
              <a:endCxn id="97" idx="1"/>
            </p:cNvCxnSpPr>
            <p:nvPr/>
          </p:nvCxnSpPr>
          <p:spPr>
            <a:xfrm flipH="1">
              <a:off x="7331454" y="2938643"/>
              <a:ext cx="60328" cy="711919"/>
            </a:xfrm>
            <a:prstGeom prst="straightConnector1">
              <a:avLst/>
            </a:prstGeom>
            <a:noFill/>
            <a:ln w="6350" cap="flat" cmpd="sng" algn="ctr">
              <a:solidFill>
                <a:sysClr val="windowText" lastClr="000000"/>
              </a:solidFill>
              <a:prstDash val="solid"/>
              <a:miter lim="800000"/>
              <a:headEnd type="none" w="med" len="med"/>
              <a:tailEnd type="triangle" w="med" len="med"/>
            </a:ln>
            <a:effectLst/>
          </p:spPr>
        </p:cxnSp>
        <p:grpSp>
          <p:nvGrpSpPr>
            <p:cNvPr id="95" name="Group 94">
              <a:extLst>
                <a:ext uri="{FF2B5EF4-FFF2-40B4-BE49-F238E27FC236}">
                  <a16:creationId xmlns:a16="http://schemas.microsoft.com/office/drawing/2014/main" xmlns="" id="{5005506E-7316-2C49-ADBF-EF612C849652}"/>
                </a:ext>
              </a:extLst>
            </p:cNvPr>
            <p:cNvGrpSpPr/>
            <p:nvPr/>
          </p:nvGrpSpPr>
          <p:grpSpPr>
            <a:xfrm>
              <a:off x="7290880" y="2938643"/>
              <a:ext cx="557925" cy="1597202"/>
              <a:chOff x="7290880" y="2938643"/>
              <a:chExt cx="557925" cy="1597202"/>
            </a:xfrm>
          </p:grpSpPr>
          <p:sp>
            <p:nvSpPr>
              <p:cNvPr id="97" name="Rectangle 96">
                <a:extLst>
                  <a:ext uri="{FF2B5EF4-FFF2-40B4-BE49-F238E27FC236}">
                    <a16:creationId xmlns:a16="http://schemas.microsoft.com/office/drawing/2014/main" xmlns="" id="{5875A255-6C91-E04C-94C3-2A11797934E3}"/>
                  </a:ext>
                </a:extLst>
              </p:cNvPr>
              <p:cNvSpPr>
                <a:spLocks noChangeAspect="1"/>
              </p:cNvSpPr>
              <p:nvPr/>
            </p:nvSpPr>
            <p:spPr>
              <a:xfrm rot="16200000" flipH="1">
                <a:off x="7229506" y="3711936"/>
                <a:ext cx="203894" cy="81145"/>
              </a:xfrm>
              <a:prstGeom prst="rect">
                <a:avLst/>
              </a:prstGeom>
              <a:solidFill>
                <a:srgbClr val="7030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8" name="Rectangle 97">
                <a:extLst>
                  <a:ext uri="{FF2B5EF4-FFF2-40B4-BE49-F238E27FC236}">
                    <a16:creationId xmlns:a16="http://schemas.microsoft.com/office/drawing/2014/main" xmlns="" id="{3C135CF0-5311-384D-9292-298CC78DB682}"/>
                  </a:ext>
                </a:extLst>
              </p:cNvPr>
              <p:cNvSpPr>
                <a:spLocks noChangeAspect="1"/>
              </p:cNvSpPr>
              <p:nvPr/>
            </p:nvSpPr>
            <p:spPr>
              <a:xfrm rot="16200000" flipH="1">
                <a:off x="7706286" y="4393325"/>
                <a:ext cx="203894" cy="81145"/>
              </a:xfrm>
              <a:prstGeom prst="rect">
                <a:avLst/>
              </a:prstGeom>
              <a:solidFill>
                <a:srgbClr val="7030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99" name="Straight Arrow Connector 98">
                <a:extLst>
                  <a:ext uri="{FF2B5EF4-FFF2-40B4-BE49-F238E27FC236}">
                    <a16:creationId xmlns:a16="http://schemas.microsoft.com/office/drawing/2014/main" xmlns="" id="{1EE79A6D-37D9-9E40-BD94-897DD400809E}"/>
                  </a:ext>
                </a:extLst>
              </p:cNvPr>
              <p:cNvCxnSpPr>
                <a:endCxn id="98" idx="1"/>
              </p:cNvCxnSpPr>
              <p:nvPr/>
            </p:nvCxnSpPr>
            <p:spPr>
              <a:xfrm>
                <a:off x="7391781" y="2938643"/>
                <a:ext cx="416452" cy="1393308"/>
              </a:xfrm>
              <a:prstGeom prst="straightConnector1">
                <a:avLst/>
              </a:prstGeom>
              <a:noFill/>
              <a:ln w="6350" cap="flat" cmpd="sng" algn="ctr">
                <a:solidFill>
                  <a:sysClr val="windowText" lastClr="000000"/>
                </a:solidFill>
                <a:prstDash val="solid"/>
                <a:miter lim="800000"/>
                <a:headEnd type="none" w="med" len="med"/>
                <a:tailEnd type="triangle" w="med" len="med"/>
              </a:ln>
              <a:effectLst/>
            </p:spPr>
          </p:cxnSp>
        </p:grpSp>
      </p:grpSp>
      <p:sp>
        <p:nvSpPr>
          <p:cNvPr id="96" name="TextBox 95">
            <a:extLst>
              <a:ext uri="{FF2B5EF4-FFF2-40B4-BE49-F238E27FC236}">
                <a16:creationId xmlns:a16="http://schemas.microsoft.com/office/drawing/2014/main" xmlns="" id="{24BCA9D2-4E4C-074E-8449-AFDB37D2FA2F}"/>
              </a:ext>
            </a:extLst>
          </p:cNvPr>
          <p:cNvSpPr txBox="1"/>
          <p:nvPr/>
        </p:nvSpPr>
        <p:spPr>
          <a:xfrm>
            <a:off x="508497" y="4756068"/>
            <a:ext cx="112077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word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embeddings</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103" name="TextBox 102">
            <a:extLst>
              <a:ext uri="{FF2B5EF4-FFF2-40B4-BE49-F238E27FC236}">
                <a16:creationId xmlns:a16="http://schemas.microsoft.com/office/drawing/2014/main" xmlns="" id="{8D7FCFBF-E833-2741-BAF4-EF926B2F034F}"/>
              </a:ext>
            </a:extLst>
          </p:cNvPr>
          <p:cNvSpPr txBox="1"/>
          <p:nvPr/>
        </p:nvSpPr>
        <p:spPr>
          <a:xfrm>
            <a:off x="266700" y="1338702"/>
            <a:ext cx="5412377" cy="1938992"/>
          </a:xfrm>
          <a:prstGeom prst="rect">
            <a:avLst/>
          </a:prstGeom>
          <a:noFill/>
        </p:spPr>
        <p:txBody>
          <a:bodyPr wrap="square" rtlCol="0">
            <a:spAutoFit/>
          </a:bodyPr>
          <a:lstStyle/>
          <a:p>
            <a:pPr marL="342900" indent="-342900">
              <a:buSzPct val="65000"/>
              <a:buFont typeface="Wingdings" pitchFamily="2" charset="2"/>
              <a:buChar char="q"/>
            </a:pPr>
            <a:r>
              <a:rPr lang="en-US" sz="2000" dirty="0">
                <a:solidFill>
                  <a:schemeClr val="bg2"/>
                </a:solidFill>
                <a:latin typeface="Century Gothic" panose="020B0502020202020204" pitchFamily="34" charset="0"/>
              </a:rPr>
              <a:t>LSTM takes word embeddings as input</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Hidden vectors represent events</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FFNN predicts the labels of temporal relations (followed by ILP inference)</a:t>
            </a:r>
          </a:p>
          <a:p>
            <a:pPr marL="342900" indent="-342900">
              <a:buSzPct val="65000"/>
              <a:buFont typeface="Wingdings" pitchFamily="2" charset="2"/>
              <a:buChar char="q"/>
            </a:pPr>
            <a:r>
              <a:rPr lang="en-US" sz="2000" b="1" dirty="0">
                <a:solidFill>
                  <a:schemeClr val="bg2"/>
                </a:solidFill>
                <a:latin typeface="Century Gothic" panose="020B0502020202020204" pitchFamily="34" charset="0"/>
              </a:rPr>
              <a:t>Siamese network is a generalized </a:t>
            </a:r>
            <a:r>
              <a:rPr lang="en-US" sz="2000" b="1" dirty="0" err="1">
                <a:solidFill>
                  <a:schemeClr val="bg2"/>
                </a:solidFill>
                <a:latin typeface="Century Gothic" panose="020B0502020202020204" pitchFamily="34" charset="0"/>
              </a:rPr>
              <a:t>TemProb</a:t>
            </a:r>
            <a:endParaRPr lang="en-US" sz="2000" b="1" dirty="0">
              <a:solidFill>
                <a:schemeClr val="bg2"/>
              </a:solidFill>
              <a:latin typeface="Century Gothic" panose="020B0502020202020204" pitchFamily="34" charset="0"/>
            </a:endParaRPr>
          </a:p>
        </p:txBody>
      </p:sp>
      <p:sp>
        <p:nvSpPr>
          <p:cNvPr id="100" name="TextBox 99">
            <a:extLst>
              <a:ext uri="{FF2B5EF4-FFF2-40B4-BE49-F238E27FC236}">
                <a16:creationId xmlns:a16="http://schemas.microsoft.com/office/drawing/2014/main" xmlns="" id="{F49080EB-E0D9-F745-A2AD-A7F146E82F6E}"/>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Tree>
    <p:extLst>
      <p:ext uri="{BB962C8B-B14F-4D97-AF65-F5344CB8AC3E}">
        <p14:creationId xmlns:p14="http://schemas.microsoft.com/office/powerpoint/2010/main" val="276235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up)">
                                      <p:cBhvr>
                                        <p:cTn id="7"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hart 11">
            <a:extLst>
              <a:ext uri="{FF2B5EF4-FFF2-40B4-BE49-F238E27FC236}">
                <a16:creationId xmlns:a16="http://schemas.microsoft.com/office/drawing/2014/main" xmlns="" id="{278FC97D-E638-7E41-AB57-FB6A9CE22C67}"/>
              </a:ext>
            </a:extLst>
          </p:cNvPr>
          <p:cNvGraphicFramePr/>
          <p:nvPr>
            <p:extLst>
              <p:ext uri="{D42A27DB-BD31-4B8C-83A1-F6EECF244321}">
                <p14:modId xmlns:p14="http://schemas.microsoft.com/office/powerpoint/2010/main" val="452460387"/>
              </p:ext>
            </p:extLst>
          </p:nvPr>
        </p:nvGraphicFramePr>
        <p:xfrm>
          <a:off x="561974" y="914400"/>
          <a:ext cx="8001000" cy="53340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xmlns="" id="{83D49199-1C85-434F-A859-D17886F4BA0F}"/>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
        <p:nvSpPr>
          <p:cNvPr id="8" name="Freeform 7">
            <a:extLst>
              <a:ext uri="{FF2B5EF4-FFF2-40B4-BE49-F238E27FC236}">
                <a16:creationId xmlns:a16="http://schemas.microsoft.com/office/drawing/2014/main" xmlns="" id="{0DE2B601-8943-F34E-A685-651E19560A19}"/>
              </a:ext>
            </a:extLst>
          </p:cNvPr>
          <p:cNvSpPr/>
          <p:nvPr/>
        </p:nvSpPr>
        <p:spPr>
          <a:xfrm>
            <a:off x="1883224" y="1143000"/>
            <a:ext cx="5521111" cy="2667000"/>
          </a:xfrm>
          <a:custGeom>
            <a:avLst/>
            <a:gdLst>
              <a:gd name="connsiteX0" fmla="*/ 0 w 1482436"/>
              <a:gd name="connsiteY0" fmla="*/ 1108363 h 1108363"/>
              <a:gd name="connsiteX1" fmla="*/ 692727 w 1482436"/>
              <a:gd name="connsiteY1" fmla="*/ 720436 h 1108363"/>
              <a:gd name="connsiteX2" fmla="*/ 1482436 w 1482436"/>
              <a:gd name="connsiteY2" fmla="*/ 0 h 1108363"/>
            </a:gdLst>
            <a:ahLst/>
            <a:cxnLst>
              <a:cxn ang="0">
                <a:pos x="connsiteX0" y="connsiteY0"/>
              </a:cxn>
              <a:cxn ang="0">
                <a:pos x="connsiteX1" y="connsiteY1"/>
              </a:cxn>
              <a:cxn ang="0">
                <a:pos x="connsiteX2" y="connsiteY2"/>
              </a:cxn>
            </a:cxnLst>
            <a:rect l="l" t="t" r="r" b="b"/>
            <a:pathLst>
              <a:path w="1482436" h="1108363">
                <a:moveTo>
                  <a:pt x="0" y="1108363"/>
                </a:moveTo>
                <a:cubicBezTo>
                  <a:pt x="222827" y="1006763"/>
                  <a:pt x="445654" y="905163"/>
                  <a:pt x="692727" y="720436"/>
                </a:cubicBezTo>
                <a:cubicBezTo>
                  <a:pt x="939800" y="535709"/>
                  <a:pt x="1482436" y="0"/>
                  <a:pt x="1482436" y="0"/>
                </a:cubicBezTo>
              </a:path>
            </a:pathLst>
          </a:custGeom>
          <a:noFill/>
          <a:ln w="38100">
            <a:solidFill>
              <a:srgbClr val="A7001B"/>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grpSp>
        <p:nvGrpSpPr>
          <p:cNvPr id="9" name="Group 8">
            <a:extLst>
              <a:ext uri="{FF2B5EF4-FFF2-40B4-BE49-F238E27FC236}">
                <a16:creationId xmlns:a16="http://schemas.microsoft.com/office/drawing/2014/main" xmlns="" id="{D1C7B116-0149-0C4E-83F5-AF7325903742}"/>
              </a:ext>
            </a:extLst>
          </p:cNvPr>
          <p:cNvGrpSpPr/>
          <p:nvPr/>
        </p:nvGrpSpPr>
        <p:grpSpPr>
          <a:xfrm>
            <a:off x="25167" y="228600"/>
            <a:ext cx="8268132" cy="533400"/>
            <a:chOff x="25167" y="228600"/>
            <a:chExt cx="8268132" cy="533400"/>
          </a:xfrm>
        </p:grpSpPr>
        <p:sp>
          <p:nvSpPr>
            <p:cNvPr id="15" name="Title 240">
              <a:extLst>
                <a:ext uri="{FF2B5EF4-FFF2-40B4-BE49-F238E27FC236}">
                  <a16:creationId xmlns:a16="http://schemas.microsoft.com/office/drawing/2014/main" xmlns="" id="{0F806D1B-113D-DC4B-8A80-44D2BF4AADA3}"/>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dirty="0"/>
                <a:t>: a neural approach</a:t>
              </a:r>
            </a:p>
          </p:txBody>
        </p:sp>
        <p:sp>
          <p:nvSpPr>
            <p:cNvPr id="16" name="TextBox 15">
              <a:extLst>
                <a:ext uri="{FF2B5EF4-FFF2-40B4-BE49-F238E27FC236}">
                  <a16:creationId xmlns:a16="http://schemas.microsoft.com/office/drawing/2014/main" xmlns="" id="{3C223C7E-9FC4-2B44-8746-D11CD4DA0A14}"/>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sp>
        <p:nvSpPr>
          <p:cNvPr id="18" name="TextBox 17">
            <a:extLst>
              <a:ext uri="{FF2B5EF4-FFF2-40B4-BE49-F238E27FC236}">
                <a16:creationId xmlns:a16="http://schemas.microsoft.com/office/drawing/2014/main" xmlns="" id="{1FAD4134-EE94-5746-AF3F-8ECE5D8B674F}"/>
              </a:ext>
            </a:extLst>
          </p:cNvPr>
          <p:cNvSpPr txBox="1"/>
          <p:nvPr/>
        </p:nvSpPr>
        <p:spPr>
          <a:xfrm>
            <a:off x="1739664" y="3167390"/>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Previous SOTA</a:t>
            </a:r>
          </a:p>
        </p:txBody>
      </p:sp>
      <p:grpSp>
        <p:nvGrpSpPr>
          <p:cNvPr id="2" name="Group 1">
            <a:extLst>
              <a:ext uri="{FF2B5EF4-FFF2-40B4-BE49-F238E27FC236}">
                <a16:creationId xmlns:a16="http://schemas.microsoft.com/office/drawing/2014/main" xmlns="" id="{E529B9F9-73CC-D646-AA6D-E9AB877092D9}"/>
              </a:ext>
            </a:extLst>
          </p:cNvPr>
          <p:cNvGrpSpPr/>
          <p:nvPr/>
        </p:nvGrpSpPr>
        <p:grpSpPr>
          <a:xfrm>
            <a:off x="2590800" y="2817552"/>
            <a:ext cx="1143000" cy="1311904"/>
            <a:chOff x="2590800" y="2817552"/>
            <a:chExt cx="1143000" cy="1311904"/>
          </a:xfrm>
        </p:grpSpPr>
        <p:sp>
          <p:nvSpPr>
            <p:cNvPr id="17" name="TextBox 16">
              <a:extLst>
                <a:ext uri="{FF2B5EF4-FFF2-40B4-BE49-F238E27FC236}">
                  <a16:creationId xmlns:a16="http://schemas.microsoft.com/office/drawing/2014/main" xmlns="" id="{32F66C12-074B-9F47-A822-300AD9B70BB4}"/>
                </a:ext>
              </a:extLst>
            </p:cNvPr>
            <p:cNvSpPr txBox="1"/>
            <p:nvPr/>
          </p:nvSpPr>
          <p:spPr>
            <a:xfrm>
              <a:off x="2590800" y="2817552"/>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Structured learning</a:t>
              </a:r>
            </a:p>
          </p:txBody>
        </p:sp>
        <p:sp>
          <p:nvSpPr>
            <p:cNvPr id="24" name="TextBox 23">
              <a:extLst>
                <a:ext uri="{FF2B5EF4-FFF2-40B4-BE49-F238E27FC236}">
                  <a16:creationId xmlns:a16="http://schemas.microsoft.com/office/drawing/2014/main" xmlns="" id="{1E333C95-5200-C940-B0FE-1AE301728476}"/>
                </a:ext>
              </a:extLst>
            </p:cNvPr>
            <p:cNvSpPr txBox="1"/>
            <p:nvPr/>
          </p:nvSpPr>
          <p:spPr>
            <a:xfrm>
              <a:off x="2590800" y="3821679"/>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4" name="Group 3">
            <a:extLst>
              <a:ext uri="{FF2B5EF4-FFF2-40B4-BE49-F238E27FC236}">
                <a16:creationId xmlns:a16="http://schemas.microsoft.com/office/drawing/2014/main" xmlns="" id="{E63FF029-45F1-2644-87FA-75FEF3FE0BCB}"/>
              </a:ext>
            </a:extLst>
          </p:cNvPr>
          <p:cNvGrpSpPr/>
          <p:nvPr/>
        </p:nvGrpSpPr>
        <p:grpSpPr>
          <a:xfrm>
            <a:off x="3377974" y="2327342"/>
            <a:ext cx="1166054" cy="1408575"/>
            <a:chOff x="3377974" y="2327342"/>
            <a:chExt cx="1166054" cy="1408575"/>
          </a:xfrm>
        </p:grpSpPr>
        <p:sp>
          <p:nvSpPr>
            <p:cNvPr id="19" name="TextBox 18">
              <a:extLst>
                <a:ext uri="{FF2B5EF4-FFF2-40B4-BE49-F238E27FC236}">
                  <a16:creationId xmlns:a16="http://schemas.microsoft.com/office/drawing/2014/main" xmlns="" id="{EDFB77F9-647F-DE49-87AF-C6BBB0CFA713}"/>
                </a:ext>
              </a:extLst>
            </p:cNvPr>
            <p:cNvSpPr txBox="1"/>
            <p:nvPr/>
          </p:nvSpPr>
          <p:spPr>
            <a:xfrm>
              <a:off x="3377974" y="2327342"/>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Common sense</a:t>
              </a:r>
            </a:p>
          </p:txBody>
        </p:sp>
        <p:sp>
          <p:nvSpPr>
            <p:cNvPr id="25" name="TextBox 24">
              <a:extLst>
                <a:ext uri="{FF2B5EF4-FFF2-40B4-BE49-F238E27FC236}">
                  <a16:creationId xmlns:a16="http://schemas.microsoft.com/office/drawing/2014/main" xmlns="" id="{213E4235-4EA4-6C41-B3C5-46BD6BC0D866}"/>
                </a:ext>
              </a:extLst>
            </p:cNvPr>
            <p:cNvSpPr txBox="1"/>
            <p:nvPr/>
          </p:nvSpPr>
          <p:spPr>
            <a:xfrm>
              <a:off x="3401028" y="3428140"/>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6" name="Group 5">
            <a:extLst>
              <a:ext uri="{FF2B5EF4-FFF2-40B4-BE49-F238E27FC236}">
                <a16:creationId xmlns:a16="http://schemas.microsoft.com/office/drawing/2014/main" xmlns="" id="{C9515CC4-7B13-BC44-BFD5-F665D33C05BC}"/>
              </a:ext>
            </a:extLst>
          </p:cNvPr>
          <p:cNvGrpSpPr/>
          <p:nvPr/>
        </p:nvGrpSpPr>
        <p:grpSpPr>
          <a:xfrm>
            <a:off x="4257555" y="1871507"/>
            <a:ext cx="1152645" cy="1204654"/>
            <a:chOff x="4257555" y="1871507"/>
            <a:chExt cx="1152645" cy="1204654"/>
          </a:xfrm>
        </p:grpSpPr>
        <p:sp>
          <p:nvSpPr>
            <p:cNvPr id="20" name="TextBox 19">
              <a:extLst>
                <a:ext uri="{FF2B5EF4-FFF2-40B4-BE49-F238E27FC236}">
                  <a16:creationId xmlns:a16="http://schemas.microsoft.com/office/drawing/2014/main" xmlns="" id="{7837CF35-9881-7E44-8272-BED47F44BBC2}"/>
                </a:ext>
              </a:extLst>
            </p:cNvPr>
            <p:cNvSpPr txBox="1"/>
            <p:nvPr/>
          </p:nvSpPr>
          <p:spPr>
            <a:xfrm>
              <a:off x="4267200" y="1871507"/>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New dataset</a:t>
              </a:r>
            </a:p>
          </p:txBody>
        </p:sp>
        <p:sp>
          <p:nvSpPr>
            <p:cNvPr id="26" name="TextBox 25">
              <a:extLst>
                <a:ext uri="{FF2B5EF4-FFF2-40B4-BE49-F238E27FC236}">
                  <a16:creationId xmlns:a16="http://schemas.microsoft.com/office/drawing/2014/main" xmlns="" id="{7FB541D6-BF19-DB42-B2CC-23B7544C8B9B}"/>
                </a:ext>
              </a:extLst>
            </p:cNvPr>
            <p:cNvSpPr txBox="1"/>
            <p:nvPr/>
          </p:nvSpPr>
          <p:spPr>
            <a:xfrm>
              <a:off x="4257555" y="276838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+11%*</a:t>
              </a:r>
            </a:p>
          </p:txBody>
        </p:sp>
      </p:grpSp>
      <p:grpSp>
        <p:nvGrpSpPr>
          <p:cNvPr id="5" name="Group 4">
            <a:extLst>
              <a:ext uri="{FF2B5EF4-FFF2-40B4-BE49-F238E27FC236}">
                <a16:creationId xmlns:a16="http://schemas.microsoft.com/office/drawing/2014/main" xmlns="" id="{F62E5451-C6C2-B44C-9019-B8A771319685}"/>
              </a:ext>
            </a:extLst>
          </p:cNvPr>
          <p:cNvGrpSpPr/>
          <p:nvPr/>
        </p:nvGrpSpPr>
        <p:grpSpPr>
          <a:xfrm>
            <a:off x="5067783" y="1753567"/>
            <a:ext cx="1154278" cy="975353"/>
            <a:chOff x="5067783" y="1753567"/>
            <a:chExt cx="1154278" cy="975353"/>
          </a:xfrm>
        </p:grpSpPr>
        <p:sp>
          <p:nvSpPr>
            <p:cNvPr id="21" name="TextBox 20">
              <a:extLst>
                <a:ext uri="{FF2B5EF4-FFF2-40B4-BE49-F238E27FC236}">
                  <a16:creationId xmlns:a16="http://schemas.microsoft.com/office/drawing/2014/main" xmlns="" id="{96011672-7A74-B54A-B263-2383A0352054}"/>
                </a:ext>
              </a:extLst>
            </p:cNvPr>
            <p:cNvSpPr txBox="1"/>
            <p:nvPr/>
          </p:nvSpPr>
          <p:spPr>
            <a:xfrm>
              <a:off x="5079061" y="1753567"/>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Neural</a:t>
              </a:r>
            </a:p>
          </p:txBody>
        </p:sp>
        <p:sp>
          <p:nvSpPr>
            <p:cNvPr id="27" name="TextBox 26">
              <a:extLst>
                <a:ext uri="{FF2B5EF4-FFF2-40B4-BE49-F238E27FC236}">
                  <a16:creationId xmlns:a16="http://schemas.microsoft.com/office/drawing/2014/main" xmlns="" id="{A1078CDE-E1CF-5B40-9522-0375E83425B8}"/>
                </a:ext>
              </a:extLst>
            </p:cNvPr>
            <p:cNvSpPr txBox="1"/>
            <p:nvPr/>
          </p:nvSpPr>
          <p:spPr>
            <a:xfrm>
              <a:off x="5067783" y="2421143"/>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+3%</a:t>
              </a:r>
            </a:p>
          </p:txBody>
        </p:sp>
      </p:grpSp>
      <p:grpSp>
        <p:nvGrpSpPr>
          <p:cNvPr id="7" name="Group 6">
            <a:extLst>
              <a:ext uri="{FF2B5EF4-FFF2-40B4-BE49-F238E27FC236}">
                <a16:creationId xmlns:a16="http://schemas.microsoft.com/office/drawing/2014/main" xmlns="" id="{B9F2C1D6-882C-6B4F-B3C0-D444939A70D7}"/>
              </a:ext>
            </a:extLst>
          </p:cNvPr>
          <p:cNvGrpSpPr/>
          <p:nvPr/>
        </p:nvGrpSpPr>
        <p:grpSpPr>
          <a:xfrm>
            <a:off x="5886591" y="1301978"/>
            <a:ext cx="1180719" cy="836633"/>
            <a:chOff x="5886591" y="1301978"/>
            <a:chExt cx="1180719" cy="836633"/>
          </a:xfrm>
        </p:grpSpPr>
        <p:sp>
          <p:nvSpPr>
            <p:cNvPr id="22" name="TextBox 21">
              <a:extLst>
                <a:ext uri="{FF2B5EF4-FFF2-40B4-BE49-F238E27FC236}">
                  <a16:creationId xmlns:a16="http://schemas.microsoft.com/office/drawing/2014/main" xmlns="" id="{DE2F08E5-4801-3542-964A-0F79D7872602}"/>
                </a:ext>
              </a:extLst>
            </p:cNvPr>
            <p:cNvSpPr txBox="1"/>
            <p:nvPr/>
          </p:nvSpPr>
          <p:spPr>
            <a:xfrm>
              <a:off x="5886591" y="1301978"/>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BERT</a:t>
              </a:r>
            </a:p>
          </p:txBody>
        </p:sp>
        <p:sp>
          <p:nvSpPr>
            <p:cNvPr id="28" name="TextBox 27">
              <a:extLst>
                <a:ext uri="{FF2B5EF4-FFF2-40B4-BE49-F238E27FC236}">
                  <a16:creationId xmlns:a16="http://schemas.microsoft.com/office/drawing/2014/main" xmlns="" id="{1ECE3DC5-4644-A74B-9303-6333C2511D32}"/>
                </a:ext>
              </a:extLst>
            </p:cNvPr>
            <p:cNvSpPr txBox="1"/>
            <p:nvPr/>
          </p:nvSpPr>
          <p:spPr>
            <a:xfrm>
              <a:off x="5924310" y="183083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31" name="Group 30">
            <a:extLst>
              <a:ext uri="{FF2B5EF4-FFF2-40B4-BE49-F238E27FC236}">
                <a16:creationId xmlns:a16="http://schemas.microsoft.com/office/drawing/2014/main" xmlns="" id="{A5DEDB0D-B526-DA4A-955D-809BEDE43482}"/>
              </a:ext>
            </a:extLst>
          </p:cNvPr>
          <p:cNvGrpSpPr/>
          <p:nvPr/>
        </p:nvGrpSpPr>
        <p:grpSpPr>
          <a:xfrm>
            <a:off x="6757687" y="882134"/>
            <a:ext cx="1187372" cy="932386"/>
            <a:chOff x="6757687" y="882134"/>
            <a:chExt cx="1187372" cy="932386"/>
          </a:xfrm>
        </p:grpSpPr>
        <p:sp>
          <p:nvSpPr>
            <p:cNvPr id="23" name="TextBox 22">
              <a:extLst>
                <a:ext uri="{FF2B5EF4-FFF2-40B4-BE49-F238E27FC236}">
                  <a16:creationId xmlns:a16="http://schemas.microsoft.com/office/drawing/2014/main" xmlns="" id="{7E3CA28F-D866-104B-B7AF-33839E47CF8F}"/>
                </a:ext>
              </a:extLst>
            </p:cNvPr>
            <p:cNvSpPr txBox="1"/>
            <p:nvPr/>
          </p:nvSpPr>
          <p:spPr>
            <a:xfrm>
              <a:off x="6802059" y="88213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Siamese</a:t>
              </a:r>
            </a:p>
          </p:txBody>
        </p:sp>
        <p:sp>
          <p:nvSpPr>
            <p:cNvPr id="29" name="TextBox 28">
              <a:extLst>
                <a:ext uri="{FF2B5EF4-FFF2-40B4-BE49-F238E27FC236}">
                  <a16:creationId xmlns:a16="http://schemas.microsoft.com/office/drawing/2014/main" xmlns="" id="{3D571F23-DB2E-8243-B051-CAEC8F8E88DC}"/>
                </a:ext>
              </a:extLst>
            </p:cNvPr>
            <p:cNvSpPr txBox="1"/>
            <p:nvPr/>
          </p:nvSpPr>
          <p:spPr>
            <a:xfrm>
              <a:off x="6757687" y="1506743"/>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+3%</a:t>
              </a:r>
            </a:p>
          </p:txBody>
        </p:sp>
      </p:grpSp>
      <p:sp>
        <p:nvSpPr>
          <p:cNvPr id="30" name="TextBox 29">
            <a:extLst>
              <a:ext uri="{FF2B5EF4-FFF2-40B4-BE49-F238E27FC236}">
                <a16:creationId xmlns:a16="http://schemas.microsoft.com/office/drawing/2014/main" xmlns="" id="{28B25C81-246C-EC43-BBB1-59915AC8BA87}"/>
              </a:ext>
            </a:extLst>
          </p:cNvPr>
          <p:cNvSpPr txBox="1"/>
          <p:nvPr/>
        </p:nvSpPr>
        <p:spPr>
          <a:xfrm>
            <a:off x="5624815" y="5019298"/>
            <a:ext cx="2743199" cy="307777"/>
          </a:xfrm>
          <a:prstGeom prst="rect">
            <a:avLst/>
          </a:prstGeom>
          <a:noFill/>
        </p:spPr>
        <p:txBody>
          <a:bodyPr wrap="square" rtlCol="0">
            <a:spAutoFit/>
          </a:bodyPr>
          <a:lstStyle/>
          <a:p>
            <a:r>
              <a:rPr lang="en-US" sz="1400" i="1" dirty="0">
                <a:solidFill>
                  <a:schemeClr val="bg2"/>
                </a:solidFill>
                <a:latin typeface="Century Gothic" panose="020B0502020202020204" pitchFamily="34" charset="0"/>
              </a:rPr>
              <a:t>*Test set is re-labeled</a:t>
            </a:r>
          </a:p>
        </p:txBody>
      </p:sp>
    </p:spTree>
    <p:extLst>
      <p:ext uri="{BB962C8B-B14F-4D97-AF65-F5344CB8AC3E}">
        <p14:creationId xmlns:p14="http://schemas.microsoft.com/office/powerpoint/2010/main" val="4182943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ipe(left)">
                                      <p:cBhvr>
                                        <p:cTn id="3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hart 11">
            <a:extLst>
              <a:ext uri="{FF2B5EF4-FFF2-40B4-BE49-F238E27FC236}">
                <a16:creationId xmlns:a16="http://schemas.microsoft.com/office/drawing/2014/main" xmlns="" id="{278FC97D-E638-7E41-AB57-FB6A9CE22C67}"/>
              </a:ext>
            </a:extLst>
          </p:cNvPr>
          <p:cNvGraphicFramePr/>
          <p:nvPr>
            <p:extLst>
              <p:ext uri="{D42A27DB-BD31-4B8C-83A1-F6EECF244321}">
                <p14:modId xmlns:p14="http://schemas.microsoft.com/office/powerpoint/2010/main" val="2883997520"/>
              </p:ext>
            </p:extLst>
          </p:nvPr>
        </p:nvGraphicFramePr>
        <p:xfrm>
          <a:off x="561974" y="914400"/>
          <a:ext cx="8001000" cy="53340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xmlns="" id="{83D49199-1C85-434F-A859-D17886F4BA0F}"/>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
        <p:nvSpPr>
          <p:cNvPr id="8" name="Freeform 7">
            <a:extLst>
              <a:ext uri="{FF2B5EF4-FFF2-40B4-BE49-F238E27FC236}">
                <a16:creationId xmlns:a16="http://schemas.microsoft.com/office/drawing/2014/main" xmlns="" id="{0DE2B601-8943-F34E-A685-651E19560A19}"/>
              </a:ext>
            </a:extLst>
          </p:cNvPr>
          <p:cNvSpPr/>
          <p:nvPr/>
        </p:nvSpPr>
        <p:spPr>
          <a:xfrm>
            <a:off x="1883224" y="1143000"/>
            <a:ext cx="5521111" cy="2667000"/>
          </a:xfrm>
          <a:custGeom>
            <a:avLst/>
            <a:gdLst>
              <a:gd name="connsiteX0" fmla="*/ 0 w 1482436"/>
              <a:gd name="connsiteY0" fmla="*/ 1108363 h 1108363"/>
              <a:gd name="connsiteX1" fmla="*/ 692727 w 1482436"/>
              <a:gd name="connsiteY1" fmla="*/ 720436 h 1108363"/>
              <a:gd name="connsiteX2" fmla="*/ 1482436 w 1482436"/>
              <a:gd name="connsiteY2" fmla="*/ 0 h 1108363"/>
            </a:gdLst>
            <a:ahLst/>
            <a:cxnLst>
              <a:cxn ang="0">
                <a:pos x="connsiteX0" y="connsiteY0"/>
              </a:cxn>
              <a:cxn ang="0">
                <a:pos x="connsiteX1" y="connsiteY1"/>
              </a:cxn>
              <a:cxn ang="0">
                <a:pos x="connsiteX2" y="connsiteY2"/>
              </a:cxn>
            </a:cxnLst>
            <a:rect l="l" t="t" r="r" b="b"/>
            <a:pathLst>
              <a:path w="1482436" h="1108363">
                <a:moveTo>
                  <a:pt x="0" y="1108363"/>
                </a:moveTo>
                <a:cubicBezTo>
                  <a:pt x="222827" y="1006763"/>
                  <a:pt x="445654" y="905163"/>
                  <a:pt x="692727" y="720436"/>
                </a:cubicBezTo>
                <a:cubicBezTo>
                  <a:pt x="939800" y="535709"/>
                  <a:pt x="1482436" y="0"/>
                  <a:pt x="1482436" y="0"/>
                </a:cubicBezTo>
              </a:path>
            </a:pathLst>
          </a:custGeom>
          <a:noFill/>
          <a:ln w="38100">
            <a:solidFill>
              <a:srgbClr val="A7001B"/>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grpSp>
        <p:nvGrpSpPr>
          <p:cNvPr id="9" name="Group 8">
            <a:extLst>
              <a:ext uri="{FF2B5EF4-FFF2-40B4-BE49-F238E27FC236}">
                <a16:creationId xmlns:a16="http://schemas.microsoft.com/office/drawing/2014/main" xmlns="" id="{D1C7B116-0149-0C4E-83F5-AF7325903742}"/>
              </a:ext>
            </a:extLst>
          </p:cNvPr>
          <p:cNvGrpSpPr/>
          <p:nvPr/>
        </p:nvGrpSpPr>
        <p:grpSpPr>
          <a:xfrm>
            <a:off x="25167" y="228600"/>
            <a:ext cx="8268132" cy="533400"/>
            <a:chOff x="25167" y="228600"/>
            <a:chExt cx="8268132" cy="533400"/>
          </a:xfrm>
        </p:grpSpPr>
        <p:sp>
          <p:nvSpPr>
            <p:cNvPr id="15" name="Title 240">
              <a:extLst>
                <a:ext uri="{FF2B5EF4-FFF2-40B4-BE49-F238E27FC236}">
                  <a16:creationId xmlns:a16="http://schemas.microsoft.com/office/drawing/2014/main" xmlns="" id="{0F806D1B-113D-DC4B-8A80-44D2BF4AADA3}"/>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dirty="0"/>
                <a:t>: a neural approach</a:t>
              </a:r>
            </a:p>
          </p:txBody>
        </p:sp>
        <p:sp>
          <p:nvSpPr>
            <p:cNvPr id="16" name="TextBox 15">
              <a:extLst>
                <a:ext uri="{FF2B5EF4-FFF2-40B4-BE49-F238E27FC236}">
                  <a16:creationId xmlns:a16="http://schemas.microsoft.com/office/drawing/2014/main" xmlns="" id="{3C223C7E-9FC4-2B44-8746-D11CD4DA0A14}"/>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sp>
        <p:nvSpPr>
          <p:cNvPr id="18" name="TextBox 17">
            <a:extLst>
              <a:ext uri="{FF2B5EF4-FFF2-40B4-BE49-F238E27FC236}">
                <a16:creationId xmlns:a16="http://schemas.microsoft.com/office/drawing/2014/main" xmlns="" id="{1FAD4134-EE94-5746-AF3F-8ECE5D8B674F}"/>
              </a:ext>
            </a:extLst>
          </p:cNvPr>
          <p:cNvSpPr txBox="1"/>
          <p:nvPr/>
        </p:nvSpPr>
        <p:spPr>
          <a:xfrm>
            <a:off x="1739664" y="3167390"/>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Previous SOTA</a:t>
            </a:r>
          </a:p>
        </p:txBody>
      </p:sp>
      <p:grpSp>
        <p:nvGrpSpPr>
          <p:cNvPr id="2" name="Group 1">
            <a:extLst>
              <a:ext uri="{FF2B5EF4-FFF2-40B4-BE49-F238E27FC236}">
                <a16:creationId xmlns:a16="http://schemas.microsoft.com/office/drawing/2014/main" xmlns="" id="{E529B9F9-73CC-D646-AA6D-E9AB877092D9}"/>
              </a:ext>
            </a:extLst>
          </p:cNvPr>
          <p:cNvGrpSpPr/>
          <p:nvPr/>
        </p:nvGrpSpPr>
        <p:grpSpPr>
          <a:xfrm>
            <a:off x="2590800" y="2817552"/>
            <a:ext cx="1143000" cy="1311904"/>
            <a:chOff x="2590800" y="2817552"/>
            <a:chExt cx="1143000" cy="1311904"/>
          </a:xfrm>
        </p:grpSpPr>
        <p:sp>
          <p:nvSpPr>
            <p:cNvPr id="17" name="TextBox 16">
              <a:extLst>
                <a:ext uri="{FF2B5EF4-FFF2-40B4-BE49-F238E27FC236}">
                  <a16:creationId xmlns:a16="http://schemas.microsoft.com/office/drawing/2014/main" xmlns="" id="{32F66C12-074B-9F47-A822-300AD9B70BB4}"/>
                </a:ext>
              </a:extLst>
            </p:cNvPr>
            <p:cNvSpPr txBox="1"/>
            <p:nvPr/>
          </p:nvSpPr>
          <p:spPr>
            <a:xfrm>
              <a:off x="2590800" y="2817552"/>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Structured learning</a:t>
              </a:r>
            </a:p>
          </p:txBody>
        </p:sp>
        <p:sp>
          <p:nvSpPr>
            <p:cNvPr id="24" name="TextBox 23">
              <a:extLst>
                <a:ext uri="{FF2B5EF4-FFF2-40B4-BE49-F238E27FC236}">
                  <a16:creationId xmlns:a16="http://schemas.microsoft.com/office/drawing/2014/main" xmlns="" id="{1E333C95-5200-C940-B0FE-1AE301728476}"/>
                </a:ext>
              </a:extLst>
            </p:cNvPr>
            <p:cNvSpPr txBox="1"/>
            <p:nvPr/>
          </p:nvSpPr>
          <p:spPr>
            <a:xfrm>
              <a:off x="2590800" y="3821679"/>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+2%</a:t>
              </a:r>
            </a:p>
          </p:txBody>
        </p:sp>
      </p:grpSp>
      <p:grpSp>
        <p:nvGrpSpPr>
          <p:cNvPr id="4" name="Group 3">
            <a:extLst>
              <a:ext uri="{FF2B5EF4-FFF2-40B4-BE49-F238E27FC236}">
                <a16:creationId xmlns:a16="http://schemas.microsoft.com/office/drawing/2014/main" xmlns="" id="{E63FF029-45F1-2644-87FA-75FEF3FE0BCB}"/>
              </a:ext>
            </a:extLst>
          </p:cNvPr>
          <p:cNvGrpSpPr/>
          <p:nvPr/>
        </p:nvGrpSpPr>
        <p:grpSpPr>
          <a:xfrm>
            <a:off x="3377974" y="2327342"/>
            <a:ext cx="1166054" cy="1408575"/>
            <a:chOff x="3377974" y="2327342"/>
            <a:chExt cx="1166054" cy="1408575"/>
          </a:xfrm>
        </p:grpSpPr>
        <p:sp>
          <p:nvSpPr>
            <p:cNvPr id="19" name="TextBox 18">
              <a:extLst>
                <a:ext uri="{FF2B5EF4-FFF2-40B4-BE49-F238E27FC236}">
                  <a16:creationId xmlns:a16="http://schemas.microsoft.com/office/drawing/2014/main" xmlns="" id="{EDFB77F9-647F-DE49-87AF-C6BBB0CFA713}"/>
                </a:ext>
              </a:extLst>
            </p:cNvPr>
            <p:cNvSpPr txBox="1"/>
            <p:nvPr/>
          </p:nvSpPr>
          <p:spPr>
            <a:xfrm>
              <a:off x="3377974" y="2327342"/>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Common sense</a:t>
              </a:r>
            </a:p>
          </p:txBody>
        </p:sp>
        <p:sp>
          <p:nvSpPr>
            <p:cNvPr id="25" name="TextBox 24">
              <a:extLst>
                <a:ext uri="{FF2B5EF4-FFF2-40B4-BE49-F238E27FC236}">
                  <a16:creationId xmlns:a16="http://schemas.microsoft.com/office/drawing/2014/main" xmlns="" id="{213E4235-4EA4-6C41-B3C5-46BD6BC0D866}"/>
                </a:ext>
              </a:extLst>
            </p:cNvPr>
            <p:cNvSpPr txBox="1"/>
            <p:nvPr/>
          </p:nvSpPr>
          <p:spPr>
            <a:xfrm>
              <a:off x="3401028" y="3428140"/>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6" name="Group 5">
            <a:extLst>
              <a:ext uri="{FF2B5EF4-FFF2-40B4-BE49-F238E27FC236}">
                <a16:creationId xmlns:a16="http://schemas.microsoft.com/office/drawing/2014/main" xmlns="" id="{C9515CC4-7B13-BC44-BFD5-F665D33C05BC}"/>
              </a:ext>
            </a:extLst>
          </p:cNvPr>
          <p:cNvGrpSpPr/>
          <p:nvPr/>
        </p:nvGrpSpPr>
        <p:grpSpPr>
          <a:xfrm>
            <a:off x="4257555" y="1871507"/>
            <a:ext cx="1152645" cy="1204654"/>
            <a:chOff x="4257555" y="1871507"/>
            <a:chExt cx="1152645" cy="1204654"/>
          </a:xfrm>
        </p:grpSpPr>
        <p:sp>
          <p:nvSpPr>
            <p:cNvPr id="20" name="TextBox 19">
              <a:extLst>
                <a:ext uri="{FF2B5EF4-FFF2-40B4-BE49-F238E27FC236}">
                  <a16:creationId xmlns:a16="http://schemas.microsoft.com/office/drawing/2014/main" xmlns="" id="{7837CF35-9881-7E44-8272-BED47F44BBC2}"/>
                </a:ext>
              </a:extLst>
            </p:cNvPr>
            <p:cNvSpPr txBox="1"/>
            <p:nvPr/>
          </p:nvSpPr>
          <p:spPr>
            <a:xfrm>
              <a:off x="4267200" y="1871507"/>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New dataset</a:t>
              </a:r>
            </a:p>
          </p:txBody>
        </p:sp>
        <p:sp>
          <p:nvSpPr>
            <p:cNvPr id="26" name="TextBox 25">
              <a:extLst>
                <a:ext uri="{FF2B5EF4-FFF2-40B4-BE49-F238E27FC236}">
                  <a16:creationId xmlns:a16="http://schemas.microsoft.com/office/drawing/2014/main" xmlns="" id="{7FB541D6-BF19-DB42-B2CC-23B7544C8B9B}"/>
                </a:ext>
              </a:extLst>
            </p:cNvPr>
            <p:cNvSpPr txBox="1"/>
            <p:nvPr/>
          </p:nvSpPr>
          <p:spPr>
            <a:xfrm>
              <a:off x="4257555" y="276838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+11%*</a:t>
              </a:r>
            </a:p>
          </p:txBody>
        </p:sp>
      </p:grpSp>
      <p:grpSp>
        <p:nvGrpSpPr>
          <p:cNvPr id="5" name="Group 4">
            <a:extLst>
              <a:ext uri="{FF2B5EF4-FFF2-40B4-BE49-F238E27FC236}">
                <a16:creationId xmlns:a16="http://schemas.microsoft.com/office/drawing/2014/main" xmlns="" id="{F62E5451-C6C2-B44C-9019-B8A771319685}"/>
              </a:ext>
            </a:extLst>
          </p:cNvPr>
          <p:cNvGrpSpPr/>
          <p:nvPr/>
        </p:nvGrpSpPr>
        <p:grpSpPr>
          <a:xfrm>
            <a:off x="5067783" y="1753567"/>
            <a:ext cx="1154278" cy="975353"/>
            <a:chOff x="5067783" y="1753567"/>
            <a:chExt cx="1154278" cy="975353"/>
          </a:xfrm>
        </p:grpSpPr>
        <p:sp>
          <p:nvSpPr>
            <p:cNvPr id="21" name="TextBox 20">
              <a:extLst>
                <a:ext uri="{FF2B5EF4-FFF2-40B4-BE49-F238E27FC236}">
                  <a16:creationId xmlns:a16="http://schemas.microsoft.com/office/drawing/2014/main" xmlns="" id="{96011672-7A74-B54A-B263-2383A0352054}"/>
                </a:ext>
              </a:extLst>
            </p:cNvPr>
            <p:cNvSpPr txBox="1"/>
            <p:nvPr/>
          </p:nvSpPr>
          <p:spPr>
            <a:xfrm>
              <a:off x="5079061" y="1753567"/>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Neural</a:t>
              </a:r>
            </a:p>
          </p:txBody>
        </p:sp>
        <p:sp>
          <p:nvSpPr>
            <p:cNvPr id="27" name="TextBox 26">
              <a:extLst>
                <a:ext uri="{FF2B5EF4-FFF2-40B4-BE49-F238E27FC236}">
                  <a16:creationId xmlns:a16="http://schemas.microsoft.com/office/drawing/2014/main" xmlns="" id="{A1078CDE-E1CF-5B40-9522-0375E83425B8}"/>
                </a:ext>
              </a:extLst>
            </p:cNvPr>
            <p:cNvSpPr txBox="1"/>
            <p:nvPr/>
          </p:nvSpPr>
          <p:spPr>
            <a:xfrm>
              <a:off x="5067783" y="2421143"/>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+3%</a:t>
              </a:r>
            </a:p>
          </p:txBody>
        </p:sp>
      </p:grpSp>
      <p:grpSp>
        <p:nvGrpSpPr>
          <p:cNvPr id="7" name="Group 6">
            <a:extLst>
              <a:ext uri="{FF2B5EF4-FFF2-40B4-BE49-F238E27FC236}">
                <a16:creationId xmlns:a16="http://schemas.microsoft.com/office/drawing/2014/main" xmlns="" id="{B9F2C1D6-882C-6B4F-B3C0-D444939A70D7}"/>
              </a:ext>
            </a:extLst>
          </p:cNvPr>
          <p:cNvGrpSpPr/>
          <p:nvPr/>
        </p:nvGrpSpPr>
        <p:grpSpPr>
          <a:xfrm>
            <a:off x="5886591" y="1301978"/>
            <a:ext cx="1180719" cy="836633"/>
            <a:chOff x="5886591" y="1301978"/>
            <a:chExt cx="1180719" cy="836633"/>
          </a:xfrm>
        </p:grpSpPr>
        <p:sp>
          <p:nvSpPr>
            <p:cNvPr id="22" name="TextBox 21">
              <a:extLst>
                <a:ext uri="{FF2B5EF4-FFF2-40B4-BE49-F238E27FC236}">
                  <a16:creationId xmlns:a16="http://schemas.microsoft.com/office/drawing/2014/main" xmlns="" id="{DE2F08E5-4801-3542-964A-0F79D7872602}"/>
                </a:ext>
              </a:extLst>
            </p:cNvPr>
            <p:cNvSpPr txBox="1"/>
            <p:nvPr/>
          </p:nvSpPr>
          <p:spPr>
            <a:xfrm>
              <a:off x="5886591" y="1301978"/>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BERT</a:t>
              </a:r>
            </a:p>
          </p:txBody>
        </p:sp>
        <p:sp>
          <p:nvSpPr>
            <p:cNvPr id="28" name="TextBox 27">
              <a:extLst>
                <a:ext uri="{FF2B5EF4-FFF2-40B4-BE49-F238E27FC236}">
                  <a16:creationId xmlns:a16="http://schemas.microsoft.com/office/drawing/2014/main" xmlns="" id="{1ECE3DC5-4644-A74B-9303-6333C2511D32}"/>
                </a:ext>
              </a:extLst>
            </p:cNvPr>
            <p:cNvSpPr txBox="1"/>
            <p:nvPr/>
          </p:nvSpPr>
          <p:spPr>
            <a:xfrm>
              <a:off x="5924310" y="183083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31" name="Group 30">
            <a:extLst>
              <a:ext uri="{FF2B5EF4-FFF2-40B4-BE49-F238E27FC236}">
                <a16:creationId xmlns:a16="http://schemas.microsoft.com/office/drawing/2014/main" xmlns="" id="{A5DEDB0D-B526-DA4A-955D-809BEDE43482}"/>
              </a:ext>
            </a:extLst>
          </p:cNvPr>
          <p:cNvGrpSpPr/>
          <p:nvPr/>
        </p:nvGrpSpPr>
        <p:grpSpPr>
          <a:xfrm>
            <a:off x="6757687" y="882134"/>
            <a:ext cx="1187372" cy="932386"/>
            <a:chOff x="6757687" y="882134"/>
            <a:chExt cx="1187372" cy="932386"/>
          </a:xfrm>
        </p:grpSpPr>
        <p:sp>
          <p:nvSpPr>
            <p:cNvPr id="23" name="TextBox 22">
              <a:extLst>
                <a:ext uri="{FF2B5EF4-FFF2-40B4-BE49-F238E27FC236}">
                  <a16:creationId xmlns:a16="http://schemas.microsoft.com/office/drawing/2014/main" xmlns="" id="{7E3CA28F-D866-104B-B7AF-33839E47CF8F}"/>
                </a:ext>
              </a:extLst>
            </p:cNvPr>
            <p:cNvSpPr txBox="1"/>
            <p:nvPr/>
          </p:nvSpPr>
          <p:spPr>
            <a:xfrm>
              <a:off x="6802059" y="88213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Siamese</a:t>
              </a:r>
            </a:p>
          </p:txBody>
        </p:sp>
        <p:sp>
          <p:nvSpPr>
            <p:cNvPr id="29" name="TextBox 28">
              <a:extLst>
                <a:ext uri="{FF2B5EF4-FFF2-40B4-BE49-F238E27FC236}">
                  <a16:creationId xmlns:a16="http://schemas.microsoft.com/office/drawing/2014/main" xmlns="" id="{3D571F23-DB2E-8243-B051-CAEC8F8E88DC}"/>
                </a:ext>
              </a:extLst>
            </p:cNvPr>
            <p:cNvSpPr txBox="1"/>
            <p:nvPr/>
          </p:nvSpPr>
          <p:spPr>
            <a:xfrm>
              <a:off x="6757687" y="1506743"/>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+3%</a:t>
              </a:r>
            </a:p>
          </p:txBody>
        </p:sp>
      </p:grpSp>
      <p:sp>
        <p:nvSpPr>
          <p:cNvPr id="30" name="TextBox 29">
            <a:extLst>
              <a:ext uri="{FF2B5EF4-FFF2-40B4-BE49-F238E27FC236}">
                <a16:creationId xmlns:a16="http://schemas.microsoft.com/office/drawing/2014/main" xmlns="" id="{28B25C81-246C-EC43-BBB1-59915AC8BA87}"/>
              </a:ext>
            </a:extLst>
          </p:cNvPr>
          <p:cNvSpPr txBox="1"/>
          <p:nvPr/>
        </p:nvSpPr>
        <p:spPr>
          <a:xfrm>
            <a:off x="5624815" y="5019298"/>
            <a:ext cx="2743199" cy="307777"/>
          </a:xfrm>
          <a:prstGeom prst="rect">
            <a:avLst/>
          </a:prstGeom>
          <a:noFill/>
        </p:spPr>
        <p:txBody>
          <a:bodyPr wrap="square" rtlCol="0">
            <a:spAutoFit/>
          </a:bodyPr>
          <a:lstStyle/>
          <a:p>
            <a:r>
              <a:rPr lang="en-US" sz="1400" i="1" dirty="0">
                <a:solidFill>
                  <a:schemeClr val="bg2"/>
                </a:solidFill>
                <a:latin typeface="Century Gothic" panose="020B0502020202020204" pitchFamily="34" charset="0"/>
              </a:rPr>
              <a:t>*Test set is re-labeled</a:t>
            </a:r>
          </a:p>
        </p:txBody>
      </p:sp>
      <p:sp>
        <p:nvSpPr>
          <p:cNvPr id="3" name="Rectangle 2">
            <a:extLst>
              <a:ext uri="{FF2B5EF4-FFF2-40B4-BE49-F238E27FC236}">
                <a16:creationId xmlns:a16="http://schemas.microsoft.com/office/drawing/2014/main" xmlns="" id="{3BBEBC59-3B0B-3444-9CE9-14BB599E3BDF}"/>
              </a:ext>
            </a:extLst>
          </p:cNvPr>
          <p:cNvSpPr/>
          <p:nvPr/>
        </p:nvSpPr>
        <p:spPr>
          <a:xfrm>
            <a:off x="152400" y="756910"/>
            <a:ext cx="8686800" cy="5567690"/>
          </a:xfrm>
          <a:prstGeom prst="rect">
            <a:avLst/>
          </a:prstGeom>
          <a:solidFill>
            <a:schemeClr val="tx1">
              <a:alpha val="7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2"/>
                </a:solidFill>
                <a:latin typeface="Century Gothic" panose="020B0502020202020204" pitchFamily="34" charset="0"/>
              </a:rPr>
              <a:t>Move fast!</a:t>
            </a:r>
          </a:p>
        </p:txBody>
      </p:sp>
    </p:spTree>
    <p:extLst>
      <p:ext uri="{BB962C8B-B14F-4D97-AF65-F5344CB8AC3E}">
        <p14:creationId xmlns:p14="http://schemas.microsoft.com/office/powerpoint/2010/main" val="150725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hart 11">
            <a:extLst>
              <a:ext uri="{FF2B5EF4-FFF2-40B4-BE49-F238E27FC236}">
                <a16:creationId xmlns:a16="http://schemas.microsoft.com/office/drawing/2014/main" xmlns="" id="{278FC97D-E638-7E41-AB57-FB6A9CE22C67}"/>
              </a:ext>
            </a:extLst>
          </p:cNvPr>
          <p:cNvGraphicFramePr/>
          <p:nvPr>
            <p:extLst>
              <p:ext uri="{D42A27DB-BD31-4B8C-83A1-F6EECF244321}">
                <p14:modId xmlns:p14="http://schemas.microsoft.com/office/powerpoint/2010/main" val="934041838"/>
              </p:ext>
            </p:extLst>
          </p:nvPr>
        </p:nvGraphicFramePr>
        <p:xfrm>
          <a:off x="561974" y="914400"/>
          <a:ext cx="8001000" cy="53340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xmlns="" id="{83D49199-1C85-434F-A859-D17886F4BA0F}"/>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
        <p:nvSpPr>
          <p:cNvPr id="8" name="Freeform 7">
            <a:extLst>
              <a:ext uri="{FF2B5EF4-FFF2-40B4-BE49-F238E27FC236}">
                <a16:creationId xmlns:a16="http://schemas.microsoft.com/office/drawing/2014/main" xmlns="" id="{0DE2B601-8943-F34E-A685-651E19560A19}"/>
              </a:ext>
            </a:extLst>
          </p:cNvPr>
          <p:cNvSpPr/>
          <p:nvPr/>
        </p:nvSpPr>
        <p:spPr>
          <a:xfrm>
            <a:off x="1883224" y="1143000"/>
            <a:ext cx="5521111" cy="2667000"/>
          </a:xfrm>
          <a:custGeom>
            <a:avLst/>
            <a:gdLst>
              <a:gd name="connsiteX0" fmla="*/ 0 w 1482436"/>
              <a:gd name="connsiteY0" fmla="*/ 1108363 h 1108363"/>
              <a:gd name="connsiteX1" fmla="*/ 692727 w 1482436"/>
              <a:gd name="connsiteY1" fmla="*/ 720436 h 1108363"/>
              <a:gd name="connsiteX2" fmla="*/ 1482436 w 1482436"/>
              <a:gd name="connsiteY2" fmla="*/ 0 h 1108363"/>
            </a:gdLst>
            <a:ahLst/>
            <a:cxnLst>
              <a:cxn ang="0">
                <a:pos x="connsiteX0" y="connsiteY0"/>
              </a:cxn>
              <a:cxn ang="0">
                <a:pos x="connsiteX1" y="connsiteY1"/>
              </a:cxn>
              <a:cxn ang="0">
                <a:pos x="connsiteX2" y="connsiteY2"/>
              </a:cxn>
            </a:cxnLst>
            <a:rect l="l" t="t" r="r" b="b"/>
            <a:pathLst>
              <a:path w="1482436" h="1108363">
                <a:moveTo>
                  <a:pt x="0" y="1108363"/>
                </a:moveTo>
                <a:cubicBezTo>
                  <a:pt x="222827" y="1006763"/>
                  <a:pt x="445654" y="905163"/>
                  <a:pt x="692727" y="720436"/>
                </a:cubicBezTo>
                <a:cubicBezTo>
                  <a:pt x="939800" y="535709"/>
                  <a:pt x="1482436" y="0"/>
                  <a:pt x="1482436" y="0"/>
                </a:cubicBezTo>
              </a:path>
            </a:pathLst>
          </a:custGeom>
          <a:noFill/>
          <a:ln w="38100">
            <a:solidFill>
              <a:srgbClr val="A7001B"/>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grpSp>
        <p:nvGrpSpPr>
          <p:cNvPr id="9" name="Group 8">
            <a:extLst>
              <a:ext uri="{FF2B5EF4-FFF2-40B4-BE49-F238E27FC236}">
                <a16:creationId xmlns:a16="http://schemas.microsoft.com/office/drawing/2014/main" xmlns="" id="{D1C7B116-0149-0C4E-83F5-AF7325903742}"/>
              </a:ext>
            </a:extLst>
          </p:cNvPr>
          <p:cNvGrpSpPr/>
          <p:nvPr/>
        </p:nvGrpSpPr>
        <p:grpSpPr>
          <a:xfrm>
            <a:off x="25167" y="228600"/>
            <a:ext cx="8268132" cy="533400"/>
            <a:chOff x="25167" y="228600"/>
            <a:chExt cx="8268132" cy="533400"/>
          </a:xfrm>
        </p:grpSpPr>
        <p:sp>
          <p:nvSpPr>
            <p:cNvPr id="15" name="Title 240">
              <a:extLst>
                <a:ext uri="{FF2B5EF4-FFF2-40B4-BE49-F238E27FC236}">
                  <a16:creationId xmlns:a16="http://schemas.microsoft.com/office/drawing/2014/main" xmlns="" id="{0F806D1B-113D-DC4B-8A80-44D2BF4AADA3}"/>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dirty="0"/>
                <a:t>: a neural approach</a:t>
              </a:r>
            </a:p>
          </p:txBody>
        </p:sp>
        <p:sp>
          <p:nvSpPr>
            <p:cNvPr id="16" name="TextBox 15">
              <a:extLst>
                <a:ext uri="{FF2B5EF4-FFF2-40B4-BE49-F238E27FC236}">
                  <a16:creationId xmlns:a16="http://schemas.microsoft.com/office/drawing/2014/main" xmlns="" id="{3C223C7E-9FC4-2B44-8746-D11CD4DA0A14}"/>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sp>
        <p:nvSpPr>
          <p:cNvPr id="18" name="TextBox 17">
            <a:extLst>
              <a:ext uri="{FF2B5EF4-FFF2-40B4-BE49-F238E27FC236}">
                <a16:creationId xmlns:a16="http://schemas.microsoft.com/office/drawing/2014/main" xmlns="" id="{1FAD4134-EE94-5746-AF3F-8ECE5D8B674F}"/>
              </a:ext>
            </a:extLst>
          </p:cNvPr>
          <p:cNvSpPr txBox="1"/>
          <p:nvPr/>
        </p:nvSpPr>
        <p:spPr>
          <a:xfrm>
            <a:off x="1739664" y="3167390"/>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Previous SOTA</a:t>
            </a:r>
          </a:p>
        </p:txBody>
      </p:sp>
      <p:grpSp>
        <p:nvGrpSpPr>
          <p:cNvPr id="2" name="Group 1">
            <a:extLst>
              <a:ext uri="{FF2B5EF4-FFF2-40B4-BE49-F238E27FC236}">
                <a16:creationId xmlns:a16="http://schemas.microsoft.com/office/drawing/2014/main" xmlns="" id="{E529B9F9-73CC-D646-AA6D-E9AB877092D9}"/>
              </a:ext>
            </a:extLst>
          </p:cNvPr>
          <p:cNvGrpSpPr/>
          <p:nvPr/>
        </p:nvGrpSpPr>
        <p:grpSpPr>
          <a:xfrm>
            <a:off x="2590800" y="2817552"/>
            <a:ext cx="1143000" cy="1311904"/>
            <a:chOff x="2590800" y="2817552"/>
            <a:chExt cx="1143000" cy="1311904"/>
          </a:xfrm>
        </p:grpSpPr>
        <p:sp>
          <p:nvSpPr>
            <p:cNvPr id="17" name="TextBox 16">
              <a:extLst>
                <a:ext uri="{FF2B5EF4-FFF2-40B4-BE49-F238E27FC236}">
                  <a16:creationId xmlns:a16="http://schemas.microsoft.com/office/drawing/2014/main" xmlns="" id="{32F66C12-074B-9F47-A822-300AD9B70BB4}"/>
                </a:ext>
              </a:extLst>
            </p:cNvPr>
            <p:cNvSpPr txBox="1"/>
            <p:nvPr/>
          </p:nvSpPr>
          <p:spPr>
            <a:xfrm>
              <a:off x="2590800" y="2817552"/>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Structured learning</a:t>
              </a:r>
            </a:p>
          </p:txBody>
        </p:sp>
        <p:sp>
          <p:nvSpPr>
            <p:cNvPr id="24" name="TextBox 23">
              <a:extLst>
                <a:ext uri="{FF2B5EF4-FFF2-40B4-BE49-F238E27FC236}">
                  <a16:creationId xmlns:a16="http://schemas.microsoft.com/office/drawing/2014/main" xmlns="" id="{1E333C95-5200-C940-B0FE-1AE301728476}"/>
                </a:ext>
              </a:extLst>
            </p:cNvPr>
            <p:cNvSpPr txBox="1"/>
            <p:nvPr/>
          </p:nvSpPr>
          <p:spPr>
            <a:xfrm>
              <a:off x="2590800" y="3821679"/>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+2%</a:t>
              </a:r>
            </a:p>
          </p:txBody>
        </p:sp>
      </p:grpSp>
      <p:grpSp>
        <p:nvGrpSpPr>
          <p:cNvPr id="4" name="Group 3">
            <a:extLst>
              <a:ext uri="{FF2B5EF4-FFF2-40B4-BE49-F238E27FC236}">
                <a16:creationId xmlns:a16="http://schemas.microsoft.com/office/drawing/2014/main" xmlns="" id="{E63FF029-45F1-2644-87FA-75FEF3FE0BCB}"/>
              </a:ext>
            </a:extLst>
          </p:cNvPr>
          <p:cNvGrpSpPr/>
          <p:nvPr/>
        </p:nvGrpSpPr>
        <p:grpSpPr>
          <a:xfrm>
            <a:off x="3377974" y="2327342"/>
            <a:ext cx="1166054" cy="1408575"/>
            <a:chOff x="3377974" y="2327342"/>
            <a:chExt cx="1166054" cy="1408575"/>
          </a:xfrm>
        </p:grpSpPr>
        <p:sp>
          <p:nvSpPr>
            <p:cNvPr id="19" name="TextBox 18">
              <a:extLst>
                <a:ext uri="{FF2B5EF4-FFF2-40B4-BE49-F238E27FC236}">
                  <a16:creationId xmlns:a16="http://schemas.microsoft.com/office/drawing/2014/main" xmlns="" id="{EDFB77F9-647F-DE49-87AF-C6BBB0CFA713}"/>
                </a:ext>
              </a:extLst>
            </p:cNvPr>
            <p:cNvSpPr txBox="1"/>
            <p:nvPr/>
          </p:nvSpPr>
          <p:spPr>
            <a:xfrm>
              <a:off x="3377974" y="2327342"/>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Common sense</a:t>
              </a:r>
            </a:p>
          </p:txBody>
        </p:sp>
        <p:sp>
          <p:nvSpPr>
            <p:cNvPr id="25" name="TextBox 24">
              <a:extLst>
                <a:ext uri="{FF2B5EF4-FFF2-40B4-BE49-F238E27FC236}">
                  <a16:creationId xmlns:a16="http://schemas.microsoft.com/office/drawing/2014/main" xmlns="" id="{213E4235-4EA4-6C41-B3C5-46BD6BC0D866}"/>
                </a:ext>
              </a:extLst>
            </p:cNvPr>
            <p:cNvSpPr txBox="1"/>
            <p:nvPr/>
          </p:nvSpPr>
          <p:spPr>
            <a:xfrm>
              <a:off x="3401028" y="3428140"/>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6" name="Group 5">
            <a:extLst>
              <a:ext uri="{FF2B5EF4-FFF2-40B4-BE49-F238E27FC236}">
                <a16:creationId xmlns:a16="http://schemas.microsoft.com/office/drawing/2014/main" xmlns="" id="{C9515CC4-7B13-BC44-BFD5-F665D33C05BC}"/>
              </a:ext>
            </a:extLst>
          </p:cNvPr>
          <p:cNvGrpSpPr/>
          <p:nvPr/>
        </p:nvGrpSpPr>
        <p:grpSpPr>
          <a:xfrm>
            <a:off x="4257555" y="1871507"/>
            <a:ext cx="1152645" cy="1204654"/>
            <a:chOff x="4257555" y="1871507"/>
            <a:chExt cx="1152645" cy="1204654"/>
          </a:xfrm>
        </p:grpSpPr>
        <p:sp>
          <p:nvSpPr>
            <p:cNvPr id="20" name="TextBox 19">
              <a:extLst>
                <a:ext uri="{FF2B5EF4-FFF2-40B4-BE49-F238E27FC236}">
                  <a16:creationId xmlns:a16="http://schemas.microsoft.com/office/drawing/2014/main" xmlns="" id="{7837CF35-9881-7E44-8272-BED47F44BBC2}"/>
                </a:ext>
              </a:extLst>
            </p:cNvPr>
            <p:cNvSpPr txBox="1"/>
            <p:nvPr/>
          </p:nvSpPr>
          <p:spPr>
            <a:xfrm>
              <a:off x="4267200" y="1871507"/>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New dataset</a:t>
              </a:r>
            </a:p>
          </p:txBody>
        </p:sp>
        <p:sp>
          <p:nvSpPr>
            <p:cNvPr id="26" name="TextBox 25">
              <a:extLst>
                <a:ext uri="{FF2B5EF4-FFF2-40B4-BE49-F238E27FC236}">
                  <a16:creationId xmlns:a16="http://schemas.microsoft.com/office/drawing/2014/main" xmlns="" id="{7FB541D6-BF19-DB42-B2CC-23B7544C8B9B}"/>
                </a:ext>
              </a:extLst>
            </p:cNvPr>
            <p:cNvSpPr txBox="1"/>
            <p:nvPr/>
          </p:nvSpPr>
          <p:spPr>
            <a:xfrm>
              <a:off x="4257555" y="276838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+11%*</a:t>
              </a:r>
            </a:p>
          </p:txBody>
        </p:sp>
      </p:grpSp>
      <p:grpSp>
        <p:nvGrpSpPr>
          <p:cNvPr id="5" name="Group 4">
            <a:extLst>
              <a:ext uri="{FF2B5EF4-FFF2-40B4-BE49-F238E27FC236}">
                <a16:creationId xmlns:a16="http://schemas.microsoft.com/office/drawing/2014/main" xmlns="" id="{F62E5451-C6C2-B44C-9019-B8A771319685}"/>
              </a:ext>
            </a:extLst>
          </p:cNvPr>
          <p:cNvGrpSpPr/>
          <p:nvPr/>
        </p:nvGrpSpPr>
        <p:grpSpPr>
          <a:xfrm>
            <a:off x="5067783" y="1753567"/>
            <a:ext cx="1154278" cy="975353"/>
            <a:chOff x="5067783" y="1753567"/>
            <a:chExt cx="1154278" cy="975353"/>
          </a:xfrm>
        </p:grpSpPr>
        <p:sp>
          <p:nvSpPr>
            <p:cNvPr id="21" name="TextBox 20">
              <a:extLst>
                <a:ext uri="{FF2B5EF4-FFF2-40B4-BE49-F238E27FC236}">
                  <a16:creationId xmlns:a16="http://schemas.microsoft.com/office/drawing/2014/main" xmlns="" id="{96011672-7A74-B54A-B263-2383A0352054}"/>
                </a:ext>
              </a:extLst>
            </p:cNvPr>
            <p:cNvSpPr txBox="1"/>
            <p:nvPr/>
          </p:nvSpPr>
          <p:spPr>
            <a:xfrm>
              <a:off x="5079061" y="1753567"/>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Neural</a:t>
              </a:r>
            </a:p>
          </p:txBody>
        </p:sp>
        <p:sp>
          <p:nvSpPr>
            <p:cNvPr id="27" name="TextBox 26">
              <a:extLst>
                <a:ext uri="{FF2B5EF4-FFF2-40B4-BE49-F238E27FC236}">
                  <a16:creationId xmlns:a16="http://schemas.microsoft.com/office/drawing/2014/main" xmlns="" id="{A1078CDE-E1CF-5B40-9522-0375E83425B8}"/>
                </a:ext>
              </a:extLst>
            </p:cNvPr>
            <p:cNvSpPr txBox="1"/>
            <p:nvPr/>
          </p:nvSpPr>
          <p:spPr>
            <a:xfrm>
              <a:off x="5067783" y="2421143"/>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+3%</a:t>
              </a:r>
            </a:p>
          </p:txBody>
        </p:sp>
      </p:grpSp>
      <p:grpSp>
        <p:nvGrpSpPr>
          <p:cNvPr id="7" name="Group 6">
            <a:extLst>
              <a:ext uri="{FF2B5EF4-FFF2-40B4-BE49-F238E27FC236}">
                <a16:creationId xmlns:a16="http://schemas.microsoft.com/office/drawing/2014/main" xmlns="" id="{B9F2C1D6-882C-6B4F-B3C0-D444939A70D7}"/>
              </a:ext>
            </a:extLst>
          </p:cNvPr>
          <p:cNvGrpSpPr/>
          <p:nvPr/>
        </p:nvGrpSpPr>
        <p:grpSpPr>
          <a:xfrm>
            <a:off x="5886591" y="1301978"/>
            <a:ext cx="1180719" cy="836633"/>
            <a:chOff x="5886591" y="1301978"/>
            <a:chExt cx="1180719" cy="836633"/>
          </a:xfrm>
        </p:grpSpPr>
        <p:sp>
          <p:nvSpPr>
            <p:cNvPr id="22" name="TextBox 21">
              <a:extLst>
                <a:ext uri="{FF2B5EF4-FFF2-40B4-BE49-F238E27FC236}">
                  <a16:creationId xmlns:a16="http://schemas.microsoft.com/office/drawing/2014/main" xmlns="" id="{DE2F08E5-4801-3542-964A-0F79D7872602}"/>
                </a:ext>
              </a:extLst>
            </p:cNvPr>
            <p:cNvSpPr txBox="1"/>
            <p:nvPr/>
          </p:nvSpPr>
          <p:spPr>
            <a:xfrm>
              <a:off x="5886591" y="1301978"/>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BERT</a:t>
              </a:r>
            </a:p>
          </p:txBody>
        </p:sp>
        <p:sp>
          <p:nvSpPr>
            <p:cNvPr id="28" name="TextBox 27">
              <a:extLst>
                <a:ext uri="{FF2B5EF4-FFF2-40B4-BE49-F238E27FC236}">
                  <a16:creationId xmlns:a16="http://schemas.microsoft.com/office/drawing/2014/main" xmlns="" id="{1ECE3DC5-4644-A74B-9303-6333C2511D32}"/>
                </a:ext>
              </a:extLst>
            </p:cNvPr>
            <p:cNvSpPr txBox="1"/>
            <p:nvPr/>
          </p:nvSpPr>
          <p:spPr>
            <a:xfrm>
              <a:off x="5924310" y="183083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31" name="Group 30">
            <a:extLst>
              <a:ext uri="{FF2B5EF4-FFF2-40B4-BE49-F238E27FC236}">
                <a16:creationId xmlns:a16="http://schemas.microsoft.com/office/drawing/2014/main" xmlns="" id="{A5DEDB0D-B526-DA4A-955D-809BEDE43482}"/>
              </a:ext>
            </a:extLst>
          </p:cNvPr>
          <p:cNvGrpSpPr/>
          <p:nvPr/>
        </p:nvGrpSpPr>
        <p:grpSpPr>
          <a:xfrm>
            <a:off x="6757687" y="882134"/>
            <a:ext cx="1187372" cy="932386"/>
            <a:chOff x="6757687" y="882134"/>
            <a:chExt cx="1187372" cy="932386"/>
          </a:xfrm>
        </p:grpSpPr>
        <p:sp>
          <p:nvSpPr>
            <p:cNvPr id="23" name="TextBox 22">
              <a:extLst>
                <a:ext uri="{FF2B5EF4-FFF2-40B4-BE49-F238E27FC236}">
                  <a16:creationId xmlns:a16="http://schemas.microsoft.com/office/drawing/2014/main" xmlns="" id="{7E3CA28F-D866-104B-B7AF-33839E47CF8F}"/>
                </a:ext>
              </a:extLst>
            </p:cNvPr>
            <p:cNvSpPr txBox="1"/>
            <p:nvPr/>
          </p:nvSpPr>
          <p:spPr>
            <a:xfrm>
              <a:off x="6802059" y="88213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Siamese</a:t>
              </a:r>
            </a:p>
          </p:txBody>
        </p:sp>
        <p:sp>
          <p:nvSpPr>
            <p:cNvPr id="29" name="TextBox 28">
              <a:extLst>
                <a:ext uri="{FF2B5EF4-FFF2-40B4-BE49-F238E27FC236}">
                  <a16:creationId xmlns:a16="http://schemas.microsoft.com/office/drawing/2014/main" xmlns="" id="{3D571F23-DB2E-8243-B051-CAEC8F8E88DC}"/>
                </a:ext>
              </a:extLst>
            </p:cNvPr>
            <p:cNvSpPr txBox="1"/>
            <p:nvPr/>
          </p:nvSpPr>
          <p:spPr>
            <a:xfrm>
              <a:off x="6757687" y="1506743"/>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+3%</a:t>
              </a:r>
            </a:p>
          </p:txBody>
        </p:sp>
      </p:grpSp>
      <p:sp>
        <p:nvSpPr>
          <p:cNvPr id="30" name="TextBox 29">
            <a:extLst>
              <a:ext uri="{FF2B5EF4-FFF2-40B4-BE49-F238E27FC236}">
                <a16:creationId xmlns:a16="http://schemas.microsoft.com/office/drawing/2014/main" xmlns="" id="{28B25C81-246C-EC43-BBB1-59915AC8BA87}"/>
              </a:ext>
            </a:extLst>
          </p:cNvPr>
          <p:cNvSpPr txBox="1"/>
          <p:nvPr/>
        </p:nvSpPr>
        <p:spPr>
          <a:xfrm>
            <a:off x="5624815" y="5019298"/>
            <a:ext cx="2743199" cy="307777"/>
          </a:xfrm>
          <a:prstGeom prst="rect">
            <a:avLst/>
          </a:prstGeom>
          <a:noFill/>
        </p:spPr>
        <p:txBody>
          <a:bodyPr wrap="square" rtlCol="0">
            <a:spAutoFit/>
          </a:bodyPr>
          <a:lstStyle/>
          <a:p>
            <a:r>
              <a:rPr lang="en-US" sz="1400" i="1" dirty="0">
                <a:solidFill>
                  <a:schemeClr val="bg2"/>
                </a:solidFill>
                <a:latin typeface="Century Gothic" panose="020B0502020202020204" pitchFamily="34" charset="0"/>
              </a:rPr>
              <a:t>*Test set is re-labeled</a:t>
            </a:r>
          </a:p>
        </p:txBody>
      </p:sp>
      <p:sp>
        <p:nvSpPr>
          <p:cNvPr id="3" name="Rectangle 2">
            <a:extLst>
              <a:ext uri="{FF2B5EF4-FFF2-40B4-BE49-F238E27FC236}">
                <a16:creationId xmlns:a16="http://schemas.microsoft.com/office/drawing/2014/main" xmlns="" id="{3BBEBC59-3B0B-3444-9CE9-14BB599E3BDF}"/>
              </a:ext>
            </a:extLst>
          </p:cNvPr>
          <p:cNvSpPr/>
          <p:nvPr/>
        </p:nvSpPr>
        <p:spPr>
          <a:xfrm>
            <a:off x="152400" y="756910"/>
            <a:ext cx="8686800" cy="5567690"/>
          </a:xfrm>
          <a:prstGeom prst="rect">
            <a:avLst/>
          </a:prstGeom>
          <a:solidFill>
            <a:schemeClr val="tx1">
              <a:alpha val="7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2"/>
                </a:solidFill>
                <a:latin typeface="Century Gothic" panose="020B0502020202020204" pitchFamily="34" charset="0"/>
              </a:rPr>
              <a:t>Move slow to move fast!</a:t>
            </a:r>
          </a:p>
        </p:txBody>
      </p:sp>
    </p:spTree>
    <p:extLst>
      <p:ext uri="{BB962C8B-B14F-4D97-AF65-F5344CB8AC3E}">
        <p14:creationId xmlns:p14="http://schemas.microsoft.com/office/powerpoint/2010/main" val="25859976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28">
            <a:extLst>
              <a:ext uri="{FF2B5EF4-FFF2-40B4-BE49-F238E27FC236}">
                <a16:creationId xmlns:a16="http://schemas.microsoft.com/office/drawing/2014/main" xmlns="" id="{6BAA031E-6F64-2B40-9923-F1FF9BA4F5E3}"/>
              </a:ext>
            </a:extLst>
          </p:cNvPr>
          <p:cNvSpPr/>
          <p:nvPr/>
        </p:nvSpPr>
        <p:spPr>
          <a:xfrm>
            <a:off x="2596528" y="2351454"/>
            <a:ext cx="1972921" cy="1862916"/>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1" name="Freeform 30">
            <a:extLst>
              <a:ext uri="{FF2B5EF4-FFF2-40B4-BE49-F238E27FC236}">
                <a16:creationId xmlns:a16="http://schemas.microsoft.com/office/drawing/2014/main" xmlns="" id="{F085AC4B-4A7E-834A-B06E-254CBF4187B3}"/>
              </a:ext>
            </a:extLst>
          </p:cNvPr>
          <p:cNvSpPr/>
          <p:nvPr/>
        </p:nvSpPr>
        <p:spPr>
          <a:xfrm>
            <a:off x="3918092" y="4208480"/>
            <a:ext cx="1302713" cy="1574208"/>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2" name="Freeform 31">
            <a:extLst>
              <a:ext uri="{FF2B5EF4-FFF2-40B4-BE49-F238E27FC236}">
                <a16:creationId xmlns:a16="http://schemas.microsoft.com/office/drawing/2014/main" xmlns="" id="{E17AE7F1-0CB6-794C-BF7A-F892F91C6275}"/>
              </a:ext>
            </a:extLst>
          </p:cNvPr>
          <p:cNvSpPr/>
          <p:nvPr/>
        </p:nvSpPr>
        <p:spPr>
          <a:xfrm>
            <a:off x="2590800" y="381000"/>
            <a:ext cx="3940909" cy="2480129"/>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3" name="Freeform 32">
            <a:extLst>
              <a:ext uri="{FF2B5EF4-FFF2-40B4-BE49-F238E27FC236}">
                <a16:creationId xmlns:a16="http://schemas.microsoft.com/office/drawing/2014/main" xmlns="" id="{BB1A0CE1-0E3A-7B4A-B83A-13921B6A1585}"/>
              </a:ext>
            </a:extLst>
          </p:cNvPr>
          <p:cNvSpPr/>
          <p:nvPr/>
        </p:nvSpPr>
        <p:spPr>
          <a:xfrm>
            <a:off x="4569449" y="2458993"/>
            <a:ext cx="3289552" cy="3833368"/>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4" name="Freeform 33">
            <a:extLst>
              <a:ext uri="{FF2B5EF4-FFF2-40B4-BE49-F238E27FC236}">
                <a16:creationId xmlns:a16="http://schemas.microsoft.com/office/drawing/2014/main" xmlns="" id="{611CA335-3DDA-3E42-9D4C-2F3ACE82A0B0}"/>
              </a:ext>
            </a:extLst>
          </p:cNvPr>
          <p:cNvSpPr/>
          <p:nvPr/>
        </p:nvSpPr>
        <p:spPr>
          <a:xfrm>
            <a:off x="1279895" y="2464880"/>
            <a:ext cx="3289553" cy="3827481"/>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5" name="Freeform 34">
            <a:extLst>
              <a:ext uri="{FF2B5EF4-FFF2-40B4-BE49-F238E27FC236}">
                <a16:creationId xmlns:a16="http://schemas.microsoft.com/office/drawing/2014/main" xmlns="" id="{F475611E-0004-8645-B016-3D3DC271D062}"/>
              </a:ext>
            </a:extLst>
          </p:cNvPr>
          <p:cNvSpPr/>
          <p:nvPr/>
        </p:nvSpPr>
        <p:spPr>
          <a:xfrm>
            <a:off x="3923670" y="2876571"/>
            <a:ext cx="1291555" cy="1460779"/>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6" name="TextBox 35">
            <a:extLst>
              <a:ext uri="{FF2B5EF4-FFF2-40B4-BE49-F238E27FC236}">
                <a16:creationId xmlns:a16="http://schemas.microsoft.com/office/drawing/2014/main" xmlns="" id="{92275B5B-E0D7-3945-8D0F-46FE7C4CF2FA}"/>
              </a:ext>
            </a:extLst>
          </p:cNvPr>
          <p:cNvSpPr txBox="1"/>
          <p:nvPr/>
        </p:nvSpPr>
        <p:spPr>
          <a:xfrm>
            <a:off x="3371831" y="750782"/>
            <a:ext cx="2881874"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Structured learning</a:t>
            </a:r>
          </a:p>
        </p:txBody>
      </p:sp>
      <p:pic>
        <p:nvPicPr>
          <p:cNvPr id="37" name="Picture 36" descr="A close up of a logo&#10;&#10;Description automatically generated">
            <a:extLst>
              <a:ext uri="{FF2B5EF4-FFF2-40B4-BE49-F238E27FC236}">
                <a16:creationId xmlns:a16="http://schemas.microsoft.com/office/drawing/2014/main" xmlns="" id="{DB65E3A3-9D34-C44D-8B28-9DC123B3C6E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99912" y="1004102"/>
            <a:ext cx="974176" cy="745577"/>
          </a:xfrm>
          <a:prstGeom prst="rect">
            <a:avLst/>
          </a:prstGeom>
        </p:spPr>
      </p:pic>
      <p:pic>
        <p:nvPicPr>
          <p:cNvPr id="38" name="Picture 37" descr="A close up of a logo&#10;&#10;Description automatically generated">
            <a:extLst>
              <a:ext uri="{FF2B5EF4-FFF2-40B4-BE49-F238E27FC236}">
                <a16:creationId xmlns:a16="http://schemas.microsoft.com/office/drawing/2014/main" xmlns="" id="{2F03890A-BF19-2C45-95C5-CB210684FA8E}"/>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526696" y="4751042"/>
            <a:ext cx="1323194" cy="940938"/>
          </a:xfrm>
          <a:prstGeom prst="rect">
            <a:avLst/>
          </a:prstGeom>
        </p:spPr>
      </p:pic>
      <p:sp>
        <p:nvSpPr>
          <p:cNvPr id="39" name="TextBox 38">
            <a:extLst>
              <a:ext uri="{FF2B5EF4-FFF2-40B4-BE49-F238E27FC236}">
                <a16:creationId xmlns:a16="http://schemas.microsoft.com/office/drawing/2014/main" xmlns="" id="{A2BA009D-F8A0-4745-A2E0-0CEE28CA1EBC}"/>
              </a:ext>
            </a:extLst>
          </p:cNvPr>
          <p:cNvSpPr txBox="1"/>
          <p:nvPr/>
        </p:nvSpPr>
        <p:spPr>
          <a:xfrm>
            <a:off x="2206719" y="5607318"/>
            <a:ext cx="2330225"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Common sense</a:t>
            </a:r>
          </a:p>
        </p:txBody>
      </p:sp>
      <p:pic>
        <p:nvPicPr>
          <p:cNvPr id="40" name="Picture 39" descr="A close up of a logo&#10;&#10;Description automatically generated">
            <a:extLst>
              <a:ext uri="{FF2B5EF4-FFF2-40B4-BE49-F238E27FC236}">
                <a16:creationId xmlns:a16="http://schemas.microsoft.com/office/drawing/2014/main" xmlns="" id="{6A6FD580-32DA-9945-9417-0263FA8F04F1}"/>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5577574" y="5009130"/>
            <a:ext cx="819421" cy="682850"/>
          </a:xfrm>
          <a:prstGeom prst="rect">
            <a:avLst/>
          </a:prstGeom>
        </p:spPr>
      </p:pic>
      <p:sp>
        <p:nvSpPr>
          <p:cNvPr id="41" name="TextBox 40">
            <a:extLst>
              <a:ext uri="{FF2B5EF4-FFF2-40B4-BE49-F238E27FC236}">
                <a16:creationId xmlns:a16="http://schemas.microsoft.com/office/drawing/2014/main" xmlns="" id="{1DE9473B-346D-9B4E-AA6C-DEC446EBA539}"/>
              </a:ext>
            </a:extLst>
          </p:cNvPr>
          <p:cNvSpPr txBox="1"/>
          <p:nvPr/>
        </p:nvSpPr>
        <p:spPr>
          <a:xfrm>
            <a:off x="4966392" y="5607318"/>
            <a:ext cx="2425008"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Data annotation</a:t>
            </a:r>
          </a:p>
        </p:txBody>
      </p:sp>
      <p:sp>
        <p:nvSpPr>
          <p:cNvPr id="30" name="Freeform 29">
            <a:extLst>
              <a:ext uri="{FF2B5EF4-FFF2-40B4-BE49-F238E27FC236}">
                <a16:creationId xmlns:a16="http://schemas.microsoft.com/office/drawing/2014/main" xmlns="" id="{0C80176D-29FC-CF43-8AFB-3A5DEDFAE4C9}"/>
              </a:ext>
            </a:extLst>
          </p:cNvPr>
          <p:cNvSpPr/>
          <p:nvPr/>
        </p:nvSpPr>
        <p:spPr>
          <a:xfrm>
            <a:off x="4569449" y="2351453"/>
            <a:ext cx="1956830" cy="1857027"/>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Century Gothic" charset="0"/>
              <a:ea typeface="Century Gothic" charset="0"/>
              <a:cs typeface="Century Gothic" charset="0"/>
            </a:endParaRPr>
          </a:p>
        </p:txBody>
      </p:sp>
      <p:sp>
        <p:nvSpPr>
          <p:cNvPr id="19" name="TextBox 18">
            <a:extLst>
              <a:ext uri="{FF2B5EF4-FFF2-40B4-BE49-F238E27FC236}">
                <a16:creationId xmlns:a16="http://schemas.microsoft.com/office/drawing/2014/main" xmlns="" id="{649080C7-8D4D-9846-886B-33B0F1413DAF}"/>
              </a:ext>
            </a:extLst>
          </p:cNvPr>
          <p:cNvSpPr txBox="1"/>
          <p:nvPr/>
        </p:nvSpPr>
        <p:spPr>
          <a:xfrm>
            <a:off x="3348007" y="1909229"/>
            <a:ext cx="2572714" cy="400110"/>
          </a:xfrm>
          <a:prstGeom prst="rect">
            <a:avLst/>
          </a:prstGeom>
          <a:noFill/>
        </p:spPr>
        <p:txBody>
          <a:bodyPr wrap="square" rtlCol="0">
            <a:spAutoFit/>
          </a:bodyPr>
          <a:lstStyle/>
          <a:p>
            <a:pPr algn="ctr"/>
            <a:r>
              <a:rPr lang="en-US" sz="2000" b="1" i="1" dirty="0">
                <a:solidFill>
                  <a:schemeClr val="bg2"/>
                </a:solidFill>
                <a:latin typeface="Century Gothic" charset="0"/>
                <a:ea typeface="Century Gothic" charset="0"/>
                <a:cs typeface="Century Gothic" charset="0"/>
              </a:rPr>
              <a:t>EMNLP’17</a:t>
            </a:r>
          </a:p>
        </p:txBody>
      </p:sp>
      <p:sp>
        <p:nvSpPr>
          <p:cNvPr id="20" name="TextBox 19">
            <a:extLst>
              <a:ext uri="{FF2B5EF4-FFF2-40B4-BE49-F238E27FC236}">
                <a16:creationId xmlns:a16="http://schemas.microsoft.com/office/drawing/2014/main" xmlns="" id="{C7C5F252-B7A8-654D-B626-DAB47965C335}"/>
              </a:ext>
            </a:extLst>
          </p:cNvPr>
          <p:cNvSpPr txBox="1"/>
          <p:nvPr/>
        </p:nvSpPr>
        <p:spPr>
          <a:xfrm>
            <a:off x="1431326" y="4254077"/>
            <a:ext cx="2393525" cy="400110"/>
          </a:xfrm>
          <a:prstGeom prst="rect">
            <a:avLst/>
          </a:prstGeom>
          <a:noFill/>
        </p:spPr>
        <p:txBody>
          <a:bodyPr wrap="square" rtlCol="0">
            <a:spAutoFit/>
          </a:bodyPr>
          <a:lstStyle/>
          <a:p>
            <a:r>
              <a:rPr lang="en-US" sz="2000" b="1" i="1">
                <a:solidFill>
                  <a:schemeClr val="bg2"/>
                </a:solidFill>
                <a:latin typeface="Century Gothic" charset="0"/>
                <a:ea typeface="Century Gothic" charset="0"/>
                <a:cs typeface="Century Gothic" charset="0"/>
              </a:rPr>
              <a:t>NAACL’18</a:t>
            </a:r>
            <a:endParaRPr lang="en-US" sz="2000" b="1" i="1" dirty="0">
              <a:solidFill>
                <a:schemeClr val="bg2"/>
              </a:solidFill>
              <a:latin typeface="Century Gothic" charset="0"/>
              <a:ea typeface="Century Gothic" charset="0"/>
              <a:cs typeface="Century Gothic" charset="0"/>
            </a:endParaRPr>
          </a:p>
        </p:txBody>
      </p:sp>
      <p:sp>
        <p:nvSpPr>
          <p:cNvPr id="21" name="TextBox 20">
            <a:extLst>
              <a:ext uri="{FF2B5EF4-FFF2-40B4-BE49-F238E27FC236}">
                <a16:creationId xmlns:a16="http://schemas.microsoft.com/office/drawing/2014/main" xmlns="" id="{152E3D12-708D-1045-A3D0-C2E3342C900B}"/>
              </a:ext>
            </a:extLst>
          </p:cNvPr>
          <p:cNvSpPr txBox="1"/>
          <p:nvPr/>
        </p:nvSpPr>
        <p:spPr>
          <a:xfrm>
            <a:off x="6116870" y="4208480"/>
            <a:ext cx="1630616" cy="400110"/>
          </a:xfrm>
          <a:prstGeom prst="rect">
            <a:avLst/>
          </a:prstGeom>
          <a:noFill/>
        </p:spPr>
        <p:txBody>
          <a:bodyPr wrap="square" rtlCol="0">
            <a:spAutoFit/>
          </a:bodyPr>
          <a:lstStyle/>
          <a:p>
            <a:r>
              <a:rPr lang="en-US" sz="2000" b="1" i="1">
                <a:solidFill>
                  <a:schemeClr val="bg2"/>
                </a:solidFill>
                <a:latin typeface="Century Gothic" charset="0"/>
                <a:ea typeface="Century Gothic" charset="0"/>
                <a:cs typeface="Century Gothic" charset="0"/>
              </a:rPr>
              <a:t>ACL’18</a:t>
            </a:r>
            <a:endParaRPr lang="en-US" sz="2000" b="1" i="1" dirty="0">
              <a:solidFill>
                <a:schemeClr val="bg2"/>
              </a:solidFill>
              <a:latin typeface="Century Gothic" charset="0"/>
              <a:ea typeface="Century Gothic" charset="0"/>
              <a:cs typeface="Century Gothic" charset="0"/>
            </a:endParaRPr>
          </a:p>
        </p:txBody>
      </p:sp>
      <p:sp>
        <p:nvSpPr>
          <p:cNvPr id="22" name="TextBox 21">
            <a:extLst>
              <a:ext uri="{FF2B5EF4-FFF2-40B4-BE49-F238E27FC236}">
                <a16:creationId xmlns:a16="http://schemas.microsoft.com/office/drawing/2014/main" xmlns="" id="{2A7DC4AB-0C45-474F-8A64-101AF913BAFF}"/>
              </a:ext>
            </a:extLst>
          </p:cNvPr>
          <p:cNvSpPr txBox="1"/>
          <p:nvPr/>
        </p:nvSpPr>
        <p:spPr>
          <a:xfrm>
            <a:off x="3913034" y="3650651"/>
            <a:ext cx="1302711" cy="523220"/>
          </a:xfrm>
          <a:prstGeom prst="rect">
            <a:avLst/>
          </a:prstGeom>
          <a:noFill/>
        </p:spPr>
        <p:txBody>
          <a:bodyPr wrap="square" rtlCol="0">
            <a:spAutoFit/>
          </a:bodyPr>
          <a:lstStyle/>
          <a:p>
            <a:pPr algn="ctr"/>
            <a:r>
              <a:rPr lang="en-US" sz="1400" b="1" i="1" dirty="0">
                <a:latin typeface="Century Gothic" charset="0"/>
                <a:ea typeface="Century Gothic" charset="0"/>
                <a:cs typeface="Century Gothic" charset="0"/>
              </a:rPr>
              <a:t>1 in submission</a:t>
            </a:r>
          </a:p>
        </p:txBody>
      </p:sp>
      <p:sp>
        <p:nvSpPr>
          <p:cNvPr id="2" name="Title 1"/>
          <p:cNvSpPr>
            <a:spLocks noGrp="1"/>
          </p:cNvSpPr>
          <p:nvPr>
            <p:ph type="title"/>
          </p:nvPr>
        </p:nvSpPr>
        <p:spPr/>
        <p:txBody>
          <a:bodyPr/>
          <a:lstStyle/>
          <a:p>
            <a:r>
              <a:rPr lang="en-US" dirty="0"/>
              <a:t>Recap</a:t>
            </a:r>
          </a:p>
        </p:txBody>
      </p:sp>
      <p:sp>
        <p:nvSpPr>
          <p:cNvPr id="3" name="TextBox 2"/>
          <p:cNvSpPr txBox="1"/>
          <p:nvPr/>
        </p:nvSpPr>
        <p:spPr>
          <a:xfrm>
            <a:off x="5019386" y="201406"/>
            <a:ext cx="748923" cy="369332"/>
          </a:xfrm>
          <a:prstGeom prst="rect">
            <a:avLst/>
          </a:prstGeom>
          <a:noFill/>
        </p:spPr>
        <p:txBody>
          <a:bodyPr wrap="none" rtlCol="0">
            <a:spAutoFit/>
          </a:bodyPr>
          <a:lstStyle/>
          <a:p>
            <a:r>
              <a:rPr lang="en-US" dirty="0" smtClean="0">
                <a:solidFill>
                  <a:schemeClr val="bg2"/>
                </a:solidFill>
                <a:latin typeface="Century Gothic" charset="0"/>
                <a:ea typeface="Century Gothic" charset="0"/>
                <a:cs typeface="Century Gothic" charset="0"/>
              </a:rPr>
              <a:t>Data</a:t>
            </a:r>
            <a:endParaRPr lang="en-US" dirty="0">
              <a:solidFill>
                <a:schemeClr val="bg2"/>
              </a:solidFill>
              <a:latin typeface="Century Gothic" charset="0"/>
              <a:ea typeface="Century Gothic" charset="0"/>
              <a:cs typeface="Century Gothic" charset="0"/>
            </a:endParaRPr>
          </a:p>
        </p:txBody>
      </p:sp>
      <p:cxnSp>
        <p:nvCxnSpPr>
          <p:cNvPr id="23" name="Straight Arrow Connector 22">
            <a:extLst>
              <a:ext uri="{FF2B5EF4-FFF2-40B4-BE49-F238E27FC236}">
                <a16:creationId xmlns:a16="http://schemas.microsoft.com/office/drawing/2014/main" xmlns="" id="{2A62EF9E-D230-6D42-98F2-C69C76BC8BA6}"/>
              </a:ext>
            </a:extLst>
          </p:cNvPr>
          <p:cNvCxnSpPr/>
          <p:nvPr/>
        </p:nvCxnSpPr>
        <p:spPr>
          <a:xfrm>
            <a:off x="5768309" y="376224"/>
            <a:ext cx="395631"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116870" y="201406"/>
            <a:ext cx="1152880" cy="369332"/>
          </a:xfrm>
          <a:prstGeom prst="rect">
            <a:avLst/>
          </a:prstGeom>
          <a:noFill/>
        </p:spPr>
        <p:txBody>
          <a:bodyPr wrap="none" rtlCol="0">
            <a:spAutoFit/>
          </a:bodyPr>
          <a:lstStyle/>
          <a:p>
            <a:r>
              <a:rPr lang="en-US" dirty="0" smtClean="0">
                <a:solidFill>
                  <a:schemeClr val="bg2"/>
                </a:solidFill>
                <a:latin typeface="Century Gothic" charset="0"/>
                <a:ea typeface="Century Gothic" charset="0"/>
                <a:cs typeface="Century Gothic" charset="0"/>
              </a:rPr>
              <a:t>Learning</a:t>
            </a:r>
            <a:endParaRPr lang="en-US" dirty="0">
              <a:solidFill>
                <a:schemeClr val="bg2"/>
              </a:solidFill>
              <a:latin typeface="Century Gothic" charset="0"/>
              <a:ea typeface="Century Gothic" charset="0"/>
              <a:cs typeface="Century Gothic" charset="0"/>
            </a:endParaRPr>
          </a:p>
        </p:txBody>
      </p:sp>
      <p:cxnSp>
        <p:nvCxnSpPr>
          <p:cNvPr id="26" name="Straight Arrow Connector 25">
            <a:extLst>
              <a:ext uri="{FF2B5EF4-FFF2-40B4-BE49-F238E27FC236}">
                <a16:creationId xmlns:a16="http://schemas.microsoft.com/office/drawing/2014/main" xmlns="" id="{2A62EF9E-D230-6D42-98F2-C69C76BC8BA6}"/>
              </a:ext>
            </a:extLst>
          </p:cNvPr>
          <p:cNvCxnSpPr/>
          <p:nvPr/>
        </p:nvCxnSpPr>
        <p:spPr>
          <a:xfrm>
            <a:off x="7216109" y="376224"/>
            <a:ext cx="395631"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7608008" y="201406"/>
            <a:ext cx="1311578" cy="369332"/>
          </a:xfrm>
          <a:prstGeom prst="rect">
            <a:avLst/>
          </a:prstGeom>
          <a:noFill/>
        </p:spPr>
        <p:txBody>
          <a:bodyPr wrap="none" rtlCol="0">
            <a:spAutoFit/>
          </a:bodyPr>
          <a:lstStyle/>
          <a:p>
            <a:r>
              <a:rPr lang="en-US" dirty="0" smtClean="0">
                <a:solidFill>
                  <a:schemeClr val="bg2"/>
                </a:solidFill>
                <a:latin typeface="Century Gothic" charset="0"/>
                <a:ea typeface="Century Gothic" charset="0"/>
                <a:cs typeface="Century Gothic" charset="0"/>
              </a:rPr>
              <a:t>Prediction</a:t>
            </a:r>
            <a:endParaRPr lang="en-US" dirty="0">
              <a:solidFill>
                <a:schemeClr val="bg2"/>
              </a:solidFill>
              <a:latin typeface="Century Gothic" charset="0"/>
              <a:ea typeface="Century Gothic" charset="0"/>
              <a:cs typeface="Century Gothic" charset="0"/>
            </a:endParaRPr>
          </a:p>
        </p:txBody>
      </p:sp>
      <p:sp>
        <p:nvSpPr>
          <p:cNvPr id="5" name="Rounded Rectangle 4"/>
          <p:cNvSpPr/>
          <p:nvPr/>
        </p:nvSpPr>
        <p:spPr>
          <a:xfrm>
            <a:off x="7583877" y="153482"/>
            <a:ext cx="1335709" cy="535172"/>
          </a:xfrm>
          <a:prstGeom prst="roundRect">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6609154" y="1093599"/>
            <a:ext cx="1176925" cy="369332"/>
          </a:xfrm>
          <a:prstGeom prst="rect">
            <a:avLst/>
          </a:prstGeom>
          <a:noFill/>
        </p:spPr>
        <p:txBody>
          <a:bodyPr wrap="none" rtlCol="0">
            <a:spAutoFit/>
          </a:bodyPr>
          <a:lstStyle/>
          <a:p>
            <a:r>
              <a:rPr lang="en-US" smtClean="0">
                <a:solidFill>
                  <a:schemeClr val="bg2"/>
                </a:solidFill>
                <a:latin typeface="Century Gothic" charset="0"/>
                <a:ea typeface="Century Gothic" charset="0"/>
                <a:cs typeface="Century Gothic" charset="0"/>
              </a:rPr>
              <a:t>Structure</a:t>
            </a:r>
            <a:endParaRPr lang="en-US">
              <a:solidFill>
                <a:schemeClr val="bg2"/>
              </a:solidFill>
              <a:latin typeface="Century Gothic" charset="0"/>
              <a:ea typeface="Century Gothic" charset="0"/>
              <a:cs typeface="Century Gothic" charset="0"/>
            </a:endParaRPr>
          </a:p>
        </p:txBody>
      </p:sp>
      <p:cxnSp>
        <p:nvCxnSpPr>
          <p:cNvPr id="42" name="Straight Arrow Connector 41">
            <a:extLst>
              <a:ext uri="{FF2B5EF4-FFF2-40B4-BE49-F238E27FC236}">
                <a16:creationId xmlns:a16="http://schemas.microsoft.com/office/drawing/2014/main" xmlns="" id="{2A62EF9E-D230-6D42-98F2-C69C76BC8BA6}"/>
              </a:ext>
            </a:extLst>
          </p:cNvPr>
          <p:cNvCxnSpPr>
            <a:stCxn id="6" idx="0"/>
          </p:cNvCxnSpPr>
          <p:nvPr/>
        </p:nvCxnSpPr>
        <p:spPr>
          <a:xfrm flipV="1">
            <a:off x="7197617" y="762000"/>
            <a:ext cx="803383" cy="331599"/>
          </a:xfrm>
          <a:prstGeom prst="straightConnector1">
            <a:avLst/>
          </a:prstGeom>
          <a:ln w="38100">
            <a:solidFill>
              <a:schemeClr val="tx1">
                <a:lumMod val="50000"/>
              </a:schemeClr>
            </a:solidFill>
            <a:prstDash val="sysDash"/>
            <a:headEnd type="none" w="med" len="med"/>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8702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anim calcmode="lin" valueType="num">
                                      <p:cBhvr>
                                        <p:cTn id="18" dur="1000" fill="hold"/>
                                        <p:tgtEl>
                                          <p:spTgt spid="21"/>
                                        </p:tgtEl>
                                        <p:attrNameLst>
                                          <p:attrName>ppt_x</p:attrName>
                                        </p:attrNameLst>
                                      </p:cBhvr>
                                      <p:tavLst>
                                        <p:tav tm="0">
                                          <p:val>
                                            <p:strVal val="#ppt_x"/>
                                          </p:val>
                                        </p:tav>
                                        <p:tav tm="100000">
                                          <p:val>
                                            <p:strVal val="#ppt_x"/>
                                          </p:val>
                                        </p:tav>
                                      </p:tavLst>
                                    </p:anim>
                                    <p:anim calcmode="lin" valueType="num">
                                      <p:cBhvr>
                                        <p:cTn id="19" dur="1000" fill="hold"/>
                                        <p:tgtEl>
                                          <p:spTgt spid="2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left)">
                                      <p:cBhvr>
                                        <p:cTn id="33" dur="500"/>
                                        <p:tgtEl>
                                          <p:spTgt spid="23"/>
                                        </p:tgtEl>
                                      </p:cBhvr>
                                    </p:animEffect>
                                  </p:childTnLst>
                                </p:cTn>
                              </p:par>
                            </p:childTnLst>
                          </p:cTn>
                        </p:par>
                        <p:par>
                          <p:cTn id="34" fill="hold">
                            <p:stCondLst>
                              <p:cond delay="1000"/>
                            </p:stCondLst>
                            <p:childTnLst>
                              <p:par>
                                <p:cTn id="35" presetID="22" presetClass="entr" presetSubtype="8" fill="hold" grpId="0" nodeType="after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500"/>
                                        <p:tgtEl>
                                          <p:spTgt spid="25"/>
                                        </p:tgtEl>
                                      </p:cBhvr>
                                    </p:animEffect>
                                  </p:childTnLst>
                                </p:cTn>
                              </p:par>
                            </p:childTnLst>
                          </p:cTn>
                        </p:par>
                        <p:par>
                          <p:cTn id="38" fill="hold">
                            <p:stCondLst>
                              <p:cond delay="1500"/>
                            </p:stCondLst>
                            <p:childTnLst>
                              <p:par>
                                <p:cTn id="39" presetID="22" presetClass="entr" presetSubtype="8" fill="hold"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wipe(left)">
                                      <p:cBhvr>
                                        <p:cTn id="41" dur="500"/>
                                        <p:tgtEl>
                                          <p:spTgt spid="26"/>
                                        </p:tgtEl>
                                      </p:cBhvr>
                                    </p:animEffect>
                                  </p:childTnLst>
                                </p:cTn>
                              </p:par>
                            </p:childTnLst>
                          </p:cTn>
                        </p:par>
                        <p:par>
                          <p:cTn id="42" fill="hold">
                            <p:stCondLst>
                              <p:cond delay="2000"/>
                            </p:stCondLst>
                            <p:childTnLst>
                              <p:par>
                                <p:cTn id="43" presetID="22" presetClass="entr" presetSubtype="8" fill="hold" grpId="0" nodeType="after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wipe(left)">
                                      <p:cBhvr>
                                        <p:cTn id="45" dur="500"/>
                                        <p:tgtEl>
                                          <p:spTgt spid="27"/>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dissolve">
                                      <p:cBhvr>
                                        <p:cTn id="50" dur="500"/>
                                        <p:tgtEl>
                                          <p:spTgt spid="5"/>
                                        </p:tgtEl>
                                      </p:cBhvr>
                                    </p:animEffect>
                                  </p:childTnLst>
                                </p:cTn>
                              </p:par>
                            </p:childTnLst>
                          </p:cTn>
                        </p:par>
                        <p:par>
                          <p:cTn id="51" fill="hold">
                            <p:stCondLst>
                              <p:cond delay="500"/>
                            </p:stCondLst>
                            <p:childTnLst>
                              <p:par>
                                <p:cTn id="52" presetID="22" presetClass="entr" presetSubtype="4" fill="hold" grpId="0" nodeType="after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down)">
                                      <p:cBhvr>
                                        <p:cTn id="54" dur="500"/>
                                        <p:tgtEl>
                                          <p:spTgt spid="6"/>
                                        </p:tgtEl>
                                      </p:cBhvr>
                                    </p:animEffect>
                                  </p:childTnLst>
                                </p:cTn>
                              </p:par>
                              <p:par>
                                <p:cTn id="55" presetID="22" presetClass="entr" presetSubtype="4"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down)">
                                      <p:cBhvr>
                                        <p:cTn id="5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3" grpId="0"/>
      <p:bldP spid="25" grpId="0"/>
      <p:bldP spid="27" grpId="0"/>
      <p:bldP spid="5" grpId="0" animBg="1"/>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28">
            <a:extLst>
              <a:ext uri="{FF2B5EF4-FFF2-40B4-BE49-F238E27FC236}">
                <a16:creationId xmlns:a16="http://schemas.microsoft.com/office/drawing/2014/main" xmlns="" id="{6BAA031E-6F64-2B40-9923-F1FF9BA4F5E3}"/>
              </a:ext>
            </a:extLst>
          </p:cNvPr>
          <p:cNvSpPr/>
          <p:nvPr/>
        </p:nvSpPr>
        <p:spPr>
          <a:xfrm>
            <a:off x="2596528" y="2351454"/>
            <a:ext cx="1972921" cy="1862916"/>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1" name="Freeform 30">
            <a:extLst>
              <a:ext uri="{FF2B5EF4-FFF2-40B4-BE49-F238E27FC236}">
                <a16:creationId xmlns:a16="http://schemas.microsoft.com/office/drawing/2014/main" xmlns="" id="{F085AC4B-4A7E-834A-B06E-254CBF4187B3}"/>
              </a:ext>
            </a:extLst>
          </p:cNvPr>
          <p:cNvSpPr/>
          <p:nvPr/>
        </p:nvSpPr>
        <p:spPr>
          <a:xfrm>
            <a:off x="3918092" y="4208480"/>
            <a:ext cx="1302713" cy="1574208"/>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2" name="Freeform 31">
            <a:extLst>
              <a:ext uri="{FF2B5EF4-FFF2-40B4-BE49-F238E27FC236}">
                <a16:creationId xmlns:a16="http://schemas.microsoft.com/office/drawing/2014/main" xmlns="" id="{E17AE7F1-0CB6-794C-BF7A-F892F91C6275}"/>
              </a:ext>
            </a:extLst>
          </p:cNvPr>
          <p:cNvSpPr/>
          <p:nvPr/>
        </p:nvSpPr>
        <p:spPr>
          <a:xfrm>
            <a:off x="2590800" y="381000"/>
            <a:ext cx="3940909" cy="2480129"/>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3" name="Freeform 32">
            <a:extLst>
              <a:ext uri="{FF2B5EF4-FFF2-40B4-BE49-F238E27FC236}">
                <a16:creationId xmlns:a16="http://schemas.microsoft.com/office/drawing/2014/main" xmlns="" id="{BB1A0CE1-0E3A-7B4A-B83A-13921B6A1585}"/>
              </a:ext>
            </a:extLst>
          </p:cNvPr>
          <p:cNvSpPr/>
          <p:nvPr/>
        </p:nvSpPr>
        <p:spPr>
          <a:xfrm>
            <a:off x="4569449" y="2458993"/>
            <a:ext cx="3289552" cy="3833368"/>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4" name="Freeform 33">
            <a:extLst>
              <a:ext uri="{FF2B5EF4-FFF2-40B4-BE49-F238E27FC236}">
                <a16:creationId xmlns:a16="http://schemas.microsoft.com/office/drawing/2014/main" xmlns="" id="{611CA335-3DDA-3E42-9D4C-2F3ACE82A0B0}"/>
              </a:ext>
            </a:extLst>
          </p:cNvPr>
          <p:cNvSpPr/>
          <p:nvPr/>
        </p:nvSpPr>
        <p:spPr>
          <a:xfrm>
            <a:off x="1279895" y="2464880"/>
            <a:ext cx="3289553" cy="3827481"/>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5" name="Freeform 34">
            <a:extLst>
              <a:ext uri="{FF2B5EF4-FFF2-40B4-BE49-F238E27FC236}">
                <a16:creationId xmlns:a16="http://schemas.microsoft.com/office/drawing/2014/main" xmlns="" id="{F475611E-0004-8645-B016-3D3DC271D062}"/>
              </a:ext>
            </a:extLst>
          </p:cNvPr>
          <p:cNvSpPr/>
          <p:nvPr/>
        </p:nvSpPr>
        <p:spPr>
          <a:xfrm>
            <a:off x="3923670" y="2876571"/>
            <a:ext cx="1291555" cy="1460779"/>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6" name="TextBox 35">
            <a:extLst>
              <a:ext uri="{FF2B5EF4-FFF2-40B4-BE49-F238E27FC236}">
                <a16:creationId xmlns:a16="http://schemas.microsoft.com/office/drawing/2014/main" xmlns="" id="{92275B5B-E0D7-3945-8D0F-46FE7C4CF2FA}"/>
              </a:ext>
            </a:extLst>
          </p:cNvPr>
          <p:cNvSpPr txBox="1"/>
          <p:nvPr/>
        </p:nvSpPr>
        <p:spPr>
          <a:xfrm>
            <a:off x="3371831" y="750782"/>
            <a:ext cx="2881874"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Structured learning</a:t>
            </a:r>
          </a:p>
        </p:txBody>
      </p:sp>
      <p:pic>
        <p:nvPicPr>
          <p:cNvPr id="37" name="Picture 36" descr="A close up of a logo&#10;&#10;Description automatically generated">
            <a:extLst>
              <a:ext uri="{FF2B5EF4-FFF2-40B4-BE49-F238E27FC236}">
                <a16:creationId xmlns:a16="http://schemas.microsoft.com/office/drawing/2014/main" xmlns="" id="{DB65E3A3-9D34-C44D-8B28-9DC123B3C6E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99912" y="1004102"/>
            <a:ext cx="974176" cy="745577"/>
          </a:xfrm>
          <a:prstGeom prst="rect">
            <a:avLst/>
          </a:prstGeom>
        </p:spPr>
      </p:pic>
      <p:pic>
        <p:nvPicPr>
          <p:cNvPr id="38" name="Picture 37" descr="A close up of a logo&#10;&#10;Description automatically generated">
            <a:extLst>
              <a:ext uri="{FF2B5EF4-FFF2-40B4-BE49-F238E27FC236}">
                <a16:creationId xmlns:a16="http://schemas.microsoft.com/office/drawing/2014/main" xmlns="" id="{2F03890A-BF19-2C45-95C5-CB210684FA8E}"/>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526696" y="4751042"/>
            <a:ext cx="1323194" cy="940938"/>
          </a:xfrm>
          <a:prstGeom prst="rect">
            <a:avLst/>
          </a:prstGeom>
        </p:spPr>
      </p:pic>
      <p:sp>
        <p:nvSpPr>
          <p:cNvPr id="39" name="TextBox 38">
            <a:extLst>
              <a:ext uri="{FF2B5EF4-FFF2-40B4-BE49-F238E27FC236}">
                <a16:creationId xmlns:a16="http://schemas.microsoft.com/office/drawing/2014/main" xmlns="" id="{A2BA009D-F8A0-4745-A2E0-0CEE28CA1EBC}"/>
              </a:ext>
            </a:extLst>
          </p:cNvPr>
          <p:cNvSpPr txBox="1"/>
          <p:nvPr/>
        </p:nvSpPr>
        <p:spPr>
          <a:xfrm>
            <a:off x="2206719" y="5607318"/>
            <a:ext cx="2330225"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Common sense</a:t>
            </a:r>
          </a:p>
        </p:txBody>
      </p:sp>
      <p:pic>
        <p:nvPicPr>
          <p:cNvPr id="40" name="Picture 39" descr="A close up of a logo&#10;&#10;Description automatically generated">
            <a:extLst>
              <a:ext uri="{FF2B5EF4-FFF2-40B4-BE49-F238E27FC236}">
                <a16:creationId xmlns:a16="http://schemas.microsoft.com/office/drawing/2014/main" xmlns="" id="{6A6FD580-32DA-9945-9417-0263FA8F04F1}"/>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5577574" y="5009130"/>
            <a:ext cx="819421" cy="682850"/>
          </a:xfrm>
          <a:prstGeom prst="rect">
            <a:avLst/>
          </a:prstGeom>
        </p:spPr>
      </p:pic>
      <p:sp>
        <p:nvSpPr>
          <p:cNvPr id="41" name="TextBox 40">
            <a:extLst>
              <a:ext uri="{FF2B5EF4-FFF2-40B4-BE49-F238E27FC236}">
                <a16:creationId xmlns:a16="http://schemas.microsoft.com/office/drawing/2014/main" xmlns="" id="{1DE9473B-346D-9B4E-AA6C-DEC446EBA539}"/>
              </a:ext>
            </a:extLst>
          </p:cNvPr>
          <p:cNvSpPr txBox="1"/>
          <p:nvPr/>
        </p:nvSpPr>
        <p:spPr>
          <a:xfrm>
            <a:off x="4966392" y="5607318"/>
            <a:ext cx="2425008"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Data annotation</a:t>
            </a:r>
          </a:p>
        </p:txBody>
      </p:sp>
      <p:sp>
        <p:nvSpPr>
          <p:cNvPr id="30" name="Freeform 29">
            <a:extLst>
              <a:ext uri="{FF2B5EF4-FFF2-40B4-BE49-F238E27FC236}">
                <a16:creationId xmlns:a16="http://schemas.microsoft.com/office/drawing/2014/main" xmlns="" id="{0C80176D-29FC-CF43-8AFB-3A5DEDFAE4C9}"/>
              </a:ext>
            </a:extLst>
          </p:cNvPr>
          <p:cNvSpPr/>
          <p:nvPr/>
        </p:nvSpPr>
        <p:spPr>
          <a:xfrm>
            <a:off x="4569449" y="2351453"/>
            <a:ext cx="1956830" cy="1857027"/>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Century Gothic" charset="0"/>
              <a:ea typeface="Century Gothic" charset="0"/>
              <a:cs typeface="Century Gothic" charset="0"/>
            </a:endParaRPr>
          </a:p>
        </p:txBody>
      </p:sp>
      <p:sp>
        <p:nvSpPr>
          <p:cNvPr id="19" name="TextBox 18">
            <a:extLst>
              <a:ext uri="{FF2B5EF4-FFF2-40B4-BE49-F238E27FC236}">
                <a16:creationId xmlns:a16="http://schemas.microsoft.com/office/drawing/2014/main" xmlns="" id="{649080C7-8D4D-9846-886B-33B0F1413DAF}"/>
              </a:ext>
            </a:extLst>
          </p:cNvPr>
          <p:cNvSpPr txBox="1"/>
          <p:nvPr/>
        </p:nvSpPr>
        <p:spPr>
          <a:xfrm>
            <a:off x="3348007" y="1909229"/>
            <a:ext cx="2572714" cy="400110"/>
          </a:xfrm>
          <a:prstGeom prst="rect">
            <a:avLst/>
          </a:prstGeom>
          <a:noFill/>
        </p:spPr>
        <p:txBody>
          <a:bodyPr wrap="square" rtlCol="0">
            <a:spAutoFit/>
          </a:bodyPr>
          <a:lstStyle/>
          <a:p>
            <a:pPr algn="ctr"/>
            <a:r>
              <a:rPr lang="en-US" sz="2000" b="1" i="1" dirty="0">
                <a:solidFill>
                  <a:schemeClr val="bg2"/>
                </a:solidFill>
                <a:latin typeface="Century Gothic" charset="0"/>
                <a:ea typeface="Century Gothic" charset="0"/>
                <a:cs typeface="Century Gothic" charset="0"/>
              </a:rPr>
              <a:t>EMNLP’17</a:t>
            </a:r>
          </a:p>
        </p:txBody>
      </p:sp>
      <p:sp>
        <p:nvSpPr>
          <p:cNvPr id="20" name="TextBox 19">
            <a:extLst>
              <a:ext uri="{FF2B5EF4-FFF2-40B4-BE49-F238E27FC236}">
                <a16:creationId xmlns:a16="http://schemas.microsoft.com/office/drawing/2014/main" xmlns="" id="{C7C5F252-B7A8-654D-B626-DAB47965C335}"/>
              </a:ext>
            </a:extLst>
          </p:cNvPr>
          <p:cNvSpPr txBox="1"/>
          <p:nvPr/>
        </p:nvSpPr>
        <p:spPr>
          <a:xfrm>
            <a:off x="1431326" y="4254077"/>
            <a:ext cx="2393525" cy="400110"/>
          </a:xfrm>
          <a:prstGeom prst="rect">
            <a:avLst/>
          </a:prstGeom>
          <a:noFill/>
        </p:spPr>
        <p:txBody>
          <a:bodyPr wrap="square" rtlCol="0">
            <a:spAutoFit/>
          </a:bodyPr>
          <a:lstStyle/>
          <a:p>
            <a:r>
              <a:rPr lang="en-US" sz="2000" b="1" i="1">
                <a:solidFill>
                  <a:schemeClr val="bg2"/>
                </a:solidFill>
                <a:latin typeface="Century Gothic" charset="0"/>
                <a:ea typeface="Century Gothic" charset="0"/>
                <a:cs typeface="Century Gothic" charset="0"/>
              </a:rPr>
              <a:t>NAACL’18</a:t>
            </a:r>
            <a:endParaRPr lang="en-US" sz="2000" b="1" i="1" dirty="0">
              <a:solidFill>
                <a:schemeClr val="bg2"/>
              </a:solidFill>
              <a:latin typeface="Century Gothic" charset="0"/>
              <a:ea typeface="Century Gothic" charset="0"/>
              <a:cs typeface="Century Gothic" charset="0"/>
            </a:endParaRPr>
          </a:p>
        </p:txBody>
      </p:sp>
      <p:sp>
        <p:nvSpPr>
          <p:cNvPr id="21" name="TextBox 20">
            <a:extLst>
              <a:ext uri="{FF2B5EF4-FFF2-40B4-BE49-F238E27FC236}">
                <a16:creationId xmlns:a16="http://schemas.microsoft.com/office/drawing/2014/main" xmlns="" id="{152E3D12-708D-1045-A3D0-C2E3342C900B}"/>
              </a:ext>
            </a:extLst>
          </p:cNvPr>
          <p:cNvSpPr txBox="1"/>
          <p:nvPr/>
        </p:nvSpPr>
        <p:spPr>
          <a:xfrm>
            <a:off x="6116870" y="4208480"/>
            <a:ext cx="1630616" cy="400110"/>
          </a:xfrm>
          <a:prstGeom prst="rect">
            <a:avLst/>
          </a:prstGeom>
          <a:noFill/>
        </p:spPr>
        <p:txBody>
          <a:bodyPr wrap="square" rtlCol="0">
            <a:spAutoFit/>
          </a:bodyPr>
          <a:lstStyle/>
          <a:p>
            <a:r>
              <a:rPr lang="en-US" sz="2000" b="1" i="1">
                <a:solidFill>
                  <a:schemeClr val="bg2"/>
                </a:solidFill>
                <a:latin typeface="Century Gothic" charset="0"/>
                <a:ea typeface="Century Gothic" charset="0"/>
                <a:cs typeface="Century Gothic" charset="0"/>
              </a:rPr>
              <a:t>ACL’18</a:t>
            </a:r>
            <a:endParaRPr lang="en-US" sz="2000" b="1" i="1" dirty="0">
              <a:solidFill>
                <a:schemeClr val="bg2"/>
              </a:solidFill>
              <a:latin typeface="Century Gothic" charset="0"/>
              <a:ea typeface="Century Gothic" charset="0"/>
              <a:cs typeface="Century Gothic" charset="0"/>
            </a:endParaRPr>
          </a:p>
        </p:txBody>
      </p:sp>
      <p:sp>
        <p:nvSpPr>
          <p:cNvPr id="22" name="TextBox 21">
            <a:extLst>
              <a:ext uri="{FF2B5EF4-FFF2-40B4-BE49-F238E27FC236}">
                <a16:creationId xmlns:a16="http://schemas.microsoft.com/office/drawing/2014/main" xmlns="" id="{2A7DC4AB-0C45-474F-8A64-101AF913BAFF}"/>
              </a:ext>
            </a:extLst>
          </p:cNvPr>
          <p:cNvSpPr txBox="1"/>
          <p:nvPr/>
        </p:nvSpPr>
        <p:spPr>
          <a:xfrm>
            <a:off x="3913034" y="3650651"/>
            <a:ext cx="1302711" cy="523220"/>
          </a:xfrm>
          <a:prstGeom prst="rect">
            <a:avLst/>
          </a:prstGeom>
          <a:noFill/>
        </p:spPr>
        <p:txBody>
          <a:bodyPr wrap="square" rtlCol="0">
            <a:spAutoFit/>
          </a:bodyPr>
          <a:lstStyle/>
          <a:p>
            <a:pPr algn="ctr"/>
            <a:r>
              <a:rPr lang="en-US" sz="1400" b="1" i="1" dirty="0">
                <a:latin typeface="Century Gothic" charset="0"/>
                <a:ea typeface="Century Gothic" charset="0"/>
                <a:cs typeface="Century Gothic" charset="0"/>
              </a:rPr>
              <a:t>1 in submission</a:t>
            </a:r>
          </a:p>
        </p:txBody>
      </p:sp>
      <p:sp>
        <p:nvSpPr>
          <p:cNvPr id="2" name="Title 1"/>
          <p:cNvSpPr>
            <a:spLocks noGrp="1"/>
          </p:cNvSpPr>
          <p:nvPr>
            <p:ph type="title"/>
          </p:nvPr>
        </p:nvSpPr>
        <p:spPr/>
        <p:txBody>
          <a:bodyPr/>
          <a:lstStyle/>
          <a:p>
            <a:r>
              <a:rPr lang="en-US" dirty="0"/>
              <a:t>Recap</a:t>
            </a:r>
          </a:p>
        </p:txBody>
      </p:sp>
      <p:sp>
        <p:nvSpPr>
          <p:cNvPr id="3" name="TextBox 2"/>
          <p:cNvSpPr txBox="1"/>
          <p:nvPr/>
        </p:nvSpPr>
        <p:spPr>
          <a:xfrm>
            <a:off x="5019386" y="201406"/>
            <a:ext cx="748923" cy="369332"/>
          </a:xfrm>
          <a:prstGeom prst="rect">
            <a:avLst/>
          </a:prstGeom>
          <a:noFill/>
        </p:spPr>
        <p:txBody>
          <a:bodyPr wrap="none" rtlCol="0">
            <a:spAutoFit/>
          </a:bodyPr>
          <a:lstStyle/>
          <a:p>
            <a:r>
              <a:rPr lang="en-US" dirty="0" smtClean="0">
                <a:solidFill>
                  <a:schemeClr val="bg2"/>
                </a:solidFill>
                <a:latin typeface="Century Gothic" charset="0"/>
                <a:ea typeface="Century Gothic" charset="0"/>
                <a:cs typeface="Century Gothic" charset="0"/>
              </a:rPr>
              <a:t>Data</a:t>
            </a:r>
            <a:endParaRPr lang="en-US" dirty="0">
              <a:solidFill>
                <a:schemeClr val="bg2"/>
              </a:solidFill>
              <a:latin typeface="Century Gothic" charset="0"/>
              <a:ea typeface="Century Gothic" charset="0"/>
              <a:cs typeface="Century Gothic" charset="0"/>
            </a:endParaRPr>
          </a:p>
        </p:txBody>
      </p:sp>
      <p:cxnSp>
        <p:nvCxnSpPr>
          <p:cNvPr id="23" name="Straight Arrow Connector 22">
            <a:extLst>
              <a:ext uri="{FF2B5EF4-FFF2-40B4-BE49-F238E27FC236}">
                <a16:creationId xmlns:a16="http://schemas.microsoft.com/office/drawing/2014/main" xmlns="" id="{2A62EF9E-D230-6D42-98F2-C69C76BC8BA6}"/>
              </a:ext>
            </a:extLst>
          </p:cNvPr>
          <p:cNvCxnSpPr/>
          <p:nvPr/>
        </p:nvCxnSpPr>
        <p:spPr>
          <a:xfrm>
            <a:off x="5768309" y="376224"/>
            <a:ext cx="395631"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116870" y="201406"/>
            <a:ext cx="1152880" cy="369332"/>
          </a:xfrm>
          <a:prstGeom prst="rect">
            <a:avLst/>
          </a:prstGeom>
          <a:noFill/>
        </p:spPr>
        <p:txBody>
          <a:bodyPr wrap="none" rtlCol="0">
            <a:spAutoFit/>
          </a:bodyPr>
          <a:lstStyle/>
          <a:p>
            <a:r>
              <a:rPr lang="en-US" dirty="0" smtClean="0">
                <a:solidFill>
                  <a:schemeClr val="bg2"/>
                </a:solidFill>
                <a:latin typeface="Century Gothic" charset="0"/>
                <a:ea typeface="Century Gothic" charset="0"/>
                <a:cs typeface="Century Gothic" charset="0"/>
              </a:rPr>
              <a:t>Learning</a:t>
            </a:r>
            <a:endParaRPr lang="en-US" dirty="0">
              <a:solidFill>
                <a:schemeClr val="bg2"/>
              </a:solidFill>
              <a:latin typeface="Century Gothic" charset="0"/>
              <a:ea typeface="Century Gothic" charset="0"/>
              <a:cs typeface="Century Gothic" charset="0"/>
            </a:endParaRPr>
          </a:p>
        </p:txBody>
      </p:sp>
      <p:cxnSp>
        <p:nvCxnSpPr>
          <p:cNvPr id="26" name="Straight Arrow Connector 25">
            <a:extLst>
              <a:ext uri="{FF2B5EF4-FFF2-40B4-BE49-F238E27FC236}">
                <a16:creationId xmlns:a16="http://schemas.microsoft.com/office/drawing/2014/main" xmlns="" id="{2A62EF9E-D230-6D42-98F2-C69C76BC8BA6}"/>
              </a:ext>
            </a:extLst>
          </p:cNvPr>
          <p:cNvCxnSpPr/>
          <p:nvPr/>
        </p:nvCxnSpPr>
        <p:spPr>
          <a:xfrm>
            <a:off x="7216109" y="376224"/>
            <a:ext cx="395631"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7608008" y="201406"/>
            <a:ext cx="1311578" cy="369332"/>
          </a:xfrm>
          <a:prstGeom prst="rect">
            <a:avLst/>
          </a:prstGeom>
          <a:noFill/>
        </p:spPr>
        <p:txBody>
          <a:bodyPr wrap="none" rtlCol="0">
            <a:spAutoFit/>
          </a:bodyPr>
          <a:lstStyle/>
          <a:p>
            <a:r>
              <a:rPr lang="en-US" dirty="0" smtClean="0">
                <a:solidFill>
                  <a:schemeClr val="bg2"/>
                </a:solidFill>
                <a:latin typeface="Century Gothic" charset="0"/>
                <a:ea typeface="Century Gothic" charset="0"/>
                <a:cs typeface="Century Gothic" charset="0"/>
              </a:rPr>
              <a:t>Prediction</a:t>
            </a:r>
            <a:endParaRPr lang="en-US" dirty="0">
              <a:solidFill>
                <a:schemeClr val="bg2"/>
              </a:solidFill>
              <a:latin typeface="Century Gothic" charset="0"/>
              <a:ea typeface="Century Gothic" charset="0"/>
              <a:cs typeface="Century Gothic" charset="0"/>
            </a:endParaRPr>
          </a:p>
        </p:txBody>
      </p:sp>
      <p:sp>
        <p:nvSpPr>
          <p:cNvPr id="5" name="Rounded Rectangle 4"/>
          <p:cNvSpPr/>
          <p:nvPr/>
        </p:nvSpPr>
        <p:spPr>
          <a:xfrm>
            <a:off x="6116871" y="153482"/>
            <a:ext cx="2802716" cy="535172"/>
          </a:xfrm>
          <a:prstGeom prst="roundRect">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6609154" y="1093599"/>
            <a:ext cx="1176925" cy="369332"/>
          </a:xfrm>
          <a:prstGeom prst="rect">
            <a:avLst/>
          </a:prstGeom>
          <a:noFill/>
        </p:spPr>
        <p:txBody>
          <a:bodyPr wrap="none" rtlCol="0">
            <a:spAutoFit/>
          </a:bodyPr>
          <a:lstStyle/>
          <a:p>
            <a:r>
              <a:rPr lang="en-US" smtClean="0">
                <a:solidFill>
                  <a:schemeClr val="bg2"/>
                </a:solidFill>
                <a:latin typeface="Century Gothic" charset="0"/>
                <a:ea typeface="Century Gothic" charset="0"/>
                <a:cs typeface="Century Gothic" charset="0"/>
              </a:rPr>
              <a:t>Structure</a:t>
            </a:r>
            <a:endParaRPr lang="en-US">
              <a:solidFill>
                <a:schemeClr val="bg2"/>
              </a:solidFill>
              <a:latin typeface="Century Gothic" charset="0"/>
              <a:ea typeface="Century Gothic" charset="0"/>
              <a:cs typeface="Century Gothic" charset="0"/>
            </a:endParaRPr>
          </a:p>
        </p:txBody>
      </p:sp>
      <p:cxnSp>
        <p:nvCxnSpPr>
          <p:cNvPr id="42" name="Straight Arrow Connector 41">
            <a:extLst>
              <a:ext uri="{FF2B5EF4-FFF2-40B4-BE49-F238E27FC236}">
                <a16:creationId xmlns:a16="http://schemas.microsoft.com/office/drawing/2014/main" xmlns="" id="{2A62EF9E-D230-6D42-98F2-C69C76BC8BA6}"/>
              </a:ext>
            </a:extLst>
          </p:cNvPr>
          <p:cNvCxnSpPr>
            <a:stCxn id="6" idx="0"/>
          </p:cNvCxnSpPr>
          <p:nvPr/>
        </p:nvCxnSpPr>
        <p:spPr>
          <a:xfrm flipV="1">
            <a:off x="7197617" y="762000"/>
            <a:ext cx="410391" cy="331599"/>
          </a:xfrm>
          <a:prstGeom prst="straightConnector1">
            <a:avLst/>
          </a:prstGeom>
          <a:ln w="38100">
            <a:solidFill>
              <a:schemeClr val="tx1">
                <a:lumMod val="50000"/>
              </a:schemeClr>
            </a:solidFill>
            <a:prstDash val="sysDash"/>
            <a:headEnd type="none" w="med" len="med"/>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6360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28">
            <a:extLst>
              <a:ext uri="{FF2B5EF4-FFF2-40B4-BE49-F238E27FC236}">
                <a16:creationId xmlns:a16="http://schemas.microsoft.com/office/drawing/2014/main" xmlns="" id="{6BAA031E-6F64-2B40-9923-F1FF9BA4F5E3}"/>
              </a:ext>
            </a:extLst>
          </p:cNvPr>
          <p:cNvSpPr/>
          <p:nvPr/>
        </p:nvSpPr>
        <p:spPr>
          <a:xfrm>
            <a:off x="2596528" y="2351454"/>
            <a:ext cx="1972921" cy="1862916"/>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1" name="Freeform 30">
            <a:extLst>
              <a:ext uri="{FF2B5EF4-FFF2-40B4-BE49-F238E27FC236}">
                <a16:creationId xmlns:a16="http://schemas.microsoft.com/office/drawing/2014/main" xmlns="" id="{F085AC4B-4A7E-834A-B06E-254CBF4187B3}"/>
              </a:ext>
            </a:extLst>
          </p:cNvPr>
          <p:cNvSpPr/>
          <p:nvPr/>
        </p:nvSpPr>
        <p:spPr>
          <a:xfrm>
            <a:off x="3918092" y="4208480"/>
            <a:ext cx="1302713" cy="1574208"/>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2" name="Freeform 31">
            <a:extLst>
              <a:ext uri="{FF2B5EF4-FFF2-40B4-BE49-F238E27FC236}">
                <a16:creationId xmlns:a16="http://schemas.microsoft.com/office/drawing/2014/main" xmlns="" id="{E17AE7F1-0CB6-794C-BF7A-F892F91C6275}"/>
              </a:ext>
            </a:extLst>
          </p:cNvPr>
          <p:cNvSpPr/>
          <p:nvPr/>
        </p:nvSpPr>
        <p:spPr>
          <a:xfrm>
            <a:off x="2590800" y="381000"/>
            <a:ext cx="3940909" cy="2480129"/>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3" name="Freeform 32">
            <a:extLst>
              <a:ext uri="{FF2B5EF4-FFF2-40B4-BE49-F238E27FC236}">
                <a16:creationId xmlns:a16="http://schemas.microsoft.com/office/drawing/2014/main" xmlns="" id="{BB1A0CE1-0E3A-7B4A-B83A-13921B6A1585}"/>
              </a:ext>
            </a:extLst>
          </p:cNvPr>
          <p:cNvSpPr/>
          <p:nvPr/>
        </p:nvSpPr>
        <p:spPr>
          <a:xfrm>
            <a:off x="4569449" y="2458993"/>
            <a:ext cx="3289552" cy="3833368"/>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4" name="Freeform 33">
            <a:extLst>
              <a:ext uri="{FF2B5EF4-FFF2-40B4-BE49-F238E27FC236}">
                <a16:creationId xmlns:a16="http://schemas.microsoft.com/office/drawing/2014/main" xmlns="" id="{611CA335-3DDA-3E42-9D4C-2F3ACE82A0B0}"/>
              </a:ext>
            </a:extLst>
          </p:cNvPr>
          <p:cNvSpPr/>
          <p:nvPr/>
        </p:nvSpPr>
        <p:spPr>
          <a:xfrm>
            <a:off x="1279895" y="2464880"/>
            <a:ext cx="3289553" cy="3827481"/>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5" name="Freeform 34">
            <a:extLst>
              <a:ext uri="{FF2B5EF4-FFF2-40B4-BE49-F238E27FC236}">
                <a16:creationId xmlns:a16="http://schemas.microsoft.com/office/drawing/2014/main" xmlns="" id="{F475611E-0004-8645-B016-3D3DC271D062}"/>
              </a:ext>
            </a:extLst>
          </p:cNvPr>
          <p:cNvSpPr/>
          <p:nvPr/>
        </p:nvSpPr>
        <p:spPr>
          <a:xfrm>
            <a:off x="3923670" y="2876571"/>
            <a:ext cx="1291555" cy="1460779"/>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6" name="TextBox 35">
            <a:extLst>
              <a:ext uri="{FF2B5EF4-FFF2-40B4-BE49-F238E27FC236}">
                <a16:creationId xmlns:a16="http://schemas.microsoft.com/office/drawing/2014/main" xmlns="" id="{92275B5B-E0D7-3945-8D0F-46FE7C4CF2FA}"/>
              </a:ext>
            </a:extLst>
          </p:cNvPr>
          <p:cNvSpPr txBox="1"/>
          <p:nvPr/>
        </p:nvSpPr>
        <p:spPr>
          <a:xfrm>
            <a:off x="3371831" y="750782"/>
            <a:ext cx="2881874"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Structured learning</a:t>
            </a:r>
          </a:p>
        </p:txBody>
      </p:sp>
      <p:pic>
        <p:nvPicPr>
          <p:cNvPr id="37" name="Picture 36" descr="A close up of a logo&#10;&#10;Description automatically generated">
            <a:extLst>
              <a:ext uri="{FF2B5EF4-FFF2-40B4-BE49-F238E27FC236}">
                <a16:creationId xmlns:a16="http://schemas.microsoft.com/office/drawing/2014/main" xmlns="" id="{DB65E3A3-9D34-C44D-8B28-9DC123B3C6E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99912" y="1004102"/>
            <a:ext cx="974176" cy="745577"/>
          </a:xfrm>
          <a:prstGeom prst="rect">
            <a:avLst/>
          </a:prstGeom>
        </p:spPr>
      </p:pic>
      <p:pic>
        <p:nvPicPr>
          <p:cNvPr id="38" name="Picture 37" descr="A close up of a logo&#10;&#10;Description automatically generated">
            <a:extLst>
              <a:ext uri="{FF2B5EF4-FFF2-40B4-BE49-F238E27FC236}">
                <a16:creationId xmlns:a16="http://schemas.microsoft.com/office/drawing/2014/main" xmlns="" id="{2F03890A-BF19-2C45-95C5-CB210684FA8E}"/>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526696" y="4751042"/>
            <a:ext cx="1323194" cy="940938"/>
          </a:xfrm>
          <a:prstGeom prst="rect">
            <a:avLst/>
          </a:prstGeom>
        </p:spPr>
      </p:pic>
      <p:sp>
        <p:nvSpPr>
          <p:cNvPr id="39" name="TextBox 38">
            <a:extLst>
              <a:ext uri="{FF2B5EF4-FFF2-40B4-BE49-F238E27FC236}">
                <a16:creationId xmlns:a16="http://schemas.microsoft.com/office/drawing/2014/main" xmlns="" id="{A2BA009D-F8A0-4745-A2E0-0CEE28CA1EBC}"/>
              </a:ext>
            </a:extLst>
          </p:cNvPr>
          <p:cNvSpPr txBox="1"/>
          <p:nvPr/>
        </p:nvSpPr>
        <p:spPr>
          <a:xfrm>
            <a:off x="2206719" y="5607318"/>
            <a:ext cx="2330225"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Common sense</a:t>
            </a:r>
          </a:p>
        </p:txBody>
      </p:sp>
      <p:pic>
        <p:nvPicPr>
          <p:cNvPr id="40" name="Picture 39" descr="A close up of a logo&#10;&#10;Description automatically generated">
            <a:extLst>
              <a:ext uri="{FF2B5EF4-FFF2-40B4-BE49-F238E27FC236}">
                <a16:creationId xmlns:a16="http://schemas.microsoft.com/office/drawing/2014/main" xmlns="" id="{6A6FD580-32DA-9945-9417-0263FA8F04F1}"/>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5577574" y="5009130"/>
            <a:ext cx="819421" cy="682850"/>
          </a:xfrm>
          <a:prstGeom prst="rect">
            <a:avLst/>
          </a:prstGeom>
        </p:spPr>
      </p:pic>
      <p:sp>
        <p:nvSpPr>
          <p:cNvPr id="41" name="TextBox 40">
            <a:extLst>
              <a:ext uri="{FF2B5EF4-FFF2-40B4-BE49-F238E27FC236}">
                <a16:creationId xmlns:a16="http://schemas.microsoft.com/office/drawing/2014/main" xmlns="" id="{1DE9473B-346D-9B4E-AA6C-DEC446EBA539}"/>
              </a:ext>
            </a:extLst>
          </p:cNvPr>
          <p:cNvSpPr txBox="1"/>
          <p:nvPr/>
        </p:nvSpPr>
        <p:spPr>
          <a:xfrm>
            <a:off x="4966392" y="5607318"/>
            <a:ext cx="2425008"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Data annotation</a:t>
            </a:r>
          </a:p>
        </p:txBody>
      </p:sp>
      <p:sp>
        <p:nvSpPr>
          <p:cNvPr id="30" name="Freeform 29">
            <a:extLst>
              <a:ext uri="{FF2B5EF4-FFF2-40B4-BE49-F238E27FC236}">
                <a16:creationId xmlns:a16="http://schemas.microsoft.com/office/drawing/2014/main" xmlns="" id="{0C80176D-29FC-CF43-8AFB-3A5DEDFAE4C9}"/>
              </a:ext>
            </a:extLst>
          </p:cNvPr>
          <p:cNvSpPr/>
          <p:nvPr/>
        </p:nvSpPr>
        <p:spPr>
          <a:xfrm>
            <a:off x="4569449" y="2351453"/>
            <a:ext cx="1956830" cy="1857027"/>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Century Gothic" charset="0"/>
              <a:ea typeface="Century Gothic" charset="0"/>
              <a:cs typeface="Century Gothic" charset="0"/>
            </a:endParaRPr>
          </a:p>
        </p:txBody>
      </p:sp>
      <p:sp>
        <p:nvSpPr>
          <p:cNvPr id="52" name="TextBox 51">
            <a:extLst>
              <a:ext uri="{FF2B5EF4-FFF2-40B4-BE49-F238E27FC236}">
                <a16:creationId xmlns:a16="http://schemas.microsoft.com/office/drawing/2014/main" xmlns="" id="{C296BD0D-5CD9-A046-B6C5-DA03534CC236}"/>
              </a:ext>
            </a:extLst>
          </p:cNvPr>
          <p:cNvSpPr txBox="1"/>
          <p:nvPr/>
        </p:nvSpPr>
        <p:spPr>
          <a:xfrm>
            <a:off x="4966392" y="2828863"/>
            <a:ext cx="1303562" cy="369332"/>
          </a:xfrm>
          <a:prstGeom prst="rect">
            <a:avLst/>
          </a:prstGeom>
          <a:noFill/>
        </p:spPr>
        <p:txBody>
          <a:bodyPr wrap="none" rtlCol="0">
            <a:spAutoFit/>
          </a:bodyPr>
          <a:lstStyle/>
          <a:p>
            <a:r>
              <a:rPr lang="en-US" b="1" dirty="0">
                <a:solidFill>
                  <a:schemeClr val="bg2"/>
                </a:solidFill>
                <a:latin typeface="Century Gothic" panose="020B0502020202020204" pitchFamily="34" charset="0"/>
              </a:rPr>
              <a:t>NAACL’19</a:t>
            </a:r>
            <a:endParaRPr lang="en-US" dirty="0"/>
          </a:p>
        </p:txBody>
      </p:sp>
      <p:sp>
        <p:nvSpPr>
          <p:cNvPr id="19" name="TextBox 18">
            <a:extLst>
              <a:ext uri="{FF2B5EF4-FFF2-40B4-BE49-F238E27FC236}">
                <a16:creationId xmlns:a16="http://schemas.microsoft.com/office/drawing/2014/main" xmlns="" id="{649080C7-8D4D-9846-886B-33B0F1413DAF}"/>
              </a:ext>
            </a:extLst>
          </p:cNvPr>
          <p:cNvSpPr txBox="1"/>
          <p:nvPr/>
        </p:nvSpPr>
        <p:spPr>
          <a:xfrm>
            <a:off x="3348007" y="1909229"/>
            <a:ext cx="2572714" cy="400110"/>
          </a:xfrm>
          <a:prstGeom prst="rect">
            <a:avLst/>
          </a:prstGeom>
          <a:noFill/>
        </p:spPr>
        <p:txBody>
          <a:bodyPr wrap="square" rtlCol="0">
            <a:spAutoFit/>
          </a:bodyPr>
          <a:lstStyle/>
          <a:p>
            <a:pPr algn="ctr"/>
            <a:r>
              <a:rPr lang="en-US" sz="2000" b="1" i="1" dirty="0">
                <a:solidFill>
                  <a:schemeClr val="bg2"/>
                </a:solidFill>
                <a:latin typeface="Century Gothic" charset="0"/>
                <a:ea typeface="Century Gothic" charset="0"/>
                <a:cs typeface="Century Gothic" charset="0"/>
              </a:rPr>
              <a:t>EMNLP’17</a:t>
            </a:r>
          </a:p>
        </p:txBody>
      </p:sp>
      <p:sp>
        <p:nvSpPr>
          <p:cNvPr id="20" name="TextBox 19">
            <a:extLst>
              <a:ext uri="{FF2B5EF4-FFF2-40B4-BE49-F238E27FC236}">
                <a16:creationId xmlns:a16="http://schemas.microsoft.com/office/drawing/2014/main" xmlns="" id="{C7C5F252-B7A8-654D-B626-DAB47965C335}"/>
              </a:ext>
            </a:extLst>
          </p:cNvPr>
          <p:cNvSpPr txBox="1"/>
          <p:nvPr/>
        </p:nvSpPr>
        <p:spPr>
          <a:xfrm>
            <a:off x="1431326" y="4254077"/>
            <a:ext cx="2393525" cy="400110"/>
          </a:xfrm>
          <a:prstGeom prst="rect">
            <a:avLst/>
          </a:prstGeom>
          <a:noFill/>
        </p:spPr>
        <p:txBody>
          <a:bodyPr wrap="square" rtlCol="0">
            <a:spAutoFit/>
          </a:bodyPr>
          <a:lstStyle/>
          <a:p>
            <a:r>
              <a:rPr lang="en-US" sz="2000" b="1" i="1">
                <a:solidFill>
                  <a:schemeClr val="bg2"/>
                </a:solidFill>
                <a:latin typeface="Century Gothic" charset="0"/>
                <a:ea typeface="Century Gothic" charset="0"/>
                <a:cs typeface="Century Gothic" charset="0"/>
              </a:rPr>
              <a:t>NAACL’18</a:t>
            </a:r>
            <a:endParaRPr lang="en-US" sz="2000" b="1" i="1" dirty="0">
              <a:solidFill>
                <a:schemeClr val="bg2"/>
              </a:solidFill>
              <a:latin typeface="Century Gothic" charset="0"/>
              <a:ea typeface="Century Gothic" charset="0"/>
              <a:cs typeface="Century Gothic" charset="0"/>
            </a:endParaRPr>
          </a:p>
        </p:txBody>
      </p:sp>
      <p:sp>
        <p:nvSpPr>
          <p:cNvPr id="21" name="TextBox 20">
            <a:extLst>
              <a:ext uri="{FF2B5EF4-FFF2-40B4-BE49-F238E27FC236}">
                <a16:creationId xmlns:a16="http://schemas.microsoft.com/office/drawing/2014/main" xmlns="" id="{152E3D12-708D-1045-A3D0-C2E3342C900B}"/>
              </a:ext>
            </a:extLst>
          </p:cNvPr>
          <p:cNvSpPr txBox="1"/>
          <p:nvPr/>
        </p:nvSpPr>
        <p:spPr>
          <a:xfrm>
            <a:off x="6116870" y="4208480"/>
            <a:ext cx="1630616" cy="400110"/>
          </a:xfrm>
          <a:prstGeom prst="rect">
            <a:avLst/>
          </a:prstGeom>
          <a:noFill/>
        </p:spPr>
        <p:txBody>
          <a:bodyPr wrap="square" rtlCol="0">
            <a:spAutoFit/>
          </a:bodyPr>
          <a:lstStyle/>
          <a:p>
            <a:r>
              <a:rPr lang="en-US" sz="2000" b="1" i="1">
                <a:solidFill>
                  <a:schemeClr val="bg2"/>
                </a:solidFill>
                <a:latin typeface="Century Gothic" charset="0"/>
                <a:ea typeface="Century Gothic" charset="0"/>
                <a:cs typeface="Century Gothic" charset="0"/>
              </a:rPr>
              <a:t>ACL’18</a:t>
            </a:r>
            <a:endParaRPr lang="en-US" sz="2000" b="1" i="1" dirty="0">
              <a:solidFill>
                <a:schemeClr val="bg2"/>
              </a:solidFill>
              <a:latin typeface="Century Gothic" charset="0"/>
              <a:ea typeface="Century Gothic" charset="0"/>
              <a:cs typeface="Century Gothic" charset="0"/>
            </a:endParaRPr>
          </a:p>
        </p:txBody>
      </p:sp>
      <p:sp>
        <p:nvSpPr>
          <p:cNvPr id="22" name="TextBox 21">
            <a:extLst>
              <a:ext uri="{FF2B5EF4-FFF2-40B4-BE49-F238E27FC236}">
                <a16:creationId xmlns:a16="http://schemas.microsoft.com/office/drawing/2014/main" xmlns="" id="{2A7DC4AB-0C45-474F-8A64-101AF913BAFF}"/>
              </a:ext>
            </a:extLst>
          </p:cNvPr>
          <p:cNvSpPr txBox="1"/>
          <p:nvPr/>
        </p:nvSpPr>
        <p:spPr>
          <a:xfrm>
            <a:off x="3913034" y="3650651"/>
            <a:ext cx="1302711" cy="523220"/>
          </a:xfrm>
          <a:prstGeom prst="rect">
            <a:avLst/>
          </a:prstGeom>
          <a:noFill/>
        </p:spPr>
        <p:txBody>
          <a:bodyPr wrap="square" rtlCol="0">
            <a:spAutoFit/>
          </a:bodyPr>
          <a:lstStyle/>
          <a:p>
            <a:pPr algn="ctr"/>
            <a:r>
              <a:rPr lang="en-US" sz="1400" b="1" i="1" dirty="0">
                <a:latin typeface="Century Gothic" charset="0"/>
                <a:ea typeface="Century Gothic" charset="0"/>
                <a:cs typeface="Century Gothic" charset="0"/>
              </a:rPr>
              <a:t>1 in submission</a:t>
            </a:r>
          </a:p>
        </p:txBody>
      </p:sp>
      <p:sp>
        <p:nvSpPr>
          <p:cNvPr id="2" name="Title 1"/>
          <p:cNvSpPr>
            <a:spLocks noGrp="1"/>
          </p:cNvSpPr>
          <p:nvPr>
            <p:ph type="title"/>
          </p:nvPr>
        </p:nvSpPr>
        <p:spPr/>
        <p:txBody>
          <a:bodyPr/>
          <a:lstStyle/>
          <a:p>
            <a:r>
              <a:rPr lang="en-US" dirty="0"/>
              <a:t>Recap</a:t>
            </a:r>
          </a:p>
        </p:txBody>
      </p:sp>
      <p:sp>
        <p:nvSpPr>
          <p:cNvPr id="24" name="TextBox 23">
            <a:extLst>
              <a:ext uri="{FF2B5EF4-FFF2-40B4-BE49-F238E27FC236}">
                <a16:creationId xmlns:a16="http://schemas.microsoft.com/office/drawing/2014/main" xmlns="" id="{BDBF7124-1D5D-2345-A306-6ADAB4F9B6CF}"/>
              </a:ext>
            </a:extLst>
          </p:cNvPr>
          <p:cNvSpPr txBox="1"/>
          <p:nvPr/>
        </p:nvSpPr>
        <p:spPr>
          <a:xfrm rot="900000">
            <a:off x="5620746" y="1987644"/>
            <a:ext cx="3357009" cy="461665"/>
          </a:xfrm>
          <a:prstGeom prst="rect">
            <a:avLst/>
          </a:prstGeom>
          <a:solidFill>
            <a:srgbClr val="F2CEC2"/>
          </a:solidFill>
          <a:ln>
            <a:noFill/>
          </a:ln>
        </p:spPr>
        <p:txBody>
          <a:bodyPr wrap="none" rtlCol="0">
            <a:spAutoFit/>
          </a:bodyPr>
          <a:lstStyle/>
          <a:p>
            <a:r>
              <a:rPr lang="en-US" sz="2400" i="1" dirty="0">
                <a:solidFill>
                  <a:schemeClr val="bg2"/>
                </a:solidFill>
                <a:latin typeface="Century Gothic" panose="020B0502020202020204" pitchFamily="34" charset="0"/>
              </a:rPr>
              <a:t>Annotating structures</a:t>
            </a:r>
          </a:p>
        </p:txBody>
      </p:sp>
      <p:sp>
        <p:nvSpPr>
          <p:cNvPr id="23" name="TextBox 22"/>
          <p:cNvSpPr txBox="1"/>
          <p:nvPr/>
        </p:nvSpPr>
        <p:spPr>
          <a:xfrm>
            <a:off x="5019386" y="201406"/>
            <a:ext cx="748923" cy="369332"/>
          </a:xfrm>
          <a:prstGeom prst="rect">
            <a:avLst/>
          </a:prstGeom>
          <a:noFill/>
        </p:spPr>
        <p:txBody>
          <a:bodyPr wrap="none" rtlCol="0">
            <a:spAutoFit/>
          </a:bodyPr>
          <a:lstStyle/>
          <a:p>
            <a:r>
              <a:rPr lang="en-US" dirty="0" smtClean="0">
                <a:solidFill>
                  <a:schemeClr val="bg2"/>
                </a:solidFill>
                <a:latin typeface="Century Gothic" charset="0"/>
                <a:ea typeface="Century Gothic" charset="0"/>
                <a:cs typeface="Century Gothic" charset="0"/>
              </a:rPr>
              <a:t>Data</a:t>
            </a:r>
            <a:endParaRPr lang="en-US" dirty="0">
              <a:solidFill>
                <a:schemeClr val="bg2"/>
              </a:solidFill>
              <a:latin typeface="Century Gothic" charset="0"/>
              <a:ea typeface="Century Gothic" charset="0"/>
              <a:cs typeface="Century Gothic" charset="0"/>
            </a:endParaRPr>
          </a:p>
        </p:txBody>
      </p:sp>
      <p:cxnSp>
        <p:nvCxnSpPr>
          <p:cNvPr id="25" name="Straight Arrow Connector 24">
            <a:extLst>
              <a:ext uri="{FF2B5EF4-FFF2-40B4-BE49-F238E27FC236}">
                <a16:creationId xmlns:a16="http://schemas.microsoft.com/office/drawing/2014/main" xmlns="" id="{2A62EF9E-D230-6D42-98F2-C69C76BC8BA6}"/>
              </a:ext>
            </a:extLst>
          </p:cNvPr>
          <p:cNvCxnSpPr/>
          <p:nvPr/>
        </p:nvCxnSpPr>
        <p:spPr>
          <a:xfrm>
            <a:off x="5768309" y="376224"/>
            <a:ext cx="395631"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116870" y="201406"/>
            <a:ext cx="1152880" cy="369332"/>
          </a:xfrm>
          <a:prstGeom prst="rect">
            <a:avLst/>
          </a:prstGeom>
          <a:noFill/>
        </p:spPr>
        <p:txBody>
          <a:bodyPr wrap="none" rtlCol="0">
            <a:spAutoFit/>
          </a:bodyPr>
          <a:lstStyle/>
          <a:p>
            <a:r>
              <a:rPr lang="en-US" dirty="0" smtClean="0">
                <a:solidFill>
                  <a:schemeClr val="bg2"/>
                </a:solidFill>
                <a:latin typeface="Century Gothic" charset="0"/>
                <a:ea typeface="Century Gothic" charset="0"/>
                <a:cs typeface="Century Gothic" charset="0"/>
              </a:rPr>
              <a:t>Learning</a:t>
            </a:r>
            <a:endParaRPr lang="en-US" dirty="0">
              <a:solidFill>
                <a:schemeClr val="bg2"/>
              </a:solidFill>
              <a:latin typeface="Century Gothic" charset="0"/>
              <a:ea typeface="Century Gothic" charset="0"/>
              <a:cs typeface="Century Gothic" charset="0"/>
            </a:endParaRPr>
          </a:p>
        </p:txBody>
      </p:sp>
      <p:cxnSp>
        <p:nvCxnSpPr>
          <p:cNvPr id="27" name="Straight Arrow Connector 26">
            <a:extLst>
              <a:ext uri="{FF2B5EF4-FFF2-40B4-BE49-F238E27FC236}">
                <a16:creationId xmlns:a16="http://schemas.microsoft.com/office/drawing/2014/main" xmlns="" id="{2A62EF9E-D230-6D42-98F2-C69C76BC8BA6}"/>
              </a:ext>
            </a:extLst>
          </p:cNvPr>
          <p:cNvCxnSpPr/>
          <p:nvPr/>
        </p:nvCxnSpPr>
        <p:spPr>
          <a:xfrm>
            <a:off x="7216109" y="376224"/>
            <a:ext cx="395631"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608008" y="201406"/>
            <a:ext cx="1311578" cy="369332"/>
          </a:xfrm>
          <a:prstGeom prst="rect">
            <a:avLst/>
          </a:prstGeom>
          <a:noFill/>
        </p:spPr>
        <p:txBody>
          <a:bodyPr wrap="none" rtlCol="0">
            <a:spAutoFit/>
          </a:bodyPr>
          <a:lstStyle/>
          <a:p>
            <a:r>
              <a:rPr lang="en-US" dirty="0" smtClean="0">
                <a:solidFill>
                  <a:schemeClr val="bg2"/>
                </a:solidFill>
                <a:latin typeface="Century Gothic" charset="0"/>
                <a:ea typeface="Century Gothic" charset="0"/>
                <a:cs typeface="Century Gothic" charset="0"/>
              </a:rPr>
              <a:t>Prediction</a:t>
            </a:r>
            <a:endParaRPr lang="en-US" dirty="0">
              <a:solidFill>
                <a:schemeClr val="bg2"/>
              </a:solidFill>
              <a:latin typeface="Century Gothic" charset="0"/>
              <a:ea typeface="Century Gothic" charset="0"/>
              <a:cs typeface="Century Gothic" charset="0"/>
            </a:endParaRPr>
          </a:p>
        </p:txBody>
      </p:sp>
      <p:sp>
        <p:nvSpPr>
          <p:cNvPr id="42" name="Rounded Rectangle 41"/>
          <p:cNvSpPr/>
          <p:nvPr/>
        </p:nvSpPr>
        <p:spPr>
          <a:xfrm>
            <a:off x="5019386" y="153482"/>
            <a:ext cx="3900201" cy="535172"/>
          </a:xfrm>
          <a:prstGeom prst="roundRect">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6609154" y="1093599"/>
            <a:ext cx="1176925" cy="369332"/>
          </a:xfrm>
          <a:prstGeom prst="rect">
            <a:avLst/>
          </a:prstGeom>
          <a:noFill/>
        </p:spPr>
        <p:txBody>
          <a:bodyPr wrap="none" rtlCol="0">
            <a:spAutoFit/>
          </a:bodyPr>
          <a:lstStyle/>
          <a:p>
            <a:r>
              <a:rPr lang="en-US" smtClean="0">
                <a:solidFill>
                  <a:schemeClr val="bg2"/>
                </a:solidFill>
                <a:latin typeface="Century Gothic" charset="0"/>
                <a:ea typeface="Century Gothic" charset="0"/>
                <a:cs typeface="Century Gothic" charset="0"/>
              </a:rPr>
              <a:t>Structure</a:t>
            </a:r>
            <a:endParaRPr lang="en-US">
              <a:solidFill>
                <a:schemeClr val="bg2"/>
              </a:solidFill>
              <a:latin typeface="Century Gothic" charset="0"/>
              <a:ea typeface="Century Gothic" charset="0"/>
              <a:cs typeface="Century Gothic" charset="0"/>
            </a:endParaRPr>
          </a:p>
        </p:txBody>
      </p:sp>
      <p:cxnSp>
        <p:nvCxnSpPr>
          <p:cNvPr id="46" name="Straight Arrow Connector 45">
            <a:extLst>
              <a:ext uri="{FF2B5EF4-FFF2-40B4-BE49-F238E27FC236}">
                <a16:creationId xmlns:a16="http://schemas.microsoft.com/office/drawing/2014/main" xmlns="" id="{2A62EF9E-D230-6D42-98F2-C69C76BC8BA6}"/>
              </a:ext>
            </a:extLst>
          </p:cNvPr>
          <p:cNvCxnSpPr/>
          <p:nvPr/>
        </p:nvCxnSpPr>
        <p:spPr>
          <a:xfrm flipH="1" flipV="1">
            <a:off x="6858000" y="762000"/>
            <a:ext cx="339617" cy="331600"/>
          </a:xfrm>
          <a:prstGeom prst="straightConnector1">
            <a:avLst/>
          </a:prstGeom>
          <a:ln w="38100">
            <a:solidFill>
              <a:schemeClr val="tx1">
                <a:lumMod val="50000"/>
              </a:schemeClr>
            </a:solidFill>
            <a:prstDash val="sysDash"/>
            <a:headEnd type="none" w="med" len="med"/>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922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p:cTn id="7" dur="1000" fill="hold"/>
                                        <p:tgtEl>
                                          <p:spTgt spid="52"/>
                                        </p:tgtEl>
                                        <p:attrNameLst>
                                          <p:attrName>ppt_w</p:attrName>
                                        </p:attrNameLst>
                                      </p:cBhvr>
                                      <p:tavLst>
                                        <p:tav tm="0">
                                          <p:val>
                                            <p:fltVal val="0"/>
                                          </p:val>
                                        </p:tav>
                                        <p:tav tm="100000">
                                          <p:val>
                                            <p:strVal val="#ppt_w"/>
                                          </p:val>
                                        </p:tav>
                                      </p:tavLst>
                                    </p:anim>
                                    <p:anim calcmode="lin" valueType="num">
                                      <p:cBhvr>
                                        <p:cTn id="8" dur="1000" fill="hold"/>
                                        <p:tgtEl>
                                          <p:spTgt spid="52"/>
                                        </p:tgtEl>
                                        <p:attrNameLst>
                                          <p:attrName>ppt_h</p:attrName>
                                        </p:attrNameLst>
                                      </p:cBhvr>
                                      <p:tavLst>
                                        <p:tav tm="0">
                                          <p:val>
                                            <p:fltVal val="0"/>
                                          </p:val>
                                        </p:tav>
                                        <p:tav tm="100000">
                                          <p:val>
                                            <p:strVal val="#ppt_h"/>
                                          </p:val>
                                        </p:tav>
                                      </p:tavLst>
                                    </p:anim>
                                    <p:anim calcmode="lin" valueType="num">
                                      <p:cBhvr>
                                        <p:cTn id="9" dur="1000" fill="hold"/>
                                        <p:tgtEl>
                                          <p:spTgt spid="52"/>
                                        </p:tgtEl>
                                        <p:attrNameLst>
                                          <p:attrName>style.rotation</p:attrName>
                                        </p:attrNameLst>
                                      </p:cBhvr>
                                      <p:tavLst>
                                        <p:tav tm="0">
                                          <p:val>
                                            <p:fltVal val="360"/>
                                          </p:val>
                                        </p:tav>
                                        <p:tav tm="100000">
                                          <p:val>
                                            <p:fltVal val="0"/>
                                          </p:val>
                                        </p:tav>
                                      </p:tavLst>
                                    </p:anim>
                                    <p:animEffect transition="in" filter="fade">
                                      <p:cBhvr>
                                        <p:cTn id="10" dur="1000"/>
                                        <p:tgtEl>
                                          <p:spTgt spid="52"/>
                                        </p:tgtEl>
                                      </p:cBhvr>
                                    </p:animEffect>
                                  </p:childTnLst>
                                </p:cTn>
                              </p:par>
                            </p:childTnLst>
                          </p:cTn>
                        </p:par>
                        <p:par>
                          <p:cTn id="11" fill="hold">
                            <p:stCondLst>
                              <p:cond delay="1000"/>
                            </p:stCondLst>
                            <p:childTnLst>
                              <p:par>
                                <p:cTn id="12" presetID="9" presetClass="entr" presetSubtype="0" fill="hold" grpId="0" nodeType="after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dissolve">
                                      <p:cBhvr>
                                        <p:cTn id="1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24" grpId="0" animBg="1"/>
    </p:bld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 name="Freeform 28">
            <a:extLst>
              <a:ext uri="{FF2B5EF4-FFF2-40B4-BE49-F238E27FC236}">
                <a16:creationId xmlns:a16="http://schemas.microsoft.com/office/drawing/2014/main" xmlns="" id="{6BAA031E-6F64-2B40-9923-F1FF9BA4F5E3}"/>
              </a:ext>
            </a:extLst>
          </p:cNvPr>
          <p:cNvSpPr/>
          <p:nvPr/>
        </p:nvSpPr>
        <p:spPr>
          <a:xfrm>
            <a:off x="2596528" y="2351454"/>
            <a:ext cx="1972921" cy="1862916"/>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1" name="Freeform 30">
            <a:extLst>
              <a:ext uri="{FF2B5EF4-FFF2-40B4-BE49-F238E27FC236}">
                <a16:creationId xmlns:a16="http://schemas.microsoft.com/office/drawing/2014/main" xmlns="" id="{F085AC4B-4A7E-834A-B06E-254CBF4187B3}"/>
              </a:ext>
            </a:extLst>
          </p:cNvPr>
          <p:cNvSpPr/>
          <p:nvPr/>
        </p:nvSpPr>
        <p:spPr>
          <a:xfrm>
            <a:off x="3918092" y="4208480"/>
            <a:ext cx="1302713" cy="1574208"/>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2" name="Freeform 31">
            <a:extLst>
              <a:ext uri="{FF2B5EF4-FFF2-40B4-BE49-F238E27FC236}">
                <a16:creationId xmlns:a16="http://schemas.microsoft.com/office/drawing/2014/main" xmlns="" id="{E17AE7F1-0CB6-794C-BF7A-F892F91C6275}"/>
              </a:ext>
            </a:extLst>
          </p:cNvPr>
          <p:cNvSpPr/>
          <p:nvPr/>
        </p:nvSpPr>
        <p:spPr>
          <a:xfrm>
            <a:off x="2590800" y="381000"/>
            <a:ext cx="3940909" cy="2480129"/>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3" name="Freeform 32">
            <a:extLst>
              <a:ext uri="{FF2B5EF4-FFF2-40B4-BE49-F238E27FC236}">
                <a16:creationId xmlns:a16="http://schemas.microsoft.com/office/drawing/2014/main" xmlns="" id="{BB1A0CE1-0E3A-7B4A-B83A-13921B6A1585}"/>
              </a:ext>
            </a:extLst>
          </p:cNvPr>
          <p:cNvSpPr/>
          <p:nvPr/>
        </p:nvSpPr>
        <p:spPr>
          <a:xfrm>
            <a:off x="4569449" y="2458993"/>
            <a:ext cx="3289552" cy="3833368"/>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4" name="Freeform 33">
            <a:extLst>
              <a:ext uri="{FF2B5EF4-FFF2-40B4-BE49-F238E27FC236}">
                <a16:creationId xmlns:a16="http://schemas.microsoft.com/office/drawing/2014/main" xmlns="" id="{611CA335-3DDA-3E42-9D4C-2F3ACE82A0B0}"/>
              </a:ext>
            </a:extLst>
          </p:cNvPr>
          <p:cNvSpPr/>
          <p:nvPr/>
        </p:nvSpPr>
        <p:spPr>
          <a:xfrm>
            <a:off x="1279895" y="2464880"/>
            <a:ext cx="3289553" cy="3827481"/>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5" name="Freeform 34">
            <a:extLst>
              <a:ext uri="{FF2B5EF4-FFF2-40B4-BE49-F238E27FC236}">
                <a16:creationId xmlns:a16="http://schemas.microsoft.com/office/drawing/2014/main" xmlns="" id="{F475611E-0004-8645-B016-3D3DC271D062}"/>
              </a:ext>
            </a:extLst>
          </p:cNvPr>
          <p:cNvSpPr/>
          <p:nvPr/>
        </p:nvSpPr>
        <p:spPr>
          <a:xfrm>
            <a:off x="3923670" y="2876571"/>
            <a:ext cx="1291555" cy="1460779"/>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6" name="TextBox 35">
            <a:extLst>
              <a:ext uri="{FF2B5EF4-FFF2-40B4-BE49-F238E27FC236}">
                <a16:creationId xmlns:a16="http://schemas.microsoft.com/office/drawing/2014/main" xmlns="" id="{92275B5B-E0D7-3945-8D0F-46FE7C4CF2FA}"/>
              </a:ext>
            </a:extLst>
          </p:cNvPr>
          <p:cNvSpPr txBox="1"/>
          <p:nvPr/>
        </p:nvSpPr>
        <p:spPr>
          <a:xfrm>
            <a:off x="3371831" y="750782"/>
            <a:ext cx="2881874"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Structured learning</a:t>
            </a:r>
          </a:p>
        </p:txBody>
      </p:sp>
      <p:pic>
        <p:nvPicPr>
          <p:cNvPr id="37" name="Picture 36" descr="A close up of a logo&#10;&#10;Description automatically generated">
            <a:extLst>
              <a:ext uri="{FF2B5EF4-FFF2-40B4-BE49-F238E27FC236}">
                <a16:creationId xmlns:a16="http://schemas.microsoft.com/office/drawing/2014/main" xmlns="" id="{DB65E3A3-9D34-C44D-8B28-9DC123B3C6E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99912" y="1004102"/>
            <a:ext cx="974176" cy="745577"/>
          </a:xfrm>
          <a:prstGeom prst="rect">
            <a:avLst/>
          </a:prstGeom>
        </p:spPr>
      </p:pic>
      <p:pic>
        <p:nvPicPr>
          <p:cNvPr id="38" name="Picture 37" descr="A close up of a logo&#10;&#10;Description automatically generated">
            <a:extLst>
              <a:ext uri="{FF2B5EF4-FFF2-40B4-BE49-F238E27FC236}">
                <a16:creationId xmlns:a16="http://schemas.microsoft.com/office/drawing/2014/main" xmlns="" id="{2F03890A-BF19-2C45-95C5-CB210684FA8E}"/>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526696" y="4751042"/>
            <a:ext cx="1323194" cy="940938"/>
          </a:xfrm>
          <a:prstGeom prst="rect">
            <a:avLst/>
          </a:prstGeom>
        </p:spPr>
      </p:pic>
      <p:sp>
        <p:nvSpPr>
          <p:cNvPr id="39" name="TextBox 38">
            <a:extLst>
              <a:ext uri="{FF2B5EF4-FFF2-40B4-BE49-F238E27FC236}">
                <a16:creationId xmlns:a16="http://schemas.microsoft.com/office/drawing/2014/main" xmlns="" id="{A2BA009D-F8A0-4745-A2E0-0CEE28CA1EBC}"/>
              </a:ext>
            </a:extLst>
          </p:cNvPr>
          <p:cNvSpPr txBox="1"/>
          <p:nvPr/>
        </p:nvSpPr>
        <p:spPr>
          <a:xfrm>
            <a:off x="2206719" y="5607318"/>
            <a:ext cx="2330225"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Common sense</a:t>
            </a:r>
          </a:p>
        </p:txBody>
      </p:sp>
      <p:pic>
        <p:nvPicPr>
          <p:cNvPr id="40" name="Picture 39" descr="A close up of a logo&#10;&#10;Description automatically generated">
            <a:extLst>
              <a:ext uri="{FF2B5EF4-FFF2-40B4-BE49-F238E27FC236}">
                <a16:creationId xmlns:a16="http://schemas.microsoft.com/office/drawing/2014/main" xmlns="" id="{6A6FD580-32DA-9945-9417-0263FA8F04F1}"/>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5577574" y="5009130"/>
            <a:ext cx="819421" cy="682850"/>
          </a:xfrm>
          <a:prstGeom prst="rect">
            <a:avLst/>
          </a:prstGeom>
        </p:spPr>
      </p:pic>
      <p:sp>
        <p:nvSpPr>
          <p:cNvPr id="41" name="TextBox 40">
            <a:extLst>
              <a:ext uri="{FF2B5EF4-FFF2-40B4-BE49-F238E27FC236}">
                <a16:creationId xmlns:a16="http://schemas.microsoft.com/office/drawing/2014/main" xmlns="" id="{1DE9473B-346D-9B4E-AA6C-DEC446EBA539}"/>
              </a:ext>
            </a:extLst>
          </p:cNvPr>
          <p:cNvSpPr txBox="1"/>
          <p:nvPr/>
        </p:nvSpPr>
        <p:spPr>
          <a:xfrm>
            <a:off x="4966392" y="5607318"/>
            <a:ext cx="2425008"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Data annotation</a:t>
            </a:r>
          </a:p>
        </p:txBody>
      </p:sp>
      <p:sp>
        <p:nvSpPr>
          <p:cNvPr id="30" name="Freeform 29">
            <a:extLst>
              <a:ext uri="{FF2B5EF4-FFF2-40B4-BE49-F238E27FC236}">
                <a16:creationId xmlns:a16="http://schemas.microsoft.com/office/drawing/2014/main" xmlns="" id="{0C80176D-29FC-CF43-8AFB-3A5DEDFAE4C9}"/>
              </a:ext>
            </a:extLst>
          </p:cNvPr>
          <p:cNvSpPr/>
          <p:nvPr/>
        </p:nvSpPr>
        <p:spPr>
          <a:xfrm>
            <a:off x="4569449" y="2351453"/>
            <a:ext cx="1956830" cy="1857027"/>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Century Gothic" charset="0"/>
              <a:ea typeface="Century Gothic" charset="0"/>
              <a:cs typeface="Century Gothic" charset="0"/>
            </a:endParaRPr>
          </a:p>
        </p:txBody>
      </p:sp>
      <p:sp>
        <p:nvSpPr>
          <p:cNvPr id="52" name="TextBox 51">
            <a:extLst>
              <a:ext uri="{FF2B5EF4-FFF2-40B4-BE49-F238E27FC236}">
                <a16:creationId xmlns:a16="http://schemas.microsoft.com/office/drawing/2014/main" xmlns="" id="{C296BD0D-5CD9-A046-B6C5-DA03534CC236}"/>
              </a:ext>
            </a:extLst>
          </p:cNvPr>
          <p:cNvSpPr txBox="1"/>
          <p:nvPr/>
        </p:nvSpPr>
        <p:spPr>
          <a:xfrm>
            <a:off x="4966392" y="2828863"/>
            <a:ext cx="1303562" cy="369332"/>
          </a:xfrm>
          <a:prstGeom prst="rect">
            <a:avLst/>
          </a:prstGeom>
          <a:noFill/>
        </p:spPr>
        <p:txBody>
          <a:bodyPr wrap="none" rtlCol="0">
            <a:spAutoFit/>
          </a:bodyPr>
          <a:lstStyle/>
          <a:p>
            <a:r>
              <a:rPr lang="en-US" b="1" dirty="0">
                <a:solidFill>
                  <a:schemeClr val="bg2"/>
                </a:solidFill>
                <a:latin typeface="Century Gothic" panose="020B0502020202020204" pitchFamily="34" charset="0"/>
              </a:rPr>
              <a:t>NAACL’19</a:t>
            </a:r>
            <a:endParaRPr lang="en-US" dirty="0"/>
          </a:p>
        </p:txBody>
      </p:sp>
      <p:sp>
        <p:nvSpPr>
          <p:cNvPr id="19" name="TextBox 18">
            <a:extLst>
              <a:ext uri="{FF2B5EF4-FFF2-40B4-BE49-F238E27FC236}">
                <a16:creationId xmlns:a16="http://schemas.microsoft.com/office/drawing/2014/main" xmlns="" id="{649080C7-8D4D-9846-886B-33B0F1413DAF}"/>
              </a:ext>
            </a:extLst>
          </p:cNvPr>
          <p:cNvSpPr txBox="1"/>
          <p:nvPr/>
        </p:nvSpPr>
        <p:spPr>
          <a:xfrm>
            <a:off x="3348007" y="1909229"/>
            <a:ext cx="2572714" cy="400110"/>
          </a:xfrm>
          <a:prstGeom prst="rect">
            <a:avLst/>
          </a:prstGeom>
          <a:noFill/>
        </p:spPr>
        <p:txBody>
          <a:bodyPr wrap="square" rtlCol="0">
            <a:spAutoFit/>
          </a:bodyPr>
          <a:lstStyle/>
          <a:p>
            <a:pPr algn="ctr"/>
            <a:r>
              <a:rPr lang="en-US" sz="2000" b="1" i="1" dirty="0">
                <a:solidFill>
                  <a:schemeClr val="bg2"/>
                </a:solidFill>
                <a:latin typeface="Century Gothic" charset="0"/>
                <a:ea typeface="Century Gothic" charset="0"/>
                <a:cs typeface="Century Gothic" charset="0"/>
              </a:rPr>
              <a:t>EMNLP’17</a:t>
            </a:r>
          </a:p>
        </p:txBody>
      </p:sp>
      <p:sp>
        <p:nvSpPr>
          <p:cNvPr id="20" name="TextBox 19">
            <a:extLst>
              <a:ext uri="{FF2B5EF4-FFF2-40B4-BE49-F238E27FC236}">
                <a16:creationId xmlns:a16="http://schemas.microsoft.com/office/drawing/2014/main" xmlns="" id="{C7C5F252-B7A8-654D-B626-DAB47965C335}"/>
              </a:ext>
            </a:extLst>
          </p:cNvPr>
          <p:cNvSpPr txBox="1"/>
          <p:nvPr/>
        </p:nvSpPr>
        <p:spPr>
          <a:xfrm>
            <a:off x="1431326" y="4254077"/>
            <a:ext cx="2393525" cy="400110"/>
          </a:xfrm>
          <a:prstGeom prst="rect">
            <a:avLst/>
          </a:prstGeom>
          <a:noFill/>
        </p:spPr>
        <p:txBody>
          <a:bodyPr wrap="square" rtlCol="0">
            <a:spAutoFit/>
          </a:bodyPr>
          <a:lstStyle/>
          <a:p>
            <a:r>
              <a:rPr lang="en-US" sz="2000" b="1" i="1">
                <a:solidFill>
                  <a:schemeClr val="bg2"/>
                </a:solidFill>
                <a:latin typeface="Century Gothic" charset="0"/>
                <a:ea typeface="Century Gothic" charset="0"/>
                <a:cs typeface="Century Gothic" charset="0"/>
              </a:rPr>
              <a:t>NAACL’18</a:t>
            </a:r>
            <a:endParaRPr lang="en-US" sz="2000" b="1" i="1" dirty="0">
              <a:solidFill>
                <a:schemeClr val="bg2"/>
              </a:solidFill>
              <a:latin typeface="Century Gothic" charset="0"/>
              <a:ea typeface="Century Gothic" charset="0"/>
              <a:cs typeface="Century Gothic" charset="0"/>
            </a:endParaRPr>
          </a:p>
        </p:txBody>
      </p:sp>
      <p:sp>
        <p:nvSpPr>
          <p:cNvPr id="21" name="TextBox 20">
            <a:extLst>
              <a:ext uri="{FF2B5EF4-FFF2-40B4-BE49-F238E27FC236}">
                <a16:creationId xmlns:a16="http://schemas.microsoft.com/office/drawing/2014/main" xmlns="" id="{152E3D12-708D-1045-A3D0-C2E3342C900B}"/>
              </a:ext>
            </a:extLst>
          </p:cNvPr>
          <p:cNvSpPr txBox="1"/>
          <p:nvPr/>
        </p:nvSpPr>
        <p:spPr>
          <a:xfrm>
            <a:off x="6116870" y="4208480"/>
            <a:ext cx="1630616" cy="400110"/>
          </a:xfrm>
          <a:prstGeom prst="rect">
            <a:avLst/>
          </a:prstGeom>
          <a:noFill/>
        </p:spPr>
        <p:txBody>
          <a:bodyPr wrap="square" rtlCol="0">
            <a:spAutoFit/>
          </a:bodyPr>
          <a:lstStyle/>
          <a:p>
            <a:r>
              <a:rPr lang="en-US" sz="2000" b="1" i="1">
                <a:solidFill>
                  <a:schemeClr val="bg2"/>
                </a:solidFill>
                <a:latin typeface="Century Gothic" charset="0"/>
                <a:ea typeface="Century Gothic" charset="0"/>
                <a:cs typeface="Century Gothic" charset="0"/>
              </a:rPr>
              <a:t>ACL’18</a:t>
            </a:r>
            <a:endParaRPr lang="en-US" sz="2000" b="1" i="1" dirty="0">
              <a:solidFill>
                <a:schemeClr val="bg2"/>
              </a:solidFill>
              <a:latin typeface="Century Gothic" charset="0"/>
              <a:ea typeface="Century Gothic" charset="0"/>
              <a:cs typeface="Century Gothic" charset="0"/>
            </a:endParaRPr>
          </a:p>
        </p:txBody>
      </p:sp>
      <p:sp>
        <p:nvSpPr>
          <p:cNvPr id="22" name="TextBox 21">
            <a:extLst>
              <a:ext uri="{FF2B5EF4-FFF2-40B4-BE49-F238E27FC236}">
                <a16:creationId xmlns:a16="http://schemas.microsoft.com/office/drawing/2014/main" xmlns="" id="{2A7DC4AB-0C45-474F-8A64-101AF913BAFF}"/>
              </a:ext>
            </a:extLst>
          </p:cNvPr>
          <p:cNvSpPr txBox="1"/>
          <p:nvPr/>
        </p:nvSpPr>
        <p:spPr>
          <a:xfrm>
            <a:off x="3913034" y="3650651"/>
            <a:ext cx="1302711" cy="523220"/>
          </a:xfrm>
          <a:prstGeom prst="rect">
            <a:avLst/>
          </a:prstGeom>
          <a:noFill/>
        </p:spPr>
        <p:txBody>
          <a:bodyPr wrap="square" rtlCol="0">
            <a:spAutoFit/>
          </a:bodyPr>
          <a:lstStyle/>
          <a:p>
            <a:pPr algn="ctr"/>
            <a:r>
              <a:rPr lang="en-US" sz="1400" b="1" i="1" dirty="0">
                <a:latin typeface="Century Gothic" charset="0"/>
                <a:ea typeface="Century Gothic" charset="0"/>
                <a:cs typeface="Century Gothic" charset="0"/>
              </a:rPr>
              <a:t>1 in submission</a:t>
            </a:r>
          </a:p>
        </p:txBody>
      </p:sp>
      <p:sp>
        <p:nvSpPr>
          <p:cNvPr id="2" name="Title 1"/>
          <p:cNvSpPr>
            <a:spLocks noGrp="1"/>
          </p:cNvSpPr>
          <p:nvPr>
            <p:ph type="title"/>
          </p:nvPr>
        </p:nvSpPr>
        <p:spPr/>
        <p:txBody>
          <a:bodyPr/>
          <a:lstStyle/>
          <a:p>
            <a:r>
              <a:rPr lang="en-US" dirty="0"/>
              <a:t>Recap</a:t>
            </a:r>
          </a:p>
        </p:txBody>
      </p:sp>
      <p:sp>
        <p:nvSpPr>
          <p:cNvPr id="24" name="TextBox 23">
            <a:extLst>
              <a:ext uri="{FF2B5EF4-FFF2-40B4-BE49-F238E27FC236}">
                <a16:creationId xmlns:a16="http://schemas.microsoft.com/office/drawing/2014/main" xmlns="" id="{BDBF7124-1D5D-2345-A306-6ADAB4F9B6CF}"/>
              </a:ext>
            </a:extLst>
          </p:cNvPr>
          <p:cNvSpPr txBox="1"/>
          <p:nvPr/>
        </p:nvSpPr>
        <p:spPr>
          <a:xfrm rot="900000">
            <a:off x="5620746" y="1987644"/>
            <a:ext cx="3357009" cy="461665"/>
          </a:xfrm>
          <a:prstGeom prst="rect">
            <a:avLst/>
          </a:prstGeom>
          <a:solidFill>
            <a:srgbClr val="F2CEC2"/>
          </a:solidFill>
          <a:ln>
            <a:noFill/>
          </a:ln>
        </p:spPr>
        <p:txBody>
          <a:bodyPr wrap="none" rtlCol="0">
            <a:spAutoFit/>
          </a:bodyPr>
          <a:lstStyle/>
          <a:p>
            <a:r>
              <a:rPr lang="en-US" sz="2400" i="1" dirty="0">
                <a:solidFill>
                  <a:schemeClr val="bg2"/>
                </a:solidFill>
                <a:latin typeface="Century Gothic" panose="020B0502020202020204" pitchFamily="34" charset="0"/>
              </a:rPr>
              <a:t>Annotating structures</a:t>
            </a:r>
          </a:p>
        </p:txBody>
      </p:sp>
    </p:spTree>
    <p:extLst>
      <p:ext uri="{BB962C8B-B14F-4D97-AF65-F5344CB8AC3E}">
        <p14:creationId xmlns:p14="http://schemas.microsoft.com/office/powerpoint/2010/main" val="19769203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anim calcmode="lin" valueType="num">
                                      <p:cBhvr>
                                        <p:cTn id="18" dur="1000" fill="hold"/>
                                        <p:tgtEl>
                                          <p:spTgt spid="21"/>
                                        </p:tgtEl>
                                        <p:attrNameLst>
                                          <p:attrName>ppt_x</p:attrName>
                                        </p:attrNameLst>
                                      </p:cBhvr>
                                      <p:tavLst>
                                        <p:tav tm="0">
                                          <p:val>
                                            <p:strVal val="#ppt_x"/>
                                          </p:val>
                                        </p:tav>
                                        <p:tav tm="100000">
                                          <p:val>
                                            <p:strVal val="#ppt_x"/>
                                          </p:val>
                                        </p:tav>
                                      </p:tavLst>
                                    </p:anim>
                                    <p:anim calcmode="lin" valueType="num">
                                      <p:cBhvr>
                                        <p:cTn id="19" dur="1000" fill="hold"/>
                                        <p:tgtEl>
                                          <p:spTgt spid="2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mph" presetSubtype="0" grpId="0" nodeType="clickEffect">
                                  <p:stCondLst>
                                    <p:cond delay="0"/>
                                  </p:stCondLst>
                                  <p:childTnLst>
                                    <p:set>
                                      <p:cBhvr>
                                        <p:cTn id="28" dur="indefinite"/>
                                        <p:tgtEl>
                                          <p:spTgt spid="32"/>
                                        </p:tgtEl>
                                        <p:attrNameLst>
                                          <p:attrName>style.opacity</p:attrName>
                                        </p:attrNameLst>
                                      </p:cBhvr>
                                      <p:to>
                                        <p:strVal val="0.5"/>
                                      </p:to>
                                    </p:set>
                                    <p:animEffect filter="image" prLst="opacity: 0.5">
                                      <p:cBhvr rctx="IE">
                                        <p:cTn id="29" dur="indefinite"/>
                                        <p:tgtEl>
                                          <p:spTgt spid="32"/>
                                        </p:tgtEl>
                                      </p:cBhvr>
                                    </p:animEffect>
                                  </p:childTnLst>
                                </p:cTn>
                              </p:par>
                              <p:par>
                                <p:cTn id="30" presetID="9" presetClass="emph" presetSubtype="0" grpId="0" nodeType="withEffect">
                                  <p:stCondLst>
                                    <p:cond delay="0"/>
                                  </p:stCondLst>
                                  <p:childTnLst>
                                    <p:set>
                                      <p:cBhvr>
                                        <p:cTn id="31" dur="indefinite"/>
                                        <p:tgtEl>
                                          <p:spTgt spid="29"/>
                                        </p:tgtEl>
                                        <p:attrNameLst>
                                          <p:attrName>style.opacity</p:attrName>
                                        </p:attrNameLst>
                                      </p:cBhvr>
                                      <p:to>
                                        <p:strVal val="0.5"/>
                                      </p:to>
                                    </p:set>
                                    <p:animEffect filter="image" prLst="opacity: 0.5">
                                      <p:cBhvr rctx="IE">
                                        <p:cTn id="32" dur="indefinite"/>
                                        <p:tgtEl>
                                          <p:spTgt spid="29"/>
                                        </p:tgtEl>
                                      </p:cBhvr>
                                    </p:animEffect>
                                  </p:childTnLst>
                                </p:cTn>
                              </p:par>
                              <p:par>
                                <p:cTn id="33" presetID="9" presetClass="emph" presetSubtype="0" grpId="0" nodeType="withEffect">
                                  <p:stCondLst>
                                    <p:cond delay="0"/>
                                  </p:stCondLst>
                                  <p:childTnLst>
                                    <p:set>
                                      <p:cBhvr>
                                        <p:cTn id="34" dur="indefinite"/>
                                        <p:tgtEl>
                                          <p:spTgt spid="34"/>
                                        </p:tgtEl>
                                        <p:attrNameLst>
                                          <p:attrName>style.opacity</p:attrName>
                                        </p:attrNameLst>
                                      </p:cBhvr>
                                      <p:to>
                                        <p:strVal val="0.5"/>
                                      </p:to>
                                    </p:set>
                                    <p:animEffect filter="image" prLst="opacity: 0.5">
                                      <p:cBhvr rctx="IE">
                                        <p:cTn id="35" dur="indefinite"/>
                                        <p:tgtEl>
                                          <p:spTgt spid="34"/>
                                        </p:tgtEl>
                                      </p:cBhvr>
                                    </p:animEffect>
                                  </p:childTnLst>
                                </p:cTn>
                              </p:par>
                              <p:par>
                                <p:cTn id="36" presetID="9" presetClass="emph" presetSubtype="0" grpId="0" nodeType="withEffect">
                                  <p:stCondLst>
                                    <p:cond delay="0"/>
                                  </p:stCondLst>
                                  <p:childTnLst>
                                    <p:set>
                                      <p:cBhvr>
                                        <p:cTn id="37" dur="indefinite"/>
                                        <p:tgtEl>
                                          <p:spTgt spid="35"/>
                                        </p:tgtEl>
                                        <p:attrNameLst>
                                          <p:attrName>style.opacity</p:attrName>
                                        </p:attrNameLst>
                                      </p:cBhvr>
                                      <p:to>
                                        <p:strVal val="0.5"/>
                                      </p:to>
                                    </p:set>
                                    <p:animEffect filter="image" prLst="opacity: 0.5">
                                      <p:cBhvr rctx="IE">
                                        <p:cTn id="38" dur="indefinite"/>
                                        <p:tgtEl>
                                          <p:spTgt spid="35"/>
                                        </p:tgtEl>
                                      </p:cBhvr>
                                    </p:animEffect>
                                  </p:childTnLst>
                                </p:cTn>
                              </p:par>
                              <p:par>
                                <p:cTn id="39" presetID="9" presetClass="emph" presetSubtype="0" grpId="0" nodeType="withEffect">
                                  <p:stCondLst>
                                    <p:cond delay="0"/>
                                  </p:stCondLst>
                                  <p:childTnLst>
                                    <p:set>
                                      <p:cBhvr>
                                        <p:cTn id="40" dur="indefinite"/>
                                        <p:tgtEl>
                                          <p:spTgt spid="31"/>
                                        </p:tgtEl>
                                        <p:attrNameLst>
                                          <p:attrName>style.opacity</p:attrName>
                                        </p:attrNameLst>
                                      </p:cBhvr>
                                      <p:to>
                                        <p:strVal val="0.5"/>
                                      </p:to>
                                    </p:set>
                                    <p:animEffect filter="image" prLst="opacity: 0.5">
                                      <p:cBhvr rctx="IE">
                                        <p:cTn id="41" dur="indefinite"/>
                                        <p:tgtEl>
                                          <p:spTgt spid="31"/>
                                        </p:tgtEl>
                                      </p:cBhvr>
                                    </p:animEffect>
                                  </p:childTnLst>
                                </p:cTn>
                              </p:par>
                              <p:par>
                                <p:cTn id="42" presetID="9" presetClass="emph" presetSubtype="0" grpId="0" nodeType="withEffect">
                                  <p:stCondLst>
                                    <p:cond delay="0"/>
                                  </p:stCondLst>
                                  <p:childTnLst>
                                    <p:set>
                                      <p:cBhvr>
                                        <p:cTn id="43" dur="indefinite"/>
                                        <p:tgtEl>
                                          <p:spTgt spid="33"/>
                                        </p:tgtEl>
                                        <p:attrNameLst>
                                          <p:attrName>style.opacity</p:attrName>
                                        </p:attrNameLst>
                                      </p:cBhvr>
                                      <p:to>
                                        <p:strVal val="0.5"/>
                                      </p:to>
                                    </p:set>
                                    <p:animEffect filter="image" prLst="opacity: 0.5">
                                      <p:cBhvr rctx="IE">
                                        <p:cTn id="44" dur="indefinite"/>
                                        <p:tgtEl>
                                          <p:spTgt spid="33"/>
                                        </p:tgtEl>
                                      </p:cBhvr>
                                    </p:animEffect>
                                  </p:childTnLst>
                                </p:cTn>
                              </p:par>
                              <p:par>
                                <p:cTn id="45" presetID="9" presetClass="emph" presetSubtype="0" grpId="0" nodeType="withEffect">
                                  <p:stCondLst>
                                    <p:cond delay="0"/>
                                  </p:stCondLst>
                                  <p:childTnLst>
                                    <p:set>
                                      <p:cBhvr>
                                        <p:cTn id="46" dur="indefinite"/>
                                        <p:tgtEl>
                                          <p:spTgt spid="39"/>
                                        </p:tgtEl>
                                        <p:attrNameLst>
                                          <p:attrName>style.opacity</p:attrName>
                                        </p:attrNameLst>
                                      </p:cBhvr>
                                      <p:to>
                                        <p:strVal val="0.5"/>
                                      </p:to>
                                    </p:set>
                                    <p:animEffect filter="image" prLst="opacity: 0.5">
                                      <p:cBhvr rctx="IE">
                                        <p:cTn id="47" dur="indefinite"/>
                                        <p:tgtEl>
                                          <p:spTgt spid="39"/>
                                        </p:tgtEl>
                                      </p:cBhvr>
                                    </p:animEffect>
                                  </p:childTnLst>
                                </p:cTn>
                              </p:par>
                              <p:par>
                                <p:cTn id="48" presetID="9" presetClass="emph" presetSubtype="0" nodeType="withEffect">
                                  <p:stCondLst>
                                    <p:cond delay="0"/>
                                  </p:stCondLst>
                                  <p:childTnLst>
                                    <p:set>
                                      <p:cBhvr>
                                        <p:cTn id="49" dur="indefinite"/>
                                        <p:tgtEl>
                                          <p:spTgt spid="38"/>
                                        </p:tgtEl>
                                        <p:attrNameLst>
                                          <p:attrName>style.opacity</p:attrName>
                                        </p:attrNameLst>
                                      </p:cBhvr>
                                      <p:to>
                                        <p:strVal val="0.5"/>
                                      </p:to>
                                    </p:set>
                                    <p:animEffect filter="image" prLst="opacity: 0.5">
                                      <p:cBhvr rctx="IE">
                                        <p:cTn id="50" dur="indefinite"/>
                                        <p:tgtEl>
                                          <p:spTgt spid="38"/>
                                        </p:tgtEl>
                                      </p:cBhvr>
                                    </p:animEffect>
                                  </p:childTnLst>
                                </p:cTn>
                              </p:par>
                              <p:par>
                                <p:cTn id="51" presetID="8" presetClass="emph" presetSubtype="0" fill="hold" grpId="0" nodeType="withEffect">
                                  <p:stCondLst>
                                    <p:cond delay="0"/>
                                  </p:stCondLst>
                                  <p:childTnLst>
                                    <p:animRot by="21600000">
                                      <p:cBhvr>
                                        <p:cTn id="52" dur="1000" fill="hold"/>
                                        <p:tgtEl>
                                          <p:spTgt spid="30"/>
                                        </p:tgtEl>
                                        <p:attrNameLst>
                                          <p:attrName>r</p:attrName>
                                        </p:attrNameLst>
                                      </p:cBhvr>
                                    </p:animRot>
                                  </p:childTnLst>
                                </p:cTn>
                              </p:par>
                              <p:par>
                                <p:cTn id="53" presetID="9" presetClass="emph" presetSubtype="0" grpId="1" nodeType="withEffect">
                                  <p:stCondLst>
                                    <p:cond delay="0"/>
                                  </p:stCondLst>
                                  <p:childTnLst>
                                    <p:set>
                                      <p:cBhvr rctx="PPT">
                                        <p:cTn id="54" dur="indefinite"/>
                                        <p:tgtEl>
                                          <p:spTgt spid="19"/>
                                        </p:tgtEl>
                                        <p:attrNameLst>
                                          <p:attrName>style.opacity</p:attrName>
                                        </p:attrNameLst>
                                      </p:cBhvr>
                                      <p:to>
                                        <p:strVal val="0.5"/>
                                      </p:to>
                                    </p:set>
                                    <p:animEffect filter="image" prLst="opacity: 0.5">
                                      <p:cBhvr rctx="IE">
                                        <p:cTn id="55" dur="indefinite"/>
                                        <p:tgtEl>
                                          <p:spTgt spid="19"/>
                                        </p:tgtEl>
                                      </p:cBhvr>
                                    </p:animEffect>
                                  </p:childTnLst>
                                </p:cTn>
                              </p:par>
                              <p:par>
                                <p:cTn id="56" presetID="9" presetClass="emph" presetSubtype="0" grpId="1" nodeType="withEffect">
                                  <p:stCondLst>
                                    <p:cond delay="0"/>
                                  </p:stCondLst>
                                  <p:childTnLst>
                                    <p:set>
                                      <p:cBhvr rctx="PPT">
                                        <p:cTn id="57" dur="indefinite"/>
                                        <p:tgtEl>
                                          <p:spTgt spid="20"/>
                                        </p:tgtEl>
                                        <p:attrNameLst>
                                          <p:attrName>style.opacity</p:attrName>
                                        </p:attrNameLst>
                                      </p:cBhvr>
                                      <p:to>
                                        <p:strVal val="0.5"/>
                                      </p:to>
                                    </p:set>
                                    <p:animEffect filter="image" prLst="opacity: 0.5">
                                      <p:cBhvr rctx="IE">
                                        <p:cTn id="58" dur="indefinite"/>
                                        <p:tgtEl>
                                          <p:spTgt spid="20"/>
                                        </p:tgtEl>
                                      </p:cBhvr>
                                    </p:animEffect>
                                  </p:childTnLst>
                                </p:cTn>
                              </p:par>
                              <p:par>
                                <p:cTn id="59" presetID="9" presetClass="emph" presetSubtype="0" grpId="1" nodeType="withEffect">
                                  <p:stCondLst>
                                    <p:cond delay="0"/>
                                  </p:stCondLst>
                                  <p:childTnLst>
                                    <p:set>
                                      <p:cBhvr rctx="PPT">
                                        <p:cTn id="60" dur="indefinite"/>
                                        <p:tgtEl>
                                          <p:spTgt spid="22"/>
                                        </p:tgtEl>
                                        <p:attrNameLst>
                                          <p:attrName>style.opacity</p:attrName>
                                        </p:attrNameLst>
                                      </p:cBhvr>
                                      <p:to>
                                        <p:strVal val="0.5"/>
                                      </p:to>
                                    </p:set>
                                    <p:animEffect filter="image" prLst="opacity: 0.5">
                                      <p:cBhvr rctx="IE">
                                        <p:cTn id="61" dur="indefinite"/>
                                        <p:tgtEl>
                                          <p:spTgt spid="22"/>
                                        </p:tgtEl>
                                      </p:cBhvr>
                                    </p:animEffect>
                                  </p:childTnLst>
                                </p:cTn>
                              </p:par>
                              <p:par>
                                <p:cTn id="62" presetID="9" presetClass="emph" presetSubtype="0" grpId="1" nodeType="withEffect">
                                  <p:stCondLst>
                                    <p:cond delay="0"/>
                                  </p:stCondLst>
                                  <p:childTnLst>
                                    <p:set>
                                      <p:cBhvr rctx="PPT">
                                        <p:cTn id="63" dur="indefinite"/>
                                        <p:tgtEl>
                                          <p:spTgt spid="21"/>
                                        </p:tgtEl>
                                        <p:attrNameLst>
                                          <p:attrName>style.opacity</p:attrName>
                                        </p:attrNameLst>
                                      </p:cBhvr>
                                      <p:to>
                                        <p:strVal val="0.5"/>
                                      </p:to>
                                    </p:set>
                                    <p:animEffect filter="image" prLst="opacity: 0.5">
                                      <p:cBhvr rctx="IE">
                                        <p:cTn id="64" dur="indefinite"/>
                                        <p:tgtEl>
                                          <p:spTgt spid="21"/>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wipe(left)">
                                      <p:cBhvr>
                                        <p:cTn id="67" dur="500"/>
                                        <p:tgtEl>
                                          <p:spTgt spid="52"/>
                                        </p:tgtEl>
                                      </p:cBhvr>
                                    </p:animEffect>
                                  </p:childTnLst>
                                </p:cTn>
                              </p:par>
                            </p:childTnLst>
                          </p:cTn>
                        </p:par>
                        <p:par>
                          <p:cTn id="68" fill="hold">
                            <p:stCondLst>
                              <p:cond delay="1000"/>
                            </p:stCondLst>
                            <p:childTnLst>
                              <p:par>
                                <p:cTn id="69" presetID="9"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dissolve">
                                      <p:cBhvr>
                                        <p:cTn id="7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1" grpId="0" animBg="1"/>
      <p:bldP spid="32" grpId="0" animBg="1"/>
      <p:bldP spid="33" grpId="0" animBg="1"/>
      <p:bldP spid="34" grpId="0" animBg="1"/>
      <p:bldP spid="35" grpId="0" animBg="1"/>
      <p:bldP spid="39" grpId="0"/>
      <p:bldP spid="30" grpId="0" animBg="1"/>
      <p:bldP spid="52" grpId="0"/>
      <p:bldP spid="19" grpId="0"/>
      <p:bldP spid="19" grpId="1"/>
      <p:bldP spid="20" grpId="0"/>
      <p:bldP spid="20" grpId="1"/>
      <p:bldP spid="21" grpId="0"/>
      <p:bldP spid="21" grpId="1"/>
      <p:bldP spid="22" grpId="0"/>
      <p:bldP spid="22" grpId="1"/>
      <p:bldP spid="24"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1422" y="3805047"/>
            <a:ext cx="7303602" cy="461665"/>
          </a:xfrm>
          <a:prstGeom prst="rect">
            <a:avLst/>
          </a:prstGeom>
          <a:noFill/>
        </p:spPr>
        <p:txBody>
          <a:bodyPr wrap="none" rtlCol="0">
            <a:spAutoFit/>
          </a:bodyPr>
          <a:lstStyle/>
          <a:p>
            <a:pPr lvl="0">
              <a:spcBef>
                <a:spcPct val="20000"/>
              </a:spcBef>
              <a:buClr>
                <a:srgbClr val="545164"/>
              </a:buClr>
              <a:buSzPct val="65000"/>
            </a:pPr>
            <a:r>
              <a:rPr lang="en-US" sz="2400">
                <a:latin typeface="Century Gothic" panose="020B0502020202020204" pitchFamily="34" charset="0"/>
                <a:cs typeface="Calibri" panose="020F0502020204030204" pitchFamily="34" charset="0"/>
              </a:rPr>
              <a:t>How should we </a:t>
            </a:r>
            <a:r>
              <a:rPr lang="en-US" sz="2400" b="1">
                <a:latin typeface="Century Gothic" panose="020B0502020202020204" pitchFamily="34" charset="0"/>
                <a:cs typeface="Calibri" panose="020F0502020204030204" pitchFamily="34" charset="0"/>
              </a:rPr>
              <a:t>quantify</a:t>
            </a:r>
            <a:r>
              <a:rPr lang="en-US" sz="2400">
                <a:latin typeface="Century Gothic" panose="020B0502020202020204" pitchFamily="34" charset="0"/>
                <a:cs typeface="Calibri" panose="020F0502020204030204" pitchFamily="34" charset="0"/>
              </a:rPr>
              <a:t> the quality of “partial”?</a:t>
            </a:r>
            <a:endParaRPr lang="en-US" sz="2000">
              <a:latin typeface="Century Gothic" panose="020B050202020202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xmlns="" id="{741720F8-2F48-544B-9662-305E5C2AB97E}"/>
              </a:ext>
            </a:extLst>
          </p:cNvPr>
          <p:cNvSpPr>
            <a:spLocks noGrp="1"/>
          </p:cNvSpPr>
          <p:nvPr>
            <p:ph idx="1"/>
          </p:nvPr>
        </p:nvSpPr>
        <p:spPr>
          <a:xfrm>
            <a:off x="381000" y="780702"/>
            <a:ext cx="8534400" cy="5620098"/>
          </a:xfrm>
          <a:prstGeom prst="roundRect">
            <a:avLst/>
          </a:prstGeom>
        </p:spPr>
        <p:txBody>
          <a:bodyPr/>
          <a:lstStyle/>
          <a:p>
            <a:pPr marL="0" indent="0">
              <a:buNone/>
            </a:pPr>
            <a:r>
              <a:rPr lang="en-US" sz="2400" b="1" dirty="0"/>
              <a:t>Most NLP tasks are structured</a:t>
            </a:r>
            <a:r>
              <a:rPr lang="en-US" sz="2400" dirty="0"/>
              <a:t>: Syntactic parsing </a:t>
            </a:r>
            <a:r>
              <a:rPr lang="en-US" sz="2400" dirty="0">
                <a:sym typeface="Wingdings" pitchFamily="2" charset="2"/>
              </a:rPr>
              <a:t>(tree), s</a:t>
            </a:r>
            <a:r>
              <a:rPr lang="en-US" sz="2400" dirty="0"/>
              <a:t>emantic role labeling (</a:t>
            </a:r>
            <a:r>
              <a:rPr lang="en-US" sz="2400" dirty="0">
                <a:sym typeface="Wingdings" pitchFamily="2" charset="2"/>
              </a:rPr>
              <a:t>assignment), temporal relation extraction (no loops)</a:t>
            </a:r>
          </a:p>
          <a:p>
            <a:pPr marL="0" indent="0">
              <a:buNone/>
            </a:pPr>
            <a:endParaRPr lang="en-US" sz="2000" dirty="0">
              <a:sym typeface="Wingdings" pitchFamily="2" charset="2"/>
            </a:endParaRPr>
          </a:p>
          <a:p>
            <a:pPr marL="0" indent="0">
              <a:buNone/>
            </a:pPr>
            <a:r>
              <a:rPr lang="en-US" sz="2400" dirty="0"/>
              <a:t>A </a:t>
            </a:r>
            <a:r>
              <a:rPr lang="en-US" sz="2400" b="1" dirty="0"/>
              <a:t>common perception </a:t>
            </a:r>
            <a:r>
              <a:rPr lang="en-US" sz="2400" dirty="0"/>
              <a:t>is: “partial” data are of low quality and should be avoided</a:t>
            </a:r>
          </a:p>
          <a:p>
            <a:pPr marL="0" indent="0">
              <a:buNone/>
            </a:pPr>
            <a:endParaRPr lang="en-US" sz="2400" dirty="0"/>
          </a:p>
          <a:p>
            <a:pPr marL="0" indent="0">
              <a:buNone/>
            </a:pPr>
            <a:r>
              <a:rPr lang="en-US" sz="2400" dirty="0"/>
              <a:t>How should we </a:t>
            </a:r>
            <a:r>
              <a:rPr lang="en-US" sz="2400" b="1" dirty="0"/>
              <a:t>quantify</a:t>
            </a:r>
            <a:r>
              <a:rPr lang="en-US" sz="2400" dirty="0"/>
              <a:t> the quality of “partial”?</a:t>
            </a:r>
            <a:endParaRPr lang="en-US" sz="2000" dirty="0"/>
          </a:p>
        </p:txBody>
      </p:sp>
      <p:sp>
        <p:nvSpPr>
          <p:cNvPr id="2" name="TextBox 1">
            <a:extLst>
              <a:ext uri="{FF2B5EF4-FFF2-40B4-BE49-F238E27FC236}">
                <a16:creationId xmlns:a16="http://schemas.microsoft.com/office/drawing/2014/main" xmlns="" id="{BDBF7124-1D5D-2345-A306-6ADAB4F9B6CF}"/>
              </a:ext>
            </a:extLst>
          </p:cNvPr>
          <p:cNvSpPr txBox="1"/>
          <p:nvPr/>
        </p:nvSpPr>
        <p:spPr>
          <a:xfrm>
            <a:off x="641422" y="126440"/>
            <a:ext cx="4413388" cy="584775"/>
          </a:xfrm>
          <a:prstGeom prst="rect">
            <a:avLst/>
          </a:prstGeom>
          <a:noFill/>
        </p:spPr>
        <p:txBody>
          <a:bodyPr wrap="none" rtlCol="0">
            <a:spAutoFit/>
          </a:bodyPr>
          <a:lstStyle/>
          <a:p>
            <a:r>
              <a:rPr lang="en-US" sz="3200" dirty="0">
                <a:solidFill>
                  <a:schemeClr val="bg2"/>
                </a:solidFill>
                <a:latin typeface="Century Gothic" panose="020B0502020202020204" pitchFamily="34" charset="0"/>
              </a:rPr>
              <a:t>Annotating structures</a:t>
            </a:r>
          </a:p>
        </p:txBody>
      </p:sp>
      <p:grpSp>
        <p:nvGrpSpPr>
          <p:cNvPr id="6" name="Group 5">
            <a:extLst>
              <a:ext uri="{FF2B5EF4-FFF2-40B4-BE49-F238E27FC236}">
                <a16:creationId xmlns:a16="http://schemas.microsoft.com/office/drawing/2014/main" xmlns="" id="{E9F66B4B-1C38-1C4D-99CD-8197BCA56565}"/>
              </a:ext>
            </a:extLst>
          </p:cNvPr>
          <p:cNvGrpSpPr/>
          <p:nvPr/>
        </p:nvGrpSpPr>
        <p:grpSpPr>
          <a:xfrm>
            <a:off x="842992" y="4368939"/>
            <a:ext cx="4545074" cy="2336661"/>
            <a:chOff x="3312194" y="1491409"/>
            <a:chExt cx="6060098" cy="3115549"/>
          </a:xfrm>
        </p:grpSpPr>
        <p:grpSp>
          <p:nvGrpSpPr>
            <p:cNvPr id="7" name="Group 6">
              <a:extLst>
                <a:ext uri="{FF2B5EF4-FFF2-40B4-BE49-F238E27FC236}">
                  <a16:creationId xmlns:a16="http://schemas.microsoft.com/office/drawing/2014/main" xmlns="" id="{EDECB90A-6798-8F48-80F0-BAC575C07A83}"/>
                </a:ext>
              </a:extLst>
            </p:cNvPr>
            <p:cNvGrpSpPr/>
            <p:nvPr/>
          </p:nvGrpSpPr>
          <p:grpSpPr>
            <a:xfrm>
              <a:off x="3312194" y="1491409"/>
              <a:ext cx="6060098" cy="3115549"/>
              <a:chOff x="3312194" y="1491409"/>
              <a:chExt cx="6060098" cy="3115549"/>
            </a:xfrm>
          </p:grpSpPr>
          <p:grpSp>
            <p:nvGrpSpPr>
              <p:cNvPr id="9" name="Group 8">
                <a:extLst>
                  <a:ext uri="{FF2B5EF4-FFF2-40B4-BE49-F238E27FC236}">
                    <a16:creationId xmlns:a16="http://schemas.microsoft.com/office/drawing/2014/main" xmlns="" id="{8040B5AD-45EF-3641-8534-1F74BBE939C9}"/>
                  </a:ext>
                </a:extLst>
              </p:cNvPr>
              <p:cNvGrpSpPr/>
              <p:nvPr/>
            </p:nvGrpSpPr>
            <p:grpSpPr>
              <a:xfrm>
                <a:off x="3312194" y="1491409"/>
                <a:ext cx="6060098" cy="2542680"/>
                <a:chOff x="2974846" y="1491409"/>
                <a:chExt cx="6060098" cy="2542680"/>
              </a:xfrm>
            </p:grpSpPr>
            <p:sp>
              <p:nvSpPr>
                <p:cNvPr id="15" name="TextBox 14">
                  <a:extLst>
                    <a:ext uri="{FF2B5EF4-FFF2-40B4-BE49-F238E27FC236}">
                      <a16:creationId xmlns:a16="http://schemas.microsoft.com/office/drawing/2014/main" xmlns="" id="{48376529-78E1-EB4F-B1AF-3434C17F9210}"/>
                    </a:ext>
                  </a:extLst>
                </p:cNvPr>
                <p:cNvSpPr txBox="1"/>
                <p:nvPr/>
              </p:nvSpPr>
              <p:spPr>
                <a:xfrm>
                  <a:off x="4541994" y="3526258"/>
                  <a:ext cx="1475191" cy="507831"/>
                </a:xfrm>
                <a:prstGeom prst="rect">
                  <a:avLst/>
                </a:prstGeom>
                <a:noFill/>
                <a:ln>
                  <a:noFill/>
                </a:ln>
              </p:spPr>
              <p:txBody>
                <a:bodyPr wrap="none" rtlCol="0">
                  <a:spAutoFit/>
                </a:bodyPr>
                <a:lstStyle/>
                <a:p>
                  <a:r>
                    <a:rPr lang="en-US" altLang="zh-CN" sz="1875" b="1" dirty="0">
                      <a:solidFill>
                        <a:srgbClr val="C17A90"/>
                      </a:solidFill>
                      <a:latin typeface="Times New Roman" charset="0"/>
                      <a:ea typeface="Times New Roman" charset="0"/>
                      <a:cs typeface="Times New Roman" charset="0"/>
                    </a:rPr>
                    <a:t>cascaded</a:t>
                  </a:r>
                  <a:endParaRPr lang="en-US" sz="1875" b="1" dirty="0">
                    <a:solidFill>
                      <a:srgbClr val="C17A90"/>
                    </a:solidFill>
                    <a:latin typeface="Times New Roman" charset="0"/>
                    <a:ea typeface="Times New Roman" charset="0"/>
                    <a:cs typeface="Times New Roman" charset="0"/>
                  </a:endParaRPr>
                </a:p>
              </p:txBody>
            </p:sp>
            <p:sp>
              <p:nvSpPr>
                <p:cNvPr id="16" name="TextBox 15">
                  <a:extLst>
                    <a:ext uri="{FF2B5EF4-FFF2-40B4-BE49-F238E27FC236}">
                      <a16:creationId xmlns:a16="http://schemas.microsoft.com/office/drawing/2014/main" xmlns="" id="{AD24678D-5FA5-9D46-924E-EBDD4CD5FE8B}"/>
                    </a:ext>
                  </a:extLst>
                </p:cNvPr>
                <p:cNvSpPr txBox="1"/>
                <p:nvPr/>
              </p:nvSpPr>
              <p:spPr>
                <a:xfrm>
                  <a:off x="2974846" y="2496086"/>
                  <a:ext cx="851088" cy="507831"/>
                </a:xfrm>
                <a:prstGeom prst="rect">
                  <a:avLst/>
                </a:prstGeom>
                <a:noFill/>
                <a:ln>
                  <a:noFill/>
                </a:ln>
              </p:spPr>
              <p:txBody>
                <a:bodyPr wrap="none" rtlCol="0">
                  <a:spAutoFit/>
                </a:bodyPr>
                <a:lstStyle/>
                <a:p>
                  <a:r>
                    <a:rPr lang="en-US" sz="1875" b="1" dirty="0">
                      <a:solidFill>
                        <a:srgbClr val="C17A90">
                          <a:alpha val="50000"/>
                        </a:srgbClr>
                      </a:solidFill>
                      <a:latin typeface="Times New Roman" charset="0"/>
                      <a:cs typeface="Times New Roman" charset="0"/>
                    </a:rPr>
                    <a:t>hurt</a:t>
                  </a:r>
                </a:p>
              </p:txBody>
            </p:sp>
            <p:sp>
              <p:nvSpPr>
                <p:cNvPr id="17" name="TextBox 16">
                  <a:extLst>
                    <a:ext uri="{FF2B5EF4-FFF2-40B4-BE49-F238E27FC236}">
                      <a16:creationId xmlns:a16="http://schemas.microsoft.com/office/drawing/2014/main" xmlns="" id="{A46C0573-21CF-DD4A-9857-87738446E43B}"/>
                    </a:ext>
                  </a:extLst>
                </p:cNvPr>
                <p:cNvSpPr txBox="1"/>
                <p:nvPr/>
              </p:nvSpPr>
              <p:spPr>
                <a:xfrm>
                  <a:off x="4652426" y="1491409"/>
                  <a:ext cx="1261457" cy="507831"/>
                </a:xfrm>
                <a:prstGeom prst="rect">
                  <a:avLst/>
                </a:prstGeom>
                <a:noFill/>
                <a:ln>
                  <a:noFill/>
                </a:ln>
              </p:spPr>
              <p:txBody>
                <a:bodyPr wrap="none" rtlCol="0">
                  <a:spAutoFit/>
                </a:bodyPr>
                <a:lstStyle/>
                <a:p>
                  <a:r>
                    <a:rPr lang="en-US" sz="1875" b="1" dirty="0">
                      <a:solidFill>
                        <a:srgbClr val="C17A90"/>
                      </a:solidFill>
                      <a:latin typeface="Times New Roman" charset="0"/>
                      <a:cs typeface="Times New Roman" charset="0"/>
                    </a:rPr>
                    <a:t>ripping</a:t>
                  </a:r>
                </a:p>
              </p:txBody>
            </p:sp>
            <p:sp>
              <p:nvSpPr>
                <p:cNvPr id="18" name="TextBox 17">
                  <a:extLst>
                    <a:ext uri="{FF2B5EF4-FFF2-40B4-BE49-F238E27FC236}">
                      <a16:creationId xmlns:a16="http://schemas.microsoft.com/office/drawing/2014/main" xmlns="" id="{EEBC2CC5-57C2-7849-8EE1-0D2B8697B875}"/>
                    </a:ext>
                  </a:extLst>
                </p:cNvPr>
                <p:cNvSpPr txBox="1"/>
                <p:nvPr/>
              </p:nvSpPr>
              <p:spPr>
                <a:xfrm>
                  <a:off x="7683716" y="3518755"/>
                  <a:ext cx="1328313" cy="507831"/>
                </a:xfrm>
                <a:prstGeom prst="rect">
                  <a:avLst/>
                </a:prstGeom>
                <a:noFill/>
                <a:ln>
                  <a:noFill/>
                </a:ln>
              </p:spPr>
              <p:txBody>
                <a:bodyPr wrap="none" rtlCol="0">
                  <a:spAutoFit/>
                </a:bodyPr>
                <a:lstStyle/>
                <a:p>
                  <a:r>
                    <a:rPr lang="en-US" sz="1875" b="1" dirty="0">
                      <a:solidFill>
                        <a:srgbClr val="C17A90">
                          <a:alpha val="50000"/>
                        </a:srgbClr>
                      </a:solidFill>
                      <a:latin typeface="Times New Roman" charset="0"/>
                      <a:ea typeface="Times New Roman" charset="0"/>
                      <a:cs typeface="Times New Roman" charset="0"/>
                    </a:rPr>
                    <a:t>ordered</a:t>
                  </a:r>
                </a:p>
              </p:txBody>
            </p:sp>
            <p:cxnSp>
              <p:nvCxnSpPr>
                <p:cNvPr id="19" name="Straight Arrow Connector 18">
                  <a:extLst>
                    <a:ext uri="{FF2B5EF4-FFF2-40B4-BE49-F238E27FC236}">
                      <a16:creationId xmlns:a16="http://schemas.microsoft.com/office/drawing/2014/main" xmlns="" id="{0E4A40E2-6621-3F4D-96DF-D165C777F4EF}"/>
                    </a:ext>
                  </a:extLst>
                </p:cNvPr>
                <p:cNvCxnSpPr/>
                <p:nvPr/>
              </p:nvCxnSpPr>
              <p:spPr>
                <a:xfrm flipH="1">
                  <a:off x="5249080" y="2090343"/>
                  <a:ext cx="3832" cy="1345297"/>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7F51D4DC-6FC0-F949-82F6-442B5E573250}"/>
                    </a:ext>
                  </a:extLst>
                </p:cNvPr>
                <p:cNvCxnSpPr/>
                <p:nvPr/>
              </p:nvCxnSpPr>
              <p:spPr>
                <a:xfrm flipH="1">
                  <a:off x="3624993" y="1745325"/>
                  <a:ext cx="1027433" cy="740620"/>
                </a:xfrm>
                <a:prstGeom prst="straightConnector1">
                  <a:avLst/>
                </a:prstGeom>
                <a:ln w="25400">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xmlns="" id="{F30EF415-264C-AC44-87D8-18EE54FBDABD}"/>
                    </a:ext>
                  </a:extLst>
                </p:cNvPr>
                <p:cNvCxnSpPr/>
                <p:nvPr/>
              </p:nvCxnSpPr>
              <p:spPr>
                <a:xfrm>
                  <a:off x="5507757" y="1984783"/>
                  <a:ext cx="2553980" cy="1517655"/>
                </a:xfrm>
                <a:prstGeom prst="straightConnector1">
                  <a:avLst/>
                </a:prstGeom>
                <a:ln w="25400" cmpd="sng">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6728AE4C-A558-444A-9B0A-5E56544791FD}"/>
                    </a:ext>
                  </a:extLst>
                </p:cNvPr>
                <p:cNvCxnSpPr/>
                <p:nvPr/>
              </p:nvCxnSpPr>
              <p:spPr>
                <a:xfrm flipV="1">
                  <a:off x="6017185" y="3772671"/>
                  <a:ext cx="1666532" cy="7503"/>
                </a:xfrm>
                <a:prstGeom prst="straightConnector1">
                  <a:avLst/>
                </a:prstGeom>
                <a:ln w="25400">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xmlns="" id="{24971B8B-14B8-184C-9DAA-63E6B915E098}"/>
                    </a:ext>
                  </a:extLst>
                </p:cNvPr>
                <p:cNvCxnSpPr/>
                <p:nvPr/>
              </p:nvCxnSpPr>
              <p:spPr>
                <a:xfrm flipH="1" flipV="1">
                  <a:off x="3624993" y="2995636"/>
                  <a:ext cx="917001" cy="784537"/>
                </a:xfrm>
                <a:prstGeom prst="straightConnector1">
                  <a:avLst/>
                </a:prstGeom>
                <a:ln w="25400" cmpd="sng">
                  <a:solidFill>
                    <a:schemeClr val="bg2">
                      <a:alpha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xmlns="" id="{381A3128-A861-474F-8FE7-ED3A4DB414EA}"/>
                    </a:ext>
                  </a:extLst>
                </p:cNvPr>
                <p:cNvSpPr txBox="1"/>
                <p:nvPr/>
              </p:nvSpPr>
              <p:spPr>
                <a:xfrm>
                  <a:off x="7683717" y="1491662"/>
                  <a:ext cx="1351227" cy="507831"/>
                </a:xfrm>
                <a:prstGeom prst="rect">
                  <a:avLst/>
                </a:prstGeom>
                <a:noFill/>
                <a:ln>
                  <a:noFill/>
                </a:ln>
              </p:spPr>
              <p:txBody>
                <a:bodyPr wrap="none" rtlCol="0">
                  <a:spAutoFit/>
                </a:bodyPr>
                <a:lstStyle/>
                <a:p>
                  <a:r>
                    <a:rPr lang="en-US" sz="1875" b="1" dirty="0">
                      <a:solidFill>
                        <a:srgbClr val="C17A90"/>
                      </a:solidFill>
                      <a:latin typeface="Times New Roman" charset="0"/>
                      <a:ea typeface="Times New Roman" charset="0"/>
                      <a:cs typeface="Times New Roman" charset="0"/>
                    </a:rPr>
                    <a:t>monitor</a:t>
                  </a:r>
                </a:p>
              </p:txBody>
            </p:sp>
            <p:cxnSp>
              <p:nvCxnSpPr>
                <p:cNvPr id="25" name="Straight Connector 24">
                  <a:extLst>
                    <a:ext uri="{FF2B5EF4-FFF2-40B4-BE49-F238E27FC236}">
                      <a16:creationId xmlns:a16="http://schemas.microsoft.com/office/drawing/2014/main" xmlns="" id="{C302FE63-EE4F-CC4E-95C1-A1C40B5F5E20}"/>
                    </a:ext>
                  </a:extLst>
                </p:cNvPr>
                <p:cNvCxnSpPr/>
                <p:nvPr/>
              </p:nvCxnSpPr>
              <p:spPr>
                <a:xfrm flipH="1" flipV="1">
                  <a:off x="5913885" y="1745325"/>
                  <a:ext cx="1769832" cy="2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264FE77D-D768-3342-A292-C8A6FE1330D9}"/>
                    </a:ext>
                  </a:extLst>
                </p:cNvPr>
                <p:cNvCxnSpPr/>
                <p:nvPr/>
              </p:nvCxnSpPr>
              <p:spPr>
                <a:xfrm flipH="1">
                  <a:off x="8316583" y="2090596"/>
                  <a:ext cx="12503" cy="1306282"/>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895AE16B-24B2-E74C-A39D-BEDB0521ABCF}"/>
                    </a:ext>
                  </a:extLst>
                </p:cNvPr>
                <p:cNvCxnSpPr/>
                <p:nvPr/>
              </p:nvCxnSpPr>
              <p:spPr>
                <a:xfrm flipH="1">
                  <a:off x="5503925" y="2090596"/>
                  <a:ext cx="2825161" cy="1450604"/>
                </a:xfrm>
                <a:prstGeom prst="line">
                  <a:avLst/>
                </a:prstGeom>
                <a:ln w="34925">
                  <a:solidFill>
                    <a:schemeClr val="bg2">
                      <a:alpha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xmlns="" id="{AFF8A524-C8F1-584A-A888-2B659023AF05}"/>
                    </a:ext>
                  </a:extLst>
                </p:cNvPr>
                <p:cNvCxnSpPr/>
                <p:nvPr/>
              </p:nvCxnSpPr>
              <p:spPr>
                <a:xfrm flipH="1">
                  <a:off x="3730553" y="1985036"/>
                  <a:ext cx="4343687" cy="755755"/>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xmlns="" id="{523B3C13-81E5-0441-87CB-59BDD22611C5}"/>
                  </a:ext>
                </a:extLst>
              </p:cNvPr>
              <p:cNvGrpSpPr/>
              <p:nvPr/>
            </p:nvGrpSpPr>
            <p:grpSpPr>
              <a:xfrm>
                <a:off x="4851183" y="4268403"/>
                <a:ext cx="3254802" cy="338555"/>
                <a:chOff x="2403791" y="4308587"/>
                <a:chExt cx="3254802" cy="338555"/>
              </a:xfrm>
            </p:grpSpPr>
            <p:cxnSp>
              <p:nvCxnSpPr>
                <p:cNvPr id="11" name="Straight Arrow Connector 10">
                  <a:extLst>
                    <a:ext uri="{FF2B5EF4-FFF2-40B4-BE49-F238E27FC236}">
                      <a16:creationId xmlns:a16="http://schemas.microsoft.com/office/drawing/2014/main" xmlns="" id="{E7EC924D-5512-4346-89FD-CD9BEE53F924}"/>
                    </a:ext>
                  </a:extLst>
                </p:cNvPr>
                <p:cNvCxnSpPr/>
                <p:nvPr/>
              </p:nvCxnSpPr>
              <p:spPr>
                <a:xfrm flipV="1">
                  <a:off x="2403791" y="4459632"/>
                  <a:ext cx="457200" cy="5687"/>
                </a:xfrm>
                <a:prstGeom prst="straightConnector1">
                  <a:avLst/>
                </a:prstGeom>
                <a:ln w="6350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22A8AD3E-C72F-8544-B2DE-F4DC4902CB40}"/>
                    </a:ext>
                  </a:extLst>
                </p:cNvPr>
                <p:cNvSpPr txBox="1"/>
                <p:nvPr/>
              </p:nvSpPr>
              <p:spPr>
                <a:xfrm>
                  <a:off x="2806030" y="4308587"/>
                  <a:ext cx="887422"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BEFORE</a:t>
                  </a:r>
                  <a:endParaRPr lang="en-US" b="1" dirty="0">
                    <a:solidFill>
                      <a:srgbClr val="666089"/>
                    </a:solidFill>
                    <a:latin typeface="Courier" charset="0"/>
                    <a:ea typeface="Courier" charset="0"/>
                    <a:cs typeface="Courier" charset="0"/>
                  </a:endParaRPr>
                </a:p>
              </p:txBody>
            </p:sp>
            <p:cxnSp>
              <p:nvCxnSpPr>
                <p:cNvPr id="13" name="Straight Arrow Connector 12">
                  <a:extLst>
                    <a:ext uri="{FF2B5EF4-FFF2-40B4-BE49-F238E27FC236}">
                      <a16:creationId xmlns:a16="http://schemas.microsoft.com/office/drawing/2014/main" xmlns="" id="{A8982A64-BCBE-8249-A3F3-674C813F78DE}"/>
                    </a:ext>
                  </a:extLst>
                </p:cNvPr>
                <p:cNvCxnSpPr/>
                <p:nvPr/>
              </p:nvCxnSpPr>
              <p:spPr>
                <a:xfrm flipV="1">
                  <a:off x="3834597" y="4459632"/>
                  <a:ext cx="457200" cy="0"/>
                </a:xfrm>
                <a:prstGeom prst="straightConnector1">
                  <a:avLst/>
                </a:prstGeom>
                <a:ln w="88900" cmpd="dbl">
                  <a:solidFill>
                    <a:schemeClr val="bg2"/>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xmlns="" id="{DC5ACF0B-1B7D-2241-A052-7F2DD003982A}"/>
                    </a:ext>
                  </a:extLst>
                </p:cNvPr>
                <p:cNvSpPr txBox="1"/>
                <p:nvPr/>
              </p:nvSpPr>
              <p:spPr>
                <a:xfrm>
                  <a:off x="4236836" y="4308587"/>
                  <a:ext cx="1421757"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BE_INCLUDED</a:t>
                  </a:r>
                  <a:endParaRPr lang="en-US" b="1" dirty="0">
                    <a:solidFill>
                      <a:srgbClr val="666089"/>
                    </a:solidFill>
                    <a:latin typeface="Courier" charset="0"/>
                    <a:ea typeface="Courier" charset="0"/>
                    <a:cs typeface="Courier" charset="0"/>
                  </a:endParaRPr>
                </a:p>
              </p:txBody>
            </p:sp>
          </p:grpSp>
        </p:grpSp>
        <p:cxnSp>
          <p:nvCxnSpPr>
            <p:cNvPr id="8" name="Straight Connector 7">
              <a:extLst>
                <a:ext uri="{FF2B5EF4-FFF2-40B4-BE49-F238E27FC236}">
                  <a16:creationId xmlns:a16="http://schemas.microsoft.com/office/drawing/2014/main" xmlns="" id="{01020D9A-00D6-7F4C-8EA5-917F3B791272}"/>
                </a:ext>
              </a:extLst>
            </p:cNvPr>
            <p:cNvCxnSpPr/>
            <p:nvPr/>
          </p:nvCxnSpPr>
          <p:spPr>
            <a:xfrm flipH="1" flipV="1">
              <a:off x="4102797" y="2734614"/>
              <a:ext cx="4203231" cy="899235"/>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xmlns="" id="{BDBF7124-1D5D-2345-A306-6ADAB4F9B6CF}"/>
              </a:ext>
            </a:extLst>
          </p:cNvPr>
          <p:cNvSpPr txBox="1"/>
          <p:nvPr/>
        </p:nvSpPr>
        <p:spPr>
          <a:xfrm>
            <a:off x="4972012" y="126440"/>
            <a:ext cx="2488182" cy="584775"/>
          </a:xfrm>
          <a:prstGeom prst="rect">
            <a:avLst/>
          </a:prstGeom>
          <a:noFill/>
        </p:spPr>
        <p:txBody>
          <a:bodyPr wrap="none" rtlCol="0">
            <a:spAutoFit/>
          </a:bodyPr>
          <a:lstStyle/>
          <a:p>
            <a:r>
              <a:rPr lang="en-US" sz="3200" dirty="0">
                <a:solidFill>
                  <a:schemeClr val="bg2"/>
                </a:solidFill>
                <a:latin typeface="Century Gothic" panose="020B0502020202020204" pitchFamily="34" charset="0"/>
              </a:rPr>
              <a:t>is important</a:t>
            </a:r>
          </a:p>
        </p:txBody>
      </p:sp>
      <p:sp>
        <p:nvSpPr>
          <p:cNvPr id="3" name="TextBox 2"/>
          <p:cNvSpPr txBox="1"/>
          <p:nvPr/>
        </p:nvSpPr>
        <p:spPr>
          <a:xfrm>
            <a:off x="5655728" y="5762302"/>
            <a:ext cx="2932213" cy="523220"/>
          </a:xfrm>
          <a:prstGeom prst="rect">
            <a:avLst/>
          </a:prstGeom>
          <a:noFill/>
        </p:spPr>
        <p:txBody>
          <a:bodyPr wrap="none" rtlCol="0">
            <a:spAutoFit/>
          </a:bodyPr>
          <a:lstStyle/>
          <a:p>
            <a:r>
              <a:rPr lang="en-US" sz="2800">
                <a:solidFill>
                  <a:srgbClr val="C27990"/>
                </a:solidFill>
                <a:latin typeface="Century Gothic" charset="0"/>
                <a:ea typeface="Century Gothic" charset="0"/>
                <a:cs typeface="Century Gothic" charset="0"/>
              </a:rPr>
              <a:t>quality = 2 / 10?</a:t>
            </a:r>
            <a:endParaRPr lang="en-US" sz="2800" dirty="0">
              <a:solidFill>
                <a:srgbClr val="C27990"/>
              </a:solidFill>
              <a:latin typeface="Century Gothic" charset="0"/>
              <a:ea typeface="Century Gothic" charset="0"/>
              <a:cs typeface="Century Gothic" charset="0"/>
            </a:endParaRPr>
          </a:p>
        </p:txBody>
      </p:sp>
      <p:sp>
        <p:nvSpPr>
          <p:cNvPr id="30" name="TextBox 29"/>
          <p:cNvSpPr txBox="1"/>
          <p:nvPr/>
        </p:nvSpPr>
        <p:spPr>
          <a:xfrm>
            <a:off x="5590004" y="4738708"/>
            <a:ext cx="3063659" cy="954107"/>
          </a:xfrm>
          <a:prstGeom prst="rect">
            <a:avLst/>
          </a:prstGeom>
          <a:noFill/>
        </p:spPr>
        <p:txBody>
          <a:bodyPr wrap="none" rtlCol="0">
            <a:spAutoFit/>
          </a:bodyPr>
          <a:lstStyle/>
          <a:p>
            <a:r>
              <a:rPr lang="en-US" sz="2800" dirty="0" smtClean="0">
                <a:solidFill>
                  <a:srgbClr val="C27990"/>
                </a:solidFill>
                <a:latin typeface="Century Gothic" charset="0"/>
                <a:ea typeface="Century Gothic" charset="0"/>
                <a:cs typeface="Century Gothic" charset="0"/>
              </a:rPr>
              <a:t>2 edges labeled</a:t>
            </a:r>
          </a:p>
          <a:p>
            <a:r>
              <a:rPr lang="en-US" sz="2800" dirty="0" smtClean="0">
                <a:solidFill>
                  <a:srgbClr val="C27990"/>
                </a:solidFill>
                <a:latin typeface="Century Gothic" charset="0"/>
                <a:ea typeface="Century Gothic" charset="0"/>
                <a:cs typeface="Century Gothic" charset="0"/>
              </a:rPr>
              <a:t>10 edges in total</a:t>
            </a:r>
            <a:endParaRPr lang="en-US" sz="2800" dirty="0">
              <a:solidFill>
                <a:srgbClr val="C27990"/>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408506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dissolv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ssolv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dissolv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dissolve">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dissolve">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9" grpId="0"/>
      <p:bldP spid="3" grpId="0"/>
      <p:bldP spid="30"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p:cNvGrpSpPr/>
          <p:nvPr/>
        </p:nvGrpSpPr>
        <p:grpSpPr>
          <a:xfrm>
            <a:off x="3646618" y="4077366"/>
            <a:ext cx="1218250" cy="378478"/>
            <a:chOff x="3761477" y="4110538"/>
            <a:chExt cx="1218250" cy="378478"/>
          </a:xfrm>
        </p:grpSpPr>
        <p:sp>
          <p:nvSpPr>
            <p:cNvPr id="15" name="Rounded Rectangle 14">
              <a:extLst>
                <a:ext uri="{FF2B5EF4-FFF2-40B4-BE49-F238E27FC236}">
                  <a16:creationId xmlns:a16="http://schemas.microsoft.com/office/drawing/2014/main" xmlns="" id="{6D42E12D-9BC5-C24A-B8B5-20FFD3C21D2A}"/>
                </a:ext>
              </a:extLst>
            </p:cNvPr>
            <p:cNvSpPr/>
            <p:nvPr/>
          </p:nvSpPr>
          <p:spPr>
            <a:xfrm>
              <a:off x="3761477" y="4112361"/>
              <a:ext cx="1218250" cy="376655"/>
            </a:xfrm>
            <a:prstGeom prst="roundRect">
              <a:avLst>
                <a:gd name="adj" fmla="val 50000"/>
              </a:avLst>
            </a:prstGeom>
            <a:solidFill>
              <a:srgbClr val="6660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16" name="TextBox 15">
              <a:extLst>
                <a:ext uri="{FF2B5EF4-FFF2-40B4-BE49-F238E27FC236}">
                  <a16:creationId xmlns:a16="http://schemas.microsoft.com/office/drawing/2014/main" xmlns="" id="{81CEE728-6FC1-804D-A4B5-97737DED2809}"/>
                </a:ext>
              </a:extLst>
            </p:cNvPr>
            <p:cNvSpPr txBox="1"/>
            <p:nvPr/>
          </p:nvSpPr>
          <p:spPr>
            <a:xfrm>
              <a:off x="3882155" y="4110538"/>
              <a:ext cx="1097572" cy="369332"/>
            </a:xfrm>
            <a:prstGeom prst="rect">
              <a:avLst/>
            </a:prstGeom>
            <a:noFill/>
            <a:ln>
              <a:noFill/>
            </a:ln>
          </p:spPr>
          <p:txBody>
            <a:bodyPr wrap="square" rtlCol="0">
              <a:spAutoFit/>
            </a:bodyPr>
            <a:lstStyle/>
            <a:p>
              <a:r>
                <a:rPr lang="en-US" dirty="0">
                  <a:latin typeface="Century Gothic" panose="020B0502020202020204" pitchFamily="34" charset="0"/>
                  <a:ea typeface="Times New Roman" charset="0"/>
                  <a:cs typeface="Times New Roman" charset="0"/>
                </a:rPr>
                <a:t>monitor</a:t>
              </a:r>
            </a:p>
          </p:txBody>
        </p:sp>
      </p:grpSp>
      <p:grpSp>
        <p:nvGrpSpPr>
          <p:cNvPr id="36" name="Group 35"/>
          <p:cNvGrpSpPr/>
          <p:nvPr/>
        </p:nvGrpSpPr>
        <p:grpSpPr>
          <a:xfrm>
            <a:off x="1843337" y="4057590"/>
            <a:ext cx="5282328" cy="1436529"/>
            <a:chOff x="1883443" y="4224578"/>
            <a:chExt cx="5282328" cy="1436529"/>
          </a:xfrm>
        </p:grpSpPr>
        <p:sp>
          <p:nvSpPr>
            <p:cNvPr id="17" name="Rounded Rectangle 16">
              <a:extLst>
                <a:ext uri="{FF2B5EF4-FFF2-40B4-BE49-F238E27FC236}">
                  <a16:creationId xmlns:a16="http://schemas.microsoft.com/office/drawing/2014/main" xmlns="" id="{81D05AEC-6B85-114C-BC80-1E607C22BFFF}"/>
                </a:ext>
              </a:extLst>
            </p:cNvPr>
            <p:cNvSpPr/>
            <p:nvPr/>
          </p:nvSpPr>
          <p:spPr>
            <a:xfrm>
              <a:off x="2247737" y="4241186"/>
              <a:ext cx="1188417" cy="376655"/>
            </a:xfrm>
            <a:prstGeom prst="roundRect">
              <a:avLst>
                <a:gd name="adj" fmla="val 50000"/>
              </a:avLst>
            </a:prstGeom>
            <a:solidFill>
              <a:srgbClr val="95A28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18" name="TextBox 17">
              <a:extLst>
                <a:ext uri="{FF2B5EF4-FFF2-40B4-BE49-F238E27FC236}">
                  <a16:creationId xmlns:a16="http://schemas.microsoft.com/office/drawing/2014/main" xmlns="" id="{5B39CEF9-B375-6640-896B-A9016FD0B456}"/>
                </a:ext>
              </a:extLst>
            </p:cNvPr>
            <p:cNvSpPr txBox="1"/>
            <p:nvPr/>
          </p:nvSpPr>
          <p:spPr>
            <a:xfrm>
              <a:off x="2336838" y="4224578"/>
              <a:ext cx="1099018" cy="369332"/>
            </a:xfrm>
            <a:prstGeom prst="rect">
              <a:avLst/>
            </a:prstGeom>
            <a:noFill/>
            <a:ln>
              <a:noFill/>
            </a:ln>
          </p:spPr>
          <p:txBody>
            <a:bodyPr wrap="square" rtlCol="0">
              <a:spAutoFit/>
            </a:bodyPr>
            <a:lstStyle/>
            <a:p>
              <a:r>
                <a:rPr lang="en-US" dirty="0">
                  <a:latin typeface="Century Gothic" panose="020B0502020202020204" pitchFamily="34" charset="0"/>
                  <a:ea typeface="Times New Roman" charset="0"/>
                  <a:cs typeface="Times New Roman" charset="0"/>
                </a:rPr>
                <a:t>ripping</a:t>
              </a:r>
            </a:p>
          </p:txBody>
        </p:sp>
        <p:sp>
          <p:nvSpPr>
            <p:cNvPr id="21" name="Rounded Rectangle 20">
              <a:extLst>
                <a:ext uri="{FF2B5EF4-FFF2-40B4-BE49-F238E27FC236}">
                  <a16:creationId xmlns:a16="http://schemas.microsoft.com/office/drawing/2014/main" xmlns="" id="{2727E4D9-6B17-AE45-943C-6636DD668254}"/>
                </a:ext>
              </a:extLst>
            </p:cNvPr>
            <p:cNvSpPr/>
            <p:nvPr/>
          </p:nvSpPr>
          <p:spPr>
            <a:xfrm>
              <a:off x="2150687" y="4731017"/>
              <a:ext cx="3017523" cy="376655"/>
            </a:xfrm>
            <a:prstGeom prst="roundRect">
              <a:avLst>
                <a:gd name="adj" fmla="val 50000"/>
              </a:avLst>
            </a:prstGeom>
            <a:solidFill>
              <a:srgbClr val="C17A9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22" name="TextBox 21">
              <a:extLst>
                <a:ext uri="{FF2B5EF4-FFF2-40B4-BE49-F238E27FC236}">
                  <a16:creationId xmlns:a16="http://schemas.microsoft.com/office/drawing/2014/main" xmlns="" id="{6E560D01-34F5-3F4E-9B34-441586CC3FEF}"/>
                </a:ext>
              </a:extLst>
            </p:cNvPr>
            <p:cNvSpPr txBox="1"/>
            <p:nvPr/>
          </p:nvSpPr>
          <p:spPr>
            <a:xfrm>
              <a:off x="2940991" y="4722489"/>
              <a:ext cx="1354858" cy="369332"/>
            </a:xfrm>
            <a:prstGeom prst="rect">
              <a:avLst/>
            </a:prstGeom>
            <a:noFill/>
            <a:ln>
              <a:noFill/>
            </a:ln>
          </p:spPr>
          <p:txBody>
            <a:bodyPr wrap="none" rtlCol="0">
              <a:spAutoFit/>
            </a:bodyPr>
            <a:lstStyle/>
            <a:p>
              <a:r>
                <a:rPr lang="en-US" dirty="0">
                  <a:latin typeface="Century Gothic" panose="020B0502020202020204" pitchFamily="34" charset="0"/>
                  <a:ea typeface="Times New Roman" charset="0"/>
                  <a:cs typeface="Times New Roman" charset="0"/>
                </a:rPr>
                <a:t>cascaded</a:t>
              </a:r>
            </a:p>
          </p:txBody>
        </p:sp>
        <p:cxnSp>
          <p:nvCxnSpPr>
            <p:cNvPr id="23" name="Straight Arrow Connector 22">
              <a:extLst>
                <a:ext uri="{FF2B5EF4-FFF2-40B4-BE49-F238E27FC236}">
                  <a16:creationId xmlns:a16="http://schemas.microsoft.com/office/drawing/2014/main" xmlns="" id="{3DA8FC01-BB24-0940-9EC6-43421E5128A1}"/>
                </a:ext>
              </a:extLst>
            </p:cNvPr>
            <p:cNvCxnSpPr>
              <a:cxnSpLocks/>
            </p:cNvCxnSpPr>
            <p:nvPr/>
          </p:nvCxnSpPr>
          <p:spPr>
            <a:xfrm>
              <a:off x="1883443" y="5198849"/>
              <a:ext cx="5082834" cy="0"/>
            </a:xfrm>
            <a:prstGeom prst="straightConnector1">
              <a:avLst/>
            </a:prstGeom>
            <a:ln w="3175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xmlns="" id="{D23433C5-B1AE-CA4A-BEA3-A63039CE9EB4}"/>
                </a:ext>
              </a:extLst>
            </p:cNvPr>
            <p:cNvSpPr txBox="1"/>
            <p:nvPr/>
          </p:nvSpPr>
          <p:spPr>
            <a:xfrm>
              <a:off x="6413642" y="5260997"/>
              <a:ext cx="752129" cy="400110"/>
            </a:xfrm>
            <a:prstGeom prst="rect">
              <a:avLst/>
            </a:prstGeom>
            <a:noFill/>
            <a:ln>
              <a:noFill/>
            </a:ln>
          </p:spPr>
          <p:txBody>
            <a:bodyPr wrap="none" rtlCol="0">
              <a:spAutoFit/>
            </a:bodyPr>
            <a:lstStyle/>
            <a:p>
              <a:r>
                <a:rPr lang="en-US" sz="2000" dirty="0">
                  <a:solidFill>
                    <a:schemeClr val="bg2"/>
                  </a:solidFill>
                  <a:latin typeface="Century Gothic" panose="020B0502020202020204" pitchFamily="34" charset="0"/>
                  <a:ea typeface="Times New Roman" charset="0"/>
                  <a:cs typeface="Times New Roman" charset="0"/>
                </a:rPr>
                <a:t>Time</a:t>
              </a:r>
            </a:p>
          </p:txBody>
        </p:sp>
      </p:grpSp>
      <p:sp>
        <p:nvSpPr>
          <p:cNvPr id="39" name="TextBox 38">
            <a:extLst>
              <a:ext uri="{FF2B5EF4-FFF2-40B4-BE49-F238E27FC236}">
                <a16:creationId xmlns:a16="http://schemas.microsoft.com/office/drawing/2014/main" xmlns="" id="{B5A4310E-1218-984E-989E-A2F8EB81C565}"/>
              </a:ext>
            </a:extLst>
          </p:cNvPr>
          <p:cNvSpPr txBox="1"/>
          <p:nvPr/>
        </p:nvSpPr>
        <p:spPr>
          <a:xfrm>
            <a:off x="5417249" y="3744574"/>
            <a:ext cx="686406" cy="307777"/>
          </a:xfrm>
          <a:prstGeom prst="rect">
            <a:avLst/>
          </a:prstGeom>
          <a:noFill/>
          <a:ln>
            <a:noFill/>
          </a:ln>
        </p:spPr>
        <p:txBody>
          <a:bodyPr wrap="none" rtlCol="0">
            <a:spAutoFit/>
          </a:bodyPr>
          <a:lstStyle/>
          <a:p>
            <a:r>
              <a:rPr lang="en-US" sz="1400" dirty="0">
                <a:solidFill>
                  <a:srgbClr val="FF0000"/>
                </a:solidFill>
                <a:latin typeface="Century Gothic" panose="020B0502020202020204" pitchFamily="34" charset="0"/>
              </a:rPr>
              <a:t>AFTER</a:t>
            </a:r>
          </a:p>
        </p:txBody>
      </p:sp>
      <p:sp>
        <p:nvSpPr>
          <p:cNvPr id="7" name="TextBox 6">
            <a:extLst>
              <a:ext uri="{FF2B5EF4-FFF2-40B4-BE49-F238E27FC236}">
                <a16:creationId xmlns:a16="http://schemas.microsoft.com/office/drawing/2014/main" xmlns="" id="{B935279C-8AC3-8349-857F-01A50581E1E6}"/>
              </a:ext>
            </a:extLst>
          </p:cNvPr>
          <p:cNvSpPr txBox="1"/>
          <p:nvPr/>
        </p:nvSpPr>
        <p:spPr>
          <a:xfrm>
            <a:off x="596559" y="5665472"/>
            <a:ext cx="8098692" cy="461665"/>
          </a:xfrm>
          <a:prstGeom prst="rect">
            <a:avLst/>
          </a:prstGeom>
          <a:noFill/>
        </p:spPr>
        <p:txBody>
          <a:bodyPr wrap="none" rtlCol="0">
            <a:spAutoFit/>
          </a:bodyPr>
          <a:lstStyle/>
          <a:p>
            <a:pPr algn="ctr">
              <a:spcAft>
                <a:spcPts val="600"/>
              </a:spcAft>
            </a:pPr>
            <a:r>
              <a:rPr lang="en-US" sz="2400" i="1" dirty="0">
                <a:solidFill>
                  <a:schemeClr val="bg2"/>
                </a:solidFill>
                <a:latin typeface="Century Gothic" panose="020B0502020202020204" pitchFamily="34" charset="0"/>
              </a:rPr>
              <a:t>The existing two links has partly explained the </a:t>
            </a:r>
            <a:r>
              <a:rPr lang="en-US" sz="2400" i="1" dirty="0">
                <a:solidFill>
                  <a:srgbClr val="FF0000"/>
                </a:solidFill>
                <a:latin typeface="Century Gothic" panose="020B0502020202020204" pitchFamily="34" charset="0"/>
              </a:rPr>
              <a:t>red </a:t>
            </a:r>
            <a:r>
              <a:rPr lang="en-US" sz="2400" i="1" dirty="0">
                <a:solidFill>
                  <a:schemeClr val="bg2"/>
                </a:solidFill>
                <a:latin typeface="Century Gothic" panose="020B0502020202020204" pitchFamily="34" charset="0"/>
              </a:rPr>
              <a:t>link.</a:t>
            </a:r>
          </a:p>
        </p:txBody>
      </p:sp>
      <p:sp>
        <p:nvSpPr>
          <p:cNvPr id="3" name="TextBox 2">
            <a:extLst>
              <a:ext uri="{FF2B5EF4-FFF2-40B4-BE49-F238E27FC236}">
                <a16:creationId xmlns:a16="http://schemas.microsoft.com/office/drawing/2014/main" xmlns="" id="{037F92EB-8447-424E-9A6B-8A1D98B6E1EE}"/>
              </a:ext>
            </a:extLst>
          </p:cNvPr>
          <p:cNvSpPr txBox="1"/>
          <p:nvPr/>
        </p:nvSpPr>
        <p:spPr>
          <a:xfrm>
            <a:off x="7405768" y="3899532"/>
            <a:ext cx="1265090" cy="923330"/>
          </a:xfrm>
          <a:prstGeom prst="rect">
            <a:avLst/>
          </a:prstGeom>
          <a:noFill/>
        </p:spPr>
        <p:txBody>
          <a:bodyPr wrap="none" rtlCol="0">
            <a:spAutoFit/>
          </a:bodyPr>
          <a:lstStyle/>
          <a:p>
            <a:r>
              <a:rPr lang="en-US" dirty="0">
                <a:solidFill>
                  <a:schemeClr val="bg2"/>
                </a:solidFill>
                <a:latin typeface="Century Gothic" panose="020B0502020202020204" pitchFamily="34" charset="0"/>
              </a:rPr>
              <a:t>BEFORE</a:t>
            </a:r>
          </a:p>
          <a:p>
            <a:r>
              <a:rPr lang="en-US" dirty="0">
                <a:solidFill>
                  <a:schemeClr val="bg2"/>
                </a:solidFill>
                <a:latin typeface="Century Gothic" panose="020B0502020202020204" pitchFamily="34" charset="0"/>
              </a:rPr>
              <a:t>INCLUDES</a:t>
            </a:r>
          </a:p>
          <a:p>
            <a:r>
              <a:rPr lang="en-US" dirty="0">
                <a:solidFill>
                  <a:schemeClr val="bg2"/>
                </a:solidFill>
                <a:latin typeface="Century Gothic" panose="020B0502020202020204" pitchFamily="34" charset="0"/>
              </a:rPr>
              <a:t>EQUAL</a:t>
            </a:r>
          </a:p>
        </p:txBody>
      </p:sp>
      <p:sp>
        <p:nvSpPr>
          <p:cNvPr id="4" name="Multiply 3">
            <a:extLst>
              <a:ext uri="{FF2B5EF4-FFF2-40B4-BE49-F238E27FC236}">
                <a16:creationId xmlns:a16="http://schemas.microsoft.com/office/drawing/2014/main" xmlns="" id="{95747F8A-7331-9B42-A8AA-2393B9A1FC7F}"/>
              </a:ext>
            </a:extLst>
          </p:cNvPr>
          <p:cNvSpPr/>
          <p:nvPr/>
        </p:nvSpPr>
        <p:spPr>
          <a:xfrm>
            <a:off x="6868683" y="3149427"/>
            <a:ext cx="1969999" cy="2359682"/>
          </a:xfrm>
          <a:prstGeom prst="mathMultiply">
            <a:avLst>
              <a:gd name="adj1" fmla="val 5756"/>
            </a:avLst>
          </a:prstGeom>
          <a:solidFill>
            <a:srgbClr val="FF0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xmlns="" id="{068D38B4-D63E-D745-A124-71358FA8565B}"/>
              </a:ext>
            </a:extLst>
          </p:cNvPr>
          <p:cNvGrpSpPr/>
          <p:nvPr/>
        </p:nvGrpSpPr>
        <p:grpSpPr>
          <a:xfrm>
            <a:off x="5151327" y="4077366"/>
            <a:ext cx="1218250" cy="378478"/>
            <a:chOff x="3761477" y="4110538"/>
            <a:chExt cx="1218250" cy="378478"/>
          </a:xfrm>
        </p:grpSpPr>
        <p:sp>
          <p:nvSpPr>
            <p:cNvPr id="52" name="Rounded Rectangle 51">
              <a:extLst>
                <a:ext uri="{FF2B5EF4-FFF2-40B4-BE49-F238E27FC236}">
                  <a16:creationId xmlns:a16="http://schemas.microsoft.com/office/drawing/2014/main" xmlns="" id="{88F5BA75-3757-6547-A0C3-B522CFEEBBDA}"/>
                </a:ext>
              </a:extLst>
            </p:cNvPr>
            <p:cNvSpPr/>
            <p:nvPr/>
          </p:nvSpPr>
          <p:spPr>
            <a:xfrm>
              <a:off x="3761477" y="4112361"/>
              <a:ext cx="1218250" cy="376655"/>
            </a:xfrm>
            <a:prstGeom prst="roundRect">
              <a:avLst>
                <a:gd name="adj" fmla="val 50000"/>
              </a:avLst>
            </a:prstGeom>
            <a:solidFill>
              <a:srgbClr val="6660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53" name="TextBox 52">
              <a:extLst>
                <a:ext uri="{FF2B5EF4-FFF2-40B4-BE49-F238E27FC236}">
                  <a16:creationId xmlns:a16="http://schemas.microsoft.com/office/drawing/2014/main" xmlns="" id="{01FFAE97-5181-3B4F-ABD3-F5C86F09C47E}"/>
                </a:ext>
              </a:extLst>
            </p:cNvPr>
            <p:cNvSpPr txBox="1"/>
            <p:nvPr/>
          </p:nvSpPr>
          <p:spPr>
            <a:xfrm>
              <a:off x="3882155" y="4110538"/>
              <a:ext cx="1097572" cy="369332"/>
            </a:xfrm>
            <a:prstGeom prst="rect">
              <a:avLst/>
            </a:prstGeom>
            <a:noFill/>
            <a:ln>
              <a:noFill/>
            </a:ln>
          </p:spPr>
          <p:txBody>
            <a:bodyPr wrap="square" rtlCol="0">
              <a:spAutoFit/>
            </a:bodyPr>
            <a:lstStyle/>
            <a:p>
              <a:r>
                <a:rPr lang="en-US" dirty="0">
                  <a:latin typeface="Century Gothic" panose="020B0502020202020204" pitchFamily="34" charset="0"/>
                  <a:ea typeface="Times New Roman" charset="0"/>
                  <a:cs typeface="Times New Roman" charset="0"/>
                </a:rPr>
                <a:t>monitor</a:t>
              </a:r>
            </a:p>
          </p:txBody>
        </p:sp>
      </p:grpSp>
      <p:sp>
        <p:nvSpPr>
          <p:cNvPr id="54" name="TextBox 53">
            <a:extLst>
              <a:ext uri="{FF2B5EF4-FFF2-40B4-BE49-F238E27FC236}">
                <a16:creationId xmlns:a16="http://schemas.microsoft.com/office/drawing/2014/main" xmlns="" id="{C8115BAD-1921-1C4C-A008-06176BA7E78A}"/>
              </a:ext>
            </a:extLst>
          </p:cNvPr>
          <p:cNvSpPr txBox="1"/>
          <p:nvPr/>
        </p:nvSpPr>
        <p:spPr>
          <a:xfrm>
            <a:off x="3594918" y="3744574"/>
            <a:ext cx="1354858" cy="307777"/>
          </a:xfrm>
          <a:prstGeom prst="rect">
            <a:avLst/>
          </a:prstGeom>
          <a:noFill/>
          <a:ln>
            <a:noFill/>
          </a:ln>
        </p:spPr>
        <p:txBody>
          <a:bodyPr wrap="none" rtlCol="0">
            <a:spAutoFit/>
          </a:bodyPr>
          <a:lstStyle/>
          <a:p>
            <a:r>
              <a:rPr lang="en-US" sz="1400" dirty="0">
                <a:solidFill>
                  <a:srgbClr val="FF0000"/>
                </a:solidFill>
                <a:latin typeface="Century Gothic" panose="020B0502020202020204" pitchFamily="34" charset="0"/>
              </a:rPr>
              <a:t>BE_INCLUDED</a:t>
            </a:r>
          </a:p>
        </p:txBody>
      </p:sp>
      <p:grpSp>
        <p:nvGrpSpPr>
          <p:cNvPr id="45" name="Group 44">
            <a:extLst>
              <a:ext uri="{FF2B5EF4-FFF2-40B4-BE49-F238E27FC236}">
                <a16:creationId xmlns:a16="http://schemas.microsoft.com/office/drawing/2014/main" xmlns="" id="{E9F66B4B-1C38-1C4D-99CD-8197BCA56565}"/>
              </a:ext>
            </a:extLst>
          </p:cNvPr>
          <p:cNvGrpSpPr/>
          <p:nvPr/>
        </p:nvGrpSpPr>
        <p:grpSpPr>
          <a:xfrm>
            <a:off x="877717" y="896235"/>
            <a:ext cx="4545074" cy="2336661"/>
            <a:chOff x="3312194" y="1491409"/>
            <a:chExt cx="6060098" cy="3115549"/>
          </a:xfrm>
        </p:grpSpPr>
        <p:grpSp>
          <p:nvGrpSpPr>
            <p:cNvPr id="46" name="Group 45">
              <a:extLst>
                <a:ext uri="{FF2B5EF4-FFF2-40B4-BE49-F238E27FC236}">
                  <a16:creationId xmlns:a16="http://schemas.microsoft.com/office/drawing/2014/main" xmlns="" id="{EDECB90A-6798-8F48-80F0-BAC575C07A83}"/>
                </a:ext>
              </a:extLst>
            </p:cNvPr>
            <p:cNvGrpSpPr/>
            <p:nvPr/>
          </p:nvGrpSpPr>
          <p:grpSpPr>
            <a:xfrm>
              <a:off x="3312194" y="1491409"/>
              <a:ext cx="6060098" cy="3115549"/>
              <a:chOff x="3312194" y="1491409"/>
              <a:chExt cx="6060098" cy="3115549"/>
            </a:xfrm>
          </p:grpSpPr>
          <p:grpSp>
            <p:nvGrpSpPr>
              <p:cNvPr id="48" name="Group 47">
                <a:extLst>
                  <a:ext uri="{FF2B5EF4-FFF2-40B4-BE49-F238E27FC236}">
                    <a16:creationId xmlns:a16="http://schemas.microsoft.com/office/drawing/2014/main" xmlns="" id="{8040B5AD-45EF-3641-8534-1F74BBE939C9}"/>
                  </a:ext>
                </a:extLst>
              </p:cNvPr>
              <p:cNvGrpSpPr/>
              <p:nvPr/>
            </p:nvGrpSpPr>
            <p:grpSpPr>
              <a:xfrm>
                <a:off x="3312194" y="1491409"/>
                <a:ext cx="6060098" cy="2542680"/>
                <a:chOff x="2974846" y="1491409"/>
                <a:chExt cx="6060098" cy="2542680"/>
              </a:xfrm>
            </p:grpSpPr>
            <p:sp>
              <p:nvSpPr>
                <p:cNvPr id="78" name="TextBox 77">
                  <a:extLst>
                    <a:ext uri="{FF2B5EF4-FFF2-40B4-BE49-F238E27FC236}">
                      <a16:creationId xmlns:a16="http://schemas.microsoft.com/office/drawing/2014/main" xmlns="" id="{48376529-78E1-EB4F-B1AF-3434C17F9210}"/>
                    </a:ext>
                  </a:extLst>
                </p:cNvPr>
                <p:cNvSpPr txBox="1"/>
                <p:nvPr/>
              </p:nvSpPr>
              <p:spPr>
                <a:xfrm>
                  <a:off x="4541994" y="3526258"/>
                  <a:ext cx="1475191" cy="507831"/>
                </a:xfrm>
                <a:prstGeom prst="rect">
                  <a:avLst/>
                </a:prstGeom>
                <a:noFill/>
                <a:ln>
                  <a:noFill/>
                </a:ln>
              </p:spPr>
              <p:txBody>
                <a:bodyPr wrap="none" rtlCol="0">
                  <a:spAutoFit/>
                </a:bodyPr>
                <a:lstStyle/>
                <a:p>
                  <a:r>
                    <a:rPr lang="en-US" altLang="zh-CN" sz="1875" b="1" dirty="0">
                      <a:solidFill>
                        <a:srgbClr val="C17A90"/>
                      </a:solidFill>
                      <a:latin typeface="Times New Roman" charset="0"/>
                      <a:ea typeface="Times New Roman" charset="0"/>
                      <a:cs typeface="Times New Roman" charset="0"/>
                    </a:rPr>
                    <a:t>cascaded</a:t>
                  </a:r>
                  <a:endParaRPr lang="en-US" sz="1875" b="1" dirty="0">
                    <a:solidFill>
                      <a:srgbClr val="C17A90"/>
                    </a:solidFill>
                    <a:latin typeface="Times New Roman" charset="0"/>
                    <a:ea typeface="Times New Roman" charset="0"/>
                    <a:cs typeface="Times New Roman" charset="0"/>
                  </a:endParaRPr>
                </a:p>
              </p:txBody>
            </p:sp>
            <p:sp>
              <p:nvSpPr>
                <p:cNvPr id="79" name="TextBox 78">
                  <a:extLst>
                    <a:ext uri="{FF2B5EF4-FFF2-40B4-BE49-F238E27FC236}">
                      <a16:creationId xmlns:a16="http://schemas.microsoft.com/office/drawing/2014/main" xmlns="" id="{AD24678D-5FA5-9D46-924E-EBDD4CD5FE8B}"/>
                    </a:ext>
                  </a:extLst>
                </p:cNvPr>
                <p:cNvSpPr txBox="1"/>
                <p:nvPr/>
              </p:nvSpPr>
              <p:spPr>
                <a:xfrm>
                  <a:off x="2974846" y="2496086"/>
                  <a:ext cx="851088" cy="507831"/>
                </a:xfrm>
                <a:prstGeom prst="rect">
                  <a:avLst/>
                </a:prstGeom>
                <a:noFill/>
                <a:ln>
                  <a:noFill/>
                </a:ln>
              </p:spPr>
              <p:txBody>
                <a:bodyPr wrap="none" rtlCol="0">
                  <a:spAutoFit/>
                </a:bodyPr>
                <a:lstStyle/>
                <a:p>
                  <a:r>
                    <a:rPr lang="en-US" sz="1875" b="1" dirty="0">
                      <a:solidFill>
                        <a:srgbClr val="C17A90">
                          <a:alpha val="50000"/>
                        </a:srgbClr>
                      </a:solidFill>
                      <a:latin typeface="Times New Roman" charset="0"/>
                      <a:cs typeface="Times New Roman" charset="0"/>
                    </a:rPr>
                    <a:t>hurt</a:t>
                  </a:r>
                </a:p>
              </p:txBody>
            </p:sp>
            <p:sp>
              <p:nvSpPr>
                <p:cNvPr id="80" name="TextBox 79">
                  <a:extLst>
                    <a:ext uri="{FF2B5EF4-FFF2-40B4-BE49-F238E27FC236}">
                      <a16:creationId xmlns:a16="http://schemas.microsoft.com/office/drawing/2014/main" xmlns="" id="{A46C0573-21CF-DD4A-9857-87738446E43B}"/>
                    </a:ext>
                  </a:extLst>
                </p:cNvPr>
                <p:cNvSpPr txBox="1"/>
                <p:nvPr/>
              </p:nvSpPr>
              <p:spPr>
                <a:xfrm>
                  <a:off x="4652426" y="1491409"/>
                  <a:ext cx="1261457" cy="507831"/>
                </a:xfrm>
                <a:prstGeom prst="rect">
                  <a:avLst/>
                </a:prstGeom>
                <a:noFill/>
                <a:ln>
                  <a:noFill/>
                </a:ln>
              </p:spPr>
              <p:txBody>
                <a:bodyPr wrap="none" rtlCol="0">
                  <a:spAutoFit/>
                </a:bodyPr>
                <a:lstStyle/>
                <a:p>
                  <a:r>
                    <a:rPr lang="en-US" sz="1875" b="1" dirty="0">
                      <a:solidFill>
                        <a:srgbClr val="C17A90"/>
                      </a:solidFill>
                      <a:latin typeface="Times New Roman" charset="0"/>
                      <a:cs typeface="Times New Roman" charset="0"/>
                    </a:rPr>
                    <a:t>ripping</a:t>
                  </a:r>
                </a:p>
              </p:txBody>
            </p:sp>
            <p:sp>
              <p:nvSpPr>
                <p:cNvPr id="81" name="TextBox 80">
                  <a:extLst>
                    <a:ext uri="{FF2B5EF4-FFF2-40B4-BE49-F238E27FC236}">
                      <a16:creationId xmlns:a16="http://schemas.microsoft.com/office/drawing/2014/main" xmlns="" id="{EEBC2CC5-57C2-7849-8EE1-0D2B8697B875}"/>
                    </a:ext>
                  </a:extLst>
                </p:cNvPr>
                <p:cNvSpPr txBox="1"/>
                <p:nvPr/>
              </p:nvSpPr>
              <p:spPr>
                <a:xfrm>
                  <a:off x="7683716" y="3518755"/>
                  <a:ext cx="1328313" cy="507831"/>
                </a:xfrm>
                <a:prstGeom prst="rect">
                  <a:avLst/>
                </a:prstGeom>
                <a:noFill/>
                <a:ln>
                  <a:noFill/>
                </a:ln>
              </p:spPr>
              <p:txBody>
                <a:bodyPr wrap="none" rtlCol="0">
                  <a:spAutoFit/>
                </a:bodyPr>
                <a:lstStyle/>
                <a:p>
                  <a:r>
                    <a:rPr lang="en-US" sz="1875" b="1" dirty="0">
                      <a:solidFill>
                        <a:srgbClr val="C17A90">
                          <a:alpha val="50000"/>
                        </a:srgbClr>
                      </a:solidFill>
                      <a:latin typeface="Times New Roman" charset="0"/>
                      <a:ea typeface="Times New Roman" charset="0"/>
                      <a:cs typeface="Times New Roman" charset="0"/>
                    </a:rPr>
                    <a:t>ordered</a:t>
                  </a:r>
                </a:p>
              </p:txBody>
            </p:sp>
            <p:cxnSp>
              <p:nvCxnSpPr>
                <p:cNvPr id="82" name="Straight Arrow Connector 81">
                  <a:extLst>
                    <a:ext uri="{FF2B5EF4-FFF2-40B4-BE49-F238E27FC236}">
                      <a16:creationId xmlns:a16="http://schemas.microsoft.com/office/drawing/2014/main" xmlns="" id="{0E4A40E2-6621-3F4D-96DF-D165C777F4EF}"/>
                    </a:ext>
                  </a:extLst>
                </p:cNvPr>
                <p:cNvCxnSpPr/>
                <p:nvPr/>
              </p:nvCxnSpPr>
              <p:spPr>
                <a:xfrm flipH="1">
                  <a:off x="5249080" y="2090343"/>
                  <a:ext cx="3832" cy="1345297"/>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xmlns="" id="{7F51D4DC-6FC0-F949-82F6-442B5E573250}"/>
                    </a:ext>
                  </a:extLst>
                </p:cNvPr>
                <p:cNvCxnSpPr/>
                <p:nvPr/>
              </p:nvCxnSpPr>
              <p:spPr>
                <a:xfrm flipH="1">
                  <a:off x="3624993" y="1745325"/>
                  <a:ext cx="1027433" cy="740620"/>
                </a:xfrm>
                <a:prstGeom prst="straightConnector1">
                  <a:avLst/>
                </a:prstGeom>
                <a:ln w="25400">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xmlns="" id="{F30EF415-264C-AC44-87D8-18EE54FBDABD}"/>
                    </a:ext>
                  </a:extLst>
                </p:cNvPr>
                <p:cNvCxnSpPr/>
                <p:nvPr/>
              </p:nvCxnSpPr>
              <p:spPr>
                <a:xfrm>
                  <a:off x="5507757" y="1984783"/>
                  <a:ext cx="2553980" cy="1517655"/>
                </a:xfrm>
                <a:prstGeom prst="straightConnector1">
                  <a:avLst/>
                </a:prstGeom>
                <a:ln w="25400" cmpd="sng">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xmlns="" id="{6728AE4C-A558-444A-9B0A-5E56544791FD}"/>
                    </a:ext>
                  </a:extLst>
                </p:cNvPr>
                <p:cNvCxnSpPr/>
                <p:nvPr/>
              </p:nvCxnSpPr>
              <p:spPr>
                <a:xfrm flipV="1">
                  <a:off x="6017185" y="3772671"/>
                  <a:ext cx="1666532" cy="7503"/>
                </a:xfrm>
                <a:prstGeom prst="straightConnector1">
                  <a:avLst/>
                </a:prstGeom>
                <a:ln w="25400">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xmlns="" id="{24971B8B-14B8-184C-9DAA-63E6B915E098}"/>
                    </a:ext>
                  </a:extLst>
                </p:cNvPr>
                <p:cNvCxnSpPr/>
                <p:nvPr/>
              </p:nvCxnSpPr>
              <p:spPr>
                <a:xfrm flipH="1" flipV="1">
                  <a:off x="3624993" y="2995636"/>
                  <a:ext cx="917001" cy="784537"/>
                </a:xfrm>
                <a:prstGeom prst="straightConnector1">
                  <a:avLst/>
                </a:prstGeom>
                <a:ln w="25400" cmpd="sng">
                  <a:solidFill>
                    <a:schemeClr val="bg2">
                      <a:alpha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xmlns="" id="{381A3128-A861-474F-8FE7-ED3A4DB414EA}"/>
                    </a:ext>
                  </a:extLst>
                </p:cNvPr>
                <p:cNvSpPr txBox="1"/>
                <p:nvPr/>
              </p:nvSpPr>
              <p:spPr>
                <a:xfrm>
                  <a:off x="7683717" y="1491662"/>
                  <a:ext cx="1351227" cy="507831"/>
                </a:xfrm>
                <a:prstGeom prst="rect">
                  <a:avLst/>
                </a:prstGeom>
                <a:noFill/>
                <a:ln>
                  <a:noFill/>
                </a:ln>
              </p:spPr>
              <p:txBody>
                <a:bodyPr wrap="none" rtlCol="0">
                  <a:spAutoFit/>
                </a:bodyPr>
                <a:lstStyle/>
                <a:p>
                  <a:r>
                    <a:rPr lang="en-US" sz="1875" b="1" dirty="0">
                      <a:solidFill>
                        <a:srgbClr val="C17A90"/>
                      </a:solidFill>
                      <a:latin typeface="Times New Roman" charset="0"/>
                      <a:ea typeface="Times New Roman" charset="0"/>
                      <a:cs typeface="Times New Roman" charset="0"/>
                    </a:rPr>
                    <a:t>monitor</a:t>
                  </a:r>
                </a:p>
              </p:txBody>
            </p:sp>
            <p:cxnSp>
              <p:nvCxnSpPr>
                <p:cNvPr id="88" name="Straight Connector 87">
                  <a:extLst>
                    <a:ext uri="{FF2B5EF4-FFF2-40B4-BE49-F238E27FC236}">
                      <a16:creationId xmlns:a16="http://schemas.microsoft.com/office/drawing/2014/main" xmlns="" id="{C302FE63-EE4F-CC4E-95C1-A1C40B5F5E20}"/>
                    </a:ext>
                  </a:extLst>
                </p:cNvPr>
                <p:cNvCxnSpPr/>
                <p:nvPr/>
              </p:nvCxnSpPr>
              <p:spPr>
                <a:xfrm flipH="1" flipV="1">
                  <a:off x="5913885" y="1745325"/>
                  <a:ext cx="1769832" cy="2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xmlns="" id="{264FE77D-D768-3342-A292-C8A6FE1330D9}"/>
                    </a:ext>
                  </a:extLst>
                </p:cNvPr>
                <p:cNvCxnSpPr/>
                <p:nvPr/>
              </p:nvCxnSpPr>
              <p:spPr>
                <a:xfrm flipH="1">
                  <a:off x="8316583" y="2090596"/>
                  <a:ext cx="12503" cy="1306282"/>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xmlns="" id="{895AE16B-24B2-E74C-A39D-BEDB0521ABCF}"/>
                    </a:ext>
                  </a:extLst>
                </p:cNvPr>
                <p:cNvCxnSpPr/>
                <p:nvPr/>
              </p:nvCxnSpPr>
              <p:spPr>
                <a:xfrm flipH="1">
                  <a:off x="5503925" y="2090596"/>
                  <a:ext cx="2825161" cy="1450604"/>
                </a:xfrm>
                <a:prstGeom prst="line">
                  <a:avLst/>
                </a:prstGeom>
                <a:ln w="34925">
                  <a:solidFill>
                    <a:schemeClr val="bg2">
                      <a:alpha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xmlns="" id="{AFF8A524-C8F1-584A-A888-2B659023AF05}"/>
                    </a:ext>
                  </a:extLst>
                </p:cNvPr>
                <p:cNvCxnSpPr/>
                <p:nvPr/>
              </p:nvCxnSpPr>
              <p:spPr>
                <a:xfrm flipH="1">
                  <a:off x="3730553" y="1985036"/>
                  <a:ext cx="4343687" cy="755755"/>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xmlns="" id="{523B3C13-81E5-0441-87CB-59BDD22611C5}"/>
                  </a:ext>
                </a:extLst>
              </p:cNvPr>
              <p:cNvGrpSpPr/>
              <p:nvPr/>
            </p:nvGrpSpPr>
            <p:grpSpPr>
              <a:xfrm>
                <a:off x="4851183" y="4268403"/>
                <a:ext cx="3254802" cy="338555"/>
                <a:chOff x="2403791" y="4308587"/>
                <a:chExt cx="3254802" cy="338555"/>
              </a:xfrm>
            </p:grpSpPr>
            <p:cxnSp>
              <p:nvCxnSpPr>
                <p:cNvPr id="50" name="Straight Arrow Connector 49">
                  <a:extLst>
                    <a:ext uri="{FF2B5EF4-FFF2-40B4-BE49-F238E27FC236}">
                      <a16:creationId xmlns:a16="http://schemas.microsoft.com/office/drawing/2014/main" xmlns="" id="{E7EC924D-5512-4346-89FD-CD9BEE53F924}"/>
                    </a:ext>
                  </a:extLst>
                </p:cNvPr>
                <p:cNvCxnSpPr/>
                <p:nvPr/>
              </p:nvCxnSpPr>
              <p:spPr>
                <a:xfrm flipV="1">
                  <a:off x="2403791" y="4459632"/>
                  <a:ext cx="457200" cy="5687"/>
                </a:xfrm>
                <a:prstGeom prst="straightConnector1">
                  <a:avLst/>
                </a:prstGeom>
                <a:ln w="6350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xmlns="" id="{22A8AD3E-C72F-8544-B2DE-F4DC4902CB40}"/>
                    </a:ext>
                  </a:extLst>
                </p:cNvPr>
                <p:cNvSpPr txBox="1"/>
                <p:nvPr/>
              </p:nvSpPr>
              <p:spPr>
                <a:xfrm>
                  <a:off x="2806030" y="4308587"/>
                  <a:ext cx="887422"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BEFORE</a:t>
                  </a:r>
                  <a:endParaRPr lang="en-US" b="1" dirty="0">
                    <a:solidFill>
                      <a:srgbClr val="666089"/>
                    </a:solidFill>
                    <a:latin typeface="Courier" charset="0"/>
                    <a:ea typeface="Courier" charset="0"/>
                    <a:cs typeface="Courier" charset="0"/>
                  </a:endParaRPr>
                </a:p>
              </p:txBody>
            </p:sp>
            <p:cxnSp>
              <p:nvCxnSpPr>
                <p:cNvPr id="56" name="Straight Arrow Connector 55">
                  <a:extLst>
                    <a:ext uri="{FF2B5EF4-FFF2-40B4-BE49-F238E27FC236}">
                      <a16:creationId xmlns:a16="http://schemas.microsoft.com/office/drawing/2014/main" xmlns="" id="{A8982A64-BCBE-8249-A3F3-674C813F78DE}"/>
                    </a:ext>
                  </a:extLst>
                </p:cNvPr>
                <p:cNvCxnSpPr/>
                <p:nvPr/>
              </p:nvCxnSpPr>
              <p:spPr>
                <a:xfrm flipV="1">
                  <a:off x="3834597" y="4459632"/>
                  <a:ext cx="457200" cy="0"/>
                </a:xfrm>
                <a:prstGeom prst="straightConnector1">
                  <a:avLst/>
                </a:prstGeom>
                <a:ln w="88900" cmpd="dbl">
                  <a:solidFill>
                    <a:schemeClr val="bg2"/>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xmlns="" id="{DC5ACF0B-1B7D-2241-A052-7F2DD003982A}"/>
                    </a:ext>
                  </a:extLst>
                </p:cNvPr>
                <p:cNvSpPr txBox="1"/>
                <p:nvPr/>
              </p:nvSpPr>
              <p:spPr>
                <a:xfrm>
                  <a:off x="4236836" y="4308587"/>
                  <a:ext cx="1421757"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BE_INCLUDED</a:t>
                  </a:r>
                  <a:endParaRPr lang="en-US" b="1" dirty="0">
                    <a:solidFill>
                      <a:srgbClr val="666089"/>
                    </a:solidFill>
                    <a:latin typeface="Courier" charset="0"/>
                    <a:ea typeface="Courier" charset="0"/>
                    <a:cs typeface="Courier" charset="0"/>
                  </a:endParaRPr>
                </a:p>
              </p:txBody>
            </p:sp>
          </p:grpSp>
        </p:grpSp>
        <p:cxnSp>
          <p:nvCxnSpPr>
            <p:cNvPr id="47" name="Straight Connector 46">
              <a:extLst>
                <a:ext uri="{FF2B5EF4-FFF2-40B4-BE49-F238E27FC236}">
                  <a16:creationId xmlns:a16="http://schemas.microsoft.com/office/drawing/2014/main" xmlns="" id="{01020D9A-00D6-7F4C-8EA5-917F3B791272}"/>
                </a:ext>
              </a:extLst>
            </p:cNvPr>
            <p:cNvCxnSpPr/>
            <p:nvPr/>
          </p:nvCxnSpPr>
          <p:spPr>
            <a:xfrm flipH="1" flipV="1">
              <a:off x="4102797" y="2734614"/>
              <a:ext cx="4203231" cy="899235"/>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92" name="Straight Connector 91">
            <a:extLst>
              <a:ext uri="{FF2B5EF4-FFF2-40B4-BE49-F238E27FC236}">
                <a16:creationId xmlns:a16="http://schemas.microsoft.com/office/drawing/2014/main" xmlns="" id="{895AE16B-24B2-E74C-A39D-BEDB0521ABCF}"/>
              </a:ext>
            </a:extLst>
          </p:cNvPr>
          <p:cNvCxnSpPr/>
          <p:nvPr/>
        </p:nvCxnSpPr>
        <p:spPr>
          <a:xfrm flipH="1">
            <a:off x="2783914" y="1341354"/>
            <a:ext cx="2118871" cy="1087952"/>
          </a:xfrm>
          <a:prstGeom prst="line">
            <a:avLst/>
          </a:prstGeom>
          <a:ln w="34925">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5655728" y="1567028"/>
            <a:ext cx="2932213" cy="523220"/>
          </a:xfrm>
          <a:prstGeom prst="rect">
            <a:avLst/>
          </a:prstGeom>
          <a:noFill/>
        </p:spPr>
        <p:txBody>
          <a:bodyPr wrap="none" rtlCol="0">
            <a:spAutoFit/>
          </a:bodyPr>
          <a:lstStyle/>
          <a:p>
            <a:r>
              <a:rPr lang="en-US" sz="2800">
                <a:solidFill>
                  <a:srgbClr val="C27990"/>
                </a:solidFill>
                <a:latin typeface="Century Gothic" charset="0"/>
                <a:ea typeface="Century Gothic" charset="0"/>
                <a:cs typeface="Century Gothic" charset="0"/>
              </a:rPr>
              <a:t>quality = 2 / 10?</a:t>
            </a:r>
            <a:endParaRPr lang="en-US" sz="2800" dirty="0">
              <a:solidFill>
                <a:srgbClr val="C27990"/>
              </a:solidFill>
              <a:latin typeface="Century Gothic" charset="0"/>
              <a:ea typeface="Century Gothic" charset="0"/>
              <a:cs typeface="Century Gothic" charset="0"/>
            </a:endParaRPr>
          </a:p>
        </p:txBody>
      </p:sp>
      <p:sp>
        <p:nvSpPr>
          <p:cNvPr id="94" name="TextBox 93"/>
          <p:cNvSpPr txBox="1"/>
          <p:nvPr/>
        </p:nvSpPr>
        <p:spPr>
          <a:xfrm>
            <a:off x="5655728" y="1568716"/>
            <a:ext cx="2826415" cy="523220"/>
          </a:xfrm>
          <a:prstGeom prst="rect">
            <a:avLst/>
          </a:prstGeom>
          <a:noFill/>
        </p:spPr>
        <p:txBody>
          <a:bodyPr wrap="none" rtlCol="0">
            <a:spAutoFit/>
          </a:bodyPr>
          <a:lstStyle/>
          <a:p>
            <a:r>
              <a:rPr lang="en-US" sz="2800" dirty="0">
                <a:solidFill>
                  <a:srgbClr val="C27990"/>
                </a:solidFill>
                <a:latin typeface="Century Gothic" charset="0"/>
                <a:ea typeface="Century Gothic" charset="0"/>
                <a:cs typeface="Century Gothic" charset="0"/>
              </a:rPr>
              <a:t>quality &gt; 2 / 10!</a:t>
            </a:r>
          </a:p>
        </p:txBody>
      </p:sp>
      <p:sp>
        <p:nvSpPr>
          <p:cNvPr id="95" name="TextBox 94"/>
          <p:cNvSpPr txBox="1"/>
          <p:nvPr/>
        </p:nvSpPr>
        <p:spPr>
          <a:xfrm>
            <a:off x="455747" y="230050"/>
            <a:ext cx="8493031" cy="523220"/>
          </a:xfrm>
          <a:prstGeom prst="rect">
            <a:avLst/>
          </a:prstGeom>
          <a:noFill/>
        </p:spPr>
        <p:txBody>
          <a:bodyPr wrap="none" rtlCol="0">
            <a:spAutoFit/>
          </a:bodyPr>
          <a:lstStyle/>
          <a:p>
            <a:pPr lvl="0">
              <a:spcBef>
                <a:spcPct val="20000"/>
              </a:spcBef>
              <a:buClr>
                <a:srgbClr val="545164"/>
              </a:buClr>
              <a:buSzPct val="65000"/>
            </a:pPr>
            <a:r>
              <a:rPr lang="en-US" sz="2800">
                <a:solidFill>
                  <a:schemeClr val="bg2"/>
                </a:solidFill>
                <a:latin typeface="Century Gothic" panose="020B0502020202020204" pitchFamily="34" charset="0"/>
                <a:cs typeface="Calibri" panose="020F0502020204030204" pitchFamily="34" charset="0"/>
              </a:rPr>
              <a:t>How should we </a:t>
            </a:r>
            <a:r>
              <a:rPr lang="en-US" sz="2800" b="1">
                <a:solidFill>
                  <a:schemeClr val="bg2"/>
                </a:solidFill>
                <a:latin typeface="Century Gothic" panose="020B0502020202020204" pitchFamily="34" charset="0"/>
                <a:cs typeface="Calibri" panose="020F0502020204030204" pitchFamily="34" charset="0"/>
              </a:rPr>
              <a:t>quantify</a:t>
            </a:r>
            <a:r>
              <a:rPr lang="en-US" sz="2800">
                <a:solidFill>
                  <a:schemeClr val="bg2"/>
                </a:solidFill>
                <a:latin typeface="Century Gothic" panose="020B0502020202020204" pitchFamily="34" charset="0"/>
                <a:cs typeface="Calibri" panose="020F0502020204030204" pitchFamily="34" charset="0"/>
              </a:rPr>
              <a:t> the quality of “partial”?</a:t>
            </a:r>
            <a:endParaRPr lang="en-US" sz="2400">
              <a:solidFill>
                <a:schemeClr val="bg2"/>
              </a:solidFill>
              <a:latin typeface="Century Gothic" panose="020B0502020202020204" pitchFamily="34" charset="0"/>
              <a:cs typeface="Calibri" panose="020F0502020204030204" pitchFamily="34" charset="0"/>
            </a:endParaRPr>
          </a:p>
        </p:txBody>
      </p:sp>
    </p:spTree>
    <p:extLst>
      <p:ext uri="{BB962C8B-B14F-4D97-AF65-F5344CB8AC3E}">
        <p14:creationId xmlns:p14="http://schemas.microsoft.com/office/powerpoint/2010/main" val="79827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 calcmode="lin" valueType="num">
                                      <p:cBhvr>
                                        <p:cTn id="7" dur="1000" fill="hold"/>
                                        <p:tgtEl>
                                          <p:spTgt spid="92"/>
                                        </p:tgtEl>
                                        <p:attrNameLst>
                                          <p:attrName>ppt_w</p:attrName>
                                        </p:attrNameLst>
                                      </p:cBhvr>
                                      <p:tavLst>
                                        <p:tav tm="0">
                                          <p:val>
                                            <p:fltVal val="0"/>
                                          </p:val>
                                        </p:tav>
                                        <p:tav tm="100000">
                                          <p:val>
                                            <p:strVal val="#ppt_w"/>
                                          </p:val>
                                        </p:tav>
                                      </p:tavLst>
                                    </p:anim>
                                    <p:anim calcmode="lin" valueType="num">
                                      <p:cBhvr>
                                        <p:cTn id="8" dur="1000" fill="hold"/>
                                        <p:tgtEl>
                                          <p:spTgt spid="92"/>
                                        </p:tgtEl>
                                        <p:attrNameLst>
                                          <p:attrName>ppt_h</p:attrName>
                                        </p:attrNameLst>
                                      </p:cBhvr>
                                      <p:tavLst>
                                        <p:tav tm="0">
                                          <p:val>
                                            <p:fltVal val="0"/>
                                          </p:val>
                                        </p:tav>
                                        <p:tav tm="100000">
                                          <p:val>
                                            <p:strVal val="#ppt_h"/>
                                          </p:val>
                                        </p:tav>
                                      </p:tavLst>
                                    </p:anim>
                                    <p:anim calcmode="lin" valueType="num">
                                      <p:cBhvr>
                                        <p:cTn id="9" dur="1000" fill="hold"/>
                                        <p:tgtEl>
                                          <p:spTgt spid="92"/>
                                        </p:tgtEl>
                                        <p:attrNameLst>
                                          <p:attrName>style.rotation</p:attrName>
                                        </p:attrNameLst>
                                      </p:cBhvr>
                                      <p:tavLst>
                                        <p:tav tm="0">
                                          <p:val>
                                            <p:fltVal val="90"/>
                                          </p:val>
                                        </p:tav>
                                        <p:tav tm="100000">
                                          <p:val>
                                            <p:fltVal val="0"/>
                                          </p:val>
                                        </p:tav>
                                      </p:tavLst>
                                    </p:anim>
                                    <p:animEffect transition="in" filter="fade">
                                      <p:cBhvr>
                                        <p:cTn id="10" dur="1000"/>
                                        <p:tgtEl>
                                          <p:spTgt spid="9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dissolve">
                                      <p:cBhvr>
                                        <p:cTn id="15" dur="500"/>
                                        <p:tgtEl>
                                          <p:spTgt spid="3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dissolve">
                                      <p:cBhvr>
                                        <p:cTn id="20" dur="500"/>
                                        <p:tgtEl>
                                          <p:spTgt spid="38"/>
                                        </p:tgtEl>
                                      </p:cBhvr>
                                    </p:animEffect>
                                  </p:childTnLst>
                                </p:cTn>
                              </p:par>
                              <p:par>
                                <p:cTn id="21" presetID="9" presetClass="entr" presetSubtype="0" fill="hold" nodeType="with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dissolve">
                                      <p:cBhvr>
                                        <p:cTn id="23" dur="500"/>
                                        <p:tgtEl>
                                          <p:spTgt spid="51"/>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54"/>
                                        </p:tgtEl>
                                        <p:attrNameLst>
                                          <p:attrName>style.visibility</p:attrName>
                                        </p:attrNameLst>
                                      </p:cBhvr>
                                      <p:to>
                                        <p:strVal val="visible"/>
                                      </p:to>
                                    </p:set>
                                    <p:animEffect transition="in" filter="dissolve">
                                      <p:cBhvr>
                                        <p:cTn id="28" dur="500"/>
                                        <p:tgtEl>
                                          <p:spTgt spid="54"/>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dissolve">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checkerboard(across)">
                                      <p:cBhvr>
                                        <p:cTn id="36" dur="500"/>
                                        <p:tgtEl>
                                          <p:spTgt spid="3"/>
                                        </p:tgtEl>
                                      </p:cBhvr>
                                    </p:animEffect>
                                  </p:childTnLst>
                                </p:cTn>
                              </p:par>
                            </p:childTnLst>
                          </p:cTn>
                        </p:par>
                        <p:par>
                          <p:cTn id="37" fill="hold">
                            <p:stCondLst>
                              <p:cond delay="500"/>
                            </p:stCondLst>
                            <p:childTnLst>
                              <p:par>
                                <p:cTn id="38" presetID="2" presetClass="entr" presetSubtype="4" fill="hold" grpId="0" nodeType="after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additive="base">
                                        <p:cTn id="40" dur="500" fill="hold"/>
                                        <p:tgtEl>
                                          <p:spTgt spid="4"/>
                                        </p:tgtEl>
                                        <p:attrNameLst>
                                          <p:attrName>ppt_x</p:attrName>
                                        </p:attrNameLst>
                                      </p:cBhvr>
                                      <p:tavLst>
                                        <p:tav tm="0">
                                          <p:val>
                                            <p:strVal val="#ppt_x"/>
                                          </p:val>
                                        </p:tav>
                                        <p:tav tm="100000">
                                          <p:val>
                                            <p:strVal val="#ppt_x"/>
                                          </p:val>
                                        </p:tav>
                                      </p:tavLst>
                                    </p:anim>
                                    <p:anim calcmode="lin" valueType="num">
                                      <p:cBhvr additive="base">
                                        <p:cTn id="4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
                                            <p:txEl>
                                              <p:pRg st="0" end="0"/>
                                            </p:txEl>
                                          </p:spTgt>
                                        </p:tgtEl>
                                        <p:attrNameLst>
                                          <p:attrName>style.visibility</p:attrName>
                                        </p:attrNameLst>
                                      </p:cBhvr>
                                      <p:to>
                                        <p:strVal val="visible"/>
                                      </p:to>
                                    </p:set>
                                    <p:animEffect transition="in" filter="wipe(left)">
                                      <p:cBhvr>
                                        <p:cTn id="46" dur="500"/>
                                        <p:tgtEl>
                                          <p:spTgt spid="7">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xit" presetSubtype="0" fill="hold" grpId="0" nodeType="clickEffect">
                                  <p:stCondLst>
                                    <p:cond delay="0"/>
                                  </p:stCondLst>
                                  <p:childTnLst>
                                    <p:animEffect transition="out" filter="fade">
                                      <p:cBhvr>
                                        <p:cTn id="50" dur="1000"/>
                                        <p:tgtEl>
                                          <p:spTgt spid="93"/>
                                        </p:tgtEl>
                                      </p:cBhvr>
                                    </p:animEffect>
                                    <p:anim calcmode="lin" valueType="num">
                                      <p:cBhvr>
                                        <p:cTn id="51" dur="1000"/>
                                        <p:tgtEl>
                                          <p:spTgt spid="93"/>
                                        </p:tgtEl>
                                        <p:attrNameLst>
                                          <p:attrName>ppt_x</p:attrName>
                                        </p:attrNameLst>
                                      </p:cBhvr>
                                      <p:tavLst>
                                        <p:tav tm="0">
                                          <p:val>
                                            <p:strVal val="ppt_x"/>
                                          </p:val>
                                        </p:tav>
                                        <p:tav tm="100000">
                                          <p:val>
                                            <p:strVal val="ppt_x"/>
                                          </p:val>
                                        </p:tav>
                                      </p:tavLst>
                                    </p:anim>
                                    <p:anim calcmode="lin" valueType="num">
                                      <p:cBhvr>
                                        <p:cTn id="52" dur="1000"/>
                                        <p:tgtEl>
                                          <p:spTgt spid="93"/>
                                        </p:tgtEl>
                                        <p:attrNameLst>
                                          <p:attrName>ppt_y</p:attrName>
                                        </p:attrNameLst>
                                      </p:cBhvr>
                                      <p:tavLst>
                                        <p:tav tm="0">
                                          <p:val>
                                            <p:strVal val="ppt_y"/>
                                          </p:val>
                                        </p:tav>
                                        <p:tav tm="100000">
                                          <p:val>
                                            <p:strVal val="ppt_y+.1"/>
                                          </p:val>
                                        </p:tav>
                                      </p:tavLst>
                                    </p:anim>
                                    <p:set>
                                      <p:cBhvr>
                                        <p:cTn id="53" dur="1" fill="hold">
                                          <p:stCondLst>
                                            <p:cond delay="999"/>
                                          </p:stCondLst>
                                        </p:cTn>
                                        <p:tgtEl>
                                          <p:spTgt spid="93"/>
                                        </p:tgtEl>
                                        <p:attrNameLst>
                                          <p:attrName>style.visibility</p:attrName>
                                        </p:attrNameLst>
                                      </p:cBhvr>
                                      <p:to>
                                        <p:strVal val="hidden"/>
                                      </p:to>
                                    </p:set>
                                  </p:childTnLst>
                                </p:cTn>
                              </p:par>
                              <p:par>
                                <p:cTn id="54" presetID="42" presetClass="entr" presetSubtype="0" fill="hold" grpId="0" nodeType="withEffect">
                                  <p:stCondLst>
                                    <p:cond delay="0"/>
                                  </p:stCondLst>
                                  <p:childTnLst>
                                    <p:set>
                                      <p:cBhvr>
                                        <p:cTn id="55" dur="1" fill="hold">
                                          <p:stCondLst>
                                            <p:cond delay="0"/>
                                          </p:stCondLst>
                                        </p:cTn>
                                        <p:tgtEl>
                                          <p:spTgt spid="94"/>
                                        </p:tgtEl>
                                        <p:attrNameLst>
                                          <p:attrName>style.visibility</p:attrName>
                                        </p:attrNameLst>
                                      </p:cBhvr>
                                      <p:to>
                                        <p:strVal val="visible"/>
                                      </p:to>
                                    </p:set>
                                    <p:animEffect transition="in" filter="fade">
                                      <p:cBhvr>
                                        <p:cTn id="56" dur="1000"/>
                                        <p:tgtEl>
                                          <p:spTgt spid="94"/>
                                        </p:tgtEl>
                                      </p:cBhvr>
                                    </p:animEffect>
                                    <p:anim calcmode="lin" valueType="num">
                                      <p:cBhvr>
                                        <p:cTn id="57" dur="1000" fill="hold"/>
                                        <p:tgtEl>
                                          <p:spTgt spid="94"/>
                                        </p:tgtEl>
                                        <p:attrNameLst>
                                          <p:attrName>ppt_x</p:attrName>
                                        </p:attrNameLst>
                                      </p:cBhvr>
                                      <p:tavLst>
                                        <p:tav tm="0">
                                          <p:val>
                                            <p:strVal val="#ppt_x"/>
                                          </p:val>
                                        </p:tav>
                                        <p:tav tm="100000">
                                          <p:val>
                                            <p:strVal val="#ppt_x"/>
                                          </p:val>
                                        </p:tav>
                                      </p:tavLst>
                                    </p:anim>
                                    <p:anim calcmode="lin" valueType="num">
                                      <p:cBhvr>
                                        <p:cTn id="58" dur="1000" fill="hold"/>
                                        <p:tgtEl>
                                          <p:spTgt spid="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7" grpId="0" uiExpand="1" build="p"/>
      <p:bldP spid="3" grpId="0"/>
      <p:bldP spid="4" grpId="0" animBg="1"/>
      <p:bldP spid="54" grpId="0"/>
      <p:bldP spid="93" grpId="0"/>
      <p:bldP spid="9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Silver lining of “partial”</a:t>
            </a:r>
          </a:p>
        </p:txBody>
      </p:sp>
      <p:grpSp>
        <p:nvGrpSpPr>
          <p:cNvPr id="38" name="Group 37"/>
          <p:cNvGrpSpPr/>
          <p:nvPr/>
        </p:nvGrpSpPr>
        <p:grpSpPr>
          <a:xfrm>
            <a:off x="3646618" y="4077366"/>
            <a:ext cx="1218250" cy="378478"/>
            <a:chOff x="3761477" y="4110538"/>
            <a:chExt cx="1218250" cy="378478"/>
          </a:xfrm>
        </p:grpSpPr>
        <p:sp>
          <p:nvSpPr>
            <p:cNvPr id="15" name="Rounded Rectangle 14">
              <a:extLst>
                <a:ext uri="{FF2B5EF4-FFF2-40B4-BE49-F238E27FC236}">
                  <a16:creationId xmlns:a16="http://schemas.microsoft.com/office/drawing/2014/main" xmlns="" id="{6D42E12D-9BC5-C24A-B8B5-20FFD3C21D2A}"/>
                </a:ext>
              </a:extLst>
            </p:cNvPr>
            <p:cNvSpPr/>
            <p:nvPr/>
          </p:nvSpPr>
          <p:spPr>
            <a:xfrm>
              <a:off x="3761477" y="4112361"/>
              <a:ext cx="1218250" cy="376655"/>
            </a:xfrm>
            <a:prstGeom prst="roundRect">
              <a:avLst>
                <a:gd name="adj" fmla="val 50000"/>
              </a:avLst>
            </a:prstGeom>
            <a:solidFill>
              <a:srgbClr val="6660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16" name="TextBox 15">
              <a:extLst>
                <a:ext uri="{FF2B5EF4-FFF2-40B4-BE49-F238E27FC236}">
                  <a16:creationId xmlns:a16="http://schemas.microsoft.com/office/drawing/2014/main" xmlns="" id="{81CEE728-6FC1-804D-A4B5-97737DED2809}"/>
                </a:ext>
              </a:extLst>
            </p:cNvPr>
            <p:cNvSpPr txBox="1"/>
            <p:nvPr/>
          </p:nvSpPr>
          <p:spPr>
            <a:xfrm>
              <a:off x="3882155" y="4110538"/>
              <a:ext cx="1097572" cy="369332"/>
            </a:xfrm>
            <a:prstGeom prst="rect">
              <a:avLst/>
            </a:prstGeom>
            <a:noFill/>
            <a:ln>
              <a:noFill/>
            </a:ln>
          </p:spPr>
          <p:txBody>
            <a:bodyPr wrap="square" rtlCol="0">
              <a:spAutoFit/>
            </a:bodyPr>
            <a:lstStyle/>
            <a:p>
              <a:r>
                <a:rPr lang="en-US" dirty="0">
                  <a:latin typeface="Century Gothic" panose="020B0502020202020204" pitchFamily="34" charset="0"/>
                  <a:ea typeface="Times New Roman" charset="0"/>
                  <a:cs typeface="Times New Roman" charset="0"/>
                </a:rPr>
                <a:t>monitor</a:t>
              </a:r>
            </a:p>
          </p:txBody>
        </p:sp>
      </p:grpSp>
      <p:grpSp>
        <p:nvGrpSpPr>
          <p:cNvPr id="36" name="Group 35"/>
          <p:cNvGrpSpPr/>
          <p:nvPr/>
        </p:nvGrpSpPr>
        <p:grpSpPr>
          <a:xfrm>
            <a:off x="1843337" y="4057590"/>
            <a:ext cx="5282328" cy="1436529"/>
            <a:chOff x="1883443" y="4224578"/>
            <a:chExt cx="5282328" cy="1436529"/>
          </a:xfrm>
        </p:grpSpPr>
        <p:sp>
          <p:nvSpPr>
            <p:cNvPr id="17" name="Rounded Rectangle 16">
              <a:extLst>
                <a:ext uri="{FF2B5EF4-FFF2-40B4-BE49-F238E27FC236}">
                  <a16:creationId xmlns:a16="http://schemas.microsoft.com/office/drawing/2014/main" xmlns="" id="{81D05AEC-6B85-114C-BC80-1E607C22BFFF}"/>
                </a:ext>
              </a:extLst>
            </p:cNvPr>
            <p:cNvSpPr/>
            <p:nvPr/>
          </p:nvSpPr>
          <p:spPr>
            <a:xfrm>
              <a:off x="2247737" y="4241186"/>
              <a:ext cx="1188417" cy="376655"/>
            </a:xfrm>
            <a:prstGeom prst="roundRect">
              <a:avLst>
                <a:gd name="adj" fmla="val 50000"/>
              </a:avLst>
            </a:prstGeom>
            <a:solidFill>
              <a:srgbClr val="95A28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18" name="TextBox 17">
              <a:extLst>
                <a:ext uri="{FF2B5EF4-FFF2-40B4-BE49-F238E27FC236}">
                  <a16:creationId xmlns:a16="http://schemas.microsoft.com/office/drawing/2014/main" xmlns="" id="{5B39CEF9-B375-6640-896B-A9016FD0B456}"/>
                </a:ext>
              </a:extLst>
            </p:cNvPr>
            <p:cNvSpPr txBox="1"/>
            <p:nvPr/>
          </p:nvSpPr>
          <p:spPr>
            <a:xfrm>
              <a:off x="2336838" y="4224578"/>
              <a:ext cx="1099018" cy="369332"/>
            </a:xfrm>
            <a:prstGeom prst="rect">
              <a:avLst/>
            </a:prstGeom>
            <a:noFill/>
            <a:ln>
              <a:noFill/>
            </a:ln>
          </p:spPr>
          <p:txBody>
            <a:bodyPr wrap="square" rtlCol="0">
              <a:spAutoFit/>
            </a:bodyPr>
            <a:lstStyle/>
            <a:p>
              <a:r>
                <a:rPr lang="en-US" dirty="0">
                  <a:latin typeface="Century Gothic" panose="020B0502020202020204" pitchFamily="34" charset="0"/>
                  <a:ea typeface="Times New Roman" charset="0"/>
                  <a:cs typeface="Times New Roman" charset="0"/>
                </a:rPr>
                <a:t>ripping</a:t>
              </a:r>
            </a:p>
          </p:txBody>
        </p:sp>
        <p:sp>
          <p:nvSpPr>
            <p:cNvPr id="21" name="Rounded Rectangle 20">
              <a:extLst>
                <a:ext uri="{FF2B5EF4-FFF2-40B4-BE49-F238E27FC236}">
                  <a16:creationId xmlns:a16="http://schemas.microsoft.com/office/drawing/2014/main" xmlns="" id="{2727E4D9-6B17-AE45-943C-6636DD668254}"/>
                </a:ext>
              </a:extLst>
            </p:cNvPr>
            <p:cNvSpPr/>
            <p:nvPr/>
          </p:nvSpPr>
          <p:spPr>
            <a:xfrm>
              <a:off x="2150687" y="4731017"/>
              <a:ext cx="3017523" cy="376655"/>
            </a:xfrm>
            <a:prstGeom prst="roundRect">
              <a:avLst>
                <a:gd name="adj" fmla="val 50000"/>
              </a:avLst>
            </a:prstGeom>
            <a:solidFill>
              <a:srgbClr val="C17A9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22" name="TextBox 21">
              <a:extLst>
                <a:ext uri="{FF2B5EF4-FFF2-40B4-BE49-F238E27FC236}">
                  <a16:creationId xmlns:a16="http://schemas.microsoft.com/office/drawing/2014/main" xmlns="" id="{6E560D01-34F5-3F4E-9B34-441586CC3FEF}"/>
                </a:ext>
              </a:extLst>
            </p:cNvPr>
            <p:cNvSpPr txBox="1"/>
            <p:nvPr/>
          </p:nvSpPr>
          <p:spPr>
            <a:xfrm>
              <a:off x="2940991" y="4722489"/>
              <a:ext cx="1354858" cy="369332"/>
            </a:xfrm>
            <a:prstGeom prst="rect">
              <a:avLst/>
            </a:prstGeom>
            <a:noFill/>
            <a:ln>
              <a:noFill/>
            </a:ln>
          </p:spPr>
          <p:txBody>
            <a:bodyPr wrap="none" rtlCol="0">
              <a:spAutoFit/>
            </a:bodyPr>
            <a:lstStyle/>
            <a:p>
              <a:r>
                <a:rPr lang="en-US" dirty="0">
                  <a:latin typeface="Century Gothic" panose="020B0502020202020204" pitchFamily="34" charset="0"/>
                  <a:ea typeface="Times New Roman" charset="0"/>
                  <a:cs typeface="Times New Roman" charset="0"/>
                </a:rPr>
                <a:t>cascaded</a:t>
              </a:r>
            </a:p>
          </p:txBody>
        </p:sp>
        <p:cxnSp>
          <p:nvCxnSpPr>
            <p:cNvPr id="23" name="Straight Arrow Connector 22">
              <a:extLst>
                <a:ext uri="{FF2B5EF4-FFF2-40B4-BE49-F238E27FC236}">
                  <a16:creationId xmlns:a16="http://schemas.microsoft.com/office/drawing/2014/main" xmlns="" id="{3DA8FC01-BB24-0940-9EC6-43421E5128A1}"/>
                </a:ext>
              </a:extLst>
            </p:cNvPr>
            <p:cNvCxnSpPr>
              <a:cxnSpLocks/>
            </p:cNvCxnSpPr>
            <p:nvPr/>
          </p:nvCxnSpPr>
          <p:spPr>
            <a:xfrm>
              <a:off x="1883443" y="5198849"/>
              <a:ext cx="5082834" cy="0"/>
            </a:xfrm>
            <a:prstGeom prst="straightConnector1">
              <a:avLst/>
            </a:prstGeom>
            <a:ln w="3175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xmlns="" id="{D23433C5-B1AE-CA4A-BEA3-A63039CE9EB4}"/>
                </a:ext>
              </a:extLst>
            </p:cNvPr>
            <p:cNvSpPr txBox="1"/>
            <p:nvPr/>
          </p:nvSpPr>
          <p:spPr>
            <a:xfrm>
              <a:off x="6413642" y="5260997"/>
              <a:ext cx="752129" cy="400110"/>
            </a:xfrm>
            <a:prstGeom prst="rect">
              <a:avLst/>
            </a:prstGeom>
            <a:noFill/>
            <a:ln>
              <a:noFill/>
            </a:ln>
          </p:spPr>
          <p:txBody>
            <a:bodyPr wrap="none" rtlCol="0">
              <a:spAutoFit/>
            </a:bodyPr>
            <a:lstStyle/>
            <a:p>
              <a:r>
                <a:rPr lang="en-US" sz="2000" dirty="0">
                  <a:solidFill>
                    <a:schemeClr val="bg2"/>
                  </a:solidFill>
                  <a:latin typeface="Century Gothic" panose="020B0502020202020204" pitchFamily="34" charset="0"/>
                  <a:ea typeface="Times New Roman" charset="0"/>
                  <a:cs typeface="Times New Roman" charset="0"/>
                </a:rPr>
                <a:t>Time</a:t>
              </a:r>
            </a:p>
          </p:txBody>
        </p:sp>
      </p:grpSp>
      <p:sp>
        <p:nvSpPr>
          <p:cNvPr id="39" name="TextBox 38">
            <a:extLst>
              <a:ext uri="{FF2B5EF4-FFF2-40B4-BE49-F238E27FC236}">
                <a16:creationId xmlns:a16="http://schemas.microsoft.com/office/drawing/2014/main" xmlns="" id="{B5A4310E-1218-984E-989E-A2F8EB81C565}"/>
              </a:ext>
            </a:extLst>
          </p:cNvPr>
          <p:cNvSpPr txBox="1"/>
          <p:nvPr/>
        </p:nvSpPr>
        <p:spPr>
          <a:xfrm>
            <a:off x="5417249" y="3744574"/>
            <a:ext cx="686406" cy="307777"/>
          </a:xfrm>
          <a:prstGeom prst="rect">
            <a:avLst/>
          </a:prstGeom>
          <a:noFill/>
          <a:ln>
            <a:noFill/>
          </a:ln>
        </p:spPr>
        <p:txBody>
          <a:bodyPr wrap="none" rtlCol="0">
            <a:spAutoFit/>
          </a:bodyPr>
          <a:lstStyle/>
          <a:p>
            <a:r>
              <a:rPr lang="en-US" sz="1400" dirty="0">
                <a:solidFill>
                  <a:srgbClr val="FF0000"/>
                </a:solidFill>
                <a:latin typeface="Century Gothic" panose="020B0502020202020204" pitchFamily="34" charset="0"/>
              </a:rPr>
              <a:t>AFTER</a:t>
            </a:r>
          </a:p>
        </p:txBody>
      </p:sp>
      <p:sp>
        <p:nvSpPr>
          <p:cNvPr id="7" name="TextBox 6">
            <a:extLst>
              <a:ext uri="{FF2B5EF4-FFF2-40B4-BE49-F238E27FC236}">
                <a16:creationId xmlns:a16="http://schemas.microsoft.com/office/drawing/2014/main" xmlns="" id="{B935279C-8AC3-8349-857F-01A50581E1E6}"/>
              </a:ext>
            </a:extLst>
          </p:cNvPr>
          <p:cNvSpPr txBox="1"/>
          <p:nvPr/>
        </p:nvSpPr>
        <p:spPr>
          <a:xfrm>
            <a:off x="644650" y="5665472"/>
            <a:ext cx="8002512" cy="523220"/>
          </a:xfrm>
          <a:prstGeom prst="rect">
            <a:avLst/>
          </a:prstGeom>
          <a:noFill/>
        </p:spPr>
        <p:txBody>
          <a:bodyPr wrap="none" rtlCol="0">
            <a:spAutoFit/>
          </a:bodyPr>
          <a:lstStyle/>
          <a:p>
            <a:pPr algn="ctr">
              <a:spcAft>
                <a:spcPts val="600"/>
              </a:spcAft>
            </a:pPr>
            <a:r>
              <a:rPr lang="en-US" sz="2800" i="1" dirty="0">
                <a:solidFill>
                  <a:schemeClr val="bg2"/>
                </a:solidFill>
                <a:latin typeface="Century Gothic" panose="020B0502020202020204" pitchFamily="34" charset="0"/>
              </a:rPr>
              <a:t>So, is “partial” even better than “complete”?</a:t>
            </a:r>
          </a:p>
        </p:txBody>
      </p:sp>
      <p:sp>
        <p:nvSpPr>
          <p:cNvPr id="3" name="TextBox 2">
            <a:extLst>
              <a:ext uri="{FF2B5EF4-FFF2-40B4-BE49-F238E27FC236}">
                <a16:creationId xmlns:a16="http://schemas.microsoft.com/office/drawing/2014/main" xmlns="" id="{037F92EB-8447-424E-9A6B-8A1D98B6E1EE}"/>
              </a:ext>
            </a:extLst>
          </p:cNvPr>
          <p:cNvSpPr txBox="1"/>
          <p:nvPr/>
        </p:nvSpPr>
        <p:spPr>
          <a:xfrm>
            <a:off x="7405768" y="3899532"/>
            <a:ext cx="1265090" cy="923330"/>
          </a:xfrm>
          <a:prstGeom prst="rect">
            <a:avLst/>
          </a:prstGeom>
          <a:noFill/>
        </p:spPr>
        <p:txBody>
          <a:bodyPr wrap="none" rtlCol="0">
            <a:spAutoFit/>
          </a:bodyPr>
          <a:lstStyle/>
          <a:p>
            <a:r>
              <a:rPr lang="en-US" dirty="0">
                <a:solidFill>
                  <a:schemeClr val="bg2"/>
                </a:solidFill>
                <a:latin typeface="Century Gothic" panose="020B0502020202020204" pitchFamily="34" charset="0"/>
              </a:rPr>
              <a:t>BEFORE</a:t>
            </a:r>
          </a:p>
          <a:p>
            <a:r>
              <a:rPr lang="en-US" dirty="0">
                <a:solidFill>
                  <a:schemeClr val="bg2"/>
                </a:solidFill>
                <a:latin typeface="Century Gothic" panose="020B0502020202020204" pitchFamily="34" charset="0"/>
              </a:rPr>
              <a:t>INCLUDES</a:t>
            </a:r>
          </a:p>
          <a:p>
            <a:r>
              <a:rPr lang="en-US" dirty="0">
                <a:solidFill>
                  <a:schemeClr val="bg2"/>
                </a:solidFill>
                <a:latin typeface="Century Gothic" panose="020B0502020202020204" pitchFamily="34" charset="0"/>
              </a:rPr>
              <a:t>EQUAL</a:t>
            </a:r>
          </a:p>
        </p:txBody>
      </p:sp>
      <p:sp>
        <p:nvSpPr>
          <p:cNvPr id="4" name="Multiply 3">
            <a:extLst>
              <a:ext uri="{FF2B5EF4-FFF2-40B4-BE49-F238E27FC236}">
                <a16:creationId xmlns:a16="http://schemas.microsoft.com/office/drawing/2014/main" xmlns="" id="{95747F8A-7331-9B42-A8AA-2393B9A1FC7F}"/>
              </a:ext>
            </a:extLst>
          </p:cNvPr>
          <p:cNvSpPr/>
          <p:nvPr/>
        </p:nvSpPr>
        <p:spPr>
          <a:xfrm>
            <a:off x="6868683" y="3149427"/>
            <a:ext cx="1969999" cy="2359682"/>
          </a:xfrm>
          <a:prstGeom prst="mathMultiply">
            <a:avLst>
              <a:gd name="adj1" fmla="val 5756"/>
            </a:avLst>
          </a:prstGeom>
          <a:solidFill>
            <a:srgbClr val="FF0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xmlns="" id="{068D38B4-D63E-D745-A124-71358FA8565B}"/>
              </a:ext>
            </a:extLst>
          </p:cNvPr>
          <p:cNvGrpSpPr/>
          <p:nvPr/>
        </p:nvGrpSpPr>
        <p:grpSpPr>
          <a:xfrm>
            <a:off x="5151327" y="4077366"/>
            <a:ext cx="1218250" cy="378478"/>
            <a:chOff x="3761477" y="4110538"/>
            <a:chExt cx="1218250" cy="378478"/>
          </a:xfrm>
        </p:grpSpPr>
        <p:sp>
          <p:nvSpPr>
            <p:cNvPr id="52" name="Rounded Rectangle 51">
              <a:extLst>
                <a:ext uri="{FF2B5EF4-FFF2-40B4-BE49-F238E27FC236}">
                  <a16:creationId xmlns:a16="http://schemas.microsoft.com/office/drawing/2014/main" xmlns="" id="{88F5BA75-3757-6547-A0C3-B522CFEEBBDA}"/>
                </a:ext>
              </a:extLst>
            </p:cNvPr>
            <p:cNvSpPr/>
            <p:nvPr/>
          </p:nvSpPr>
          <p:spPr>
            <a:xfrm>
              <a:off x="3761477" y="4112361"/>
              <a:ext cx="1218250" cy="376655"/>
            </a:xfrm>
            <a:prstGeom prst="roundRect">
              <a:avLst>
                <a:gd name="adj" fmla="val 50000"/>
              </a:avLst>
            </a:prstGeom>
            <a:solidFill>
              <a:srgbClr val="6660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53" name="TextBox 52">
              <a:extLst>
                <a:ext uri="{FF2B5EF4-FFF2-40B4-BE49-F238E27FC236}">
                  <a16:creationId xmlns:a16="http://schemas.microsoft.com/office/drawing/2014/main" xmlns="" id="{01FFAE97-5181-3B4F-ABD3-F5C86F09C47E}"/>
                </a:ext>
              </a:extLst>
            </p:cNvPr>
            <p:cNvSpPr txBox="1"/>
            <p:nvPr/>
          </p:nvSpPr>
          <p:spPr>
            <a:xfrm>
              <a:off x="3882155" y="4110538"/>
              <a:ext cx="1097572" cy="369332"/>
            </a:xfrm>
            <a:prstGeom prst="rect">
              <a:avLst/>
            </a:prstGeom>
            <a:noFill/>
            <a:ln>
              <a:noFill/>
            </a:ln>
          </p:spPr>
          <p:txBody>
            <a:bodyPr wrap="square" rtlCol="0">
              <a:spAutoFit/>
            </a:bodyPr>
            <a:lstStyle/>
            <a:p>
              <a:r>
                <a:rPr lang="en-US" dirty="0">
                  <a:latin typeface="Century Gothic" panose="020B0502020202020204" pitchFamily="34" charset="0"/>
                  <a:ea typeface="Times New Roman" charset="0"/>
                  <a:cs typeface="Times New Roman" charset="0"/>
                </a:rPr>
                <a:t>monitor</a:t>
              </a:r>
            </a:p>
          </p:txBody>
        </p:sp>
      </p:grpSp>
      <p:sp>
        <p:nvSpPr>
          <p:cNvPr id="54" name="TextBox 53">
            <a:extLst>
              <a:ext uri="{FF2B5EF4-FFF2-40B4-BE49-F238E27FC236}">
                <a16:creationId xmlns:a16="http://schemas.microsoft.com/office/drawing/2014/main" xmlns="" id="{C8115BAD-1921-1C4C-A008-06176BA7E78A}"/>
              </a:ext>
            </a:extLst>
          </p:cNvPr>
          <p:cNvSpPr txBox="1"/>
          <p:nvPr/>
        </p:nvSpPr>
        <p:spPr>
          <a:xfrm>
            <a:off x="3594918" y="3744574"/>
            <a:ext cx="1354858" cy="307777"/>
          </a:xfrm>
          <a:prstGeom prst="rect">
            <a:avLst/>
          </a:prstGeom>
          <a:noFill/>
          <a:ln>
            <a:noFill/>
          </a:ln>
        </p:spPr>
        <p:txBody>
          <a:bodyPr wrap="none" rtlCol="0">
            <a:spAutoFit/>
          </a:bodyPr>
          <a:lstStyle/>
          <a:p>
            <a:r>
              <a:rPr lang="en-US" sz="1400" dirty="0">
                <a:solidFill>
                  <a:srgbClr val="FF0000"/>
                </a:solidFill>
                <a:latin typeface="Century Gothic" panose="020B0502020202020204" pitchFamily="34" charset="0"/>
              </a:rPr>
              <a:t>BE_INCLUDED</a:t>
            </a:r>
          </a:p>
        </p:txBody>
      </p:sp>
      <p:grpSp>
        <p:nvGrpSpPr>
          <p:cNvPr id="45" name="Group 44">
            <a:extLst>
              <a:ext uri="{FF2B5EF4-FFF2-40B4-BE49-F238E27FC236}">
                <a16:creationId xmlns:a16="http://schemas.microsoft.com/office/drawing/2014/main" xmlns="" id="{E9F66B4B-1C38-1C4D-99CD-8197BCA56565}"/>
              </a:ext>
            </a:extLst>
          </p:cNvPr>
          <p:cNvGrpSpPr/>
          <p:nvPr/>
        </p:nvGrpSpPr>
        <p:grpSpPr>
          <a:xfrm>
            <a:off x="877717" y="896235"/>
            <a:ext cx="4545074" cy="2336661"/>
            <a:chOff x="3312194" y="1491409"/>
            <a:chExt cx="6060098" cy="3115549"/>
          </a:xfrm>
        </p:grpSpPr>
        <p:grpSp>
          <p:nvGrpSpPr>
            <p:cNvPr id="46" name="Group 45">
              <a:extLst>
                <a:ext uri="{FF2B5EF4-FFF2-40B4-BE49-F238E27FC236}">
                  <a16:creationId xmlns:a16="http://schemas.microsoft.com/office/drawing/2014/main" xmlns="" id="{EDECB90A-6798-8F48-80F0-BAC575C07A83}"/>
                </a:ext>
              </a:extLst>
            </p:cNvPr>
            <p:cNvGrpSpPr/>
            <p:nvPr/>
          </p:nvGrpSpPr>
          <p:grpSpPr>
            <a:xfrm>
              <a:off x="3312194" y="1491409"/>
              <a:ext cx="6060098" cy="3115549"/>
              <a:chOff x="3312194" y="1491409"/>
              <a:chExt cx="6060098" cy="3115549"/>
            </a:xfrm>
          </p:grpSpPr>
          <p:grpSp>
            <p:nvGrpSpPr>
              <p:cNvPr id="48" name="Group 47">
                <a:extLst>
                  <a:ext uri="{FF2B5EF4-FFF2-40B4-BE49-F238E27FC236}">
                    <a16:creationId xmlns:a16="http://schemas.microsoft.com/office/drawing/2014/main" xmlns="" id="{8040B5AD-45EF-3641-8534-1F74BBE939C9}"/>
                  </a:ext>
                </a:extLst>
              </p:cNvPr>
              <p:cNvGrpSpPr/>
              <p:nvPr/>
            </p:nvGrpSpPr>
            <p:grpSpPr>
              <a:xfrm>
                <a:off x="3312194" y="1491409"/>
                <a:ext cx="6060098" cy="2542680"/>
                <a:chOff x="2974846" y="1491409"/>
                <a:chExt cx="6060098" cy="2542680"/>
              </a:xfrm>
            </p:grpSpPr>
            <p:sp>
              <p:nvSpPr>
                <p:cNvPr id="78" name="TextBox 77">
                  <a:extLst>
                    <a:ext uri="{FF2B5EF4-FFF2-40B4-BE49-F238E27FC236}">
                      <a16:creationId xmlns:a16="http://schemas.microsoft.com/office/drawing/2014/main" xmlns="" id="{48376529-78E1-EB4F-B1AF-3434C17F9210}"/>
                    </a:ext>
                  </a:extLst>
                </p:cNvPr>
                <p:cNvSpPr txBox="1"/>
                <p:nvPr/>
              </p:nvSpPr>
              <p:spPr>
                <a:xfrm>
                  <a:off x="4541994" y="3526258"/>
                  <a:ext cx="1475191" cy="507831"/>
                </a:xfrm>
                <a:prstGeom prst="rect">
                  <a:avLst/>
                </a:prstGeom>
                <a:noFill/>
                <a:ln>
                  <a:noFill/>
                </a:ln>
              </p:spPr>
              <p:txBody>
                <a:bodyPr wrap="none" rtlCol="0">
                  <a:spAutoFit/>
                </a:bodyPr>
                <a:lstStyle/>
                <a:p>
                  <a:r>
                    <a:rPr lang="en-US" altLang="zh-CN" sz="1875" b="1" dirty="0">
                      <a:solidFill>
                        <a:srgbClr val="C17A90"/>
                      </a:solidFill>
                      <a:latin typeface="Times New Roman" charset="0"/>
                      <a:ea typeface="Times New Roman" charset="0"/>
                      <a:cs typeface="Times New Roman" charset="0"/>
                    </a:rPr>
                    <a:t>cascaded</a:t>
                  </a:r>
                  <a:endParaRPr lang="en-US" sz="1875" b="1" dirty="0">
                    <a:solidFill>
                      <a:srgbClr val="C17A90"/>
                    </a:solidFill>
                    <a:latin typeface="Times New Roman" charset="0"/>
                    <a:ea typeface="Times New Roman" charset="0"/>
                    <a:cs typeface="Times New Roman" charset="0"/>
                  </a:endParaRPr>
                </a:p>
              </p:txBody>
            </p:sp>
            <p:sp>
              <p:nvSpPr>
                <p:cNvPr id="79" name="TextBox 78">
                  <a:extLst>
                    <a:ext uri="{FF2B5EF4-FFF2-40B4-BE49-F238E27FC236}">
                      <a16:creationId xmlns:a16="http://schemas.microsoft.com/office/drawing/2014/main" xmlns="" id="{AD24678D-5FA5-9D46-924E-EBDD4CD5FE8B}"/>
                    </a:ext>
                  </a:extLst>
                </p:cNvPr>
                <p:cNvSpPr txBox="1"/>
                <p:nvPr/>
              </p:nvSpPr>
              <p:spPr>
                <a:xfrm>
                  <a:off x="2974846" y="2496086"/>
                  <a:ext cx="851088" cy="507831"/>
                </a:xfrm>
                <a:prstGeom prst="rect">
                  <a:avLst/>
                </a:prstGeom>
                <a:noFill/>
                <a:ln>
                  <a:noFill/>
                </a:ln>
              </p:spPr>
              <p:txBody>
                <a:bodyPr wrap="none" rtlCol="0">
                  <a:spAutoFit/>
                </a:bodyPr>
                <a:lstStyle/>
                <a:p>
                  <a:r>
                    <a:rPr lang="en-US" sz="1875" b="1" dirty="0">
                      <a:solidFill>
                        <a:srgbClr val="C17A90">
                          <a:alpha val="50000"/>
                        </a:srgbClr>
                      </a:solidFill>
                      <a:latin typeface="Times New Roman" charset="0"/>
                      <a:cs typeface="Times New Roman" charset="0"/>
                    </a:rPr>
                    <a:t>hurt</a:t>
                  </a:r>
                </a:p>
              </p:txBody>
            </p:sp>
            <p:sp>
              <p:nvSpPr>
                <p:cNvPr id="80" name="TextBox 79">
                  <a:extLst>
                    <a:ext uri="{FF2B5EF4-FFF2-40B4-BE49-F238E27FC236}">
                      <a16:creationId xmlns:a16="http://schemas.microsoft.com/office/drawing/2014/main" xmlns="" id="{A46C0573-21CF-DD4A-9857-87738446E43B}"/>
                    </a:ext>
                  </a:extLst>
                </p:cNvPr>
                <p:cNvSpPr txBox="1"/>
                <p:nvPr/>
              </p:nvSpPr>
              <p:spPr>
                <a:xfrm>
                  <a:off x="4652426" y="1491409"/>
                  <a:ext cx="1261457" cy="507831"/>
                </a:xfrm>
                <a:prstGeom prst="rect">
                  <a:avLst/>
                </a:prstGeom>
                <a:noFill/>
                <a:ln>
                  <a:noFill/>
                </a:ln>
              </p:spPr>
              <p:txBody>
                <a:bodyPr wrap="none" rtlCol="0">
                  <a:spAutoFit/>
                </a:bodyPr>
                <a:lstStyle/>
                <a:p>
                  <a:r>
                    <a:rPr lang="en-US" sz="1875" b="1" dirty="0">
                      <a:solidFill>
                        <a:srgbClr val="C17A90"/>
                      </a:solidFill>
                      <a:latin typeface="Times New Roman" charset="0"/>
                      <a:cs typeface="Times New Roman" charset="0"/>
                    </a:rPr>
                    <a:t>ripping</a:t>
                  </a:r>
                </a:p>
              </p:txBody>
            </p:sp>
            <p:sp>
              <p:nvSpPr>
                <p:cNvPr id="81" name="TextBox 80">
                  <a:extLst>
                    <a:ext uri="{FF2B5EF4-FFF2-40B4-BE49-F238E27FC236}">
                      <a16:creationId xmlns:a16="http://schemas.microsoft.com/office/drawing/2014/main" xmlns="" id="{EEBC2CC5-57C2-7849-8EE1-0D2B8697B875}"/>
                    </a:ext>
                  </a:extLst>
                </p:cNvPr>
                <p:cNvSpPr txBox="1"/>
                <p:nvPr/>
              </p:nvSpPr>
              <p:spPr>
                <a:xfrm>
                  <a:off x="7683716" y="3518755"/>
                  <a:ext cx="1328313" cy="507831"/>
                </a:xfrm>
                <a:prstGeom prst="rect">
                  <a:avLst/>
                </a:prstGeom>
                <a:noFill/>
                <a:ln>
                  <a:noFill/>
                </a:ln>
              </p:spPr>
              <p:txBody>
                <a:bodyPr wrap="none" rtlCol="0">
                  <a:spAutoFit/>
                </a:bodyPr>
                <a:lstStyle/>
                <a:p>
                  <a:r>
                    <a:rPr lang="en-US" sz="1875" b="1" dirty="0">
                      <a:solidFill>
                        <a:srgbClr val="C17A90">
                          <a:alpha val="50000"/>
                        </a:srgbClr>
                      </a:solidFill>
                      <a:latin typeface="Times New Roman" charset="0"/>
                      <a:ea typeface="Times New Roman" charset="0"/>
                      <a:cs typeface="Times New Roman" charset="0"/>
                    </a:rPr>
                    <a:t>ordered</a:t>
                  </a:r>
                </a:p>
              </p:txBody>
            </p:sp>
            <p:cxnSp>
              <p:nvCxnSpPr>
                <p:cNvPr id="82" name="Straight Arrow Connector 81">
                  <a:extLst>
                    <a:ext uri="{FF2B5EF4-FFF2-40B4-BE49-F238E27FC236}">
                      <a16:creationId xmlns:a16="http://schemas.microsoft.com/office/drawing/2014/main" xmlns="" id="{0E4A40E2-6621-3F4D-96DF-D165C777F4EF}"/>
                    </a:ext>
                  </a:extLst>
                </p:cNvPr>
                <p:cNvCxnSpPr/>
                <p:nvPr/>
              </p:nvCxnSpPr>
              <p:spPr>
                <a:xfrm flipH="1">
                  <a:off x="5249080" y="2090343"/>
                  <a:ext cx="3832" cy="1345297"/>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xmlns="" id="{7F51D4DC-6FC0-F949-82F6-442B5E573250}"/>
                    </a:ext>
                  </a:extLst>
                </p:cNvPr>
                <p:cNvCxnSpPr/>
                <p:nvPr/>
              </p:nvCxnSpPr>
              <p:spPr>
                <a:xfrm flipH="1">
                  <a:off x="3624993" y="1745325"/>
                  <a:ext cx="1027433" cy="740620"/>
                </a:xfrm>
                <a:prstGeom prst="straightConnector1">
                  <a:avLst/>
                </a:prstGeom>
                <a:ln w="25400">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xmlns="" id="{F30EF415-264C-AC44-87D8-18EE54FBDABD}"/>
                    </a:ext>
                  </a:extLst>
                </p:cNvPr>
                <p:cNvCxnSpPr/>
                <p:nvPr/>
              </p:nvCxnSpPr>
              <p:spPr>
                <a:xfrm>
                  <a:off x="5507757" y="1984783"/>
                  <a:ext cx="2553980" cy="1517655"/>
                </a:xfrm>
                <a:prstGeom prst="straightConnector1">
                  <a:avLst/>
                </a:prstGeom>
                <a:ln w="25400" cmpd="sng">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xmlns="" id="{6728AE4C-A558-444A-9B0A-5E56544791FD}"/>
                    </a:ext>
                  </a:extLst>
                </p:cNvPr>
                <p:cNvCxnSpPr/>
                <p:nvPr/>
              </p:nvCxnSpPr>
              <p:spPr>
                <a:xfrm flipV="1">
                  <a:off x="6017185" y="3772671"/>
                  <a:ext cx="1666532" cy="7503"/>
                </a:xfrm>
                <a:prstGeom prst="straightConnector1">
                  <a:avLst/>
                </a:prstGeom>
                <a:ln w="25400">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xmlns="" id="{24971B8B-14B8-184C-9DAA-63E6B915E098}"/>
                    </a:ext>
                  </a:extLst>
                </p:cNvPr>
                <p:cNvCxnSpPr/>
                <p:nvPr/>
              </p:nvCxnSpPr>
              <p:spPr>
                <a:xfrm flipH="1" flipV="1">
                  <a:off x="3624993" y="2995636"/>
                  <a:ext cx="917001" cy="784537"/>
                </a:xfrm>
                <a:prstGeom prst="straightConnector1">
                  <a:avLst/>
                </a:prstGeom>
                <a:ln w="25400" cmpd="sng">
                  <a:solidFill>
                    <a:schemeClr val="bg2">
                      <a:alpha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xmlns="" id="{381A3128-A861-474F-8FE7-ED3A4DB414EA}"/>
                    </a:ext>
                  </a:extLst>
                </p:cNvPr>
                <p:cNvSpPr txBox="1"/>
                <p:nvPr/>
              </p:nvSpPr>
              <p:spPr>
                <a:xfrm>
                  <a:off x="7683717" y="1491662"/>
                  <a:ext cx="1351227" cy="507831"/>
                </a:xfrm>
                <a:prstGeom prst="rect">
                  <a:avLst/>
                </a:prstGeom>
                <a:noFill/>
                <a:ln>
                  <a:noFill/>
                </a:ln>
              </p:spPr>
              <p:txBody>
                <a:bodyPr wrap="none" rtlCol="0">
                  <a:spAutoFit/>
                </a:bodyPr>
                <a:lstStyle/>
                <a:p>
                  <a:r>
                    <a:rPr lang="en-US" sz="1875" b="1" dirty="0">
                      <a:solidFill>
                        <a:srgbClr val="C17A90"/>
                      </a:solidFill>
                      <a:latin typeface="Times New Roman" charset="0"/>
                      <a:ea typeface="Times New Roman" charset="0"/>
                      <a:cs typeface="Times New Roman" charset="0"/>
                    </a:rPr>
                    <a:t>monitor</a:t>
                  </a:r>
                </a:p>
              </p:txBody>
            </p:sp>
            <p:cxnSp>
              <p:nvCxnSpPr>
                <p:cNvPr id="88" name="Straight Connector 87">
                  <a:extLst>
                    <a:ext uri="{FF2B5EF4-FFF2-40B4-BE49-F238E27FC236}">
                      <a16:creationId xmlns:a16="http://schemas.microsoft.com/office/drawing/2014/main" xmlns="" id="{C302FE63-EE4F-CC4E-95C1-A1C40B5F5E20}"/>
                    </a:ext>
                  </a:extLst>
                </p:cNvPr>
                <p:cNvCxnSpPr/>
                <p:nvPr/>
              </p:nvCxnSpPr>
              <p:spPr>
                <a:xfrm flipH="1" flipV="1">
                  <a:off x="5913885" y="1745325"/>
                  <a:ext cx="1769832" cy="2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xmlns="" id="{264FE77D-D768-3342-A292-C8A6FE1330D9}"/>
                    </a:ext>
                  </a:extLst>
                </p:cNvPr>
                <p:cNvCxnSpPr/>
                <p:nvPr/>
              </p:nvCxnSpPr>
              <p:spPr>
                <a:xfrm flipH="1">
                  <a:off x="8316583" y="2090596"/>
                  <a:ext cx="12503" cy="1306282"/>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xmlns="" id="{895AE16B-24B2-E74C-A39D-BEDB0521ABCF}"/>
                    </a:ext>
                  </a:extLst>
                </p:cNvPr>
                <p:cNvCxnSpPr/>
                <p:nvPr/>
              </p:nvCxnSpPr>
              <p:spPr>
                <a:xfrm flipH="1">
                  <a:off x="5503925" y="2090596"/>
                  <a:ext cx="2825161" cy="1450604"/>
                </a:xfrm>
                <a:prstGeom prst="line">
                  <a:avLst/>
                </a:prstGeom>
                <a:ln w="34925">
                  <a:solidFill>
                    <a:schemeClr val="bg2">
                      <a:alpha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xmlns="" id="{AFF8A524-C8F1-584A-A888-2B659023AF05}"/>
                    </a:ext>
                  </a:extLst>
                </p:cNvPr>
                <p:cNvCxnSpPr/>
                <p:nvPr/>
              </p:nvCxnSpPr>
              <p:spPr>
                <a:xfrm flipH="1">
                  <a:off x="3730553" y="1985036"/>
                  <a:ext cx="4343687" cy="755755"/>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xmlns="" id="{523B3C13-81E5-0441-87CB-59BDD22611C5}"/>
                  </a:ext>
                </a:extLst>
              </p:cNvPr>
              <p:cNvGrpSpPr/>
              <p:nvPr/>
            </p:nvGrpSpPr>
            <p:grpSpPr>
              <a:xfrm>
                <a:off x="4851183" y="4268403"/>
                <a:ext cx="3254802" cy="338555"/>
                <a:chOff x="2403791" y="4308587"/>
                <a:chExt cx="3254802" cy="338555"/>
              </a:xfrm>
            </p:grpSpPr>
            <p:cxnSp>
              <p:nvCxnSpPr>
                <p:cNvPr id="50" name="Straight Arrow Connector 49">
                  <a:extLst>
                    <a:ext uri="{FF2B5EF4-FFF2-40B4-BE49-F238E27FC236}">
                      <a16:creationId xmlns:a16="http://schemas.microsoft.com/office/drawing/2014/main" xmlns="" id="{E7EC924D-5512-4346-89FD-CD9BEE53F924}"/>
                    </a:ext>
                  </a:extLst>
                </p:cNvPr>
                <p:cNvCxnSpPr/>
                <p:nvPr/>
              </p:nvCxnSpPr>
              <p:spPr>
                <a:xfrm flipV="1">
                  <a:off x="2403791" y="4459632"/>
                  <a:ext cx="457200" cy="5687"/>
                </a:xfrm>
                <a:prstGeom prst="straightConnector1">
                  <a:avLst/>
                </a:prstGeom>
                <a:ln w="6350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xmlns="" id="{22A8AD3E-C72F-8544-B2DE-F4DC4902CB40}"/>
                    </a:ext>
                  </a:extLst>
                </p:cNvPr>
                <p:cNvSpPr txBox="1"/>
                <p:nvPr/>
              </p:nvSpPr>
              <p:spPr>
                <a:xfrm>
                  <a:off x="2806030" y="4308587"/>
                  <a:ext cx="887422"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BEFORE</a:t>
                  </a:r>
                  <a:endParaRPr lang="en-US" b="1" dirty="0">
                    <a:solidFill>
                      <a:srgbClr val="666089"/>
                    </a:solidFill>
                    <a:latin typeface="Courier" charset="0"/>
                    <a:ea typeface="Courier" charset="0"/>
                    <a:cs typeface="Courier" charset="0"/>
                  </a:endParaRPr>
                </a:p>
              </p:txBody>
            </p:sp>
            <p:cxnSp>
              <p:nvCxnSpPr>
                <p:cNvPr id="56" name="Straight Arrow Connector 55">
                  <a:extLst>
                    <a:ext uri="{FF2B5EF4-FFF2-40B4-BE49-F238E27FC236}">
                      <a16:creationId xmlns:a16="http://schemas.microsoft.com/office/drawing/2014/main" xmlns="" id="{A8982A64-BCBE-8249-A3F3-674C813F78DE}"/>
                    </a:ext>
                  </a:extLst>
                </p:cNvPr>
                <p:cNvCxnSpPr/>
                <p:nvPr/>
              </p:nvCxnSpPr>
              <p:spPr>
                <a:xfrm flipV="1">
                  <a:off x="3834597" y="4459632"/>
                  <a:ext cx="457200" cy="0"/>
                </a:xfrm>
                <a:prstGeom prst="straightConnector1">
                  <a:avLst/>
                </a:prstGeom>
                <a:ln w="88900" cmpd="dbl">
                  <a:solidFill>
                    <a:schemeClr val="bg2"/>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xmlns="" id="{DC5ACF0B-1B7D-2241-A052-7F2DD003982A}"/>
                    </a:ext>
                  </a:extLst>
                </p:cNvPr>
                <p:cNvSpPr txBox="1"/>
                <p:nvPr/>
              </p:nvSpPr>
              <p:spPr>
                <a:xfrm>
                  <a:off x="4236836" y="4308587"/>
                  <a:ext cx="1421757"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BE_INCLUDED</a:t>
                  </a:r>
                  <a:endParaRPr lang="en-US" b="1" dirty="0">
                    <a:solidFill>
                      <a:srgbClr val="666089"/>
                    </a:solidFill>
                    <a:latin typeface="Courier" charset="0"/>
                    <a:ea typeface="Courier" charset="0"/>
                    <a:cs typeface="Courier" charset="0"/>
                  </a:endParaRPr>
                </a:p>
              </p:txBody>
            </p:sp>
          </p:grpSp>
        </p:grpSp>
        <p:cxnSp>
          <p:nvCxnSpPr>
            <p:cNvPr id="47" name="Straight Connector 46">
              <a:extLst>
                <a:ext uri="{FF2B5EF4-FFF2-40B4-BE49-F238E27FC236}">
                  <a16:creationId xmlns:a16="http://schemas.microsoft.com/office/drawing/2014/main" xmlns="" id="{01020D9A-00D6-7F4C-8EA5-917F3B791272}"/>
                </a:ext>
              </a:extLst>
            </p:cNvPr>
            <p:cNvCxnSpPr/>
            <p:nvPr/>
          </p:nvCxnSpPr>
          <p:spPr>
            <a:xfrm flipH="1" flipV="1">
              <a:off x="4102797" y="2734614"/>
              <a:ext cx="4203231" cy="899235"/>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92" name="Straight Connector 91">
            <a:extLst>
              <a:ext uri="{FF2B5EF4-FFF2-40B4-BE49-F238E27FC236}">
                <a16:creationId xmlns:a16="http://schemas.microsoft.com/office/drawing/2014/main" xmlns="" id="{895AE16B-24B2-E74C-A39D-BEDB0521ABCF}"/>
              </a:ext>
            </a:extLst>
          </p:cNvPr>
          <p:cNvCxnSpPr/>
          <p:nvPr/>
        </p:nvCxnSpPr>
        <p:spPr>
          <a:xfrm flipH="1">
            <a:off x="2783914" y="1341354"/>
            <a:ext cx="2118871" cy="1087952"/>
          </a:xfrm>
          <a:prstGeom prst="line">
            <a:avLst/>
          </a:prstGeom>
          <a:ln w="34925">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5655728" y="1567028"/>
            <a:ext cx="2826415" cy="523220"/>
          </a:xfrm>
          <a:prstGeom prst="rect">
            <a:avLst/>
          </a:prstGeom>
          <a:noFill/>
        </p:spPr>
        <p:txBody>
          <a:bodyPr wrap="none" rtlCol="0">
            <a:spAutoFit/>
          </a:bodyPr>
          <a:lstStyle/>
          <a:p>
            <a:r>
              <a:rPr lang="en-US" sz="2800" dirty="0">
                <a:solidFill>
                  <a:srgbClr val="C27990"/>
                </a:solidFill>
                <a:latin typeface="Century Gothic" charset="0"/>
                <a:ea typeface="Century Gothic" charset="0"/>
                <a:cs typeface="Century Gothic" charset="0"/>
              </a:rPr>
              <a:t>quality &gt; 2 / 10!</a:t>
            </a:r>
          </a:p>
        </p:txBody>
      </p:sp>
    </p:spTree>
    <p:extLst>
      <p:ext uri="{BB962C8B-B14F-4D97-AF65-F5344CB8AC3E}">
        <p14:creationId xmlns:p14="http://schemas.microsoft.com/office/powerpoint/2010/main" val="159237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8AF13A-E55F-A949-9C4F-614D8760730F}"/>
              </a:ext>
            </a:extLst>
          </p:cNvPr>
          <p:cNvSpPr>
            <a:spLocks noGrp="1"/>
          </p:cNvSpPr>
          <p:nvPr>
            <p:ph type="title"/>
          </p:nvPr>
        </p:nvSpPr>
        <p:spPr/>
        <p:txBody>
          <a:bodyPr/>
          <a:lstStyle/>
          <a:p>
            <a:r>
              <a:rPr lang="en-US" sz="2400" dirty="0"/>
              <a:t>Partial or complete, that’s the question </a:t>
            </a:r>
            <a:r>
              <a:rPr lang="en-US" sz="1800" i="1" dirty="0"/>
              <a:t>[NAACL’19]</a:t>
            </a:r>
            <a:endParaRPr lang="en-US" sz="2400" i="1" dirty="0"/>
          </a:p>
        </p:txBody>
      </p:sp>
      <p:grpSp>
        <p:nvGrpSpPr>
          <p:cNvPr id="21" name="Group 20"/>
          <p:cNvGrpSpPr/>
          <p:nvPr/>
        </p:nvGrpSpPr>
        <p:grpSpPr>
          <a:xfrm>
            <a:off x="4152186" y="1388741"/>
            <a:ext cx="1026591" cy="958712"/>
            <a:chOff x="3299081" y="2198810"/>
            <a:chExt cx="1026591" cy="958712"/>
          </a:xfrm>
        </p:grpSpPr>
        <p:grpSp>
          <p:nvGrpSpPr>
            <p:cNvPr id="58" name="Group 57"/>
            <p:cNvGrpSpPr/>
            <p:nvPr/>
          </p:nvGrpSpPr>
          <p:grpSpPr>
            <a:xfrm>
              <a:off x="3299081" y="2213447"/>
              <a:ext cx="999609" cy="944075"/>
              <a:chOff x="2226911" y="1490958"/>
              <a:chExt cx="999609" cy="944075"/>
            </a:xfrm>
          </p:grpSpPr>
          <p:sp>
            <p:nvSpPr>
              <p:cNvPr id="60" name="Oval 59">
                <a:extLst>
                  <a:ext uri="{FF2B5EF4-FFF2-40B4-BE49-F238E27FC236}">
                    <a16:creationId xmlns:a16="http://schemas.microsoft.com/office/drawing/2014/main" xmlns="" id="{02A9185F-17CD-430F-B765-DD03EB939117}"/>
                  </a:ext>
                </a:extLst>
              </p:cNvPr>
              <p:cNvSpPr/>
              <p:nvPr/>
            </p:nvSpPr>
            <p:spPr>
              <a:xfrm>
                <a:off x="2634159" y="1490958"/>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61" name="Oval 60">
                <a:extLst>
                  <a:ext uri="{FF2B5EF4-FFF2-40B4-BE49-F238E27FC236}">
                    <a16:creationId xmlns:a16="http://schemas.microsoft.com/office/drawing/2014/main" xmlns="" id="{67183840-CA5E-41AC-8BA4-676FBC67C282}"/>
                  </a:ext>
                </a:extLst>
              </p:cNvPr>
              <p:cNvSpPr/>
              <p:nvPr/>
            </p:nvSpPr>
            <p:spPr>
              <a:xfrm>
                <a:off x="2226911" y="1787138"/>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62" name="Oval 61">
                <a:extLst>
                  <a:ext uri="{FF2B5EF4-FFF2-40B4-BE49-F238E27FC236}">
                    <a16:creationId xmlns:a16="http://schemas.microsoft.com/office/drawing/2014/main" xmlns="" id="{A207EA9E-2A7E-4CA2-B13A-7956BC73097B}"/>
                  </a:ext>
                </a:extLst>
              </p:cNvPr>
              <p:cNvSpPr/>
              <p:nvPr/>
            </p:nvSpPr>
            <p:spPr>
              <a:xfrm>
                <a:off x="3041407" y="1787138"/>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63" name="Oval 62">
                <a:extLst>
                  <a:ext uri="{FF2B5EF4-FFF2-40B4-BE49-F238E27FC236}">
                    <a16:creationId xmlns:a16="http://schemas.microsoft.com/office/drawing/2014/main" xmlns="" id="{A68926DB-EC77-4FAF-8387-81160673330E}"/>
                  </a:ext>
                </a:extLst>
              </p:cNvPr>
              <p:cNvSpPr/>
              <p:nvPr/>
            </p:nvSpPr>
            <p:spPr>
              <a:xfrm>
                <a:off x="2412024" y="2249920"/>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64" name="Oval 63">
                <a:extLst>
                  <a:ext uri="{FF2B5EF4-FFF2-40B4-BE49-F238E27FC236}">
                    <a16:creationId xmlns:a16="http://schemas.microsoft.com/office/drawing/2014/main" xmlns="" id="{21DDF9FD-DCA9-4F7E-9E84-90C4E26D8618}"/>
                  </a:ext>
                </a:extLst>
              </p:cNvPr>
              <p:cNvSpPr/>
              <p:nvPr/>
            </p:nvSpPr>
            <p:spPr>
              <a:xfrm>
                <a:off x="2856294" y="2249920"/>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65" name="Straight Arrow Connector 64">
                <a:extLst>
                  <a:ext uri="{FF2B5EF4-FFF2-40B4-BE49-F238E27FC236}">
                    <a16:creationId xmlns:a16="http://schemas.microsoft.com/office/drawing/2014/main" xmlns="" id="{45A1FA9B-4B89-4B97-94B0-7BC340E2F4F0}"/>
                  </a:ext>
                </a:extLst>
              </p:cNvPr>
              <p:cNvCxnSpPr/>
              <p:nvPr/>
            </p:nvCxnSpPr>
            <p:spPr>
              <a:xfrm>
                <a:off x="2792162" y="1648962"/>
                <a:ext cx="276353" cy="165286"/>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xmlns="" id="{23ED6BEC-FDE7-441B-87F8-87C0EBBA45B7}"/>
                  </a:ext>
                </a:extLst>
              </p:cNvPr>
              <p:cNvCxnSpPr/>
              <p:nvPr/>
            </p:nvCxnSpPr>
            <p:spPr>
              <a:xfrm flipH="1">
                <a:off x="2384915" y="1648962"/>
                <a:ext cx="276353" cy="165286"/>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xmlns="" id="{F8A4093E-82E2-4F9D-BFCA-FAD5164F088C}"/>
                  </a:ext>
                </a:extLst>
              </p:cNvPr>
              <p:cNvCxnSpPr/>
              <p:nvPr/>
            </p:nvCxnSpPr>
            <p:spPr>
              <a:xfrm flipH="1">
                <a:off x="2504580" y="1676071"/>
                <a:ext cx="222135" cy="57385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xmlns="" id="{D80A2A72-AC93-4999-B7B0-0EAE4909DB6A}"/>
                  </a:ext>
                </a:extLst>
              </p:cNvPr>
              <p:cNvCxnSpPr/>
              <p:nvPr/>
            </p:nvCxnSpPr>
            <p:spPr>
              <a:xfrm>
                <a:off x="2726715" y="1676071"/>
                <a:ext cx="222135" cy="57385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xmlns="" id="{95257391-6E72-499A-94F0-49CEE4E82BF3}"/>
                  </a:ext>
                </a:extLst>
              </p:cNvPr>
              <p:cNvCxnSpPr/>
              <p:nvPr/>
            </p:nvCxnSpPr>
            <p:spPr>
              <a:xfrm>
                <a:off x="2319467" y="1972251"/>
                <a:ext cx="119665" cy="304778"/>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xmlns="" id="{A98374CB-906D-4DEC-8A6D-CD13264682A5}"/>
                  </a:ext>
                </a:extLst>
              </p:cNvPr>
              <p:cNvCxnSpPr/>
              <p:nvPr/>
            </p:nvCxnSpPr>
            <p:spPr>
              <a:xfrm flipH="1">
                <a:off x="3014297" y="1972251"/>
                <a:ext cx="119665" cy="304778"/>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xmlns="" id="{100E0B43-702D-473C-A222-4F2C370067D6}"/>
                  </a:ext>
                </a:extLst>
              </p:cNvPr>
              <p:cNvCxnSpPr/>
              <p:nvPr/>
            </p:nvCxnSpPr>
            <p:spPr>
              <a:xfrm>
                <a:off x="2412024" y="1879695"/>
                <a:ext cx="629383" cy="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xmlns="" id="{CA074040-3AAD-4D3B-8CA7-AA0F6FD9E0B4}"/>
                  </a:ext>
                </a:extLst>
              </p:cNvPr>
              <p:cNvCxnSpPr/>
              <p:nvPr/>
            </p:nvCxnSpPr>
            <p:spPr>
              <a:xfrm>
                <a:off x="2412024" y="1879695"/>
                <a:ext cx="471379" cy="397335"/>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xmlns="" id="{5928CDD7-B129-4938-B5C2-75A1DA7C7B1D}"/>
                  </a:ext>
                </a:extLst>
              </p:cNvPr>
              <p:cNvCxnSpPr/>
              <p:nvPr/>
            </p:nvCxnSpPr>
            <p:spPr>
              <a:xfrm flipH="1">
                <a:off x="2570027" y="1945142"/>
                <a:ext cx="498488" cy="331887"/>
              </a:xfrm>
              <a:prstGeom prst="straightConnector1">
                <a:avLst/>
              </a:prstGeom>
              <a:solidFill>
                <a:srgbClr val="00206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xmlns="" id="{7DD5F5F7-BB90-45CB-A8F2-2C3F8E72DC27}"/>
                  </a:ext>
                </a:extLst>
              </p:cNvPr>
              <p:cNvCxnSpPr/>
              <p:nvPr/>
            </p:nvCxnSpPr>
            <p:spPr>
              <a:xfrm>
                <a:off x="2597136" y="2342477"/>
                <a:ext cx="259158" cy="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grpSp>
        <p:sp>
          <p:nvSpPr>
            <p:cNvPr id="59" name="Rectangle 58"/>
            <p:cNvSpPr/>
            <p:nvPr/>
          </p:nvSpPr>
          <p:spPr>
            <a:xfrm>
              <a:off x="3299081" y="2198810"/>
              <a:ext cx="1026591" cy="958712"/>
            </a:xfrm>
            <a:prstGeom prst="rect">
              <a:avLst/>
            </a:prstGeom>
            <a:noFill/>
            <a:ln>
              <a:solidFill>
                <a:srgbClr val="3B81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nvGrpSpPr>
          <p:cNvPr id="3" name="Group 2">
            <a:extLst>
              <a:ext uri="{FF2B5EF4-FFF2-40B4-BE49-F238E27FC236}">
                <a16:creationId xmlns:a16="http://schemas.microsoft.com/office/drawing/2014/main" xmlns="" id="{E570505F-34DD-F346-9BB3-A4B6C9EDE8EB}"/>
              </a:ext>
            </a:extLst>
          </p:cNvPr>
          <p:cNvGrpSpPr/>
          <p:nvPr/>
        </p:nvGrpSpPr>
        <p:grpSpPr>
          <a:xfrm>
            <a:off x="2503117" y="1331106"/>
            <a:ext cx="1713931" cy="1276930"/>
            <a:chOff x="2731717" y="1331106"/>
            <a:chExt cx="1713931" cy="1276930"/>
          </a:xfrm>
        </p:grpSpPr>
        <p:sp>
          <p:nvSpPr>
            <p:cNvPr id="13" name="TextBox 12"/>
            <p:cNvSpPr txBox="1"/>
            <p:nvPr/>
          </p:nvSpPr>
          <p:spPr>
            <a:xfrm>
              <a:off x="2731717" y="1331106"/>
              <a:ext cx="1713931" cy="369332"/>
            </a:xfrm>
            <a:prstGeom prst="rect">
              <a:avLst/>
            </a:prstGeom>
            <a:noFill/>
          </p:spPr>
          <p:txBody>
            <a:bodyPr wrap="none" rtlCol="0">
              <a:spAutoFit/>
            </a:bodyPr>
            <a:lstStyle/>
            <a:p>
              <a:pPr eaLnBrk="0" fontAlgn="base" hangingPunct="0">
                <a:spcBef>
                  <a:spcPct val="0"/>
                </a:spcBef>
                <a:spcAft>
                  <a:spcPct val="0"/>
                </a:spcAft>
              </a:pPr>
              <a:r>
                <a:rPr lang="en-US" dirty="0">
                  <a:solidFill>
                    <a:srgbClr val="002060"/>
                  </a:solidFill>
                  <a:latin typeface="Century Gothic" panose="020B0502020202020204" pitchFamily="34" charset="0"/>
                </a:rPr>
                <a:t>(a) Complete</a:t>
              </a:r>
            </a:p>
          </p:txBody>
        </p:sp>
        <p:sp>
          <p:nvSpPr>
            <p:cNvPr id="23" name="Bent-Up Arrow 22"/>
            <p:cNvSpPr/>
            <p:nvPr/>
          </p:nvSpPr>
          <p:spPr>
            <a:xfrm rot="10800000">
              <a:off x="2786912" y="1697399"/>
              <a:ext cx="1593552" cy="910637"/>
            </a:xfrm>
            <a:prstGeom prst="bentUpArrow">
              <a:avLst>
                <a:gd name="adj1" fmla="val 25060"/>
                <a:gd name="adj2" fmla="val 33353"/>
                <a:gd name="adj3" fmla="val 31752"/>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4" name="TextBox 23"/>
            <p:cNvSpPr txBox="1"/>
            <p:nvPr/>
          </p:nvSpPr>
          <p:spPr>
            <a:xfrm>
              <a:off x="3005307" y="1670718"/>
              <a:ext cx="1385500" cy="307777"/>
            </a:xfrm>
            <a:prstGeom prst="rect">
              <a:avLst/>
            </a:prstGeom>
            <a:noFill/>
          </p:spPr>
          <p:txBody>
            <a:bodyPr wrap="square" rtlCol="0">
              <a:spAutoFit/>
            </a:bodyPr>
            <a:lstStyle/>
            <a:p>
              <a:pPr eaLnBrk="0" fontAlgn="base" hangingPunct="0">
                <a:spcBef>
                  <a:spcPct val="0"/>
                </a:spcBef>
                <a:spcAft>
                  <a:spcPct val="0"/>
                </a:spcAft>
              </a:pPr>
              <a:r>
                <a:rPr lang="en-US" sz="1400" dirty="0">
                  <a:solidFill>
                    <a:srgbClr val="002060"/>
                  </a:solidFill>
                  <a:latin typeface="Century Gothic" panose="020B0502020202020204" pitchFamily="34" charset="0"/>
                </a:rPr>
                <a:t>same budget</a:t>
              </a:r>
            </a:p>
          </p:txBody>
        </p:sp>
      </p:grpSp>
      <p:grpSp>
        <p:nvGrpSpPr>
          <p:cNvPr id="4" name="Group 3">
            <a:extLst>
              <a:ext uri="{FF2B5EF4-FFF2-40B4-BE49-F238E27FC236}">
                <a16:creationId xmlns:a16="http://schemas.microsoft.com/office/drawing/2014/main" xmlns="" id="{13DB67B1-F441-AC43-A2A0-62B86C9E84BD}"/>
              </a:ext>
            </a:extLst>
          </p:cNvPr>
          <p:cNvGrpSpPr/>
          <p:nvPr/>
        </p:nvGrpSpPr>
        <p:grpSpPr>
          <a:xfrm>
            <a:off x="5178777" y="1322812"/>
            <a:ext cx="1593552" cy="1285224"/>
            <a:chOff x="5407377" y="1322812"/>
            <a:chExt cx="1593552" cy="1285224"/>
          </a:xfrm>
        </p:grpSpPr>
        <p:sp>
          <p:nvSpPr>
            <p:cNvPr id="14" name="TextBox 13"/>
            <p:cNvSpPr txBox="1"/>
            <p:nvPr/>
          </p:nvSpPr>
          <p:spPr>
            <a:xfrm>
              <a:off x="5565122" y="1322812"/>
              <a:ext cx="1266693" cy="369332"/>
            </a:xfrm>
            <a:prstGeom prst="rect">
              <a:avLst/>
            </a:prstGeom>
            <a:noFill/>
          </p:spPr>
          <p:txBody>
            <a:bodyPr wrap="none" rtlCol="0">
              <a:spAutoFit/>
            </a:bodyPr>
            <a:lstStyle/>
            <a:p>
              <a:pPr eaLnBrk="0" fontAlgn="base" hangingPunct="0">
                <a:spcBef>
                  <a:spcPct val="0"/>
                </a:spcBef>
                <a:spcAft>
                  <a:spcPct val="0"/>
                </a:spcAft>
              </a:pPr>
              <a:r>
                <a:rPr lang="en-US" dirty="0">
                  <a:solidFill>
                    <a:srgbClr val="C0706A"/>
                  </a:solidFill>
                  <a:latin typeface="Century Gothic" panose="020B0502020202020204" pitchFamily="34" charset="0"/>
                </a:rPr>
                <a:t>(b) Partial</a:t>
              </a:r>
            </a:p>
          </p:txBody>
        </p:sp>
        <p:sp>
          <p:nvSpPr>
            <p:cNvPr id="25" name="TextBox 24"/>
            <p:cNvSpPr txBox="1"/>
            <p:nvPr/>
          </p:nvSpPr>
          <p:spPr>
            <a:xfrm>
              <a:off x="5508641" y="1659698"/>
              <a:ext cx="1492288" cy="307777"/>
            </a:xfrm>
            <a:prstGeom prst="rect">
              <a:avLst/>
            </a:prstGeom>
            <a:noFill/>
          </p:spPr>
          <p:txBody>
            <a:bodyPr wrap="square" rtlCol="0">
              <a:spAutoFit/>
            </a:bodyPr>
            <a:lstStyle/>
            <a:p>
              <a:pPr eaLnBrk="0" fontAlgn="base" hangingPunct="0">
                <a:spcBef>
                  <a:spcPct val="0"/>
                </a:spcBef>
                <a:spcAft>
                  <a:spcPct val="0"/>
                </a:spcAft>
              </a:pPr>
              <a:r>
                <a:rPr lang="en-US" sz="1400" dirty="0">
                  <a:solidFill>
                    <a:srgbClr val="002060"/>
                  </a:solidFill>
                  <a:latin typeface="Century Gothic" panose="020B0502020202020204" pitchFamily="34" charset="0"/>
                </a:rPr>
                <a:t>same budget</a:t>
              </a:r>
            </a:p>
          </p:txBody>
        </p:sp>
        <p:sp>
          <p:nvSpPr>
            <p:cNvPr id="30" name="Bent-Up Arrow 29"/>
            <p:cNvSpPr/>
            <p:nvPr/>
          </p:nvSpPr>
          <p:spPr>
            <a:xfrm rot="10800000" flipH="1">
              <a:off x="5407377" y="1697399"/>
              <a:ext cx="1593552" cy="910637"/>
            </a:xfrm>
            <a:prstGeom prst="bentUpArrow">
              <a:avLst>
                <a:gd name="adj1" fmla="val 25060"/>
                <a:gd name="adj2" fmla="val 33353"/>
                <a:gd name="adj3" fmla="val 31752"/>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sp>
        <p:nvSpPr>
          <p:cNvPr id="31" name="Rounded Rectangle 30"/>
          <p:cNvSpPr/>
          <p:nvPr/>
        </p:nvSpPr>
        <p:spPr>
          <a:xfrm>
            <a:off x="1981200" y="774192"/>
            <a:ext cx="5339645" cy="3798976"/>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32" name="TextBox 31"/>
          <p:cNvSpPr txBox="1"/>
          <p:nvPr/>
        </p:nvSpPr>
        <p:spPr>
          <a:xfrm>
            <a:off x="2246068" y="885437"/>
            <a:ext cx="1778051" cy="369332"/>
          </a:xfrm>
          <a:prstGeom prst="rect">
            <a:avLst/>
          </a:prstGeom>
          <a:solidFill>
            <a:schemeClr val="tx1">
              <a:lumMod val="65000"/>
            </a:schemeClr>
          </a:solidFill>
          <a:ln>
            <a:noFill/>
          </a:ln>
        </p:spPr>
        <p:txBody>
          <a:bodyPr wrap="none" rtlCol="0">
            <a:spAutoFit/>
          </a:bodyPr>
          <a:lstStyle/>
          <a:p>
            <a:pPr eaLnBrk="0" fontAlgn="base" hangingPunct="0">
              <a:spcBef>
                <a:spcPct val="0"/>
              </a:spcBef>
              <a:spcAft>
                <a:spcPct val="0"/>
              </a:spcAft>
            </a:pPr>
            <a:r>
              <a:rPr lang="en-US" dirty="0">
                <a:solidFill>
                  <a:srgbClr val="FFFFFF"/>
                </a:solidFill>
                <a:latin typeface="Century Gothic" panose="020B0502020202020204" pitchFamily="34" charset="0"/>
              </a:rPr>
              <a:t>Training Phase</a:t>
            </a:r>
          </a:p>
        </p:txBody>
      </p:sp>
      <p:grpSp>
        <p:nvGrpSpPr>
          <p:cNvPr id="36" name="Group 35"/>
          <p:cNvGrpSpPr/>
          <p:nvPr/>
        </p:nvGrpSpPr>
        <p:grpSpPr>
          <a:xfrm>
            <a:off x="4152186" y="4716604"/>
            <a:ext cx="1026591" cy="1313408"/>
            <a:chOff x="4778719" y="4360811"/>
            <a:chExt cx="1026591" cy="1313408"/>
          </a:xfrm>
          <a:solidFill>
            <a:schemeClr val="bg2"/>
          </a:solidFill>
        </p:grpSpPr>
        <p:sp>
          <p:nvSpPr>
            <p:cNvPr id="41" name="Oval 40">
              <a:extLst>
                <a:ext uri="{FF2B5EF4-FFF2-40B4-BE49-F238E27FC236}">
                  <a16:creationId xmlns:a16="http://schemas.microsoft.com/office/drawing/2014/main" xmlns="" id="{02A9185F-17CD-430F-B765-DD03EB939117}"/>
                </a:ext>
              </a:extLst>
            </p:cNvPr>
            <p:cNvSpPr/>
            <p:nvPr/>
          </p:nvSpPr>
          <p:spPr>
            <a:xfrm>
              <a:off x="5185967" y="4730144"/>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2" name="Oval 41">
              <a:extLst>
                <a:ext uri="{FF2B5EF4-FFF2-40B4-BE49-F238E27FC236}">
                  <a16:creationId xmlns:a16="http://schemas.microsoft.com/office/drawing/2014/main" xmlns="" id="{67183840-CA5E-41AC-8BA4-676FBC67C282}"/>
                </a:ext>
              </a:extLst>
            </p:cNvPr>
            <p:cNvSpPr/>
            <p:nvPr/>
          </p:nvSpPr>
          <p:spPr>
            <a:xfrm>
              <a:off x="4778719" y="5026324"/>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3" name="Oval 42">
              <a:extLst>
                <a:ext uri="{FF2B5EF4-FFF2-40B4-BE49-F238E27FC236}">
                  <a16:creationId xmlns:a16="http://schemas.microsoft.com/office/drawing/2014/main" xmlns="" id="{A207EA9E-2A7E-4CA2-B13A-7956BC73097B}"/>
                </a:ext>
              </a:extLst>
            </p:cNvPr>
            <p:cNvSpPr/>
            <p:nvPr/>
          </p:nvSpPr>
          <p:spPr>
            <a:xfrm>
              <a:off x="5593215" y="5026324"/>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4" name="Oval 43">
              <a:extLst>
                <a:ext uri="{FF2B5EF4-FFF2-40B4-BE49-F238E27FC236}">
                  <a16:creationId xmlns:a16="http://schemas.microsoft.com/office/drawing/2014/main" xmlns="" id="{A68926DB-EC77-4FAF-8387-81160673330E}"/>
                </a:ext>
              </a:extLst>
            </p:cNvPr>
            <p:cNvSpPr/>
            <p:nvPr/>
          </p:nvSpPr>
          <p:spPr>
            <a:xfrm>
              <a:off x="4963832" y="5489106"/>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5" name="Oval 44">
              <a:extLst>
                <a:ext uri="{FF2B5EF4-FFF2-40B4-BE49-F238E27FC236}">
                  <a16:creationId xmlns:a16="http://schemas.microsoft.com/office/drawing/2014/main" xmlns="" id="{21DDF9FD-DCA9-4F7E-9E84-90C4E26D8618}"/>
                </a:ext>
              </a:extLst>
            </p:cNvPr>
            <p:cNvSpPr/>
            <p:nvPr/>
          </p:nvSpPr>
          <p:spPr>
            <a:xfrm>
              <a:off x="5408102" y="5489106"/>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46" name="Straight Arrow Connector 45">
              <a:extLst>
                <a:ext uri="{FF2B5EF4-FFF2-40B4-BE49-F238E27FC236}">
                  <a16:creationId xmlns:a16="http://schemas.microsoft.com/office/drawing/2014/main" xmlns="" id="{45A1FA9B-4B89-4B97-94B0-7BC340E2F4F0}"/>
                </a:ext>
              </a:extLst>
            </p:cNvPr>
            <p:cNvCxnSpPr/>
            <p:nvPr/>
          </p:nvCxnSpPr>
          <p:spPr>
            <a:xfrm>
              <a:off x="5343970" y="4888148"/>
              <a:ext cx="276353" cy="165286"/>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xmlns="" id="{23ED6BEC-FDE7-441B-87F8-87C0EBBA45B7}"/>
                </a:ext>
              </a:extLst>
            </p:cNvPr>
            <p:cNvCxnSpPr/>
            <p:nvPr/>
          </p:nvCxnSpPr>
          <p:spPr>
            <a:xfrm flipH="1">
              <a:off x="4936723" y="4888148"/>
              <a:ext cx="276353" cy="165286"/>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xmlns="" id="{F8A4093E-82E2-4F9D-BFCA-FAD5164F088C}"/>
                </a:ext>
              </a:extLst>
            </p:cNvPr>
            <p:cNvCxnSpPr/>
            <p:nvPr/>
          </p:nvCxnSpPr>
          <p:spPr>
            <a:xfrm flipH="1">
              <a:off x="5056388" y="4915257"/>
              <a:ext cx="222135" cy="57385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xmlns="" id="{D80A2A72-AC93-4999-B7B0-0EAE4909DB6A}"/>
                </a:ext>
              </a:extLst>
            </p:cNvPr>
            <p:cNvCxnSpPr/>
            <p:nvPr/>
          </p:nvCxnSpPr>
          <p:spPr>
            <a:xfrm>
              <a:off x="5278523" y="4915257"/>
              <a:ext cx="222135" cy="57385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xmlns="" id="{95257391-6E72-499A-94F0-49CEE4E82BF3}"/>
                </a:ext>
              </a:extLst>
            </p:cNvPr>
            <p:cNvCxnSpPr/>
            <p:nvPr/>
          </p:nvCxnSpPr>
          <p:spPr>
            <a:xfrm>
              <a:off x="4871275" y="5211437"/>
              <a:ext cx="119665" cy="304778"/>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xmlns="" id="{A98374CB-906D-4DEC-8A6D-CD13264682A5}"/>
                </a:ext>
              </a:extLst>
            </p:cNvPr>
            <p:cNvCxnSpPr/>
            <p:nvPr/>
          </p:nvCxnSpPr>
          <p:spPr>
            <a:xfrm flipH="1">
              <a:off x="5566105" y="5211437"/>
              <a:ext cx="119665" cy="304778"/>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xmlns="" id="{100E0B43-702D-473C-A222-4F2C370067D6}"/>
                </a:ext>
              </a:extLst>
            </p:cNvPr>
            <p:cNvCxnSpPr/>
            <p:nvPr/>
          </p:nvCxnSpPr>
          <p:spPr>
            <a:xfrm>
              <a:off x="4963832" y="5118881"/>
              <a:ext cx="629383" cy="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xmlns="" id="{CA074040-3AAD-4D3B-8CA7-AA0F6FD9E0B4}"/>
                </a:ext>
              </a:extLst>
            </p:cNvPr>
            <p:cNvCxnSpPr/>
            <p:nvPr/>
          </p:nvCxnSpPr>
          <p:spPr>
            <a:xfrm>
              <a:off x="4963832" y="5118881"/>
              <a:ext cx="471379" cy="397335"/>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xmlns="" id="{5928CDD7-B129-4938-B5C2-75A1DA7C7B1D}"/>
                </a:ext>
              </a:extLst>
            </p:cNvPr>
            <p:cNvCxnSpPr/>
            <p:nvPr/>
          </p:nvCxnSpPr>
          <p:spPr>
            <a:xfrm flipH="1">
              <a:off x="5121835" y="5184328"/>
              <a:ext cx="498488" cy="331887"/>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xmlns="" id="{7DD5F5F7-BB90-45CB-A8F2-2C3F8E72DC27}"/>
                </a:ext>
              </a:extLst>
            </p:cNvPr>
            <p:cNvCxnSpPr/>
            <p:nvPr/>
          </p:nvCxnSpPr>
          <p:spPr>
            <a:xfrm>
              <a:off x="5148944" y="5581663"/>
              <a:ext cx="259158" cy="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p:cNvSpPr/>
            <p:nvPr/>
          </p:nvSpPr>
          <p:spPr>
            <a:xfrm>
              <a:off x="4778719" y="4715507"/>
              <a:ext cx="1026591" cy="958712"/>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57" name="TextBox 56"/>
                <p:cNvSpPr txBox="1"/>
                <p:nvPr/>
              </p:nvSpPr>
              <p:spPr>
                <a:xfrm>
                  <a:off x="4992961" y="4360811"/>
                  <a:ext cx="680123" cy="369332"/>
                </a:xfrm>
                <a:prstGeom prst="rect">
                  <a:avLst/>
                </a:prstGeom>
                <a:noFill/>
                <a:ln>
                  <a:noFill/>
                </a:ln>
              </p:spPr>
              <p:txBody>
                <a:bodyPr wrap="none" rtlCol="0">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lang="en-US" i="1" smtClean="0">
                                <a:solidFill>
                                  <a:srgbClr val="000000"/>
                                </a:solidFill>
                                <a:latin typeface="Cambria Math" charset="0"/>
                              </a:rPr>
                            </m:ctrlPr>
                          </m:sSubPr>
                          <m:e>
                            <m:r>
                              <a:rPr lang="en-US" i="1" smtClean="0">
                                <a:solidFill>
                                  <a:srgbClr val="000000"/>
                                </a:solidFill>
                                <a:latin typeface="Cambria Math" charset="0"/>
                              </a:rPr>
                              <m:t>𝒯</m:t>
                            </m:r>
                          </m:e>
                          <m:sub>
                            <m:r>
                              <a:rPr lang="en-US" i="1" smtClean="0">
                                <a:solidFill>
                                  <a:srgbClr val="000000"/>
                                </a:solidFill>
                                <a:latin typeface="Cambria Math" charset="0"/>
                              </a:rPr>
                              <m:t>𝑡𝑒𝑠𝑡</m:t>
                            </m:r>
                          </m:sub>
                        </m:sSub>
                      </m:oMath>
                    </m:oMathPara>
                  </a14:m>
                  <a:endParaRPr lang="en-US" dirty="0">
                    <a:solidFill>
                      <a:srgbClr val="000000"/>
                    </a:solidFill>
                    <a:latin typeface="Century Gothic" panose="020B0502020202020204" pitchFamily="34" charset="0"/>
                  </a:endParaRPr>
                </a:p>
              </p:txBody>
            </p:sp>
          </mc:Choice>
          <mc:Fallback xmlns="">
            <p:sp>
              <p:nvSpPr>
                <p:cNvPr id="57" name="TextBox 56"/>
                <p:cNvSpPr txBox="1">
                  <a:spLocks noRot="1" noChangeAspect="1" noMove="1" noResize="1" noEditPoints="1" noAdjustHandles="1" noChangeArrowheads="1" noChangeShapeType="1" noTextEdit="1"/>
                </p:cNvSpPr>
                <p:nvPr/>
              </p:nvSpPr>
              <p:spPr>
                <a:xfrm>
                  <a:off x="4992961" y="4360811"/>
                  <a:ext cx="680123" cy="369332"/>
                </a:xfrm>
                <a:prstGeom prst="rect">
                  <a:avLst/>
                </a:prstGeom>
                <a:blipFill rotWithShape="0">
                  <a:blip r:embed="rId7"/>
                  <a:stretch>
                    <a:fillRect/>
                  </a:stretch>
                </a:blipFill>
                <a:ln>
                  <a:noFill/>
                </a:ln>
              </p:spPr>
              <p:txBody>
                <a:bodyPr/>
                <a:lstStyle/>
                <a:p>
                  <a:r>
                    <a:rPr lang="en-US">
                      <a:noFill/>
                    </a:rPr>
                    <a:t> </a:t>
                  </a:r>
                </a:p>
              </p:txBody>
            </p:sp>
          </mc:Fallback>
        </mc:AlternateContent>
      </p:grpSp>
      <p:sp>
        <p:nvSpPr>
          <p:cNvPr id="38" name="Rounded Rectangle 37"/>
          <p:cNvSpPr/>
          <p:nvPr/>
        </p:nvSpPr>
        <p:spPr>
          <a:xfrm>
            <a:off x="1981200" y="4758281"/>
            <a:ext cx="5339646" cy="1536180"/>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39" name="TextBox 38"/>
          <p:cNvSpPr txBox="1"/>
          <p:nvPr/>
        </p:nvSpPr>
        <p:spPr>
          <a:xfrm>
            <a:off x="5643558" y="5788540"/>
            <a:ext cx="1683474" cy="369332"/>
          </a:xfrm>
          <a:prstGeom prst="rect">
            <a:avLst/>
          </a:prstGeom>
          <a:solidFill>
            <a:schemeClr val="tx1">
              <a:lumMod val="65000"/>
            </a:schemeClr>
          </a:solidFill>
          <a:ln>
            <a:noFill/>
          </a:ln>
        </p:spPr>
        <p:txBody>
          <a:bodyPr wrap="none" rtlCol="0">
            <a:spAutoFit/>
          </a:bodyPr>
          <a:lstStyle/>
          <a:p>
            <a:pPr eaLnBrk="0" fontAlgn="base" hangingPunct="0">
              <a:spcBef>
                <a:spcPct val="0"/>
              </a:spcBef>
              <a:spcAft>
                <a:spcPct val="0"/>
              </a:spcAft>
            </a:pPr>
            <a:r>
              <a:rPr lang="en-US" dirty="0">
                <a:solidFill>
                  <a:srgbClr val="FFFFFF"/>
                </a:solidFill>
                <a:latin typeface="Century Gothic" panose="020B0502020202020204" pitchFamily="34" charset="0"/>
              </a:rPr>
              <a:t>Testing Phase</a:t>
            </a:r>
          </a:p>
        </p:txBody>
      </p:sp>
      <p:grpSp>
        <p:nvGrpSpPr>
          <p:cNvPr id="6" name="Group 5">
            <a:extLst>
              <a:ext uri="{FF2B5EF4-FFF2-40B4-BE49-F238E27FC236}">
                <a16:creationId xmlns:a16="http://schemas.microsoft.com/office/drawing/2014/main" xmlns="" id="{234A66C0-CCEC-2746-9E7C-B17EA18B3140}"/>
              </a:ext>
            </a:extLst>
          </p:cNvPr>
          <p:cNvGrpSpPr/>
          <p:nvPr/>
        </p:nvGrpSpPr>
        <p:grpSpPr>
          <a:xfrm>
            <a:off x="3231927" y="4114801"/>
            <a:ext cx="2869591" cy="1603934"/>
            <a:chOff x="3460527" y="4114801"/>
            <a:chExt cx="2869591" cy="1603934"/>
          </a:xfrm>
        </p:grpSpPr>
        <p:sp>
          <p:nvSpPr>
            <p:cNvPr id="37" name="Bent-Up Arrow 36"/>
            <p:cNvSpPr/>
            <p:nvPr/>
          </p:nvSpPr>
          <p:spPr>
            <a:xfrm rot="16200000" flipH="1" flipV="1">
              <a:off x="3116521" y="4458807"/>
              <a:ext cx="1603934" cy="915921"/>
            </a:xfrm>
            <a:prstGeom prst="bentUpArrow">
              <a:avLst>
                <a:gd name="adj1" fmla="val 20041"/>
                <a:gd name="adj2" fmla="val 20982"/>
                <a:gd name="adj3" fmla="val 25273"/>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0" name="Bent-Up Arrow 39"/>
            <p:cNvSpPr/>
            <p:nvPr/>
          </p:nvSpPr>
          <p:spPr>
            <a:xfrm rot="5400000" flipV="1">
              <a:off x="5070191" y="4458807"/>
              <a:ext cx="1603934" cy="915921"/>
            </a:xfrm>
            <a:prstGeom prst="bentUpArrow">
              <a:avLst>
                <a:gd name="adj1" fmla="val 20041"/>
                <a:gd name="adj2" fmla="val 20982"/>
                <a:gd name="adj3" fmla="val 25273"/>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nvGrpSpPr>
          <p:cNvPr id="5" name="Group 4">
            <a:extLst>
              <a:ext uri="{FF2B5EF4-FFF2-40B4-BE49-F238E27FC236}">
                <a16:creationId xmlns:a16="http://schemas.microsoft.com/office/drawing/2014/main" xmlns="" id="{83896762-4732-8C42-B6FA-D36812F47DC9}"/>
              </a:ext>
            </a:extLst>
          </p:cNvPr>
          <p:cNvGrpSpPr/>
          <p:nvPr/>
        </p:nvGrpSpPr>
        <p:grpSpPr>
          <a:xfrm>
            <a:off x="2301533" y="2652231"/>
            <a:ext cx="4702963" cy="1335968"/>
            <a:chOff x="2530133" y="2652231"/>
            <a:chExt cx="4702963" cy="1335968"/>
          </a:xfrm>
        </p:grpSpPr>
        <p:sp>
          <p:nvSpPr>
            <p:cNvPr id="15" name="Rectangle 14"/>
            <p:cNvSpPr/>
            <p:nvPr/>
          </p:nvSpPr>
          <p:spPr>
            <a:xfrm>
              <a:off x="4947096" y="2652231"/>
              <a:ext cx="2286000" cy="1335968"/>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6" name="Rectangle 15"/>
            <p:cNvSpPr/>
            <p:nvPr/>
          </p:nvSpPr>
          <p:spPr>
            <a:xfrm>
              <a:off x="2530133" y="2652231"/>
              <a:ext cx="2286000" cy="1335968"/>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nvGrpSpPr>
            <p:cNvPr id="17" name="Group 16"/>
            <p:cNvGrpSpPr/>
            <p:nvPr/>
          </p:nvGrpSpPr>
          <p:grpSpPr>
            <a:xfrm>
              <a:off x="2618926" y="2927844"/>
              <a:ext cx="1026591" cy="958712"/>
              <a:chOff x="3299081" y="2198810"/>
              <a:chExt cx="1026591" cy="958712"/>
            </a:xfrm>
          </p:grpSpPr>
          <p:grpSp>
            <p:nvGrpSpPr>
              <p:cNvPr id="108" name="Group 107"/>
              <p:cNvGrpSpPr/>
              <p:nvPr/>
            </p:nvGrpSpPr>
            <p:grpSpPr>
              <a:xfrm>
                <a:off x="3299081" y="2213447"/>
                <a:ext cx="999609" cy="944075"/>
                <a:chOff x="2226911" y="1490958"/>
                <a:chExt cx="999609" cy="944075"/>
              </a:xfrm>
            </p:grpSpPr>
            <p:sp>
              <p:nvSpPr>
                <p:cNvPr id="110" name="Oval 109">
                  <a:extLst>
                    <a:ext uri="{FF2B5EF4-FFF2-40B4-BE49-F238E27FC236}">
                      <a16:creationId xmlns:a16="http://schemas.microsoft.com/office/drawing/2014/main" xmlns="" id="{02A9185F-17CD-430F-B765-DD03EB939117}"/>
                    </a:ext>
                  </a:extLst>
                </p:cNvPr>
                <p:cNvSpPr/>
                <p:nvPr/>
              </p:nvSpPr>
              <p:spPr>
                <a:xfrm>
                  <a:off x="2634159" y="149095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11" name="Oval 110">
                  <a:extLst>
                    <a:ext uri="{FF2B5EF4-FFF2-40B4-BE49-F238E27FC236}">
                      <a16:creationId xmlns:a16="http://schemas.microsoft.com/office/drawing/2014/main" xmlns="" id="{67183840-CA5E-41AC-8BA4-676FBC67C282}"/>
                    </a:ext>
                  </a:extLst>
                </p:cNvPr>
                <p:cNvSpPr/>
                <p:nvPr/>
              </p:nvSpPr>
              <p:spPr>
                <a:xfrm>
                  <a:off x="2226911"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12" name="Oval 111">
                  <a:extLst>
                    <a:ext uri="{FF2B5EF4-FFF2-40B4-BE49-F238E27FC236}">
                      <a16:creationId xmlns:a16="http://schemas.microsoft.com/office/drawing/2014/main" xmlns="" id="{A207EA9E-2A7E-4CA2-B13A-7956BC73097B}"/>
                    </a:ext>
                  </a:extLst>
                </p:cNvPr>
                <p:cNvSpPr/>
                <p:nvPr/>
              </p:nvSpPr>
              <p:spPr>
                <a:xfrm>
                  <a:off x="3041407"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13" name="Oval 112">
                  <a:extLst>
                    <a:ext uri="{FF2B5EF4-FFF2-40B4-BE49-F238E27FC236}">
                      <a16:creationId xmlns:a16="http://schemas.microsoft.com/office/drawing/2014/main" xmlns="" id="{A68926DB-EC77-4FAF-8387-81160673330E}"/>
                    </a:ext>
                  </a:extLst>
                </p:cNvPr>
                <p:cNvSpPr/>
                <p:nvPr/>
              </p:nvSpPr>
              <p:spPr>
                <a:xfrm>
                  <a:off x="2412024"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14" name="Oval 113">
                  <a:extLst>
                    <a:ext uri="{FF2B5EF4-FFF2-40B4-BE49-F238E27FC236}">
                      <a16:creationId xmlns:a16="http://schemas.microsoft.com/office/drawing/2014/main" xmlns="" id="{21DDF9FD-DCA9-4F7E-9E84-90C4E26D8618}"/>
                    </a:ext>
                  </a:extLst>
                </p:cNvPr>
                <p:cNvSpPr/>
                <p:nvPr/>
              </p:nvSpPr>
              <p:spPr>
                <a:xfrm>
                  <a:off x="2856294"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115" name="Straight Arrow Connector 114">
                  <a:extLst>
                    <a:ext uri="{FF2B5EF4-FFF2-40B4-BE49-F238E27FC236}">
                      <a16:creationId xmlns:a16="http://schemas.microsoft.com/office/drawing/2014/main" xmlns="" id="{45A1FA9B-4B89-4B97-94B0-7BC340E2F4F0}"/>
                    </a:ext>
                  </a:extLst>
                </p:cNvPr>
                <p:cNvCxnSpPr/>
                <p:nvPr/>
              </p:nvCxnSpPr>
              <p:spPr>
                <a:xfrm>
                  <a:off x="2792162" y="1648962"/>
                  <a:ext cx="276353" cy="165286"/>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xmlns="" id="{23ED6BEC-FDE7-441B-87F8-87C0EBBA45B7}"/>
                    </a:ext>
                  </a:extLst>
                </p:cNvPr>
                <p:cNvCxnSpPr/>
                <p:nvPr/>
              </p:nvCxnSpPr>
              <p:spPr>
                <a:xfrm flipH="1">
                  <a:off x="2384915" y="1648962"/>
                  <a:ext cx="276353" cy="165286"/>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xmlns="" id="{F8A4093E-82E2-4F9D-BFCA-FAD5164F088C}"/>
                    </a:ext>
                  </a:extLst>
                </p:cNvPr>
                <p:cNvCxnSpPr/>
                <p:nvPr/>
              </p:nvCxnSpPr>
              <p:spPr>
                <a:xfrm flipH="1">
                  <a:off x="2504580" y="1676071"/>
                  <a:ext cx="222135" cy="57385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xmlns="" id="{D80A2A72-AC93-4999-B7B0-0EAE4909DB6A}"/>
                    </a:ext>
                  </a:extLst>
                </p:cNvPr>
                <p:cNvCxnSpPr/>
                <p:nvPr/>
              </p:nvCxnSpPr>
              <p:spPr>
                <a:xfrm>
                  <a:off x="2726715" y="1676071"/>
                  <a:ext cx="222135" cy="57385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xmlns="" id="{95257391-6E72-499A-94F0-49CEE4E82BF3}"/>
                    </a:ext>
                  </a:extLst>
                </p:cNvPr>
                <p:cNvCxnSpPr/>
                <p:nvPr/>
              </p:nvCxnSpPr>
              <p:spPr>
                <a:xfrm>
                  <a:off x="2319467" y="1972251"/>
                  <a:ext cx="119665" cy="304778"/>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xmlns="" id="{A98374CB-906D-4DEC-8A6D-CD13264682A5}"/>
                    </a:ext>
                  </a:extLst>
                </p:cNvPr>
                <p:cNvCxnSpPr/>
                <p:nvPr/>
              </p:nvCxnSpPr>
              <p:spPr>
                <a:xfrm flipH="1">
                  <a:off x="3014297" y="1972251"/>
                  <a:ext cx="119665" cy="304778"/>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xmlns="" id="{100E0B43-702D-473C-A222-4F2C370067D6}"/>
                    </a:ext>
                  </a:extLst>
                </p:cNvPr>
                <p:cNvCxnSpPr/>
                <p:nvPr/>
              </p:nvCxnSpPr>
              <p:spPr>
                <a:xfrm>
                  <a:off x="2412024" y="1879695"/>
                  <a:ext cx="629383" cy="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xmlns="" id="{CA074040-3AAD-4D3B-8CA7-AA0F6FD9E0B4}"/>
                    </a:ext>
                  </a:extLst>
                </p:cNvPr>
                <p:cNvCxnSpPr/>
                <p:nvPr/>
              </p:nvCxnSpPr>
              <p:spPr>
                <a:xfrm>
                  <a:off x="2412024" y="1879695"/>
                  <a:ext cx="471379" cy="397335"/>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xmlns="" id="{5928CDD7-B129-4938-B5C2-75A1DA7C7B1D}"/>
                    </a:ext>
                  </a:extLst>
                </p:cNvPr>
                <p:cNvCxnSpPr/>
                <p:nvPr/>
              </p:nvCxnSpPr>
              <p:spPr>
                <a:xfrm flipH="1">
                  <a:off x="2570027" y="1945142"/>
                  <a:ext cx="498488" cy="331887"/>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xmlns="" id="{7DD5F5F7-BB90-45CB-A8F2-2C3F8E72DC27}"/>
                    </a:ext>
                  </a:extLst>
                </p:cNvPr>
                <p:cNvCxnSpPr/>
                <p:nvPr/>
              </p:nvCxnSpPr>
              <p:spPr>
                <a:xfrm>
                  <a:off x="2597136" y="2342477"/>
                  <a:ext cx="259158" cy="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grpSp>
          <p:sp>
            <p:nvSpPr>
              <p:cNvPr id="109" name="Rectangle 108"/>
              <p:cNvSpPr/>
              <p:nvPr/>
            </p:nvSpPr>
            <p:spPr>
              <a:xfrm>
                <a:off x="3299081" y="2198810"/>
                <a:ext cx="1026591" cy="958712"/>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nvGrpSpPr>
            <p:cNvPr id="18" name="Group 17"/>
            <p:cNvGrpSpPr/>
            <p:nvPr/>
          </p:nvGrpSpPr>
          <p:grpSpPr>
            <a:xfrm>
              <a:off x="3713734" y="2927844"/>
              <a:ext cx="1026591" cy="958712"/>
              <a:chOff x="4619667" y="3734099"/>
              <a:chExt cx="1026591" cy="958712"/>
            </a:xfrm>
          </p:grpSpPr>
          <p:grpSp>
            <p:nvGrpSpPr>
              <p:cNvPr id="101" name="Group 100"/>
              <p:cNvGrpSpPr/>
              <p:nvPr/>
            </p:nvGrpSpPr>
            <p:grpSpPr>
              <a:xfrm>
                <a:off x="4626938" y="3748736"/>
                <a:ext cx="999609" cy="944075"/>
                <a:chOff x="3498049" y="1490958"/>
                <a:chExt cx="999609" cy="944075"/>
              </a:xfrm>
            </p:grpSpPr>
            <p:sp>
              <p:nvSpPr>
                <p:cNvPr id="103" name="Oval 102">
                  <a:extLst>
                    <a:ext uri="{FF2B5EF4-FFF2-40B4-BE49-F238E27FC236}">
                      <a16:creationId xmlns:a16="http://schemas.microsoft.com/office/drawing/2014/main" xmlns="" id="{02A9185F-17CD-430F-B765-DD03EB939117}"/>
                    </a:ext>
                  </a:extLst>
                </p:cNvPr>
                <p:cNvSpPr/>
                <p:nvPr/>
              </p:nvSpPr>
              <p:spPr>
                <a:xfrm>
                  <a:off x="3905297" y="149095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04" name="Oval 103">
                  <a:extLst>
                    <a:ext uri="{FF2B5EF4-FFF2-40B4-BE49-F238E27FC236}">
                      <a16:creationId xmlns:a16="http://schemas.microsoft.com/office/drawing/2014/main" xmlns="" id="{67183840-CA5E-41AC-8BA4-676FBC67C282}"/>
                    </a:ext>
                  </a:extLst>
                </p:cNvPr>
                <p:cNvSpPr/>
                <p:nvPr/>
              </p:nvSpPr>
              <p:spPr>
                <a:xfrm>
                  <a:off x="3498049"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05" name="Oval 104">
                  <a:extLst>
                    <a:ext uri="{FF2B5EF4-FFF2-40B4-BE49-F238E27FC236}">
                      <a16:creationId xmlns:a16="http://schemas.microsoft.com/office/drawing/2014/main" xmlns="" id="{A207EA9E-2A7E-4CA2-B13A-7956BC73097B}"/>
                    </a:ext>
                  </a:extLst>
                </p:cNvPr>
                <p:cNvSpPr/>
                <p:nvPr/>
              </p:nvSpPr>
              <p:spPr>
                <a:xfrm>
                  <a:off x="4312545"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06" name="Oval 105">
                  <a:extLst>
                    <a:ext uri="{FF2B5EF4-FFF2-40B4-BE49-F238E27FC236}">
                      <a16:creationId xmlns:a16="http://schemas.microsoft.com/office/drawing/2014/main" xmlns="" id="{A68926DB-EC77-4FAF-8387-81160673330E}"/>
                    </a:ext>
                  </a:extLst>
                </p:cNvPr>
                <p:cNvSpPr/>
                <p:nvPr/>
              </p:nvSpPr>
              <p:spPr>
                <a:xfrm>
                  <a:off x="3683162"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07" name="Oval 106">
                  <a:extLst>
                    <a:ext uri="{FF2B5EF4-FFF2-40B4-BE49-F238E27FC236}">
                      <a16:creationId xmlns:a16="http://schemas.microsoft.com/office/drawing/2014/main" xmlns="" id="{21DDF9FD-DCA9-4F7E-9E84-90C4E26D8618}"/>
                    </a:ext>
                  </a:extLst>
                </p:cNvPr>
                <p:cNvSpPr/>
                <p:nvPr/>
              </p:nvSpPr>
              <p:spPr>
                <a:xfrm>
                  <a:off x="4127432"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sp>
            <p:nvSpPr>
              <p:cNvPr id="102" name="Rectangle 101"/>
              <p:cNvSpPr/>
              <p:nvPr/>
            </p:nvSpPr>
            <p:spPr>
              <a:xfrm>
                <a:off x="4619667" y="3734099"/>
                <a:ext cx="1026591" cy="958712"/>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nvGrpSpPr>
            <p:cNvPr id="19" name="Group 18"/>
            <p:cNvGrpSpPr/>
            <p:nvPr/>
          </p:nvGrpSpPr>
          <p:grpSpPr>
            <a:xfrm>
              <a:off x="5045727" y="2927844"/>
              <a:ext cx="1026591" cy="958712"/>
              <a:chOff x="5951660" y="3474452"/>
              <a:chExt cx="1026591" cy="958712"/>
            </a:xfrm>
          </p:grpSpPr>
          <p:cxnSp>
            <p:nvCxnSpPr>
              <p:cNvPr id="88" name="Straight Arrow Connector 87">
                <a:extLst>
                  <a:ext uri="{FF2B5EF4-FFF2-40B4-BE49-F238E27FC236}">
                    <a16:creationId xmlns:a16="http://schemas.microsoft.com/office/drawing/2014/main" xmlns="" id="{6811DF0B-84E5-1342-9EFD-307D206E224B}"/>
                  </a:ext>
                </a:extLst>
              </p:cNvPr>
              <p:cNvCxnSpPr/>
              <p:nvPr/>
            </p:nvCxnSpPr>
            <p:spPr>
              <a:xfrm flipH="1">
                <a:off x="6731847" y="3980529"/>
                <a:ext cx="119665" cy="304778"/>
              </a:xfrm>
              <a:prstGeom prst="straightConnector1">
                <a:avLst/>
              </a:prstGeom>
              <a:solidFill>
                <a:srgbClr val="002060"/>
              </a:solid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nvGrpSpPr>
              <p:cNvPr id="89" name="Group 88"/>
              <p:cNvGrpSpPr/>
              <p:nvPr/>
            </p:nvGrpSpPr>
            <p:grpSpPr>
              <a:xfrm>
                <a:off x="5951660" y="3474452"/>
                <a:ext cx="1026591" cy="958712"/>
                <a:chOff x="5951660" y="3734099"/>
                <a:chExt cx="1026591" cy="958712"/>
              </a:xfrm>
            </p:grpSpPr>
            <p:grpSp>
              <p:nvGrpSpPr>
                <p:cNvPr id="90" name="Group 89">
                  <a:extLst>
                    <a:ext uri="{FF2B5EF4-FFF2-40B4-BE49-F238E27FC236}">
                      <a16:creationId xmlns:a16="http://schemas.microsoft.com/office/drawing/2014/main" xmlns="" id="{8BE54C6C-6981-4B81-9F8F-C21AE2C33F97}"/>
                    </a:ext>
                  </a:extLst>
                </p:cNvPr>
                <p:cNvGrpSpPr/>
                <p:nvPr/>
              </p:nvGrpSpPr>
              <p:grpSpPr>
                <a:xfrm>
                  <a:off x="5968863" y="3748736"/>
                  <a:ext cx="999608" cy="944075"/>
                  <a:chOff x="762000" y="4648200"/>
                  <a:chExt cx="2057400" cy="1943100"/>
                </a:xfrm>
                <a:solidFill>
                  <a:srgbClr val="FF0000"/>
                </a:solidFill>
              </p:grpSpPr>
              <p:sp>
                <p:nvSpPr>
                  <p:cNvPr id="92" name="Oval 91">
                    <a:extLst>
                      <a:ext uri="{FF2B5EF4-FFF2-40B4-BE49-F238E27FC236}">
                        <a16:creationId xmlns:a16="http://schemas.microsoft.com/office/drawing/2014/main" xmlns="" id="{D25A5BC8-2F39-483F-9C54-C5797253DF53}"/>
                      </a:ext>
                    </a:extLst>
                  </p:cNvPr>
                  <p:cNvSpPr/>
                  <p:nvPr/>
                </p:nvSpPr>
                <p:spPr>
                  <a:xfrm>
                    <a:off x="1600200" y="46482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93" name="Oval 92">
                    <a:extLst>
                      <a:ext uri="{FF2B5EF4-FFF2-40B4-BE49-F238E27FC236}">
                        <a16:creationId xmlns:a16="http://schemas.microsoft.com/office/drawing/2014/main" xmlns="" id="{379DC205-3F09-4511-820D-415EE3B1851D}"/>
                      </a:ext>
                    </a:extLst>
                  </p:cNvPr>
                  <p:cNvSpPr/>
                  <p:nvPr/>
                </p:nvSpPr>
                <p:spPr>
                  <a:xfrm>
                    <a:off x="7620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94" name="Oval 93">
                    <a:extLst>
                      <a:ext uri="{FF2B5EF4-FFF2-40B4-BE49-F238E27FC236}">
                        <a16:creationId xmlns:a16="http://schemas.microsoft.com/office/drawing/2014/main" xmlns="" id="{0038798E-5C7B-42B4-903E-17CE0F788967}"/>
                      </a:ext>
                    </a:extLst>
                  </p:cNvPr>
                  <p:cNvSpPr/>
                  <p:nvPr/>
                </p:nvSpPr>
                <p:spPr>
                  <a:xfrm>
                    <a:off x="24384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95" name="Oval 94">
                    <a:extLst>
                      <a:ext uri="{FF2B5EF4-FFF2-40B4-BE49-F238E27FC236}">
                        <a16:creationId xmlns:a16="http://schemas.microsoft.com/office/drawing/2014/main" xmlns="" id="{37064CCC-35FB-4514-826D-231F95B6BA05}"/>
                      </a:ext>
                    </a:extLst>
                  </p:cNvPr>
                  <p:cNvSpPr/>
                  <p:nvPr/>
                </p:nvSpPr>
                <p:spPr>
                  <a:xfrm>
                    <a:off x="11430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96" name="Oval 95">
                    <a:extLst>
                      <a:ext uri="{FF2B5EF4-FFF2-40B4-BE49-F238E27FC236}">
                        <a16:creationId xmlns:a16="http://schemas.microsoft.com/office/drawing/2014/main" xmlns="" id="{426FEC5B-EE24-491D-BBF7-D3A8216522A6}"/>
                      </a:ext>
                    </a:extLst>
                  </p:cNvPr>
                  <p:cNvSpPr/>
                  <p:nvPr/>
                </p:nvSpPr>
                <p:spPr>
                  <a:xfrm>
                    <a:off x="20574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97" name="Straight Arrow Connector 96">
                    <a:extLst>
                      <a:ext uri="{FF2B5EF4-FFF2-40B4-BE49-F238E27FC236}">
                        <a16:creationId xmlns:a16="http://schemas.microsoft.com/office/drawing/2014/main" xmlns="" id="{923F6EA9-872C-444F-ADE5-4FC5C2491BDE}"/>
                      </a:ext>
                    </a:extLst>
                  </p:cNvPr>
                  <p:cNvCxnSpPr/>
                  <p:nvPr/>
                </p:nvCxnSpPr>
                <p:spPr>
                  <a:xfrm>
                    <a:off x="1925404" y="4973404"/>
                    <a:ext cx="568792" cy="340192"/>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xmlns="" id="{C47B41FF-CE2A-4183-A6CB-7EB310CFC618}"/>
                      </a:ext>
                    </a:extLst>
                  </p:cNvPr>
                  <p:cNvCxnSpPr/>
                  <p:nvPr/>
                </p:nvCxnSpPr>
                <p:spPr>
                  <a:xfrm>
                    <a:off x="1790700" y="5029200"/>
                    <a:ext cx="457200" cy="118110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xmlns="" id="{56B4B8DF-6B8A-4E6F-94C7-4B1FA997B994}"/>
                      </a:ext>
                    </a:extLst>
                  </p:cNvPr>
                  <p:cNvCxnSpPr/>
                  <p:nvPr/>
                </p:nvCxnSpPr>
                <p:spPr>
                  <a:xfrm>
                    <a:off x="952500" y="5638800"/>
                    <a:ext cx="246296" cy="6272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xmlns="" id="{33DD37DD-6AD4-4B8A-B620-4B752A49B91A}"/>
                      </a:ext>
                    </a:extLst>
                  </p:cNvPr>
                  <p:cNvCxnSpPr/>
                  <p:nvPr/>
                </p:nvCxnSpPr>
                <p:spPr>
                  <a:xfrm>
                    <a:off x="1143000" y="5448300"/>
                    <a:ext cx="970196" cy="8177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Rectangle 90"/>
                <p:cNvSpPr/>
                <p:nvPr/>
              </p:nvSpPr>
              <p:spPr>
                <a:xfrm>
                  <a:off x="5951660" y="3734099"/>
                  <a:ext cx="1026591" cy="958712"/>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grpSp>
          <p:nvGrpSpPr>
            <p:cNvPr id="20" name="Group 19"/>
            <p:cNvGrpSpPr/>
            <p:nvPr/>
          </p:nvGrpSpPr>
          <p:grpSpPr>
            <a:xfrm>
              <a:off x="6140757" y="2927844"/>
              <a:ext cx="1026591" cy="958712"/>
              <a:chOff x="7046690" y="3734099"/>
              <a:chExt cx="1026591" cy="958712"/>
            </a:xfrm>
          </p:grpSpPr>
          <p:grpSp>
            <p:nvGrpSpPr>
              <p:cNvPr id="75" name="Group 74"/>
              <p:cNvGrpSpPr/>
              <p:nvPr/>
            </p:nvGrpSpPr>
            <p:grpSpPr>
              <a:xfrm>
                <a:off x="7060183" y="3748736"/>
                <a:ext cx="999608" cy="944075"/>
                <a:chOff x="6181899" y="1490958"/>
                <a:chExt cx="999608" cy="944075"/>
              </a:xfrm>
            </p:grpSpPr>
            <p:cxnSp>
              <p:nvCxnSpPr>
                <p:cNvPr id="77" name="Straight Arrow Connector 76">
                  <a:extLst>
                    <a:ext uri="{FF2B5EF4-FFF2-40B4-BE49-F238E27FC236}">
                      <a16:creationId xmlns:a16="http://schemas.microsoft.com/office/drawing/2014/main" xmlns="" id="{3A02BEAB-59FF-9A44-8D7A-2D878506FEB7}"/>
                    </a:ext>
                  </a:extLst>
                </p:cNvPr>
                <p:cNvCxnSpPr/>
                <p:nvPr/>
              </p:nvCxnSpPr>
              <p:spPr>
                <a:xfrm flipH="1">
                  <a:off x="6949978" y="1972251"/>
                  <a:ext cx="119665" cy="304778"/>
                </a:xfrm>
                <a:prstGeom prst="straightConnector1">
                  <a:avLst/>
                </a:prstGeom>
                <a:solidFill>
                  <a:srgbClr val="002060"/>
                </a:solid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nvGrpSpPr>
                <p:cNvPr id="78" name="Group 77">
                  <a:extLst>
                    <a:ext uri="{FF2B5EF4-FFF2-40B4-BE49-F238E27FC236}">
                      <a16:creationId xmlns:a16="http://schemas.microsoft.com/office/drawing/2014/main" xmlns="" id="{8BE54C6C-6981-4B81-9F8F-C21AE2C33F97}"/>
                    </a:ext>
                  </a:extLst>
                </p:cNvPr>
                <p:cNvGrpSpPr/>
                <p:nvPr/>
              </p:nvGrpSpPr>
              <p:grpSpPr>
                <a:xfrm>
                  <a:off x="6181899" y="1490958"/>
                  <a:ext cx="999608" cy="944075"/>
                  <a:chOff x="762000" y="4648200"/>
                  <a:chExt cx="2057400" cy="1943100"/>
                </a:xfrm>
                <a:solidFill>
                  <a:srgbClr val="FF0000"/>
                </a:solidFill>
              </p:grpSpPr>
              <p:sp>
                <p:nvSpPr>
                  <p:cNvPr id="81" name="Oval 80">
                    <a:extLst>
                      <a:ext uri="{FF2B5EF4-FFF2-40B4-BE49-F238E27FC236}">
                        <a16:creationId xmlns:a16="http://schemas.microsoft.com/office/drawing/2014/main" xmlns="" id="{D25A5BC8-2F39-483F-9C54-C5797253DF53}"/>
                      </a:ext>
                    </a:extLst>
                  </p:cNvPr>
                  <p:cNvSpPr/>
                  <p:nvPr/>
                </p:nvSpPr>
                <p:spPr>
                  <a:xfrm>
                    <a:off x="1600200" y="46482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82" name="Oval 81">
                    <a:extLst>
                      <a:ext uri="{FF2B5EF4-FFF2-40B4-BE49-F238E27FC236}">
                        <a16:creationId xmlns:a16="http://schemas.microsoft.com/office/drawing/2014/main" xmlns="" id="{379DC205-3F09-4511-820D-415EE3B1851D}"/>
                      </a:ext>
                    </a:extLst>
                  </p:cNvPr>
                  <p:cNvSpPr/>
                  <p:nvPr/>
                </p:nvSpPr>
                <p:spPr>
                  <a:xfrm>
                    <a:off x="7620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83" name="Oval 82">
                    <a:extLst>
                      <a:ext uri="{FF2B5EF4-FFF2-40B4-BE49-F238E27FC236}">
                        <a16:creationId xmlns:a16="http://schemas.microsoft.com/office/drawing/2014/main" xmlns="" id="{0038798E-5C7B-42B4-903E-17CE0F788967}"/>
                      </a:ext>
                    </a:extLst>
                  </p:cNvPr>
                  <p:cNvSpPr/>
                  <p:nvPr/>
                </p:nvSpPr>
                <p:spPr>
                  <a:xfrm>
                    <a:off x="24384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84" name="Oval 83">
                    <a:extLst>
                      <a:ext uri="{FF2B5EF4-FFF2-40B4-BE49-F238E27FC236}">
                        <a16:creationId xmlns:a16="http://schemas.microsoft.com/office/drawing/2014/main" xmlns="" id="{37064CCC-35FB-4514-826D-231F95B6BA05}"/>
                      </a:ext>
                    </a:extLst>
                  </p:cNvPr>
                  <p:cNvSpPr/>
                  <p:nvPr/>
                </p:nvSpPr>
                <p:spPr>
                  <a:xfrm>
                    <a:off x="11430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85" name="Oval 84">
                    <a:extLst>
                      <a:ext uri="{FF2B5EF4-FFF2-40B4-BE49-F238E27FC236}">
                        <a16:creationId xmlns:a16="http://schemas.microsoft.com/office/drawing/2014/main" xmlns="" id="{426FEC5B-EE24-491D-BBF7-D3A8216522A6}"/>
                      </a:ext>
                    </a:extLst>
                  </p:cNvPr>
                  <p:cNvSpPr/>
                  <p:nvPr/>
                </p:nvSpPr>
                <p:spPr>
                  <a:xfrm>
                    <a:off x="20574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86" name="Straight Arrow Connector 85">
                    <a:extLst>
                      <a:ext uri="{FF2B5EF4-FFF2-40B4-BE49-F238E27FC236}">
                        <a16:creationId xmlns:a16="http://schemas.microsoft.com/office/drawing/2014/main" xmlns="" id="{C47B41FF-CE2A-4183-A6CB-7EB310CFC618}"/>
                      </a:ext>
                    </a:extLst>
                  </p:cNvPr>
                  <p:cNvCxnSpPr/>
                  <p:nvPr/>
                </p:nvCxnSpPr>
                <p:spPr>
                  <a:xfrm>
                    <a:off x="1790700" y="5029200"/>
                    <a:ext cx="457200" cy="118110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xmlns="" id="{56B4B8DF-6B8A-4E6F-94C7-4B1FA997B994}"/>
                      </a:ext>
                    </a:extLst>
                  </p:cNvPr>
                  <p:cNvCxnSpPr/>
                  <p:nvPr/>
                </p:nvCxnSpPr>
                <p:spPr>
                  <a:xfrm>
                    <a:off x="952500" y="5638800"/>
                    <a:ext cx="246296" cy="6272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cxnSp>
              <p:nvCxnSpPr>
                <p:cNvPr id="79" name="Straight Arrow Connector 78">
                  <a:extLst>
                    <a:ext uri="{FF2B5EF4-FFF2-40B4-BE49-F238E27FC236}">
                      <a16:creationId xmlns:a16="http://schemas.microsoft.com/office/drawing/2014/main" xmlns="" id="{29DE84B4-20D1-AA4C-A52E-23E1CC711439}"/>
                    </a:ext>
                  </a:extLst>
                </p:cNvPr>
                <p:cNvCxnSpPr>
                  <a:cxnSpLocks/>
                </p:cNvCxnSpPr>
                <p:nvPr/>
              </p:nvCxnSpPr>
              <p:spPr>
                <a:xfrm flipH="1">
                  <a:off x="6459569" y="1676071"/>
                  <a:ext cx="222135" cy="573849"/>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xmlns="" id="{438B59AB-FE5F-D64A-9821-D58468580957}"/>
                    </a:ext>
                  </a:extLst>
                </p:cNvPr>
                <p:cNvCxnSpPr/>
                <p:nvPr/>
              </p:nvCxnSpPr>
              <p:spPr>
                <a:xfrm>
                  <a:off x="6367012" y="1879695"/>
                  <a:ext cx="629382" cy="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sp>
            <p:nvSpPr>
              <p:cNvPr id="76" name="Rectangle 75"/>
              <p:cNvSpPr/>
              <p:nvPr/>
            </p:nvSpPr>
            <p:spPr>
              <a:xfrm>
                <a:off x="7046690" y="3734099"/>
                <a:ext cx="1026591" cy="958712"/>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spTree>
    <p:extLst>
      <p:ext uri="{BB962C8B-B14F-4D97-AF65-F5344CB8AC3E}">
        <p14:creationId xmlns:p14="http://schemas.microsoft.com/office/powerpoint/2010/main" val="1957802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up)">
                                      <p:cBhvr>
                                        <p:cTn id="10" dur="500"/>
                                        <p:tgtEl>
                                          <p:spTgt spid="31"/>
                                        </p:tgtEl>
                                      </p:cBhvr>
                                    </p:animEffect>
                                  </p:childTnLst>
                                </p:cTn>
                              </p:par>
                              <p:par>
                                <p:cTn id="11" presetID="9"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dissolve">
                                      <p:cBhvr>
                                        <p:cTn id="13" dur="500"/>
                                        <p:tgtEl>
                                          <p:spTgt spid="21"/>
                                        </p:tgtEl>
                                      </p:cBhvr>
                                    </p:animEffect>
                                  </p:childTnLst>
                                </p:cTn>
                              </p:par>
                              <p:par>
                                <p:cTn id="14" presetID="22" presetClass="entr" presetSubtype="2"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right)">
                                      <p:cBhvr>
                                        <p:cTn id="16" dur="500"/>
                                        <p:tgtEl>
                                          <p:spTgt spid="3"/>
                                        </p:tgtEl>
                                      </p:cBhvr>
                                    </p:animEffect>
                                  </p:childTnLst>
                                </p:cTn>
                              </p:par>
                              <p:par>
                                <p:cTn id="17" presetID="22" presetClass="entr" presetSubtype="8"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par>
                                <p:cTn id="20" presetID="9"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wipe(up)">
                                      <p:cBhvr>
                                        <p:cTn id="27" dur="500"/>
                                        <p:tgtEl>
                                          <p:spTgt spid="38"/>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up)">
                                      <p:cBhvr>
                                        <p:cTn id="30" dur="500"/>
                                        <p:tgtEl>
                                          <p:spTgt spid="39"/>
                                        </p:tgtEl>
                                      </p:cBhvr>
                                    </p:animEffect>
                                  </p:childTnLst>
                                </p:cTn>
                              </p:par>
                              <p:par>
                                <p:cTn id="31" presetID="9"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dissolve">
                                      <p:cBhvr>
                                        <p:cTn id="33" dur="500"/>
                                        <p:tgtEl>
                                          <p:spTgt spid="36"/>
                                        </p:tgtEl>
                                      </p:cBhvr>
                                    </p:animEffect>
                                  </p:childTnLst>
                                </p:cTn>
                              </p:par>
                              <p:par>
                                <p:cTn id="34" presetID="22" presetClass="entr" presetSubtype="1" fill="hold"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up)">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8" grpId="0" animBg="1"/>
      <p:bldP spid="39"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CDEDAA8-C491-C04C-A9E5-A4D1C8187556}"/>
              </a:ext>
            </a:extLst>
          </p:cNvPr>
          <p:cNvSpPr txBox="1"/>
          <p:nvPr/>
        </p:nvSpPr>
        <p:spPr>
          <a:xfrm>
            <a:off x="447674" y="4689418"/>
            <a:ext cx="8696326" cy="1200329"/>
          </a:xfrm>
          <a:prstGeom prst="rect">
            <a:avLst/>
          </a:prstGeom>
          <a:noFill/>
        </p:spPr>
        <p:txBody>
          <a:bodyPr wrap="square" rtlCol="0">
            <a:spAutoFit/>
          </a:bodyPr>
          <a:lstStyle/>
          <a:p>
            <a:pPr marL="342900" indent="-342900" eaLnBrk="0" fontAlgn="base" hangingPunct="0">
              <a:spcBef>
                <a:spcPct val="0"/>
              </a:spcBef>
              <a:spcAft>
                <a:spcPct val="0"/>
              </a:spcAft>
              <a:buSzPct val="65000"/>
              <a:buFont typeface="Wingdings" charset="2"/>
              <a:buChar char="q"/>
            </a:pPr>
            <a:r>
              <a:rPr lang="en-US" sz="2400" i="1" dirty="0">
                <a:solidFill>
                  <a:srgbClr val="000000"/>
                </a:solidFill>
                <a:latin typeface="Century Gothic" panose="020B0502020202020204" pitchFamily="34" charset="0"/>
              </a:rPr>
              <a:t>When we have a fixed budget, partial structures indeed lead to better performance.</a:t>
            </a:r>
          </a:p>
          <a:p>
            <a:pPr marL="342900" indent="-342900" eaLnBrk="0" fontAlgn="base" hangingPunct="0">
              <a:spcBef>
                <a:spcPct val="0"/>
              </a:spcBef>
              <a:spcAft>
                <a:spcPct val="0"/>
              </a:spcAft>
              <a:buSzPct val="65000"/>
              <a:buFont typeface="Wingdings" charset="2"/>
              <a:buChar char="q"/>
            </a:pPr>
            <a:r>
              <a:rPr lang="en-US" sz="2400" i="1" dirty="0">
                <a:solidFill>
                  <a:srgbClr val="000000"/>
                </a:solidFill>
                <a:latin typeface="Century Gothic" panose="020B0502020202020204" pitchFamily="34" charset="0"/>
              </a:rPr>
              <a:t>How should we </a:t>
            </a:r>
            <a:r>
              <a:rPr lang="en-US" sz="2400" b="1" i="1" dirty="0">
                <a:solidFill>
                  <a:srgbClr val="000000"/>
                </a:solidFill>
                <a:latin typeface="Century Gothic" panose="020B0502020202020204" pitchFamily="34" charset="0"/>
              </a:rPr>
              <a:t>quantify</a:t>
            </a:r>
            <a:r>
              <a:rPr lang="en-US" sz="2400" i="1" dirty="0">
                <a:solidFill>
                  <a:srgbClr val="000000"/>
                </a:solidFill>
                <a:latin typeface="Century Gothic" panose="020B0502020202020204" pitchFamily="34" charset="0"/>
              </a:rPr>
              <a:t> the quality of “partial”?</a:t>
            </a:r>
          </a:p>
        </p:txBody>
      </p:sp>
      <p:grpSp>
        <p:nvGrpSpPr>
          <p:cNvPr id="20" name="Group 19"/>
          <p:cNvGrpSpPr/>
          <p:nvPr/>
        </p:nvGrpSpPr>
        <p:grpSpPr>
          <a:xfrm>
            <a:off x="3884681" y="1363596"/>
            <a:ext cx="5224169" cy="2817342"/>
            <a:chOff x="3884681" y="1363596"/>
            <a:chExt cx="5224169" cy="2817342"/>
          </a:xfrm>
        </p:grpSpPr>
        <p:grpSp>
          <p:nvGrpSpPr>
            <p:cNvPr id="19" name="Group 18"/>
            <p:cNvGrpSpPr/>
            <p:nvPr/>
          </p:nvGrpSpPr>
          <p:grpSpPr>
            <a:xfrm>
              <a:off x="3884681" y="1363596"/>
              <a:ext cx="5061282" cy="2817342"/>
              <a:chOff x="3884681" y="1363596"/>
              <a:chExt cx="5061282" cy="2817342"/>
            </a:xfrm>
          </p:grpSpPr>
          <p:grpSp>
            <p:nvGrpSpPr>
              <p:cNvPr id="17" name="Group 16"/>
              <p:cNvGrpSpPr/>
              <p:nvPr/>
            </p:nvGrpSpPr>
            <p:grpSpPr>
              <a:xfrm>
                <a:off x="4279065" y="1363596"/>
                <a:ext cx="4454504" cy="2817342"/>
                <a:chOff x="4279065" y="1363596"/>
                <a:chExt cx="4454504" cy="2817342"/>
              </a:xfrm>
            </p:grpSpPr>
            <p:pic>
              <p:nvPicPr>
                <p:cNvPr id="139" name="Picture 138">
                  <a:extLst>
                    <a:ext uri="{FF2B5EF4-FFF2-40B4-BE49-F238E27FC236}">
                      <a16:creationId xmlns:a16="http://schemas.microsoft.com/office/drawing/2014/main" xmlns="" id="{56F55D64-D03E-E34D-B9A2-BA74189E4A33}"/>
                    </a:ext>
                  </a:extLst>
                </p:cNvPr>
                <p:cNvPicPr>
                  <a:picLocks noChangeAspect="1"/>
                </p:cNvPicPr>
                <p:nvPr/>
              </p:nvPicPr>
              <p:blipFill>
                <a:blip r:embed="rId3"/>
                <a:stretch>
                  <a:fillRect/>
                </a:stretch>
              </p:blipFill>
              <p:spPr>
                <a:xfrm>
                  <a:off x="4279065" y="1363596"/>
                  <a:ext cx="4454504" cy="2817342"/>
                </a:xfrm>
                <a:prstGeom prst="rect">
                  <a:avLst/>
                </a:prstGeom>
              </p:spPr>
            </p:pic>
            <p:sp>
              <p:nvSpPr>
                <p:cNvPr id="140" name="Rectangle 139">
                  <a:extLst>
                    <a:ext uri="{FF2B5EF4-FFF2-40B4-BE49-F238E27FC236}">
                      <a16:creationId xmlns:a16="http://schemas.microsoft.com/office/drawing/2014/main" xmlns="" id="{7E174746-82B6-AE4B-A018-3EFF9FF22F69}"/>
                    </a:ext>
                  </a:extLst>
                </p:cNvPr>
                <p:cNvSpPr/>
                <p:nvPr/>
              </p:nvSpPr>
              <p:spPr>
                <a:xfrm>
                  <a:off x="6983952" y="3088060"/>
                  <a:ext cx="1474248" cy="540555"/>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0" name="Rounded Rectangle 129">
                <a:extLst>
                  <a:ext uri="{FF2B5EF4-FFF2-40B4-BE49-F238E27FC236}">
                    <a16:creationId xmlns:a16="http://schemas.microsoft.com/office/drawing/2014/main" xmlns="" id="{422BD2C3-45D8-8345-B35F-34F645BBB0CC}"/>
                  </a:ext>
                </a:extLst>
              </p:cNvPr>
              <p:cNvSpPr/>
              <p:nvPr/>
            </p:nvSpPr>
            <p:spPr>
              <a:xfrm>
                <a:off x="5117084" y="2518660"/>
                <a:ext cx="3828879" cy="459023"/>
              </a:xfrm>
              <a:prstGeom prst="roundRect">
                <a:avLst/>
              </a:prstGeom>
              <a:noFill/>
              <a:ln>
                <a:noFill/>
              </a:ln>
            </p:spPr>
            <p:txBody>
              <a:bodyPr wrap="square">
                <a:spAutoFit/>
              </a:bodyPr>
              <a:lstStyle/>
              <a:p>
                <a:pPr algn="ctr"/>
                <a:r>
                  <a:rPr lang="en-US" sz="1600" dirty="0">
                    <a:solidFill>
                      <a:srgbClr val="7792CB"/>
                    </a:solidFill>
                    <a:latin typeface="Century Gothic" panose="020B0502020202020204" pitchFamily="34" charset="0"/>
                  </a:rPr>
                  <a:t>complete</a:t>
                </a:r>
              </a:p>
            </p:txBody>
          </p:sp>
          <p:sp>
            <p:nvSpPr>
              <p:cNvPr id="131" name="Rounded Rectangle 130">
                <a:extLst>
                  <a:ext uri="{FF2B5EF4-FFF2-40B4-BE49-F238E27FC236}">
                    <a16:creationId xmlns:a16="http://schemas.microsoft.com/office/drawing/2014/main" xmlns="" id="{D7D2DAD8-55BD-B14E-A9BB-DDFA894DBF22}"/>
                  </a:ext>
                </a:extLst>
              </p:cNvPr>
              <p:cNvSpPr/>
              <p:nvPr/>
            </p:nvSpPr>
            <p:spPr>
              <a:xfrm>
                <a:off x="3884681" y="1710300"/>
                <a:ext cx="3828879" cy="459023"/>
              </a:xfrm>
              <a:prstGeom prst="roundRect">
                <a:avLst/>
              </a:prstGeom>
              <a:noFill/>
              <a:ln>
                <a:noFill/>
              </a:ln>
            </p:spPr>
            <p:txBody>
              <a:bodyPr wrap="square">
                <a:spAutoFit/>
              </a:bodyPr>
              <a:lstStyle/>
              <a:p>
                <a:pPr algn="ctr"/>
                <a:r>
                  <a:rPr lang="en-US" sz="1600" dirty="0">
                    <a:solidFill>
                      <a:srgbClr val="7792CB"/>
                    </a:solidFill>
                    <a:latin typeface="Century Gothic" panose="020B0502020202020204" pitchFamily="34" charset="0"/>
                  </a:rPr>
                  <a:t>partial</a:t>
                </a:r>
              </a:p>
            </p:txBody>
          </p:sp>
        </p:grpSp>
        <p:grpSp>
          <p:nvGrpSpPr>
            <p:cNvPr id="6" name="Group 5">
              <a:extLst>
                <a:ext uri="{FF2B5EF4-FFF2-40B4-BE49-F238E27FC236}">
                  <a16:creationId xmlns:a16="http://schemas.microsoft.com/office/drawing/2014/main" xmlns="" id="{D72F58BB-51FA-7849-A2FF-F0B5286DDD3C}"/>
                </a:ext>
              </a:extLst>
            </p:cNvPr>
            <p:cNvGrpSpPr/>
            <p:nvPr/>
          </p:nvGrpSpPr>
          <p:grpSpPr>
            <a:xfrm>
              <a:off x="4903577" y="3379337"/>
              <a:ext cx="3233726" cy="300082"/>
              <a:chOff x="4176346" y="4721470"/>
              <a:chExt cx="3979971" cy="369332"/>
            </a:xfrm>
          </p:grpSpPr>
          <p:sp>
            <p:nvSpPr>
              <p:cNvPr id="7" name="TextBox 6">
                <a:extLst>
                  <a:ext uri="{FF2B5EF4-FFF2-40B4-BE49-F238E27FC236}">
                    <a16:creationId xmlns:a16="http://schemas.microsoft.com/office/drawing/2014/main" xmlns="" id="{743AE5D1-F5A8-E944-B8D0-67F1AA73F280}"/>
                  </a:ext>
                </a:extLst>
              </p:cNvPr>
              <p:cNvSpPr txBox="1"/>
              <p:nvPr/>
            </p:nvSpPr>
            <p:spPr>
              <a:xfrm>
                <a:off x="4176346"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8" name="TextBox 7">
                <a:extLst>
                  <a:ext uri="{FF2B5EF4-FFF2-40B4-BE49-F238E27FC236}">
                    <a16:creationId xmlns:a16="http://schemas.microsoft.com/office/drawing/2014/main" xmlns="" id="{9E19CC3E-9859-6648-8463-2E09409239F3}"/>
                  </a:ext>
                </a:extLst>
              </p:cNvPr>
              <p:cNvSpPr txBox="1"/>
              <p:nvPr/>
            </p:nvSpPr>
            <p:spPr>
              <a:xfrm>
                <a:off x="4624754"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9" name="TextBox 8">
                <a:extLst>
                  <a:ext uri="{FF2B5EF4-FFF2-40B4-BE49-F238E27FC236}">
                    <a16:creationId xmlns:a16="http://schemas.microsoft.com/office/drawing/2014/main" xmlns="" id="{8417D14F-0DA1-954C-98B3-5A65A3109DFA}"/>
                  </a:ext>
                </a:extLst>
              </p:cNvPr>
              <p:cNvSpPr txBox="1"/>
              <p:nvPr/>
            </p:nvSpPr>
            <p:spPr>
              <a:xfrm>
                <a:off x="5081954"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10" name="TextBox 9">
                <a:extLst>
                  <a:ext uri="{FF2B5EF4-FFF2-40B4-BE49-F238E27FC236}">
                    <a16:creationId xmlns:a16="http://schemas.microsoft.com/office/drawing/2014/main" xmlns="" id="{38ABE982-BADA-EB40-AB3D-CF17583EEFFD}"/>
                  </a:ext>
                </a:extLst>
              </p:cNvPr>
              <p:cNvSpPr txBox="1"/>
              <p:nvPr/>
            </p:nvSpPr>
            <p:spPr>
              <a:xfrm>
                <a:off x="5539154"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11" name="TextBox 10">
                <a:extLst>
                  <a:ext uri="{FF2B5EF4-FFF2-40B4-BE49-F238E27FC236}">
                    <a16:creationId xmlns:a16="http://schemas.microsoft.com/office/drawing/2014/main" xmlns="" id="{0C27ACCA-CCB4-B54D-BA2D-FED21716B669}"/>
                  </a:ext>
                </a:extLst>
              </p:cNvPr>
              <p:cNvSpPr txBox="1"/>
              <p:nvPr/>
            </p:nvSpPr>
            <p:spPr>
              <a:xfrm>
                <a:off x="5987562"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12" name="TextBox 11">
                <a:extLst>
                  <a:ext uri="{FF2B5EF4-FFF2-40B4-BE49-F238E27FC236}">
                    <a16:creationId xmlns:a16="http://schemas.microsoft.com/office/drawing/2014/main" xmlns="" id="{3FC82353-2590-074D-A7BD-31BA3125FE00}"/>
                  </a:ext>
                </a:extLst>
              </p:cNvPr>
              <p:cNvSpPr txBox="1"/>
              <p:nvPr/>
            </p:nvSpPr>
            <p:spPr>
              <a:xfrm>
                <a:off x="6435970"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13" name="TextBox 12">
                <a:extLst>
                  <a:ext uri="{FF2B5EF4-FFF2-40B4-BE49-F238E27FC236}">
                    <a16:creationId xmlns:a16="http://schemas.microsoft.com/office/drawing/2014/main" xmlns="" id="{216C198E-CC55-9841-B61E-846AA69BB897}"/>
                  </a:ext>
                </a:extLst>
              </p:cNvPr>
              <p:cNvSpPr txBox="1"/>
              <p:nvPr/>
            </p:nvSpPr>
            <p:spPr>
              <a:xfrm>
                <a:off x="6875585"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14" name="TextBox 13">
                <a:extLst>
                  <a:ext uri="{FF2B5EF4-FFF2-40B4-BE49-F238E27FC236}">
                    <a16:creationId xmlns:a16="http://schemas.microsoft.com/office/drawing/2014/main" xmlns="" id="{DB090768-D7B6-8C40-9CFA-7B301FF85CDA}"/>
                  </a:ext>
                </a:extLst>
              </p:cNvPr>
              <p:cNvSpPr txBox="1"/>
              <p:nvPr/>
            </p:nvSpPr>
            <p:spPr>
              <a:xfrm>
                <a:off x="7341577"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15" name="TextBox 14">
                <a:extLst>
                  <a:ext uri="{FF2B5EF4-FFF2-40B4-BE49-F238E27FC236}">
                    <a16:creationId xmlns:a16="http://schemas.microsoft.com/office/drawing/2014/main" xmlns="" id="{D679E805-0512-5C44-9B1A-6E3FB5BF51C4}"/>
                  </a:ext>
                </a:extLst>
              </p:cNvPr>
              <p:cNvSpPr txBox="1"/>
              <p:nvPr/>
            </p:nvSpPr>
            <p:spPr>
              <a:xfrm>
                <a:off x="7840205" y="4721470"/>
                <a:ext cx="31611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grpSp>
        <p:sp>
          <p:nvSpPr>
            <p:cNvPr id="138" name="TextBox 137">
              <a:extLst>
                <a:ext uri="{FF2B5EF4-FFF2-40B4-BE49-F238E27FC236}">
                  <a16:creationId xmlns:a16="http://schemas.microsoft.com/office/drawing/2014/main" xmlns="" id="{3A260C60-B79C-854F-8970-7F6A2D78B40B}"/>
                </a:ext>
              </a:extLst>
            </p:cNvPr>
            <p:cNvSpPr txBox="1"/>
            <p:nvPr/>
          </p:nvSpPr>
          <p:spPr>
            <a:xfrm>
              <a:off x="8183597" y="3098025"/>
              <a:ext cx="925253" cy="523220"/>
            </a:xfrm>
            <a:prstGeom prst="rect">
              <a:avLst/>
            </a:prstGeom>
            <a:noFill/>
          </p:spPr>
          <p:txBody>
            <a:bodyPr wrap="none" rtlCol="0">
              <a:spAutoFit/>
            </a:bodyPr>
            <a:lstStyle/>
            <a:p>
              <a:pPr algn="ctr" eaLnBrk="0" fontAlgn="base" hangingPunct="0">
                <a:spcBef>
                  <a:spcPct val="0"/>
                </a:spcBef>
                <a:spcAft>
                  <a:spcPct val="0"/>
                </a:spcAft>
              </a:pPr>
              <a:r>
                <a:rPr lang="en-US" sz="1400" b="1" i="1" dirty="0">
                  <a:solidFill>
                    <a:srgbClr val="FF0000"/>
                  </a:solidFill>
                  <a:latin typeface="Times" pitchFamily="2" charset="0"/>
                </a:rPr>
                <a:t>+: p&lt;5%</a:t>
              </a:r>
            </a:p>
            <a:p>
              <a:pPr algn="ctr" eaLnBrk="0" fontAlgn="base" hangingPunct="0">
                <a:spcBef>
                  <a:spcPct val="0"/>
                </a:spcBef>
                <a:spcAft>
                  <a:spcPct val="0"/>
                </a:spcAft>
              </a:pPr>
              <a:r>
                <a:rPr lang="en-US" sz="1400" b="1" i="1" dirty="0">
                  <a:solidFill>
                    <a:srgbClr val="FF0000"/>
                  </a:solidFill>
                  <a:latin typeface="Times" pitchFamily="2" charset="0"/>
                </a:rPr>
                <a:t>++: p&lt;1%</a:t>
              </a:r>
            </a:p>
          </p:txBody>
        </p:sp>
      </p:grpSp>
      <p:grpSp>
        <p:nvGrpSpPr>
          <p:cNvPr id="224" name="Group 223"/>
          <p:cNvGrpSpPr/>
          <p:nvPr/>
        </p:nvGrpSpPr>
        <p:grpSpPr>
          <a:xfrm>
            <a:off x="1749360" y="1290320"/>
            <a:ext cx="601113" cy="561367"/>
            <a:chOff x="3299081" y="2198810"/>
            <a:chExt cx="1026591" cy="958712"/>
          </a:xfrm>
        </p:grpSpPr>
        <p:grpSp>
          <p:nvGrpSpPr>
            <p:cNvPr id="225" name="Group 224"/>
            <p:cNvGrpSpPr/>
            <p:nvPr/>
          </p:nvGrpSpPr>
          <p:grpSpPr>
            <a:xfrm>
              <a:off x="3299081" y="2213447"/>
              <a:ext cx="999609" cy="944075"/>
              <a:chOff x="2226911" y="1490958"/>
              <a:chExt cx="999609" cy="944075"/>
            </a:xfrm>
          </p:grpSpPr>
          <p:sp>
            <p:nvSpPr>
              <p:cNvPr id="227" name="Oval 226">
                <a:extLst>
                  <a:ext uri="{FF2B5EF4-FFF2-40B4-BE49-F238E27FC236}">
                    <a16:creationId xmlns:a16="http://schemas.microsoft.com/office/drawing/2014/main" xmlns="" id="{02A9185F-17CD-430F-B765-DD03EB939117}"/>
                  </a:ext>
                </a:extLst>
              </p:cNvPr>
              <p:cNvSpPr/>
              <p:nvPr/>
            </p:nvSpPr>
            <p:spPr>
              <a:xfrm>
                <a:off x="2634159" y="1490958"/>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28" name="Oval 227">
                <a:extLst>
                  <a:ext uri="{FF2B5EF4-FFF2-40B4-BE49-F238E27FC236}">
                    <a16:creationId xmlns:a16="http://schemas.microsoft.com/office/drawing/2014/main" xmlns="" id="{67183840-CA5E-41AC-8BA4-676FBC67C282}"/>
                  </a:ext>
                </a:extLst>
              </p:cNvPr>
              <p:cNvSpPr/>
              <p:nvPr/>
            </p:nvSpPr>
            <p:spPr>
              <a:xfrm>
                <a:off x="2226911" y="1787138"/>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29" name="Oval 228">
                <a:extLst>
                  <a:ext uri="{FF2B5EF4-FFF2-40B4-BE49-F238E27FC236}">
                    <a16:creationId xmlns:a16="http://schemas.microsoft.com/office/drawing/2014/main" xmlns="" id="{A207EA9E-2A7E-4CA2-B13A-7956BC73097B}"/>
                  </a:ext>
                </a:extLst>
              </p:cNvPr>
              <p:cNvSpPr/>
              <p:nvPr/>
            </p:nvSpPr>
            <p:spPr>
              <a:xfrm>
                <a:off x="3041407" y="1787138"/>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30" name="Oval 229">
                <a:extLst>
                  <a:ext uri="{FF2B5EF4-FFF2-40B4-BE49-F238E27FC236}">
                    <a16:creationId xmlns:a16="http://schemas.microsoft.com/office/drawing/2014/main" xmlns="" id="{A68926DB-EC77-4FAF-8387-81160673330E}"/>
                  </a:ext>
                </a:extLst>
              </p:cNvPr>
              <p:cNvSpPr/>
              <p:nvPr/>
            </p:nvSpPr>
            <p:spPr>
              <a:xfrm>
                <a:off x="2412024" y="2249920"/>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31" name="Oval 230">
                <a:extLst>
                  <a:ext uri="{FF2B5EF4-FFF2-40B4-BE49-F238E27FC236}">
                    <a16:creationId xmlns:a16="http://schemas.microsoft.com/office/drawing/2014/main" xmlns="" id="{21DDF9FD-DCA9-4F7E-9E84-90C4E26D8618}"/>
                  </a:ext>
                </a:extLst>
              </p:cNvPr>
              <p:cNvSpPr/>
              <p:nvPr/>
            </p:nvSpPr>
            <p:spPr>
              <a:xfrm>
                <a:off x="2856294" y="2249920"/>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cxnSp>
            <p:nvCxnSpPr>
              <p:cNvPr id="232" name="Straight Arrow Connector 231">
                <a:extLst>
                  <a:ext uri="{FF2B5EF4-FFF2-40B4-BE49-F238E27FC236}">
                    <a16:creationId xmlns:a16="http://schemas.microsoft.com/office/drawing/2014/main" xmlns="" id="{45A1FA9B-4B89-4B97-94B0-7BC340E2F4F0}"/>
                  </a:ext>
                </a:extLst>
              </p:cNvPr>
              <p:cNvCxnSpPr/>
              <p:nvPr/>
            </p:nvCxnSpPr>
            <p:spPr>
              <a:xfrm>
                <a:off x="2792162" y="1648962"/>
                <a:ext cx="276353" cy="165286"/>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3" name="Straight Arrow Connector 232">
                <a:extLst>
                  <a:ext uri="{FF2B5EF4-FFF2-40B4-BE49-F238E27FC236}">
                    <a16:creationId xmlns:a16="http://schemas.microsoft.com/office/drawing/2014/main" xmlns="" id="{23ED6BEC-FDE7-441B-87F8-87C0EBBA45B7}"/>
                  </a:ext>
                </a:extLst>
              </p:cNvPr>
              <p:cNvCxnSpPr/>
              <p:nvPr/>
            </p:nvCxnSpPr>
            <p:spPr>
              <a:xfrm flipH="1">
                <a:off x="2384915" y="1648962"/>
                <a:ext cx="276353" cy="165286"/>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xmlns="" id="{F8A4093E-82E2-4F9D-BFCA-FAD5164F088C}"/>
                  </a:ext>
                </a:extLst>
              </p:cNvPr>
              <p:cNvCxnSpPr/>
              <p:nvPr/>
            </p:nvCxnSpPr>
            <p:spPr>
              <a:xfrm flipH="1">
                <a:off x="2504580" y="1676071"/>
                <a:ext cx="222135" cy="57385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Straight Arrow Connector 234">
                <a:extLst>
                  <a:ext uri="{FF2B5EF4-FFF2-40B4-BE49-F238E27FC236}">
                    <a16:creationId xmlns:a16="http://schemas.microsoft.com/office/drawing/2014/main" xmlns="" id="{D80A2A72-AC93-4999-B7B0-0EAE4909DB6A}"/>
                  </a:ext>
                </a:extLst>
              </p:cNvPr>
              <p:cNvCxnSpPr/>
              <p:nvPr/>
            </p:nvCxnSpPr>
            <p:spPr>
              <a:xfrm>
                <a:off x="2726715" y="1676071"/>
                <a:ext cx="222135" cy="57385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6" name="Straight Arrow Connector 235">
                <a:extLst>
                  <a:ext uri="{FF2B5EF4-FFF2-40B4-BE49-F238E27FC236}">
                    <a16:creationId xmlns:a16="http://schemas.microsoft.com/office/drawing/2014/main" xmlns="" id="{95257391-6E72-499A-94F0-49CEE4E82BF3}"/>
                  </a:ext>
                </a:extLst>
              </p:cNvPr>
              <p:cNvCxnSpPr/>
              <p:nvPr/>
            </p:nvCxnSpPr>
            <p:spPr>
              <a:xfrm>
                <a:off x="2319467" y="1972251"/>
                <a:ext cx="119665" cy="304778"/>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7" name="Straight Arrow Connector 236">
                <a:extLst>
                  <a:ext uri="{FF2B5EF4-FFF2-40B4-BE49-F238E27FC236}">
                    <a16:creationId xmlns:a16="http://schemas.microsoft.com/office/drawing/2014/main" xmlns="" id="{A98374CB-906D-4DEC-8A6D-CD13264682A5}"/>
                  </a:ext>
                </a:extLst>
              </p:cNvPr>
              <p:cNvCxnSpPr/>
              <p:nvPr/>
            </p:nvCxnSpPr>
            <p:spPr>
              <a:xfrm flipH="1">
                <a:off x="3014297" y="1972251"/>
                <a:ext cx="119665" cy="304778"/>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8" name="Straight Arrow Connector 237">
                <a:extLst>
                  <a:ext uri="{FF2B5EF4-FFF2-40B4-BE49-F238E27FC236}">
                    <a16:creationId xmlns:a16="http://schemas.microsoft.com/office/drawing/2014/main" xmlns="" id="{100E0B43-702D-473C-A222-4F2C370067D6}"/>
                  </a:ext>
                </a:extLst>
              </p:cNvPr>
              <p:cNvCxnSpPr/>
              <p:nvPr/>
            </p:nvCxnSpPr>
            <p:spPr>
              <a:xfrm>
                <a:off x="2412024" y="1879695"/>
                <a:ext cx="629383" cy="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Straight Arrow Connector 238">
                <a:extLst>
                  <a:ext uri="{FF2B5EF4-FFF2-40B4-BE49-F238E27FC236}">
                    <a16:creationId xmlns:a16="http://schemas.microsoft.com/office/drawing/2014/main" xmlns="" id="{CA074040-3AAD-4D3B-8CA7-AA0F6FD9E0B4}"/>
                  </a:ext>
                </a:extLst>
              </p:cNvPr>
              <p:cNvCxnSpPr/>
              <p:nvPr/>
            </p:nvCxnSpPr>
            <p:spPr>
              <a:xfrm>
                <a:off x="2412024" y="1879695"/>
                <a:ext cx="471379" cy="397335"/>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xmlns="" id="{5928CDD7-B129-4938-B5C2-75A1DA7C7B1D}"/>
                  </a:ext>
                </a:extLst>
              </p:cNvPr>
              <p:cNvCxnSpPr/>
              <p:nvPr/>
            </p:nvCxnSpPr>
            <p:spPr>
              <a:xfrm flipH="1">
                <a:off x="2570027" y="1945142"/>
                <a:ext cx="498488" cy="331887"/>
              </a:xfrm>
              <a:prstGeom prst="straightConnector1">
                <a:avLst/>
              </a:prstGeom>
              <a:solidFill>
                <a:srgbClr val="00206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41" name="Straight Arrow Connector 240">
                <a:extLst>
                  <a:ext uri="{FF2B5EF4-FFF2-40B4-BE49-F238E27FC236}">
                    <a16:creationId xmlns:a16="http://schemas.microsoft.com/office/drawing/2014/main" xmlns="" id="{7DD5F5F7-BB90-45CB-A8F2-2C3F8E72DC27}"/>
                  </a:ext>
                </a:extLst>
              </p:cNvPr>
              <p:cNvCxnSpPr/>
              <p:nvPr/>
            </p:nvCxnSpPr>
            <p:spPr>
              <a:xfrm>
                <a:off x="2597136" y="2342477"/>
                <a:ext cx="259158" cy="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grpSp>
        <p:sp>
          <p:nvSpPr>
            <p:cNvPr id="226" name="Rectangle 225"/>
            <p:cNvSpPr/>
            <p:nvPr/>
          </p:nvSpPr>
          <p:spPr>
            <a:xfrm>
              <a:off x="3299081" y="2198810"/>
              <a:ext cx="1026591" cy="958712"/>
            </a:xfrm>
            <a:prstGeom prst="rect">
              <a:avLst/>
            </a:prstGeom>
            <a:noFill/>
            <a:ln>
              <a:solidFill>
                <a:srgbClr val="3B81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grpSp>
        <p:nvGrpSpPr>
          <p:cNvPr id="242" name="Group 241">
            <a:extLst>
              <a:ext uri="{FF2B5EF4-FFF2-40B4-BE49-F238E27FC236}">
                <a16:creationId xmlns:a16="http://schemas.microsoft.com/office/drawing/2014/main" xmlns="" id="{E570505F-34DD-F346-9BB3-A4B6C9EDE8EB}"/>
              </a:ext>
            </a:extLst>
          </p:cNvPr>
          <p:cNvGrpSpPr/>
          <p:nvPr/>
        </p:nvGrpSpPr>
        <p:grpSpPr>
          <a:xfrm>
            <a:off x="783759" y="1256572"/>
            <a:ext cx="971468" cy="747698"/>
            <a:chOff x="2731717" y="1331106"/>
            <a:chExt cx="1659088" cy="1276930"/>
          </a:xfrm>
        </p:grpSpPr>
        <p:sp>
          <p:nvSpPr>
            <p:cNvPr id="243" name="TextBox 242"/>
            <p:cNvSpPr txBox="1"/>
            <p:nvPr/>
          </p:nvSpPr>
          <p:spPr>
            <a:xfrm>
              <a:off x="2731717" y="1331106"/>
              <a:ext cx="1623963" cy="394218"/>
            </a:xfrm>
            <a:prstGeom prst="rect">
              <a:avLst/>
            </a:prstGeom>
            <a:noFill/>
          </p:spPr>
          <p:txBody>
            <a:bodyPr wrap="none" rtlCol="0">
              <a:spAutoFit/>
            </a:bodyPr>
            <a:lstStyle/>
            <a:p>
              <a:pPr eaLnBrk="0" fontAlgn="base" hangingPunct="0">
                <a:spcBef>
                  <a:spcPct val="0"/>
                </a:spcBef>
                <a:spcAft>
                  <a:spcPct val="0"/>
                </a:spcAft>
              </a:pPr>
              <a:r>
                <a:rPr lang="en-US" sz="900" dirty="0">
                  <a:solidFill>
                    <a:srgbClr val="002060"/>
                  </a:solidFill>
                  <a:latin typeface="Century Gothic" panose="020B0502020202020204" pitchFamily="34" charset="0"/>
                </a:rPr>
                <a:t>(a) Complete</a:t>
              </a:r>
            </a:p>
          </p:txBody>
        </p:sp>
        <p:sp>
          <p:nvSpPr>
            <p:cNvPr id="244" name="Bent-Up Arrow 243"/>
            <p:cNvSpPr/>
            <p:nvPr/>
          </p:nvSpPr>
          <p:spPr>
            <a:xfrm rot="10800000">
              <a:off x="2786912" y="1697399"/>
              <a:ext cx="1593552" cy="910637"/>
            </a:xfrm>
            <a:prstGeom prst="bentUpArrow">
              <a:avLst>
                <a:gd name="adj1" fmla="val 25060"/>
                <a:gd name="adj2" fmla="val 33353"/>
                <a:gd name="adj3" fmla="val 31752"/>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45" name="TextBox 244"/>
            <p:cNvSpPr txBox="1"/>
            <p:nvPr/>
          </p:nvSpPr>
          <p:spPr>
            <a:xfrm>
              <a:off x="3005307" y="1670719"/>
              <a:ext cx="1385498" cy="341657"/>
            </a:xfrm>
            <a:prstGeom prst="rect">
              <a:avLst/>
            </a:prstGeom>
            <a:noFill/>
          </p:spPr>
          <p:txBody>
            <a:bodyPr wrap="square" rtlCol="0">
              <a:spAutoFit/>
            </a:bodyPr>
            <a:lstStyle/>
            <a:p>
              <a:pPr eaLnBrk="0" fontAlgn="base" hangingPunct="0">
                <a:spcBef>
                  <a:spcPct val="0"/>
                </a:spcBef>
                <a:spcAft>
                  <a:spcPct val="0"/>
                </a:spcAft>
              </a:pPr>
              <a:r>
                <a:rPr lang="en-US" sz="700" dirty="0">
                  <a:solidFill>
                    <a:srgbClr val="002060"/>
                  </a:solidFill>
                  <a:latin typeface="Century Gothic" panose="020B0502020202020204" pitchFamily="34" charset="0"/>
                </a:rPr>
                <a:t>same budget</a:t>
              </a:r>
            </a:p>
          </p:txBody>
        </p:sp>
      </p:grpSp>
      <p:grpSp>
        <p:nvGrpSpPr>
          <p:cNvPr id="246" name="Group 245">
            <a:extLst>
              <a:ext uri="{FF2B5EF4-FFF2-40B4-BE49-F238E27FC236}">
                <a16:creationId xmlns:a16="http://schemas.microsoft.com/office/drawing/2014/main" xmlns="" id="{13DB67B1-F441-AC43-A2A0-62B86C9E84BD}"/>
              </a:ext>
            </a:extLst>
          </p:cNvPr>
          <p:cNvGrpSpPr/>
          <p:nvPr/>
        </p:nvGrpSpPr>
        <p:grpSpPr>
          <a:xfrm>
            <a:off x="2350474" y="1251716"/>
            <a:ext cx="933094" cy="752554"/>
            <a:chOff x="5407377" y="1322812"/>
            <a:chExt cx="1593552" cy="1285224"/>
          </a:xfrm>
        </p:grpSpPr>
        <p:sp>
          <p:nvSpPr>
            <p:cNvPr id="247" name="TextBox 246"/>
            <p:cNvSpPr txBox="1"/>
            <p:nvPr/>
          </p:nvSpPr>
          <p:spPr>
            <a:xfrm>
              <a:off x="5565123" y="1322812"/>
              <a:ext cx="1240695" cy="394219"/>
            </a:xfrm>
            <a:prstGeom prst="rect">
              <a:avLst/>
            </a:prstGeom>
            <a:noFill/>
          </p:spPr>
          <p:txBody>
            <a:bodyPr wrap="none" rtlCol="0">
              <a:spAutoFit/>
            </a:bodyPr>
            <a:lstStyle/>
            <a:p>
              <a:pPr eaLnBrk="0" fontAlgn="base" hangingPunct="0">
                <a:spcBef>
                  <a:spcPct val="0"/>
                </a:spcBef>
                <a:spcAft>
                  <a:spcPct val="0"/>
                </a:spcAft>
              </a:pPr>
              <a:r>
                <a:rPr lang="en-US" sz="900" dirty="0">
                  <a:solidFill>
                    <a:srgbClr val="C0706A"/>
                  </a:solidFill>
                  <a:latin typeface="Century Gothic" panose="020B0502020202020204" pitchFamily="34" charset="0"/>
                </a:rPr>
                <a:t>(b) Partial</a:t>
              </a:r>
            </a:p>
          </p:txBody>
        </p:sp>
        <p:sp>
          <p:nvSpPr>
            <p:cNvPr id="248" name="TextBox 247"/>
            <p:cNvSpPr txBox="1"/>
            <p:nvPr/>
          </p:nvSpPr>
          <p:spPr>
            <a:xfrm>
              <a:off x="5508640" y="1659698"/>
              <a:ext cx="1492289" cy="341657"/>
            </a:xfrm>
            <a:prstGeom prst="rect">
              <a:avLst/>
            </a:prstGeom>
            <a:noFill/>
          </p:spPr>
          <p:txBody>
            <a:bodyPr wrap="square" rtlCol="0">
              <a:spAutoFit/>
            </a:bodyPr>
            <a:lstStyle/>
            <a:p>
              <a:pPr eaLnBrk="0" fontAlgn="base" hangingPunct="0">
                <a:spcBef>
                  <a:spcPct val="0"/>
                </a:spcBef>
                <a:spcAft>
                  <a:spcPct val="0"/>
                </a:spcAft>
              </a:pPr>
              <a:r>
                <a:rPr lang="en-US" sz="700" dirty="0">
                  <a:solidFill>
                    <a:srgbClr val="002060"/>
                  </a:solidFill>
                  <a:latin typeface="Century Gothic" panose="020B0502020202020204" pitchFamily="34" charset="0"/>
                </a:rPr>
                <a:t>same budget</a:t>
              </a:r>
            </a:p>
          </p:txBody>
        </p:sp>
        <p:sp>
          <p:nvSpPr>
            <p:cNvPr id="249" name="Bent-Up Arrow 248"/>
            <p:cNvSpPr/>
            <p:nvPr/>
          </p:nvSpPr>
          <p:spPr>
            <a:xfrm rot="10800000" flipH="1">
              <a:off x="5407377" y="1697399"/>
              <a:ext cx="1593552" cy="910637"/>
            </a:xfrm>
            <a:prstGeom prst="bentUpArrow">
              <a:avLst>
                <a:gd name="adj1" fmla="val 25060"/>
                <a:gd name="adj2" fmla="val 33353"/>
                <a:gd name="adj3" fmla="val 31752"/>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sp>
        <p:nvSpPr>
          <p:cNvPr id="250" name="Rounded Rectangle 249"/>
          <p:cNvSpPr/>
          <p:nvPr/>
        </p:nvSpPr>
        <p:spPr>
          <a:xfrm>
            <a:off x="478154" y="930475"/>
            <a:ext cx="3126593" cy="2224465"/>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51" name="TextBox 250"/>
          <p:cNvSpPr txBox="1"/>
          <p:nvPr/>
        </p:nvSpPr>
        <p:spPr>
          <a:xfrm>
            <a:off x="633246" y="995614"/>
            <a:ext cx="981359" cy="230832"/>
          </a:xfrm>
          <a:prstGeom prst="rect">
            <a:avLst/>
          </a:prstGeom>
          <a:solidFill>
            <a:schemeClr val="tx1">
              <a:lumMod val="65000"/>
            </a:schemeClr>
          </a:solidFill>
          <a:ln>
            <a:noFill/>
          </a:ln>
        </p:spPr>
        <p:txBody>
          <a:bodyPr wrap="none" rtlCol="0">
            <a:spAutoFit/>
          </a:bodyPr>
          <a:lstStyle/>
          <a:p>
            <a:pPr eaLnBrk="0" fontAlgn="base" hangingPunct="0">
              <a:spcBef>
                <a:spcPct val="0"/>
              </a:spcBef>
              <a:spcAft>
                <a:spcPct val="0"/>
              </a:spcAft>
            </a:pPr>
            <a:r>
              <a:rPr lang="en-US" sz="900" dirty="0">
                <a:solidFill>
                  <a:srgbClr val="FFFFFF"/>
                </a:solidFill>
                <a:latin typeface="Century Gothic" panose="020B0502020202020204" pitchFamily="34" charset="0"/>
              </a:rPr>
              <a:t>Training Phase</a:t>
            </a:r>
          </a:p>
        </p:txBody>
      </p:sp>
      <p:grpSp>
        <p:nvGrpSpPr>
          <p:cNvPr id="252" name="Group 251"/>
          <p:cNvGrpSpPr/>
          <p:nvPr/>
        </p:nvGrpSpPr>
        <p:grpSpPr>
          <a:xfrm>
            <a:off x="1749360" y="3238928"/>
            <a:ext cx="601113" cy="769057"/>
            <a:chOff x="4778719" y="4360811"/>
            <a:chExt cx="1026591" cy="1313408"/>
          </a:xfrm>
          <a:solidFill>
            <a:schemeClr val="bg2"/>
          </a:solidFill>
        </p:grpSpPr>
        <p:sp>
          <p:nvSpPr>
            <p:cNvPr id="253" name="Oval 252">
              <a:extLst>
                <a:ext uri="{FF2B5EF4-FFF2-40B4-BE49-F238E27FC236}">
                  <a16:creationId xmlns:a16="http://schemas.microsoft.com/office/drawing/2014/main" xmlns="" id="{02A9185F-17CD-430F-B765-DD03EB939117}"/>
                </a:ext>
              </a:extLst>
            </p:cNvPr>
            <p:cNvSpPr/>
            <p:nvPr/>
          </p:nvSpPr>
          <p:spPr>
            <a:xfrm>
              <a:off x="5185967" y="4730144"/>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54" name="Oval 253">
              <a:extLst>
                <a:ext uri="{FF2B5EF4-FFF2-40B4-BE49-F238E27FC236}">
                  <a16:creationId xmlns:a16="http://schemas.microsoft.com/office/drawing/2014/main" xmlns="" id="{67183840-CA5E-41AC-8BA4-676FBC67C282}"/>
                </a:ext>
              </a:extLst>
            </p:cNvPr>
            <p:cNvSpPr/>
            <p:nvPr/>
          </p:nvSpPr>
          <p:spPr>
            <a:xfrm>
              <a:off x="4778719" y="5026324"/>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55" name="Oval 254">
              <a:extLst>
                <a:ext uri="{FF2B5EF4-FFF2-40B4-BE49-F238E27FC236}">
                  <a16:creationId xmlns:a16="http://schemas.microsoft.com/office/drawing/2014/main" xmlns="" id="{A207EA9E-2A7E-4CA2-B13A-7956BC73097B}"/>
                </a:ext>
              </a:extLst>
            </p:cNvPr>
            <p:cNvSpPr/>
            <p:nvPr/>
          </p:nvSpPr>
          <p:spPr>
            <a:xfrm>
              <a:off x="5593215" y="5026324"/>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56" name="Oval 255">
              <a:extLst>
                <a:ext uri="{FF2B5EF4-FFF2-40B4-BE49-F238E27FC236}">
                  <a16:creationId xmlns:a16="http://schemas.microsoft.com/office/drawing/2014/main" xmlns="" id="{A68926DB-EC77-4FAF-8387-81160673330E}"/>
                </a:ext>
              </a:extLst>
            </p:cNvPr>
            <p:cNvSpPr/>
            <p:nvPr/>
          </p:nvSpPr>
          <p:spPr>
            <a:xfrm>
              <a:off x="4963832" y="5489106"/>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57" name="Oval 256">
              <a:extLst>
                <a:ext uri="{FF2B5EF4-FFF2-40B4-BE49-F238E27FC236}">
                  <a16:creationId xmlns:a16="http://schemas.microsoft.com/office/drawing/2014/main" xmlns="" id="{21DDF9FD-DCA9-4F7E-9E84-90C4E26D8618}"/>
                </a:ext>
              </a:extLst>
            </p:cNvPr>
            <p:cNvSpPr/>
            <p:nvPr/>
          </p:nvSpPr>
          <p:spPr>
            <a:xfrm>
              <a:off x="5408102" y="5489106"/>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cxnSp>
          <p:nvCxnSpPr>
            <p:cNvPr id="258" name="Straight Arrow Connector 257">
              <a:extLst>
                <a:ext uri="{FF2B5EF4-FFF2-40B4-BE49-F238E27FC236}">
                  <a16:creationId xmlns:a16="http://schemas.microsoft.com/office/drawing/2014/main" xmlns="" id="{45A1FA9B-4B89-4B97-94B0-7BC340E2F4F0}"/>
                </a:ext>
              </a:extLst>
            </p:cNvPr>
            <p:cNvCxnSpPr/>
            <p:nvPr/>
          </p:nvCxnSpPr>
          <p:spPr>
            <a:xfrm>
              <a:off x="5343970" y="4888148"/>
              <a:ext cx="276353" cy="165286"/>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xmlns="" id="{23ED6BEC-FDE7-441B-87F8-87C0EBBA45B7}"/>
                </a:ext>
              </a:extLst>
            </p:cNvPr>
            <p:cNvCxnSpPr/>
            <p:nvPr/>
          </p:nvCxnSpPr>
          <p:spPr>
            <a:xfrm flipH="1">
              <a:off x="4936723" y="4888148"/>
              <a:ext cx="276353" cy="165286"/>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0" name="Straight Arrow Connector 259">
              <a:extLst>
                <a:ext uri="{FF2B5EF4-FFF2-40B4-BE49-F238E27FC236}">
                  <a16:creationId xmlns:a16="http://schemas.microsoft.com/office/drawing/2014/main" xmlns="" id="{F8A4093E-82E2-4F9D-BFCA-FAD5164F088C}"/>
                </a:ext>
              </a:extLst>
            </p:cNvPr>
            <p:cNvCxnSpPr/>
            <p:nvPr/>
          </p:nvCxnSpPr>
          <p:spPr>
            <a:xfrm flipH="1">
              <a:off x="5056388" y="4915257"/>
              <a:ext cx="222135" cy="57385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Straight Arrow Connector 260">
              <a:extLst>
                <a:ext uri="{FF2B5EF4-FFF2-40B4-BE49-F238E27FC236}">
                  <a16:creationId xmlns:a16="http://schemas.microsoft.com/office/drawing/2014/main" xmlns="" id="{D80A2A72-AC93-4999-B7B0-0EAE4909DB6A}"/>
                </a:ext>
              </a:extLst>
            </p:cNvPr>
            <p:cNvCxnSpPr/>
            <p:nvPr/>
          </p:nvCxnSpPr>
          <p:spPr>
            <a:xfrm>
              <a:off x="5278523" y="4915257"/>
              <a:ext cx="222135" cy="57385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Straight Arrow Connector 261">
              <a:extLst>
                <a:ext uri="{FF2B5EF4-FFF2-40B4-BE49-F238E27FC236}">
                  <a16:creationId xmlns:a16="http://schemas.microsoft.com/office/drawing/2014/main" xmlns="" id="{95257391-6E72-499A-94F0-49CEE4E82BF3}"/>
                </a:ext>
              </a:extLst>
            </p:cNvPr>
            <p:cNvCxnSpPr/>
            <p:nvPr/>
          </p:nvCxnSpPr>
          <p:spPr>
            <a:xfrm>
              <a:off x="4871275" y="5211437"/>
              <a:ext cx="119665" cy="304778"/>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Straight Arrow Connector 262">
              <a:extLst>
                <a:ext uri="{FF2B5EF4-FFF2-40B4-BE49-F238E27FC236}">
                  <a16:creationId xmlns:a16="http://schemas.microsoft.com/office/drawing/2014/main" xmlns="" id="{A98374CB-906D-4DEC-8A6D-CD13264682A5}"/>
                </a:ext>
              </a:extLst>
            </p:cNvPr>
            <p:cNvCxnSpPr/>
            <p:nvPr/>
          </p:nvCxnSpPr>
          <p:spPr>
            <a:xfrm flipH="1">
              <a:off x="5566105" y="5211437"/>
              <a:ext cx="119665" cy="304778"/>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xmlns="" id="{100E0B43-702D-473C-A222-4F2C370067D6}"/>
                </a:ext>
              </a:extLst>
            </p:cNvPr>
            <p:cNvCxnSpPr/>
            <p:nvPr/>
          </p:nvCxnSpPr>
          <p:spPr>
            <a:xfrm>
              <a:off x="4963832" y="5118881"/>
              <a:ext cx="629383" cy="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5" name="Straight Arrow Connector 264">
              <a:extLst>
                <a:ext uri="{FF2B5EF4-FFF2-40B4-BE49-F238E27FC236}">
                  <a16:creationId xmlns:a16="http://schemas.microsoft.com/office/drawing/2014/main" xmlns="" id="{CA074040-3AAD-4D3B-8CA7-AA0F6FD9E0B4}"/>
                </a:ext>
              </a:extLst>
            </p:cNvPr>
            <p:cNvCxnSpPr/>
            <p:nvPr/>
          </p:nvCxnSpPr>
          <p:spPr>
            <a:xfrm>
              <a:off x="4963832" y="5118881"/>
              <a:ext cx="471379" cy="397335"/>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6" name="Straight Arrow Connector 265">
              <a:extLst>
                <a:ext uri="{FF2B5EF4-FFF2-40B4-BE49-F238E27FC236}">
                  <a16:creationId xmlns:a16="http://schemas.microsoft.com/office/drawing/2014/main" xmlns="" id="{5928CDD7-B129-4938-B5C2-75A1DA7C7B1D}"/>
                </a:ext>
              </a:extLst>
            </p:cNvPr>
            <p:cNvCxnSpPr/>
            <p:nvPr/>
          </p:nvCxnSpPr>
          <p:spPr>
            <a:xfrm flipH="1">
              <a:off x="5121835" y="5184328"/>
              <a:ext cx="498488" cy="331887"/>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xmlns="" id="{7DD5F5F7-BB90-45CB-A8F2-2C3F8E72DC27}"/>
                </a:ext>
              </a:extLst>
            </p:cNvPr>
            <p:cNvCxnSpPr/>
            <p:nvPr/>
          </p:nvCxnSpPr>
          <p:spPr>
            <a:xfrm>
              <a:off x="5148944" y="5581663"/>
              <a:ext cx="259158" cy="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68" name="Rectangle 267"/>
            <p:cNvSpPr/>
            <p:nvPr/>
          </p:nvSpPr>
          <p:spPr>
            <a:xfrm>
              <a:off x="4778719" y="4715507"/>
              <a:ext cx="1026591" cy="958712"/>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69" name="TextBox 268"/>
                <p:cNvSpPr txBox="1"/>
                <p:nvPr/>
              </p:nvSpPr>
              <p:spPr>
                <a:xfrm>
                  <a:off x="4992961" y="4360811"/>
                  <a:ext cx="742557" cy="394219"/>
                </a:xfrm>
                <a:prstGeom prst="rect">
                  <a:avLst/>
                </a:prstGeom>
                <a:noFill/>
                <a:ln>
                  <a:noFill/>
                </a:ln>
              </p:spPr>
              <p:txBody>
                <a:bodyPr wrap="none" rtlCol="0">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lang="en-US" sz="900" i="1" smtClean="0">
                                <a:solidFill>
                                  <a:srgbClr val="000000"/>
                                </a:solidFill>
                                <a:latin typeface="Cambria Math" charset="0"/>
                              </a:rPr>
                            </m:ctrlPr>
                          </m:sSubPr>
                          <m:e>
                            <m:r>
                              <a:rPr lang="en-US" sz="900" i="1" smtClean="0">
                                <a:solidFill>
                                  <a:srgbClr val="000000"/>
                                </a:solidFill>
                                <a:latin typeface="Cambria Math" charset="0"/>
                              </a:rPr>
                              <m:t>𝒯</m:t>
                            </m:r>
                          </m:e>
                          <m:sub>
                            <m:r>
                              <a:rPr lang="en-US" sz="900" i="1" smtClean="0">
                                <a:solidFill>
                                  <a:srgbClr val="000000"/>
                                </a:solidFill>
                                <a:latin typeface="Cambria Math" charset="0"/>
                              </a:rPr>
                              <m:t>𝑡𝑒𝑠𝑡</m:t>
                            </m:r>
                          </m:sub>
                        </m:sSub>
                      </m:oMath>
                    </m:oMathPara>
                  </a14:m>
                  <a:endParaRPr lang="en-US" sz="900" dirty="0">
                    <a:solidFill>
                      <a:srgbClr val="000000"/>
                    </a:solidFill>
                    <a:latin typeface="Century Gothic" panose="020B0502020202020204" pitchFamily="34" charset="0"/>
                  </a:endParaRPr>
                </a:p>
              </p:txBody>
            </p:sp>
          </mc:Choice>
          <mc:Fallback xmlns="">
            <p:sp>
              <p:nvSpPr>
                <p:cNvPr id="57" name="TextBox 56"/>
                <p:cNvSpPr txBox="1">
                  <a:spLocks noRot="1" noChangeAspect="1" noMove="1" noResize="1" noEditPoints="1" noAdjustHandles="1" noChangeArrowheads="1" noChangeShapeType="1" noTextEdit="1"/>
                </p:cNvSpPr>
                <p:nvPr/>
              </p:nvSpPr>
              <p:spPr>
                <a:xfrm>
                  <a:off x="4992961" y="4360811"/>
                  <a:ext cx="680123" cy="369332"/>
                </a:xfrm>
                <a:prstGeom prst="rect">
                  <a:avLst/>
                </a:prstGeom>
                <a:blipFill rotWithShape="0">
                  <a:blip r:embed="rId7"/>
                  <a:stretch>
                    <a:fillRect/>
                  </a:stretch>
                </a:blipFill>
                <a:ln>
                  <a:noFill/>
                </a:ln>
              </p:spPr>
              <p:txBody>
                <a:bodyPr/>
                <a:lstStyle/>
                <a:p>
                  <a:r>
                    <a:rPr lang="en-US">
                      <a:noFill/>
                    </a:rPr>
                    <a:t> </a:t>
                  </a:r>
                </a:p>
              </p:txBody>
            </p:sp>
          </mc:Fallback>
        </mc:AlternateContent>
      </p:grpSp>
      <p:sp>
        <p:nvSpPr>
          <p:cNvPr id="270" name="Rounded Rectangle 269"/>
          <p:cNvSpPr/>
          <p:nvPr/>
        </p:nvSpPr>
        <p:spPr>
          <a:xfrm>
            <a:off x="478154" y="3263331"/>
            <a:ext cx="3126594" cy="899500"/>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71" name="TextBox 270"/>
          <p:cNvSpPr txBox="1"/>
          <p:nvPr/>
        </p:nvSpPr>
        <p:spPr>
          <a:xfrm>
            <a:off x="2622623" y="3866592"/>
            <a:ext cx="933269" cy="230832"/>
          </a:xfrm>
          <a:prstGeom prst="rect">
            <a:avLst/>
          </a:prstGeom>
          <a:solidFill>
            <a:schemeClr val="tx1">
              <a:lumMod val="65000"/>
            </a:schemeClr>
          </a:solidFill>
          <a:ln>
            <a:noFill/>
          </a:ln>
        </p:spPr>
        <p:txBody>
          <a:bodyPr wrap="none" rtlCol="0">
            <a:spAutoFit/>
          </a:bodyPr>
          <a:lstStyle/>
          <a:p>
            <a:pPr eaLnBrk="0" fontAlgn="base" hangingPunct="0">
              <a:spcBef>
                <a:spcPct val="0"/>
              </a:spcBef>
              <a:spcAft>
                <a:spcPct val="0"/>
              </a:spcAft>
            </a:pPr>
            <a:r>
              <a:rPr lang="en-US" sz="900" dirty="0">
                <a:solidFill>
                  <a:srgbClr val="FFFFFF"/>
                </a:solidFill>
                <a:latin typeface="Century Gothic" panose="020B0502020202020204" pitchFamily="34" charset="0"/>
              </a:rPr>
              <a:t>Testing Phase</a:t>
            </a:r>
          </a:p>
        </p:txBody>
      </p:sp>
      <p:grpSp>
        <p:nvGrpSpPr>
          <p:cNvPr id="272" name="Group 271">
            <a:extLst>
              <a:ext uri="{FF2B5EF4-FFF2-40B4-BE49-F238E27FC236}">
                <a16:creationId xmlns:a16="http://schemas.microsoft.com/office/drawing/2014/main" xmlns="" id="{234A66C0-CCEC-2746-9E7C-B17EA18B3140}"/>
              </a:ext>
            </a:extLst>
          </p:cNvPr>
          <p:cNvGrpSpPr/>
          <p:nvPr/>
        </p:nvGrpSpPr>
        <p:grpSpPr>
          <a:xfrm>
            <a:off x="1210509" y="2886546"/>
            <a:ext cx="1680270" cy="939173"/>
            <a:chOff x="3460527" y="4114801"/>
            <a:chExt cx="2869591" cy="1603934"/>
          </a:xfrm>
        </p:grpSpPr>
        <p:sp>
          <p:nvSpPr>
            <p:cNvPr id="273" name="Bent-Up Arrow 272"/>
            <p:cNvSpPr/>
            <p:nvPr/>
          </p:nvSpPr>
          <p:spPr>
            <a:xfrm rot="16200000" flipH="1" flipV="1">
              <a:off x="3116521" y="4458807"/>
              <a:ext cx="1603934" cy="915921"/>
            </a:xfrm>
            <a:prstGeom prst="bentUpArrow">
              <a:avLst>
                <a:gd name="adj1" fmla="val 20041"/>
                <a:gd name="adj2" fmla="val 20982"/>
                <a:gd name="adj3" fmla="val 25273"/>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74" name="Bent-Up Arrow 273"/>
            <p:cNvSpPr/>
            <p:nvPr/>
          </p:nvSpPr>
          <p:spPr>
            <a:xfrm rot="5400000" flipV="1">
              <a:off x="5070191" y="4458807"/>
              <a:ext cx="1603934" cy="915921"/>
            </a:xfrm>
            <a:prstGeom prst="bentUpArrow">
              <a:avLst>
                <a:gd name="adj1" fmla="val 20041"/>
                <a:gd name="adj2" fmla="val 20982"/>
                <a:gd name="adj3" fmla="val 25273"/>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grpSp>
        <p:nvGrpSpPr>
          <p:cNvPr id="275" name="Group 274">
            <a:extLst>
              <a:ext uri="{FF2B5EF4-FFF2-40B4-BE49-F238E27FC236}">
                <a16:creationId xmlns:a16="http://schemas.microsoft.com/office/drawing/2014/main" xmlns="" id="{83896762-4732-8C42-B6FA-D36812F47DC9}"/>
              </a:ext>
            </a:extLst>
          </p:cNvPr>
          <p:cNvGrpSpPr/>
          <p:nvPr/>
        </p:nvGrpSpPr>
        <p:grpSpPr>
          <a:xfrm>
            <a:off x="665723" y="2030148"/>
            <a:ext cx="2753789" cy="782267"/>
            <a:chOff x="2530133" y="2652231"/>
            <a:chExt cx="4702963" cy="1335968"/>
          </a:xfrm>
        </p:grpSpPr>
        <p:sp>
          <p:nvSpPr>
            <p:cNvPr id="276" name="Rectangle 275"/>
            <p:cNvSpPr/>
            <p:nvPr/>
          </p:nvSpPr>
          <p:spPr>
            <a:xfrm>
              <a:off x="4947096" y="2652231"/>
              <a:ext cx="2286000" cy="1335968"/>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77" name="Rectangle 276"/>
            <p:cNvSpPr/>
            <p:nvPr/>
          </p:nvSpPr>
          <p:spPr>
            <a:xfrm>
              <a:off x="2530133" y="2652231"/>
              <a:ext cx="2286000" cy="1335968"/>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nvGrpSpPr>
            <p:cNvPr id="278" name="Group 277"/>
            <p:cNvGrpSpPr/>
            <p:nvPr/>
          </p:nvGrpSpPr>
          <p:grpSpPr>
            <a:xfrm>
              <a:off x="2618926" y="2927844"/>
              <a:ext cx="1026591" cy="958712"/>
              <a:chOff x="3299081" y="2198810"/>
              <a:chExt cx="1026591" cy="958712"/>
            </a:xfrm>
          </p:grpSpPr>
          <p:grpSp>
            <p:nvGrpSpPr>
              <p:cNvPr id="315" name="Group 314"/>
              <p:cNvGrpSpPr/>
              <p:nvPr/>
            </p:nvGrpSpPr>
            <p:grpSpPr>
              <a:xfrm>
                <a:off x="3299081" y="2213447"/>
                <a:ext cx="999609" cy="944075"/>
                <a:chOff x="2226911" y="1490958"/>
                <a:chExt cx="999609" cy="944075"/>
              </a:xfrm>
            </p:grpSpPr>
            <p:sp>
              <p:nvSpPr>
                <p:cNvPr id="317" name="Oval 316">
                  <a:extLst>
                    <a:ext uri="{FF2B5EF4-FFF2-40B4-BE49-F238E27FC236}">
                      <a16:creationId xmlns:a16="http://schemas.microsoft.com/office/drawing/2014/main" xmlns="" id="{02A9185F-17CD-430F-B765-DD03EB939117}"/>
                    </a:ext>
                  </a:extLst>
                </p:cNvPr>
                <p:cNvSpPr/>
                <p:nvPr/>
              </p:nvSpPr>
              <p:spPr>
                <a:xfrm>
                  <a:off x="2634159" y="149095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18" name="Oval 317">
                  <a:extLst>
                    <a:ext uri="{FF2B5EF4-FFF2-40B4-BE49-F238E27FC236}">
                      <a16:creationId xmlns:a16="http://schemas.microsoft.com/office/drawing/2014/main" xmlns="" id="{67183840-CA5E-41AC-8BA4-676FBC67C282}"/>
                    </a:ext>
                  </a:extLst>
                </p:cNvPr>
                <p:cNvSpPr/>
                <p:nvPr/>
              </p:nvSpPr>
              <p:spPr>
                <a:xfrm>
                  <a:off x="2226911"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19" name="Oval 318">
                  <a:extLst>
                    <a:ext uri="{FF2B5EF4-FFF2-40B4-BE49-F238E27FC236}">
                      <a16:creationId xmlns:a16="http://schemas.microsoft.com/office/drawing/2014/main" xmlns="" id="{A207EA9E-2A7E-4CA2-B13A-7956BC73097B}"/>
                    </a:ext>
                  </a:extLst>
                </p:cNvPr>
                <p:cNvSpPr/>
                <p:nvPr/>
              </p:nvSpPr>
              <p:spPr>
                <a:xfrm>
                  <a:off x="3041407"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20" name="Oval 319">
                  <a:extLst>
                    <a:ext uri="{FF2B5EF4-FFF2-40B4-BE49-F238E27FC236}">
                      <a16:creationId xmlns:a16="http://schemas.microsoft.com/office/drawing/2014/main" xmlns="" id="{A68926DB-EC77-4FAF-8387-81160673330E}"/>
                    </a:ext>
                  </a:extLst>
                </p:cNvPr>
                <p:cNvSpPr/>
                <p:nvPr/>
              </p:nvSpPr>
              <p:spPr>
                <a:xfrm>
                  <a:off x="2412024"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21" name="Oval 320">
                  <a:extLst>
                    <a:ext uri="{FF2B5EF4-FFF2-40B4-BE49-F238E27FC236}">
                      <a16:creationId xmlns:a16="http://schemas.microsoft.com/office/drawing/2014/main" xmlns="" id="{21DDF9FD-DCA9-4F7E-9E84-90C4E26D8618}"/>
                    </a:ext>
                  </a:extLst>
                </p:cNvPr>
                <p:cNvSpPr/>
                <p:nvPr/>
              </p:nvSpPr>
              <p:spPr>
                <a:xfrm>
                  <a:off x="2856294"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cxnSp>
              <p:nvCxnSpPr>
                <p:cNvPr id="322" name="Straight Arrow Connector 321">
                  <a:extLst>
                    <a:ext uri="{FF2B5EF4-FFF2-40B4-BE49-F238E27FC236}">
                      <a16:creationId xmlns:a16="http://schemas.microsoft.com/office/drawing/2014/main" xmlns="" id="{45A1FA9B-4B89-4B97-94B0-7BC340E2F4F0}"/>
                    </a:ext>
                  </a:extLst>
                </p:cNvPr>
                <p:cNvCxnSpPr/>
                <p:nvPr/>
              </p:nvCxnSpPr>
              <p:spPr>
                <a:xfrm>
                  <a:off x="2792162" y="1648962"/>
                  <a:ext cx="276353" cy="165286"/>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xmlns="" id="{23ED6BEC-FDE7-441B-87F8-87C0EBBA45B7}"/>
                    </a:ext>
                  </a:extLst>
                </p:cNvPr>
                <p:cNvCxnSpPr/>
                <p:nvPr/>
              </p:nvCxnSpPr>
              <p:spPr>
                <a:xfrm flipH="1">
                  <a:off x="2384915" y="1648962"/>
                  <a:ext cx="276353" cy="165286"/>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4" name="Straight Arrow Connector 323">
                  <a:extLst>
                    <a:ext uri="{FF2B5EF4-FFF2-40B4-BE49-F238E27FC236}">
                      <a16:creationId xmlns:a16="http://schemas.microsoft.com/office/drawing/2014/main" xmlns="" id="{F8A4093E-82E2-4F9D-BFCA-FAD5164F088C}"/>
                    </a:ext>
                  </a:extLst>
                </p:cNvPr>
                <p:cNvCxnSpPr/>
                <p:nvPr/>
              </p:nvCxnSpPr>
              <p:spPr>
                <a:xfrm flipH="1">
                  <a:off x="2504580" y="1676071"/>
                  <a:ext cx="222135" cy="57385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5" name="Straight Arrow Connector 324">
                  <a:extLst>
                    <a:ext uri="{FF2B5EF4-FFF2-40B4-BE49-F238E27FC236}">
                      <a16:creationId xmlns:a16="http://schemas.microsoft.com/office/drawing/2014/main" xmlns="" id="{D80A2A72-AC93-4999-B7B0-0EAE4909DB6A}"/>
                    </a:ext>
                  </a:extLst>
                </p:cNvPr>
                <p:cNvCxnSpPr/>
                <p:nvPr/>
              </p:nvCxnSpPr>
              <p:spPr>
                <a:xfrm>
                  <a:off x="2726715" y="1676071"/>
                  <a:ext cx="222135" cy="57385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xmlns="" id="{95257391-6E72-499A-94F0-49CEE4E82BF3}"/>
                    </a:ext>
                  </a:extLst>
                </p:cNvPr>
                <p:cNvCxnSpPr/>
                <p:nvPr/>
              </p:nvCxnSpPr>
              <p:spPr>
                <a:xfrm>
                  <a:off x="2319467" y="1972251"/>
                  <a:ext cx="119665" cy="304778"/>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xmlns="" id="{A98374CB-906D-4DEC-8A6D-CD13264682A5}"/>
                    </a:ext>
                  </a:extLst>
                </p:cNvPr>
                <p:cNvCxnSpPr/>
                <p:nvPr/>
              </p:nvCxnSpPr>
              <p:spPr>
                <a:xfrm flipH="1">
                  <a:off x="3014297" y="1972251"/>
                  <a:ext cx="119665" cy="304778"/>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xmlns="" id="{100E0B43-702D-473C-A222-4F2C370067D6}"/>
                    </a:ext>
                  </a:extLst>
                </p:cNvPr>
                <p:cNvCxnSpPr/>
                <p:nvPr/>
              </p:nvCxnSpPr>
              <p:spPr>
                <a:xfrm>
                  <a:off x="2412024" y="1879695"/>
                  <a:ext cx="629383" cy="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xmlns="" id="{CA074040-3AAD-4D3B-8CA7-AA0F6FD9E0B4}"/>
                    </a:ext>
                  </a:extLst>
                </p:cNvPr>
                <p:cNvCxnSpPr/>
                <p:nvPr/>
              </p:nvCxnSpPr>
              <p:spPr>
                <a:xfrm>
                  <a:off x="2412024" y="1879695"/>
                  <a:ext cx="471379" cy="397335"/>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30" name="Straight Arrow Connector 329">
                  <a:extLst>
                    <a:ext uri="{FF2B5EF4-FFF2-40B4-BE49-F238E27FC236}">
                      <a16:creationId xmlns:a16="http://schemas.microsoft.com/office/drawing/2014/main" xmlns="" id="{5928CDD7-B129-4938-B5C2-75A1DA7C7B1D}"/>
                    </a:ext>
                  </a:extLst>
                </p:cNvPr>
                <p:cNvCxnSpPr/>
                <p:nvPr/>
              </p:nvCxnSpPr>
              <p:spPr>
                <a:xfrm flipH="1">
                  <a:off x="2570027" y="1945142"/>
                  <a:ext cx="498488" cy="331887"/>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xmlns="" id="{7DD5F5F7-BB90-45CB-A8F2-2C3F8E72DC27}"/>
                    </a:ext>
                  </a:extLst>
                </p:cNvPr>
                <p:cNvCxnSpPr/>
                <p:nvPr/>
              </p:nvCxnSpPr>
              <p:spPr>
                <a:xfrm>
                  <a:off x="2597136" y="2342477"/>
                  <a:ext cx="259158" cy="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grpSp>
          <p:sp>
            <p:nvSpPr>
              <p:cNvPr id="316" name="Rectangle 315"/>
              <p:cNvSpPr/>
              <p:nvPr/>
            </p:nvSpPr>
            <p:spPr>
              <a:xfrm>
                <a:off x="3299081" y="2198810"/>
                <a:ext cx="1026591" cy="958712"/>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grpSp>
          <p:nvGrpSpPr>
            <p:cNvPr id="279" name="Group 278"/>
            <p:cNvGrpSpPr/>
            <p:nvPr/>
          </p:nvGrpSpPr>
          <p:grpSpPr>
            <a:xfrm>
              <a:off x="3713734" y="2927844"/>
              <a:ext cx="1026591" cy="958712"/>
              <a:chOff x="4619667" y="3734099"/>
              <a:chExt cx="1026591" cy="958712"/>
            </a:xfrm>
          </p:grpSpPr>
          <p:grpSp>
            <p:nvGrpSpPr>
              <p:cNvPr id="308" name="Group 307"/>
              <p:cNvGrpSpPr/>
              <p:nvPr/>
            </p:nvGrpSpPr>
            <p:grpSpPr>
              <a:xfrm>
                <a:off x="4626938" y="3748736"/>
                <a:ext cx="999609" cy="944075"/>
                <a:chOff x="3498049" y="1490958"/>
                <a:chExt cx="999609" cy="944075"/>
              </a:xfrm>
            </p:grpSpPr>
            <p:sp>
              <p:nvSpPr>
                <p:cNvPr id="310" name="Oval 309">
                  <a:extLst>
                    <a:ext uri="{FF2B5EF4-FFF2-40B4-BE49-F238E27FC236}">
                      <a16:creationId xmlns:a16="http://schemas.microsoft.com/office/drawing/2014/main" xmlns="" id="{02A9185F-17CD-430F-B765-DD03EB939117}"/>
                    </a:ext>
                  </a:extLst>
                </p:cNvPr>
                <p:cNvSpPr/>
                <p:nvPr/>
              </p:nvSpPr>
              <p:spPr>
                <a:xfrm>
                  <a:off x="3905297" y="149095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11" name="Oval 310">
                  <a:extLst>
                    <a:ext uri="{FF2B5EF4-FFF2-40B4-BE49-F238E27FC236}">
                      <a16:creationId xmlns:a16="http://schemas.microsoft.com/office/drawing/2014/main" xmlns="" id="{67183840-CA5E-41AC-8BA4-676FBC67C282}"/>
                    </a:ext>
                  </a:extLst>
                </p:cNvPr>
                <p:cNvSpPr/>
                <p:nvPr/>
              </p:nvSpPr>
              <p:spPr>
                <a:xfrm>
                  <a:off x="3498049"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12" name="Oval 311">
                  <a:extLst>
                    <a:ext uri="{FF2B5EF4-FFF2-40B4-BE49-F238E27FC236}">
                      <a16:creationId xmlns:a16="http://schemas.microsoft.com/office/drawing/2014/main" xmlns="" id="{A207EA9E-2A7E-4CA2-B13A-7956BC73097B}"/>
                    </a:ext>
                  </a:extLst>
                </p:cNvPr>
                <p:cNvSpPr/>
                <p:nvPr/>
              </p:nvSpPr>
              <p:spPr>
                <a:xfrm>
                  <a:off x="4312545"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13" name="Oval 312">
                  <a:extLst>
                    <a:ext uri="{FF2B5EF4-FFF2-40B4-BE49-F238E27FC236}">
                      <a16:creationId xmlns:a16="http://schemas.microsoft.com/office/drawing/2014/main" xmlns="" id="{A68926DB-EC77-4FAF-8387-81160673330E}"/>
                    </a:ext>
                  </a:extLst>
                </p:cNvPr>
                <p:cNvSpPr/>
                <p:nvPr/>
              </p:nvSpPr>
              <p:spPr>
                <a:xfrm>
                  <a:off x="3683162"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14" name="Oval 313">
                  <a:extLst>
                    <a:ext uri="{FF2B5EF4-FFF2-40B4-BE49-F238E27FC236}">
                      <a16:creationId xmlns:a16="http://schemas.microsoft.com/office/drawing/2014/main" xmlns="" id="{21DDF9FD-DCA9-4F7E-9E84-90C4E26D8618}"/>
                    </a:ext>
                  </a:extLst>
                </p:cNvPr>
                <p:cNvSpPr/>
                <p:nvPr/>
              </p:nvSpPr>
              <p:spPr>
                <a:xfrm>
                  <a:off x="4127432"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sp>
            <p:nvSpPr>
              <p:cNvPr id="309" name="Rectangle 308"/>
              <p:cNvSpPr/>
              <p:nvPr/>
            </p:nvSpPr>
            <p:spPr>
              <a:xfrm>
                <a:off x="4619667" y="3734099"/>
                <a:ext cx="1026591" cy="958712"/>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grpSp>
          <p:nvGrpSpPr>
            <p:cNvPr id="280" name="Group 279"/>
            <p:cNvGrpSpPr/>
            <p:nvPr/>
          </p:nvGrpSpPr>
          <p:grpSpPr>
            <a:xfrm>
              <a:off x="5045727" y="2927844"/>
              <a:ext cx="1026591" cy="958712"/>
              <a:chOff x="5951660" y="3474452"/>
              <a:chExt cx="1026591" cy="958712"/>
            </a:xfrm>
          </p:grpSpPr>
          <p:cxnSp>
            <p:nvCxnSpPr>
              <p:cNvPr id="295" name="Straight Arrow Connector 294">
                <a:extLst>
                  <a:ext uri="{FF2B5EF4-FFF2-40B4-BE49-F238E27FC236}">
                    <a16:creationId xmlns:a16="http://schemas.microsoft.com/office/drawing/2014/main" xmlns="" id="{6811DF0B-84E5-1342-9EFD-307D206E224B}"/>
                  </a:ext>
                </a:extLst>
              </p:cNvPr>
              <p:cNvCxnSpPr/>
              <p:nvPr/>
            </p:nvCxnSpPr>
            <p:spPr>
              <a:xfrm flipH="1">
                <a:off x="6731847" y="3980529"/>
                <a:ext cx="119665" cy="304778"/>
              </a:xfrm>
              <a:prstGeom prst="straightConnector1">
                <a:avLst/>
              </a:prstGeom>
              <a:solidFill>
                <a:srgbClr val="002060"/>
              </a:solid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nvGrpSpPr>
              <p:cNvPr id="296" name="Group 295"/>
              <p:cNvGrpSpPr/>
              <p:nvPr/>
            </p:nvGrpSpPr>
            <p:grpSpPr>
              <a:xfrm>
                <a:off x="5951660" y="3474452"/>
                <a:ext cx="1026591" cy="958712"/>
                <a:chOff x="5951660" y="3734099"/>
                <a:chExt cx="1026591" cy="958712"/>
              </a:xfrm>
            </p:grpSpPr>
            <p:grpSp>
              <p:nvGrpSpPr>
                <p:cNvPr id="297" name="Group 296">
                  <a:extLst>
                    <a:ext uri="{FF2B5EF4-FFF2-40B4-BE49-F238E27FC236}">
                      <a16:creationId xmlns:a16="http://schemas.microsoft.com/office/drawing/2014/main" xmlns="" id="{8BE54C6C-6981-4B81-9F8F-C21AE2C33F97}"/>
                    </a:ext>
                  </a:extLst>
                </p:cNvPr>
                <p:cNvGrpSpPr/>
                <p:nvPr/>
              </p:nvGrpSpPr>
              <p:grpSpPr>
                <a:xfrm>
                  <a:off x="5968863" y="3748736"/>
                  <a:ext cx="999608" cy="944075"/>
                  <a:chOff x="762000" y="4648200"/>
                  <a:chExt cx="2057400" cy="1943100"/>
                </a:xfrm>
                <a:solidFill>
                  <a:srgbClr val="FF0000"/>
                </a:solidFill>
              </p:grpSpPr>
              <p:sp>
                <p:nvSpPr>
                  <p:cNvPr id="299" name="Oval 298">
                    <a:extLst>
                      <a:ext uri="{FF2B5EF4-FFF2-40B4-BE49-F238E27FC236}">
                        <a16:creationId xmlns:a16="http://schemas.microsoft.com/office/drawing/2014/main" xmlns="" id="{D25A5BC8-2F39-483F-9C54-C5797253DF53}"/>
                      </a:ext>
                    </a:extLst>
                  </p:cNvPr>
                  <p:cNvSpPr/>
                  <p:nvPr/>
                </p:nvSpPr>
                <p:spPr>
                  <a:xfrm>
                    <a:off x="1600200" y="46482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00" name="Oval 299">
                    <a:extLst>
                      <a:ext uri="{FF2B5EF4-FFF2-40B4-BE49-F238E27FC236}">
                        <a16:creationId xmlns:a16="http://schemas.microsoft.com/office/drawing/2014/main" xmlns="" id="{379DC205-3F09-4511-820D-415EE3B1851D}"/>
                      </a:ext>
                    </a:extLst>
                  </p:cNvPr>
                  <p:cNvSpPr/>
                  <p:nvPr/>
                </p:nvSpPr>
                <p:spPr>
                  <a:xfrm>
                    <a:off x="7620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01" name="Oval 300">
                    <a:extLst>
                      <a:ext uri="{FF2B5EF4-FFF2-40B4-BE49-F238E27FC236}">
                        <a16:creationId xmlns:a16="http://schemas.microsoft.com/office/drawing/2014/main" xmlns="" id="{0038798E-5C7B-42B4-903E-17CE0F788967}"/>
                      </a:ext>
                    </a:extLst>
                  </p:cNvPr>
                  <p:cNvSpPr/>
                  <p:nvPr/>
                </p:nvSpPr>
                <p:spPr>
                  <a:xfrm>
                    <a:off x="24384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02" name="Oval 301">
                    <a:extLst>
                      <a:ext uri="{FF2B5EF4-FFF2-40B4-BE49-F238E27FC236}">
                        <a16:creationId xmlns:a16="http://schemas.microsoft.com/office/drawing/2014/main" xmlns="" id="{37064CCC-35FB-4514-826D-231F95B6BA05}"/>
                      </a:ext>
                    </a:extLst>
                  </p:cNvPr>
                  <p:cNvSpPr/>
                  <p:nvPr/>
                </p:nvSpPr>
                <p:spPr>
                  <a:xfrm>
                    <a:off x="11430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03" name="Oval 302">
                    <a:extLst>
                      <a:ext uri="{FF2B5EF4-FFF2-40B4-BE49-F238E27FC236}">
                        <a16:creationId xmlns:a16="http://schemas.microsoft.com/office/drawing/2014/main" xmlns="" id="{426FEC5B-EE24-491D-BBF7-D3A8216522A6}"/>
                      </a:ext>
                    </a:extLst>
                  </p:cNvPr>
                  <p:cNvSpPr/>
                  <p:nvPr/>
                </p:nvSpPr>
                <p:spPr>
                  <a:xfrm>
                    <a:off x="20574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cxnSp>
                <p:nvCxnSpPr>
                  <p:cNvPr id="304" name="Straight Arrow Connector 303">
                    <a:extLst>
                      <a:ext uri="{FF2B5EF4-FFF2-40B4-BE49-F238E27FC236}">
                        <a16:creationId xmlns:a16="http://schemas.microsoft.com/office/drawing/2014/main" xmlns="" id="{923F6EA9-872C-444F-ADE5-4FC5C2491BDE}"/>
                      </a:ext>
                    </a:extLst>
                  </p:cNvPr>
                  <p:cNvCxnSpPr/>
                  <p:nvPr/>
                </p:nvCxnSpPr>
                <p:spPr>
                  <a:xfrm>
                    <a:off x="1925404" y="4973404"/>
                    <a:ext cx="568792" cy="340192"/>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305" name="Straight Arrow Connector 304">
                    <a:extLst>
                      <a:ext uri="{FF2B5EF4-FFF2-40B4-BE49-F238E27FC236}">
                        <a16:creationId xmlns:a16="http://schemas.microsoft.com/office/drawing/2014/main" xmlns="" id="{C47B41FF-CE2A-4183-A6CB-7EB310CFC618}"/>
                      </a:ext>
                    </a:extLst>
                  </p:cNvPr>
                  <p:cNvCxnSpPr/>
                  <p:nvPr/>
                </p:nvCxnSpPr>
                <p:spPr>
                  <a:xfrm>
                    <a:off x="1790700" y="5029200"/>
                    <a:ext cx="457200" cy="118110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306" name="Straight Arrow Connector 305">
                    <a:extLst>
                      <a:ext uri="{FF2B5EF4-FFF2-40B4-BE49-F238E27FC236}">
                        <a16:creationId xmlns:a16="http://schemas.microsoft.com/office/drawing/2014/main" xmlns="" id="{56B4B8DF-6B8A-4E6F-94C7-4B1FA997B994}"/>
                      </a:ext>
                    </a:extLst>
                  </p:cNvPr>
                  <p:cNvCxnSpPr/>
                  <p:nvPr/>
                </p:nvCxnSpPr>
                <p:spPr>
                  <a:xfrm>
                    <a:off x="952500" y="5638800"/>
                    <a:ext cx="246296" cy="6272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307" name="Straight Arrow Connector 306">
                    <a:extLst>
                      <a:ext uri="{FF2B5EF4-FFF2-40B4-BE49-F238E27FC236}">
                        <a16:creationId xmlns:a16="http://schemas.microsoft.com/office/drawing/2014/main" xmlns="" id="{33DD37DD-6AD4-4B8A-B620-4B752A49B91A}"/>
                      </a:ext>
                    </a:extLst>
                  </p:cNvPr>
                  <p:cNvCxnSpPr/>
                  <p:nvPr/>
                </p:nvCxnSpPr>
                <p:spPr>
                  <a:xfrm>
                    <a:off x="1143000" y="5448300"/>
                    <a:ext cx="970196" cy="8177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sp>
              <p:nvSpPr>
                <p:cNvPr id="298" name="Rectangle 297"/>
                <p:cNvSpPr/>
                <p:nvPr/>
              </p:nvSpPr>
              <p:spPr>
                <a:xfrm>
                  <a:off x="5951660" y="3734099"/>
                  <a:ext cx="1026591" cy="958712"/>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grpSp>
        <p:grpSp>
          <p:nvGrpSpPr>
            <p:cNvPr id="281" name="Group 280"/>
            <p:cNvGrpSpPr/>
            <p:nvPr/>
          </p:nvGrpSpPr>
          <p:grpSpPr>
            <a:xfrm>
              <a:off x="6140757" y="2927844"/>
              <a:ext cx="1026591" cy="958712"/>
              <a:chOff x="7046690" y="3734099"/>
              <a:chExt cx="1026591" cy="958712"/>
            </a:xfrm>
          </p:grpSpPr>
          <p:grpSp>
            <p:nvGrpSpPr>
              <p:cNvPr id="282" name="Group 281"/>
              <p:cNvGrpSpPr/>
              <p:nvPr/>
            </p:nvGrpSpPr>
            <p:grpSpPr>
              <a:xfrm>
                <a:off x="7060183" y="3748736"/>
                <a:ext cx="999608" cy="944075"/>
                <a:chOff x="6181899" y="1490958"/>
                <a:chExt cx="999608" cy="944075"/>
              </a:xfrm>
            </p:grpSpPr>
            <p:cxnSp>
              <p:nvCxnSpPr>
                <p:cNvPr id="284" name="Straight Arrow Connector 283">
                  <a:extLst>
                    <a:ext uri="{FF2B5EF4-FFF2-40B4-BE49-F238E27FC236}">
                      <a16:creationId xmlns:a16="http://schemas.microsoft.com/office/drawing/2014/main" xmlns="" id="{3A02BEAB-59FF-9A44-8D7A-2D878506FEB7}"/>
                    </a:ext>
                  </a:extLst>
                </p:cNvPr>
                <p:cNvCxnSpPr/>
                <p:nvPr/>
              </p:nvCxnSpPr>
              <p:spPr>
                <a:xfrm flipH="1">
                  <a:off x="6949978" y="1972251"/>
                  <a:ext cx="119665" cy="304778"/>
                </a:xfrm>
                <a:prstGeom prst="straightConnector1">
                  <a:avLst/>
                </a:prstGeom>
                <a:solidFill>
                  <a:srgbClr val="002060"/>
                </a:solid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nvGrpSpPr>
                <p:cNvPr id="285" name="Group 284">
                  <a:extLst>
                    <a:ext uri="{FF2B5EF4-FFF2-40B4-BE49-F238E27FC236}">
                      <a16:creationId xmlns:a16="http://schemas.microsoft.com/office/drawing/2014/main" xmlns="" id="{8BE54C6C-6981-4B81-9F8F-C21AE2C33F97}"/>
                    </a:ext>
                  </a:extLst>
                </p:cNvPr>
                <p:cNvGrpSpPr/>
                <p:nvPr/>
              </p:nvGrpSpPr>
              <p:grpSpPr>
                <a:xfrm>
                  <a:off x="6181899" y="1490958"/>
                  <a:ext cx="999608" cy="944075"/>
                  <a:chOff x="762000" y="4648200"/>
                  <a:chExt cx="2057400" cy="1943100"/>
                </a:xfrm>
                <a:solidFill>
                  <a:srgbClr val="FF0000"/>
                </a:solidFill>
              </p:grpSpPr>
              <p:sp>
                <p:nvSpPr>
                  <p:cNvPr id="288" name="Oval 287">
                    <a:extLst>
                      <a:ext uri="{FF2B5EF4-FFF2-40B4-BE49-F238E27FC236}">
                        <a16:creationId xmlns:a16="http://schemas.microsoft.com/office/drawing/2014/main" xmlns="" id="{D25A5BC8-2F39-483F-9C54-C5797253DF53}"/>
                      </a:ext>
                    </a:extLst>
                  </p:cNvPr>
                  <p:cNvSpPr/>
                  <p:nvPr/>
                </p:nvSpPr>
                <p:spPr>
                  <a:xfrm>
                    <a:off x="1600200" y="46482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89" name="Oval 288">
                    <a:extLst>
                      <a:ext uri="{FF2B5EF4-FFF2-40B4-BE49-F238E27FC236}">
                        <a16:creationId xmlns:a16="http://schemas.microsoft.com/office/drawing/2014/main" xmlns="" id="{379DC205-3F09-4511-820D-415EE3B1851D}"/>
                      </a:ext>
                    </a:extLst>
                  </p:cNvPr>
                  <p:cNvSpPr/>
                  <p:nvPr/>
                </p:nvSpPr>
                <p:spPr>
                  <a:xfrm>
                    <a:off x="7620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90" name="Oval 289">
                    <a:extLst>
                      <a:ext uri="{FF2B5EF4-FFF2-40B4-BE49-F238E27FC236}">
                        <a16:creationId xmlns:a16="http://schemas.microsoft.com/office/drawing/2014/main" xmlns="" id="{0038798E-5C7B-42B4-903E-17CE0F788967}"/>
                      </a:ext>
                    </a:extLst>
                  </p:cNvPr>
                  <p:cNvSpPr/>
                  <p:nvPr/>
                </p:nvSpPr>
                <p:spPr>
                  <a:xfrm>
                    <a:off x="24384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91" name="Oval 290">
                    <a:extLst>
                      <a:ext uri="{FF2B5EF4-FFF2-40B4-BE49-F238E27FC236}">
                        <a16:creationId xmlns:a16="http://schemas.microsoft.com/office/drawing/2014/main" xmlns="" id="{37064CCC-35FB-4514-826D-231F95B6BA05}"/>
                      </a:ext>
                    </a:extLst>
                  </p:cNvPr>
                  <p:cNvSpPr/>
                  <p:nvPr/>
                </p:nvSpPr>
                <p:spPr>
                  <a:xfrm>
                    <a:off x="11430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92" name="Oval 291">
                    <a:extLst>
                      <a:ext uri="{FF2B5EF4-FFF2-40B4-BE49-F238E27FC236}">
                        <a16:creationId xmlns:a16="http://schemas.microsoft.com/office/drawing/2014/main" xmlns="" id="{426FEC5B-EE24-491D-BBF7-D3A8216522A6}"/>
                      </a:ext>
                    </a:extLst>
                  </p:cNvPr>
                  <p:cNvSpPr/>
                  <p:nvPr/>
                </p:nvSpPr>
                <p:spPr>
                  <a:xfrm>
                    <a:off x="20574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cxnSp>
                <p:nvCxnSpPr>
                  <p:cNvPr id="293" name="Straight Arrow Connector 292">
                    <a:extLst>
                      <a:ext uri="{FF2B5EF4-FFF2-40B4-BE49-F238E27FC236}">
                        <a16:creationId xmlns:a16="http://schemas.microsoft.com/office/drawing/2014/main" xmlns="" id="{C47B41FF-CE2A-4183-A6CB-7EB310CFC618}"/>
                      </a:ext>
                    </a:extLst>
                  </p:cNvPr>
                  <p:cNvCxnSpPr/>
                  <p:nvPr/>
                </p:nvCxnSpPr>
                <p:spPr>
                  <a:xfrm>
                    <a:off x="1790700" y="5029200"/>
                    <a:ext cx="457200" cy="118110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294" name="Straight Arrow Connector 293">
                    <a:extLst>
                      <a:ext uri="{FF2B5EF4-FFF2-40B4-BE49-F238E27FC236}">
                        <a16:creationId xmlns:a16="http://schemas.microsoft.com/office/drawing/2014/main" xmlns="" id="{56B4B8DF-6B8A-4E6F-94C7-4B1FA997B994}"/>
                      </a:ext>
                    </a:extLst>
                  </p:cNvPr>
                  <p:cNvCxnSpPr/>
                  <p:nvPr/>
                </p:nvCxnSpPr>
                <p:spPr>
                  <a:xfrm>
                    <a:off x="952500" y="5638800"/>
                    <a:ext cx="246296" cy="6272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6" name="Straight Arrow Connector 285">
                  <a:extLst>
                    <a:ext uri="{FF2B5EF4-FFF2-40B4-BE49-F238E27FC236}">
                      <a16:creationId xmlns:a16="http://schemas.microsoft.com/office/drawing/2014/main" xmlns="" id="{29DE84B4-20D1-AA4C-A52E-23E1CC711439}"/>
                    </a:ext>
                  </a:extLst>
                </p:cNvPr>
                <p:cNvCxnSpPr>
                  <a:cxnSpLocks/>
                </p:cNvCxnSpPr>
                <p:nvPr/>
              </p:nvCxnSpPr>
              <p:spPr>
                <a:xfrm flipH="1">
                  <a:off x="6459569" y="1676071"/>
                  <a:ext cx="222135" cy="573849"/>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xmlns="" id="{438B59AB-FE5F-D64A-9821-D58468580957}"/>
                    </a:ext>
                  </a:extLst>
                </p:cNvPr>
                <p:cNvCxnSpPr/>
                <p:nvPr/>
              </p:nvCxnSpPr>
              <p:spPr>
                <a:xfrm>
                  <a:off x="6367012" y="1879695"/>
                  <a:ext cx="629382" cy="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sp>
            <p:nvSpPr>
              <p:cNvPr id="283" name="Rectangle 282"/>
              <p:cNvSpPr/>
              <p:nvPr/>
            </p:nvSpPr>
            <p:spPr>
              <a:xfrm>
                <a:off x="7046690" y="3734099"/>
                <a:ext cx="1026591" cy="958712"/>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grpSp>
      <p:sp>
        <p:nvSpPr>
          <p:cNvPr id="3" name="Title 2"/>
          <p:cNvSpPr>
            <a:spLocks noGrp="1"/>
          </p:cNvSpPr>
          <p:nvPr>
            <p:ph type="title"/>
          </p:nvPr>
        </p:nvSpPr>
        <p:spPr/>
        <p:txBody>
          <a:bodyPr/>
          <a:lstStyle/>
          <a:p>
            <a:r>
              <a:rPr lang="en-US" sz="2400" dirty="0">
                <a:solidFill>
                  <a:srgbClr val="000000">
                    <a:lumMod val="95000"/>
                    <a:lumOff val="5000"/>
                  </a:srgbClr>
                </a:solidFill>
              </a:rPr>
              <a:t>Partial or complete, that’s the question </a:t>
            </a:r>
            <a:r>
              <a:rPr lang="en-US" sz="1800" i="1" dirty="0">
                <a:solidFill>
                  <a:srgbClr val="000000">
                    <a:lumMod val="95000"/>
                    <a:lumOff val="5000"/>
                  </a:srgbClr>
                </a:solidFill>
              </a:rPr>
              <a:t>[NAACL’19]</a:t>
            </a:r>
            <a:endParaRPr lang="en-US" dirty="0"/>
          </a:p>
        </p:txBody>
      </p:sp>
      <p:sp>
        <p:nvSpPr>
          <p:cNvPr id="133" name="TextBox 132">
            <a:extLst>
              <a:ext uri="{FF2B5EF4-FFF2-40B4-BE49-F238E27FC236}">
                <a16:creationId xmlns:a16="http://schemas.microsoft.com/office/drawing/2014/main" xmlns=""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525591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bldLvl="2"/>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xmlns="" id="{13580A41-5D3F-9B4A-A3A2-1BA92D356B46}"/>
              </a:ext>
            </a:extLst>
          </p:cNvPr>
          <p:cNvGrpSpPr/>
          <p:nvPr/>
        </p:nvGrpSpPr>
        <p:grpSpPr>
          <a:xfrm>
            <a:off x="1593025" y="4787169"/>
            <a:ext cx="5261930" cy="1527525"/>
            <a:chOff x="919649" y="3667414"/>
            <a:chExt cx="9231175" cy="2679788"/>
          </a:xfrm>
        </p:grpSpPr>
        <p:grpSp>
          <p:nvGrpSpPr>
            <p:cNvPr id="18" name="Group 17">
              <a:extLst>
                <a:ext uri="{FF2B5EF4-FFF2-40B4-BE49-F238E27FC236}">
                  <a16:creationId xmlns:a16="http://schemas.microsoft.com/office/drawing/2014/main" xmlns="" id="{0B58FBB2-EDA0-4F42-BC52-C9620B44AB98}"/>
                </a:ext>
              </a:extLst>
            </p:cNvPr>
            <p:cNvGrpSpPr/>
            <p:nvPr/>
          </p:nvGrpSpPr>
          <p:grpSpPr>
            <a:xfrm>
              <a:off x="2267747" y="3667414"/>
              <a:ext cx="2589480" cy="2651976"/>
              <a:chOff x="3116678" y="3433823"/>
              <a:chExt cx="2589480" cy="2651976"/>
            </a:xfrm>
          </p:grpSpPr>
          <p:sp>
            <p:nvSpPr>
              <p:cNvPr id="22" name="Oval 21">
                <a:extLst>
                  <a:ext uri="{FF2B5EF4-FFF2-40B4-BE49-F238E27FC236}">
                    <a16:creationId xmlns:a16="http://schemas.microsoft.com/office/drawing/2014/main" xmlns="" id="{495AFAE1-18F1-EC4C-90A9-1362BE599E27}"/>
                  </a:ext>
                </a:extLst>
              </p:cNvPr>
              <p:cNvSpPr/>
              <p:nvPr/>
            </p:nvSpPr>
            <p:spPr>
              <a:xfrm>
                <a:off x="4171651" y="3433823"/>
                <a:ext cx="479534" cy="479534"/>
              </a:xfrm>
              <a:prstGeom prst="ellipse">
                <a:avLst/>
              </a:prstGeom>
              <a:solidFill>
                <a:srgbClr val="C17A90"/>
              </a:solid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1400" dirty="0">
                    <a:solidFill>
                      <a:srgbClr val="FFFFFF"/>
                    </a:solidFill>
                    <a:latin typeface="Century Gothic" panose="020B0502020202020204" pitchFamily="34" charset="0"/>
                  </a:rPr>
                  <a:t>1</a:t>
                </a:r>
              </a:p>
            </p:txBody>
          </p:sp>
          <p:sp>
            <p:nvSpPr>
              <p:cNvPr id="23" name="Oval 22">
                <a:extLst>
                  <a:ext uri="{FF2B5EF4-FFF2-40B4-BE49-F238E27FC236}">
                    <a16:creationId xmlns:a16="http://schemas.microsoft.com/office/drawing/2014/main" xmlns="" id="{C0B62F5D-604E-DA4B-AA6E-6B1344314EED}"/>
                  </a:ext>
                </a:extLst>
              </p:cNvPr>
              <p:cNvSpPr/>
              <p:nvPr/>
            </p:nvSpPr>
            <p:spPr>
              <a:xfrm>
                <a:off x="3116678" y="4560726"/>
                <a:ext cx="479534" cy="479534"/>
              </a:xfrm>
              <a:prstGeom prst="ellipse">
                <a:avLst/>
              </a:prstGeom>
              <a:solidFill>
                <a:srgbClr val="C17A90"/>
              </a:solid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1400" dirty="0">
                    <a:solidFill>
                      <a:srgbClr val="FFFFFF"/>
                    </a:solidFill>
                    <a:latin typeface="Century Gothic" panose="020B0502020202020204" pitchFamily="34" charset="0"/>
                  </a:rPr>
                  <a:t>2</a:t>
                </a:r>
              </a:p>
            </p:txBody>
          </p:sp>
          <p:sp>
            <p:nvSpPr>
              <p:cNvPr id="24" name="Oval 23">
                <a:extLst>
                  <a:ext uri="{FF2B5EF4-FFF2-40B4-BE49-F238E27FC236}">
                    <a16:creationId xmlns:a16="http://schemas.microsoft.com/office/drawing/2014/main" xmlns="" id="{D8CD52FE-F062-3B4D-BEC7-269586F8B300}"/>
                  </a:ext>
                </a:extLst>
              </p:cNvPr>
              <p:cNvSpPr/>
              <p:nvPr/>
            </p:nvSpPr>
            <p:spPr>
              <a:xfrm>
                <a:off x="5226624" y="4560726"/>
                <a:ext cx="479534" cy="479534"/>
              </a:xfrm>
              <a:prstGeom prst="ellipse">
                <a:avLst/>
              </a:prstGeom>
              <a:solidFill>
                <a:srgbClr val="C17A90"/>
              </a:solid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1400" dirty="0">
                    <a:solidFill>
                      <a:srgbClr val="FFFFFF"/>
                    </a:solidFill>
                    <a:latin typeface="Century Gothic" panose="020B0502020202020204" pitchFamily="34" charset="0"/>
                  </a:rPr>
                  <a:t>3</a:t>
                </a:r>
              </a:p>
            </p:txBody>
          </p:sp>
          <p:sp>
            <p:nvSpPr>
              <p:cNvPr id="25" name="Oval 24">
                <a:extLst>
                  <a:ext uri="{FF2B5EF4-FFF2-40B4-BE49-F238E27FC236}">
                    <a16:creationId xmlns:a16="http://schemas.microsoft.com/office/drawing/2014/main" xmlns="" id="{87F216B9-501E-3049-A620-6D6160D635E7}"/>
                  </a:ext>
                </a:extLst>
              </p:cNvPr>
              <p:cNvSpPr/>
              <p:nvPr/>
            </p:nvSpPr>
            <p:spPr>
              <a:xfrm>
                <a:off x="4171651" y="5606265"/>
                <a:ext cx="479534" cy="479534"/>
              </a:xfrm>
              <a:prstGeom prst="ellipse">
                <a:avLst/>
              </a:prstGeom>
              <a:solidFill>
                <a:srgbClr val="C17A90"/>
              </a:solid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1400" dirty="0">
                    <a:solidFill>
                      <a:srgbClr val="FFFFFF"/>
                    </a:solidFill>
                    <a:latin typeface="Century Gothic" panose="020B0502020202020204" pitchFamily="34" charset="0"/>
                  </a:rPr>
                  <a:t>4</a:t>
                </a:r>
              </a:p>
            </p:txBody>
          </p:sp>
          <p:cxnSp>
            <p:nvCxnSpPr>
              <p:cNvPr id="26" name="Straight Arrow Connector 25">
                <a:extLst>
                  <a:ext uri="{FF2B5EF4-FFF2-40B4-BE49-F238E27FC236}">
                    <a16:creationId xmlns:a16="http://schemas.microsoft.com/office/drawing/2014/main" xmlns="" id="{58B9F877-A889-B04E-87BD-FBEBCA049BFB}"/>
                  </a:ext>
                </a:extLst>
              </p:cNvPr>
              <p:cNvCxnSpPr>
                <a:cxnSpLocks/>
              </p:cNvCxnSpPr>
              <p:nvPr/>
            </p:nvCxnSpPr>
            <p:spPr>
              <a:xfrm flipH="1">
                <a:off x="3525986" y="3843131"/>
                <a:ext cx="715890" cy="787821"/>
              </a:xfrm>
              <a:prstGeom prst="straightConnector1">
                <a:avLst/>
              </a:prstGeom>
              <a:solidFill>
                <a:srgbClr val="C17A90"/>
              </a:solidFill>
              <a:ln w="38100">
                <a:solidFill>
                  <a:srgbClr val="C17A9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xmlns="" id="{5C7510E4-FCB3-3949-A742-7B847388A282}"/>
                  </a:ext>
                </a:extLst>
              </p:cNvPr>
              <p:cNvCxnSpPr>
                <a:cxnSpLocks/>
              </p:cNvCxnSpPr>
              <p:nvPr/>
            </p:nvCxnSpPr>
            <p:spPr>
              <a:xfrm>
                <a:off x="3525986" y="4970034"/>
                <a:ext cx="715891" cy="706457"/>
              </a:xfrm>
              <a:prstGeom prst="straightConnector1">
                <a:avLst/>
              </a:prstGeom>
              <a:solidFill>
                <a:srgbClr val="C17A90"/>
              </a:solidFill>
              <a:ln w="38100">
                <a:solidFill>
                  <a:srgbClr val="C17A9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xmlns="" id="{AEF67EC7-986C-8A44-B92A-8D98F4344827}"/>
                  </a:ext>
                </a:extLst>
              </p:cNvPr>
              <p:cNvCxnSpPr>
                <a:cxnSpLocks/>
              </p:cNvCxnSpPr>
              <p:nvPr/>
            </p:nvCxnSpPr>
            <p:spPr>
              <a:xfrm>
                <a:off x="4580959" y="3843131"/>
                <a:ext cx="715891" cy="787821"/>
              </a:xfrm>
              <a:prstGeom prst="straightConnector1">
                <a:avLst/>
              </a:prstGeom>
              <a:solidFill>
                <a:srgbClr val="C17A90"/>
              </a:solidFill>
              <a:ln w="38100">
                <a:solidFill>
                  <a:srgbClr val="C17A9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xmlns="" id="{18364F04-55CA-3A44-B2D8-C9B0482A3871}"/>
                  </a:ext>
                </a:extLst>
              </p:cNvPr>
              <p:cNvCxnSpPr>
                <a:cxnSpLocks/>
              </p:cNvCxnSpPr>
              <p:nvPr/>
            </p:nvCxnSpPr>
            <p:spPr>
              <a:xfrm flipV="1">
                <a:off x="4580959" y="4970034"/>
                <a:ext cx="715891" cy="706457"/>
              </a:xfrm>
              <a:prstGeom prst="straightConnector1">
                <a:avLst/>
              </a:prstGeom>
              <a:solidFill>
                <a:srgbClr val="C17A90"/>
              </a:solidFill>
              <a:ln w="38100">
                <a:solidFill>
                  <a:srgbClr val="C17A90"/>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xmlns="" id="{D81A8452-7F34-5B4F-B319-6B26B4F7F534}"/>
                </a:ext>
              </a:extLst>
            </p:cNvPr>
            <p:cNvSpPr txBox="1"/>
            <p:nvPr/>
          </p:nvSpPr>
          <p:spPr>
            <a:xfrm>
              <a:off x="5561629" y="4295420"/>
              <a:ext cx="1960667" cy="2051782"/>
            </a:xfrm>
            <a:prstGeom prst="rect">
              <a:avLst/>
            </a:prstGeom>
            <a:noFill/>
          </p:spPr>
          <p:txBody>
            <a:bodyPr wrap="none" rtlCol="0">
              <a:spAutoFit/>
            </a:bodyPr>
            <a:lstStyle/>
            <a:p>
              <a:pPr algn="ctr"/>
              <a:r>
                <a:rPr lang="en-US" sz="1400" b="1" dirty="0">
                  <a:solidFill>
                    <a:srgbClr val="C27990"/>
                  </a:solidFill>
                  <a:latin typeface="Century Gothic" panose="020B0502020202020204" pitchFamily="34" charset="0"/>
                </a:rPr>
                <a:t>1</a:t>
              </a:r>
              <a:r>
                <a:rPr lang="en-US" sz="1400" b="1" dirty="0">
                  <a:solidFill>
                    <a:srgbClr val="C27990"/>
                  </a:solidFill>
                  <a:latin typeface="Century Gothic" panose="020B0502020202020204" pitchFamily="34" charset="0"/>
                  <a:sym typeface="Wingdings" pitchFamily="2" charset="2"/>
                </a:rPr>
                <a:t></a:t>
              </a:r>
              <a:r>
                <a:rPr lang="en-US" sz="1400" b="1" dirty="0">
                  <a:solidFill>
                    <a:srgbClr val="C27990"/>
                  </a:solidFill>
                  <a:latin typeface="Century Gothic" panose="020B0502020202020204" pitchFamily="34" charset="0"/>
                </a:rPr>
                <a:t>2</a:t>
              </a:r>
              <a:r>
                <a:rPr lang="en-US" sz="1400" b="1" dirty="0">
                  <a:solidFill>
                    <a:srgbClr val="C27990"/>
                  </a:solidFill>
                  <a:latin typeface="Century Gothic" panose="020B0502020202020204" pitchFamily="34" charset="0"/>
                  <a:sym typeface="Wingdings" pitchFamily="2" charset="2"/>
                </a:rPr>
                <a:t></a:t>
              </a:r>
              <a:r>
                <a:rPr lang="en-US" sz="1400" b="1" dirty="0">
                  <a:solidFill>
                    <a:srgbClr val="C27990"/>
                  </a:solidFill>
                  <a:latin typeface="Century Gothic" panose="020B0502020202020204" pitchFamily="34" charset="0"/>
                </a:rPr>
                <a:t>3</a:t>
              </a:r>
              <a:r>
                <a:rPr lang="en-US" sz="1400" b="1" dirty="0">
                  <a:solidFill>
                    <a:srgbClr val="C27990"/>
                  </a:solidFill>
                  <a:latin typeface="Century Gothic" panose="020B0502020202020204" pitchFamily="34" charset="0"/>
                  <a:sym typeface="Wingdings" pitchFamily="2" charset="2"/>
                </a:rPr>
                <a:t></a:t>
              </a:r>
              <a:r>
                <a:rPr lang="en-US" sz="1400" b="1" dirty="0">
                  <a:solidFill>
                    <a:srgbClr val="C27990"/>
                  </a:solidFill>
                  <a:latin typeface="Century Gothic" panose="020B0502020202020204" pitchFamily="34" charset="0"/>
                </a:rPr>
                <a:t>4</a:t>
              </a:r>
            </a:p>
            <a:p>
              <a:pPr algn="ctr"/>
              <a:endParaRPr lang="en-US" sz="1400" b="1" dirty="0">
                <a:solidFill>
                  <a:srgbClr val="C27990"/>
                </a:solidFill>
                <a:latin typeface="Century Gothic" panose="020B0502020202020204" pitchFamily="34" charset="0"/>
              </a:endParaRPr>
            </a:p>
            <a:p>
              <a:pPr algn="ctr"/>
              <a:r>
                <a:rPr lang="en-US" sz="1400" b="1" dirty="0">
                  <a:solidFill>
                    <a:srgbClr val="C27990"/>
                  </a:solidFill>
                  <a:latin typeface="Century Gothic" panose="020B0502020202020204" pitchFamily="34" charset="0"/>
                </a:rPr>
                <a:t>Or</a:t>
              </a:r>
            </a:p>
            <a:p>
              <a:pPr algn="ctr"/>
              <a:endParaRPr lang="en-US" sz="1400" b="1" dirty="0">
                <a:solidFill>
                  <a:srgbClr val="C27990"/>
                </a:solidFill>
                <a:latin typeface="Century Gothic" panose="020B0502020202020204" pitchFamily="34" charset="0"/>
              </a:endParaRPr>
            </a:p>
            <a:p>
              <a:pPr algn="ctr"/>
              <a:r>
                <a:rPr lang="en-US" sz="1400" b="1" dirty="0">
                  <a:solidFill>
                    <a:srgbClr val="C27990"/>
                  </a:solidFill>
                  <a:latin typeface="Century Gothic" panose="020B0502020202020204" pitchFamily="34" charset="0"/>
                </a:rPr>
                <a:t>1</a:t>
              </a:r>
              <a:r>
                <a:rPr lang="en-US" sz="1400" b="1" dirty="0">
                  <a:solidFill>
                    <a:srgbClr val="C27990"/>
                  </a:solidFill>
                  <a:latin typeface="Century Gothic" panose="020B0502020202020204" pitchFamily="34" charset="0"/>
                  <a:sym typeface="Wingdings" pitchFamily="2" charset="2"/>
                </a:rPr>
                <a:t></a:t>
              </a:r>
              <a:r>
                <a:rPr lang="en-US" sz="1400" b="1" dirty="0">
                  <a:solidFill>
                    <a:srgbClr val="C27990"/>
                  </a:solidFill>
                  <a:latin typeface="Century Gothic" panose="020B0502020202020204" pitchFamily="34" charset="0"/>
                </a:rPr>
                <a:t>3</a:t>
              </a:r>
              <a:r>
                <a:rPr lang="en-US" sz="1400" b="1" dirty="0">
                  <a:solidFill>
                    <a:srgbClr val="C27990"/>
                  </a:solidFill>
                  <a:latin typeface="Century Gothic" panose="020B0502020202020204" pitchFamily="34" charset="0"/>
                  <a:sym typeface="Wingdings" pitchFamily="2" charset="2"/>
                </a:rPr>
                <a:t></a:t>
              </a:r>
              <a:r>
                <a:rPr lang="en-US" sz="1400" b="1" dirty="0">
                  <a:solidFill>
                    <a:srgbClr val="C27990"/>
                  </a:solidFill>
                  <a:latin typeface="Century Gothic" panose="020B0502020202020204" pitchFamily="34" charset="0"/>
                </a:rPr>
                <a:t>2</a:t>
              </a:r>
              <a:r>
                <a:rPr lang="en-US" sz="1400" b="1" dirty="0">
                  <a:solidFill>
                    <a:srgbClr val="C27990"/>
                  </a:solidFill>
                  <a:latin typeface="Century Gothic" panose="020B0502020202020204" pitchFamily="34" charset="0"/>
                  <a:sym typeface="Wingdings" pitchFamily="2" charset="2"/>
                </a:rPr>
                <a:t></a:t>
              </a:r>
              <a:r>
                <a:rPr lang="en-US" sz="1400" b="1" dirty="0">
                  <a:solidFill>
                    <a:srgbClr val="C27990"/>
                  </a:solidFill>
                  <a:latin typeface="Century Gothic" panose="020B0502020202020204" pitchFamily="34" charset="0"/>
                </a:rPr>
                <a:t>4</a:t>
              </a:r>
            </a:p>
          </p:txBody>
        </p:sp>
        <p:sp>
          <p:nvSpPr>
            <p:cNvPr id="21" name="TextBox 20">
              <a:extLst>
                <a:ext uri="{FF2B5EF4-FFF2-40B4-BE49-F238E27FC236}">
                  <a16:creationId xmlns:a16="http://schemas.microsoft.com/office/drawing/2014/main" xmlns="" id="{D55442BF-A048-9446-A09E-944E386A3545}"/>
                </a:ext>
              </a:extLst>
            </p:cNvPr>
            <p:cNvSpPr txBox="1"/>
            <p:nvPr/>
          </p:nvSpPr>
          <p:spPr>
            <a:xfrm>
              <a:off x="919649" y="5615627"/>
              <a:ext cx="2168769" cy="539943"/>
            </a:xfrm>
            <a:prstGeom prst="rect">
              <a:avLst/>
            </a:prstGeom>
            <a:noFill/>
          </p:spPr>
          <p:txBody>
            <a:bodyPr wrap="none" rtlCol="0">
              <a:spAutoFit/>
            </a:bodyPr>
            <a:lstStyle/>
            <a:p>
              <a:pPr algn="ctr"/>
              <a:r>
                <a:rPr lang="en-US" sz="1400" b="1" dirty="0">
                  <a:solidFill>
                    <a:srgbClr val="C27990"/>
                  </a:solidFill>
                  <a:latin typeface="Century Gothic" panose="020B0502020202020204" pitchFamily="34" charset="0"/>
                </a:rPr>
                <a:t>Partial order</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xmlns="" id="{D81A8452-7F34-5B4F-B319-6B26B4F7F534}"/>
                    </a:ext>
                  </a:extLst>
                </p:cNvPr>
                <p:cNvSpPr txBox="1"/>
                <p:nvPr/>
              </p:nvSpPr>
              <p:spPr>
                <a:xfrm>
                  <a:off x="8081608" y="4794317"/>
                  <a:ext cx="2069216" cy="809914"/>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1" i="1" smtClean="0">
                                <a:solidFill>
                                  <a:srgbClr val="C27990"/>
                                </a:solidFill>
                                <a:latin typeface="Cambria Math" charset="0"/>
                              </a:rPr>
                            </m:ctrlPr>
                          </m:sSubPr>
                          <m:e>
                            <m:r>
                              <a:rPr lang="en-US" sz="2400" b="1" i="1">
                                <a:solidFill>
                                  <a:srgbClr val="C27990"/>
                                </a:solidFill>
                                <a:latin typeface="Cambria Math" charset="0"/>
                              </a:rPr>
                              <m:t>𝒇</m:t>
                            </m:r>
                          </m:e>
                          <m:sub>
                            <m:r>
                              <a:rPr lang="en-US" sz="2400" b="1" i="1" smtClean="0">
                                <a:solidFill>
                                  <a:srgbClr val="C27990"/>
                                </a:solidFill>
                                <a:latin typeface="Cambria Math" charset="0"/>
                              </a:rPr>
                              <m:t>𝒌</m:t>
                            </m:r>
                          </m:sub>
                        </m:sSub>
                        <m:r>
                          <a:rPr lang="en-US" sz="2400" b="1" i="1" smtClean="0">
                            <a:solidFill>
                              <a:srgbClr val="C27990"/>
                            </a:solidFill>
                            <a:latin typeface="Cambria Math" charset="0"/>
                          </a:rPr>
                          <m:t>=</m:t>
                        </m:r>
                        <m:r>
                          <a:rPr lang="en-US" sz="2400" b="1" i="1" smtClean="0">
                            <a:solidFill>
                              <a:srgbClr val="C27990"/>
                            </a:solidFill>
                            <a:latin typeface="Cambria Math" charset="0"/>
                          </a:rPr>
                          <m:t>𝟐</m:t>
                        </m:r>
                      </m:oMath>
                    </m:oMathPara>
                  </a14:m>
                  <a:endParaRPr lang="en-US" sz="2400" b="1" dirty="0">
                    <a:solidFill>
                      <a:srgbClr val="C27990"/>
                    </a:solidFill>
                    <a:latin typeface="Century Gothic" panose="020B0502020202020204" pitchFamily="34" charset="0"/>
                  </a:endParaRPr>
                </a:p>
              </p:txBody>
            </p:sp>
          </mc:Choice>
          <mc:Fallback xmlns="">
            <p:sp>
              <p:nvSpPr>
                <p:cNvPr id="31" name="TextBox 30">
                  <a:extLst>
                    <a:ext uri="{FF2B5EF4-FFF2-40B4-BE49-F238E27FC236}">
                      <a16:creationId xmlns:a16="http://schemas.microsoft.com/office/drawing/2014/main" xmlns="" xmlns:a14="http://schemas.microsoft.com/office/drawing/2010/main" id="{D81A8452-7F34-5B4F-B319-6B26B4F7F534}"/>
                    </a:ext>
                  </a:extLst>
                </p:cNvPr>
                <p:cNvSpPr txBox="1">
                  <a:spLocks noRot="1" noChangeAspect="1" noMove="1" noResize="1" noEditPoints="1" noAdjustHandles="1" noChangeArrowheads="1" noChangeShapeType="1" noTextEdit="1"/>
                </p:cNvSpPr>
                <p:nvPr/>
              </p:nvSpPr>
              <p:spPr>
                <a:xfrm>
                  <a:off x="8081608" y="4794317"/>
                  <a:ext cx="2069216" cy="809914"/>
                </a:xfrm>
                <a:prstGeom prst="rect">
                  <a:avLst/>
                </a:prstGeom>
                <a:blipFill rotWithShape="0">
                  <a:blip r:embed="rId3"/>
                  <a:stretch>
                    <a:fillRect l="-3608" b="-21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xmlns="" id="{AAB92BC6-C40C-0B4F-901F-BA350F031A60}"/>
                  </a:ext>
                </a:extLst>
              </p:cNvPr>
              <p:cNvSpPr txBox="1"/>
              <p:nvPr/>
            </p:nvSpPr>
            <p:spPr>
              <a:xfrm>
                <a:off x="1573629" y="3663524"/>
                <a:ext cx="4094326" cy="369332"/>
              </a:xfrm>
              <a:prstGeom prst="rect">
                <a:avLst/>
              </a:prstGeom>
              <a:noFill/>
            </p:spPr>
            <p:txBody>
              <a:bodyPr wrap="none" rtlCol="0">
                <a:spAutoFit/>
              </a:bodyPr>
              <a:lstStyle/>
              <a:p>
                <a14:m>
                  <m:oMath xmlns:m="http://schemas.openxmlformats.org/officeDocument/2006/math">
                    <m:sSub>
                      <m:sSubPr>
                        <m:ctrlPr>
                          <a:rPr lang="en-US" b="1" i="1" smtClean="0">
                            <a:solidFill>
                              <a:schemeClr val="tx1"/>
                            </a:solidFill>
                            <a:latin typeface="Cambria Math" charset="0"/>
                          </a:rPr>
                        </m:ctrlPr>
                      </m:sSubPr>
                      <m:e>
                        <m:r>
                          <a:rPr lang="en-US" b="1" i="1">
                            <a:solidFill>
                              <a:schemeClr val="tx1"/>
                            </a:solidFill>
                            <a:latin typeface="Cambria Math" charset="0"/>
                          </a:rPr>
                          <m:t>𝒇</m:t>
                        </m:r>
                      </m:e>
                      <m:sub>
                        <m:r>
                          <a:rPr lang="en-US" b="1" i="1">
                            <a:solidFill>
                              <a:schemeClr val="tx1"/>
                            </a:solidFill>
                            <a:latin typeface="Cambria Math" charset="0"/>
                          </a:rPr>
                          <m:t>𝒌</m:t>
                        </m:r>
                      </m:sub>
                    </m:sSub>
                  </m:oMath>
                </a14:m>
                <a:r>
                  <a:rPr lang="en-US" b="1" dirty="0">
                    <a:solidFill>
                      <a:schemeClr val="tx1"/>
                    </a:solidFill>
                  </a:rPr>
                  <a:t> be the size of the feasible subset</a:t>
                </a:r>
                <a:endParaRPr lang="en-US" dirty="0">
                  <a:solidFill>
                    <a:schemeClr val="tx1"/>
                  </a:solidFill>
                </a:endParaRPr>
              </a:p>
            </p:txBody>
          </p:sp>
        </mc:Choice>
        <mc:Fallback xmlns="">
          <p:sp>
            <p:nvSpPr>
              <p:cNvPr id="16" name="TextBox 15">
                <a:extLst>
                  <a:ext uri="{FF2B5EF4-FFF2-40B4-BE49-F238E27FC236}">
                    <a16:creationId xmlns:a16="http://schemas.microsoft.com/office/drawing/2014/main" id="{AAB92BC6-C40C-0B4F-901F-BA350F031A60}"/>
                  </a:ext>
                </a:extLst>
              </p:cNvPr>
              <p:cNvSpPr txBox="1">
                <a:spLocks noRot="1" noChangeAspect="1" noMove="1" noResize="1" noEditPoints="1" noAdjustHandles="1" noChangeArrowheads="1" noChangeShapeType="1" noTextEdit="1"/>
              </p:cNvSpPr>
              <p:nvPr/>
            </p:nvSpPr>
            <p:spPr>
              <a:xfrm>
                <a:off x="1573629" y="3663524"/>
                <a:ext cx="4094326" cy="369332"/>
              </a:xfrm>
              <a:prstGeom prst="rect">
                <a:avLst/>
              </a:prstGeom>
              <a:blipFill>
                <a:blip r:embed="rId4"/>
                <a:stretch>
                  <a:fillRect l="-310" t="-6667" r="-310" b="-23333"/>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US" sz="2800" dirty="0"/>
              <a:t>The quality of partially annotated structures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sz="2000" b="1" dirty="0"/>
                  <a:t>Structure</a:t>
                </a:r>
                <a:r>
                  <a:rPr lang="en-US" sz="2000" dirty="0"/>
                  <a:t>: a vector of random variables: </a:t>
                </a:r>
                <a14:m>
                  <m:oMath xmlns:m="http://schemas.openxmlformats.org/officeDocument/2006/math">
                    <m:r>
                      <a:rPr lang="en-US" sz="1800" i="1">
                        <a:latin typeface="Cambria Math" charset="0"/>
                      </a:rPr>
                      <m:t>𝑌</m:t>
                    </m:r>
                    <m:r>
                      <a:rPr lang="en-US" sz="1800" i="1">
                        <a:latin typeface="Cambria Math" charset="0"/>
                      </a:rPr>
                      <m:t>=</m:t>
                    </m:r>
                    <m:d>
                      <m:dPr>
                        <m:begChr m:val="["/>
                        <m:endChr m:val="]"/>
                        <m:ctrlPr>
                          <a:rPr lang="en-US" sz="1800" i="1">
                            <a:latin typeface="Cambria Math" charset="0"/>
                          </a:rPr>
                        </m:ctrlPr>
                      </m:dPr>
                      <m:e>
                        <m:sSub>
                          <m:sSubPr>
                            <m:ctrlPr>
                              <a:rPr lang="en-US" sz="1800" i="1">
                                <a:latin typeface="Cambria Math" charset="0"/>
                              </a:rPr>
                            </m:ctrlPr>
                          </m:sSubPr>
                          <m:e>
                            <m:r>
                              <a:rPr lang="en-US" sz="1800" i="1">
                                <a:latin typeface="Cambria Math" charset="0"/>
                              </a:rPr>
                              <m:t>𝑌</m:t>
                            </m:r>
                          </m:e>
                          <m:sub>
                            <m:r>
                              <a:rPr lang="en-US" sz="1800" i="1">
                                <a:latin typeface="Cambria Math" charset="0"/>
                              </a:rPr>
                              <m:t>1</m:t>
                            </m:r>
                          </m:sub>
                        </m:sSub>
                        <m:r>
                          <a:rPr lang="en-US" sz="1800" i="1">
                            <a:latin typeface="Cambria Math" charset="0"/>
                          </a:rPr>
                          <m:t>,</m:t>
                        </m:r>
                        <m:sSub>
                          <m:sSubPr>
                            <m:ctrlPr>
                              <a:rPr lang="en-US" sz="1800" i="1">
                                <a:latin typeface="Cambria Math" charset="0"/>
                              </a:rPr>
                            </m:ctrlPr>
                          </m:sSubPr>
                          <m:e>
                            <m:r>
                              <a:rPr lang="en-US" sz="1800" i="1">
                                <a:latin typeface="Cambria Math" charset="0"/>
                              </a:rPr>
                              <m:t>𝑌</m:t>
                            </m:r>
                          </m:e>
                          <m:sub>
                            <m:r>
                              <a:rPr lang="en-US" sz="1800" i="1">
                                <a:latin typeface="Cambria Math" charset="0"/>
                              </a:rPr>
                              <m:t>2</m:t>
                            </m:r>
                          </m:sub>
                        </m:sSub>
                        <m:r>
                          <a:rPr lang="en-US" sz="1800" i="1">
                            <a:latin typeface="Cambria Math" charset="0"/>
                          </a:rPr>
                          <m:t>,…,</m:t>
                        </m:r>
                        <m:sSub>
                          <m:sSubPr>
                            <m:ctrlPr>
                              <a:rPr lang="en-US" sz="1800" i="1">
                                <a:latin typeface="Cambria Math" charset="0"/>
                              </a:rPr>
                            </m:ctrlPr>
                          </m:sSubPr>
                          <m:e>
                            <m:r>
                              <a:rPr lang="en-US" sz="1800" i="1">
                                <a:latin typeface="Cambria Math" charset="0"/>
                              </a:rPr>
                              <m:t>𝑌</m:t>
                            </m:r>
                          </m:e>
                          <m:sub>
                            <m:r>
                              <a:rPr lang="en-US" sz="1800" i="1">
                                <a:latin typeface="Cambria Math" charset="0"/>
                              </a:rPr>
                              <m:t>𝑑</m:t>
                            </m:r>
                          </m:sub>
                        </m:sSub>
                      </m:e>
                    </m:d>
                  </m:oMath>
                </a14:m>
                <a:endParaRPr lang="en-US" sz="1800" i="1" dirty="0">
                  <a:latin typeface="Cambria Math" charset="0"/>
                </a:endParaRPr>
              </a:p>
              <a:p>
                <a:pPr lvl="1"/>
                <a:r>
                  <a:rPr lang="en-US" sz="1800" dirty="0"/>
                  <a:t>Let </a:t>
                </a:r>
                <a14:m>
                  <m:oMath xmlns:m="http://schemas.openxmlformats.org/officeDocument/2006/math">
                    <m:r>
                      <a:rPr lang="en-US" sz="1800" i="1">
                        <a:latin typeface="Cambria Math" charset="0"/>
                      </a:rPr>
                      <m:t>ℒ</m:t>
                    </m:r>
                  </m:oMath>
                </a14:m>
                <a:r>
                  <a:rPr lang="en-US" sz="1800" dirty="0"/>
                  <a:t> be the label set</a:t>
                </a:r>
              </a:p>
              <a:p>
                <a:pPr marL="457200" lvl="1" indent="0">
                  <a:buNone/>
                </a:pPr>
                <a14:m>
                  <m:oMathPara xmlns:m="http://schemas.openxmlformats.org/officeDocument/2006/math">
                    <m:oMathParaPr>
                      <m:jc m:val="centerGroup"/>
                    </m:oMathParaPr>
                    <m:oMath xmlns:m="http://schemas.openxmlformats.org/officeDocument/2006/math">
                      <m:r>
                        <a:rPr lang="en-US" sz="1800" i="1">
                          <a:latin typeface="Cambria Math" charset="0"/>
                        </a:rPr>
                        <m:t>𝑌</m:t>
                      </m:r>
                      <m:r>
                        <a:rPr lang="en-US" sz="1800" i="1">
                          <a:latin typeface="Cambria Math" charset="0"/>
                        </a:rPr>
                        <m:t>∈</m:t>
                      </m:r>
                      <m:r>
                        <a:rPr lang="en-US" sz="1800" i="1">
                          <a:latin typeface="Cambria Math" charset="0"/>
                        </a:rPr>
                        <m:t>𝐶</m:t>
                      </m:r>
                      <m:d>
                        <m:dPr>
                          <m:ctrlPr>
                            <a:rPr lang="en-US" sz="1800" i="1">
                              <a:latin typeface="Cambria Math" charset="0"/>
                            </a:rPr>
                          </m:ctrlPr>
                        </m:dPr>
                        <m:e>
                          <m:sSup>
                            <m:sSupPr>
                              <m:ctrlPr>
                                <a:rPr lang="en-US" sz="1800" i="1">
                                  <a:latin typeface="Cambria Math" charset="0"/>
                                </a:rPr>
                              </m:ctrlPr>
                            </m:sSupPr>
                            <m:e>
                              <m:r>
                                <a:rPr lang="en-US" sz="1800" i="1">
                                  <a:latin typeface="Cambria Math" charset="0"/>
                                </a:rPr>
                                <m:t>ℒ</m:t>
                              </m:r>
                            </m:e>
                            <m:sup>
                              <m:r>
                                <a:rPr lang="en-US" sz="1800" i="1">
                                  <a:latin typeface="Cambria Math" charset="0"/>
                                </a:rPr>
                                <m:t>𝑑</m:t>
                              </m:r>
                            </m:sup>
                          </m:sSup>
                        </m:e>
                      </m:d>
                      <m:r>
                        <a:rPr lang="en-US" sz="1800" i="1">
                          <a:latin typeface="Cambria Math" charset="0"/>
                        </a:rPr>
                        <m:t>⊆</m:t>
                      </m:r>
                      <m:sSup>
                        <m:sSupPr>
                          <m:ctrlPr>
                            <a:rPr lang="en-US" sz="1800" i="1">
                              <a:latin typeface="Cambria Math" charset="0"/>
                            </a:rPr>
                          </m:ctrlPr>
                        </m:sSupPr>
                        <m:e>
                          <m:r>
                            <a:rPr lang="en-US" sz="1800" i="1">
                              <a:latin typeface="Cambria Math" charset="0"/>
                            </a:rPr>
                            <m:t>ℒ</m:t>
                          </m:r>
                        </m:e>
                        <m:sup>
                          <m:r>
                            <a:rPr lang="en-US" sz="1800" i="1">
                              <a:latin typeface="Cambria Math" charset="0"/>
                            </a:rPr>
                            <m:t>𝑑</m:t>
                          </m:r>
                        </m:sup>
                      </m:sSup>
                    </m:oMath>
                  </m:oMathPara>
                </a14:m>
                <a:endParaRPr lang="en-US" sz="1800" dirty="0"/>
              </a:p>
              <a:p>
                <a:pPr marL="0" indent="0">
                  <a:buNone/>
                </a:pPr>
                <a:endParaRPr lang="en-US" sz="2000" b="1" dirty="0"/>
              </a:p>
              <a:p>
                <a:pPr marL="0" indent="0">
                  <a:buNone/>
                </a:pPr>
                <a:endParaRPr lang="en-US" sz="2000" b="1" dirty="0"/>
              </a:p>
              <a:p>
                <a:pPr marL="0" indent="0">
                  <a:buNone/>
                </a:pPr>
                <a:r>
                  <a:rPr lang="en-US" sz="2000" b="1" dirty="0"/>
                  <a:t>(Generalized) Annotation</a:t>
                </a:r>
                <a:r>
                  <a:rPr lang="en-US" sz="2000" dirty="0"/>
                  <a:t>:  </a:t>
                </a:r>
              </a:p>
              <a:p>
                <a:pPr lvl="1"/>
                <a14:m>
                  <m:oMath xmlns:m="http://schemas.openxmlformats.org/officeDocument/2006/math">
                    <m:r>
                      <a:rPr lang="en-US" sz="1800" i="1">
                        <a:latin typeface="Cambria Math" charset="0"/>
                      </a:rPr>
                      <m:t>𝑘</m:t>
                    </m:r>
                  </m:oMath>
                </a14:m>
                <a:r>
                  <a:rPr lang="en-US" sz="1800" dirty="0"/>
                  <a:t> out of </a:t>
                </a:r>
                <a14:m>
                  <m:oMath xmlns:m="http://schemas.openxmlformats.org/officeDocument/2006/math">
                    <m:r>
                      <a:rPr lang="en-US" sz="1800" i="1">
                        <a:latin typeface="Cambria Math" charset="0"/>
                      </a:rPr>
                      <m:t>𝑑</m:t>
                    </m:r>
                  </m:oMath>
                </a14:m>
                <a:r>
                  <a:rPr lang="en-US" sz="1800" dirty="0"/>
                  <a:t> variables are labeled </a:t>
                </a:r>
                <a:r>
                  <a:rPr lang="en-US" sz="1800" dirty="0">
                    <a:sym typeface="Wingdings" pitchFamily="2" charset="2"/>
                  </a:rPr>
                  <a:t> </a:t>
                </a:r>
                <a:r>
                  <a:rPr lang="en-US" sz="1800" dirty="0"/>
                  <a:t>a subset of </a:t>
                </a:r>
                <a14:m>
                  <m:oMath xmlns:m="http://schemas.openxmlformats.org/officeDocument/2006/math">
                    <m:r>
                      <a:rPr lang="en-US" sz="1800" i="1">
                        <a:latin typeface="Cambria Math" charset="0"/>
                      </a:rPr>
                      <m:t>𝐶</m:t>
                    </m:r>
                    <m:d>
                      <m:dPr>
                        <m:ctrlPr>
                          <a:rPr lang="en-US" sz="1800" i="1">
                            <a:latin typeface="Cambria Math" charset="0"/>
                          </a:rPr>
                        </m:ctrlPr>
                      </m:dPr>
                      <m:e>
                        <m:sSup>
                          <m:sSupPr>
                            <m:ctrlPr>
                              <a:rPr lang="en-US" sz="1800" i="1">
                                <a:latin typeface="Cambria Math" charset="0"/>
                              </a:rPr>
                            </m:ctrlPr>
                          </m:sSupPr>
                          <m:e>
                            <m:r>
                              <a:rPr lang="en-US" sz="1800" i="1">
                                <a:latin typeface="Cambria Math" charset="0"/>
                              </a:rPr>
                              <m:t>ℒ</m:t>
                            </m:r>
                          </m:e>
                          <m:sup>
                            <m:r>
                              <a:rPr lang="en-US" sz="1800" i="1">
                                <a:latin typeface="Cambria Math" charset="0"/>
                              </a:rPr>
                              <m:t>𝑑</m:t>
                            </m:r>
                          </m:sup>
                        </m:sSup>
                      </m:e>
                    </m:d>
                  </m:oMath>
                </a14:m>
                <a:endParaRPr lang="en-US" sz="1800" dirty="0"/>
              </a:p>
              <a:p>
                <a:pPr lvl="1"/>
                <a:r>
                  <a:rPr lang="en-US" sz="1800" dirty="0"/>
                  <a:t>Let </a:t>
                </a:r>
                <a14:m>
                  <m:oMath xmlns:m="http://schemas.openxmlformats.org/officeDocument/2006/math">
                    <m:sSub>
                      <m:sSubPr>
                        <m:ctrlPr>
                          <a:rPr lang="en-US" sz="1800" b="1" i="1" smtClean="0">
                            <a:latin typeface="Cambria Math" charset="0"/>
                          </a:rPr>
                        </m:ctrlPr>
                      </m:sSubPr>
                      <m:e>
                        <m:r>
                          <a:rPr lang="en-US" sz="1800" b="1" i="1" smtClean="0">
                            <a:latin typeface="Cambria Math" charset="0"/>
                          </a:rPr>
                          <m:t>𝒇</m:t>
                        </m:r>
                      </m:e>
                      <m:sub>
                        <m:r>
                          <a:rPr lang="en-US" sz="1800" b="1" i="1" smtClean="0">
                            <a:latin typeface="Cambria Math" charset="0"/>
                          </a:rPr>
                          <m:t>𝒌</m:t>
                        </m:r>
                      </m:sub>
                    </m:sSub>
                  </m:oMath>
                </a14:m>
                <a:r>
                  <a:rPr lang="en-US" sz="1800" b="1" dirty="0"/>
                  <a:t> be the size of the feasible subset</a:t>
                </a:r>
                <a:endParaRPr lang="en-US" sz="1800" dirty="0"/>
              </a:p>
              <a:p>
                <a:pPr lvl="1"/>
                <a14:m>
                  <m:oMath xmlns:m="http://schemas.openxmlformats.org/officeDocument/2006/math">
                    <m:sSub>
                      <m:sSubPr>
                        <m:ctrlPr>
                          <a:rPr lang="en-US" sz="2000" i="1" smtClean="0">
                            <a:solidFill>
                              <a:srgbClr val="7792CB"/>
                            </a:solidFill>
                            <a:latin typeface="Cambria Math" charset="0"/>
                          </a:rPr>
                        </m:ctrlPr>
                      </m:sSubPr>
                      <m:e>
                        <m:r>
                          <a:rPr lang="en-US" sz="2000" i="1">
                            <a:solidFill>
                              <a:srgbClr val="7792CB"/>
                            </a:solidFill>
                            <a:latin typeface="Cambria Math" charset="0"/>
                          </a:rPr>
                          <m:t>𝑓</m:t>
                        </m:r>
                      </m:e>
                      <m:sub>
                        <m:r>
                          <a:rPr lang="en-US" sz="2000" b="0" i="1" smtClean="0">
                            <a:solidFill>
                              <a:srgbClr val="7792CB"/>
                            </a:solidFill>
                            <a:latin typeface="Cambria Math" charset="0"/>
                          </a:rPr>
                          <m:t>0</m:t>
                        </m:r>
                      </m:sub>
                    </m:sSub>
                    <m:r>
                      <a:rPr lang="en-US" sz="2000" b="0" i="1" smtClean="0">
                        <a:solidFill>
                          <a:srgbClr val="7792CB"/>
                        </a:solidFill>
                        <a:latin typeface="Cambria Math" charset="0"/>
                      </a:rPr>
                      <m:t>=</m:t>
                    </m:r>
                    <m:d>
                      <m:dPr>
                        <m:begChr m:val="|"/>
                        <m:endChr m:val="|"/>
                        <m:ctrlPr>
                          <a:rPr lang="en-US" sz="2000" b="0" i="1" smtClean="0">
                            <a:solidFill>
                              <a:srgbClr val="7792CB"/>
                            </a:solidFill>
                            <a:latin typeface="Cambria Math" charset="0"/>
                          </a:rPr>
                        </m:ctrlPr>
                      </m:dPr>
                      <m:e>
                        <m:r>
                          <a:rPr lang="en-US" sz="2000" b="0" i="1" smtClean="0">
                            <a:solidFill>
                              <a:srgbClr val="7792CB"/>
                            </a:solidFill>
                            <a:latin typeface="Cambria Math" charset="0"/>
                          </a:rPr>
                          <m:t>𝐶</m:t>
                        </m:r>
                        <m:d>
                          <m:dPr>
                            <m:ctrlPr>
                              <a:rPr lang="en-US" sz="2000" b="0" i="1" smtClean="0">
                                <a:solidFill>
                                  <a:srgbClr val="7792CB"/>
                                </a:solidFill>
                                <a:latin typeface="Cambria Math" charset="0"/>
                              </a:rPr>
                            </m:ctrlPr>
                          </m:dPr>
                          <m:e>
                            <m:sSup>
                              <m:sSupPr>
                                <m:ctrlPr>
                                  <a:rPr lang="en-US" sz="2000" b="0" i="1" smtClean="0">
                                    <a:solidFill>
                                      <a:srgbClr val="7792CB"/>
                                    </a:solidFill>
                                    <a:latin typeface="Cambria Math" charset="0"/>
                                  </a:rPr>
                                </m:ctrlPr>
                              </m:sSupPr>
                              <m:e>
                                <m:r>
                                  <a:rPr lang="en-US" sz="2000" b="0" i="1" smtClean="0">
                                    <a:solidFill>
                                      <a:srgbClr val="7792CB"/>
                                    </a:solidFill>
                                    <a:latin typeface="Cambria Math" charset="0"/>
                                  </a:rPr>
                                  <m:t>ℒ</m:t>
                                </m:r>
                              </m:e>
                              <m:sup>
                                <m:r>
                                  <a:rPr lang="en-US" sz="2000" b="0" i="1" smtClean="0">
                                    <a:solidFill>
                                      <a:srgbClr val="7792CB"/>
                                    </a:solidFill>
                                    <a:latin typeface="Cambria Math" charset="0"/>
                                  </a:rPr>
                                  <m:t>𝑑</m:t>
                                </m:r>
                              </m:sup>
                            </m:sSup>
                          </m:e>
                        </m:d>
                      </m:e>
                    </m:d>
                    <m:r>
                      <a:rPr lang="en-US" sz="2000" b="0" i="1" smtClean="0">
                        <a:solidFill>
                          <a:srgbClr val="666089"/>
                        </a:solidFill>
                        <a:latin typeface="Cambria Math" charset="0"/>
                      </a:rPr>
                      <m:t>≥</m:t>
                    </m:r>
                    <m:sSub>
                      <m:sSubPr>
                        <m:ctrlPr>
                          <a:rPr lang="en-US" sz="2000" b="0" i="1" smtClean="0">
                            <a:solidFill>
                              <a:srgbClr val="666089"/>
                            </a:solidFill>
                            <a:latin typeface="Cambria Math" charset="0"/>
                          </a:rPr>
                        </m:ctrlPr>
                      </m:sSubPr>
                      <m:e>
                        <m:r>
                          <a:rPr lang="en-US" sz="2000" b="0" i="1" smtClean="0">
                            <a:solidFill>
                              <a:srgbClr val="666089"/>
                            </a:solidFill>
                            <a:latin typeface="Cambria Math" charset="0"/>
                          </a:rPr>
                          <m:t>𝑓</m:t>
                        </m:r>
                      </m:e>
                      <m:sub>
                        <m:r>
                          <a:rPr lang="en-US" sz="2000" b="0" i="1" smtClean="0">
                            <a:solidFill>
                              <a:srgbClr val="666089"/>
                            </a:solidFill>
                            <a:latin typeface="Cambria Math" charset="0"/>
                          </a:rPr>
                          <m:t>1</m:t>
                        </m:r>
                      </m:sub>
                    </m:sSub>
                    <m:r>
                      <a:rPr lang="en-US" sz="2000" b="0" i="1" smtClean="0">
                        <a:solidFill>
                          <a:srgbClr val="666089"/>
                        </a:solidFill>
                        <a:latin typeface="Cambria Math" charset="0"/>
                      </a:rPr>
                      <m:t>≥</m:t>
                    </m:r>
                    <m:sSub>
                      <m:sSubPr>
                        <m:ctrlPr>
                          <a:rPr lang="en-US" sz="2000" b="0" i="1" smtClean="0">
                            <a:solidFill>
                              <a:srgbClr val="666089"/>
                            </a:solidFill>
                            <a:latin typeface="Cambria Math" charset="0"/>
                          </a:rPr>
                        </m:ctrlPr>
                      </m:sSubPr>
                      <m:e>
                        <m:r>
                          <a:rPr lang="en-US" sz="2000" b="0" i="1" smtClean="0">
                            <a:solidFill>
                              <a:srgbClr val="666089"/>
                            </a:solidFill>
                            <a:latin typeface="Cambria Math" charset="0"/>
                          </a:rPr>
                          <m:t>𝑓</m:t>
                        </m:r>
                      </m:e>
                      <m:sub>
                        <m:r>
                          <a:rPr lang="en-US" sz="2000" b="0" i="1" smtClean="0">
                            <a:solidFill>
                              <a:srgbClr val="666089"/>
                            </a:solidFill>
                            <a:latin typeface="Cambria Math" charset="0"/>
                          </a:rPr>
                          <m:t>2</m:t>
                        </m:r>
                      </m:sub>
                    </m:sSub>
                    <m:r>
                      <a:rPr lang="en-US" sz="2000" b="0" i="1" smtClean="0">
                        <a:solidFill>
                          <a:srgbClr val="666089"/>
                        </a:solidFill>
                        <a:latin typeface="Cambria Math" charset="0"/>
                      </a:rPr>
                      <m:t>≥⋯≥</m:t>
                    </m:r>
                    <m:sSub>
                      <m:sSubPr>
                        <m:ctrlPr>
                          <a:rPr lang="en-US" sz="2000" i="1" smtClean="0">
                            <a:solidFill>
                              <a:srgbClr val="C17A90"/>
                            </a:solidFill>
                            <a:latin typeface="Cambria Math" charset="0"/>
                          </a:rPr>
                        </m:ctrlPr>
                      </m:sSubPr>
                      <m:e>
                        <m:r>
                          <a:rPr lang="en-US" sz="2000" i="1">
                            <a:solidFill>
                              <a:srgbClr val="C17A90"/>
                            </a:solidFill>
                            <a:latin typeface="Cambria Math" charset="0"/>
                          </a:rPr>
                          <m:t>𝑓</m:t>
                        </m:r>
                      </m:e>
                      <m:sub>
                        <m:r>
                          <a:rPr lang="en-US" sz="2000" b="0" i="1" smtClean="0">
                            <a:solidFill>
                              <a:srgbClr val="C17A90"/>
                            </a:solidFill>
                            <a:latin typeface="Cambria Math" charset="0"/>
                          </a:rPr>
                          <m:t>𝑑</m:t>
                        </m:r>
                      </m:sub>
                    </m:sSub>
                    <m:r>
                      <a:rPr lang="en-US" sz="2000" b="0" i="1" smtClean="0">
                        <a:solidFill>
                          <a:srgbClr val="C17A90"/>
                        </a:solidFill>
                        <a:latin typeface="Cambria Math" charset="0"/>
                      </a:rPr>
                      <m:t>=1</m:t>
                    </m:r>
                  </m:oMath>
                </a14:m>
                <a:endParaRPr lang="en-US" sz="2000" b="0" dirty="0">
                  <a:solidFill>
                    <a:srgbClr val="C17A90"/>
                  </a:solidFill>
                </a:endParaRPr>
              </a:p>
              <a:p>
                <a:pPr marL="457200" lvl="1" indent="0">
                  <a:buNone/>
                </a:pPr>
                <a:endParaRPr lang="en-US" sz="2000" dirty="0"/>
              </a:p>
              <a:p>
                <a:pPr marL="457200" lvl="1"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5"/>
                <a:stretch>
                  <a:fillRect l="-786" t="-70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xmlns="" id="{350C9050-1C1B-40E1-881B-62AC44FC5D1E}"/>
              </a:ext>
            </a:extLst>
          </p:cNvPr>
          <p:cNvSpPr>
            <a:spLocks noGrp="1"/>
          </p:cNvSpPr>
          <p:nvPr>
            <p:ph type="sldNum" sz="quarter" idx="11"/>
          </p:nvPr>
        </p:nvSpPr>
        <p:spPr bwMode="auto">
          <a:xfrm>
            <a:off x="11292116" y="6523921"/>
            <a:ext cx="508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marL="0" algn="ctr" defTabSz="914400" rtl="0" eaLnBrk="1" latinLnBrk="0" hangingPunct="1">
              <a:defRPr sz="1200" kern="1200">
                <a:solidFill>
                  <a:schemeClr val="tx1"/>
                </a:solidFill>
                <a:latin typeface="Arial" pitchFamily="34" charset="0"/>
                <a:ea typeface="Arial Unicode MS" pitchFamily="34" charset="-128"/>
                <a:cs typeface="Arial Unicode MS" pitchFamily="34"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F588C3-71D6-5D45-B118-1C664482E1C2}" type="slidenum">
              <a:rPr lang="en-US" smtClean="0"/>
              <a:pPr/>
              <a:t>88</a:t>
            </a:fld>
            <a:endParaRPr lang="en-US"/>
          </a:p>
        </p:txBody>
      </p:sp>
      <p:sp>
        <p:nvSpPr>
          <p:cNvPr id="7" name="Rectangular Callout 6">
            <a:extLst>
              <a:ext uri="{FF2B5EF4-FFF2-40B4-BE49-F238E27FC236}">
                <a16:creationId xmlns:a16="http://schemas.microsoft.com/office/drawing/2014/main" xmlns="" id="{1976AC47-5A44-9E4A-B471-EDCD59DB89EA}"/>
              </a:ext>
            </a:extLst>
          </p:cNvPr>
          <p:cNvSpPr/>
          <p:nvPr/>
        </p:nvSpPr>
        <p:spPr>
          <a:xfrm>
            <a:off x="3869155" y="2590800"/>
            <a:ext cx="3031933" cy="609599"/>
          </a:xfrm>
          <a:prstGeom prst="wedgeRectCallout">
            <a:avLst>
              <a:gd name="adj1" fmla="val -24161"/>
              <a:gd name="adj2" fmla="val -119113"/>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Not all assignments are valid (e.g., no loops in time)</a:t>
            </a:r>
          </a:p>
        </p:txBody>
      </p:sp>
      <p:sp>
        <p:nvSpPr>
          <p:cNvPr id="12" name="Rectangular Callout 11">
            <a:extLst>
              <a:ext uri="{FF2B5EF4-FFF2-40B4-BE49-F238E27FC236}">
                <a16:creationId xmlns:a16="http://schemas.microsoft.com/office/drawing/2014/main" xmlns="" id="{177EF3CD-603F-E546-B8D4-B5E3D1138A8C}"/>
              </a:ext>
            </a:extLst>
          </p:cNvPr>
          <p:cNvSpPr/>
          <p:nvPr/>
        </p:nvSpPr>
        <p:spPr>
          <a:xfrm>
            <a:off x="4681312" y="4724400"/>
            <a:ext cx="2481488" cy="369333"/>
          </a:xfrm>
          <a:prstGeom prst="wedgeRectCallout">
            <a:avLst>
              <a:gd name="adj1" fmla="val -33443"/>
              <a:gd name="adj2" fmla="val -127959"/>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Complete annotation</a:t>
            </a:r>
          </a:p>
        </p:txBody>
      </p:sp>
      <p:sp>
        <p:nvSpPr>
          <p:cNvPr id="13" name="Rectangular Callout 12">
            <a:extLst>
              <a:ext uri="{FF2B5EF4-FFF2-40B4-BE49-F238E27FC236}">
                <a16:creationId xmlns:a16="http://schemas.microsoft.com/office/drawing/2014/main" xmlns="" id="{4094F290-32AA-D244-A8A9-6ED553DD77F8}"/>
              </a:ext>
            </a:extLst>
          </p:cNvPr>
          <p:cNvSpPr/>
          <p:nvPr/>
        </p:nvSpPr>
        <p:spPr>
          <a:xfrm>
            <a:off x="1532204" y="4724400"/>
            <a:ext cx="1680259" cy="369332"/>
          </a:xfrm>
          <a:prstGeom prst="wedgeRectCallout">
            <a:avLst>
              <a:gd name="adj1" fmla="val -51330"/>
              <a:gd name="adj2" fmla="val -138592"/>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No annotation</a:t>
            </a:r>
          </a:p>
        </p:txBody>
      </p:sp>
      <p:sp>
        <p:nvSpPr>
          <p:cNvPr id="30" name="TextBox 29">
            <a:extLst>
              <a:ext uri="{FF2B5EF4-FFF2-40B4-BE49-F238E27FC236}">
                <a16:creationId xmlns:a16="http://schemas.microsoft.com/office/drawing/2014/main" xmlns=""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55152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heckerboard(across)">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dissolve">
                                      <p:cBhvr>
                                        <p:cTn id="23" dur="500"/>
                                        <p:tgtEl>
                                          <p:spTgt spid="3">
                                            <p:txEl>
                                              <p:pRg st="5" end="5"/>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dissolve">
                                      <p:cBhvr>
                                        <p:cTn id="26" dur="500"/>
                                        <p:tgtEl>
                                          <p:spTgt spid="3">
                                            <p:txEl>
                                              <p:pRg st="6" end="6"/>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dissolve">
                                      <p:cBhvr>
                                        <p:cTn id="29" dur="500"/>
                                        <p:tgtEl>
                                          <p:spTgt spid="3">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dissolv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dissolve">
                                      <p:cBhvr>
                                        <p:cTn id="39" dur="500"/>
                                        <p:tgtEl>
                                          <p:spTgt spid="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checkerboard(across)">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checkerboard(across)">
                                      <p:cBhvr>
                                        <p:cTn id="4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P spid="12" grpId="0" animBg="1"/>
      <p:bldP spid="13"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xmlns="" id="{AAB92BC6-C40C-0B4F-901F-BA350F031A60}"/>
                  </a:ext>
                </a:extLst>
              </p:cNvPr>
              <p:cNvSpPr txBox="1"/>
              <p:nvPr/>
            </p:nvSpPr>
            <p:spPr>
              <a:xfrm>
                <a:off x="1573629" y="3663524"/>
                <a:ext cx="4094326" cy="369332"/>
              </a:xfrm>
              <a:prstGeom prst="rect">
                <a:avLst/>
              </a:prstGeom>
              <a:noFill/>
            </p:spPr>
            <p:txBody>
              <a:bodyPr wrap="none" rtlCol="0">
                <a:spAutoFit/>
              </a:bodyPr>
              <a:lstStyle/>
              <a:p>
                <a14:m>
                  <m:oMath xmlns:m="http://schemas.openxmlformats.org/officeDocument/2006/math">
                    <m:sSub>
                      <m:sSubPr>
                        <m:ctrlPr>
                          <a:rPr lang="en-US" b="1" i="1" smtClean="0">
                            <a:solidFill>
                              <a:schemeClr val="tx1"/>
                            </a:solidFill>
                            <a:latin typeface="Cambria Math" charset="0"/>
                          </a:rPr>
                        </m:ctrlPr>
                      </m:sSubPr>
                      <m:e>
                        <m:r>
                          <a:rPr lang="en-US" b="1" i="1">
                            <a:solidFill>
                              <a:schemeClr val="tx1"/>
                            </a:solidFill>
                            <a:latin typeface="Cambria Math" charset="0"/>
                          </a:rPr>
                          <m:t>𝒇</m:t>
                        </m:r>
                      </m:e>
                      <m:sub>
                        <m:r>
                          <a:rPr lang="en-US" b="1" i="1">
                            <a:solidFill>
                              <a:schemeClr val="tx1"/>
                            </a:solidFill>
                            <a:latin typeface="Cambria Math" charset="0"/>
                          </a:rPr>
                          <m:t>𝒌</m:t>
                        </m:r>
                      </m:sub>
                    </m:sSub>
                  </m:oMath>
                </a14:m>
                <a:r>
                  <a:rPr lang="en-US" b="1" dirty="0">
                    <a:solidFill>
                      <a:schemeClr val="tx1"/>
                    </a:solidFill>
                  </a:rPr>
                  <a:t> be the size of the feasible subset</a:t>
                </a:r>
                <a:endParaRPr lang="en-US" dirty="0">
                  <a:solidFill>
                    <a:schemeClr val="tx1"/>
                  </a:solidFill>
                </a:endParaRPr>
              </a:p>
            </p:txBody>
          </p:sp>
        </mc:Choice>
        <mc:Fallback xmlns="">
          <p:sp>
            <p:nvSpPr>
              <p:cNvPr id="16" name="TextBox 15">
                <a:extLst>
                  <a:ext uri="{FF2B5EF4-FFF2-40B4-BE49-F238E27FC236}">
                    <a16:creationId xmlns:a16="http://schemas.microsoft.com/office/drawing/2014/main" id="{AAB92BC6-C40C-0B4F-901F-BA350F031A60}"/>
                  </a:ext>
                </a:extLst>
              </p:cNvPr>
              <p:cNvSpPr txBox="1">
                <a:spLocks noRot="1" noChangeAspect="1" noMove="1" noResize="1" noEditPoints="1" noAdjustHandles="1" noChangeArrowheads="1" noChangeShapeType="1" noTextEdit="1"/>
              </p:cNvSpPr>
              <p:nvPr/>
            </p:nvSpPr>
            <p:spPr>
              <a:xfrm>
                <a:off x="1573629" y="3663524"/>
                <a:ext cx="4094326" cy="369332"/>
              </a:xfrm>
              <a:prstGeom prst="rect">
                <a:avLst/>
              </a:prstGeom>
              <a:blipFill>
                <a:blip r:embed="rId3"/>
                <a:stretch>
                  <a:fillRect l="-310" t="-6667" r="-310"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xmlns="" id="{9B5403CB-61BA-5746-94E0-506AE29A853C}"/>
                  </a:ext>
                </a:extLst>
              </p:cNvPr>
              <p:cNvSpPr txBox="1"/>
              <p:nvPr/>
            </p:nvSpPr>
            <p:spPr>
              <a:xfrm>
                <a:off x="5043126" y="5180153"/>
                <a:ext cx="3405548" cy="4121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solidFill>
                                <a:schemeClr val="tx1"/>
                              </a:solidFill>
                              <a:latin typeface="Cambria Math" charset="0"/>
                            </a:rPr>
                          </m:ctrlPr>
                        </m:sSubPr>
                        <m:e>
                          <m:r>
                            <a:rPr lang="en-US" sz="2000" b="1" i="1">
                              <a:solidFill>
                                <a:schemeClr val="tx1"/>
                              </a:solidFill>
                              <a:latin typeface="Cambria Math" charset="0"/>
                            </a:rPr>
                            <m:t>𝑰</m:t>
                          </m:r>
                        </m:e>
                        <m:sub>
                          <m:r>
                            <a:rPr lang="en-US" sz="2000" b="1" i="1">
                              <a:solidFill>
                                <a:schemeClr val="tx1"/>
                              </a:solidFill>
                              <a:latin typeface="Cambria Math" charset="0"/>
                            </a:rPr>
                            <m:t>𝒌</m:t>
                          </m:r>
                        </m:sub>
                      </m:sSub>
                      <m:r>
                        <a:rPr lang="en-US" sz="2000" b="1" i="1">
                          <a:solidFill>
                            <a:schemeClr val="tx1"/>
                          </a:solidFill>
                          <a:latin typeface="Cambria Math" charset="0"/>
                          <a:ea typeface="Cambria Math" charset="0"/>
                          <a:cs typeface="Cambria Math" charset="0"/>
                        </a:rPr>
                        <m:t>≜</m:t>
                      </m:r>
                      <m:func>
                        <m:funcPr>
                          <m:ctrlPr>
                            <a:rPr lang="en-US" sz="2000" b="1" i="1">
                              <a:solidFill>
                                <a:schemeClr val="tx1"/>
                              </a:solidFill>
                              <a:latin typeface="Cambria Math" charset="0"/>
                            </a:rPr>
                          </m:ctrlPr>
                        </m:funcPr>
                        <m:fName>
                          <m:r>
                            <a:rPr lang="en-US" sz="2000" b="1">
                              <a:solidFill>
                                <a:schemeClr val="tx1"/>
                              </a:solidFill>
                              <a:latin typeface="Cambria Math" charset="0"/>
                            </a:rPr>
                            <m:t>𝐥𝐨𝐠</m:t>
                          </m:r>
                        </m:fName>
                        <m:e>
                          <m:r>
                            <a:rPr lang="en-US" sz="2000" b="1" i="1">
                              <a:solidFill>
                                <a:schemeClr val="tx1"/>
                              </a:solidFill>
                              <a:latin typeface="Cambria Math" charset="0"/>
                            </a:rPr>
                            <m:t>|</m:t>
                          </m:r>
                          <m:r>
                            <a:rPr lang="en-US" sz="2000" b="1" i="1">
                              <a:solidFill>
                                <a:schemeClr val="tx1"/>
                              </a:solidFill>
                              <a:latin typeface="Cambria Math" charset="0"/>
                            </a:rPr>
                            <m:t>𝑪</m:t>
                          </m:r>
                          <m:r>
                            <a:rPr lang="en-US" sz="2000" b="1" i="1">
                              <a:solidFill>
                                <a:schemeClr val="tx1"/>
                              </a:solidFill>
                              <a:latin typeface="Cambria Math" charset="0"/>
                            </a:rPr>
                            <m:t>(</m:t>
                          </m:r>
                          <m:sSup>
                            <m:sSupPr>
                              <m:ctrlPr>
                                <a:rPr lang="en-US" sz="2000" b="1" i="1">
                                  <a:solidFill>
                                    <a:schemeClr val="tx1"/>
                                  </a:solidFill>
                                  <a:latin typeface="Cambria Math" charset="0"/>
                                </a:rPr>
                              </m:ctrlPr>
                            </m:sSupPr>
                            <m:e>
                              <m:r>
                                <a:rPr lang="en-US" sz="2000" b="1" i="1">
                                  <a:solidFill>
                                    <a:schemeClr val="tx1"/>
                                  </a:solidFill>
                                  <a:latin typeface="Cambria Math" charset="0"/>
                                </a:rPr>
                                <m:t>𝓛</m:t>
                              </m:r>
                            </m:e>
                            <m:sup>
                              <m:r>
                                <a:rPr lang="en-US" sz="2000" b="1" i="1">
                                  <a:solidFill>
                                    <a:schemeClr val="tx1"/>
                                  </a:solidFill>
                                  <a:latin typeface="Cambria Math" charset="0"/>
                                </a:rPr>
                                <m:t>𝒅</m:t>
                              </m:r>
                            </m:sup>
                          </m:sSup>
                          <m:r>
                            <a:rPr lang="en-US" sz="2000" b="1" i="1">
                              <a:solidFill>
                                <a:schemeClr val="tx1"/>
                              </a:solidFill>
                              <a:latin typeface="Cambria Math" charset="0"/>
                            </a:rPr>
                            <m:t>)|</m:t>
                          </m:r>
                        </m:e>
                      </m:func>
                      <m:r>
                        <a:rPr lang="en-US" sz="2000" b="1" i="1">
                          <a:solidFill>
                            <a:schemeClr val="tx1"/>
                          </a:solidFill>
                          <a:latin typeface="Cambria Math" charset="0"/>
                        </a:rPr>
                        <m:t>−</m:t>
                      </m:r>
                      <m:r>
                        <a:rPr lang="en-US" sz="2000" b="1" i="1">
                          <a:solidFill>
                            <a:schemeClr val="tx1"/>
                          </a:solidFill>
                          <a:latin typeface="Cambria Math" charset="0"/>
                        </a:rPr>
                        <m:t>𝑬</m:t>
                      </m:r>
                      <m:r>
                        <a:rPr lang="en-US" sz="2000" b="1" i="1">
                          <a:solidFill>
                            <a:schemeClr val="tx1"/>
                          </a:solidFill>
                          <a:latin typeface="Cambria Math" charset="0"/>
                        </a:rPr>
                        <m:t>[</m:t>
                      </m:r>
                      <m:func>
                        <m:funcPr>
                          <m:ctrlPr>
                            <a:rPr lang="en-US" sz="2000" b="1" i="1">
                              <a:solidFill>
                                <a:schemeClr val="tx1"/>
                              </a:solidFill>
                              <a:latin typeface="Cambria Math" charset="0"/>
                            </a:rPr>
                          </m:ctrlPr>
                        </m:funcPr>
                        <m:fName>
                          <m:r>
                            <a:rPr lang="en-US" sz="2000" b="1">
                              <a:solidFill>
                                <a:schemeClr val="tx1"/>
                              </a:solidFill>
                              <a:latin typeface="Cambria Math" charset="0"/>
                            </a:rPr>
                            <m:t>𝐥𝐨𝐠</m:t>
                          </m:r>
                        </m:fName>
                        <m:e>
                          <m:sSub>
                            <m:sSubPr>
                              <m:ctrlPr>
                                <a:rPr lang="en-US" sz="2000" b="1" i="1">
                                  <a:solidFill>
                                    <a:schemeClr val="tx1"/>
                                  </a:solidFill>
                                  <a:latin typeface="Cambria Math" charset="0"/>
                                </a:rPr>
                              </m:ctrlPr>
                            </m:sSubPr>
                            <m:e>
                              <m:r>
                                <a:rPr lang="en-US" sz="2000" b="1" i="1">
                                  <a:solidFill>
                                    <a:schemeClr val="tx1"/>
                                  </a:solidFill>
                                  <a:latin typeface="Cambria Math" charset="0"/>
                                </a:rPr>
                                <m:t>𝒇</m:t>
                              </m:r>
                            </m:e>
                            <m:sub>
                              <m:r>
                                <a:rPr lang="en-US" sz="2000" b="1" i="1">
                                  <a:solidFill>
                                    <a:schemeClr val="tx1"/>
                                  </a:solidFill>
                                  <a:latin typeface="Cambria Math" charset="0"/>
                                </a:rPr>
                                <m:t>𝒌</m:t>
                              </m:r>
                            </m:sub>
                          </m:sSub>
                        </m:e>
                      </m:func>
                      <m:r>
                        <a:rPr lang="en-US" sz="2000" b="1" i="1">
                          <a:solidFill>
                            <a:schemeClr val="tx1"/>
                          </a:solidFill>
                          <a:latin typeface="Cambria Math" charset="0"/>
                        </a:rPr>
                        <m:t>]</m:t>
                      </m:r>
                    </m:oMath>
                  </m:oMathPara>
                </a14:m>
                <a:endParaRPr lang="en-US" sz="2000" dirty="0">
                  <a:solidFill>
                    <a:schemeClr val="tx1"/>
                  </a:solidFill>
                </a:endParaRPr>
              </a:p>
            </p:txBody>
          </p:sp>
        </mc:Choice>
        <mc:Fallback xmlns="">
          <p:sp>
            <p:nvSpPr>
              <p:cNvPr id="15" name="TextBox 14">
                <a:extLst>
                  <a:ext uri="{FF2B5EF4-FFF2-40B4-BE49-F238E27FC236}">
                    <a16:creationId xmlns:a16="http://schemas.microsoft.com/office/drawing/2014/main" id="{9B5403CB-61BA-5746-94E0-506AE29A853C}"/>
                  </a:ext>
                </a:extLst>
              </p:cNvPr>
              <p:cNvSpPr txBox="1">
                <a:spLocks noRot="1" noChangeAspect="1" noMove="1" noResize="1" noEditPoints="1" noAdjustHandles="1" noChangeArrowheads="1" noChangeShapeType="1" noTextEdit="1"/>
              </p:cNvSpPr>
              <p:nvPr/>
            </p:nvSpPr>
            <p:spPr>
              <a:xfrm>
                <a:off x="5043126" y="5180153"/>
                <a:ext cx="3405548" cy="412164"/>
              </a:xfrm>
              <a:prstGeom prst="rect">
                <a:avLst/>
              </a:prstGeom>
              <a:blipFill>
                <a:blip r:embed="rId4"/>
                <a:stretch>
                  <a:fillRect b="-12500"/>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US" sz="2800" dirty="0"/>
              <a:t>The quality of partially annotated structures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sz="2000" b="1" dirty="0"/>
                  <a:t>Structure</a:t>
                </a:r>
                <a:r>
                  <a:rPr lang="en-US" sz="2000" dirty="0"/>
                  <a:t>: a vector of random variables: </a:t>
                </a:r>
                <a14:m>
                  <m:oMath xmlns:m="http://schemas.openxmlformats.org/officeDocument/2006/math">
                    <m:r>
                      <a:rPr lang="en-US" sz="1800" i="1">
                        <a:latin typeface="Cambria Math" charset="0"/>
                      </a:rPr>
                      <m:t>𝑌</m:t>
                    </m:r>
                    <m:r>
                      <a:rPr lang="en-US" sz="1800" i="1">
                        <a:latin typeface="Cambria Math" charset="0"/>
                      </a:rPr>
                      <m:t>=</m:t>
                    </m:r>
                    <m:d>
                      <m:dPr>
                        <m:begChr m:val="["/>
                        <m:endChr m:val="]"/>
                        <m:ctrlPr>
                          <a:rPr lang="en-US" sz="1800" i="1">
                            <a:latin typeface="Cambria Math" charset="0"/>
                          </a:rPr>
                        </m:ctrlPr>
                      </m:dPr>
                      <m:e>
                        <m:sSub>
                          <m:sSubPr>
                            <m:ctrlPr>
                              <a:rPr lang="en-US" sz="1800" i="1">
                                <a:latin typeface="Cambria Math" charset="0"/>
                              </a:rPr>
                            </m:ctrlPr>
                          </m:sSubPr>
                          <m:e>
                            <m:r>
                              <a:rPr lang="en-US" sz="1800" i="1">
                                <a:latin typeface="Cambria Math" charset="0"/>
                              </a:rPr>
                              <m:t>𝑌</m:t>
                            </m:r>
                          </m:e>
                          <m:sub>
                            <m:r>
                              <a:rPr lang="en-US" sz="1800" i="1">
                                <a:latin typeface="Cambria Math" charset="0"/>
                              </a:rPr>
                              <m:t>1</m:t>
                            </m:r>
                          </m:sub>
                        </m:sSub>
                        <m:r>
                          <a:rPr lang="en-US" sz="1800" i="1">
                            <a:latin typeface="Cambria Math" charset="0"/>
                          </a:rPr>
                          <m:t>,</m:t>
                        </m:r>
                        <m:sSub>
                          <m:sSubPr>
                            <m:ctrlPr>
                              <a:rPr lang="en-US" sz="1800" i="1">
                                <a:latin typeface="Cambria Math" charset="0"/>
                              </a:rPr>
                            </m:ctrlPr>
                          </m:sSubPr>
                          <m:e>
                            <m:r>
                              <a:rPr lang="en-US" sz="1800" i="1">
                                <a:latin typeface="Cambria Math" charset="0"/>
                              </a:rPr>
                              <m:t>𝑌</m:t>
                            </m:r>
                          </m:e>
                          <m:sub>
                            <m:r>
                              <a:rPr lang="en-US" sz="1800" i="1">
                                <a:latin typeface="Cambria Math" charset="0"/>
                              </a:rPr>
                              <m:t>2</m:t>
                            </m:r>
                          </m:sub>
                        </m:sSub>
                        <m:r>
                          <a:rPr lang="en-US" sz="1800" i="1">
                            <a:latin typeface="Cambria Math" charset="0"/>
                          </a:rPr>
                          <m:t>,…,</m:t>
                        </m:r>
                        <m:sSub>
                          <m:sSubPr>
                            <m:ctrlPr>
                              <a:rPr lang="en-US" sz="1800" i="1">
                                <a:latin typeface="Cambria Math" charset="0"/>
                              </a:rPr>
                            </m:ctrlPr>
                          </m:sSubPr>
                          <m:e>
                            <m:r>
                              <a:rPr lang="en-US" sz="1800" i="1">
                                <a:latin typeface="Cambria Math" charset="0"/>
                              </a:rPr>
                              <m:t>𝑌</m:t>
                            </m:r>
                          </m:e>
                          <m:sub>
                            <m:r>
                              <a:rPr lang="en-US" sz="1800" i="1">
                                <a:latin typeface="Cambria Math" charset="0"/>
                              </a:rPr>
                              <m:t>𝑑</m:t>
                            </m:r>
                          </m:sub>
                        </m:sSub>
                      </m:e>
                    </m:d>
                  </m:oMath>
                </a14:m>
                <a:endParaRPr lang="en-US" sz="1800" i="1" dirty="0">
                  <a:latin typeface="Cambria Math" charset="0"/>
                </a:endParaRPr>
              </a:p>
              <a:p>
                <a:pPr lvl="1"/>
                <a:r>
                  <a:rPr lang="en-US" sz="1800" dirty="0"/>
                  <a:t>Let </a:t>
                </a:r>
                <a14:m>
                  <m:oMath xmlns:m="http://schemas.openxmlformats.org/officeDocument/2006/math">
                    <m:r>
                      <a:rPr lang="en-US" sz="1800" i="1">
                        <a:latin typeface="Cambria Math" charset="0"/>
                      </a:rPr>
                      <m:t>ℒ</m:t>
                    </m:r>
                  </m:oMath>
                </a14:m>
                <a:r>
                  <a:rPr lang="en-US" sz="1800" dirty="0"/>
                  <a:t> be the label set</a:t>
                </a:r>
              </a:p>
              <a:p>
                <a:pPr marL="457200" lvl="1" indent="0">
                  <a:buNone/>
                </a:pPr>
                <a14:m>
                  <m:oMathPara xmlns:m="http://schemas.openxmlformats.org/officeDocument/2006/math">
                    <m:oMathParaPr>
                      <m:jc m:val="centerGroup"/>
                    </m:oMathParaPr>
                    <m:oMath xmlns:m="http://schemas.openxmlformats.org/officeDocument/2006/math">
                      <m:r>
                        <a:rPr lang="en-US" sz="1800" i="1">
                          <a:latin typeface="Cambria Math" charset="0"/>
                        </a:rPr>
                        <m:t>𝑌</m:t>
                      </m:r>
                      <m:r>
                        <a:rPr lang="en-US" sz="1800" i="1">
                          <a:latin typeface="Cambria Math" charset="0"/>
                        </a:rPr>
                        <m:t>∈</m:t>
                      </m:r>
                      <m:r>
                        <a:rPr lang="en-US" sz="1800" i="1">
                          <a:latin typeface="Cambria Math" charset="0"/>
                        </a:rPr>
                        <m:t>𝐶</m:t>
                      </m:r>
                      <m:d>
                        <m:dPr>
                          <m:ctrlPr>
                            <a:rPr lang="en-US" sz="1800" i="1">
                              <a:latin typeface="Cambria Math" charset="0"/>
                            </a:rPr>
                          </m:ctrlPr>
                        </m:dPr>
                        <m:e>
                          <m:sSup>
                            <m:sSupPr>
                              <m:ctrlPr>
                                <a:rPr lang="en-US" sz="1800" i="1">
                                  <a:latin typeface="Cambria Math" charset="0"/>
                                </a:rPr>
                              </m:ctrlPr>
                            </m:sSupPr>
                            <m:e>
                              <m:r>
                                <a:rPr lang="en-US" sz="1800" i="1">
                                  <a:latin typeface="Cambria Math" charset="0"/>
                                </a:rPr>
                                <m:t>ℒ</m:t>
                              </m:r>
                            </m:e>
                            <m:sup>
                              <m:r>
                                <a:rPr lang="en-US" sz="1800" i="1">
                                  <a:latin typeface="Cambria Math" charset="0"/>
                                </a:rPr>
                                <m:t>𝑑</m:t>
                              </m:r>
                            </m:sup>
                          </m:sSup>
                        </m:e>
                      </m:d>
                      <m:r>
                        <a:rPr lang="en-US" sz="1800" i="1">
                          <a:latin typeface="Cambria Math" charset="0"/>
                        </a:rPr>
                        <m:t>⊆</m:t>
                      </m:r>
                      <m:sSup>
                        <m:sSupPr>
                          <m:ctrlPr>
                            <a:rPr lang="en-US" sz="1800" i="1">
                              <a:latin typeface="Cambria Math" charset="0"/>
                            </a:rPr>
                          </m:ctrlPr>
                        </m:sSupPr>
                        <m:e>
                          <m:r>
                            <a:rPr lang="en-US" sz="1800" i="1">
                              <a:latin typeface="Cambria Math" charset="0"/>
                            </a:rPr>
                            <m:t>ℒ</m:t>
                          </m:r>
                        </m:e>
                        <m:sup>
                          <m:r>
                            <a:rPr lang="en-US" sz="1800" i="1">
                              <a:latin typeface="Cambria Math" charset="0"/>
                            </a:rPr>
                            <m:t>𝑑</m:t>
                          </m:r>
                        </m:sup>
                      </m:sSup>
                    </m:oMath>
                  </m:oMathPara>
                </a14:m>
                <a:endParaRPr lang="en-US" sz="1800" dirty="0"/>
              </a:p>
              <a:p>
                <a:pPr marL="0" indent="0">
                  <a:buNone/>
                </a:pPr>
                <a:endParaRPr lang="en-US" sz="2000" b="1" dirty="0"/>
              </a:p>
              <a:p>
                <a:pPr marL="0" indent="0">
                  <a:buNone/>
                </a:pPr>
                <a:endParaRPr lang="en-US" sz="2000" b="1" dirty="0"/>
              </a:p>
              <a:p>
                <a:pPr marL="0" indent="0">
                  <a:buNone/>
                </a:pPr>
                <a:r>
                  <a:rPr lang="en-US" sz="2000" b="1" dirty="0"/>
                  <a:t>(Generalized) Annotation</a:t>
                </a:r>
                <a:r>
                  <a:rPr lang="en-US" sz="2000" dirty="0"/>
                  <a:t>:  </a:t>
                </a:r>
              </a:p>
              <a:p>
                <a:pPr lvl="1"/>
                <a14:m>
                  <m:oMath xmlns:m="http://schemas.openxmlformats.org/officeDocument/2006/math">
                    <m:r>
                      <a:rPr lang="en-US" sz="1800" i="1">
                        <a:latin typeface="Cambria Math" charset="0"/>
                      </a:rPr>
                      <m:t>𝑘</m:t>
                    </m:r>
                  </m:oMath>
                </a14:m>
                <a:r>
                  <a:rPr lang="en-US" sz="1800" dirty="0"/>
                  <a:t> out of </a:t>
                </a:r>
                <a14:m>
                  <m:oMath xmlns:m="http://schemas.openxmlformats.org/officeDocument/2006/math">
                    <m:r>
                      <a:rPr lang="en-US" sz="1800" i="1">
                        <a:latin typeface="Cambria Math" charset="0"/>
                      </a:rPr>
                      <m:t>𝑑</m:t>
                    </m:r>
                  </m:oMath>
                </a14:m>
                <a:r>
                  <a:rPr lang="en-US" sz="1800" dirty="0"/>
                  <a:t> variables are labeled </a:t>
                </a:r>
                <a:r>
                  <a:rPr lang="en-US" sz="1800" dirty="0">
                    <a:sym typeface="Wingdings" pitchFamily="2" charset="2"/>
                  </a:rPr>
                  <a:t> </a:t>
                </a:r>
                <a:r>
                  <a:rPr lang="en-US" sz="1800" dirty="0"/>
                  <a:t>a subset of </a:t>
                </a:r>
                <a14:m>
                  <m:oMath xmlns:m="http://schemas.openxmlformats.org/officeDocument/2006/math">
                    <m:r>
                      <a:rPr lang="en-US" sz="1800" i="1">
                        <a:latin typeface="Cambria Math" charset="0"/>
                      </a:rPr>
                      <m:t>𝐶</m:t>
                    </m:r>
                    <m:d>
                      <m:dPr>
                        <m:ctrlPr>
                          <a:rPr lang="en-US" sz="1800" i="1">
                            <a:latin typeface="Cambria Math" charset="0"/>
                          </a:rPr>
                        </m:ctrlPr>
                      </m:dPr>
                      <m:e>
                        <m:sSup>
                          <m:sSupPr>
                            <m:ctrlPr>
                              <a:rPr lang="en-US" sz="1800" i="1">
                                <a:latin typeface="Cambria Math" charset="0"/>
                              </a:rPr>
                            </m:ctrlPr>
                          </m:sSupPr>
                          <m:e>
                            <m:r>
                              <a:rPr lang="en-US" sz="1800" i="1">
                                <a:latin typeface="Cambria Math" charset="0"/>
                              </a:rPr>
                              <m:t>ℒ</m:t>
                            </m:r>
                          </m:e>
                          <m:sup>
                            <m:r>
                              <a:rPr lang="en-US" sz="1800" i="1">
                                <a:latin typeface="Cambria Math" charset="0"/>
                              </a:rPr>
                              <m:t>𝑑</m:t>
                            </m:r>
                          </m:sup>
                        </m:sSup>
                      </m:e>
                    </m:d>
                  </m:oMath>
                </a14:m>
                <a:endParaRPr lang="en-US" sz="1800" dirty="0"/>
              </a:p>
              <a:p>
                <a:pPr lvl="1"/>
                <a:r>
                  <a:rPr lang="en-US" sz="1800" dirty="0"/>
                  <a:t>Let </a:t>
                </a:r>
                <a14:m>
                  <m:oMath xmlns:m="http://schemas.openxmlformats.org/officeDocument/2006/math">
                    <m:sSub>
                      <m:sSubPr>
                        <m:ctrlPr>
                          <a:rPr lang="en-US" sz="1800" b="1" i="1" smtClean="0">
                            <a:latin typeface="Cambria Math" charset="0"/>
                          </a:rPr>
                        </m:ctrlPr>
                      </m:sSubPr>
                      <m:e>
                        <m:r>
                          <a:rPr lang="en-US" sz="1800" b="1" i="1" smtClean="0">
                            <a:latin typeface="Cambria Math" charset="0"/>
                          </a:rPr>
                          <m:t>𝒇</m:t>
                        </m:r>
                      </m:e>
                      <m:sub>
                        <m:r>
                          <a:rPr lang="en-US" sz="1800" b="1" i="1" smtClean="0">
                            <a:latin typeface="Cambria Math" charset="0"/>
                          </a:rPr>
                          <m:t>𝒌</m:t>
                        </m:r>
                      </m:sub>
                    </m:sSub>
                  </m:oMath>
                </a14:m>
                <a:r>
                  <a:rPr lang="en-US" sz="1800" b="1" dirty="0"/>
                  <a:t> be the size of the feasible subset</a:t>
                </a:r>
                <a:endParaRPr lang="en-US" sz="1800" dirty="0"/>
              </a:p>
              <a:p>
                <a:pPr lvl="1"/>
                <a14:m>
                  <m:oMath xmlns:m="http://schemas.openxmlformats.org/officeDocument/2006/math">
                    <m:sSub>
                      <m:sSubPr>
                        <m:ctrlPr>
                          <a:rPr lang="en-US" sz="2000" i="1" smtClean="0">
                            <a:solidFill>
                              <a:srgbClr val="7792CB"/>
                            </a:solidFill>
                            <a:latin typeface="Cambria Math" charset="0"/>
                          </a:rPr>
                        </m:ctrlPr>
                      </m:sSubPr>
                      <m:e>
                        <m:r>
                          <a:rPr lang="en-US" sz="2000" i="1">
                            <a:solidFill>
                              <a:srgbClr val="7792CB"/>
                            </a:solidFill>
                            <a:latin typeface="Cambria Math" charset="0"/>
                          </a:rPr>
                          <m:t>𝑓</m:t>
                        </m:r>
                      </m:e>
                      <m:sub>
                        <m:r>
                          <a:rPr lang="en-US" sz="2000" b="0" i="1" smtClean="0">
                            <a:solidFill>
                              <a:srgbClr val="7792CB"/>
                            </a:solidFill>
                            <a:latin typeface="Cambria Math" charset="0"/>
                          </a:rPr>
                          <m:t>0</m:t>
                        </m:r>
                      </m:sub>
                    </m:sSub>
                    <m:r>
                      <a:rPr lang="en-US" sz="2000" b="0" i="1" smtClean="0">
                        <a:solidFill>
                          <a:srgbClr val="7792CB"/>
                        </a:solidFill>
                        <a:latin typeface="Cambria Math" charset="0"/>
                      </a:rPr>
                      <m:t>=</m:t>
                    </m:r>
                    <m:d>
                      <m:dPr>
                        <m:begChr m:val="|"/>
                        <m:endChr m:val="|"/>
                        <m:ctrlPr>
                          <a:rPr lang="en-US" sz="2000" b="0" i="1" smtClean="0">
                            <a:solidFill>
                              <a:srgbClr val="7792CB"/>
                            </a:solidFill>
                            <a:latin typeface="Cambria Math" charset="0"/>
                          </a:rPr>
                        </m:ctrlPr>
                      </m:dPr>
                      <m:e>
                        <m:r>
                          <a:rPr lang="en-US" sz="2000" b="0" i="1" smtClean="0">
                            <a:solidFill>
                              <a:srgbClr val="7792CB"/>
                            </a:solidFill>
                            <a:latin typeface="Cambria Math" charset="0"/>
                          </a:rPr>
                          <m:t>𝐶</m:t>
                        </m:r>
                        <m:d>
                          <m:dPr>
                            <m:ctrlPr>
                              <a:rPr lang="en-US" sz="2000" b="0" i="1" smtClean="0">
                                <a:solidFill>
                                  <a:srgbClr val="7792CB"/>
                                </a:solidFill>
                                <a:latin typeface="Cambria Math" charset="0"/>
                              </a:rPr>
                            </m:ctrlPr>
                          </m:dPr>
                          <m:e>
                            <m:sSup>
                              <m:sSupPr>
                                <m:ctrlPr>
                                  <a:rPr lang="en-US" sz="2000" b="0" i="1" smtClean="0">
                                    <a:solidFill>
                                      <a:srgbClr val="7792CB"/>
                                    </a:solidFill>
                                    <a:latin typeface="Cambria Math" charset="0"/>
                                  </a:rPr>
                                </m:ctrlPr>
                              </m:sSupPr>
                              <m:e>
                                <m:r>
                                  <a:rPr lang="en-US" sz="2000" b="0" i="1" smtClean="0">
                                    <a:solidFill>
                                      <a:srgbClr val="7792CB"/>
                                    </a:solidFill>
                                    <a:latin typeface="Cambria Math" charset="0"/>
                                  </a:rPr>
                                  <m:t>ℒ</m:t>
                                </m:r>
                              </m:e>
                              <m:sup>
                                <m:r>
                                  <a:rPr lang="en-US" sz="2000" b="0" i="1" smtClean="0">
                                    <a:solidFill>
                                      <a:srgbClr val="7792CB"/>
                                    </a:solidFill>
                                    <a:latin typeface="Cambria Math" charset="0"/>
                                  </a:rPr>
                                  <m:t>𝑑</m:t>
                                </m:r>
                              </m:sup>
                            </m:sSup>
                          </m:e>
                        </m:d>
                      </m:e>
                    </m:d>
                    <m:r>
                      <a:rPr lang="en-US" sz="2000" b="0" i="1" smtClean="0">
                        <a:solidFill>
                          <a:srgbClr val="666089"/>
                        </a:solidFill>
                        <a:latin typeface="Cambria Math" charset="0"/>
                      </a:rPr>
                      <m:t>≥</m:t>
                    </m:r>
                    <m:sSub>
                      <m:sSubPr>
                        <m:ctrlPr>
                          <a:rPr lang="en-US" sz="2000" b="0" i="1" smtClean="0">
                            <a:solidFill>
                              <a:srgbClr val="666089"/>
                            </a:solidFill>
                            <a:latin typeface="Cambria Math" charset="0"/>
                          </a:rPr>
                        </m:ctrlPr>
                      </m:sSubPr>
                      <m:e>
                        <m:r>
                          <a:rPr lang="en-US" sz="2000" b="0" i="1" smtClean="0">
                            <a:solidFill>
                              <a:srgbClr val="666089"/>
                            </a:solidFill>
                            <a:latin typeface="Cambria Math" charset="0"/>
                          </a:rPr>
                          <m:t>𝑓</m:t>
                        </m:r>
                      </m:e>
                      <m:sub>
                        <m:r>
                          <a:rPr lang="en-US" sz="2000" b="0" i="1" smtClean="0">
                            <a:solidFill>
                              <a:srgbClr val="666089"/>
                            </a:solidFill>
                            <a:latin typeface="Cambria Math" charset="0"/>
                          </a:rPr>
                          <m:t>1</m:t>
                        </m:r>
                      </m:sub>
                    </m:sSub>
                    <m:r>
                      <a:rPr lang="en-US" sz="2000" b="0" i="1" smtClean="0">
                        <a:solidFill>
                          <a:srgbClr val="666089"/>
                        </a:solidFill>
                        <a:latin typeface="Cambria Math" charset="0"/>
                      </a:rPr>
                      <m:t>≥</m:t>
                    </m:r>
                    <m:sSub>
                      <m:sSubPr>
                        <m:ctrlPr>
                          <a:rPr lang="en-US" sz="2000" b="0" i="1" smtClean="0">
                            <a:solidFill>
                              <a:srgbClr val="666089"/>
                            </a:solidFill>
                            <a:latin typeface="Cambria Math" charset="0"/>
                          </a:rPr>
                        </m:ctrlPr>
                      </m:sSubPr>
                      <m:e>
                        <m:r>
                          <a:rPr lang="en-US" sz="2000" b="0" i="1" smtClean="0">
                            <a:solidFill>
                              <a:srgbClr val="666089"/>
                            </a:solidFill>
                            <a:latin typeface="Cambria Math" charset="0"/>
                          </a:rPr>
                          <m:t>𝑓</m:t>
                        </m:r>
                      </m:e>
                      <m:sub>
                        <m:r>
                          <a:rPr lang="en-US" sz="2000" b="0" i="1" smtClean="0">
                            <a:solidFill>
                              <a:srgbClr val="666089"/>
                            </a:solidFill>
                            <a:latin typeface="Cambria Math" charset="0"/>
                          </a:rPr>
                          <m:t>2</m:t>
                        </m:r>
                      </m:sub>
                    </m:sSub>
                    <m:r>
                      <a:rPr lang="en-US" sz="2000" b="0" i="1" smtClean="0">
                        <a:solidFill>
                          <a:srgbClr val="666089"/>
                        </a:solidFill>
                        <a:latin typeface="Cambria Math" charset="0"/>
                      </a:rPr>
                      <m:t>≥⋯≥</m:t>
                    </m:r>
                    <m:sSub>
                      <m:sSubPr>
                        <m:ctrlPr>
                          <a:rPr lang="en-US" sz="2000" i="1" smtClean="0">
                            <a:solidFill>
                              <a:srgbClr val="C17A90"/>
                            </a:solidFill>
                            <a:latin typeface="Cambria Math" charset="0"/>
                          </a:rPr>
                        </m:ctrlPr>
                      </m:sSubPr>
                      <m:e>
                        <m:r>
                          <a:rPr lang="en-US" sz="2000" i="1">
                            <a:solidFill>
                              <a:srgbClr val="C17A90"/>
                            </a:solidFill>
                            <a:latin typeface="Cambria Math" charset="0"/>
                          </a:rPr>
                          <m:t>𝑓</m:t>
                        </m:r>
                      </m:e>
                      <m:sub>
                        <m:r>
                          <a:rPr lang="en-US" sz="2000" b="0" i="1" smtClean="0">
                            <a:solidFill>
                              <a:srgbClr val="C17A90"/>
                            </a:solidFill>
                            <a:latin typeface="Cambria Math" charset="0"/>
                          </a:rPr>
                          <m:t>𝑑</m:t>
                        </m:r>
                      </m:sub>
                    </m:sSub>
                    <m:r>
                      <a:rPr lang="en-US" sz="2000" b="0" i="1" smtClean="0">
                        <a:solidFill>
                          <a:srgbClr val="C17A90"/>
                        </a:solidFill>
                        <a:latin typeface="Cambria Math" charset="0"/>
                      </a:rPr>
                      <m:t>=1</m:t>
                    </m:r>
                  </m:oMath>
                </a14:m>
                <a:endParaRPr lang="en-US" sz="2000" b="0" dirty="0">
                  <a:solidFill>
                    <a:srgbClr val="C17A90"/>
                  </a:solidFill>
                </a:endParaRPr>
              </a:p>
              <a:p>
                <a:pPr marL="457200" lvl="1" indent="0">
                  <a:buNone/>
                </a:pPr>
                <a:endParaRPr lang="en-US" sz="2000" dirty="0"/>
              </a:p>
              <a:p>
                <a:pPr marL="457200" lvl="1" indent="0">
                  <a:buNone/>
                </a:pPr>
                <a:endParaRPr lang="en-US" sz="2000" dirty="0"/>
              </a:p>
              <a:p>
                <a:pPr marL="0" indent="0">
                  <a:buNone/>
                </a:pPr>
                <a:r>
                  <a:rPr lang="en-US" sz="2000" b="1" dirty="0"/>
                  <a:t>Define the benefit of k labels: </a:t>
                </a:r>
                <a14:m>
                  <m:oMath xmlns:m="http://schemas.openxmlformats.org/officeDocument/2006/math">
                    <m:sSub>
                      <m:sSubPr>
                        <m:ctrlPr>
                          <a:rPr lang="en-US" sz="2000" b="1" i="1" smtClean="0">
                            <a:solidFill>
                              <a:schemeClr val="bg2"/>
                            </a:solidFill>
                            <a:latin typeface="Cambria Math" charset="0"/>
                          </a:rPr>
                        </m:ctrlPr>
                      </m:sSubPr>
                      <m:e>
                        <m:r>
                          <a:rPr lang="en-US" sz="2000" b="1" i="1" smtClean="0">
                            <a:solidFill>
                              <a:schemeClr val="bg2"/>
                            </a:solidFill>
                            <a:latin typeface="Cambria Math" charset="0"/>
                          </a:rPr>
                          <m:t>𝑰</m:t>
                        </m:r>
                      </m:e>
                      <m:sub>
                        <m:r>
                          <a:rPr lang="en-US" sz="2000" b="1" i="1" smtClean="0">
                            <a:solidFill>
                              <a:schemeClr val="bg2"/>
                            </a:solidFill>
                            <a:latin typeface="Cambria Math" charset="0"/>
                          </a:rPr>
                          <m:t>𝒌</m:t>
                        </m:r>
                      </m:sub>
                    </m:sSub>
                    <m:r>
                      <a:rPr lang="en-US" sz="2000" b="1" i="1">
                        <a:solidFill>
                          <a:schemeClr val="bg2"/>
                        </a:solidFill>
                        <a:latin typeface="Cambria Math" charset="0"/>
                        <a:ea typeface="Cambria Math" charset="0"/>
                        <a:cs typeface="Cambria Math" charset="0"/>
                      </a:rPr>
                      <m:t>≜</m:t>
                    </m:r>
                    <m:func>
                      <m:funcPr>
                        <m:ctrlPr>
                          <a:rPr lang="en-US" sz="2000" b="1" i="1" smtClean="0">
                            <a:solidFill>
                              <a:schemeClr val="bg2"/>
                            </a:solidFill>
                            <a:latin typeface="Cambria Math" charset="0"/>
                          </a:rPr>
                        </m:ctrlPr>
                      </m:funcPr>
                      <m:fName>
                        <m:r>
                          <a:rPr lang="en-US" sz="2000" b="1" i="0" smtClean="0">
                            <a:solidFill>
                              <a:schemeClr val="bg2"/>
                            </a:solidFill>
                            <a:latin typeface="Cambria Math" charset="0"/>
                          </a:rPr>
                          <m:t>𝐥𝐨𝐠</m:t>
                        </m:r>
                      </m:fName>
                      <m:e>
                        <m:r>
                          <a:rPr lang="en-US" sz="2000" b="1" i="1" smtClean="0">
                            <a:solidFill>
                              <a:schemeClr val="bg2"/>
                            </a:solidFill>
                            <a:latin typeface="Cambria Math" charset="0"/>
                          </a:rPr>
                          <m:t>|</m:t>
                        </m:r>
                        <m:r>
                          <a:rPr lang="en-US" sz="2000" b="1" i="1" smtClean="0">
                            <a:solidFill>
                              <a:schemeClr val="bg2"/>
                            </a:solidFill>
                            <a:latin typeface="Cambria Math" charset="0"/>
                          </a:rPr>
                          <m:t>𝑪</m:t>
                        </m:r>
                        <m:r>
                          <a:rPr lang="en-US" sz="2000" b="1" i="1" smtClean="0">
                            <a:solidFill>
                              <a:schemeClr val="bg2"/>
                            </a:solidFill>
                            <a:latin typeface="Cambria Math" charset="0"/>
                          </a:rPr>
                          <m:t>(</m:t>
                        </m:r>
                        <m:sSup>
                          <m:sSupPr>
                            <m:ctrlPr>
                              <a:rPr lang="en-US" sz="2000" b="1" i="1" smtClean="0">
                                <a:solidFill>
                                  <a:schemeClr val="bg2"/>
                                </a:solidFill>
                                <a:latin typeface="Cambria Math" charset="0"/>
                              </a:rPr>
                            </m:ctrlPr>
                          </m:sSupPr>
                          <m:e>
                            <m:r>
                              <a:rPr lang="en-US" sz="2000" b="1" i="1" smtClean="0">
                                <a:solidFill>
                                  <a:schemeClr val="bg2"/>
                                </a:solidFill>
                                <a:latin typeface="Cambria Math" charset="0"/>
                              </a:rPr>
                              <m:t>𝓛</m:t>
                            </m:r>
                          </m:e>
                          <m:sup>
                            <m:r>
                              <a:rPr lang="en-US" sz="2000" b="1" i="1" smtClean="0">
                                <a:solidFill>
                                  <a:schemeClr val="bg2"/>
                                </a:solidFill>
                                <a:latin typeface="Cambria Math" charset="0"/>
                              </a:rPr>
                              <m:t>𝒅</m:t>
                            </m:r>
                          </m:sup>
                        </m:sSup>
                        <m:r>
                          <a:rPr lang="en-US" sz="2000" b="1" i="1" smtClean="0">
                            <a:solidFill>
                              <a:schemeClr val="bg2"/>
                            </a:solidFill>
                            <a:latin typeface="Cambria Math" charset="0"/>
                          </a:rPr>
                          <m:t>)|</m:t>
                        </m:r>
                      </m:e>
                    </m:func>
                    <m:r>
                      <a:rPr lang="en-US" sz="2000" b="1" i="1" smtClean="0">
                        <a:solidFill>
                          <a:schemeClr val="bg2"/>
                        </a:solidFill>
                        <a:latin typeface="Cambria Math" charset="0"/>
                      </a:rPr>
                      <m:t>−</m:t>
                    </m:r>
                    <m:r>
                      <a:rPr lang="en-US" sz="2000" b="1" i="1" smtClean="0">
                        <a:solidFill>
                          <a:schemeClr val="bg2"/>
                        </a:solidFill>
                        <a:latin typeface="Cambria Math" charset="0"/>
                      </a:rPr>
                      <m:t>𝑬</m:t>
                    </m:r>
                    <m:r>
                      <a:rPr lang="en-US" sz="2000" b="1" i="1" smtClean="0">
                        <a:solidFill>
                          <a:schemeClr val="bg2"/>
                        </a:solidFill>
                        <a:latin typeface="Cambria Math" charset="0"/>
                      </a:rPr>
                      <m:t>[</m:t>
                    </m:r>
                    <m:func>
                      <m:funcPr>
                        <m:ctrlPr>
                          <a:rPr lang="en-US" sz="2000" b="1" i="1" smtClean="0">
                            <a:solidFill>
                              <a:schemeClr val="bg2"/>
                            </a:solidFill>
                            <a:latin typeface="Cambria Math" charset="0"/>
                          </a:rPr>
                        </m:ctrlPr>
                      </m:funcPr>
                      <m:fName>
                        <m:r>
                          <a:rPr lang="en-US" sz="2000" b="1" i="0" smtClean="0">
                            <a:solidFill>
                              <a:schemeClr val="bg2"/>
                            </a:solidFill>
                            <a:latin typeface="Cambria Math" charset="0"/>
                          </a:rPr>
                          <m:t>𝐥𝐨𝐠</m:t>
                        </m:r>
                      </m:fName>
                      <m:e>
                        <m:sSub>
                          <m:sSubPr>
                            <m:ctrlPr>
                              <a:rPr lang="en-US" sz="2000" b="1" i="1" smtClean="0">
                                <a:solidFill>
                                  <a:schemeClr val="bg2"/>
                                </a:solidFill>
                                <a:latin typeface="Cambria Math" charset="0"/>
                              </a:rPr>
                            </m:ctrlPr>
                          </m:sSubPr>
                          <m:e>
                            <m:r>
                              <a:rPr lang="en-US" sz="2000" b="1" i="1" smtClean="0">
                                <a:solidFill>
                                  <a:schemeClr val="bg2"/>
                                </a:solidFill>
                                <a:latin typeface="Cambria Math" charset="0"/>
                              </a:rPr>
                              <m:t>𝒇</m:t>
                            </m:r>
                          </m:e>
                          <m:sub>
                            <m:r>
                              <a:rPr lang="en-US" sz="2000" b="1" i="1" smtClean="0">
                                <a:solidFill>
                                  <a:schemeClr val="bg2"/>
                                </a:solidFill>
                                <a:latin typeface="Cambria Math" charset="0"/>
                              </a:rPr>
                              <m:t>𝒌</m:t>
                            </m:r>
                          </m:sub>
                        </m:sSub>
                      </m:e>
                    </m:func>
                    <m:r>
                      <a:rPr lang="en-US" sz="2000" b="1" i="1" smtClean="0">
                        <a:solidFill>
                          <a:schemeClr val="bg2"/>
                        </a:solidFill>
                        <a:latin typeface="Cambria Math" charset="0"/>
                      </a:rPr>
                      <m:t>]</m:t>
                    </m:r>
                  </m:oMath>
                </a14:m>
                <a:r>
                  <a:rPr lang="en-US" sz="2000" b="1" dirty="0">
                    <a:solidFill>
                      <a:schemeClr val="bg2"/>
                    </a:solidFill>
                  </a:rPr>
                  <a:t> </a:t>
                </a:r>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5"/>
                <a:stretch>
                  <a:fillRect l="-786" t="-70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xmlns="" id="{350C9050-1C1B-40E1-881B-62AC44FC5D1E}"/>
              </a:ext>
            </a:extLst>
          </p:cNvPr>
          <p:cNvSpPr>
            <a:spLocks noGrp="1"/>
          </p:cNvSpPr>
          <p:nvPr>
            <p:ph type="sldNum" sz="quarter" idx="4294967295"/>
          </p:nvPr>
        </p:nvSpPr>
        <p:spPr bwMode="auto">
          <a:xfrm>
            <a:off x="11292116" y="6523921"/>
            <a:ext cx="508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marL="0" algn="ctr" defTabSz="914400" rtl="0" eaLnBrk="1" latinLnBrk="0" hangingPunct="1">
              <a:defRPr sz="1200" kern="1200">
                <a:solidFill>
                  <a:schemeClr val="tx1"/>
                </a:solidFill>
                <a:latin typeface="Arial" pitchFamily="34" charset="0"/>
                <a:ea typeface="Arial Unicode MS" pitchFamily="34" charset="-128"/>
                <a:cs typeface="Arial Unicode MS" pitchFamily="34"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F588C3-71D6-5D45-B118-1C664482E1C2}" type="slidenum">
              <a:rPr lang="en-US" smtClean="0"/>
              <a:pPr/>
              <a:t>89</a:t>
            </a:fld>
            <a:endParaRPr lang="en-US"/>
          </a:p>
        </p:txBody>
      </p:sp>
      <p:sp>
        <p:nvSpPr>
          <p:cNvPr id="7" name="Rectangular Callout 6">
            <a:extLst>
              <a:ext uri="{FF2B5EF4-FFF2-40B4-BE49-F238E27FC236}">
                <a16:creationId xmlns:a16="http://schemas.microsoft.com/office/drawing/2014/main" xmlns="" id="{1976AC47-5A44-9E4A-B471-EDCD59DB89EA}"/>
              </a:ext>
            </a:extLst>
          </p:cNvPr>
          <p:cNvSpPr/>
          <p:nvPr/>
        </p:nvSpPr>
        <p:spPr>
          <a:xfrm>
            <a:off x="3869155" y="2590800"/>
            <a:ext cx="3031933" cy="609599"/>
          </a:xfrm>
          <a:prstGeom prst="wedgeRectCallout">
            <a:avLst>
              <a:gd name="adj1" fmla="val -24161"/>
              <a:gd name="adj2" fmla="val -119113"/>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Not all assignments are valid (e.g., no loops in time)</a:t>
            </a:r>
          </a:p>
        </p:txBody>
      </p:sp>
      <p:sp>
        <p:nvSpPr>
          <p:cNvPr id="12" name="Rectangular Callout 11">
            <a:extLst>
              <a:ext uri="{FF2B5EF4-FFF2-40B4-BE49-F238E27FC236}">
                <a16:creationId xmlns:a16="http://schemas.microsoft.com/office/drawing/2014/main" xmlns="" id="{177EF3CD-603F-E546-B8D4-B5E3D1138A8C}"/>
              </a:ext>
            </a:extLst>
          </p:cNvPr>
          <p:cNvSpPr/>
          <p:nvPr/>
        </p:nvSpPr>
        <p:spPr>
          <a:xfrm>
            <a:off x="4681312" y="4724400"/>
            <a:ext cx="2481488" cy="369333"/>
          </a:xfrm>
          <a:prstGeom prst="wedgeRectCallout">
            <a:avLst>
              <a:gd name="adj1" fmla="val -33443"/>
              <a:gd name="adj2" fmla="val -127959"/>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Complete annotation</a:t>
            </a:r>
          </a:p>
        </p:txBody>
      </p:sp>
      <p:sp>
        <p:nvSpPr>
          <p:cNvPr id="13" name="Rectangular Callout 12">
            <a:extLst>
              <a:ext uri="{FF2B5EF4-FFF2-40B4-BE49-F238E27FC236}">
                <a16:creationId xmlns:a16="http://schemas.microsoft.com/office/drawing/2014/main" xmlns="" id="{4094F290-32AA-D244-A8A9-6ED553DD77F8}"/>
              </a:ext>
            </a:extLst>
          </p:cNvPr>
          <p:cNvSpPr/>
          <p:nvPr/>
        </p:nvSpPr>
        <p:spPr>
          <a:xfrm>
            <a:off x="1532204" y="4724400"/>
            <a:ext cx="1680259" cy="369332"/>
          </a:xfrm>
          <a:prstGeom prst="wedgeRectCallout">
            <a:avLst>
              <a:gd name="adj1" fmla="val -51330"/>
              <a:gd name="adj2" fmla="val -138592"/>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No annotation</a:t>
            </a:r>
          </a:p>
        </p:txBody>
      </p:sp>
      <mc:AlternateContent xmlns:mc="http://schemas.openxmlformats.org/markup-compatibility/2006" xmlns:a14="http://schemas.microsoft.com/office/drawing/2010/main">
        <mc:Choice Requires="a14">
          <p:sp>
            <p:nvSpPr>
              <p:cNvPr id="14" name="Rectangular Callout 13">
                <a:extLst>
                  <a:ext uri="{FF2B5EF4-FFF2-40B4-BE49-F238E27FC236}">
                    <a16:creationId xmlns:a16="http://schemas.microsoft.com/office/drawing/2014/main" xmlns="" id="{F69160DB-F311-544C-859B-C03C6B35B41E}"/>
                  </a:ext>
                </a:extLst>
              </p:cNvPr>
              <p:cNvSpPr/>
              <p:nvPr/>
            </p:nvSpPr>
            <p:spPr>
              <a:xfrm>
                <a:off x="2887236" y="6171236"/>
                <a:ext cx="5561438" cy="369333"/>
              </a:xfrm>
              <a:prstGeom prst="wedgeRectCallout">
                <a:avLst>
                  <a:gd name="adj1" fmla="val 7092"/>
                  <a:gd name="adj2" fmla="val -214740"/>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how much of </a:t>
                </a:r>
                <a14:m>
                  <m:oMath xmlns:m="http://schemas.openxmlformats.org/officeDocument/2006/math">
                    <m:r>
                      <a:rPr lang="en-US" sz="1600" i="1">
                        <a:solidFill>
                          <a:schemeClr val="bg2"/>
                        </a:solidFill>
                        <a:latin typeface="Cambria Math" charset="0"/>
                      </a:rPr>
                      <m:t>𝐶</m:t>
                    </m:r>
                    <m:d>
                      <m:dPr>
                        <m:ctrlPr>
                          <a:rPr lang="en-US" sz="1600" i="1">
                            <a:solidFill>
                              <a:schemeClr val="bg2"/>
                            </a:solidFill>
                            <a:latin typeface="Cambria Math" charset="0"/>
                          </a:rPr>
                        </m:ctrlPr>
                      </m:dPr>
                      <m:e>
                        <m:sSup>
                          <m:sSupPr>
                            <m:ctrlPr>
                              <a:rPr lang="en-US" sz="1600" i="1">
                                <a:solidFill>
                                  <a:schemeClr val="bg2"/>
                                </a:solidFill>
                                <a:latin typeface="Cambria Math" charset="0"/>
                              </a:rPr>
                            </m:ctrlPr>
                          </m:sSupPr>
                          <m:e>
                            <m:r>
                              <a:rPr lang="en-US" sz="1600" i="1">
                                <a:solidFill>
                                  <a:schemeClr val="bg2"/>
                                </a:solidFill>
                                <a:latin typeface="Cambria Math" charset="0"/>
                              </a:rPr>
                              <m:t>ℒ</m:t>
                            </m:r>
                          </m:e>
                          <m:sup>
                            <m:r>
                              <a:rPr lang="en-US" sz="1600" i="1">
                                <a:solidFill>
                                  <a:schemeClr val="bg2"/>
                                </a:solidFill>
                                <a:latin typeface="Cambria Math" charset="0"/>
                              </a:rPr>
                              <m:t>𝑑</m:t>
                            </m:r>
                          </m:sup>
                        </m:sSup>
                      </m:e>
                    </m:d>
                  </m:oMath>
                </a14:m>
                <a:r>
                  <a:rPr lang="en-US" sz="1600" dirty="0">
                    <a:solidFill>
                      <a:schemeClr val="bg2"/>
                    </a:solidFill>
                  </a:rPr>
                  <a:t> </a:t>
                </a:r>
                <a:r>
                  <a:rPr lang="en-US" sz="1600" dirty="0">
                    <a:solidFill>
                      <a:schemeClr val="bg2"/>
                    </a:solidFill>
                    <a:latin typeface="Century Gothic" panose="020B0502020202020204" pitchFamily="34" charset="0"/>
                  </a:rPr>
                  <a:t>has been </a:t>
                </a:r>
                <a:r>
                  <a:rPr lang="en-US" sz="1600" b="1" dirty="0">
                    <a:solidFill>
                      <a:schemeClr val="bg2"/>
                    </a:solidFill>
                    <a:latin typeface="Century Gothic" panose="020B0502020202020204" pitchFamily="34" charset="0"/>
                  </a:rPr>
                  <a:t>disqualified</a:t>
                </a:r>
                <a:r>
                  <a:rPr lang="en-US" sz="1600" dirty="0">
                    <a:solidFill>
                      <a:schemeClr val="bg2"/>
                    </a:solidFill>
                    <a:latin typeface="Century Gothic" panose="020B0502020202020204" pitchFamily="34" charset="0"/>
                  </a:rPr>
                  <a:t> by 𝑘 labels</a:t>
                </a:r>
              </a:p>
            </p:txBody>
          </p:sp>
        </mc:Choice>
        <mc:Fallback xmlns="">
          <p:sp>
            <p:nvSpPr>
              <p:cNvPr id="14" name="Rectangular Callout 13">
                <a:extLst>
                  <a:ext uri="{FF2B5EF4-FFF2-40B4-BE49-F238E27FC236}">
                    <a16:creationId xmlns:a16="http://schemas.microsoft.com/office/drawing/2014/main" xmlns="" xmlns:a14="http://schemas.microsoft.com/office/drawing/2010/main" id="{F69160DB-F311-544C-859B-C03C6B35B41E}"/>
                  </a:ext>
                </a:extLst>
              </p:cNvPr>
              <p:cNvSpPr>
                <a:spLocks noRot="1" noChangeAspect="1" noMove="1" noResize="1" noEditPoints="1" noAdjustHandles="1" noChangeArrowheads="1" noChangeShapeType="1" noTextEdit="1"/>
              </p:cNvSpPr>
              <p:nvPr/>
            </p:nvSpPr>
            <p:spPr>
              <a:xfrm>
                <a:off x="2887236" y="6171236"/>
                <a:ext cx="5561438" cy="369333"/>
              </a:xfrm>
              <a:prstGeom prst="wedgeRectCallout">
                <a:avLst>
                  <a:gd name="adj1" fmla="val 7092"/>
                  <a:gd name="adj2" fmla="val -214740"/>
                </a:avLst>
              </a:prstGeom>
              <a:blipFill rotWithShape="0">
                <a:blip r:embed="rId6"/>
                <a:stretch>
                  <a:fillRect b="-5455"/>
                </a:stretch>
              </a:blipFill>
              <a:ln>
                <a:solidFill>
                  <a:srgbClr val="C00000"/>
                </a:solidFill>
              </a:ln>
            </p:spPr>
            <p:txBody>
              <a:bodyPr/>
              <a:lstStyle/>
              <a:p>
                <a:r>
                  <a:rPr lang="en-US">
                    <a:noFill/>
                  </a:rPr>
                  <a:t> </a:t>
                </a:r>
              </a:p>
            </p:txBody>
          </p:sp>
        </mc:Fallback>
      </mc:AlternateContent>
      <p:sp>
        <p:nvSpPr>
          <p:cNvPr id="17" name="TextBox 16">
            <a:extLst>
              <a:ext uri="{FF2B5EF4-FFF2-40B4-BE49-F238E27FC236}">
                <a16:creationId xmlns:a16="http://schemas.microsoft.com/office/drawing/2014/main" xmlns=""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557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Diminishing return of new labels</a:t>
            </a:r>
          </a:p>
        </p:txBody>
      </p:sp>
      <p:grpSp>
        <p:nvGrpSpPr>
          <p:cNvPr id="17" name="Group 16"/>
          <p:cNvGrpSpPr/>
          <p:nvPr/>
        </p:nvGrpSpPr>
        <p:grpSpPr>
          <a:xfrm>
            <a:off x="1394948" y="762000"/>
            <a:ext cx="5850673" cy="5850675"/>
            <a:chOff x="1905000" y="1386235"/>
            <a:chExt cx="4939547" cy="4939547"/>
          </a:xfrm>
        </p:grpSpPr>
        <p:pic>
          <p:nvPicPr>
            <p:cNvPr id="13" name="Picture 1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905000" y="1386235"/>
              <a:ext cx="4939547" cy="4939547"/>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xmlns="" id="{5D627CD5-4AE6-1B4A-B209-94A0E7592FD6}"/>
                    </a:ext>
                  </a:extLst>
                </p:cNvPr>
                <p:cNvSpPr txBox="1"/>
                <p:nvPr/>
              </p:nvSpPr>
              <p:spPr>
                <a:xfrm>
                  <a:off x="2978955" y="1579235"/>
                  <a:ext cx="3086543" cy="207877"/>
                </a:xfrm>
                <a:prstGeom prst="rect">
                  <a:avLst/>
                </a:prstGeom>
                <a:solidFill>
                  <a:schemeClr val="tx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bg2">
                                    <a:lumMod val="75000"/>
                                    <a:lumOff val="25000"/>
                                  </a:schemeClr>
                                </a:solidFill>
                                <a:latin typeface="Cambria Math" charset="0"/>
                              </a:rPr>
                            </m:ctrlPr>
                          </m:sSubPr>
                          <m:e>
                            <m:r>
                              <a:rPr lang="en-US" sz="1600" b="1" i="1">
                                <a:solidFill>
                                  <a:schemeClr val="bg2">
                                    <a:lumMod val="75000"/>
                                    <a:lumOff val="25000"/>
                                  </a:schemeClr>
                                </a:solidFill>
                                <a:latin typeface="Cambria Math" panose="02040503050406030204" pitchFamily="18" charset="0"/>
                              </a:rPr>
                              <m:t>𝑰</m:t>
                            </m:r>
                          </m:e>
                          <m:sub>
                            <m:r>
                              <a:rPr lang="en-US" sz="1600" b="1" i="1">
                                <a:solidFill>
                                  <a:schemeClr val="bg2">
                                    <a:lumMod val="75000"/>
                                    <a:lumOff val="25000"/>
                                  </a:schemeClr>
                                </a:solidFill>
                                <a:latin typeface="Cambria Math" panose="02040503050406030204" pitchFamily="18" charset="0"/>
                              </a:rPr>
                              <m:t>𝒌</m:t>
                            </m:r>
                          </m:sub>
                        </m:sSub>
                        <m:r>
                          <a:rPr lang="en-US" sz="1600" b="1" i="1" smtClean="0">
                            <a:solidFill>
                              <a:schemeClr val="bg2">
                                <a:lumMod val="75000"/>
                                <a:lumOff val="25000"/>
                              </a:schemeClr>
                            </a:solidFill>
                            <a:latin typeface="Cambria Math" charset="0"/>
                          </a:rPr>
                          <m:t>:</m:t>
                        </m:r>
                        <m:r>
                          <m:rPr>
                            <m:nor/>
                          </m:rPr>
                          <a:rPr lang="en-US" sz="1600" b="1" dirty="0">
                            <a:solidFill>
                              <a:schemeClr val="bg2">
                                <a:lumMod val="75000"/>
                                <a:lumOff val="25000"/>
                              </a:schemeClr>
                            </a:solidFill>
                            <a:latin typeface="Century Gothic" panose="020B0502020202020204" pitchFamily="34" charset="0"/>
                          </a:rPr>
                          <m:t>The</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benefit</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of</m:t>
                        </m:r>
                        <m:r>
                          <m:rPr>
                            <m:nor/>
                          </m:rPr>
                          <a:rPr lang="en-US" sz="1600" b="1" dirty="0">
                            <a:solidFill>
                              <a:schemeClr val="bg2">
                                <a:lumMod val="75000"/>
                                <a:lumOff val="25000"/>
                              </a:schemeClr>
                            </a:solidFill>
                            <a:latin typeface="Century Gothic" panose="020B0502020202020204" pitchFamily="34" charset="0"/>
                          </a:rPr>
                          <m:t> </m:t>
                        </m:r>
                        <m:r>
                          <m:rPr>
                            <m:nor/>
                          </m:rPr>
                          <a:rPr lang="en-US" sz="1600" b="1" i="0" dirty="0" smtClean="0">
                            <a:solidFill>
                              <a:schemeClr val="bg2">
                                <a:lumMod val="75000"/>
                                <a:lumOff val="25000"/>
                              </a:schemeClr>
                            </a:solidFill>
                            <a:latin typeface="Century Gothic" panose="020B0502020202020204" pitchFamily="34" charset="0"/>
                          </a:rPr>
                          <m:t>k</m:t>
                        </m:r>
                        <m:r>
                          <m:rPr>
                            <m:nor/>
                          </m:rPr>
                          <a:rPr lang="en-US" sz="1600" b="1" i="0" dirty="0" smtClean="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label</m:t>
                        </m:r>
                        <m:r>
                          <m:rPr>
                            <m:nor/>
                          </m:rPr>
                          <a:rPr lang="en-US" sz="1600" b="1" i="0" dirty="0" smtClean="0">
                            <a:solidFill>
                              <a:schemeClr val="bg2">
                                <a:lumMod val="75000"/>
                                <a:lumOff val="25000"/>
                              </a:schemeClr>
                            </a:solidFill>
                            <a:latin typeface="Century Gothic" panose="020B0502020202020204" pitchFamily="34" charset="0"/>
                          </a:rPr>
                          <m:t>s</m:t>
                        </m:r>
                        <m:r>
                          <m:rPr>
                            <m:nor/>
                          </m:rPr>
                          <a:rPr lang="en-US" sz="1600" b="1" i="0" dirty="0" smtClean="0">
                            <a:solidFill>
                              <a:schemeClr val="bg2">
                                <a:lumMod val="75000"/>
                                <a:lumOff val="25000"/>
                              </a:schemeClr>
                            </a:solidFill>
                            <a:latin typeface="Century Gothic" panose="020B0502020202020204" pitchFamily="34" charset="0"/>
                          </a:rPr>
                          <m:t> </m:t>
                        </m:r>
                        <m:r>
                          <m:rPr>
                            <m:nor/>
                          </m:rPr>
                          <a:rPr lang="en-US" sz="1600" b="1" i="0" dirty="0" smtClean="0">
                            <a:solidFill>
                              <a:schemeClr val="bg2">
                                <a:lumMod val="75000"/>
                                <a:lumOff val="25000"/>
                              </a:schemeClr>
                            </a:solidFill>
                            <a:latin typeface="Century Gothic" panose="020B0502020202020204" pitchFamily="34" charset="0"/>
                          </a:rPr>
                          <m:t>is</m:t>
                        </m:r>
                        <m:r>
                          <m:rPr>
                            <m:nor/>
                          </m:rPr>
                          <a:rPr lang="en-US" sz="1600" b="1" i="0" dirty="0" smtClean="0">
                            <a:solidFill>
                              <a:schemeClr val="bg2">
                                <a:lumMod val="75000"/>
                                <a:lumOff val="25000"/>
                              </a:schemeClr>
                            </a:solidFill>
                            <a:latin typeface="Century Gothic" panose="020B0502020202020204" pitchFamily="34" charset="0"/>
                          </a:rPr>
                          <m:t> </m:t>
                        </m:r>
                        <m:r>
                          <m:rPr>
                            <m:nor/>
                          </m:rPr>
                          <a:rPr lang="en-US" sz="1600" b="1" i="0" dirty="0" smtClean="0">
                            <a:solidFill>
                              <a:schemeClr val="bg2">
                                <a:lumMod val="75000"/>
                                <a:lumOff val="25000"/>
                              </a:schemeClr>
                            </a:solidFill>
                            <a:latin typeface="Century Gothic" panose="020B0502020202020204" pitchFamily="34" charset="0"/>
                          </a:rPr>
                          <m:t>concave</m:t>
                        </m:r>
                      </m:oMath>
                    </m:oMathPara>
                  </a14:m>
                  <a:endParaRPr lang="en-US" sz="1600" b="1" dirty="0">
                    <a:solidFill>
                      <a:schemeClr val="bg2">
                        <a:lumMod val="75000"/>
                        <a:lumOff val="25000"/>
                      </a:schemeClr>
                    </a:solidFill>
                    <a:latin typeface="Century Gothic" panose="020B0502020202020204" pitchFamily="34" charset="0"/>
                  </a:endParaRPr>
                </a:p>
              </p:txBody>
            </p:sp>
          </mc:Choice>
          <mc:Fallback xmlns="">
            <p:sp>
              <p:nvSpPr>
                <p:cNvPr id="15" name="TextBox 14">
                  <a:extLst>
                    <a:ext uri="{FF2B5EF4-FFF2-40B4-BE49-F238E27FC236}">
                      <a16:creationId xmlns:a16="http://schemas.microsoft.com/office/drawing/2014/main" xmlns="" xmlns:a14="http://schemas.microsoft.com/office/drawing/2010/main" id="{5D627CD5-4AE6-1B4A-B209-94A0E7592FD6}"/>
                    </a:ext>
                  </a:extLst>
                </p:cNvPr>
                <p:cNvSpPr txBox="1">
                  <a:spLocks noRot="1" noChangeAspect="1" noMove="1" noResize="1" noEditPoints="1" noAdjustHandles="1" noChangeArrowheads="1" noChangeShapeType="1" noTextEdit="1"/>
                </p:cNvSpPr>
                <p:nvPr/>
              </p:nvSpPr>
              <p:spPr>
                <a:xfrm>
                  <a:off x="2978955" y="1579235"/>
                  <a:ext cx="3086543" cy="207877"/>
                </a:xfrm>
                <a:prstGeom prst="rect">
                  <a:avLst/>
                </a:prstGeom>
                <a:blipFill rotWithShape="0">
                  <a:blip r:embed="rId3"/>
                  <a:stretch>
                    <a:fillRect l="-835" r="-167"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xmlns="" id="{5D627CD5-4AE6-1B4A-B209-94A0E7592FD6}"/>
                    </a:ext>
                  </a:extLst>
                </p:cNvPr>
                <p:cNvSpPr txBox="1"/>
                <p:nvPr/>
              </p:nvSpPr>
              <p:spPr>
                <a:xfrm>
                  <a:off x="2237564" y="3867933"/>
                  <a:ext cx="4601393" cy="207877"/>
                </a:xfrm>
                <a:prstGeom prst="rect">
                  <a:avLst/>
                </a:prstGeom>
                <a:solidFill>
                  <a:schemeClr val="tx1"/>
                </a:solidFill>
              </p:spPr>
              <p:txBody>
                <a:bodyPr wrap="none" lIns="0" tIns="0" rIns="0" bIns="0" rtlCol="0" anchor="b">
                  <a:spAutoFit/>
                </a:bodyPr>
                <a:lstStyle/>
                <a:p>
                  <a:pPr/>
                  <a14:m>
                    <m:oMathPara xmlns:m="http://schemas.openxmlformats.org/officeDocument/2006/math">
                      <m:oMathParaPr>
                        <m:jc m:val="centerGroup"/>
                      </m:oMathParaPr>
                      <m:oMath xmlns:m="http://schemas.openxmlformats.org/officeDocument/2006/math">
                        <m:sSub>
                          <m:sSubPr>
                            <m:ctrlPr>
                              <a:rPr lang="en-US" sz="1600" b="1" i="1">
                                <a:solidFill>
                                  <a:schemeClr val="bg2">
                                    <a:lumMod val="75000"/>
                                    <a:lumOff val="25000"/>
                                  </a:schemeClr>
                                </a:solidFill>
                                <a:latin typeface="Cambria Math" charset="0"/>
                              </a:rPr>
                            </m:ctrlPr>
                          </m:sSubPr>
                          <m:e>
                            <m:r>
                              <a:rPr lang="en-US" sz="1600" b="1" i="1">
                                <a:solidFill>
                                  <a:schemeClr val="bg2">
                                    <a:lumMod val="75000"/>
                                    <a:lumOff val="25000"/>
                                  </a:schemeClr>
                                </a:solidFill>
                                <a:latin typeface="Cambria Math" panose="02040503050406030204" pitchFamily="18" charset="0"/>
                              </a:rPr>
                              <m:t>𝜟</m:t>
                            </m:r>
                          </m:e>
                          <m:sub>
                            <m:r>
                              <a:rPr lang="en-US" sz="1600" b="1" i="1">
                                <a:solidFill>
                                  <a:schemeClr val="bg2">
                                    <a:lumMod val="75000"/>
                                    <a:lumOff val="25000"/>
                                  </a:schemeClr>
                                </a:solidFill>
                                <a:latin typeface="Cambria Math" charset="0"/>
                              </a:rPr>
                              <m:t>𝒌</m:t>
                            </m:r>
                          </m:sub>
                        </m:sSub>
                        <m:r>
                          <a:rPr lang="en-US" sz="1600" b="1" i="1">
                            <a:solidFill>
                              <a:schemeClr val="bg2">
                                <a:lumMod val="75000"/>
                                <a:lumOff val="25000"/>
                              </a:schemeClr>
                            </a:solidFill>
                            <a:latin typeface="Cambria Math" panose="02040503050406030204" pitchFamily="18" charset="0"/>
                          </a:rPr>
                          <m:t>=</m:t>
                        </m:r>
                        <m:sSub>
                          <m:sSubPr>
                            <m:ctrlPr>
                              <a:rPr lang="en-US" sz="1600" b="1" i="1">
                                <a:solidFill>
                                  <a:schemeClr val="bg2">
                                    <a:lumMod val="75000"/>
                                    <a:lumOff val="25000"/>
                                  </a:schemeClr>
                                </a:solidFill>
                                <a:latin typeface="Cambria Math" charset="0"/>
                              </a:rPr>
                            </m:ctrlPr>
                          </m:sSubPr>
                          <m:e>
                            <m:r>
                              <a:rPr lang="en-US" sz="1600" b="1" i="1">
                                <a:solidFill>
                                  <a:schemeClr val="bg2">
                                    <a:lumMod val="75000"/>
                                    <a:lumOff val="25000"/>
                                  </a:schemeClr>
                                </a:solidFill>
                                <a:latin typeface="Cambria Math" panose="02040503050406030204" pitchFamily="18" charset="0"/>
                              </a:rPr>
                              <m:t>𝑰</m:t>
                            </m:r>
                          </m:e>
                          <m:sub>
                            <m:r>
                              <a:rPr lang="en-US" sz="1600" b="1" i="1">
                                <a:solidFill>
                                  <a:schemeClr val="bg2">
                                    <a:lumMod val="75000"/>
                                    <a:lumOff val="25000"/>
                                  </a:schemeClr>
                                </a:solidFill>
                                <a:latin typeface="Cambria Math" panose="02040503050406030204" pitchFamily="18" charset="0"/>
                              </a:rPr>
                              <m:t>𝒌</m:t>
                            </m:r>
                          </m:sub>
                        </m:sSub>
                        <m:r>
                          <a:rPr lang="en-US" sz="1600" b="1" i="1">
                            <a:solidFill>
                              <a:schemeClr val="bg2">
                                <a:lumMod val="75000"/>
                                <a:lumOff val="25000"/>
                              </a:schemeClr>
                            </a:solidFill>
                            <a:latin typeface="Cambria Math" panose="02040503050406030204" pitchFamily="18" charset="0"/>
                          </a:rPr>
                          <m:t>−</m:t>
                        </m:r>
                        <m:sSub>
                          <m:sSubPr>
                            <m:ctrlPr>
                              <a:rPr lang="en-US" sz="1600" b="1" i="1">
                                <a:solidFill>
                                  <a:schemeClr val="bg2">
                                    <a:lumMod val="75000"/>
                                    <a:lumOff val="25000"/>
                                  </a:schemeClr>
                                </a:solidFill>
                                <a:latin typeface="Cambria Math" charset="0"/>
                              </a:rPr>
                            </m:ctrlPr>
                          </m:sSubPr>
                          <m:e>
                            <m:r>
                              <a:rPr lang="en-US" sz="1600" b="1" i="1">
                                <a:solidFill>
                                  <a:schemeClr val="bg2">
                                    <a:lumMod val="75000"/>
                                    <a:lumOff val="25000"/>
                                  </a:schemeClr>
                                </a:solidFill>
                                <a:latin typeface="Cambria Math" panose="02040503050406030204" pitchFamily="18" charset="0"/>
                              </a:rPr>
                              <m:t>𝑰</m:t>
                            </m:r>
                          </m:e>
                          <m:sub>
                            <m:r>
                              <a:rPr lang="en-US" sz="1600" b="1" i="1">
                                <a:solidFill>
                                  <a:schemeClr val="bg2">
                                    <a:lumMod val="75000"/>
                                    <a:lumOff val="25000"/>
                                  </a:schemeClr>
                                </a:solidFill>
                                <a:latin typeface="Cambria Math" panose="02040503050406030204" pitchFamily="18" charset="0"/>
                              </a:rPr>
                              <m:t>𝒌</m:t>
                            </m:r>
                            <m:r>
                              <a:rPr lang="en-US" sz="1600" b="1" i="1">
                                <a:solidFill>
                                  <a:schemeClr val="bg2">
                                    <a:lumMod val="75000"/>
                                    <a:lumOff val="25000"/>
                                  </a:schemeClr>
                                </a:solidFill>
                                <a:latin typeface="Cambria Math" panose="02040503050406030204" pitchFamily="18" charset="0"/>
                              </a:rPr>
                              <m:t>−</m:t>
                            </m:r>
                            <m:r>
                              <a:rPr lang="en-US" sz="1600" b="1" i="1">
                                <a:solidFill>
                                  <a:schemeClr val="bg2">
                                    <a:lumMod val="75000"/>
                                    <a:lumOff val="25000"/>
                                  </a:schemeClr>
                                </a:solidFill>
                                <a:latin typeface="Cambria Math" panose="02040503050406030204" pitchFamily="18" charset="0"/>
                              </a:rPr>
                              <m:t>𝟏</m:t>
                            </m:r>
                          </m:sub>
                        </m:sSub>
                        <m:r>
                          <a:rPr lang="en-US" sz="1600" b="1" i="1">
                            <a:solidFill>
                              <a:schemeClr val="bg2">
                                <a:lumMod val="75000"/>
                                <a:lumOff val="25000"/>
                              </a:schemeClr>
                            </a:solidFill>
                            <a:latin typeface="Cambria Math" panose="02040503050406030204" pitchFamily="18" charset="0"/>
                          </a:rPr>
                          <m:t> </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The</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benefit</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of</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a</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new</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label</m:t>
                        </m:r>
                        <m:r>
                          <m:rPr>
                            <m:nor/>
                          </m:rPr>
                          <a:rPr lang="en-US" sz="1600" b="1" i="0" dirty="0" smtClean="0">
                            <a:solidFill>
                              <a:schemeClr val="bg2">
                                <a:lumMod val="75000"/>
                                <a:lumOff val="25000"/>
                              </a:schemeClr>
                            </a:solidFill>
                            <a:latin typeface="Century Gothic" panose="020B0502020202020204" pitchFamily="34" charset="0"/>
                          </a:rPr>
                          <m:t> </m:t>
                        </m:r>
                        <m:r>
                          <m:rPr>
                            <m:nor/>
                          </m:rPr>
                          <a:rPr lang="en-US" sz="1600" b="1" i="0" dirty="0" smtClean="0">
                            <a:solidFill>
                              <a:schemeClr val="bg2">
                                <a:lumMod val="75000"/>
                                <a:lumOff val="25000"/>
                              </a:schemeClr>
                            </a:solidFill>
                            <a:latin typeface="Century Gothic" panose="020B0502020202020204" pitchFamily="34" charset="0"/>
                          </a:rPr>
                          <m:t>is</m:t>
                        </m:r>
                        <m:r>
                          <m:rPr>
                            <m:nor/>
                          </m:rPr>
                          <a:rPr lang="en-US" sz="1600" b="1" i="0" dirty="0" smtClean="0">
                            <a:solidFill>
                              <a:schemeClr val="bg2">
                                <a:lumMod val="75000"/>
                                <a:lumOff val="25000"/>
                              </a:schemeClr>
                            </a:solidFill>
                            <a:latin typeface="Century Gothic" panose="020B0502020202020204" pitchFamily="34" charset="0"/>
                          </a:rPr>
                          <m:t> </m:t>
                        </m:r>
                        <m:r>
                          <m:rPr>
                            <m:nor/>
                          </m:rPr>
                          <a:rPr lang="en-US" sz="1600" b="1" i="0" dirty="0" smtClean="0">
                            <a:solidFill>
                              <a:schemeClr val="bg2">
                                <a:lumMod val="75000"/>
                                <a:lumOff val="25000"/>
                              </a:schemeClr>
                            </a:solidFill>
                            <a:latin typeface="Century Gothic" panose="020B0502020202020204" pitchFamily="34" charset="0"/>
                          </a:rPr>
                          <m:t>diminishing</m:t>
                        </m:r>
                      </m:oMath>
                    </m:oMathPara>
                  </a14:m>
                  <a:endParaRPr lang="en-US" sz="1600" b="1" dirty="0">
                    <a:solidFill>
                      <a:schemeClr val="bg2">
                        <a:lumMod val="75000"/>
                        <a:lumOff val="25000"/>
                      </a:schemeClr>
                    </a:solidFill>
                    <a:latin typeface="Century Gothic" panose="020B0502020202020204" pitchFamily="34" charset="0"/>
                  </a:endParaRPr>
                </a:p>
              </p:txBody>
            </p:sp>
          </mc:Choice>
          <mc:Fallback xmlns="">
            <p:sp>
              <p:nvSpPr>
                <p:cNvPr id="16" name="TextBox 15">
                  <a:extLst>
                    <a:ext uri="{FF2B5EF4-FFF2-40B4-BE49-F238E27FC236}">
                      <a16:creationId xmlns:a16="http://schemas.microsoft.com/office/drawing/2014/main" xmlns="" xmlns:a14="http://schemas.microsoft.com/office/drawing/2010/main" id="{5D627CD5-4AE6-1B4A-B209-94A0E7592FD6}"/>
                    </a:ext>
                  </a:extLst>
                </p:cNvPr>
                <p:cNvSpPr txBox="1">
                  <a:spLocks noRot="1" noChangeAspect="1" noMove="1" noResize="1" noEditPoints="1" noAdjustHandles="1" noChangeArrowheads="1" noChangeShapeType="1" noTextEdit="1"/>
                </p:cNvSpPr>
                <p:nvPr/>
              </p:nvSpPr>
              <p:spPr>
                <a:xfrm>
                  <a:off x="2237564" y="3867933"/>
                  <a:ext cx="4601393" cy="207877"/>
                </a:xfrm>
                <a:prstGeom prst="rect">
                  <a:avLst/>
                </a:prstGeom>
                <a:blipFill rotWithShape="0">
                  <a:blip r:embed="rId4"/>
                  <a:stretch>
                    <a:fillRect l="-223" r="-670" b="-39024"/>
                  </a:stretch>
                </a:blipFill>
              </p:spPr>
              <p:txBody>
                <a:bodyPr/>
                <a:lstStyle/>
                <a:p>
                  <a:r>
                    <a:rPr lang="en-US">
                      <a:noFill/>
                    </a:rPr>
                    <a:t> </a:t>
                  </a:r>
                </a:p>
              </p:txBody>
            </p:sp>
          </mc:Fallback>
        </mc:AlternateContent>
      </p:grpSp>
      <p:sp>
        <p:nvSpPr>
          <p:cNvPr id="19" name="Right Arrow 18"/>
          <p:cNvSpPr/>
          <p:nvPr/>
        </p:nvSpPr>
        <p:spPr>
          <a:xfrm>
            <a:off x="1295400" y="990600"/>
            <a:ext cx="1272052" cy="246221"/>
          </a:xfrm>
          <a:prstGeom prst="rightArrow">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493483" y="3734517"/>
            <a:ext cx="1272052" cy="246221"/>
          </a:xfrm>
          <a:prstGeom prst="rightArrow">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xmlns=""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168785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28">
            <a:extLst>
              <a:ext uri="{FF2B5EF4-FFF2-40B4-BE49-F238E27FC236}">
                <a16:creationId xmlns:a16="http://schemas.microsoft.com/office/drawing/2014/main" xmlns="" id="{028A5577-FA4E-4E5E-AFEE-74BC47D795C9}"/>
              </a:ext>
            </a:extLst>
          </p:cNvPr>
          <p:cNvSpPr>
            <a:spLocks noGrp="1"/>
          </p:cNvSpPr>
          <p:nvPr>
            <p:ph type="sldNum" sz="quarter" idx="11"/>
          </p:nvPr>
        </p:nvSpPr>
        <p:spPr bwMode="auto">
          <a:xfrm>
            <a:off x="8636000" y="6524625"/>
            <a:ext cx="508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marL="0" algn="ctr" defTabSz="914400" rtl="0" eaLnBrk="1" latinLnBrk="0" hangingPunct="1">
              <a:defRPr sz="1200" kern="1200">
                <a:solidFill>
                  <a:schemeClr val="tx1"/>
                </a:solidFill>
                <a:latin typeface="Arial" pitchFamily="34" charset="0"/>
                <a:ea typeface="Arial Unicode MS" pitchFamily="34" charset="-128"/>
                <a:cs typeface="Arial Unicode MS" pitchFamily="34"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F588C3-71D6-5D45-B118-1C664482E1C2}" type="slidenum">
              <a:rPr lang="en-US" smtClean="0"/>
              <a:pPr/>
              <a:t>91</a:t>
            </a:fld>
            <a:endParaRPr lang="en-US" dirty="0"/>
          </a:p>
        </p:txBody>
      </p:sp>
      <p:grpSp>
        <p:nvGrpSpPr>
          <p:cNvPr id="38" name="Group 37">
            <a:extLst>
              <a:ext uri="{FF2B5EF4-FFF2-40B4-BE49-F238E27FC236}">
                <a16:creationId xmlns:a16="http://schemas.microsoft.com/office/drawing/2014/main" xmlns="" id="{A09833D3-F035-3E44-950C-4F08E9981574}"/>
              </a:ext>
            </a:extLst>
          </p:cNvPr>
          <p:cNvGrpSpPr/>
          <p:nvPr/>
        </p:nvGrpSpPr>
        <p:grpSpPr>
          <a:xfrm>
            <a:off x="4505906" y="4107139"/>
            <a:ext cx="4130094" cy="2692869"/>
            <a:chOff x="4505906" y="1207841"/>
            <a:chExt cx="4130094" cy="2692869"/>
          </a:xfrm>
        </p:grpSpPr>
        <p:grpSp>
          <p:nvGrpSpPr>
            <p:cNvPr id="11" name="Group 10">
              <a:extLst>
                <a:ext uri="{FF2B5EF4-FFF2-40B4-BE49-F238E27FC236}">
                  <a16:creationId xmlns:a16="http://schemas.microsoft.com/office/drawing/2014/main" xmlns="" id="{B712ADF7-DEE7-1242-953D-C8BEC11A6F0D}"/>
                </a:ext>
              </a:extLst>
            </p:cNvPr>
            <p:cNvGrpSpPr/>
            <p:nvPr/>
          </p:nvGrpSpPr>
          <p:grpSpPr>
            <a:xfrm>
              <a:off x="4827730" y="1601710"/>
              <a:ext cx="3634953" cy="2299000"/>
              <a:chOff x="4827730" y="1601710"/>
              <a:chExt cx="3634953" cy="2299000"/>
            </a:xfrm>
          </p:grpSpPr>
          <p:grpSp>
            <p:nvGrpSpPr>
              <p:cNvPr id="8" name="Group 7">
                <a:extLst>
                  <a:ext uri="{FF2B5EF4-FFF2-40B4-BE49-F238E27FC236}">
                    <a16:creationId xmlns:a16="http://schemas.microsoft.com/office/drawing/2014/main" xmlns="" id="{A6E8997F-E766-5843-9184-6003B84F5596}"/>
                  </a:ext>
                </a:extLst>
              </p:cNvPr>
              <p:cNvGrpSpPr/>
              <p:nvPr/>
            </p:nvGrpSpPr>
            <p:grpSpPr>
              <a:xfrm>
                <a:off x="4827730" y="1601710"/>
                <a:ext cx="3634953" cy="2299000"/>
                <a:chOff x="4827730" y="1601710"/>
                <a:chExt cx="3634953" cy="2299000"/>
              </a:xfrm>
            </p:grpSpPr>
            <p:pic>
              <p:nvPicPr>
                <p:cNvPr id="5" name="Picture 4">
                  <a:extLst>
                    <a:ext uri="{FF2B5EF4-FFF2-40B4-BE49-F238E27FC236}">
                      <a16:creationId xmlns:a16="http://schemas.microsoft.com/office/drawing/2014/main" xmlns="" id="{56F55D64-D03E-E34D-B9A2-BA74189E4A3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827730" y="1601710"/>
                  <a:ext cx="3634953" cy="2299000"/>
                </a:xfrm>
                <a:prstGeom prst="rect">
                  <a:avLst/>
                </a:prstGeom>
              </p:spPr>
            </p:pic>
            <p:sp>
              <p:nvSpPr>
                <p:cNvPr id="7" name="Rectangle 6">
                  <a:extLst>
                    <a:ext uri="{FF2B5EF4-FFF2-40B4-BE49-F238E27FC236}">
                      <a16:creationId xmlns:a16="http://schemas.microsoft.com/office/drawing/2014/main" xmlns="" id="{7E174746-82B6-AE4B-A018-3EFF9FF22F69}"/>
                    </a:ext>
                  </a:extLst>
                </p:cNvPr>
                <p:cNvSpPr/>
                <p:nvPr/>
              </p:nvSpPr>
              <p:spPr>
                <a:xfrm>
                  <a:off x="7391400" y="3048000"/>
                  <a:ext cx="609600" cy="246221"/>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xmlns="" id="{0886FA45-E080-BA46-942A-4E2CCE8160B6}"/>
                  </a:ext>
                </a:extLst>
              </p:cNvPr>
              <p:cNvGrpSpPr/>
              <p:nvPr/>
            </p:nvGrpSpPr>
            <p:grpSpPr>
              <a:xfrm>
                <a:off x="7315200" y="2984956"/>
                <a:ext cx="675185" cy="364669"/>
                <a:chOff x="7315200" y="2984956"/>
                <a:chExt cx="675185" cy="364669"/>
              </a:xfrm>
            </p:grpSpPr>
            <p:sp>
              <p:nvSpPr>
                <p:cNvPr id="6" name="TextBox 5">
                  <a:extLst>
                    <a:ext uri="{FF2B5EF4-FFF2-40B4-BE49-F238E27FC236}">
                      <a16:creationId xmlns:a16="http://schemas.microsoft.com/office/drawing/2014/main" xmlns="" id="{DED9D5D3-A81F-F844-AB04-AF9C0D620D0B}"/>
                    </a:ext>
                  </a:extLst>
                </p:cNvPr>
                <p:cNvSpPr txBox="1"/>
                <p:nvPr/>
              </p:nvSpPr>
              <p:spPr>
                <a:xfrm>
                  <a:off x="7315200" y="2984956"/>
                  <a:ext cx="675185" cy="215444"/>
                </a:xfrm>
                <a:prstGeom prst="rect">
                  <a:avLst/>
                </a:prstGeom>
                <a:noFill/>
              </p:spPr>
              <p:txBody>
                <a:bodyPr wrap="none" rtlCol="0">
                  <a:spAutoFit/>
                </a:bodyPr>
                <a:lstStyle/>
                <a:p>
                  <a:r>
                    <a:rPr lang="en-US" sz="800" dirty="0">
                      <a:solidFill>
                        <a:schemeClr val="bg2"/>
                      </a:solidFill>
                      <a:latin typeface="Century Gothic" panose="020B0502020202020204" pitchFamily="34" charset="0"/>
                    </a:rPr>
                    <a:t>complete</a:t>
                  </a:r>
                </a:p>
              </p:txBody>
            </p:sp>
            <p:sp>
              <p:nvSpPr>
                <p:cNvPr id="17" name="TextBox 16">
                  <a:extLst>
                    <a:ext uri="{FF2B5EF4-FFF2-40B4-BE49-F238E27FC236}">
                      <a16:creationId xmlns:a16="http://schemas.microsoft.com/office/drawing/2014/main" xmlns="" id="{5F9D82E8-4B5C-F447-9F5C-ADBFFEF3D026}"/>
                    </a:ext>
                  </a:extLst>
                </p:cNvPr>
                <p:cNvSpPr txBox="1"/>
                <p:nvPr/>
              </p:nvSpPr>
              <p:spPr>
                <a:xfrm>
                  <a:off x="7315200" y="3134181"/>
                  <a:ext cx="503664" cy="215444"/>
                </a:xfrm>
                <a:prstGeom prst="rect">
                  <a:avLst/>
                </a:prstGeom>
                <a:noFill/>
              </p:spPr>
              <p:txBody>
                <a:bodyPr wrap="none" rtlCol="0">
                  <a:spAutoFit/>
                </a:bodyPr>
                <a:lstStyle/>
                <a:p>
                  <a:r>
                    <a:rPr lang="en-US" sz="800" dirty="0">
                      <a:solidFill>
                        <a:schemeClr val="bg2"/>
                      </a:solidFill>
                      <a:latin typeface="Century Gothic" panose="020B0502020202020204" pitchFamily="34" charset="0"/>
                    </a:rPr>
                    <a:t>partial</a:t>
                  </a:r>
                </a:p>
              </p:txBody>
            </p:sp>
          </p:grpSp>
        </p:grpSp>
        <p:sp>
          <p:nvSpPr>
            <p:cNvPr id="59" name="Rounded Rectangle 58">
              <a:extLst>
                <a:ext uri="{FF2B5EF4-FFF2-40B4-BE49-F238E27FC236}">
                  <a16:creationId xmlns:a16="http://schemas.microsoft.com/office/drawing/2014/main" xmlns="" id="{422BD2C3-45D8-8345-B35F-34F645BBB0CC}"/>
                </a:ext>
              </a:extLst>
            </p:cNvPr>
            <p:cNvSpPr/>
            <p:nvPr/>
          </p:nvSpPr>
          <p:spPr>
            <a:xfrm>
              <a:off x="5511568" y="2544262"/>
              <a:ext cx="3124432" cy="374571"/>
            </a:xfrm>
            <a:prstGeom prst="roundRect">
              <a:avLst/>
            </a:prstGeom>
            <a:noFill/>
            <a:ln>
              <a:noFill/>
            </a:ln>
          </p:spPr>
          <p:txBody>
            <a:bodyPr wrap="square">
              <a:spAutoFit/>
            </a:bodyPr>
            <a:lstStyle/>
            <a:p>
              <a:pPr algn="ctr"/>
              <a:r>
                <a:rPr lang="en-US" sz="1600" dirty="0">
                  <a:solidFill>
                    <a:srgbClr val="7792CB"/>
                  </a:solidFill>
                  <a:latin typeface="Century Gothic" panose="020B0502020202020204" pitchFamily="34" charset="0"/>
                </a:rPr>
                <a:t>complete</a:t>
              </a:r>
            </a:p>
          </p:txBody>
        </p:sp>
        <p:sp>
          <p:nvSpPr>
            <p:cNvPr id="60" name="Rounded Rectangle 59">
              <a:extLst>
                <a:ext uri="{FF2B5EF4-FFF2-40B4-BE49-F238E27FC236}">
                  <a16:creationId xmlns:a16="http://schemas.microsoft.com/office/drawing/2014/main" xmlns="" id="{D7D2DAD8-55BD-B14E-A9BB-DDFA894DBF22}"/>
                </a:ext>
              </a:extLst>
            </p:cNvPr>
            <p:cNvSpPr/>
            <p:nvPr/>
          </p:nvSpPr>
          <p:spPr>
            <a:xfrm>
              <a:off x="4505906" y="1884628"/>
              <a:ext cx="3124432" cy="374571"/>
            </a:xfrm>
            <a:prstGeom prst="roundRect">
              <a:avLst/>
            </a:prstGeom>
            <a:noFill/>
            <a:ln>
              <a:noFill/>
            </a:ln>
          </p:spPr>
          <p:txBody>
            <a:bodyPr wrap="square">
              <a:spAutoFit/>
            </a:bodyPr>
            <a:lstStyle/>
            <a:p>
              <a:pPr algn="ctr"/>
              <a:r>
                <a:rPr lang="en-US" sz="1600" dirty="0">
                  <a:solidFill>
                    <a:srgbClr val="7792CB"/>
                  </a:solidFill>
                  <a:latin typeface="Century Gothic" panose="020B0502020202020204" pitchFamily="34" charset="0"/>
                </a:rPr>
                <a:t>partial</a:t>
              </a:r>
            </a:p>
          </p:txBody>
        </p:sp>
        <p:sp>
          <p:nvSpPr>
            <p:cNvPr id="3" name="Rounded Rectangle 2"/>
            <p:cNvSpPr/>
            <p:nvPr/>
          </p:nvSpPr>
          <p:spPr>
            <a:xfrm>
              <a:off x="5183917" y="1207841"/>
              <a:ext cx="3297193" cy="646986"/>
            </a:xfrm>
            <a:prstGeom prst="roundRect">
              <a:avLst/>
            </a:prstGeom>
            <a:solidFill>
              <a:srgbClr val="6881B4"/>
            </a:solidFill>
            <a:ln>
              <a:noFill/>
            </a:ln>
          </p:spPr>
          <p:txBody>
            <a:bodyPr wrap="square">
              <a:spAutoFit/>
            </a:bodyPr>
            <a:lstStyle/>
            <a:p>
              <a:pPr algn="ctr"/>
              <a:r>
                <a:rPr lang="en-US" sz="1600" dirty="0">
                  <a:latin typeface="Century Gothic" panose="020B0502020202020204" pitchFamily="34" charset="0"/>
                </a:rPr>
                <a:t>Chain</a:t>
              </a:r>
            </a:p>
            <a:p>
              <a:pPr algn="ctr"/>
              <a:r>
                <a:rPr lang="en-US" sz="1600" dirty="0">
                  <a:latin typeface="Century Gothic" panose="020B0502020202020204" pitchFamily="34" charset="0"/>
                </a:rPr>
                <a:t>(temporal relation extraction)</a:t>
              </a:r>
            </a:p>
          </p:txBody>
        </p:sp>
      </p:grpSp>
      <p:grpSp>
        <p:nvGrpSpPr>
          <p:cNvPr id="40" name="Group 39">
            <a:extLst>
              <a:ext uri="{FF2B5EF4-FFF2-40B4-BE49-F238E27FC236}">
                <a16:creationId xmlns:a16="http://schemas.microsoft.com/office/drawing/2014/main" xmlns="" id="{9EE23256-AD89-0544-89F7-5D927828CCBF}"/>
              </a:ext>
            </a:extLst>
          </p:cNvPr>
          <p:cNvGrpSpPr/>
          <p:nvPr/>
        </p:nvGrpSpPr>
        <p:grpSpPr>
          <a:xfrm>
            <a:off x="613327" y="4108994"/>
            <a:ext cx="3714624" cy="2718494"/>
            <a:chOff x="613327" y="4108994"/>
            <a:chExt cx="3714624" cy="2718494"/>
          </a:xfrm>
        </p:grpSpPr>
        <p:grpSp>
          <p:nvGrpSpPr>
            <p:cNvPr id="19" name="Group 18">
              <a:extLst>
                <a:ext uri="{FF2B5EF4-FFF2-40B4-BE49-F238E27FC236}">
                  <a16:creationId xmlns:a16="http://schemas.microsoft.com/office/drawing/2014/main" xmlns="" id="{14D1F1D8-684A-9D40-A70D-ABDC6990724E}"/>
                </a:ext>
              </a:extLst>
            </p:cNvPr>
            <p:cNvGrpSpPr/>
            <p:nvPr/>
          </p:nvGrpSpPr>
          <p:grpSpPr>
            <a:xfrm>
              <a:off x="613327" y="4521505"/>
              <a:ext cx="3714624" cy="2305983"/>
              <a:chOff x="613327" y="4521505"/>
              <a:chExt cx="3714624" cy="2305983"/>
            </a:xfrm>
          </p:grpSpPr>
          <p:pic>
            <p:nvPicPr>
              <p:cNvPr id="18" name="Picture 17">
                <a:extLst>
                  <a:ext uri="{FF2B5EF4-FFF2-40B4-BE49-F238E27FC236}">
                    <a16:creationId xmlns:a16="http://schemas.microsoft.com/office/drawing/2014/main" xmlns="" id="{A6BBA9CD-B220-384A-8A85-1F32ED5C5BA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3327" y="4521505"/>
                <a:ext cx="3714624" cy="2305983"/>
              </a:xfrm>
              <a:prstGeom prst="rect">
                <a:avLst/>
              </a:prstGeom>
            </p:spPr>
          </p:pic>
          <p:grpSp>
            <p:nvGrpSpPr>
              <p:cNvPr id="31" name="Group 30">
                <a:extLst>
                  <a:ext uri="{FF2B5EF4-FFF2-40B4-BE49-F238E27FC236}">
                    <a16:creationId xmlns:a16="http://schemas.microsoft.com/office/drawing/2014/main" xmlns="" id="{C36C1DDA-2C19-2340-A5B5-D6D4A53DA743}"/>
                  </a:ext>
                </a:extLst>
              </p:cNvPr>
              <p:cNvGrpSpPr/>
              <p:nvPr/>
            </p:nvGrpSpPr>
            <p:grpSpPr>
              <a:xfrm>
                <a:off x="3223595" y="5942188"/>
                <a:ext cx="824529" cy="398324"/>
                <a:chOff x="7481271" y="5942188"/>
                <a:chExt cx="824529" cy="398324"/>
              </a:xfrm>
            </p:grpSpPr>
            <p:sp>
              <p:nvSpPr>
                <p:cNvPr id="32" name="Rectangle 31">
                  <a:extLst>
                    <a:ext uri="{FF2B5EF4-FFF2-40B4-BE49-F238E27FC236}">
                      <a16:creationId xmlns:a16="http://schemas.microsoft.com/office/drawing/2014/main" xmlns="" id="{0FDC92AB-0FDE-9841-9151-7CD25537CA8B}"/>
                    </a:ext>
                  </a:extLst>
                </p:cNvPr>
                <p:cNvSpPr/>
                <p:nvPr/>
              </p:nvSpPr>
              <p:spPr>
                <a:xfrm>
                  <a:off x="7567032" y="5990664"/>
                  <a:ext cx="738768" cy="333936"/>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xmlns="" id="{938EEB18-DB50-0542-98FD-7372E58E6CBD}"/>
                    </a:ext>
                  </a:extLst>
                </p:cNvPr>
                <p:cNvGrpSpPr/>
                <p:nvPr/>
              </p:nvGrpSpPr>
              <p:grpSpPr>
                <a:xfrm>
                  <a:off x="7481271" y="5942188"/>
                  <a:ext cx="675185" cy="398324"/>
                  <a:chOff x="7481271" y="5942188"/>
                  <a:chExt cx="675185" cy="398324"/>
                </a:xfrm>
              </p:grpSpPr>
              <p:sp>
                <p:nvSpPr>
                  <p:cNvPr id="34" name="TextBox 33">
                    <a:extLst>
                      <a:ext uri="{FF2B5EF4-FFF2-40B4-BE49-F238E27FC236}">
                        <a16:creationId xmlns:a16="http://schemas.microsoft.com/office/drawing/2014/main" xmlns="" id="{38C93FE9-E19B-6F42-B381-02076E3B43E6}"/>
                      </a:ext>
                    </a:extLst>
                  </p:cNvPr>
                  <p:cNvSpPr txBox="1"/>
                  <p:nvPr/>
                </p:nvSpPr>
                <p:spPr>
                  <a:xfrm>
                    <a:off x="7481271" y="5942188"/>
                    <a:ext cx="675185" cy="215444"/>
                  </a:xfrm>
                  <a:prstGeom prst="rect">
                    <a:avLst/>
                  </a:prstGeom>
                  <a:noFill/>
                </p:spPr>
                <p:txBody>
                  <a:bodyPr wrap="none" rtlCol="0">
                    <a:spAutoFit/>
                  </a:bodyPr>
                  <a:lstStyle/>
                  <a:p>
                    <a:r>
                      <a:rPr lang="en-US" sz="800" dirty="0">
                        <a:solidFill>
                          <a:schemeClr val="bg2"/>
                        </a:solidFill>
                        <a:latin typeface="Century Gothic" panose="020B0502020202020204" pitchFamily="34" charset="0"/>
                      </a:rPr>
                      <a:t>complete</a:t>
                    </a:r>
                  </a:p>
                </p:txBody>
              </p:sp>
              <p:sp>
                <p:nvSpPr>
                  <p:cNvPr id="35" name="TextBox 34">
                    <a:extLst>
                      <a:ext uri="{FF2B5EF4-FFF2-40B4-BE49-F238E27FC236}">
                        <a16:creationId xmlns:a16="http://schemas.microsoft.com/office/drawing/2014/main" xmlns="" id="{F912129D-604C-7F40-96C1-904DD5113873}"/>
                      </a:ext>
                    </a:extLst>
                  </p:cNvPr>
                  <p:cNvSpPr txBox="1"/>
                  <p:nvPr/>
                </p:nvSpPr>
                <p:spPr>
                  <a:xfrm>
                    <a:off x="7481271" y="6125068"/>
                    <a:ext cx="503664" cy="215444"/>
                  </a:xfrm>
                  <a:prstGeom prst="rect">
                    <a:avLst/>
                  </a:prstGeom>
                  <a:noFill/>
                </p:spPr>
                <p:txBody>
                  <a:bodyPr wrap="none" rtlCol="0">
                    <a:spAutoFit/>
                  </a:bodyPr>
                  <a:lstStyle/>
                  <a:p>
                    <a:r>
                      <a:rPr lang="en-US" sz="800" dirty="0">
                        <a:solidFill>
                          <a:schemeClr val="bg2"/>
                        </a:solidFill>
                        <a:latin typeface="Century Gothic" panose="020B0502020202020204" pitchFamily="34" charset="0"/>
                      </a:rPr>
                      <a:t>partial</a:t>
                    </a:r>
                  </a:p>
                </p:txBody>
              </p:sp>
            </p:grpSp>
          </p:grpSp>
        </p:grpSp>
        <p:sp>
          <p:nvSpPr>
            <p:cNvPr id="27" name="Rounded Rectangle 26"/>
            <p:cNvSpPr/>
            <p:nvPr/>
          </p:nvSpPr>
          <p:spPr>
            <a:xfrm>
              <a:off x="1098710" y="4108994"/>
              <a:ext cx="3055924" cy="646986"/>
            </a:xfrm>
            <a:prstGeom prst="roundRect">
              <a:avLst/>
            </a:prstGeom>
            <a:solidFill>
              <a:schemeClr val="accent2">
                <a:lumMod val="60000"/>
                <a:lumOff val="40000"/>
              </a:schemeClr>
            </a:solidFill>
            <a:ln>
              <a:noFill/>
            </a:ln>
          </p:spPr>
          <p:txBody>
            <a:bodyPr wrap="none">
              <a:spAutoFit/>
            </a:bodyPr>
            <a:lstStyle/>
            <a:p>
              <a:pPr algn="ctr"/>
              <a:r>
                <a:rPr lang="en-US" sz="1600" dirty="0">
                  <a:solidFill>
                    <a:schemeClr val="bg2"/>
                  </a:solidFill>
                  <a:latin typeface="Century Gothic" panose="020B0502020202020204" pitchFamily="34" charset="0"/>
                </a:rPr>
                <a:t>Bipartite Graph</a:t>
              </a:r>
            </a:p>
            <a:p>
              <a:pPr algn="ctr"/>
              <a:r>
                <a:rPr lang="en-US" sz="1600" dirty="0">
                  <a:solidFill>
                    <a:schemeClr val="bg2"/>
                  </a:solidFill>
                  <a:latin typeface="Century Gothic" panose="020B0502020202020204" pitchFamily="34" charset="0"/>
                </a:rPr>
                <a:t>(semantic role classification)</a:t>
              </a:r>
            </a:p>
          </p:txBody>
        </p:sp>
        <p:sp>
          <p:nvSpPr>
            <p:cNvPr id="57" name="Rounded Rectangle 56">
              <a:extLst>
                <a:ext uri="{FF2B5EF4-FFF2-40B4-BE49-F238E27FC236}">
                  <a16:creationId xmlns:a16="http://schemas.microsoft.com/office/drawing/2014/main" xmlns="" id="{6A9CE85A-15E6-1A42-AECE-6A81D443BBDA}"/>
                </a:ext>
              </a:extLst>
            </p:cNvPr>
            <p:cNvSpPr/>
            <p:nvPr/>
          </p:nvSpPr>
          <p:spPr>
            <a:xfrm>
              <a:off x="2176100" y="5310754"/>
              <a:ext cx="1194577" cy="374571"/>
            </a:xfrm>
            <a:prstGeom prst="roundRect">
              <a:avLst/>
            </a:prstGeom>
            <a:noFill/>
            <a:ln>
              <a:noFill/>
            </a:ln>
          </p:spPr>
          <p:txBody>
            <a:bodyPr wrap="none">
              <a:spAutoFit/>
            </a:bodyPr>
            <a:lstStyle/>
            <a:p>
              <a:pPr algn="ctr"/>
              <a:r>
                <a:rPr lang="en-US" sz="1600" dirty="0">
                  <a:solidFill>
                    <a:schemeClr val="accent2">
                      <a:lumMod val="60000"/>
                      <a:lumOff val="40000"/>
                    </a:schemeClr>
                  </a:solidFill>
                  <a:latin typeface="Century Gothic" panose="020B0502020202020204" pitchFamily="34" charset="0"/>
                </a:rPr>
                <a:t>complete</a:t>
              </a:r>
            </a:p>
          </p:txBody>
        </p:sp>
        <p:sp>
          <p:nvSpPr>
            <p:cNvPr id="58" name="Rounded Rectangle 57">
              <a:extLst>
                <a:ext uri="{FF2B5EF4-FFF2-40B4-BE49-F238E27FC236}">
                  <a16:creationId xmlns:a16="http://schemas.microsoft.com/office/drawing/2014/main" xmlns="" id="{43C6DA58-8AA4-D144-AC63-426C47572F62}"/>
                </a:ext>
              </a:extLst>
            </p:cNvPr>
            <p:cNvSpPr/>
            <p:nvPr/>
          </p:nvSpPr>
          <p:spPr>
            <a:xfrm>
              <a:off x="1442226" y="4929688"/>
              <a:ext cx="849491" cy="374571"/>
            </a:xfrm>
            <a:prstGeom prst="roundRect">
              <a:avLst/>
            </a:prstGeom>
            <a:noFill/>
            <a:ln>
              <a:noFill/>
            </a:ln>
          </p:spPr>
          <p:txBody>
            <a:bodyPr wrap="none">
              <a:spAutoFit/>
            </a:bodyPr>
            <a:lstStyle/>
            <a:p>
              <a:pPr algn="ctr"/>
              <a:r>
                <a:rPr lang="en-US" sz="1600" dirty="0">
                  <a:solidFill>
                    <a:schemeClr val="accent2">
                      <a:lumMod val="60000"/>
                      <a:lumOff val="40000"/>
                    </a:schemeClr>
                  </a:solidFill>
                  <a:latin typeface="Century Gothic" panose="020B0502020202020204" pitchFamily="34" charset="0"/>
                </a:rPr>
                <a:t>partial</a:t>
              </a:r>
            </a:p>
          </p:txBody>
        </p:sp>
      </p:grpSp>
      <p:grpSp>
        <p:nvGrpSpPr>
          <p:cNvPr id="39" name="Group 38">
            <a:extLst>
              <a:ext uri="{FF2B5EF4-FFF2-40B4-BE49-F238E27FC236}">
                <a16:creationId xmlns:a16="http://schemas.microsoft.com/office/drawing/2014/main" xmlns="" id="{F48AC4AF-A6AE-EE4D-A2B1-19E90AED9792}"/>
              </a:ext>
            </a:extLst>
          </p:cNvPr>
          <p:cNvGrpSpPr/>
          <p:nvPr/>
        </p:nvGrpSpPr>
        <p:grpSpPr>
          <a:xfrm>
            <a:off x="4827730" y="1081522"/>
            <a:ext cx="3714624" cy="2739979"/>
            <a:chOff x="4842335" y="4118021"/>
            <a:chExt cx="3714624" cy="2739979"/>
          </a:xfrm>
        </p:grpSpPr>
        <p:grpSp>
          <p:nvGrpSpPr>
            <p:cNvPr id="15" name="Group 14">
              <a:extLst>
                <a:ext uri="{FF2B5EF4-FFF2-40B4-BE49-F238E27FC236}">
                  <a16:creationId xmlns:a16="http://schemas.microsoft.com/office/drawing/2014/main" xmlns="" id="{B0231E2F-F26F-A447-AFE8-60D4359CA55A}"/>
                </a:ext>
              </a:extLst>
            </p:cNvPr>
            <p:cNvGrpSpPr/>
            <p:nvPr/>
          </p:nvGrpSpPr>
          <p:grpSpPr>
            <a:xfrm>
              <a:off x="4842335" y="4480641"/>
              <a:ext cx="3714624" cy="2377359"/>
              <a:chOff x="4842335" y="4480641"/>
              <a:chExt cx="3714624" cy="2377359"/>
            </a:xfrm>
          </p:grpSpPr>
          <p:pic>
            <p:nvPicPr>
              <p:cNvPr id="26" name="Picture 25">
                <a:extLst>
                  <a:ext uri="{FF2B5EF4-FFF2-40B4-BE49-F238E27FC236}">
                    <a16:creationId xmlns:a16="http://schemas.microsoft.com/office/drawing/2014/main" xmlns="" id="{078AE6BA-63AA-BA4D-8AE0-469AE21C4BC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842335" y="4480641"/>
                <a:ext cx="3714624" cy="2377359"/>
              </a:xfrm>
              <a:prstGeom prst="rect">
                <a:avLst/>
              </a:prstGeom>
            </p:spPr>
          </p:pic>
          <p:grpSp>
            <p:nvGrpSpPr>
              <p:cNvPr id="14" name="Group 13">
                <a:extLst>
                  <a:ext uri="{FF2B5EF4-FFF2-40B4-BE49-F238E27FC236}">
                    <a16:creationId xmlns:a16="http://schemas.microsoft.com/office/drawing/2014/main" xmlns="" id="{F891C167-AAEC-4147-ACC2-85971EE96991}"/>
                  </a:ext>
                </a:extLst>
              </p:cNvPr>
              <p:cNvGrpSpPr/>
              <p:nvPr/>
            </p:nvGrpSpPr>
            <p:grpSpPr>
              <a:xfrm>
                <a:off x="7481271" y="5942188"/>
                <a:ext cx="824529" cy="398324"/>
                <a:chOff x="7481271" y="5942188"/>
                <a:chExt cx="824529" cy="398324"/>
              </a:xfrm>
            </p:grpSpPr>
            <p:sp>
              <p:nvSpPr>
                <p:cNvPr id="21" name="Rectangle 20">
                  <a:extLst>
                    <a:ext uri="{FF2B5EF4-FFF2-40B4-BE49-F238E27FC236}">
                      <a16:creationId xmlns:a16="http://schemas.microsoft.com/office/drawing/2014/main" xmlns="" id="{07E8C7A3-BB27-C746-8E08-1770B48DB17E}"/>
                    </a:ext>
                  </a:extLst>
                </p:cNvPr>
                <p:cNvSpPr/>
                <p:nvPr/>
              </p:nvSpPr>
              <p:spPr>
                <a:xfrm>
                  <a:off x="7567032" y="5990664"/>
                  <a:ext cx="738768" cy="333936"/>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xmlns="" id="{ADD22471-6DDC-7047-B0AF-2630139465C0}"/>
                    </a:ext>
                  </a:extLst>
                </p:cNvPr>
                <p:cNvGrpSpPr/>
                <p:nvPr/>
              </p:nvGrpSpPr>
              <p:grpSpPr>
                <a:xfrm>
                  <a:off x="7481271" y="5942188"/>
                  <a:ext cx="675185" cy="398324"/>
                  <a:chOff x="7481271" y="5942188"/>
                  <a:chExt cx="675185" cy="398324"/>
                </a:xfrm>
              </p:grpSpPr>
              <p:sp>
                <p:nvSpPr>
                  <p:cNvPr id="22" name="TextBox 21">
                    <a:extLst>
                      <a:ext uri="{FF2B5EF4-FFF2-40B4-BE49-F238E27FC236}">
                        <a16:creationId xmlns:a16="http://schemas.microsoft.com/office/drawing/2014/main" xmlns="" id="{65DB917E-0A2A-1240-BE16-DB48180D67F4}"/>
                      </a:ext>
                    </a:extLst>
                  </p:cNvPr>
                  <p:cNvSpPr txBox="1"/>
                  <p:nvPr/>
                </p:nvSpPr>
                <p:spPr>
                  <a:xfrm>
                    <a:off x="7481271" y="5942188"/>
                    <a:ext cx="675185" cy="215444"/>
                  </a:xfrm>
                  <a:prstGeom prst="rect">
                    <a:avLst/>
                  </a:prstGeom>
                  <a:noFill/>
                </p:spPr>
                <p:txBody>
                  <a:bodyPr wrap="none" rtlCol="0">
                    <a:spAutoFit/>
                  </a:bodyPr>
                  <a:lstStyle/>
                  <a:p>
                    <a:r>
                      <a:rPr lang="en-US" sz="800" dirty="0">
                        <a:solidFill>
                          <a:schemeClr val="bg2"/>
                        </a:solidFill>
                        <a:latin typeface="Century Gothic" panose="020B0502020202020204" pitchFamily="34" charset="0"/>
                      </a:rPr>
                      <a:t>complete</a:t>
                    </a:r>
                  </a:p>
                </p:txBody>
              </p:sp>
              <p:sp>
                <p:nvSpPr>
                  <p:cNvPr id="23" name="TextBox 22">
                    <a:extLst>
                      <a:ext uri="{FF2B5EF4-FFF2-40B4-BE49-F238E27FC236}">
                        <a16:creationId xmlns:a16="http://schemas.microsoft.com/office/drawing/2014/main" xmlns="" id="{761127DE-CE7E-974A-A6C9-BC1E6F1CB3AA}"/>
                      </a:ext>
                    </a:extLst>
                  </p:cNvPr>
                  <p:cNvSpPr txBox="1"/>
                  <p:nvPr/>
                </p:nvSpPr>
                <p:spPr>
                  <a:xfrm>
                    <a:off x="7481271" y="6125068"/>
                    <a:ext cx="503664" cy="215444"/>
                  </a:xfrm>
                  <a:prstGeom prst="rect">
                    <a:avLst/>
                  </a:prstGeom>
                  <a:noFill/>
                </p:spPr>
                <p:txBody>
                  <a:bodyPr wrap="none" rtlCol="0">
                    <a:spAutoFit/>
                  </a:bodyPr>
                  <a:lstStyle/>
                  <a:p>
                    <a:r>
                      <a:rPr lang="en-US" sz="800" dirty="0">
                        <a:solidFill>
                          <a:schemeClr val="bg2"/>
                        </a:solidFill>
                        <a:latin typeface="Century Gothic" panose="020B0502020202020204" pitchFamily="34" charset="0"/>
                      </a:rPr>
                      <a:t>partial</a:t>
                    </a:r>
                  </a:p>
                </p:txBody>
              </p:sp>
            </p:grpSp>
          </p:grpSp>
        </p:grpSp>
        <p:sp>
          <p:nvSpPr>
            <p:cNvPr id="28" name="Rounded Rectangle 27"/>
            <p:cNvSpPr/>
            <p:nvPr/>
          </p:nvSpPr>
          <p:spPr>
            <a:xfrm>
              <a:off x="6166078" y="4118021"/>
              <a:ext cx="1478865" cy="646986"/>
            </a:xfrm>
            <a:prstGeom prst="roundRect">
              <a:avLst/>
            </a:prstGeom>
            <a:solidFill>
              <a:srgbClr val="7030A0"/>
            </a:solidFill>
            <a:ln>
              <a:noFill/>
            </a:ln>
          </p:spPr>
          <p:txBody>
            <a:bodyPr wrap="none">
              <a:spAutoFit/>
            </a:bodyPr>
            <a:lstStyle/>
            <a:p>
              <a:pPr algn="ctr"/>
              <a:r>
                <a:rPr lang="en-US" sz="1600" dirty="0" err="1">
                  <a:latin typeface="Century Gothic" panose="020B0502020202020204" pitchFamily="34" charset="0"/>
                </a:rPr>
                <a:t>Seq</a:t>
              </a:r>
              <a:r>
                <a:rPr lang="en-US" sz="1600" dirty="0">
                  <a:latin typeface="Century Gothic" panose="020B0502020202020204" pitchFamily="34" charset="0"/>
                </a:rPr>
                <a:t> Tagging</a:t>
              </a:r>
            </a:p>
            <a:p>
              <a:pPr algn="ctr"/>
              <a:r>
                <a:rPr lang="en-US" sz="1600" dirty="0">
                  <a:latin typeface="Century Gothic" panose="020B0502020202020204" pitchFamily="34" charset="0"/>
                </a:rPr>
                <a:t>(chunking)</a:t>
              </a:r>
            </a:p>
          </p:txBody>
        </p:sp>
        <p:sp>
          <p:nvSpPr>
            <p:cNvPr id="55" name="Rounded Rectangle 54">
              <a:extLst>
                <a:ext uri="{FF2B5EF4-FFF2-40B4-BE49-F238E27FC236}">
                  <a16:creationId xmlns:a16="http://schemas.microsoft.com/office/drawing/2014/main" xmlns="" id="{73F7F090-46DA-6E40-B6B3-83E47CC04CFC}"/>
                </a:ext>
              </a:extLst>
            </p:cNvPr>
            <p:cNvSpPr/>
            <p:nvPr/>
          </p:nvSpPr>
          <p:spPr>
            <a:xfrm>
              <a:off x="6551226" y="5285105"/>
              <a:ext cx="1194577" cy="374571"/>
            </a:xfrm>
            <a:prstGeom prst="roundRect">
              <a:avLst/>
            </a:prstGeom>
            <a:noFill/>
            <a:ln>
              <a:noFill/>
            </a:ln>
          </p:spPr>
          <p:txBody>
            <a:bodyPr wrap="none">
              <a:spAutoFit/>
            </a:bodyPr>
            <a:lstStyle/>
            <a:p>
              <a:pPr algn="ctr"/>
              <a:r>
                <a:rPr lang="en-US" sz="1600" dirty="0">
                  <a:solidFill>
                    <a:srgbClr val="7030A0"/>
                  </a:solidFill>
                  <a:latin typeface="Century Gothic" panose="020B0502020202020204" pitchFamily="34" charset="0"/>
                </a:rPr>
                <a:t>complete</a:t>
              </a:r>
            </a:p>
          </p:txBody>
        </p:sp>
        <p:sp>
          <p:nvSpPr>
            <p:cNvPr id="56" name="Rounded Rectangle 55">
              <a:extLst>
                <a:ext uri="{FF2B5EF4-FFF2-40B4-BE49-F238E27FC236}">
                  <a16:creationId xmlns:a16="http://schemas.microsoft.com/office/drawing/2014/main" xmlns="" id="{21E5156C-E8E3-C44C-AB2E-5FCF68A0C523}"/>
                </a:ext>
              </a:extLst>
            </p:cNvPr>
            <p:cNvSpPr/>
            <p:nvPr/>
          </p:nvSpPr>
          <p:spPr>
            <a:xfrm>
              <a:off x="5742534" y="4969042"/>
              <a:ext cx="849491" cy="374571"/>
            </a:xfrm>
            <a:prstGeom prst="roundRect">
              <a:avLst/>
            </a:prstGeom>
            <a:noFill/>
            <a:ln>
              <a:noFill/>
            </a:ln>
          </p:spPr>
          <p:txBody>
            <a:bodyPr wrap="none">
              <a:spAutoFit/>
            </a:bodyPr>
            <a:lstStyle/>
            <a:p>
              <a:pPr algn="ctr"/>
              <a:r>
                <a:rPr lang="en-US" sz="1600" dirty="0">
                  <a:solidFill>
                    <a:srgbClr val="7030A0"/>
                  </a:solidFill>
                  <a:latin typeface="Century Gothic" panose="020B0502020202020204" pitchFamily="34" charset="0"/>
                </a:rPr>
                <a:t>partial</a:t>
              </a:r>
            </a:p>
          </p:txBody>
        </p:sp>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xmlns="" id="{7EFBE39C-4DE3-4D40-87B0-D2573F225295}"/>
                  </a:ext>
                </a:extLst>
              </p:cNvPr>
              <p:cNvSpPr txBox="1"/>
              <p:nvPr/>
            </p:nvSpPr>
            <p:spPr>
              <a:xfrm>
                <a:off x="268229" y="250705"/>
                <a:ext cx="7888227" cy="461665"/>
              </a:xfrm>
              <a:prstGeom prst="rect">
                <a:avLst/>
              </a:prstGeom>
              <a:noFill/>
            </p:spPr>
            <p:txBody>
              <a:bodyPr wrap="square" rtlCol="0">
                <a:spAutoFit/>
              </a:bodyPr>
              <a:lstStyle/>
              <a:p>
                <a:r>
                  <a:rPr lang="en-US" sz="2400" dirty="0">
                    <a:solidFill>
                      <a:schemeClr val="bg2"/>
                    </a:solidFill>
                    <a:latin typeface="Century Gothic" panose="020B0502020202020204" pitchFamily="34" charset="0"/>
                  </a:rPr>
                  <a:t>The more concave </a:t>
                </a:r>
                <a14:m>
                  <m:oMath xmlns:m="http://schemas.openxmlformats.org/officeDocument/2006/math">
                    <m:sSub>
                      <m:sSubPr>
                        <m:ctrlPr>
                          <a:rPr lang="en-US" sz="2400" i="1" smtClean="0">
                            <a:solidFill>
                              <a:schemeClr val="bg2"/>
                            </a:solidFill>
                            <a:latin typeface="Cambria Math" charset="0"/>
                          </a:rPr>
                        </m:ctrlPr>
                      </m:sSubPr>
                      <m:e>
                        <m:r>
                          <a:rPr lang="en-US" sz="2400">
                            <a:solidFill>
                              <a:schemeClr val="bg2"/>
                            </a:solidFill>
                            <a:latin typeface="Cambria Math" panose="02040503050406030204" pitchFamily="18" charset="0"/>
                          </a:rPr>
                          <m:t>𝐼</m:t>
                        </m:r>
                      </m:e>
                      <m:sub>
                        <m:r>
                          <a:rPr lang="en-US" sz="2400">
                            <a:solidFill>
                              <a:schemeClr val="bg2"/>
                            </a:solidFill>
                            <a:latin typeface="Cambria Math" panose="02040503050406030204" pitchFamily="18" charset="0"/>
                          </a:rPr>
                          <m:t>𝑘</m:t>
                        </m:r>
                      </m:sub>
                    </m:sSub>
                  </m:oMath>
                </a14:m>
                <a:r>
                  <a:rPr lang="en-US" sz="2400" dirty="0">
                    <a:solidFill>
                      <a:schemeClr val="bg2"/>
                    </a:solidFill>
                  </a:rPr>
                  <a:t> </a:t>
                </a:r>
                <a:r>
                  <a:rPr lang="en-US" sz="2400" dirty="0">
                    <a:solidFill>
                      <a:schemeClr val="bg2"/>
                    </a:solidFill>
                    <a:latin typeface="Century Gothic" panose="020B0502020202020204" pitchFamily="34" charset="0"/>
                  </a:rPr>
                  <a:t>is, more benefit partial brings!</a:t>
                </a:r>
              </a:p>
            </p:txBody>
          </p:sp>
        </mc:Choice>
        <mc:Fallback xmlns="">
          <p:sp>
            <p:nvSpPr>
              <p:cNvPr id="45" name="TextBox 44">
                <a:extLst>
                  <a:ext uri="{FF2B5EF4-FFF2-40B4-BE49-F238E27FC236}">
                    <a16:creationId xmlns:a16="http://schemas.microsoft.com/office/drawing/2014/main" id="{7EFBE39C-4DE3-4D40-87B0-D2573F225295}"/>
                  </a:ext>
                </a:extLst>
              </p:cNvPr>
              <p:cNvSpPr txBox="1">
                <a:spLocks noRot="1" noChangeAspect="1" noMove="1" noResize="1" noEditPoints="1" noAdjustHandles="1" noChangeArrowheads="1" noChangeShapeType="1" noTextEdit="1"/>
              </p:cNvSpPr>
              <p:nvPr/>
            </p:nvSpPr>
            <p:spPr>
              <a:xfrm>
                <a:off x="268229" y="250705"/>
                <a:ext cx="7888227" cy="461665"/>
              </a:xfrm>
              <a:prstGeom prst="rect">
                <a:avLst/>
              </a:prstGeom>
              <a:blipFill>
                <a:blip r:embed="rId6"/>
                <a:stretch>
                  <a:fillRect l="-1125" t="-10811" b="-27027"/>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xmlns="" id="{DFF5462A-1528-7245-A685-F62BB69BAD23}"/>
              </a:ext>
            </a:extLst>
          </p:cNvPr>
          <p:cNvGrpSpPr/>
          <p:nvPr/>
        </p:nvGrpSpPr>
        <p:grpSpPr>
          <a:xfrm>
            <a:off x="971167" y="1207143"/>
            <a:ext cx="3350017" cy="2799092"/>
            <a:chOff x="5005896" y="1420585"/>
            <a:chExt cx="4138104" cy="3457575"/>
          </a:xfrm>
        </p:grpSpPr>
        <p:grpSp>
          <p:nvGrpSpPr>
            <p:cNvPr id="47" name="Group 46">
              <a:extLst>
                <a:ext uri="{FF2B5EF4-FFF2-40B4-BE49-F238E27FC236}">
                  <a16:creationId xmlns:a16="http://schemas.microsoft.com/office/drawing/2014/main" xmlns="" id="{A32DCF11-FACB-E640-BFC7-4A9936B110CF}"/>
                </a:ext>
              </a:extLst>
            </p:cNvPr>
            <p:cNvGrpSpPr/>
            <p:nvPr/>
          </p:nvGrpSpPr>
          <p:grpSpPr>
            <a:xfrm>
              <a:off x="5005896" y="1420585"/>
              <a:ext cx="4138104" cy="3457575"/>
              <a:chOff x="5005896" y="1420585"/>
              <a:chExt cx="4138104" cy="3457575"/>
            </a:xfrm>
          </p:grpSpPr>
          <p:pic>
            <p:nvPicPr>
              <p:cNvPr id="51" name="Picture 50">
                <a:extLst>
                  <a:ext uri="{FF2B5EF4-FFF2-40B4-BE49-F238E27FC236}">
                    <a16:creationId xmlns:a16="http://schemas.microsoft.com/office/drawing/2014/main" xmlns="" id="{26EA512C-BEA0-CA4F-895A-532F9DD64ED3}"/>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005896" y="1420585"/>
                <a:ext cx="4138104" cy="3457575"/>
              </a:xfrm>
              <a:prstGeom prst="rect">
                <a:avLst/>
              </a:prstGeom>
            </p:spPr>
          </p:pic>
          <p:grpSp>
            <p:nvGrpSpPr>
              <p:cNvPr id="52" name="Group 51">
                <a:extLst>
                  <a:ext uri="{FF2B5EF4-FFF2-40B4-BE49-F238E27FC236}">
                    <a16:creationId xmlns:a16="http://schemas.microsoft.com/office/drawing/2014/main" xmlns="" id="{38DBC46E-FA4D-1F4A-9826-626B4BF32CD6}"/>
                  </a:ext>
                </a:extLst>
              </p:cNvPr>
              <p:cNvGrpSpPr/>
              <p:nvPr/>
            </p:nvGrpSpPr>
            <p:grpSpPr>
              <a:xfrm>
                <a:off x="5193845" y="1433702"/>
                <a:ext cx="3762204" cy="269913"/>
                <a:chOff x="5193845" y="1433702"/>
                <a:chExt cx="3762204" cy="269913"/>
              </a:xfrm>
            </p:grpSpPr>
            <p:sp>
              <p:nvSpPr>
                <p:cNvPr id="53" name="Rectangle 52">
                  <a:extLst>
                    <a:ext uri="{FF2B5EF4-FFF2-40B4-BE49-F238E27FC236}">
                      <a16:creationId xmlns:a16="http://schemas.microsoft.com/office/drawing/2014/main" xmlns="" id="{4E3613E6-42F1-2548-A90B-0B5BDBF2D94E}"/>
                    </a:ext>
                  </a:extLst>
                </p:cNvPr>
                <p:cNvSpPr/>
                <p:nvPr/>
              </p:nvSpPr>
              <p:spPr>
                <a:xfrm>
                  <a:off x="6122448" y="1447800"/>
                  <a:ext cx="1905000" cy="255815"/>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xmlns="" id="{80531B37-B4D4-F54A-ADAC-31D9B4246127}"/>
                        </a:ext>
                      </a:extLst>
                    </p:cNvPr>
                    <p:cNvSpPr txBox="1"/>
                    <p:nvPr/>
                  </p:nvSpPr>
                  <p:spPr>
                    <a:xfrm>
                      <a:off x="5193845" y="1433702"/>
                      <a:ext cx="3762204" cy="2281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200" b="1" i="1">
                                    <a:solidFill>
                                      <a:schemeClr val="bg2">
                                        <a:lumMod val="75000"/>
                                        <a:lumOff val="25000"/>
                                      </a:schemeClr>
                                    </a:solidFill>
                                    <a:latin typeface="Cambria Math" charset="0"/>
                                  </a:rPr>
                                </m:ctrlPr>
                              </m:sSubPr>
                              <m:e>
                                <m:r>
                                  <a:rPr lang="en-US" sz="1200" b="1" i="1">
                                    <a:solidFill>
                                      <a:schemeClr val="bg2">
                                        <a:lumMod val="75000"/>
                                        <a:lumOff val="25000"/>
                                      </a:schemeClr>
                                    </a:solidFill>
                                    <a:latin typeface="Cambria Math" panose="02040503050406030204" pitchFamily="18" charset="0"/>
                                  </a:rPr>
                                  <m:t>𝜟</m:t>
                                </m:r>
                              </m:e>
                              <m:sub>
                                <m:r>
                                  <a:rPr lang="en-US" sz="1200" b="1" i="1">
                                    <a:solidFill>
                                      <a:schemeClr val="bg2">
                                        <a:lumMod val="75000"/>
                                        <a:lumOff val="25000"/>
                                      </a:schemeClr>
                                    </a:solidFill>
                                    <a:latin typeface="Cambria Math" charset="0"/>
                                  </a:rPr>
                                  <m:t>𝒌</m:t>
                                </m:r>
                              </m:sub>
                            </m:sSub>
                            <m:r>
                              <a:rPr lang="en-US" sz="1200" b="1" i="1">
                                <a:solidFill>
                                  <a:schemeClr val="bg2">
                                    <a:lumMod val="75000"/>
                                    <a:lumOff val="25000"/>
                                  </a:schemeClr>
                                </a:solidFill>
                                <a:latin typeface="Cambria Math" panose="02040503050406030204" pitchFamily="18" charset="0"/>
                              </a:rPr>
                              <m:t>=</m:t>
                            </m:r>
                            <m:sSub>
                              <m:sSubPr>
                                <m:ctrlPr>
                                  <a:rPr lang="en-US" sz="1200" b="1" i="1">
                                    <a:solidFill>
                                      <a:schemeClr val="bg2">
                                        <a:lumMod val="75000"/>
                                        <a:lumOff val="25000"/>
                                      </a:schemeClr>
                                    </a:solidFill>
                                    <a:latin typeface="Cambria Math" charset="0"/>
                                  </a:rPr>
                                </m:ctrlPr>
                              </m:sSubPr>
                              <m:e>
                                <m:r>
                                  <a:rPr lang="en-US" sz="1200" b="1" i="1">
                                    <a:solidFill>
                                      <a:schemeClr val="bg2">
                                        <a:lumMod val="75000"/>
                                        <a:lumOff val="25000"/>
                                      </a:schemeClr>
                                    </a:solidFill>
                                    <a:latin typeface="Cambria Math" panose="02040503050406030204" pitchFamily="18" charset="0"/>
                                  </a:rPr>
                                  <m:t>𝑰</m:t>
                                </m:r>
                              </m:e>
                              <m:sub>
                                <m:r>
                                  <a:rPr lang="en-US" sz="1200" b="1" i="1">
                                    <a:solidFill>
                                      <a:schemeClr val="bg2">
                                        <a:lumMod val="75000"/>
                                        <a:lumOff val="25000"/>
                                      </a:schemeClr>
                                    </a:solidFill>
                                    <a:latin typeface="Cambria Math" panose="02040503050406030204" pitchFamily="18" charset="0"/>
                                  </a:rPr>
                                  <m:t>𝒌</m:t>
                                </m:r>
                              </m:sub>
                            </m:sSub>
                            <m:r>
                              <a:rPr lang="en-US" sz="1200" b="1" i="1">
                                <a:solidFill>
                                  <a:schemeClr val="bg2">
                                    <a:lumMod val="75000"/>
                                    <a:lumOff val="25000"/>
                                  </a:schemeClr>
                                </a:solidFill>
                                <a:latin typeface="Cambria Math" panose="02040503050406030204" pitchFamily="18" charset="0"/>
                              </a:rPr>
                              <m:t>−</m:t>
                            </m:r>
                            <m:sSub>
                              <m:sSubPr>
                                <m:ctrlPr>
                                  <a:rPr lang="en-US" sz="1200" b="1" i="1">
                                    <a:solidFill>
                                      <a:schemeClr val="bg2">
                                        <a:lumMod val="75000"/>
                                        <a:lumOff val="25000"/>
                                      </a:schemeClr>
                                    </a:solidFill>
                                    <a:latin typeface="Cambria Math" charset="0"/>
                                  </a:rPr>
                                </m:ctrlPr>
                              </m:sSubPr>
                              <m:e>
                                <m:r>
                                  <a:rPr lang="en-US" sz="1200" b="1" i="1">
                                    <a:solidFill>
                                      <a:schemeClr val="bg2">
                                        <a:lumMod val="75000"/>
                                        <a:lumOff val="25000"/>
                                      </a:schemeClr>
                                    </a:solidFill>
                                    <a:latin typeface="Cambria Math" panose="02040503050406030204" pitchFamily="18" charset="0"/>
                                  </a:rPr>
                                  <m:t>𝑰</m:t>
                                </m:r>
                              </m:e>
                              <m:sub>
                                <m:r>
                                  <a:rPr lang="en-US" sz="1200" b="1" i="1">
                                    <a:solidFill>
                                      <a:schemeClr val="bg2">
                                        <a:lumMod val="75000"/>
                                        <a:lumOff val="25000"/>
                                      </a:schemeClr>
                                    </a:solidFill>
                                    <a:latin typeface="Cambria Math" panose="02040503050406030204" pitchFamily="18" charset="0"/>
                                  </a:rPr>
                                  <m:t>𝒌</m:t>
                                </m:r>
                                <m:r>
                                  <a:rPr lang="en-US" sz="1200" b="1" i="1">
                                    <a:solidFill>
                                      <a:schemeClr val="bg2">
                                        <a:lumMod val="75000"/>
                                        <a:lumOff val="25000"/>
                                      </a:schemeClr>
                                    </a:solidFill>
                                    <a:latin typeface="Cambria Math" panose="02040503050406030204" pitchFamily="18" charset="0"/>
                                  </a:rPr>
                                  <m:t>−</m:t>
                                </m:r>
                                <m:r>
                                  <a:rPr lang="en-US" sz="1200" b="1" i="1">
                                    <a:solidFill>
                                      <a:schemeClr val="bg2">
                                        <a:lumMod val="75000"/>
                                        <a:lumOff val="25000"/>
                                      </a:schemeClr>
                                    </a:solidFill>
                                    <a:latin typeface="Cambria Math" panose="02040503050406030204" pitchFamily="18" charset="0"/>
                                  </a:rPr>
                                  <m:t>𝟏</m:t>
                                </m:r>
                              </m:sub>
                            </m:sSub>
                            <m:r>
                              <a:rPr lang="en-US" sz="1200" b="1" i="1">
                                <a:solidFill>
                                  <a:schemeClr val="bg2">
                                    <a:lumMod val="75000"/>
                                    <a:lumOff val="25000"/>
                                  </a:schemeClr>
                                </a:solidFill>
                                <a:latin typeface="Cambria Math" panose="02040503050406030204" pitchFamily="18" charset="0"/>
                              </a:rPr>
                              <m:t> </m:t>
                            </m:r>
                            <m:r>
                              <m:rPr>
                                <m:nor/>
                              </m:rPr>
                              <a:rPr lang="en-US" sz="1200" b="1" dirty="0">
                                <a:solidFill>
                                  <a:schemeClr val="bg2">
                                    <a:lumMod val="75000"/>
                                    <a:lumOff val="25000"/>
                                  </a:schemeClr>
                                </a:solidFill>
                                <a:latin typeface="Century Gothic" panose="020B0502020202020204" pitchFamily="34" charset="0"/>
                              </a:rPr>
                              <m:t>: </m:t>
                            </m:r>
                            <m:r>
                              <m:rPr>
                                <m:nor/>
                              </m:rPr>
                              <a:rPr lang="en-US" sz="1200" b="1" dirty="0">
                                <a:solidFill>
                                  <a:schemeClr val="bg2">
                                    <a:lumMod val="75000"/>
                                    <a:lumOff val="25000"/>
                                  </a:schemeClr>
                                </a:solidFill>
                                <a:latin typeface="Century Gothic" panose="020B0502020202020204" pitchFamily="34" charset="0"/>
                              </a:rPr>
                              <m:t>The</m:t>
                            </m:r>
                            <m:r>
                              <m:rPr>
                                <m:nor/>
                              </m:rPr>
                              <a:rPr lang="en-US" sz="1200" b="1" dirty="0">
                                <a:solidFill>
                                  <a:schemeClr val="bg2">
                                    <a:lumMod val="75000"/>
                                    <a:lumOff val="25000"/>
                                  </a:schemeClr>
                                </a:solidFill>
                                <a:latin typeface="Century Gothic" panose="020B0502020202020204" pitchFamily="34" charset="0"/>
                              </a:rPr>
                              <m:t> </m:t>
                            </m:r>
                            <m:r>
                              <m:rPr>
                                <m:nor/>
                              </m:rPr>
                              <a:rPr lang="en-US" sz="1200" b="1" dirty="0">
                                <a:solidFill>
                                  <a:schemeClr val="bg2">
                                    <a:lumMod val="75000"/>
                                    <a:lumOff val="25000"/>
                                  </a:schemeClr>
                                </a:solidFill>
                                <a:latin typeface="Century Gothic" panose="020B0502020202020204" pitchFamily="34" charset="0"/>
                              </a:rPr>
                              <m:t>benefit</m:t>
                            </m:r>
                            <m:r>
                              <m:rPr>
                                <m:nor/>
                              </m:rPr>
                              <a:rPr lang="en-US" sz="1200" b="1" dirty="0">
                                <a:solidFill>
                                  <a:schemeClr val="bg2">
                                    <a:lumMod val="75000"/>
                                    <a:lumOff val="25000"/>
                                  </a:schemeClr>
                                </a:solidFill>
                                <a:latin typeface="Century Gothic" panose="020B0502020202020204" pitchFamily="34" charset="0"/>
                              </a:rPr>
                              <m:t> </m:t>
                            </m:r>
                            <m:r>
                              <m:rPr>
                                <m:nor/>
                              </m:rPr>
                              <a:rPr lang="en-US" sz="1200" b="1" dirty="0">
                                <a:solidFill>
                                  <a:schemeClr val="bg2">
                                    <a:lumMod val="75000"/>
                                    <a:lumOff val="25000"/>
                                  </a:schemeClr>
                                </a:solidFill>
                                <a:latin typeface="Century Gothic" panose="020B0502020202020204" pitchFamily="34" charset="0"/>
                              </a:rPr>
                              <m:t>of</m:t>
                            </m:r>
                            <m:r>
                              <m:rPr>
                                <m:nor/>
                              </m:rPr>
                              <a:rPr lang="en-US" sz="1200" b="1" dirty="0">
                                <a:solidFill>
                                  <a:schemeClr val="bg2">
                                    <a:lumMod val="75000"/>
                                    <a:lumOff val="25000"/>
                                  </a:schemeClr>
                                </a:solidFill>
                                <a:latin typeface="Century Gothic" panose="020B0502020202020204" pitchFamily="34" charset="0"/>
                              </a:rPr>
                              <m:t> </m:t>
                            </m:r>
                            <m:r>
                              <m:rPr>
                                <m:nor/>
                              </m:rPr>
                              <a:rPr lang="en-US" sz="1200" b="1" dirty="0">
                                <a:solidFill>
                                  <a:schemeClr val="bg2">
                                    <a:lumMod val="75000"/>
                                    <a:lumOff val="25000"/>
                                  </a:schemeClr>
                                </a:solidFill>
                                <a:latin typeface="Century Gothic" panose="020B0502020202020204" pitchFamily="34" charset="0"/>
                              </a:rPr>
                              <m:t>a</m:t>
                            </m:r>
                            <m:r>
                              <m:rPr>
                                <m:nor/>
                              </m:rPr>
                              <a:rPr lang="en-US" sz="1200" b="1" dirty="0">
                                <a:solidFill>
                                  <a:schemeClr val="bg2">
                                    <a:lumMod val="75000"/>
                                    <a:lumOff val="25000"/>
                                  </a:schemeClr>
                                </a:solidFill>
                                <a:latin typeface="Century Gothic" panose="020B0502020202020204" pitchFamily="34" charset="0"/>
                              </a:rPr>
                              <m:t> </m:t>
                            </m:r>
                            <m:r>
                              <m:rPr>
                                <m:nor/>
                              </m:rPr>
                              <a:rPr lang="en-US" sz="1200" b="1" dirty="0">
                                <a:solidFill>
                                  <a:schemeClr val="bg2">
                                    <a:lumMod val="75000"/>
                                    <a:lumOff val="25000"/>
                                  </a:schemeClr>
                                </a:solidFill>
                                <a:latin typeface="Century Gothic" panose="020B0502020202020204" pitchFamily="34" charset="0"/>
                              </a:rPr>
                              <m:t>new</m:t>
                            </m:r>
                            <m:r>
                              <m:rPr>
                                <m:nor/>
                              </m:rPr>
                              <a:rPr lang="en-US" sz="1200" b="1" dirty="0">
                                <a:solidFill>
                                  <a:schemeClr val="bg2">
                                    <a:lumMod val="75000"/>
                                    <a:lumOff val="25000"/>
                                  </a:schemeClr>
                                </a:solidFill>
                                <a:latin typeface="Century Gothic" panose="020B0502020202020204" pitchFamily="34" charset="0"/>
                              </a:rPr>
                              <m:t> </m:t>
                            </m:r>
                            <m:r>
                              <m:rPr>
                                <m:nor/>
                              </m:rPr>
                              <a:rPr lang="en-US" sz="1200" b="1" dirty="0">
                                <a:solidFill>
                                  <a:schemeClr val="bg2">
                                    <a:lumMod val="75000"/>
                                    <a:lumOff val="25000"/>
                                  </a:schemeClr>
                                </a:solidFill>
                                <a:latin typeface="Century Gothic" panose="020B0502020202020204" pitchFamily="34" charset="0"/>
                              </a:rPr>
                              <m:t>label</m:t>
                            </m:r>
                          </m:oMath>
                        </m:oMathPara>
                      </a14:m>
                      <a:endParaRPr lang="en-US" sz="1200" b="1" dirty="0">
                        <a:solidFill>
                          <a:schemeClr val="bg2">
                            <a:lumMod val="75000"/>
                            <a:lumOff val="25000"/>
                          </a:schemeClr>
                        </a:solidFill>
                        <a:latin typeface="Century Gothic" panose="020B0502020202020204" pitchFamily="34" charset="0"/>
                      </a:endParaRPr>
                    </a:p>
                  </p:txBody>
                </p:sp>
              </mc:Choice>
              <mc:Fallback xmlns="">
                <p:sp>
                  <p:nvSpPr>
                    <p:cNvPr id="54" name="TextBox 53">
                      <a:extLst>
                        <a:ext uri="{FF2B5EF4-FFF2-40B4-BE49-F238E27FC236}">
                          <a16:creationId xmlns:a16="http://schemas.microsoft.com/office/drawing/2014/main" id="{80531B37-B4D4-F54A-ADAC-31D9B4246127}"/>
                        </a:ext>
                      </a:extLst>
                    </p:cNvPr>
                    <p:cNvSpPr txBox="1">
                      <a:spLocks noRot="1" noChangeAspect="1" noMove="1" noResize="1" noEditPoints="1" noAdjustHandles="1" noChangeArrowheads="1" noChangeShapeType="1" noTextEdit="1"/>
                    </p:cNvSpPr>
                    <p:nvPr/>
                  </p:nvSpPr>
                  <p:spPr>
                    <a:xfrm>
                      <a:off x="5193845" y="1433702"/>
                      <a:ext cx="3762204" cy="228110"/>
                    </a:xfrm>
                    <a:prstGeom prst="rect">
                      <a:avLst/>
                    </a:prstGeom>
                    <a:blipFill>
                      <a:blip r:embed="rId8"/>
                      <a:stretch>
                        <a:fillRect l="-415" t="-20000" r="-415" b="-40000"/>
                      </a:stretch>
                    </a:blipFill>
                  </p:spPr>
                  <p:txBody>
                    <a:bodyPr/>
                    <a:lstStyle/>
                    <a:p>
                      <a:r>
                        <a:rPr lang="en-US">
                          <a:noFill/>
                        </a:rPr>
                        <a:t> </a:t>
                      </a:r>
                    </a:p>
                  </p:txBody>
                </p:sp>
              </mc:Fallback>
            </mc:AlternateContent>
          </p:grpSp>
        </p:grpSp>
        <p:grpSp>
          <p:nvGrpSpPr>
            <p:cNvPr id="48" name="Group 47">
              <a:extLst>
                <a:ext uri="{FF2B5EF4-FFF2-40B4-BE49-F238E27FC236}">
                  <a16:creationId xmlns:a16="http://schemas.microsoft.com/office/drawing/2014/main" xmlns="" id="{C37796DB-9845-8444-A548-483937D42ECD}"/>
                </a:ext>
              </a:extLst>
            </p:cNvPr>
            <p:cNvGrpSpPr/>
            <p:nvPr/>
          </p:nvGrpSpPr>
          <p:grpSpPr>
            <a:xfrm>
              <a:off x="5802703" y="3610024"/>
              <a:ext cx="1069057" cy="323154"/>
              <a:chOff x="5498046" y="4982879"/>
              <a:chExt cx="1146638" cy="323154"/>
            </a:xfrm>
          </p:grpSpPr>
          <p:sp>
            <p:nvSpPr>
              <p:cNvPr id="49" name="Rectangle 48">
                <a:extLst>
                  <a:ext uri="{FF2B5EF4-FFF2-40B4-BE49-F238E27FC236}">
                    <a16:creationId xmlns:a16="http://schemas.microsoft.com/office/drawing/2014/main" xmlns="" id="{0F8155C8-4E7D-1241-981D-AA3F85A42A3B}"/>
                  </a:ext>
                </a:extLst>
              </p:cNvPr>
              <p:cNvSpPr/>
              <p:nvPr/>
            </p:nvSpPr>
            <p:spPr>
              <a:xfrm>
                <a:off x="5498046" y="5053012"/>
                <a:ext cx="1131882" cy="221645"/>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xmlns="" id="{4384E00C-A328-0F4A-9F4F-E13952D4A642}"/>
                  </a:ext>
                </a:extLst>
              </p:cNvPr>
              <p:cNvSpPr txBox="1"/>
              <p:nvPr/>
            </p:nvSpPr>
            <p:spPr>
              <a:xfrm>
                <a:off x="5499529" y="4982879"/>
                <a:ext cx="1145155" cy="323154"/>
              </a:xfrm>
              <a:prstGeom prst="rect">
                <a:avLst/>
              </a:prstGeom>
              <a:noFill/>
            </p:spPr>
            <p:txBody>
              <a:bodyPr wrap="none" rtlCol="0">
                <a:spAutoFit/>
              </a:bodyPr>
              <a:lstStyle/>
              <a:p>
                <a:r>
                  <a:rPr lang="en-US" sz="1100" dirty="0" err="1">
                    <a:solidFill>
                      <a:srgbClr val="0C0C0C"/>
                    </a:solidFill>
                    <a:latin typeface="+mj-lt"/>
                    <a:cs typeface="Arial" panose="020B0604020202020204" pitchFamily="34" charset="0"/>
                  </a:rPr>
                  <a:t>Seq</a:t>
                </a:r>
                <a:r>
                  <a:rPr lang="en-US" sz="1100" dirty="0">
                    <a:solidFill>
                      <a:srgbClr val="0C0C0C"/>
                    </a:solidFill>
                    <a:latin typeface="+mj-lt"/>
                    <a:cs typeface="Arial" panose="020B0604020202020204" pitchFamily="34" charset="0"/>
                  </a:rPr>
                  <a:t> Tagging</a:t>
                </a:r>
              </a:p>
            </p:txBody>
          </p:sp>
        </p:grpSp>
      </p:grpSp>
      <p:grpSp>
        <p:nvGrpSpPr>
          <p:cNvPr id="41" name="Group 40">
            <a:extLst>
              <a:ext uri="{FF2B5EF4-FFF2-40B4-BE49-F238E27FC236}">
                <a16:creationId xmlns:a16="http://schemas.microsoft.com/office/drawing/2014/main" xmlns="" id="{D91040AE-B697-2F4E-9B91-5A77F99CBD31}"/>
              </a:ext>
            </a:extLst>
          </p:cNvPr>
          <p:cNvGrpSpPr/>
          <p:nvPr/>
        </p:nvGrpSpPr>
        <p:grpSpPr>
          <a:xfrm>
            <a:off x="0" y="2954165"/>
            <a:ext cx="1303562" cy="920822"/>
            <a:chOff x="2558490" y="2470993"/>
            <a:chExt cx="1303562" cy="920822"/>
          </a:xfrm>
        </p:grpSpPr>
        <p:cxnSp>
          <p:nvCxnSpPr>
            <p:cNvPr id="24" name="Straight Arrow Connector 23">
              <a:extLst>
                <a:ext uri="{FF2B5EF4-FFF2-40B4-BE49-F238E27FC236}">
                  <a16:creationId xmlns:a16="http://schemas.microsoft.com/office/drawing/2014/main" xmlns="" id="{94E03CB3-D02D-4A4A-A2CC-DAE816168857}"/>
                </a:ext>
              </a:extLst>
            </p:cNvPr>
            <p:cNvCxnSpPr>
              <a:cxnSpLocks/>
            </p:cNvCxnSpPr>
            <p:nvPr/>
          </p:nvCxnSpPr>
          <p:spPr>
            <a:xfrm>
              <a:off x="3512140" y="2470993"/>
              <a:ext cx="0" cy="663188"/>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xmlns="" id="{BD6BD1BD-C1CB-984F-AD03-50ED2294F849}"/>
                </a:ext>
              </a:extLst>
            </p:cNvPr>
            <p:cNvSpPr txBox="1"/>
            <p:nvPr/>
          </p:nvSpPr>
          <p:spPr>
            <a:xfrm>
              <a:off x="2558490" y="3114816"/>
              <a:ext cx="1303562" cy="276999"/>
            </a:xfrm>
            <a:prstGeom prst="rect">
              <a:avLst/>
            </a:prstGeom>
            <a:noFill/>
          </p:spPr>
          <p:txBody>
            <a:bodyPr wrap="none" rtlCol="0">
              <a:spAutoFit/>
            </a:bodyPr>
            <a:lstStyle/>
            <a:p>
              <a:r>
                <a:rPr lang="en-US" sz="1200">
                  <a:solidFill>
                    <a:schemeClr val="bg2"/>
                  </a:solidFill>
                  <a:latin typeface="Century Gothic" panose="020B0502020202020204" pitchFamily="34" charset="0"/>
                </a:rPr>
                <a:t>more </a:t>
              </a:r>
              <a:r>
                <a:rPr lang="en-US" sz="1200" dirty="0">
                  <a:solidFill>
                    <a:schemeClr val="bg2"/>
                  </a:solidFill>
                  <a:latin typeface="Century Gothic" panose="020B0502020202020204" pitchFamily="34" charset="0"/>
                </a:rPr>
                <a:t>concave</a:t>
              </a:r>
            </a:p>
          </p:txBody>
        </p:sp>
      </p:grpSp>
    </p:spTree>
    <p:extLst>
      <p:ext uri="{BB962C8B-B14F-4D97-AF65-F5344CB8AC3E}">
        <p14:creationId xmlns:p14="http://schemas.microsoft.com/office/powerpoint/2010/main" val="44927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up)">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wipe(left)">
                                      <p:cBhvr>
                                        <p:cTn id="1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p:cNvSpPr>
                <a:spLocks noGrp="1"/>
              </p:cNvSpPr>
              <p:nvPr>
                <p:ph type="title"/>
              </p:nvPr>
            </p:nvSpPr>
            <p:spPr/>
            <p:txBody>
              <a:bodyPr/>
              <a:lstStyle/>
              <a:p>
                <a:r>
                  <a:rPr lang="en-US" dirty="0"/>
                  <a:t>What is </a:t>
                </a:r>
                <a14:m>
                  <m:oMath xmlns:m="http://schemas.openxmlformats.org/officeDocument/2006/math">
                    <m:sSub>
                      <m:sSubPr>
                        <m:ctrlPr>
                          <a:rPr lang="en-US" b="0" i="1" smtClean="0">
                            <a:latin typeface="Cambria Math" charset="0"/>
                          </a:rPr>
                        </m:ctrlPr>
                      </m:sSubPr>
                      <m:e>
                        <m:r>
                          <a:rPr lang="en-US" b="0" i="1" smtClean="0">
                            <a:latin typeface="Cambria Math" charset="0"/>
                          </a:rPr>
                          <m:t>𝐼</m:t>
                        </m:r>
                      </m:e>
                      <m:sub>
                        <m:r>
                          <a:rPr lang="en-US" b="0" i="1" smtClean="0">
                            <a:latin typeface="Cambria Math" charset="0"/>
                          </a:rPr>
                          <m:t>𝑘</m:t>
                        </m:r>
                      </m:sub>
                    </m:sSub>
                  </m:oMath>
                </a14:m>
                <a:r>
                  <a:rPr lang="en-US" dirty="0"/>
                  <a:t> actually?</a:t>
                </a:r>
              </a:p>
            </p:txBody>
          </p:sp>
        </mc:Choice>
        <mc:Fallback xmlns="">
          <p:sp>
            <p:nvSpPr>
              <p:cNvPr id="5" name="Title 4"/>
              <p:cNvSpPr>
                <a:spLocks noGrp="1" noRot="1" noChangeAspect="1" noMove="1" noResize="1" noEditPoints="1" noAdjustHandles="1" noChangeArrowheads="1" noChangeShapeType="1" noTextEdit="1"/>
              </p:cNvSpPr>
              <p:nvPr>
                <p:ph type="title"/>
              </p:nvPr>
            </p:nvSpPr>
            <p:spPr>
              <a:blipFill>
                <a:blip r:embed="rId3"/>
                <a:stretch>
                  <a:fillRect l="-1794" t="-16279" b="-372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5"/>
              <p:cNvSpPr>
                <a:spLocks noGrp="1"/>
              </p:cNvSpPr>
              <p:nvPr>
                <p:ph idx="1"/>
              </p:nvPr>
            </p:nvSpPr>
            <p:spPr/>
            <p:txBody>
              <a:bodyPr/>
              <a:lstStyle/>
              <a:p>
                <a:pPr marL="0" indent="0">
                  <a:buNone/>
                </a:pPr>
                <a:r>
                  <a:rPr lang="en-US" sz="2400" dirty="0"/>
                  <a:t>Definition: A</a:t>
                </a:r>
                <a:r>
                  <a:rPr lang="en-US" sz="2400" b="1" dirty="0"/>
                  <a:t> </a:t>
                </a:r>
                <a14:m>
                  <m:oMath xmlns:m="http://schemas.openxmlformats.org/officeDocument/2006/math">
                    <m:r>
                      <a:rPr lang="en-US" sz="2400" b="1" i="1" smtClean="0">
                        <a:latin typeface="Cambria Math" charset="0"/>
                      </a:rPr>
                      <m:t>𝒌</m:t>
                    </m:r>
                  </m:oMath>
                </a14:m>
                <a:r>
                  <a:rPr lang="en-US" sz="2400" b="1" dirty="0"/>
                  <a:t>-partial annotation</a:t>
                </a:r>
                <a:r>
                  <a:rPr lang="en-US" sz="2400" dirty="0"/>
                  <a:t> </a:t>
                </a:r>
                <a14:m>
                  <m:oMath xmlns:m="http://schemas.openxmlformats.org/officeDocument/2006/math">
                    <m:sSub>
                      <m:sSubPr>
                        <m:ctrlPr>
                          <a:rPr lang="en-US" sz="2400" i="1">
                            <a:latin typeface="Cambria Math" charset="0"/>
                          </a:rPr>
                        </m:ctrlPr>
                      </m:sSubPr>
                      <m:e>
                        <m:r>
                          <a:rPr lang="en-US" sz="2400" i="1">
                            <a:latin typeface="Cambria Math" charset="0"/>
                          </a:rPr>
                          <m:t>𝐴</m:t>
                        </m:r>
                      </m:e>
                      <m:sub>
                        <m:r>
                          <a:rPr lang="en-US" sz="2400" i="1">
                            <a:latin typeface="Cambria Math" charset="0"/>
                          </a:rPr>
                          <m:t>𝑘</m:t>
                        </m:r>
                      </m:sub>
                    </m:sSub>
                  </m:oMath>
                </a14:m>
                <a:r>
                  <a:rPr lang="en-US" sz="2400" dirty="0"/>
                  <a:t> is</a:t>
                </a:r>
                <a:r>
                  <a:rPr lang="en-US" sz="2400" i="1" dirty="0"/>
                  <a:t> </a:t>
                </a:r>
                <a:r>
                  <a:rPr lang="en-US" sz="2400" dirty="0"/>
                  <a:t>a vector of random variables </a:t>
                </a:r>
                <a14:m>
                  <m:oMath xmlns:m="http://schemas.openxmlformats.org/officeDocument/2006/math">
                    <m:sSub>
                      <m:sSubPr>
                        <m:ctrlPr>
                          <a:rPr lang="en-US" sz="2400" b="0" i="1" smtClean="0">
                            <a:latin typeface="Cambria Math" charset="0"/>
                          </a:rPr>
                        </m:ctrlPr>
                      </m:sSubPr>
                      <m:e>
                        <m:r>
                          <a:rPr lang="en-US" sz="2400" b="0" i="1" smtClean="0">
                            <a:latin typeface="Cambria Math" charset="0"/>
                          </a:rPr>
                          <m:t>𝐴</m:t>
                        </m:r>
                      </m:e>
                      <m:sub>
                        <m:r>
                          <a:rPr lang="en-US" sz="2400" b="0" i="1" smtClean="0">
                            <a:latin typeface="Cambria Math" charset="0"/>
                          </a:rPr>
                          <m:t>𝑘</m:t>
                        </m:r>
                      </m:sub>
                    </m:sSub>
                    <m:r>
                      <a:rPr lang="en-US" sz="2400" b="0" i="1" smtClean="0">
                        <a:latin typeface="Cambria Math" charset="0"/>
                      </a:rPr>
                      <m:t>=</m:t>
                    </m:r>
                    <m:d>
                      <m:dPr>
                        <m:begChr m:val="["/>
                        <m:endChr m:val="]"/>
                        <m:ctrlPr>
                          <a:rPr lang="en-US" sz="2400" b="0" i="1" smtClean="0">
                            <a:latin typeface="Cambria Math" charset="0"/>
                          </a:rPr>
                        </m:ctrlPr>
                      </m:dPr>
                      <m:e>
                        <m:sSub>
                          <m:sSubPr>
                            <m:ctrlPr>
                              <a:rPr lang="en-US" sz="2400" b="0" i="1" smtClean="0">
                                <a:latin typeface="Cambria Math" charset="0"/>
                              </a:rPr>
                            </m:ctrlPr>
                          </m:sSubPr>
                          <m:e>
                            <m:r>
                              <a:rPr lang="en-US" sz="2400" b="0" i="1" smtClean="0">
                                <a:latin typeface="Cambria Math" charset="0"/>
                              </a:rPr>
                              <m:t>𝐴</m:t>
                            </m:r>
                          </m:e>
                          <m:sub>
                            <m:r>
                              <a:rPr lang="en-US" sz="2400" b="0" i="1" smtClean="0">
                                <a:latin typeface="Cambria Math" charset="0"/>
                              </a:rPr>
                              <m:t>𝑘</m:t>
                            </m:r>
                            <m:r>
                              <a:rPr lang="en-US" sz="2400" b="0" i="1" smtClean="0">
                                <a:latin typeface="Cambria Math" charset="0"/>
                              </a:rPr>
                              <m:t>,1</m:t>
                            </m:r>
                          </m:sub>
                        </m:sSub>
                        <m:r>
                          <a:rPr lang="en-US" sz="2400" b="0" i="1" smtClean="0">
                            <a:latin typeface="Cambria Math" charset="0"/>
                          </a:rPr>
                          <m:t>,</m:t>
                        </m:r>
                        <m:sSub>
                          <m:sSubPr>
                            <m:ctrlPr>
                              <a:rPr lang="en-US" sz="2400" b="0" i="1" smtClean="0">
                                <a:latin typeface="Cambria Math" charset="0"/>
                              </a:rPr>
                            </m:ctrlPr>
                          </m:sSubPr>
                          <m:e>
                            <m:r>
                              <a:rPr lang="en-US" sz="2400" b="0" i="1" smtClean="0">
                                <a:latin typeface="Cambria Math" charset="0"/>
                              </a:rPr>
                              <m:t>𝐴</m:t>
                            </m:r>
                          </m:e>
                          <m:sub>
                            <m:r>
                              <a:rPr lang="en-US" sz="2400" b="0" i="1" smtClean="0">
                                <a:latin typeface="Cambria Math" charset="0"/>
                              </a:rPr>
                              <m:t>𝑘</m:t>
                            </m:r>
                            <m:r>
                              <a:rPr lang="en-US" sz="2400" b="0" i="1" smtClean="0">
                                <a:latin typeface="Cambria Math" charset="0"/>
                              </a:rPr>
                              <m:t>,2</m:t>
                            </m:r>
                          </m:sub>
                        </m:sSub>
                        <m:r>
                          <a:rPr lang="en-US" sz="2400" b="0" i="1" smtClean="0">
                            <a:latin typeface="Cambria Math" charset="0"/>
                          </a:rPr>
                          <m:t>,…,</m:t>
                        </m:r>
                        <m:sSub>
                          <m:sSubPr>
                            <m:ctrlPr>
                              <a:rPr lang="en-US" sz="2400" b="0" i="1" smtClean="0">
                                <a:latin typeface="Cambria Math" charset="0"/>
                              </a:rPr>
                            </m:ctrlPr>
                          </m:sSubPr>
                          <m:e>
                            <m:r>
                              <a:rPr lang="en-US" sz="2400" b="0" i="1" smtClean="0">
                                <a:latin typeface="Cambria Math" charset="0"/>
                              </a:rPr>
                              <m:t>𝐴</m:t>
                            </m:r>
                          </m:e>
                          <m:sub>
                            <m:r>
                              <a:rPr lang="en-US" sz="2400" b="0" i="1" smtClean="0">
                                <a:latin typeface="Cambria Math" charset="0"/>
                              </a:rPr>
                              <m:t>𝑘</m:t>
                            </m:r>
                            <m:r>
                              <a:rPr lang="en-US" sz="2400" b="0" i="1" smtClean="0">
                                <a:latin typeface="Cambria Math" charset="0"/>
                              </a:rPr>
                              <m:t>,</m:t>
                            </m:r>
                            <m:r>
                              <a:rPr lang="en-US" sz="2400" b="0" i="1" smtClean="0">
                                <a:latin typeface="Cambria Math" charset="0"/>
                              </a:rPr>
                              <m:t>𝑑</m:t>
                            </m:r>
                          </m:sub>
                        </m:sSub>
                      </m:e>
                    </m:d>
                    <m:r>
                      <a:rPr lang="en-US" sz="2400" b="0" i="1" smtClean="0">
                        <a:latin typeface="Cambria Math" charset="0"/>
                      </a:rPr>
                      <m:t>∈</m:t>
                    </m:r>
                    <m:sSup>
                      <m:sSupPr>
                        <m:ctrlPr>
                          <a:rPr lang="en-US" sz="2400" b="0" i="1" smtClean="0">
                            <a:latin typeface="Cambria Math" charset="0"/>
                          </a:rPr>
                        </m:ctrlPr>
                      </m:sSupPr>
                      <m:e>
                        <m:d>
                          <m:dPr>
                            <m:ctrlPr>
                              <a:rPr lang="en-US" sz="2400" b="0" i="1" smtClean="0">
                                <a:latin typeface="Cambria Math" charset="0"/>
                              </a:rPr>
                            </m:ctrlPr>
                          </m:dPr>
                          <m:e>
                            <m:r>
                              <a:rPr lang="en-US" sz="2400" b="0" i="1" smtClean="0">
                                <a:latin typeface="Cambria Math" charset="0"/>
                              </a:rPr>
                              <m:t>ℒ</m:t>
                            </m:r>
                            <m:r>
                              <a:rPr lang="en-US" sz="2400" b="0" i="1" smtClean="0">
                                <a:latin typeface="Cambria Math" charset="0"/>
                              </a:rPr>
                              <m:t>∪⊓</m:t>
                            </m:r>
                          </m:e>
                        </m:d>
                      </m:e>
                      <m:sup>
                        <m:r>
                          <a:rPr lang="en-US" sz="2400" b="0" i="1" smtClean="0">
                            <a:latin typeface="Cambria Math" charset="0"/>
                          </a:rPr>
                          <m:t>𝑑</m:t>
                        </m:r>
                      </m:sup>
                    </m:sSup>
                  </m:oMath>
                </a14:m>
                <a:r>
                  <a:rPr lang="en-US" sz="2400" dirty="0"/>
                  <a:t>, where </a:t>
                </a:r>
                <a14:m>
                  <m:oMath xmlns:m="http://schemas.openxmlformats.org/officeDocument/2006/math">
                    <m:r>
                      <a:rPr lang="en-US" sz="2400" b="0" i="1" smtClean="0">
                        <a:latin typeface="Cambria Math" charset="0"/>
                      </a:rPr>
                      <m:t>⊓</m:t>
                    </m:r>
                  </m:oMath>
                </a14:m>
                <a:r>
                  <a:rPr lang="en-US" sz="2400" dirty="0"/>
                  <a:t> is a special character for no label yet, such that </a:t>
                </a:r>
              </a:p>
              <a:p>
                <a:pPr lvl="1"/>
                <a14:m>
                  <m:oMath xmlns:m="http://schemas.openxmlformats.org/officeDocument/2006/math">
                    <m:nary>
                      <m:naryPr>
                        <m:chr m:val="∑"/>
                        <m:ctrlPr>
                          <a:rPr lang="en-US" sz="2000" b="0" i="1" smtClean="0">
                            <a:latin typeface="Cambria Math" charset="0"/>
                          </a:rPr>
                        </m:ctrlPr>
                      </m:naryPr>
                      <m:sub>
                        <m:r>
                          <a:rPr lang="en-US" sz="2000" b="0" i="1" smtClean="0">
                            <a:latin typeface="Cambria Math" charset="0"/>
                          </a:rPr>
                          <m:t>𝑖</m:t>
                        </m:r>
                        <m:r>
                          <a:rPr lang="en-US" sz="2000" b="0" i="1" smtClean="0">
                            <a:latin typeface="Cambria Math" charset="0"/>
                          </a:rPr>
                          <m:t>=1</m:t>
                        </m:r>
                      </m:sub>
                      <m:sup>
                        <m:r>
                          <a:rPr lang="en-US" sz="2000" b="0" i="1" smtClean="0">
                            <a:latin typeface="Cambria Math" charset="0"/>
                          </a:rPr>
                          <m:t>𝑑</m:t>
                        </m:r>
                      </m:sup>
                      <m:e>
                        <m:r>
                          <a:rPr lang="en-US" sz="2000" i="1">
                            <a:latin typeface="Cambria Math" charset="0"/>
                            <a:ea typeface="Cambria Math" charset="0"/>
                            <a:cs typeface="Cambria Math" charset="0"/>
                          </a:rPr>
                          <m:t>𝕀</m:t>
                        </m:r>
                        <m:r>
                          <a:rPr lang="en-US" sz="2000" b="0" i="1" smtClean="0">
                            <a:latin typeface="Cambria Math" charset="0"/>
                            <a:ea typeface="Cambria Math" charset="0"/>
                            <a:cs typeface="Cambria Math" charset="0"/>
                          </a:rPr>
                          <m:t>(</m:t>
                        </m:r>
                        <m:sSub>
                          <m:sSubPr>
                            <m:ctrlPr>
                              <a:rPr lang="en-US" sz="2000" b="0" i="1" smtClean="0">
                                <a:latin typeface="Cambria Math" charset="0"/>
                                <a:ea typeface="Cambria Math" charset="0"/>
                                <a:cs typeface="Cambria Math" charset="0"/>
                              </a:rPr>
                            </m:ctrlPr>
                          </m:sSubPr>
                          <m:e>
                            <m:r>
                              <a:rPr lang="en-US" sz="2000" b="0" i="1" smtClean="0">
                                <a:latin typeface="Cambria Math" charset="0"/>
                                <a:ea typeface="Cambria Math" charset="0"/>
                                <a:cs typeface="Cambria Math" charset="0"/>
                              </a:rPr>
                              <m:t>𝐴</m:t>
                            </m:r>
                          </m:e>
                          <m:sub>
                            <m:r>
                              <a:rPr lang="en-US" sz="2000" b="0" i="1" smtClean="0">
                                <a:latin typeface="Cambria Math" charset="0"/>
                                <a:ea typeface="Cambria Math" charset="0"/>
                                <a:cs typeface="Cambria Math" charset="0"/>
                              </a:rPr>
                              <m:t>𝑘</m:t>
                            </m:r>
                            <m:r>
                              <a:rPr lang="en-US" sz="2000" b="0" i="1" smtClean="0">
                                <a:latin typeface="Cambria Math" charset="0"/>
                                <a:ea typeface="Cambria Math" charset="0"/>
                                <a:cs typeface="Cambria Math" charset="0"/>
                              </a:rPr>
                              <m:t>,</m:t>
                            </m:r>
                            <m:r>
                              <a:rPr lang="en-US" sz="2000" b="0" i="1" smtClean="0">
                                <a:latin typeface="Cambria Math" charset="0"/>
                                <a:ea typeface="Cambria Math" charset="0"/>
                                <a:cs typeface="Cambria Math" charset="0"/>
                              </a:rPr>
                              <m:t>𝑖</m:t>
                            </m:r>
                          </m:sub>
                        </m:sSub>
                        <m:r>
                          <a:rPr lang="en-US" sz="2000" b="0" i="1" smtClean="0">
                            <a:latin typeface="Cambria Math" charset="0"/>
                            <a:ea typeface="Cambria Math" charset="0"/>
                            <a:cs typeface="Cambria Math" charset="0"/>
                          </a:rPr>
                          <m:t>≠⊓)</m:t>
                        </m:r>
                      </m:e>
                    </m:nary>
                    <m:r>
                      <a:rPr lang="en-US" sz="2000" b="0" i="1" smtClean="0">
                        <a:latin typeface="Cambria Math" charset="0"/>
                      </a:rPr>
                      <m:t>=</m:t>
                    </m:r>
                    <m:r>
                      <a:rPr lang="en-US" sz="2000" b="0" i="1" smtClean="0">
                        <a:latin typeface="Cambria Math" charset="0"/>
                      </a:rPr>
                      <m:t>𝑘</m:t>
                    </m:r>
                  </m:oMath>
                </a14:m>
                <a:endParaRPr lang="en-US" sz="2000" dirty="0"/>
              </a:p>
              <a:p>
                <a:pPr lvl="1"/>
                <a14:m>
                  <m:oMath xmlns:m="http://schemas.openxmlformats.org/officeDocument/2006/math">
                    <m:r>
                      <a:rPr lang="en-US" sz="2000" b="0" i="1" smtClean="0">
                        <a:latin typeface="Cambria Math" charset="0"/>
                      </a:rPr>
                      <m:t>𝑃</m:t>
                    </m:r>
                    <m:d>
                      <m:dPr>
                        <m:ctrlPr>
                          <a:rPr lang="en-US" sz="2000" b="0" i="1" smtClean="0">
                            <a:latin typeface="Cambria Math" charset="0"/>
                          </a:rPr>
                        </m:ctrlPr>
                      </m:dPr>
                      <m:e>
                        <m:r>
                          <a:rPr lang="en-US" sz="2000" b="0" i="1" smtClean="0">
                            <a:latin typeface="Cambria Math" charset="0"/>
                          </a:rPr>
                          <m:t>𝑌</m:t>
                        </m:r>
                        <m:r>
                          <a:rPr lang="en-US" sz="2000" b="0" i="1" smtClean="0">
                            <a:latin typeface="Cambria Math" panose="02040503050406030204" pitchFamily="18" charset="0"/>
                          </a:rPr>
                          <m:t>|</m:t>
                        </m:r>
                        <m:sSub>
                          <m:sSubPr>
                            <m:ctrlPr>
                              <a:rPr lang="en-US" sz="2000" b="0" i="1" smtClean="0">
                                <a:latin typeface="Cambria Math" charset="0"/>
                              </a:rPr>
                            </m:ctrlPr>
                          </m:sSubPr>
                          <m:e>
                            <m:r>
                              <a:rPr lang="en-US" sz="2000" b="0" i="1" smtClean="0">
                                <a:latin typeface="Cambria Math" charset="0"/>
                              </a:rPr>
                              <m:t>𝐴</m:t>
                            </m:r>
                          </m:e>
                          <m:sub>
                            <m:r>
                              <a:rPr lang="en-US" sz="2000" b="0" i="1" smtClean="0">
                                <a:latin typeface="Cambria Math" charset="0"/>
                              </a:rPr>
                              <m:t>𝑘</m:t>
                            </m:r>
                          </m:sub>
                        </m:sSub>
                        <m:r>
                          <a:rPr lang="en-US" sz="2000" b="0" i="1" smtClean="0">
                            <a:latin typeface="Cambria Math" charset="0"/>
                          </a:rPr>
                          <m:t>=</m:t>
                        </m:r>
                        <m:sSub>
                          <m:sSubPr>
                            <m:ctrlPr>
                              <a:rPr lang="en-US" sz="2000" b="0" i="1" smtClean="0">
                                <a:latin typeface="Cambria Math" charset="0"/>
                              </a:rPr>
                            </m:ctrlPr>
                          </m:sSubPr>
                          <m:e>
                            <m:r>
                              <a:rPr lang="en-US" sz="2000" b="0" i="1" smtClean="0">
                                <a:latin typeface="Cambria Math" charset="0"/>
                              </a:rPr>
                              <m:t>𝑎</m:t>
                            </m:r>
                          </m:e>
                          <m:sub>
                            <m:r>
                              <a:rPr lang="en-US" sz="2000" b="0" i="1" smtClean="0">
                                <a:latin typeface="Cambria Math" charset="0"/>
                              </a:rPr>
                              <m:t>𝑘</m:t>
                            </m:r>
                          </m:sub>
                        </m:sSub>
                      </m:e>
                    </m:d>
                    <m:r>
                      <a:rPr lang="en-US" sz="2000" b="0" i="1" smtClean="0">
                        <a:latin typeface="Cambria Math" charset="0"/>
                      </a:rPr>
                      <m:t>=</m:t>
                    </m:r>
                    <m:r>
                      <a:rPr lang="en-US" sz="2000" b="0" i="1" smtClean="0">
                        <a:latin typeface="Cambria Math" charset="0"/>
                      </a:rPr>
                      <m:t>𝑃</m:t>
                    </m:r>
                    <m:r>
                      <a:rPr lang="en-US" sz="2000" b="0" i="1" smtClean="0">
                        <a:latin typeface="Cambria Math" charset="0"/>
                      </a:rPr>
                      <m:t>(</m:t>
                    </m:r>
                    <m:r>
                      <a:rPr lang="en-US" sz="2000" b="0" i="1" smtClean="0">
                        <a:latin typeface="Cambria Math" charset="0"/>
                      </a:rPr>
                      <m:t>𝑌</m:t>
                    </m:r>
                    <m:r>
                      <a:rPr lang="en-US" sz="2000" b="0" i="1" smtClean="0">
                        <a:latin typeface="Cambria Math" panose="02040503050406030204" pitchFamily="18" charset="0"/>
                      </a:rPr>
                      <m:t>|</m:t>
                    </m:r>
                    <m:sSub>
                      <m:sSubPr>
                        <m:ctrlPr>
                          <a:rPr lang="en-US" sz="2000" b="0" i="1" smtClean="0">
                            <a:latin typeface="Cambria Math"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sSub>
                      <m:sSubPr>
                        <m:ctrlPr>
                          <a:rPr lang="en-US" sz="2000" b="0" i="1" smtClean="0">
                            <a:latin typeface="Cambria Math"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𝑘</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m:t>
                    </m:r>
                    <m:r>
                      <a:rPr lang="en-US" sz="2000" b="0" i="1" smtClean="0">
                        <a:latin typeface="Cambria Math" panose="02040503050406030204" pitchFamily="18" charset="0"/>
                      </a:rPr>
                      <m:t>𝒥</m:t>
                    </m:r>
                    <m:r>
                      <a:rPr lang="en-US" sz="2000" b="0" i="1" smtClean="0">
                        <a:latin typeface="Cambria Math" charset="0"/>
                      </a:rPr>
                      <m:t>)</m:t>
                    </m:r>
                  </m:oMath>
                </a14:m>
                <a:r>
                  <a:rPr lang="en-US" sz="2000" dirty="0"/>
                  <a:t>, where </a:t>
                </a:r>
                <a14:m>
                  <m:oMath xmlns:m="http://schemas.openxmlformats.org/officeDocument/2006/math">
                    <m:r>
                      <a:rPr lang="en-US" sz="2000" b="0" i="1" smtClean="0">
                        <a:latin typeface="Cambria Math" panose="02040503050406030204" pitchFamily="18" charset="0"/>
                      </a:rPr>
                      <m:t>𝒥</m:t>
                    </m:r>
                    <m:r>
                      <a:rPr lang="en-US" sz="2000" b="0" i="1" smtClean="0">
                        <a:latin typeface="Cambria Math" panose="02040503050406030204" pitchFamily="18" charset="0"/>
                      </a:rPr>
                      <m:t>=</m:t>
                    </m:r>
                    <m:d>
                      <m:dPr>
                        <m:begChr m:val="{"/>
                        <m:endChr m:val="}"/>
                        <m:ctrlPr>
                          <a:rPr lang="en-US" sz="2000" i="1">
                            <a:latin typeface="Cambria Math" charset="0"/>
                          </a:rPr>
                        </m:ctrlPr>
                      </m:dPr>
                      <m:e>
                        <m:r>
                          <a:rPr lang="en-US" sz="2000" i="1">
                            <a:latin typeface="Cambria Math" panose="02040503050406030204" pitchFamily="18" charset="0"/>
                          </a:rPr>
                          <m:t>𝑗</m:t>
                        </m:r>
                        <m:r>
                          <a:rPr lang="en-US" sz="2000" i="1">
                            <a:latin typeface="Cambria Math" panose="02040503050406030204" pitchFamily="18" charset="0"/>
                          </a:rPr>
                          <m:t>:</m:t>
                        </m:r>
                        <m:sSub>
                          <m:sSubPr>
                            <m:ctrlPr>
                              <a:rPr lang="en-US" sz="2000" i="1">
                                <a:latin typeface="Cambria Math" charset="0"/>
                              </a:rPr>
                            </m:ctrlPr>
                          </m:sSubPr>
                          <m:e>
                            <m:r>
                              <a:rPr lang="en-US" sz="2000" i="1">
                                <a:latin typeface="Cambria Math" panose="02040503050406030204" pitchFamily="18" charset="0"/>
                              </a:rPr>
                              <m:t>𝑎</m:t>
                            </m:r>
                          </m:e>
                          <m:sub>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𝑗</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e>
                    </m:d>
                  </m:oMath>
                </a14:m>
                <a:endParaRPr lang="en-US" sz="2000" dirty="0"/>
              </a:p>
              <a:p>
                <a:pPr lvl="1"/>
                <a14:m>
                  <m:oMath xmlns:m="http://schemas.openxmlformats.org/officeDocument/2006/math">
                    <m:sSub>
                      <m:sSubPr>
                        <m:ctrlPr>
                          <a:rPr lang="en-US" sz="2000" i="1">
                            <a:latin typeface="Cambria Math" charset="0"/>
                          </a:rPr>
                        </m:ctrlPr>
                      </m:sSubPr>
                      <m:e>
                        <m:r>
                          <a:rPr lang="en-US" sz="2000" i="1">
                            <a:latin typeface="Cambria Math" charset="0"/>
                          </a:rPr>
                          <m:t>𝐴</m:t>
                        </m:r>
                      </m:e>
                      <m:sub>
                        <m:r>
                          <a:rPr lang="en-US" sz="2000" i="1">
                            <a:latin typeface="Cambria Math" charset="0"/>
                          </a:rPr>
                          <m:t>𝑘</m:t>
                        </m:r>
                      </m:sub>
                    </m:sSub>
                  </m:oMath>
                </a14:m>
                <a:r>
                  <a:rPr lang="en-US" sz="2000" dirty="0"/>
                  <a:t> means k variables in Y are labeled, and those k labels are correct</a:t>
                </a:r>
              </a:p>
              <a:p>
                <a:endParaRPr lang="en-US" sz="2400" dirty="0"/>
              </a:p>
              <a:p>
                <a:endParaRPr lang="en-US" sz="2400" dirty="0"/>
              </a:p>
              <a:p>
                <a:pPr marL="0" indent="0">
                  <a:buNone/>
                </a:pPr>
                <a:r>
                  <a:rPr lang="en-US" sz="2400" b="1" dirty="0"/>
                  <a:t>Theorem</a:t>
                </a:r>
                <a:r>
                  <a:rPr lang="en-US" sz="2400" dirty="0"/>
                  <a:t>: </a:t>
                </a:r>
                <a14:m>
                  <m:oMath xmlns:m="http://schemas.openxmlformats.org/officeDocument/2006/math">
                    <m:sSub>
                      <m:sSubPr>
                        <m:ctrlPr>
                          <a:rPr lang="en-US" sz="2400" i="1">
                            <a:latin typeface="Cambria Math" charset="0"/>
                          </a:rPr>
                        </m:ctrlPr>
                      </m:sSubPr>
                      <m:e>
                        <m:r>
                          <a:rPr lang="en-US" sz="2400" i="1">
                            <a:latin typeface="Cambria Math" charset="0"/>
                          </a:rPr>
                          <m:t>𝐼</m:t>
                        </m:r>
                      </m:e>
                      <m:sub>
                        <m:r>
                          <a:rPr lang="en-US" sz="2400" i="1">
                            <a:latin typeface="Cambria Math" charset="0"/>
                          </a:rPr>
                          <m:t>𝑘</m:t>
                        </m:r>
                      </m:sub>
                    </m:sSub>
                  </m:oMath>
                </a14:m>
                <a:r>
                  <a:rPr lang="en-US" sz="2400" dirty="0"/>
                  <a:t> is the mutual information between </a:t>
                </a:r>
                <a14:m>
                  <m:oMath xmlns:m="http://schemas.openxmlformats.org/officeDocument/2006/math">
                    <m:r>
                      <a:rPr lang="en-US" sz="2400" i="1">
                        <a:latin typeface="Cambria Math" charset="0"/>
                      </a:rPr>
                      <m:t>𝑌</m:t>
                    </m:r>
                  </m:oMath>
                </a14:m>
                <a:r>
                  <a:rPr lang="en-US" sz="2400" dirty="0"/>
                  <a:t> and </a:t>
                </a:r>
                <a14:m>
                  <m:oMath xmlns:m="http://schemas.openxmlformats.org/officeDocument/2006/math">
                    <m:sSub>
                      <m:sSubPr>
                        <m:ctrlPr>
                          <a:rPr lang="en-US" sz="2400" b="0" i="1" smtClean="0">
                            <a:latin typeface="Cambria Math" charset="0"/>
                          </a:rPr>
                        </m:ctrlPr>
                      </m:sSubPr>
                      <m:e>
                        <m:r>
                          <a:rPr lang="en-US" sz="2400" b="0" i="1" smtClean="0">
                            <a:latin typeface="Cambria Math" charset="0"/>
                          </a:rPr>
                          <m:t>𝐴</m:t>
                        </m:r>
                      </m:e>
                      <m:sub>
                        <m:r>
                          <a:rPr lang="en-US" sz="2400" b="0" i="1" smtClean="0">
                            <a:latin typeface="Cambria Math" charset="0"/>
                          </a:rPr>
                          <m:t>𝑘</m:t>
                        </m:r>
                      </m:sub>
                    </m:sSub>
                  </m:oMath>
                </a14:m>
                <a:r>
                  <a:rPr lang="en-US" sz="2400" dirty="0"/>
                  <a:t> when both </a:t>
                </a:r>
                <a14:m>
                  <m:oMath xmlns:m="http://schemas.openxmlformats.org/officeDocument/2006/math">
                    <m:r>
                      <a:rPr lang="en-US" sz="2400" b="0" i="1" smtClean="0">
                        <a:latin typeface="Cambria Math" charset="0"/>
                      </a:rPr>
                      <m:t>𝑌</m:t>
                    </m:r>
                  </m:oMath>
                </a14:m>
                <a:r>
                  <a:rPr lang="en-US" sz="2400" dirty="0"/>
                  <a:t> and the </a:t>
                </a:r>
                <a14:m>
                  <m:oMath xmlns:m="http://schemas.openxmlformats.org/officeDocument/2006/math">
                    <m:r>
                      <a:rPr lang="en-US" sz="2400" i="1">
                        <a:latin typeface="Cambria Math" charset="0"/>
                      </a:rPr>
                      <m:t>𝑘</m:t>
                    </m:r>
                  </m:oMath>
                </a14:m>
                <a:r>
                  <a:rPr lang="en-US" sz="2400" dirty="0"/>
                  <a:t> variables labeled in </a:t>
                </a:r>
                <a14:m>
                  <m:oMath xmlns:m="http://schemas.openxmlformats.org/officeDocument/2006/math">
                    <m:sSub>
                      <m:sSubPr>
                        <m:ctrlPr>
                          <a:rPr lang="en-US" sz="2400" i="1">
                            <a:latin typeface="Cambria Math" charset="0"/>
                          </a:rPr>
                        </m:ctrlPr>
                      </m:sSubPr>
                      <m:e>
                        <m:r>
                          <a:rPr lang="en-US" sz="2400" i="1">
                            <a:latin typeface="Cambria Math" charset="0"/>
                          </a:rPr>
                          <m:t>𝐴</m:t>
                        </m:r>
                      </m:e>
                      <m:sub>
                        <m:r>
                          <a:rPr lang="en-US" sz="2400" i="1">
                            <a:latin typeface="Cambria Math" charset="0"/>
                          </a:rPr>
                          <m:t>𝑘</m:t>
                        </m:r>
                      </m:sub>
                    </m:sSub>
                  </m:oMath>
                </a14:m>
                <a:r>
                  <a:rPr lang="en-US" sz="2400" dirty="0"/>
                  <a:t> follow uniform distributions.</a:t>
                </a:r>
              </a:p>
              <a:p>
                <a:pPr marL="457200" lvl="1" indent="0">
                  <a:buNone/>
                </a:pPr>
                <a:endParaRPr lang="en-US" sz="2000" dirty="0"/>
              </a:p>
              <a:p>
                <a:endParaRPr lang="en-US" sz="2400" dirty="0"/>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blipFill>
                <a:blip r:embed="rId4"/>
                <a:stretch>
                  <a:fillRect l="-1040" t="-1225" r="-1783"/>
                </a:stretch>
              </a:blipFill>
            </p:spPr>
            <p:txBody>
              <a:bodyPr/>
              <a:lstStyle/>
              <a:p>
                <a:r>
                  <a:rPr lang="en-US">
                    <a:noFill/>
                  </a:rPr>
                  <a:t> </a:t>
                </a:r>
              </a:p>
            </p:txBody>
          </p:sp>
        </mc:Fallback>
      </mc:AlternateContent>
      <p:sp>
        <p:nvSpPr>
          <p:cNvPr id="2" name="Rounded Rectangle 1">
            <a:extLst>
              <a:ext uri="{FF2B5EF4-FFF2-40B4-BE49-F238E27FC236}">
                <a16:creationId xmlns:a16="http://schemas.microsoft.com/office/drawing/2014/main" xmlns="" id="{E204EED4-EB75-7044-B4A2-E7E9EB5A19D4}"/>
              </a:ext>
            </a:extLst>
          </p:cNvPr>
          <p:cNvSpPr/>
          <p:nvPr/>
        </p:nvSpPr>
        <p:spPr>
          <a:xfrm>
            <a:off x="228600" y="4724400"/>
            <a:ext cx="8686800" cy="1371600"/>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xmlns=""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287452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dissolve">
                                      <p:cBhvr>
                                        <p:cTn id="10" dur="500"/>
                                        <p:tgtEl>
                                          <p:spTgt spid="6">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dissolve">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mph" presetSubtype="0" nodeType="clickEffect">
                                  <p:stCondLst>
                                    <p:cond delay="0"/>
                                  </p:stCondLst>
                                  <p:childTnLst>
                                    <p:set>
                                      <p:cBhvr>
                                        <p:cTn id="17" dur="indefinite"/>
                                        <p:tgtEl>
                                          <p:spTgt spid="6">
                                            <p:txEl>
                                              <p:pRg st="1" end="1"/>
                                            </p:txEl>
                                          </p:spTgt>
                                        </p:tgtEl>
                                        <p:attrNameLst>
                                          <p:attrName>style.opacity</p:attrName>
                                        </p:attrNameLst>
                                      </p:cBhvr>
                                      <p:to>
                                        <p:strVal val="0.5"/>
                                      </p:to>
                                    </p:set>
                                    <p:animEffect filter="image" prLst="opacity: 0.5">
                                      <p:cBhvr rctx="IE">
                                        <p:cTn id="18" dur="indefinite"/>
                                        <p:tgtEl>
                                          <p:spTgt spid="6">
                                            <p:txEl>
                                              <p:pRg st="1" end="1"/>
                                            </p:txEl>
                                          </p:spTgt>
                                        </p:tgtEl>
                                      </p:cBhvr>
                                    </p:animEffect>
                                  </p:childTnLst>
                                </p:cTn>
                              </p:par>
                              <p:par>
                                <p:cTn id="19" presetID="9" presetClass="emph" presetSubtype="0" nodeType="withEffect">
                                  <p:stCondLst>
                                    <p:cond delay="0"/>
                                  </p:stCondLst>
                                  <p:childTnLst>
                                    <p:set>
                                      <p:cBhvr>
                                        <p:cTn id="20" dur="indefinite"/>
                                        <p:tgtEl>
                                          <p:spTgt spid="6">
                                            <p:txEl>
                                              <p:pRg st="2" end="2"/>
                                            </p:txEl>
                                          </p:spTgt>
                                        </p:tgtEl>
                                        <p:attrNameLst>
                                          <p:attrName>style.opacity</p:attrName>
                                        </p:attrNameLst>
                                      </p:cBhvr>
                                      <p:to>
                                        <p:strVal val="0.5"/>
                                      </p:to>
                                    </p:set>
                                    <p:animEffect filter="image" prLst="opacity: 0.5">
                                      <p:cBhvr rctx="IE">
                                        <p:cTn id="21" dur="indefinite"/>
                                        <p:tgtEl>
                                          <p:spTgt spid="6">
                                            <p:txEl>
                                              <p:pRg st="2" end="2"/>
                                            </p:txEl>
                                          </p:spTgt>
                                        </p:tgtEl>
                                      </p:cBhvr>
                                    </p:animEffect>
                                  </p:childTnLst>
                                </p:cTn>
                              </p:par>
                            </p:childTnLst>
                          </p:cTn>
                        </p:par>
                        <p:par>
                          <p:cTn id="22" fill="hold">
                            <p:stCondLst>
                              <p:cond delay="0"/>
                            </p:stCondLst>
                            <p:childTnLst>
                              <p:par>
                                <p:cTn id="23" presetID="9" presetClass="entr" presetSubtype="0" fill="hold" grpId="0" nodeType="after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dissolve">
                                      <p:cBhvr>
                                        <p:cTn id="25" dur="500"/>
                                        <p:tgtEl>
                                          <p:spTgt spid="6">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iterate type="lt">
                                    <p:tmPct val="10000"/>
                                  </p:iterate>
                                  <p:childTnLst>
                                    <p:set>
                                      <p:cBhvr>
                                        <p:cTn id="29" dur="1" fill="hold">
                                          <p:stCondLst>
                                            <p:cond delay="0"/>
                                          </p:stCondLst>
                                        </p:cTn>
                                        <p:tgtEl>
                                          <p:spTgt spid="6">
                                            <p:txEl>
                                              <p:pRg st="6" end="6"/>
                                            </p:txEl>
                                          </p:spTgt>
                                        </p:tgtEl>
                                        <p:attrNameLst>
                                          <p:attrName>style.visibility</p:attrName>
                                        </p:attrNameLst>
                                      </p:cBhvr>
                                      <p:to>
                                        <p:strVal val="visible"/>
                                      </p:to>
                                    </p:set>
                                    <p:animEffect transition="in" filter="wipe(left)">
                                      <p:cBhvr>
                                        <p:cTn id="30" dur="500"/>
                                        <p:tgtEl>
                                          <p:spTgt spid="6">
                                            <p:txEl>
                                              <p:pRg st="6" end="6"/>
                                            </p:txEl>
                                          </p:spTgt>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dissolve">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2"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Unique view of structured annotation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371600"/>
                <a:ext cx="8534400" cy="5029199"/>
              </a:xfrm>
            </p:spPr>
            <p:txBody>
              <a:bodyPr/>
              <a:lstStyle/>
              <a:p>
                <a:pPr marL="0" indent="0">
                  <a:buNone/>
                </a:pPr>
                <a:r>
                  <a:rPr lang="en-US" dirty="0"/>
                  <a:t>It is </a:t>
                </a:r>
                <a:r>
                  <a:rPr lang="en-US" dirty="0">
                    <a:solidFill>
                      <a:srgbClr val="C27990"/>
                    </a:solidFill>
                  </a:rPr>
                  <a:t>the reduction in the uncertainty of a target structure </a:t>
                </a:r>
                <a14:m>
                  <m:oMath xmlns:m="http://schemas.openxmlformats.org/officeDocument/2006/math">
                    <m:r>
                      <a:rPr lang="en-US" smtClean="0">
                        <a:solidFill>
                          <a:srgbClr val="C27990"/>
                        </a:solidFill>
                        <a:latin typeface="Cambria Math" panose="02040503050406030204" pitchFamily="18" charset="0"/>
                      </a:rPr>
                      <m:t>𝑌</m:t>
                    </m:r>
                  </m:oMath>
                </a14:m>
                <a:r>
                  <a:rPr lang="en-US" dirty="0"/>
                  <a:t>, by </a:t>
                </a:r>
                <a:r>
                  <a:rPr lang="en-US" dirty="0" smtClean="0"/>
                  <a:t>a random </a:t>
                </a:r>
                <a:r>
                  <a:rPr lang="en-US" dirty="0"/>
                  <a:t>process </a:t>
                </a:r>
                <a14:m>
                  <m:oMath xmlns:m="http://schemas.openxmlformats.org/officeDocument/2006/math">
                    <m:r>
                      <a:rPr lang="en-US" smtClean="0">
                        <a:latin typeface="Cambria Math" panose="02040503050406030204" pitchFamily="18" charset="0"/>
                      </a:rPr>
                      <m:t>𝐴</m:t>
                    </m:r>
                  </m:oMath>
                </a14:m>
                <a:r>
                  <a:rPr lang="en-US" sz="2000" dirty="0" smtClean="0"/>
                  <a:t> </a:t>
                </a:r>
                <a:r>
                  <a:rPr lang="en-US" dirty="0" smtClean="0"/>
                  <a:t>representing the annotation process</a:t>
                </a:r>
                <a:endParaRPr lang="en-US" sz="2000" dirty="0" smtClean="0"/>
              </a:p>
              <a:p>
                <a:pPr marL="0" indent="0">
                  <a:buNone/>
                </a:pPr>
                <a:endParaRPr lang="en-US" sz="2000" dirty="0"/>
              </a:p>
              <a:p>
                <a:pPr marL="0" indent="0">
                  <a:buNone/>
                </a:pPr>
                <a:r>
                  <a:rPr lang="en-US" dirty="0"/>
                  <a:t>More generally, we argue (need more work):</a:t>
                </a:r>
              </a:p>
              <a:p>
                <a:pPr lvl="1"/>
                <a:r>
                  <a:rPr lang="en-US" sz="2000" dirty="0">
                    <a:solidFill>
                      <a:srgbClr val="C27990"/>
                    </a:solidFill>
                  </a:rPr>
                  <a:t>Any signal that has non-zero mutual information with Y can be viewed as “annotation”</a:t>
                </a:r>
              </a:p>
              <a:p>
                <a:pPr marL="0" indent="0">
                  <a:buNone/>
                </a:pPr>
                <a:endParaRPr lang="en-US" sz="2400" dirty="0"/>
              </a:p>
              <a:p>
                <a:pPr marL="0" indent="0">
                  <a:buNone/>
                </a:pPr>
                <a:r>
                  <a:rPr lang="en-US" dirty="0"/>
                  <a:t>It points out a way to understand and quantify the value of indirect signals in future work.</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371600"/>
                <a:ext cx="8534400" cy="5029199"/>
              </a:xfrm>
              <a:blipFill rotWithShape="0">
                <a:blip r:embed="rId3"/>
                <a:stretch>
                  <a:fillRect l="-1500" t="-1333" r="-1143"/>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xmlns="" id="{C46740F7-0C36-40CB-8946-CA60114D1AC4}"/>
              </a:ext>
            </a:extLst>
          </p:cNvPr>
          <p:cNvSpPr>
            <a:spLocks noGrp="1"/>
          </p:cNvSpPr>
          <p:nvPr>
            <p:ph type="sldNum" sz="quarter" idx="11"/>
          </p:nvPr>
        </p:nvSpPr>
        <p:spPr bwMode="auto">
          <a:xfrm>
            <a:off x="11292116" y="6523921"/>
            <a:ext cx="508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marL="0" algn="ctr" defTabSz="914400" rtl="0" eaLnBrk="1" latinLnBrk="0" hangingPunct="1">
              <a:defRPr sz="1200" kern="1200">
                <a:solidFill>
                  <a:schemeClr val="tx1"/>
                </a:solidFill>
                <a:latin typeface="Arial" pitchFamily="34" charset="0"/>
                <a:ea typeface="Arial Unicode MS" pitchFamily="34" charset="-128"/>
                <a:cs typeface="Arial Unicode MS" pitchFamily="34"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F588C3-71D6-5D45-B118-1C664482E1C2}" type="slidenum">
              <a:rPr lang="en-US" smtClean="0"/>
              <a:pPr/>
              <a:t>93</a:t>
            </a:fld>
            <a:endParaRPr lang="en-US"/>
          </a:p>
        </p:txBody>
      </p:sp>
      <p:sp>
        <p:nvSpPr>
          <p:cNvPr id="6" name="TextBox 5"/>
          <p:cNvSpPr txBox="1"/>
          <p:nvPr/>
        </p:nvSpPr>
        <p:spPr>
          <a:xfrm rot="980589">
            <a:off x="2741787" y="5061127"/>
            <a:ext cx="4101243" cy="578882"/>
          </a:xfrm>
          <a:prstGeom prst="roundRect">
            <a:avLst/>
          </a:prstGeom>
          <a:solidFill>
            <a:srgbClr val="F2CEC2"/>
          </a:solidFill>
        </p:spPr>
        <p:txBody>
          <a:bodyPr wrap="square" rtlCol="0">
            <a:spAutoFit/>
          </a:bodyPr>
          <a:lstStyle/>
          <a:p>
            <a:pPr algn="ctr"/>
            <a:r>
              <a:rPr lang="en-US" sz="2800" dirty="0">
                <a:solidFill>
                  <a:schemeClr val="bg2"/>
                </a:solidFill>
                <a:latin typeface="Century Gothic" charset="0"/>
                <a:ea typeface="Century Gothic" charset="0"/>
                <a:cs typeface="Century Gothic" charset="0"/>
              </a:rPr>
              <a:t>Incidental supervision</a:t>
            </a:r>
          </a:p>
        </p:txBody>
      </p:sp>
      <p:sp>
        <p:nvSpPr>
          <p:cNvPr id="7" name="TextBox 6">
            <a:extLst>
              <a:ext uri="{FF2B5EF4-FFF2-40B4-BE49-F238E27FC236}">
                <a16:creationId xmlns:a16="http://schemas.microsoft.com/office/drawing/2014/main" xmlns=""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4180613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wipe(left)">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randombar(horizontal)">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Achilles heel of standard paradigms</a:t>
            </a:r>
          </a:p>
        </p:txBody>
      </p:sp>
      <p:sp>
        <p:nvSpPr>
          <p:cNvPr id="4" name="TextBox 3">
            <a:extLst>
              <a:ext uri="{FF2B5EF4-FFF2-40B4-BE49-F238E27FC236}">
                <a16:creationId xmlns:a16="http://schemas.microsoft.com/office/drawing/2014/main" xmlns="" id="{562F6794-3AE4-1E40-84CF-7328A7CA7EFA}"/>
              </a:ext>
            </a:extLst>
          </p:cNvPr>
          <p:cNvSpPr txBox="1"/>
          <p:nvPr/>
        </p:nvSpPr>
        <p:spPr>
          <a:xfrm>
            <a:off x="2214114" y="1139071"/>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5" name="Straight Arrow Connector 4">
            <a:extLst>
              <a:ext uri="{FF2B5EF4-FFF2-40B4-BE49-F238E27FC236}">
                <a16:creationId xmlns:a16="http://schemas.microsoft.com/office/drawing/2014/main" xmlns="" id="{AB8EFC0C-4274-B545-BAD2-9038B4618818}"/>
              </a:ext>
            </a:extLst>
          </p:cNvPr>
          <p:cNvCxnSpPr/>
          <p:nvPr/>
        </p:nvCxnSpPr>
        <p:spPr>
          <a:xfrm>
            <a:off x="3540798" y="1369903"/>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8885806C-EFFD-2C49-8160-9D3325534450}"/>
              </a:ext>
            </a:extLst>
          </p:cNvPr>
          <p:cNvSpPr txBox="1"/>
          <p:nvPr/>
        </p:nvSpPr>
        <p:spPr>
          <a:xfrm>
            <a:off x="4267200" y="1139071"/>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7" name="TextBox 6">
            <a:extLst>
              <a:ext uri="{FF2B5EF4-FFF2-40B4-BE49-F238E27FC236}">
                <a16:creationId xmlns:a16="http://schemas.microsoft.com/office/drawing/2014/main" xmlns="" id="{8110BAEE-3765-0344-AB26-82B2372D2067}"/>
              </a:ext>
            </a:extLst>
          </p:cNvPr>
          <p:cNvSpPr txBox="1"/>
          <p:nvPr/>
        </p:nvSpPr>
        <p:spPr>
          <a:xfrm>
            <a:off x="6372045" y="1139071"/>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8" name="Straight Arrow Connector 7">
            <a:extLst>
              <a:ext uri="{FF2B5EF4-FFF2-40B4-BE49-F238E27FC236}">
                <a16:creationId xmlns:a16="http://schemas.microsoft.com/office/drawing/2014/main" xmlns="" id="{D5655D16-6825-6E47-85B6-5716C5EDE2B4}"/>
              </a:ext>
            </a:extLst>
          </p:cNvPr>
          <p:cNvCxnSpPr/>
          <p:nvPr/>
        </p:nvCxnSpPr>
        <p:spPr>
          <a:xfrm>
            <a:off x="5628391" y="1369903"/>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xmlns="" id="{6E34B853-C8C5-824E-9802-B32A7F32B333}"/>
              </a:ext>
            </a:extLst>
          </p:cNvPr>
          <p:cNvGrpSpPr/>
          <p:nvPr/>
        </p:nvGrpSpPr>
        <p:grpSpPr>
          <a:xfrm>
            <a:off x="2214114" y="1553139"/>
            <a:ext cx="5794347" cy="461665"/>
            <a:chOff x="1940668" y="5333564"/>
            <a:chExt cx="5794347" cy="461665"/>
          </a:xfrm>
        </p:grpSpPr>
        <p:sp>
          <p:nvSpPr>
            <p:cNvPr id="10" name="TextBox 9">
              <a:extLst>
                <a:ext uri="{FF2B5EF4-FFF2-40B4-BE49-F238E27FC236}">
                  <a16:creationId xmlns:a16="http://schemas.microsoft.com/office/drawing/2014/main" xmlns="" id="{9AC4B3D9-2EAD-854C-BC10-2AAA815C29C9}"/>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11" name="Straight Arrow Connector 10">
              <a:extLst>
                <a:ext uri="{FF2B5EF4-FFF2-40B4-BE49-F238E27FC236}">
                  <a16:creationId xmlns:a16="http://schemas.microsoft.com/office/drawing/2014/main" xmlns="" id="{2A62EF9E-D230-6D42-98F2-C69C76BC8BA6}"/>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D89C3CE7-C2E1-FE42-81B4-44BA34E8843D}"/>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13" name="TextBox 12">
              <a:extLst>
                <a:ext uri="{FF2B5EF4-FFF2-40B4-BE49-F238E27FC236}">
                  <a16:creationId xmlns:a16="http://schemas.microsoft.com/office/drawing/2014/main" xmlns="" id="{10708E44-54A6-5144-9D43-2A16FEB315AD}"/>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14" name="Straight Arrow Connector 13">
              <a:extLst>
                <a:ext uri="{FF2B5EF4-FFF2-40B4-BE49-F238E27FC236}">
                  <a16:creationId xmlns:a16="http://schemas.microsoft.com/office/drawing/2014/main" xmlns="" id="{0C51669D-D1FE-CC43-9734-9A8E403B5739}"/>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xmlns="" id="{377B2C05-C130-ED4B-8B72-F3D53B58CA1A}"/>
              </a:ext>
            </a:extLst>
          </p:cNvPr>
          <p:cNvGrpSpPr/>
          <p:nvPr/>
        </p:nvGrpSpPr>
        <p:grpSpPr>
          <a:xfrm>
            <a:off x="2214114" y="1829185"/>
            <a:ext cx="5794347" cy="461665"/>
            <a:chOff x="1940668" y="5333564"/>
            <a:chExt cx="5794347" cy="461665"/>
          </a:xfrm>
        </p:grpSpPr>
        <p:sp>
          <p:nvSpPr>
            <p:cNvPr id="16" name="TextBox 15">
              <a:extLst>
                <a:ext uri="{FF2B5EF4-FFF2-40B4-BE49-F238E27FC236}">
                  <a16:creationId xmlns:a16="http://schemas.microsoft.com/office/drawing/2014/main" xmlns="" id="{CDD76320-815E-464F-A65A-486CB99F2426}"/>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17" name="Straight Arrow Connector 16">
              <a:extLst>
                <a:ext uri="{FF2B5EF4-FFF2-40B4-BE49-F238E27FC236}">
                  <a16:creationId xmlns:a16="http://schemas.microsoft.com/office/drawing/2014/main" xmlns="" id="{886B2818-EE86-2E41-8E0D-F4C1BC33D4CE}"/>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xmlns="" id="{7BCB28F9-EEB4-9442-A829-4DB2ECF13CF2}"/>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19" name="TextBox 18">
              <a:extLst>
                <a:ext uri="{FF2B5EF4-FFF2-40B4-BE49-F238E27FC236}">
                  <a16:creationId xmlns:a16="http://schemas.microsoft.com/office/drawing/2014/main" xmlns="" id="{5E3D8EAA-F289-7842-BA0F-70928BCD43E0}"/>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20" name="Straight Arrow Connector 19">
              <a:extLst>
                <a:ext uri="{FF2B5EF4-FFF2-40B4-BE49-F238E27FC236}">
                  <a16:creationId xmlns:a16="http://schemas.microsoft.com/office/drawing/2014/main" xmlns="" id="{716A585D-E85E-9044-94B2-B3794CA297CD}"/>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xmlns="" id="{40126CDE-8041-8D43-993A-4C2C69DCE9EA}"/>
              </a:ext>
            </a:extLst>
          </p:cNvPr>
          <p:cNvGrpSpPr/>
          <p:nvPr/>
        </p:nvGrpSpPr>
        <p:grpSpPr>
          <a:xfrm>
            <a:off x="2214114" y="2001714"/>
            <a:ext cx="5794347" cy="461665"/>
            <a:chOff x="1940668" y="5333564"/>
            <a:chExt cx="5794347" cy="461665"/>
          </a:xfrm>
        </p:grpSpPr>
        <p:sp>
          <p:nvSpPr>
            <p:cNvPr id="22" name="TextBox 21">
              <a:extLst>
                <a:ext uri="{FF2B5EF4-FFF2-40B4-BE49-F238E27FC236}">
                  <a16:creationId xmlns:a16="http://schemas.microsoft.com/office/drawing/2014/main" xmlns="" id="{B48D5817-A6CF-EB43-82D5-E4D19B60EDC1}"/>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23" name="Straight Arrow Connector 22">
              <a:extLst>
                <a:ext uri="{FF2B5EF4-FFF2-40B4-BE49-F238E27FC236}">
                  <a16:creationId xmlns:a16="http://schemas.microsoft.com/office/drawing/2014/main" xmlns="" id="{6BB4B3C7-E5F3-7F4B-8800-D048BBCEA396}"/>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xmlns="" id="{DA49BA51-40B9-5642-B4FB-CE403128B57D}"/>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25" name="TextBox 24">
              <a:extLst>
                <a:ext uri="{FF2B5EF4-FFF2-40B4-BE49-F238E27FC236}">
                  <a16:creationId xmlns:a16="http://schemas.microsoft.com/office/drawing/2014/main" xmlns="" id="{ACA82B52-7649-434E-8122-4CEEF68E95D7}"/>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26" name="Straight Arrow Connector 25">
              <a:extLst>
                <a:ext uri="{FF2B5EF4-FFF2-40B4-BE49-F238E27FC236}">
                  <a16:creationId xmlns:a16="http://schemas.microsoft.com/office/drawing/2014/main" xmlns="" id="{626CB0A0-54F7-F74B-99C5-9274EA9A9399}"/>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xmlns="" id="{1216D10A-6685-6245-B438-E599738845B0}"/>
              </a:ext>
            </a:extLst>
          </p:cNvPr>
          <p:cNvGrpSpPr/>
          <p:nvPr/>
        </p:nvGrpSpPr>
        <p:grpSpPr>
          <a:xfrm>
            <a:off x="2214114" y="2139736"/>
            <a:ext cx="5794347" cy="461665"/>
            <a:chOff x="1940668" y="5333564"/>
            <a:chExt cx="5794347" cy="461665"/>
          </a:xfrm>
        </p:grpSpPr>
        <p:sp>
          <p:nvSpPr>
            <p:cNvPr id="28" name="TextBox 27">
              <a:extLst>
                <a:ext uri="{FF2B5EF4-FFF2-40B4-BE49-F238E27FC236}">
                  <a16:creationId xmlns:a16="http://schemas.microsoft.com/office/drawing/2014/main" xmlns="" id="{0AC94939-1EFC-9A45-98CD-72E998FE74D0}"/>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29" name="Straight Arrow Connector 28">
              <a:extLst>
                <a:ext uri="{FF2B5EF4-FFF2-40B4-BE49-F238E27FC236}">
                  <a16:creationId xmlns:a16="http://schemas.microsoft.com/office/drawing/2014/main" xmlns="" id="{813799E5-1A5D-8340-A30C-1DB7D4BBA955}"/>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xmlns="" id="{26CC544C-4E86-FA4B-98B4-1E4687A05B6E}"/>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31" name="TextBox 30">
              <a:extLst>
                <a:ext uri="{FF2B5EF4-FFF2-40B4-BE49-F238E27FC236}">
                  <a16:creationId xmlns:a16="http://schemas.microsoft.com/office/drawing/2014/main" xmlns="" id="{11E78D7D-58AE-E84E-B222-8F2958D6EBA9}"/>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32" name="Straight Arrow Connector 31">
              <a:extLst>
                <a:ext uri="{FF2B5EF4-FFF2-40B4-BE49-F238E27FC236}">
                  <a16:creationId xmlns:a16="http://schemas.microsoft.com/office/drawing/2014/main" xmlns="" id="{4E0E93DC-583C-C54A-8236-B8C7C2BF710F}"/>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xmlns="" id="{43BBC695-7B58-AD45-9CD8-15202605F6B1}"/>
              </a:ext>
            </a:extLst>
          </p:cNvPr>
          <p:cNvGrpSpPr/>
          <p:nvPr/>
        </p:nvGrpSpPr>
        <p:grpSpPr>
          <a:xfrm>
            <a:off x="2214114" y="2260505"/>
            <a:ext cx="5794347" cy="461665"/>
            <a:chOff x="1940668" y="5333564"/>
            <a:chExt cx="5794347" cy="461665"/>
          </a:xfrm>
        </p:grpSpPr>
        <p:sp>
          <p:nvSpPr>
            <p:cNvPr id="34" name="TextBox 33">
              <a:extLst>
                <a:ext uri="{FF2B5EF4-FFF2-40B4-BE49-F238E27FC236}">
                  <a16:creationId xmlns:a16="http://schemas.microsoft.com/office/drawing/2014/main" xmlns="" id="{1A6BB080-B3C7-0B44-A5DB-8D2E63EB6657}"/>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35" name="Straight Arrow Connector 34">
              <a:extLst>
                <a:ext uri="{FF2B5EF4-FFF2-40B4-BE49-F238E27FC236}">
                  <a16:creationId xmlns:a16="http://schemas.microsoft.com/office/drawing/2014/main" xmlns="" id="{ED88F8FF-D200-4140-A61A-6896911FB422}"/>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xmlns="" id="{B2051B38-A958-294C-8D4B-A9305D80810C}"/>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37" name="TextBox 36">
              <a:extLst>
                <a:ext uri="{FF2B5EF4-FFF2-40B4-BE49-F238E27FC236}">
                  <a16:creationId xmlns:a16="http://schemas.microsoft.com/office/drawing/2014/main" xmlns="" id="{CF880968-4E94-9C4E-A39E-B484A5FCD5F9}"/>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38" name="Straight Arrow Connector 37">
              <a:extLst>
                <a:ext uri="{FF2B5EF4-FFF2-40B4-BE49-F238E27FC236}">
                  <a16:creationId xmlns:a16="http://schemas.microsoft.com/office/drawing/2014/main" xmlns="" id="{EEAF3928-80F4-1D44-BBEB-067E9C14647B}"/>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xmlns="" id="{8A0D11C8-346B-5548-82D5-F2221393E4CB}"/>
              </a:ext>
            </a:extLst>
          </p:cNvPr>
          <p:cNvGrpSpPr/>
          <p:nvPr/>
        </p:nvGrpSpPr>
        <p:grpSpPr>
          <a:xfrm>
            <a:off x="2214114" y="2364022"/>
            <a:ext cx="5794347" cy="461665"/>
            <a:chOff x="1940668" y="5333564"/>
            <a:chExt cx="5794347" cy="461665"/>
          </a:xfrm>
        </p:grpSpPr>
        <p:sp>
          <p:nvSpPr>
            <p:cNvPr id="40" name="TextBox 39">
              <a:extLst>
                <a:ext uri="{FF2B5EF4-FFF2-40B4-BE49-F238E27FC236}">
                  <a16:creationId xmlns:a16="http://schemas.microsoft.com/office/drawing/2014/main" xmlns="" id="{DC056E11-F178-AB46-B322-E66C0BB42B84}"/>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41" name="Straight Arrow Connector 40">
              <a:extLst>
                <a:ext uri="{FF2B5EF4-FFF2-40B4-BE49-F238E27FC236}">
                  <a16:creationId xmlns:a16="http://schemas.microsoft.com/office/drawing/2014/main" xmlns="" id="{9B98ABCC-9C58-7946-B1D9-03260E1FCD94}"/>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xmlns="" id="{8E27B1B4-D0D7-B347-8D0D-360D888B3F3C}"/>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43" name="TextBox 42">
              <a:extLst>
                <a:ext uri="{FF2B5EF4-FFF2-40B4-BE49-F238E27FC236}">
                  <a16:creationId xmlns:a16="http://schemas.microsoft.com/office/drawing/2014/main" xmlns="" id="{9B7EAC35-9126-1A47-9F1E-F432D95819D6}"/>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44" name="Straight Arrow Connector 43">
              <a:extLst>
                <a:ext uri="{FF2B5EF4-FFF2-40B4-BE49-F238E27FC236}">
                  <a16:creationId xmlns:a16="http://schemas.microsoft.com/office/drawing/2014/main" xmlns="" id="{A9A94ADC-EBAC-844C-930B-B052416FF72A}"/>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xmlns="" id="{30F47DBC-1597-6F47-8342-A113267A2C6A}"/>
              </a:ext>
            </a:extLst>
          </p:cNvPr>
          <p:cNvGrpSpPr/>
          <p:nvPr/>
        </p:nvGrpSpPr>
        <p:grpSpPr>
          <a:xfrm>
            <a:off x="2214114" y="2467539"/>
            <a:ext cx="5794347" cy="461665"/>
            <a:chOff x="1940668" y="5333564"/>
            <a:chExt cx="5794347" cy="461665"/>
          </a:xfrm>
        </p:grpSpPr>
        <p:sp>
          <p:nvSpPr>
            <p:cNvPr id="46" name="TextBox 45">
              <a:extLst>
                <a:ext uri="{FF2B5EF4-FFF2-40B4-BE49-F238E27FC236}">
                  <a16:creationId xmlns:a16="http://schemas.microsoft.com/office/drawing/2014/main" xmlns="" id="{2BB36A91-CE3B-2544-9959-03A24DFF3082}"/>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47" name="Straight Arrow Connector 46">
              <a:extLst>
                <a:ext uri="{FF2B5EF4-FFF2-40B4-BE49-F238E27FC236}">
                  <a16:creationId xmlns:a16="http://schemas.microsoft.com/office/drawing/2014/main" xmlns="" id="{B985074B-339F-064B-8594-588430AF0C5C}"/>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xmlns="" id="{5AAC9538-E216-D048-9A50-742B962B8A08}"/>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49" name="TextBox 48">
              <a:extLst>
                <a:ext uri="{FF2B5EF4-FFF2-40B4-BE49-F238E27FC236}">
                  <a16:creationId xmlns:a16="http://schemas.microsoft.com/office/drawing/2014/main" xmlns="" id="{D8F78F2A-782B-5547-8322-945B693B613C}"/>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50" name="Straight Arrow Connector 49">
              <a:extLst>
                <a:ext uri="{FF2B5EF4-FFF2-40B4-BE49-F238E27FC236}">
                  <a16:creationId xmlns:a16="http://schemas.microsoft.com/office/drawing/2014/main" xmlns="" id="{D68B5D95-0D45-1140-B801-2AAB49A5295B}"/>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xmlns="" id="{E95C1BA7-3658-3D44-9B48-029D072C916D}"/>
              </a:ext>
            </a:extLst>
          </p:cNvPr>
          <p:cNvGrpSpPr/>
          <p:nvPr/>
        </p:nvGrpSpPr>
        <p:grpSpPr>
          <a:xfrm>
            <a:off x="2214114" y="2519297"/>
            <a:ext cx="5794347" cy="461665"/>
            <a:chOff x="1940668" y="5333564"/>
            <a:chExt cx="5794347" cy="461665"/>
          </a:xfrm>
        </p:grpSpPr>
        <p:sp>
          <p:nvSpPr>
            <p:cNvPr id="52" name="TextBox 51">
              <a:extLst>
                <a:ext uri="{FF2B5EF4-FFF2-40B4-BE49-F238E27FC236}">
                  <a16:creationId xmlns:a16="http://schemas.microsoft.com/office/drawing/2014/main" xmlns="" id="{4687DD80-7327-4E48-83C3-47A2145CD263}"/>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53" name="Straight Arrow Connector 52">
              <a:extLst>
                <a:ext uri="{FF2B5EF4-FFF2-40B4-BE49-F238E27FC236}">
                  <a16:creationId xmlns:a16="http://schemas.microsoft.com/office/drawing/2014/main" xmlns="" id="{9B6096D9-A2E2-D34B-A84D-CFFC2231F8AE}"/>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xmlns="" id="{76CDED5D-B299-474A-8DAE-0F42166F32D2}"/>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55" name="TextBox 54">
              <a:extLst>
                <a:ext uri="{FF2B5EF4-FFF2-40B4-BE49-F238E27FC236}">
                  <a16:creationId xmlns:a16="http://schemas.microsoft.com/office/drawing/2014/main" xmlns="" id="{36EBDC4D-F295-BF42-A9B3-111DEBD016FA}"/>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56" name="Straight Arrow Connector 55">
              <a:extLst>
                <a:ext uri="{FF2B5EF4-FFF2-40B4-BE49-F238E27FC236}">
                  <a16:creationId xmlns:a16="http://schemas.microsoft.com/office/drawing/2014/main" xmlns="" id="{EB5A4E96-764D-DB41-A43A-D5058C348AA1}"/>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xmlns="" id="{6A2ED0DB-FB33-8D49-9F6B-A0C6F772729C}"/>
              </a:ext>
            </a:extLst>
          </p:cNvPr>
          <p:cNvGrpSpPr/>
          <p:nvPr/>
        </p:nvGrpSpPr>
        <p:grpSpPr>
          <a:xfrm>
            <a:off x="2214114" y="2605562"/>
            <a:ext cx="5794347" cy="461665"/>
            <a:chOff x="1940668" y="5333564"/>
            <a:chExt cx="5794347" cy="461665"/>
          </a:xfrm>
        </p:grpSpPr>
        <p:sp>
          <p:nvSpPr>
            <p:cNvPr id="58" name="TextBox 57">
              <a:extLst>
                <a:ext uri="{FF2B5EF4-FFF2-40B4-BE49-F238E27FC236}">
                  <a16:creationId xmlns:a16="http://schemas.microsoft.com/office/drawing/2014/main" xmlns="" id="{7567E6A1-B920-A142-B5F2-B5C0A83BF048}"/>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59" name="Straight Arrow Connector 58">
              <a:extLst>
                <a:ext uri="{FF2B5EF4-FFF2-40B4-BE49-F238E27FC236}">
                  <a16:creationId xmlns:a16="http://schemas.microsoft.com/office/drawing/2014/main" xmlns="" id="{26CB8072-07F9-F943-B95E-AB19612739EC}"/>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xmlns="" id="{4D528495-B495-DF4E-BD0B-968EDE934BEA}"/>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61" name="TextBox 60">
              <a:extLst>
                <a:ext uri="{FF2B5EF4-FFF2-40B4-BE49-F238E27FC236}">
                  <a16:creationId xmlns:a16="http://schemas.microsoft.com/office/drawing/2014/main" xmlns="" id="{68B295BD-AB2D-2941-9F65-27E4EC6AE63A}"/>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62" name="Straight Arrow Connector 61">
              <a:extLst>
                <a:ext uri="{FF2B5EF4-FFF2-40B4-BE49-F238E27FC236}">
                  <a16:creationId xmlns:a16="http://schemas.microsoft.com/office/drawing/2014/main" xmlns="" id="{EA984C12-D9A1-8E4B-B234-3FA42584727C}"/>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xmlns="" id="{E426CC25-FAC8-AD47-999F-24FBD099E8D6}"/>
              </a:ext>
            </a:extLst>
          </p:cNvPr>
          <p:cNvGrpSpPr/>
          <p:nvPr/>
        </p:nvGrpSpPr>
        <p:grpSpPr>
          <a:xfrm>
            <a:off x="2214114" y="2691826"/>
            <a:ext cx="5794347" cy="461665"/>
            <a:chOff x="1940668" y="5333564"/>
            <a:chExt cx="5794347" cy="461665"/>
          </a:xfrm>
        </p:grpSpPr>
        <p:sp>
          <p:nvSpPr>
            <p:cNvPr id="64" name="TextBox 63">
              <a:extLst>
                <a:ext uri="{FF2B5EF4-FFF2-40B4-BE49-F238E27FC236}">
                  <a16:creationId xmlns:a16="http://schemas.microsoft.com/office/drawing/2014/main" xmlns="" id="{8F519A1A-73E8-C947-8BB4-82812330AA62}"/>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65" name="Straight Arrow Connector 64">
              <a:extLst>
                <a:ext uri="{FF2B5EF4-FFF2-40B4-BE49-F238E27FC236}">
                  <a16:creationId xmlns:a16="http://schemas.microsoft.com/office/drawing/2014/main" xmlns="" id="{5CA7997A-176E-6E4B-AF85-0EDE0FFF28E8}"/>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xmlns="" id="{B2B66A27-334C-184A-910B-065FEFD2B3CA}"/>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67" name="TextBox 66">
              <a:extLst>
                <a:ext uri="{FF2B5EF4-FFF2-40B4-BE49-F238E27FC236}">
                  <a16:creationId xmlns:a16="http://schemas.microsoft.com/office/drawing/2014/main" xmlns="" id="{D8AE57CD-B3E9-3F46-A28C-CF2E198F7BA8}"/>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68" name="Straight Arrow Connector 67">
              <a:extLst>
                <a:ext uri="{FF2B5EF4-FFF2-40B4-BE49-F238E27FC236}">
                  <a16:creationId xmlns:a16="http://schemas.microsoft.com/office/drawing/2014/main" xmlns="" id="{A0928728-76E6-D64A-9E6F-258C5B3CE17F}"/>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xmlns="" id="{16187EE8-C205-F342-8974-C981166933F4}"/>
              </a:ext>
            </a:extLst>
          </p:cNvPr>
          <p:cNvGrpSpPr/>
          <p:nvPr/>
        </p:nvGrpSpPr>
        <p:grpSpPr>
          <a:xfrm>
            <a:off x="2214114" y="2743585"/>
            <a:ext cx="5794347" cy="461665"/>
            <a:chOff x="1940668" y="5333564"/>
            <a:chExt cx="5794347" cy="461665"/>
          </a:xfrm>
        </p:grpSpPr>
        <p:sp>
          <p:nvSpPr>
            <p:cNvPr id="70" name="TextBox 69">
              <a:extLst>
                <a:ext uri="{FF2B5EF4-FFF2-40B4-BE49-F238E27FC236}">
                  <a16:creationId xmlns:a16="http://schemas.microsoft.com/office/drawing/2014/main" xmlns="" id="{CF674092-6119-D64B-9F40-9D428D175651}"/>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71" name="Straight Arrow Connector 70">
              <a:extLst>
                <a:ext uri="{FF2B5EF4-FFF2-40B4-BE49-F238E27FC236}">
                  <a16:creationId xmlns:a16="http://schemas.microsoft.com/office/drawing/2014/main" xmlns="" id="{5D3F6A5E-DCBD-ED4C-AD63-95DFFB928203}"/>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xmlns="" id="{E673221B-4DBC-0842-B79A-BFE589D7055B}"/>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73" name="TextBox 72">
              <a:extLst>
                <a:ext uri="{FF2B5EF4-FFF2-40B4-BE49-F238E27FC236}">
                  <a16:creationId xmlns:a16="http://schemas.microsoft.com/office/drawing/2014/main" xmlns="" id="{E7B5F8F9-1552-F44D-9434-302A2CD2C466}"/>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74" name="Straight Arrow Connector 73">
              <a:extLst>
                <a:ext uri="{FF2B5EF4-FFF2-40B4-BE49-F238E27FC236}">
                  <a16:creationId xmlns:a16="http://schemas.microsoft.com/office/drawing/2014/main" xmlns="" id="{29E60503-E270-F94E-8D63-39259F72DF98}"/>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75" name="Right Brace 74">
            <a:extLst>
              <a:ext uri="{FF2B5EF4-FFF2-40B4-BE49-F238E27FC236}">
                <a16:creationId xmlns:a16="http://schemas.microsoft.com/office/drawing/2014/main" xmlns="" id="{1942F802-5AF6-254D-98D9-680626955628}"/>
              </a:ext>
            </a:extLst>
          </p:cNvPr>
          <p:cNvSpPr/>
          <p:nvPr/>
        </p:nvSpPr>
        <p:spPr>
          <a:xfrm flipH="1">
            <a:off x="2282227" y="1217350"/>
            <a:ext cx="292477" cy="1873079"/>
          </a:xfrm>
          <a:prstGeom prst="rightBrac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76" name="TextBox 75">
            <a:extLst>
              <a:ext uri="{FF2B5EF4-FFF2-40B4-BE49-F238E27FC236}">
                <a16:creationId xmlns:a16="http://schemas.microsoft.com/office/drawing/2014/main" xmlns="" id="{3CFF7D82-32D3-DB4B-A8E1-1C858E9A1F97}"/>
              </a:ext>
            </a:extLst>
          </p:cNvPr>
          <p:cNvSpPr txBox="1"/>
          <p:nvPr/>
        </p:nvSpPr>
        <p:spPr>
          <a:xfrm>
            <a:off x="510749" y="1891173"/>
            <a:ext cx="1603324"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Not scalable</a:t>
            </a:r>
          </a:p>
        </p:txBody>
      </p:sp>
      <p:sp>
        <p:nvSpPr>
          <p:cNvPr id="77" name="TextBox 76"/>
          <p:cNvSpPr txBox="1"/>
          <p:nvPr/>
        </p:nvSpPr>
        <p:spPr>
          <a:xfrm>
            <a:off x="192383" y="4043987"/>
            <a:ext cx="8799217" cy="2616101"/>
          </a:xfrm>
          <a:prstGeom prst="rect">
            <a:avLst/>
          </a:prstGeom>
          <a:noFill/>
        </p:spPr>
        <p:txBody>
          <a:bodyPr wrap="square" rtlCol="0">
            <a:spAutoFit/>
          </a:bodyPr>
          <a:lstStyle/>
          <a:p>
            <a:pPr>
              <a:spcBef>
                <a:spcPts val="600"/>
              </a:spcBef>
              <a:spcAft>
                <a:spcPts val="600"/>
              </a:spcAft>
              <a:buSzPct val="65000"/>
            </a:pPr>
            <a:r>
              <a:rPr lang="en-US" sz="2400" b="1" dirty="0">
                <a:solidFill>
                  <a:schemeClr val="bg2"/>
                </a:solidFill>
                <a:latin typeface="Century Gothic" charset="0"/>
                <a:ea typeface="Century Gothic" charset="0"/>
                <a:cs typeface="Century Gothic" charset="0"/>
              </a:rPr>
              <a:t>Incidental</a:t>
            </a:r>
            <a:r>
              <a:rPr lang="en-US" sz="2400" dirty="0">
                <a:solidFill>
                  <a:schemeClr val="bg2"/>
                </a:solidFill>
                <a:latin typeface="Century Gothic" charset="0"/>
                <a:ea typeface="Century Gothic" charset="0"/>
                <a:cs typeface="Century Gothic" charset="0"/>
              </a:rPr>
              <a:t> </a:t>
            </a:r>
            <a:r>
              <a:rPr lang="en-US" sz="2400" b="1" dirty="0">
                <a:solidFill>
                  <a:schemeClr val="bg2"/>
                </a:solidFill>
                <a:latin typeface="Century Gothic" charset="0"/>
                <a:ea typeface="Century Gothic" charset="0"/>
                <a:cs typeface="Century Gothic" charset="0"/>
              </a:rPr>
              <a:t>supervision </a:t>
            </a:r>
            <a:r>
              <a:rPr lang="en-US" sz="2400" dirty="0">
                <a:solidFill>
                  <a:schemeClr val="bg2"/>
                </a:solidFill>
                <a:latin typeface="Century Gothic" charset="0"/>
                <a:ea typeface="Century Gothic" charset="0"/>
                <a:cs typeface="Century Gothic" charset="0"/>
              </a:rPr>
              <a:t>is the idea of learning from indirect signals, which may be </a:t>
            </a:r>
            <a:r>
              <a:rPr lang="en-US" sz="2400" dirty="0" smtClean="0">
                <a:solidFill>
                  <a:schemeClr val="bg2"/>
                </a:solidFill>
                <a:latin typeface="Century Gothic" charset="0"/>
                <a:ea typeface="Century Gothic" charset="0"/>
                <a:cs typeface="Century Gothic" charset="0"/>
              </a:rPr>
              <a:t>partial, noisy</a:t>
            </a:r>
            <a:r>
              <a:rPr lang="en-US" sz="2400" dirty="0">
                <a:solidFill>
                  <a:schemeClr val="bg2"/>
                </a:solidFill>
                <a:latin typeface="Century Gothic" charset="0"/>
                <a:ea typeface="Century Gothic" charset="0"/>
                <a:cs typeface="Century Gothic" charset="0"/>
              </a:rPr>
              <a:t>, or only correlated.</a:t>
            </a:r>
          </a:p>
          <a:p>
            <a:pPr>
              <a:spcBef>
                <a:spcPts val="600"/>
              </a:spcBef>
              <a:spcAft>
                <a:spcPts val="600"/>
              </a:spcAft>
              <a:buSzPct val="65000"/>
            </a:pPr>
            <a:endParaRPr lang="en-US" sz="2400" dirty="0">
              <a:solidFill>
                <a:schemeClr val="bg2"/>
              </a:solidFill>
              <a:latin typeface="Century Gothic" charset="0"/>
              <a:ea typeface="Century Gothic" charset="0"/>
              <a:cs typeface="Century Gothic" charset="0"/>
            </a:endParaRPr>
          </a:p>
          <a:p>
            <a:pPr>
              <a:spcBef>
                <a:spcPts val="600"/>
              </a:spcBef>
              <a:spcAft>
                <a:spcPts val="600"/>
              </a:spcAft>
              <a:buSzPct val="65000"/>
            </a:pPr>
            <a:r>
              <a:rPr lang="en-US" sz="2400" dirty="0">
                <a:solidFill>
                  <a:schemeClr val="bg2"/>
                </a:solidFill>
                <a:latin typeface="Century Gothic" charset="0"/>
                <a:ea typeface="Century Gothic" charset="0"/>
                <a:cs typeface="Century Gothic" charset="0"/>
              </a:rPr>
              <a:t>My vision is that situation-level tasks will require gigantic training data, and at that time, incidental supervision will be crucial for them.</a:t>
            </a:r>
          </a:p>
        </p:txBody>
      </p:sp>
    </p:spTree>
    <p:extLst>
      <p:ext uri="{BB962C8B-B14F-4D97-AF65-F5344CB8AC3E}">
        <p14:creationId xmlns:p14="http://schemas.microsoft.com/office/powerpoint/2010/main" val="141261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1"/>
                                          </p:val>
                                        </p:tav>
                                        <p:tav tm="100000">
                                          <p:val>
                                            <p:strVal val="#ppt_y"/>
                                          </p:val>
                                        </p:tav>
                                      </p:tavLst>
                                    </p:anim>
                                  </p:childTnLst>
                                </p:cTn>
                              </p:par>
                            </p:childTnLst>
                          </p:cTn>
                        </p:par>
                        <p:par>
                          <p:cTn id="33" fill="hold">
                            <p:stCondLst>
                              <p:cond delay="500"/>
                            </p:stCondLst>
                            <p:childTnLst>
                              <p:par>
                                <p:cTn id="34" presetID="42" presetClass="entr" presetSubtype="0" fill="hold"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anim calcmode="lin" valueType="num">
                                      <p:cBhvr>
                                        <p:cTn id="37" dur="500" fill="hold"/>
                                        <p:tgtEl>
                                          <p:spTgt spid="15"/>
                                        </p:tgtEl>
                                        <p:attrNameLst>
                                          <p:attrName>ppt_x</p:attrName>
                                        </p:attrNameLst>
                                      </p:cBhvr>
                                      <p:tavLst>
                                        <p:tav tm="0">
                                          <p:val>
                                            <p:strVal val="#ppt_x"/>
                                          </p:val>
                                        </p:tav>
                                        <p:tav tm="100000">
                                          <p:val>
                                            <p:strVal val="#ppt_x"/>
                                          </p:val>
                                        </p:tav>
                                      </p:tavLst>
                                    </p:anim>
                                    <p:anim calcmode="lin" valueType="num">
                                      <p:cBhvr>
                                        <p:cTn id="38" dur="500" fill="hold"/>
                                        <p:tgtEl>
                                          <p:spTgt spid="15"/>
                                        </p:tgtEl>
                                        <p:attrNameLst>
                                          <p:attrName>ppt_y</p:attrName>
                                        </p:attrNameLst>
                                      </p:cBhvr>
                                      <p:tavLst>
                                        <p:tav tm="0">
                                          <p:val>
                                            <p:strVal val="#ppt_y+.1"/>
                                          </p:val>
                                        </p:tav>
                                        <p:tav tm="100000">
                                          <p:val>
                                            <p:strVal val="#ppt_y"/>
                                          </p:val>
                                        </p:tav>
                                      </p:tavLst>
                                    </p:anim>
                                  </p:childTnLst>
                                </p:cTn>
                              </p:par>
                            </p:childTnLst>
                          </p:cTn>
                        </p:par>
                        <p:par>
                          <p:cTn id="39" fill="hold">
                            <p:stCondLst>
                              <p:cond delay="1000"/>
                            </p:stCondLst>
                            <p:childTnLst>
                              <p:par>
                                <p:cTn id="40" presetID="42" presetClass="entr" presetSubtype="0" fill="hold" nodeType="after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250"/>
                                        <p:tgtEl>
                                          <p:spTgt spid="21"/>
                                        </p:tgtEl>
                                      </p:cBhvr>
                                    </p:animEffect>
                                    <p:anim calcmode="lin" valueType="num">
                                      <p:cBhvr>
                                        <p:cTn id="43" dur="250" fill="hold"/>
                                        <p:tgtEl>
                                          <p:spTgt spid="21"/>
                                        </p:tgtEl>
                                        <p:attrNameLst>
                                          <p:attrName>ppt_x</p:attrName>
                                        </p:attrNameLst>
                                      </p:cBhvr>
                                      <p:tavLst>
                                        <p:tav tm="0">
                                          <p:val>
                                            <p:strVal val="#ppt_x"/>
                                          </p:val>
                                        </p:tav>
                                        <p:tav tm="100000">
                                          <p:val>
                                            <p:strVal val="#ppt_x"/>
                                          </p:val>
                                        </p:tav>
                                      </p:tavLst>
                                    </p:anim>
                                    <p:anim calcmode="lin" valueType="num">
                                      <p:cBhvr>
                                        <p:cTn id="44" dur="250" fill="hold"/>
                                        <p:tgtEl>
                                          <p:spTgt spid="21"/>
                                        </p:tgtEl>
                                        <p:attrNameLst>
                                          <p:attrName>ppt_y</p:attrName>
                                        </p:attrNameLst>
                                      </p:cBhvr>
                                      <p:tavLst>
                                        <p:tav tm="0">
                                          <p:val>
                                            <p:strVal val="#ppt_y+.1"/>
                                          </p:val>
                                        </p:tav>
                                        <p:tav tm="100000">
                                          <p:val>
                                            <p:strVal val="#ppt_y"/>
                                          </p:val>
                                        </p:tav>
                                      </p:tavLst>
                                    </p:anim>
                                  </p:childTnLst>
                                </p:cTn>
                              </p:par>
                            </p:childTnLst>
                          </p:cTn>
                        </p:par>
                        <p:par>
                          <p:cTn id="45" fill="hold">
                            <p:stCondLst>
                              <p:cond delay="1250"/>
                            </p:stCondLst>
                            <p:childTnLst>
                              <p:par>
                                <p:cTn id="46" presetID="42" presetClass="entr" presetSubtype="0" fill="hold" nodeType="after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250"/>
                                        <p:tgtEl>
                                          <p:spTgt spid="27"/>
                                        </p:tgtEl>
                                      </p:cBhvr>
                                    </p:animEffect>
                                    <p:anim calcmode="lin" valueType="num">
                                      <p:cBhvr>
                                        <p:cTn id="49" dur="250" fill="hold"/>
                                        <p:tgtEl>
                                          <p:spTgt spid="27"/>
                                        </p:tgtEl>
                                        <p:attrNameLst>
                                          <p:attrName>ppt_x</p:attrName>
                                        </p:attrNameLst>
                                      </p:cBhvr>
                                      <p:tavLst>
                                        <p:tav tm="0">
                                          <p:val>
                                            <p:strVal val="#ppt_x"/>
                                          </p:val>
                                        </p:tav>
                                        <p:tav tm="100000">
                                          <p:val>
                                            <p:strVal val="#ppt_x"/>
                                          </p:val>
                                        </p:tav>
                                      </p:tavLst>
                                    </p:anim>
                                    <p:anim calcmode="lin" valueType="num">
                                      <p:cBhvr>
                                        <p:cTn id="50" dur="250" fill="hold"/>
                                        <p:tgtEl>
                                          <p:spTgt spid="27"/>
                                        </p:tgtEl>
                                        <p:attrNameLst>
                                          <p:attrName>ppt_y</p:attrName>
                                        </p:attrNameLst>
                                      </p:cBhvr>
                                      <p:tavLst>
                                        <p:tav tm="0">
                                          <p:val>
                                            <p:strVal val="#ppt_y+.1"/>
                                          </p:val>
                                        </p:tav>
                                        <p:tav tm="100000">
                                          <p:val>
                                            <p:strVal val="#ppt_y"/>
                                          </p:val>
                                        </p:tav>
                                      </p:tavLst>
                                    </p:anim>
                                  </p:childTnLst>
                                </p:cTn>
                              </p:par>
                            </p:childTnLst>
                          </p:cTn>
                        </p:par>
                        <p:par>
                          <p:cTn id="51" fill="hold">
                            <p:stCondLst>
                              <p:cond delay="1500"/>
                            </p:stCondLst>
                            <p:childTnLst>
                              <p:par>
                                <p:cTn id="52" presetID="42" presetClass="entr" presetSubtype="0" fill="hold"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100"/>
                                        <p:tgtEl>
                                          <p:spTgt spid="33"/>
                                        </p:tgtEl>
                                      </p:cBhvr>
                                    </p:animEffect>
                                    <p:anim calcmode="lin" valueType="num">
                                      <p:cBhvr>
                                        <p:cTn id="55" dur="100" fill="hold"/>
                                        <p:tgtEl>
                                          <p:spTgt spid="33"/>
                                        </p:tgtEl>
                                        <p:attrNameLst>
                                          <p:attrName>ppt_x</p:attrName>
                                        </p:attrNameLst>
                                      </p:cBhvr>
                                      <p:tavLst>
                                        <p:tav tm="0">
                                          <p:val>
                                            <p:strVal val="#ppt_x"/>
                                          </p:val>
                                        </p:tav>
                                        <p:tav tm="100000">
                                          <p:val>
                                            <p:strVal val="#ppt_x"/>
                                          </p:val>
                                        </p:tav>
                                      </p:tavLst>
                                    </p:anim>
                                    <p:anim calcmode="lin" valueType="num">
                                      <p:cBhvr>
                                        <p:cTn id="56" dur="100" fill="hold"/>
                                        <p:tgtEl>
                                          <p:spTgt spid="33"/>
                                        </p:tgtEl>
                                        <p:attrNameLst>
                                          <p:attrName>ppt_y</p:attrName>
                                        </p:attrNameLst>
                                      </p:cBhvr>
                                      <p:tavLst>
                                        <p:tav tm="0">
                                          <p:val>
                                            <p:strVal val="#ppt_y+.1"/>
                                          </p:val>
                                        </p:tav>
                                        <p:tav tm="100000">
                                          <p:val>
                                            <p:strVal val="#ppt_y"/>
                                          </p:val>
                                        </p:tav>
                                      </p:tavLst>
                                    </p:anim>
                                  </p:childTnLst>
                                </p:cTn>
                              </p:par>
                            </p:childTnLst>
                          </p:cTn>
                        </p:par>
                        <p:par>
                          <p:cTn id="57" fill="hold">
                            <p:stCondLst>
                              <p:cond delay="1600"/>
                            </p:stCondLst>
                            <p:childTnLst>
                              <p:par>
                                <p:cTn id="58" presetID="42" presetClass="entr" presetSubtype="0" fill="hold" nodeType="after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100"/>
                                        <p:tgtEl>
                                          <p:spTgt spid="39"/>
                                        </p:tgtEl>
                                      </p:cBhvr>
                                    </p:animEffect>
                                    <p:anim calcmode="lin" valueType="num">
                                      <p:cBhvr>
                                        <p:cTn id="61" dur="100" fill="hold"/>
                                        <p:tgtEl>
                                          <p:spTgt spid="39"/>
                                        </p:tgtEl>
                                        <p:attrNameLst>
                                          <p:attrName>ppt_x</p:attrName>
                                        </p:attrNameLst>
                                      </p:cBhvr>
                                      <p:tavLst>
                                        <p:tav tm="0">
                                          <p:val>
                                            <p:strVal val="#ppt_x"/>
                                          </p:val>
                                        </p:tav>
                                        <p:tav tm="100000">
                                          <p:val>
                                            <p:strVal val="#ppt_x"/>
                                          </p:val>
                                        </p:tav>
                                      </p:tavLst>
                                    </p:anim>
                                    <p:anim calcmode="lin" valueType="num">
                                      <p:cBhvr>
                                        <p:cTn id="62" dur="100" fill="hold"/>
                                        <p:tgtEl>
                                          <p:spTgt spid="39"/>
                                        </p:tgtEl>
                                        <p:attrNameLst>
                                          <p:attrName>ppt_y</p:attrName>
                                        </p:attrNameLst>
                                      </p:cBhvr>
                                      <p:tavLst>
                                        <p:tav tm="0">
                                          <p:val>
                                            <p:strVal val="#ppt_y+.1"/>
                                          </p:val>
                                        </p:tav>
                                        <p:tav tm="100000">
                                          <p:val>
                                            <p:strVal val="#ppt_y"/>
                                          </p:val>
                                        </p:tav>
                                      </p:tavLst>
                                    </p:anim>
                                  </p:childTnLst>
                                </p:cTn>
                              </p:par>
                            </p:childTnLst>
                          </p:cTn>
                        </p:par>
                        <p:par>
                          <p:cTn id="63" fill="hold">
                            <p:stCondLst>
                              <p:cond delay="1700"/>
                            </p:stCondLst>
                            <p:childTnLst>
                              <p:par>
                                <p:cTn id="64" presetID="42" presetClass="entr" presetSubtype="0" fill="hold" nodeType="after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fade">
                                      <p:cBhvr>
                                        <p:cTn id="66" dur="100"/>
                                        <p:tgtEl>
                                          <p:spTgt spid="45"/>
                                        </p:tgtEl>
                                      </p:cBhvr>
                                    </p:animEffect>
                                    <p:anim calcmode="lin" valueType="num">
                                      <p:cBhvr>
                                        <p:cTn id="67" dur="100" fill="hold"/>
                                        <p:tgtEl>
                                          <p:spTgt spid="45"/>
                                        </p:tgtEl>
                                        <p:attrNameLst>
                                          <p:attrName>ppt_x</p:attrName>
                                        </p:attrNameLst>
                                      </p:cBhvr>
                                      <p:tavLst>
                                        <p:tav tm="0">
                                          <p:val>
                                            <p:strVal val="#ppt_x"/>
                                          </p:val>
                                        </p:tav>
                                        <p:tav tm="100000">
                                          <p:val>
                                            <p:strVal val="#ppt_x"/>
                                          </p:val>
                                        </p:tav>
                                      </p:tavLst>
                                    </p:anim>
                                    <p:anim calcmode="lin" valueType="num">
                                      <p:cBhvr>
                                        <p:cTn id="68" dur="100" fill="hold"/>
                                        <p:tgtEl>
                                          <p:spTgt spid="45"/>
                                        </p:tgtEl>
                                        <p:attrNameLst>
                                          <p:attrName>ppt_y</p:attrName>
                                        </p:attrNameLst>
                                      </p:cBhvr>
                                      <p:tavLst>
                                        <p:tav tm="0">
                                          <p:val>
                                            <p:strVal val="#ppt_y+.1"/>
                                          </p:val>
                                        </p:tav>
                                        <p:tav tm="100000">
                                          <p:val>
                                            <p:strVal val="#ppt_y"/>
                                          </p:val>
                                        </p:tav>
                                      </p:tavLst>
                                    </p:anim>
                                  </p:childTnLst>
                                </p:cTn>
                              </p:par>
                            </p:childTnLst>
                          </p:cTn>
                        </p:par>
                        <p:par>
                          <p:cTn id="69" fill="hold">
                            <p:stCondLst>
                              <p:cond delay="1800"/>
                            </p:stCondLst>
                            <p:childTnLst>
                              <p:par>
                                <p:cTn id="70" presetID="42" presetClass="entr" presetSubtype="0" fill="hold" nodeType="after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100"/>
                                        <p:tgtEl>
                                          <p:spTgt spid="51"/>
                                        </p:tgtEl>
                                      </p:cBhvr>
                                    </p:animEffect>
                                    <p:anim calcmode="lin" valueType="num">
                                      <p:cBhvr>
                                        <p:cTn id="73" dur="100" fill="hold"/>
                                        <p:tgtEl>
                                          <p:spTgt spid="51"/>
                                        </p:tgtEl>
                                        <p:attrNameLst>
                                          <p:attrName>ppt_x</p:attrName>
                                        </p:attrNameLst>
                                      </p:cBhvr>
                                      <p:tavLst>
                                        <p:tav tm="0">
                                          <p:val>
                                            <p:strVal val="#ppt_x"/>
                                          </p:val>
                                        </p:tav>
                                        <p:tav tm="100000">
                                          <p:val>
                                            <p:strVal val="#ppt_x"/>
                                          </p:val>
                                        </p:tav>
                                      </p:tavLst>
                                    </p:anim>
                                    <p:anim calcmode="lin" valueType="num">
                                      <p:cBhvr>
                                        <p:cTn id="74" dur="100" fill="hold"/>
                                        <p:tgtEl>
                                          <p:spTgt spid="51"/>
                                        </p:tgtEl>
                                        <p:attrNameLst>
                                          <p:attrName>ppt_y</p:attrName>
                                        </p:attrNameLst>
                                      </p:cBhvr>
                                      <p:tavLst>
                                        <p:tav tm="0">
                                          <p:val>
                                            <p:strVal val="#ppt_y+.1"/>
                                          </p:val>
                                        </p:tav>
                                        <p:tav tm="100000">
                                          <p:val>
                                            <p:strVal val="#ppt_y"/>
                                          </p:val>
                                        </p:tav>
                                      </p:tavLst>
                                    </p:anim>
                                  </p:childTnLst>
                                </p:cTn>
                              </p:par>
                            </p:childTnLst>
                          </p:cTn>
                        </p:par>
                        <p:par>
                          <p:cTn id="75" fill="hold">
                            <p:stCondLst>
                              <p:cond delay="1900"/>
                            </p:stCondLst>
                            <p:childTnLst>
                              <p:par>
                                <p:cTn id="76" presetID="42" presetClass="entr" presetSubtype="0" fill="hold" nodeType="afterEffect">
                                  <p:stCondLst>
                                    <p:cond delay="0"/>
                                  </p:stCondLst>
                                  <p:childTnLst>
                                    <p:set>
                                      <p:cBhvr>
                                        <p:cTn id="77" dur="1" fill="hold">
                                          <p:stCondLst>
                                            <p:cond delay="0"/>
                                          </p:stCondLst>
                                        </p:cTn>
                                        <p:tgtEl>
                                          <p:spTgt spid="57"/>
                                        </p:tgtEl>
                                        <p:attrNameLst>
                                          <p:attrName>style.visibility</p:attrName>
                                        </p:attrNameLst>
                                      </p:cBhvr>
                                      <p:to>
                                        <p:strVal val="visible"/>
                                      </p:to>
                                    </p:set>
                                    <p:animEffect transition="in" filter="fade">
                                      <p:cBhvr>
                                        <p:cTn id="78" dur="100"/>
                                        <p:tgtEl>
                                          <p:spTgt spid="57"/>
                                        </p:tgtEl>
                                      </p:cBhvr>
                                    </p:animEffect>
                                    <p:anim calcmode="lin" valueType="num">
                                      <p:cBhvr>
                                        <p:cTn id="79" dur="100" fill="hold"/>
                                        <p:tgtEl>
                                          <p:spTgt spid="57"/>
                                        </p:tgtEl>
                                        <p:attrNameLst>
                                          <p:attrName>ppt_x</p:attrName>
                                        </p:attrNameLst>
                                      </p:cBhvr>
                                      <p:tavLst>
                                        <p:tav tm="0">
                                          <p:val>
                                            <p:strVal val="#ppt_x"/>
                                          </p:val>
                                        </p:tav>
                                        <p:tav tm="100000">
                                          <p:val>
                                            <p:strVal val="#ppt_x"/>
                                          </p:val>
                                        </p:tav>
                                      </p:tavLst>
                                    </p:anim>
                                    <p:anim calcmode="lin" valueType="num">
                                      <p:cBhvr>
                                        <p:cTn id="80" dur="100" fill="hold"/>
                                        <p:tgtEl>
                                          <p:spTgt spid="57"/>
                                        </p:tgtEl>
                                        <p:attrNameLst>
                                          <p:attrName>ppt_y</p:attrName>
                                        </p:attrNameLst>
                                      </p:cBhvr>
                                      <p:tavLst>
                                        <p:tav tm="0">
                                          <p:val>
                                            <p:strVal val="#ppt_y+.1"/>
                                          </p:val>
                                        </p:tav>
                                        <p:tav tm="100000">
                                          <p:val>
                                            <p:strVal val="#ppt_y"/>
                                          </p:val>
                                        </p:tav>
                                      </p:tavLst>
                                    </p:anim>
                                  </p:childTnLst>
                                </p:cTn>
                              </p:par>
                            </p:childTnLst>
                          </p:cTn>
                        </p:par>
                        <p:par>
                          <p:cTn id="81" fill="hold">
                            <p:stCondLst>
                              <p:cond delay="2000"/>
                            </p:stCondLst>
                            <p:childTnLst>
                              <p:par>
                                <p:cTn id="82" presetID="42" presetClass="entr" presetSubtype="0" fill="hold" nodeType="afterEffect">
                                  <p:stCondLst>
                                    <p:cond delay="0"/>
                                  </p:stCondLst>
                                  <p:childTnLst>
                                    <p:set>
                                      <p:cBhvr>
                                        <p:cTn id="83" dur="1" fill="hold">
                                          <p:stCondLst>
                                            <p:cond delay="0"/>
                                          </p:stCondLst>
                                        </p:cTn>
                                        <p:tgtEl>
                                          <p:spTgt spid="63"/>
                                        </p:tgtEl>
                                        <p:attrNameLst>
                                          <p:attrName>style.visibility</p:attrName>
                                        </p:attrNameLst>
                                      </p:cBhvr>
                                      <p:to>
                                        <p:strVal val="visible"/>
                                      </p:to>
                                    </p:set>
                                    <p:animEffect transition="in" filter="fade">
                                      <p:cBhvr>
                                        <p:cTn id="84" dur="100"/>
                                        <p:tgtEl>
                                          <p:spTgt spid="63"/>
                                        </p:tgtEl>
                                      </p:cBhvr>
                                    </p:animEffect>
                                    <p:anim calcmode="lin" valueType="num">
                                      <p:cBhvr>
                                        <p:cTn id="85" dur="100" fill="hold"/>
                                        <p:tgtEl>
                                          <p:spTgt spid="63"/>
                                        </p:tgtEl>
                                        <p:attrNameLst>
                                          <p:attrName>ppt_x</p:attrName>
                                        </p:attrNameLst>
                                      </p:cBhvr>
                                      <p:tavLst>
                                        <p:tav tm="0">
                                          <p:val>
                                            <p:strVal val="#ppt_x"/>
                                          </p:val>
                                        </p:tav>
                                        <p:tav tm="100000">
                                          <p:val>
                                            <p:strVal val="#ppt_x"/>
                                          </p:val>
                                        </p:tav>
                                      </p:tavLst>
                                    </p:anim>
                                    <p:anim calcmode="lin" valueType="num">
                                      <p:cBhvr>
                                        <p:cTn id="86" dur="100" fill="hold"/>
                                        <p:tgtEl>
                                          <p:spTgt spid="63"/>
                                        </p:tgtEl>
                                        <p:attrNameLst>
                                          <p:attrName>ppt_y</p:attrName>
                                        </p:attrNameLst>
                                      </p:cBhvr>
                                      <p:tavLst>
                                        <p:tav tm="0">
                                          <p:val>
                                            <p:strVal val="#ppt_y+.1"/>
                                          </p:val>
                                        </p:tav>
                                        <p:tav tm="100000">
                                          <p:val>
                                            <p:strVal val="#ppt_y"/>
                                          </p:val>
                                        </p:tav>
                                      </p:tavLst>
                                    </p:anim>
                                  </p:childTnLst>
                                </p:cTn>
                              </p:par>
                            </p:childTnLst>
                          </p:cTn>
                        </p:par>
                        <p:par>
                          <p:cTn id="87" fill="hold">
                            <p:stCondLst>
                              <p:cond delay="2100"/>
                            </p:stCondLst>
                            <p:childTnLst>
                              <p:par>
                                <p:cTn id="88" presetID="42" presetClass="entr" presetSubtype="0" fill="hold" nodeType="afterEffect">
                                  <p:stCondLst>
                                    <p:cond delay="0"/>
                                  </p:stCondLst>
                                  <p:childTnLst>
                                    <p:set>
                                      <p:cBhvr>
                                        <p:cTn id="89" dur="1" fill="hold">
                                          <p:stCondLst>
                                            <p:cond delay="0"/>
                                          </p:stCondLst>
                                        </p:cTn>
                                        <p:tgtEl>
                                          <p:spTgt spid="69"/>
                                        </p:tgtEl>
                                        <p:attrNameLst>
                                          <p:attrName>style.visibility</p:attrName>
                                        </p:attrNameLst>
                                      </p:cBhvr>
                                      <p:to>
                                        <p:strVal val="visible"/>
                                      </p:to>
                                    </p:set>
                                    <p:animEffect transition="in" filter="fade">
                                      <p:cBhvr>
                                        <p:cTn id="90" dur="100"/>
                                        <p:tgtEl>
                                          <p:spTgt spid="69"/>
                                        </p:tgtEl>
                                      </p:cBhvr>
                                    </p:animEffect>
                                    <p:anim calcmode="lin" valueType="num">
                                      <p:cBhvr>
                                        <p:cTn id="91" dur="100" fill="hold"/>
                                        <p:tgtEl>
                                          <p:spTgt spid="69"/>
                                        </p:tgtEl>
                                        <p:attrNameLst>
                                          <p:attrName>ppt_x</p:attrName>
                                        </p:attrNameLst>
                                      </p:cBhvr>
                                      <p:tavLst>
                                        <p:tav tm="0">
                                          <p:val>
                                            <p:strVal val="#ppt_x"/>
                                          </p:val>
                                        </p:tav>
                                        <p:tav tm="100000">
                                          <p:val>
                                            <p:strVal val="#ppt_x"/>
                                          </p:val>
                                        </p:tav>
                                      </p:tavLst>
                                    </p:anim>
                                    <p:anim calcmode="lin" valueType="num">
                                      <p:cBhvr>
                                        <p:cTn id="92" dur="100" fill="hold"/>
                                        <p:tgtEl>
                                          <p:spTgt spid="69"/>
                                        </p:tgtEl>
                                        <p:attrNameLst>
                                          <p:attrName>ppt_y</p:attrName>
                                        </p:attrNameLst>
                                      </p:cBhvr>
                                      <p:tavLst>
                                        <p:tav tm="0">
                                          <p:val>
                                            <p:strVal val="#ppt_y+.1"/>
                                          </p:val>
                                        </p:tav>
                                        <p:tav tm="100000">
                                          <p:val>
                                            <p:strVal val="#ppt_y"/>
                                          </p:val>
                                        </p:tav>
                                      </p:tavLst>
                                    </p:anim>
                                  </p:childTnLst>
                                </p:cTn>
                              </p:par>
                            </p:childTnLst>
                          </p:cTn>
                        </p:par>
                        <p:par>
                          <p:cTn id="93" fill="hold">
                            <p:stCondLst>
                              <p:cond delay="2200"/>
                            </p:stCondLst>
                            <p:childTnLst>
                              <p:par>
                                <p:cTn id="94" presetID="22" presetClass="entr" presetSubtype="1" fill="hold" grpId="0" nodeType="afterEffect">
                                  <p:stCondLst>
                                    <p:cond delay="0"/>
                                  </p:stCondLst>
                                  <p:childTnLst>
                                    <p:set>
                                      <p:cBhvr>
                                        <p:cTn id="95" dur="1" fill="hold">
                                          <p:stCondLst>
                                            <p:cond delay="0"/>
                                          </p:stCondLst>
                                        </p:cTn>
                                        <p:tgtEl>
                                          <p:spTgt spid="75"/>
                                        </p:tgtEl>
                                        <p:attrNameLst>
                                          <p:attrName>style.visibility</p:attrName>
                                        </p:attrNameLst>
                                      </p:cBhvr>
                                      <p:to>
                                        <p:strVal val="visible"/>
                                      </p:to>
                                    </p:set>
                                    <p:animEffect transition="in" filter="wipe(up)">
                                      <p:cBhvr>
                                        <p:cTn id="96" dur="250"/>
                                        <p:tgtEl>
                                          <p:spTgt spid="75"/>
                                        </p:tgtEl>
                                      </p:cBhvr>
                                    </p:animEffect>
                                  </p:childTnLst>
                                </p:cTn>
                              </p:par>
                              <p:par>
                                <p:cTn id="97" presetID="42" presetClass="entr" presetSubtype="0" fill="hold" grpId="0" nodeType="withEffect">
                                  <p:stCondLst>
                                    <p:cond delay="0"/>
                                  </p:stCondLst>
                                  <p:childTnLst>
                                    <p:set>
                                      <p:cBhvr>
                                        <p:cTn id="98" dur="1" fill="hold">
                                          <p:stCondLst>
                                            <p:cond delay="0"/>
                                          </p:stCondLst>
                                        </p:cTn>
                                        <p:tgtEl>
                                          <p:spTgt spid="76"/>
                                        </p:tgtEl>
                                        <p:attrNameLst>
                                          <p:attrName>style.visibility</p:attrName>
                                        </p:attrNameLst>
                                      </p:cBhvr>
                                      <p:to>
                                        <p:strVal val="visible"/>
                                      </p:to>
                                    </p:set>
                                    <p:animEffect transition="in" filter="fade">
                                      <p:cBhvr>
                                        <p:cTn id="99" dur="1000"/>
                                        <p:tgtEl>
                                          <p:spTgt spid="76"/>
                                        </p:tgtEl>
                                      </p:cBhvr>
                                    </p:animEffect>
                                    <p:anim calcmode="lin" valueType="num">
                                      <p:cBhvr>
                                        <p:cTn id="100" dur="1000" fill="hold"/>
                                        <p:tgtEl>
                                          <p:spTgt spid="76"/>
                                        </p:tgtEl>
                                        <p:attrNameLst>
                                          <p:attrName>ppt_x</p:attrName>
                                        </p:attrNameLst>
                                      </p:cBhvr>
                                      <p:tavLst>
                                        <p:tav tm="0">
                                          <p:val>
                                            <p:strVal val="#ppt_x"/>
                                          </p:val>
                                        </p:tav>
                                        <p:tav tm="100000">
                                          <p:val>
                                            <p:strVal val="#ppt_x"/>
                                          </p:val>
                                        </p:tav>
                                      </p:tavLst>
                                    </p:anim>
                                    <p:anim calcmode="lin" valueType="num">
                                      <p:cBhvr>
                                        <p:cTn id="101" dur="10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77">
                                            <p:txEl>
                                              <p:pRg st="0" end="0"/>
                                            </p:txEl>
                                          </p:spTgt>
                                        </p:tgtEl>
                                        <p:attrNameLst>
                                          <p:attrName>style.visibility</p:attrName>
                                        </p:attrNameLst>
                                      </p:cBhvr>
                                      <p:to>
                                        <p:strVal val="visible"/>
                                      </p:to>
                                    </p:set>
                                    <p:animEffect transition="in" filter="wipe(left)">
                                      <p:cBhvr>
                                        <p:cTn id="106" dur="500"/>
                                        <p:tgtEl>
                                          <p:spTgt spid="77">
                                            <p:txEl>
                                              <p:pRg st="0" end="0"/>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77">
                                            <p:txEl>
                                              <p:pRg st="2" end="2"/>
                                            </p:txEl>
                                          </p:spTgt>
                                        </p:tgtEl>
                                        <p:attrNameLst>
                                          <p:attrName>style.visibility</p:attrName>
                                        </p:attrNameLst>
                                      </p:cBhvr>
                                      <p:to>
                                        <p:strVal val="visible"/>
                                      </p:to>
                                    </p:set>
                                    <p:animEffect transition="in" filter="wipe(left)">
                                      <p:cBhvr>
                                        <p:cTn id="111" dur="500"/>
                                        <p:tgtEl>
                                          <p:spTgt spid="7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75" grpId="0" animBg="1"/>
      <p:bldP spid="76" grpId="0"/>
      <p:bldP spid="77"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28">
            <a:extLst>
              <a:ext uri="{FF2B5EF4-FFF2-40B4-BE49-F238E27FC236}">
                <a16:creationId xmlns:a16="http://schemas.microsoft.com/office/drawing/2014/main" xmlns="" id="{6BAA031E-6F64-2B40-9923-F1FF9BA4F5E3}"/>
              </a:ext>
            </a:extLst>
          </p:cNvPr>
          <p:cNvSpPr/>
          <p:nvPr/>
        </p:nvSpPr>
        <p:spPr>
          <a:xfrm>
            <a:off x="2596528" y="2351454"/>
            <a:ext cx="1972921" cy="1862916"/>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1" name="Freeform 30">
            <a:extLst>
              <a:ext uri="{FF2B5EF4-FFF2-40B4-BE49-F238E27FC236}">
                <a16:creationId xmlns:a16="http://schemas.microsoft.com/office/drawing/2014/main" xmlns="" id="{F085AC4B-4A7E-834A-B06E-254CBF4187B3}"/>
              </a:ext>
            </a:extLst>
          </p:cNvPr>
          <p:cNvSpPr/>
          <p:nvPr/>
        </p:nvSpPr>
        <p:spPr>
          <a:xfrm>
            <a:off x="3918092" y="4208480"/>
            <a:ext cx="1302713" cy="1574208"/>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2" name="Freeform 31">
            <a:extLst>
              <a:ext uri="{FF2B5EF4-FFF2-40B4-BE49-F238E27FC236}">
                <a16:creationId xmlns:a16="http://schemas.microsoft.com/office/drawing/2014/main" xmlns="" id="{E17AE7F1-0CB6-794C-BF7A-F892F91C6275}"/>
              </a:ext>
            </a:extLst>
          </p:cNvPr>
          <p:cNvSpPr/>
          <p:nvPr/>
        </p:nvSpPr>
        <p:spPr>
          <a:xfrm>
            <a:off x="2590800" y="381000"/>
            <a:ext cx="3940909" cy="2480129"/>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3" name="Freeform 32">
            <a:extLst>
              <a:ext uri="{FF2B5EF4-FFF2-40B4-BE49-F238E27FC236}">
                <a16:creationId xmlns:a16="http://schemas.microsoft.com/office/drawing/2014/main" xmlns="" id="{BB1A0CE1-0E3A-7B4A-B83A-13921B6A1585}"/>
              </a:ext>
            </a:extLst>
          </p:cNvPr>
          <p:cNvSpPr/>
          <p:nvPr/>
        </p:nvSpPr>
        <p:spPr>
          <a:xfrm>
            <a:off x="4569449" y="2458993"/>
            <a:ext cx="3289552" cy="3833368"/>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4" name="Freeform 33">
            <a:extLst>
              <a:ext uri="{FF2B5EF4-FFF2-40B4-BE49-F238E27FC236}">
                <a16:creationId xmlns:a16="http://schemas.microsoft.com/office/drawing/2014/main" xmlns="" id="{611CA335-3DDA-3E42-9D4C-2F3ACE82A0B0}"/>
              </a:ext>
            </a:extLst>
          </p:cNvPr>
          <p:cNvSpPr/>
          <p:nvPr/>
        </p:nvSpPr>
        <p:spPr>
          <a:xfrm>
            <a:off x="1279895" y="2464880"/>
            <a:ext cx="3289553" cy="3827481"/>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5" name="Freeform 34">
            <a:extLst>
              <a:ext uri="{FF2B5EF4-FFF2-40B4-BE49-F238E27FC236}">
                <a16:creationId xmlns:a16="http://schemas.microsoft.com/office/drawing/2014/main" xmlns="" id="{F475611E-0004-8645-B016-3D3DC271D062}"/>
              </a:ext>
            </a:extLst>
          </p:cNvPr>
          <p:cNvSpPr/>
          <p:nvPr/>
        </p:nvSpPr>
        <p:spPr>
          <a:xfrm>
            <a:off x="3923670" y="2876571"/>
            <a:ext cx="1291555" cy="1460779"/>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6" name="TextBox 35">
            <a:extLst>
              <a:ext uri="{FF2B5EF4-FFF2-40B4-BE49-F238E27FC236}">
                <a16:creationId xmlns:a16="http://schemas.microsoft.com/office/drawing/2014/main" xmlns="" id="{92275B5B-E0D7-3945-8D0F-46FE7C4CF2FA}"/>
              </a:ext>
            </a:extLst>
          </p:cNvPr>
          <p:cNvSpPr txBox="1"/>
          <p:nvPr/>
        </p:nvSpPr>
        <p:spPr>
          <a:xfrm>
            <a:off x="3371831" y="750782"/>
            <a:ext cx="2881874"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Structured learning</a:t>
            </a:r>
          </a:p>
        </p:txBody>
      </p:sp>
      <p:pic>
        <p:nvPicPr>
          <p:cNvPr id="37" name="Picture 36" descr="A close up of a logo&#10;&#10;Description automatically generated">
            <a:extLst>
              <a:ext uri="{FF2B5EF4-FFF2-40B4-BE49-F238E27FC236}">
                <a16:creationId xmlns:a16="http://schemas.microsoft.com/office/drawing/2014/main" xmlns="" id="{DB65E3A3-9D34-C44D-8B28-9DC123B3C6E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99912" y="1004102"/>
            <a:ext cx="974176" cy="745577"/>
          </a:xfrm>
          <a:prstGeom prst="rect">
            <a:avLst/>
          </a:prstGeom>
        </p:spPr>
      </p:pic>
      <p:pic>
        <p:nvPicPr>
          <p:cNvPr id="38" name="Picture 37" descr="A close up of a logo&#10;&#10;Description automatically generated">
            <a:extLst>
              <a:ext uri="{FF2B5EF4-FFF2-40B4-BE49-F238E27FC236}">
                <a16:creationId xmlns:a16="http://schemas.microsoft.com/office/drawing/2014/main" xmlns="" id="{2F03890A-BF19-2C45-95C5-CB210684FA8E}"/>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526696" y="4751042"/>
            <a:ext cx="1323194" cy="940938"/>
          </a:xfrm>
          <a:prstGeom prst="rect">
            <a:avLst/>
          </a:prstGeom>
        </p:spPr>
      </p:pic>
      <p:sp>
        <p:nvSpPr>
          <p:cNvPr id="39" name="TextBox 38">
            <a:extLst>
              <a:ext uri="{FF2B5EF4-FFF2-40B4-BE49-F238E27FC236}">
                <a16:creationId xmlns:a16="http://schemas.microsoft.com/office/drawing/2014/main" xmlns="" id="{A2BA009D-F8A0-4745-A2E0-0CEE28CA1EBC}"/>
              </a:ext>
            </a:extLst>
          </p:cNvPr>
          <p:cNvSpPr txBox="1"/>
          <p:nvPr/>
        </p:nvSpPr>
        <p:spPr>
          <a:xfrm>
            <a:off x="2206719" y="5607318"/>
            <a:ext cx="2330225"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Common sense</a:t>
            </a:r>
          </a:p>
        </p:txBody>
      </p:sp>
      <p:pic>
        <p:nvPicPr>
          <p:cNvPr id="40" name="Picture 39" descr="A close up of a logo&#10;&#10;Description automatically generated">
            <a:extLst>
              <a:ext uri="{FF2B5EF4-FFF2-40B4-BE49-F238E27FC236}">
                <a16:creationId xmlns:a16="http://schemas.microsoft.com/office/drawing/2014/main" xmlns="" id="{6A6FD580-32DA-9945-9417-0263FA8F04F1}"/>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5577574" y="5009130"/>
            <a:ext cx="819421" cy="682850"/>
          </a:xfrm>
          <a:prstGeom prst="rect">
            <a:avLst/>
          </a:prstGeom>
        </p:spPr>
      </p:pic>
      <p:sp>
        <p:nvSpPr>
          <p:cNvPr id="41" name="TextBox 40">
            <a:extLst>
              <a:ext uri="{FF2B5EF4-FFF2-40B4-BE49-F238E27FC236}">
                <a16:creationId xmlns:a16="http://schemas.microsoft.com/office/drawing/2014/main" xmlns="" id="{1DE9473B-346D-9B4E-AA6C-DEC446EBA539}"/>
              </a:ext>
            </a:extLst>
          </p:cNvPr>
          <p:cNvSpPr txBox="1"/>
          <p:nvPr/>
        </p:nvSpPr>
        <p:spPr>
          <a:xfrm>
            <a:off x="4966392" y="5607318"/>
            <a:ext cx="2425008"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Data annotation</a:t>
            </a:r>
          </a:p>
        </p:txBody>
      </p:sp>
      <p:sp>
        <p:nvSpPr>
          <p:cNvPr id="30" name="Freeform 29">
            <a:extLst>
              <a:ext uri="{FF2B5EF4-FFF2-40B4-BE49-F238E27FC236}">
                <a16:creationId xmlns:a16="http://schemas.microsoft.com/office/drawing/2014/main" xmlns="" id="{0C80176D-29FC-CF43-8AFB-3A5DEDFAE4C9}"/>
              </a:ext>
            </a:extLst>
          </p:cNvPr>
          <p:cNvSpPr/>
          <p:nvPr/>
        </p:nvSpPr>
        <p:spPr>
          <a:xfrm>
            <a:off x="4569449" y="2351453"/>
            <a:ext cx="1956830" cy="1857027"/>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Century Gothic" charset="0"/>
              <a:ea typeface="Century Gothic" charset="0"/>
              <a:cs typeface="Century Gothic" charset="0"/>
            </a:endParaRPr>
          </a:p>
        </p:txBody>
      </p:sp>
      <p:sp>
        <p:nvSpPr>
          <p:cNvPr id="2" name="Title 1"/>
          <p:cNvSpPr>
            <a:spLocks noGrp="1"/>
          </p:cNvSpPr>
          <p:nvPr>
            <p:ph type="title"/>
          </p:nvPr>
        </p:nvSpPr>
        <p:spPr/>
        <p:txBody>
          <a:bodyPr/>
          <a:lstStyle/>
          <a:p>
            <a:r>
              <a:rPr lang="en-US" dirty="0"/>
              <a:t>What’s next</a:t>
            </a:r>
          </a:p>
        </p:txBody>
      </p:sp>
      <p:sp>
        <p:nvSpPr>
          <p:cNvPr id="23" name="Line Callout 2 (No Border) 22">
            <a:extLst>
              <a:ext uri="{FF2B5EF4-FFF2-40B4-BE49-F238E27FC236}">
                <a16:creationId xmlns:a16="http://schemas.microsoft.com/office/drawing/2014/main" xmlns="" id="{028F0815-971D-5A4B-8870-3960CD470D35}"/>
              </a:ext>
            </a:extLst>
          </p:cNvPr>
          <p:cNvSpPr/>
          <p:nvPr/>
        </p:nvSpPr>
        <p:spPr>
          <a:xfrm>
            <a:off x="6394558" y="2088328"/>
            <a:ext cx="914400" cy="612648"/>
          </a:xfrm>
          <a:prstGeom prst="callout2">
            <a:avLst>
              <a:gd name="adj1" fmla="val 20824"/>
              <a:gd name="adj2" fmla="val 281304"/>
              <a:gd name="adj3" fmla="val 18751"/>
              <a:gd name="adj4" fmla="val 6410"/>
              <a:gd name="adj5" fmla="val 161993"/>
              <a:gd name="adj6" fmla="val -102124"/>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5" name="TextBox 24">
            <a:extLst>
              <a:ext uri="{FF2B5EF4-FFF2-40B4-BE49-F238E27FC236}">
                <a16:creationId xmlns:a16="http://schemas.microsoft.com/office/drawing/2014/main" xmlns="" id="{719F1643-6F0D-0647-9BA6-4A21419E902D}"/>
              </a:ext>
            </a:extLst>
          </p:cNvPr>
          <p:cNvSpPr txBox="1"/>
          <p:nvPr/>
        </p:nvSpPr>
        <p:spPr>
          <a:xfrm>
            <a:off x="6526279" y="1822284"/>
            <a:ext cx="2371612" cy="338554"/>
          </a:xfrm>
          <a:prstGeom prst="rect">
            <a:avLst/>
          </a:prstGeom>
          <a:noFill/>
        </p:spPr>
        <p:txBody>
          <a:bodyPr wrap="square" rtlCol="0">
            <a:spAutoFit/>
          </a:bodyPr>
          <a:lstStyle/>
          <a:p>
            <a:r>
              <a:rPr lang="en-US" sz="1600" dirty="0">
                <a:solidFill>
                  <a:schemeClr val="bg2"/>
                </a:solidFill>
                <a:latin typeface="Century Gothic" panose="020B0502020202020204" pitchFamily="34" charset="0"/>
              </a:rPr>
              <a:t>Incidental supervision</a:t>
            </a:r>
          </a:p>
        </p:txBody>
      </p:sp>
    </p:spTree>
    <p:extLst>
      <p:ext uri="{BB962C8B-B14F-4D97-AF65-F5344CB8AC3E}">
        <p14:creationId xmlns:p14="http://schemas.microsoft.com/office/powerpoint/2010/main" val="739311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1000"/>
                                        <p:tgtEl>
                                          <p:spTgt spid="25"/>
                                        </p:tgtEl>
                                      </p:cBhvr>
                                    </p:animEffect>
                                    <p:anim calcmode="lin" valueType="num">
                                      <p:cBhvr>
                                        <p:cTn id="12" dur="1000" fill="hold"/>
                                        <p:tgtEl>
                                          <p:spTgt spid="25"/>
                                        </p:tgtEl>
                                        <p:attrNameLst>
                                          <p:attrName>ppt_x</p:attrName>
                                        </p:attrNameLst>
                                      </p:cBhvr>
                                      <p:tavLst>
                                        <p:tav tm="0">
                                          <p:val>
                                            <p:strVal val="#ppt_x"/>
                                          </p:val>
                                        </p:tav>
                                        <p:tav tm="100000">
                                          <p:val>
                                            <p:strVal val="#ppt_x"/>
                                          </p:val>
                                        </p:tav>
                                      </p:tavLst>
                                    </p:anim>
                                    <p:anim calcmode="lin" valueType="num">
                                      <p:cBhvr>
                                        <p:cTn id="1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Oval 36">
            <a:extLst>
              <a:ext uri="{FF2B5EF4-FFF2-40B4-BE49-F238E27FC236}">
                <a16:creationId xmlns:a16="http://schemas.microsoft.com/office/drawing/2014/main" xmlns="" id="{DE9B6987-1334-7245-8974-57C6F92968E9}"/>
              </a:ext>
            </a:extLst>
          </p:cNvPr>
          <p:cNvSpPr/>
          <p:nvPr/>
        </p:nvSpPr>
        <p:spPr>
          <a:xfrm>
            <a:off x="2247900" y="914400"/>
            <a:ext cx="4648200" cy="4648200"/>
          </a:xfrm>
          <a:prstGeom prst="ellipse">
            <a:avLst/>
          </a:prstGeom>
          <a:solidFill>
            <a:srgbClr val="F7E3D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a:extLst>
              <a:ext uri="{FF2B5EF4-FFF2-40B4-BE49-F238E27FC236}">
                <a16:creationId xmlns:a16="http://schemas.microsoft.com/office/drawing/2014/main" xmlns="" id="{0771F119-5056-4446-8964-83C12CDB441D}"/>
              </a:ext>
            </a:extLst>
          </p:cNvPr>
          <p:cNvSpPr/>
          <p:nvPr/>
        </p:nvSpPr>
        <p:spPr>
          <a:xfrm>
            <a:off x="3488669" y="2999514"/>
            <a:ext cx="1101479" cy="1040063"/>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charset="0"/>
              <a:ea typeface="Century Gothic" charset="0"/>
              <a:cs typeface="Century Gothic" charset="0"/>
            </a:endParaRPr>
          </a:p>
        </p:txBody>
      </p:sp>
      <p:sp>
        <p:nvSpPr>
          <p:cNvPr id="39" name="Freeform 38">
            <a:extLst>
              <a:ext uri="{FF2B5EF4-FFF2-40B4-BE49-F238E27FC236}">
                <a16:creationId xmlns:a16="http://schemas.microsoft.com/office/drawing/2014/main" xmlns="" id="{451F9AD8-4D2A-BF4D-9B8B-871BAF5EEDCB}"/>
              </a:ext>
            </a:extLst>
          </p:cNvPr>
          <p:cNvSpPr/>
          <p:nvPr/>
        </p:nvSpPr>
        <p:spPr>
          <a:xfrm>
            <a:off x="4590148" y="2999513"/>
            <a:ext cx="1092495" cy="1036775"/>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charset="0"/>
              <a:ea typeface="Century Gothic" charset="0"/>
              <a:cs typeface="Century Gothic" charset="0"/>
            </a:endParaRPr>
          </a:p>
        </p:txBody>
      </p:sp>
      <p:sp>
        <p:nvSpPr>
          <p:cNvPr id="40" name="Freeform 39">
            <a:extLst>
              <a:ext uri="{FF2B5EF4-FFF2-40B4-BE49-F238E27FC236}">
                <a16:creationId xmlns:a16="http://schemas.microsoft.com/office/drawing/2014/main" xmlns="" id="{40070A20-4A8B-0146-BAFD-F4EA8DF6C5C4}"/>
              </a:ext>
            </a:extLst>
          </p:cNvPr>
          <p:cNvSpPr/>
          <p:nvPr/>
        </p:nvSpPr>
        <p:spPr>
          <a:xfrm>
            <a:off x="4226496" y="4036288"/>
            <a:ext cx="727303" cy="878878"/>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charset="0"/>
              <a:ea typeface="Century Gothic" charset="0"/>
              <a:cs typeface="Century Gothic" charset="0"/>
            </a:endParaRPr>
          </a:p>
        </p:txBody>
      </p:sp>
      <p:sp>
        <p:nvSpPr>
          <p:cNvPr id="41" name="Freeform 40">
            <a:extLst>
              <a:ext uri="{FF2B5EF4-FFF2-40B4-BE49-F238E27FC236}">
                <a16:creationId xmlns:a16="http://schemas.microsoft.com/office/drawing/2014/main" xmlns="" id="{66DB43D5-321A-6E48-964E-A25B43ADC969}"/>
              </a:ext>
            </a:extLst>
          </p:cNvPr>
          <p:cNvSpPr/>
          <p:nvPr/>
        </p:nvSpPr>
        <p:spPr>
          <a:xfrm>
            <a:off x="3485471" y="1899412"/>
            <a:ext cx="2200204" cy="1384652"/>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latin typeface="Century Gothic" charset="0"/>
              <a:ea typeface="Century Gothic" charset="0"/>
              <a:cs typeface="Century Gothic" charset="0"/>
            </a:endParaRPr>
          </a:p>
        </p:txBody>
      </p:sp>
      <p:sp>
        <p:nvSpPr>
          <p:cNvPr id="42" name="Freeform 41">
            <a:extLst>
              <a:ext uri="{FF2B5EF4-FFF2-40B4-BE49-F238E27FC236}">
                <a16:creationId xmlns:a16="http://schemas.microsoft.com/office/drawing/2014/main" xmlns="" id="{B2EC405C-67B2-1243-985C-28A27372BC42}"/>
              </a:ext>
            </a:extLst>
          </p:cNvPr>
          <p:cNvSpPr/>
          <p:nvPr/>
        </p:nvSpPr>
        <p:spPr>
          <a:xfrm>
            <a:off x="4590148" y="3059552"/>
            <a:ext cx="1836552" cy="2140164"/>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charset="0"/>
              <a:ea typeface="Century Gothic" charset="0"/>
              <a:cs typeface="Century Gothic" charset="0"/>
            </a:endParaRPr>
          </a:p>
        </p:txBody>
      </p:sp>
      <p:sp>
        <p:nvSpPr>
          <p:cNvPr id="43" name="Freeform 42">
            <a:extLst>
              <a:ext uri="{FF2B5EF4-FFF2-40B4-BE49-F238E27FC236}">
                <a16:creationId xmlns:a16="http://schemas.microsoft.com/office/drawing/2014/main" xmlns="" id="{D12DEFB0-D449-6342-B966-E6DF6FE3794A}"/>
              </a:ext>
            </a:extLst>
          </p:cNvPr>
          <p:cNvSpPr/>
          <p:nvPr/>
        </p:nvSpPr>
        <p:spPr>
          <a:xfrm>
            <a:off x="2753595" y="3062839"/>
            <a:ext cx="1836553" cy="2136877"/>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charset="0"/>
              <a:ea typeface="Century Gothic" charset="0"/>
              <a:cs typeface="Century Gothic" charset="0"/>
            </a:endParaRPr>
          </a:p>
        </p:txBody>
      </p:sp>
      <p:sp>
        <p:nvSpPr>
          <p:cNvPr id="44" name="Freeform 43">
            <a:extLst>
              <a:ext uri="{FF2B5EF4-FFF2-40B4-BE49-F238E27FC236}">
                <a16:creationId xmlns:a16="http://schemas.microsoft.com/office/drawing/2014/main" xmlns="" id="{D76F655A-219B-B148-8AD4-D2F8D012E623}"/>
              </a:ext>
            </a:extLst>
          </p:cNvPr>
          <p:cNvSpPr/>
          <p:nvPr/>
        </p:nvSpPr>
        <p:spPr>
          <a:xfrm>
            <a:off x="4229529" y="3284064"/>
            <a:ext cx="721073" cy="81555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charset="0"/>
              <a:ea typeface="Century Gothic" charset="0"/>
              <a:cs typeface="Century Gothic" charset="0"/>
            </a:endParaRPr>
          </a:p>
        </p:txBody>
      </p:sp>
      <p:sp>
        <p:nvSpPr>
          <p:cNvPr id="45" name="TextBox 44">
            <a:extLst>
              <a:ext uri="{FF2B5EF4-FFF2-40B4-BE49-F238E27FC236}">
                <a16:creationId xmlns:a16="http://schemas.microsoft.com/office/drawing/2014/main" xmlns="" id="{C6E3FE73-1D22-7349-B366-15CA1150E172}"/>
              </a:ext>
            </a:extLst>
          </p:cNvPr>
          <p:cNvSpPr txBox="1"/>
          <p:nvPr/>
        </p:nvSpPr>
        <p:spPr>
          <a:xfrm>
            <a:off x="3921520" y="2105861"/>
            <a:ext cx="1608946" cy="246221"/>
          </a:xfrm>
          <a:prstGeom prst="rect">
            <a:avLst/>
          </a:prstGeom>
          <a:noFill/>
        </p:spPr>
        <p:txBody>
          <a:bodyPr wrap="square" rtlCol="0">
            <a:spAutoFit/>
          </a:bodyPr>
          <a:lstStyle/>
          <a:p>
            <a:r>
              <a:rPr lang="en-US" sz="1000" u="sng" dirty="0">
                <a:solidFill>
                  <a:schemeClr val="bg2"/>
                </a:solidFill>
                <a:latin typeface="Century Gothic" charset="0"/>
                <a:ea typeface="Century Gothic" charset="0"/>
                <a:cs typeface="Century Gothic" charset="0"/>
              </a:rPr>
              <a:t>Structured learning</a:t>
            </a:r>
          </a:p>
        </p:txBody>
      </p:sp>
      <p:pic>
        <p:nvPicPr>
          <p:cNvPr id="46" name="Picture 45" descr="A close up of a logo&#10;&#10;Description automatically generated">
            <a:extLst>
              <a:ext uri="{FF2B5EF4-FFF2-40B4-BE49-F238E27FC236}">
                <a16:creationId xmlns:a16="http://schemas.microsoft.com/office/drawing/2014/main" xmlns="" id="{05DC80D7-EEDB-DD4D-94DF-AD97564C9D6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351258" y="2341162"/>
            <a:ext cx="543881" cy="416255"/>
          </a:xfrm>
          <a:prstGeom prst="rect">
            <a:avLst/>
          </a:prstGeom>
        </p:spPr>
      </p:pic>
      <p:pic>
        <p:nvPicPr>
          <p:cNvPr id="47" name="Picture 46" descr="A close up of a logo&#10;&#10;Description automatically generated">
            <a:extLst>
              <a:ext uri="{FF2B5EF4-FFF2-40B4-BE49-F238E27FC236}">
                <a16:creationId xmlns:a16="http://schemas.microsoft.com/office/drawing/2014/main" xmlns="" id="{B117A7C3-F36F-A44C-8275-0F1FDB45F9E5}"/>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449682" y="4339200"/>
            <a:ext cx="738737" cy="525324"/>
          </a:xfrm>
          <a:prstGeom prst="rect">
            <a:avLst/>
          </a:prstGeom>
        </p:spPr>
      </p:pic>
      <p:sp>
        <p:nvSpPr>
          <p:cNvPr id="48" name="TextBox 47">
            <a:extLst>
              <a:ext uri="{FF2B5EF4-FFF2-40B4-BE49-F238E27FC236}">
                <a16:creationId xmlns:a16="http://schemas.microsoft.com/office/drawing/2014/main" xmlns="" id="{FA0A12DF-51F7-9349-BD6F-A1FB41FF9F1C}"/>
              </a:ext>
            </a:extLst>
          </p:cNvPr>
          <p:cNvSpPr txBox="1"/>
          <p:nvPr/>
        </p:nvSpPr>
        <p:spPr>
          <a:xfrm>
            <a:off x="3271039" y="4817258"/>
            <a:ext cx="1300961" cy="246221"/>
          </a:xfrm>
          <a:prstGeom prst="rect">
            <a:avLst/>
          </a:prstGeom>
          <a:noFill/>
        </p:spPr>
        <p:txBody>
          <a:bodyPr wrap="square" rtlCol="0">
            <a:spAutoFit/>
          </a:bodyPr>
          <a:lstStyle/>
          <a:p>
            <a:r>
              <a:rPr lang="en-US" sz="1000" u="sng" dirty="0">
                <a:solidFill>
                  <a:schemeClr val="bg2"/>
                </a:solidFill>
                <a:latin typeface="Century Gothic" charset="0"/>
                <a:ea typeface="Century Gothic" charset="0"/>
                <a:cs typeface="Century Gothic" charset="0"/>
              </a:rPr>
              <a:t>Common sense</a:t>
            </a:r>
          </a:p>
        </p:txBody>
      </p:sp>
      <p:pic>
        <p:nvPicPr>
          <p:cNvPr id="49" name="Picture 48" descr="A close up of a logo&#10;&#10;Description automatically generated">
            <a:extLst>
              <a:ext uri="{FF2B5EF4-FFF2-40B4-BE49-F238E27FC236}">
                <a16:creationId xmlns:a16="http://schemas.microsoft.com/office/drawing/2014/main" xmlns="" id="{FA5AF64E-1469-A44B-B66B-44D10CCD5506}"/>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5152983" y="4483290"/>
            <a:ext cx="457482" cy="381234"/>
          </a:xfrm>
          <a:prstGeom prst="rect">
            <a:avLst/>
          </a:prstGeom>
        </p:spPr>
      </p:pic>
      <p:sp>
        <p:nvSpPr>
          <p:cNvPr id="50" name="TextBox 49">
            <a:extLst>
              <a:ext uri="{FF2B5EF4-FFF2-40B4-BE49-F238E27FC236}">
                <a16:creationId xmlns:a16="http://schemas.microsoft.com/office/drawing/2014/main" xmlns="" id="{AFD41754-20B6-4140-8777-A40918E7E5C8}"/>
              </a:ext>
            </a:extLst>
          </p:cNvPr>
          <p:cNvSpPr txBox="1"/>
          <p:nvPr/>
        </p:nvSpPr>
        <p:spPr>
          <a:xfrm>
            <a:off x="4811761" y="4817257"/>
            <a:ext cx="1596792" cy="246221"/>
          </a:xfrm>
          <a:prstGeom prst="rect">
            <a:avLst/>
          </a:prstGeom>
          <a:noFill/>
        </p:spPr>
        <p:txBody>
          <a:bodyPr wrap="square" rtlCol="0">
            <a:spAutoFit/>
          </a:bodyPr>
          <a:lstStyle/>
          <a:p>
            <a:r>
              <a:rPr lang="en-US" sz="1000" u="sng" dirty="0">
                <a:solidFill>
                  <a:schemeClr val="bg2"/>
                </a:solidFill>
                <a:latin typeface="Century Gothic" charset="0"/>
                <a:ea typeface="Century Gothic" charset="0"/>
                <a:cs typeface="Century Gothic" charset="0"/>
              </a:rPr>
              <a:t>Data annotation</a:t>
            </a:r>
          </a:p>
        </p:txBody>
      </p:sp>
      <p:sp>
        <p:nvSpPr>
          <p:cNvPr id="51" name="TextBox 50">
            <a:extLst>
              <a:ext uri="{FF2B5EF4-FFF2-40B4-BE49-F238E27FC236}">
                <a16:creationId xmlns:a16="http://schemas.microsoft.com/office/drawing/2014/main" xmlns="" id="{94A604E3-0ECB-3C42-90ED-CB3340850A6D}"/>
              </a:ext>
            </a:extLst>
          </p:cNvPr>
          <p:cNvSpPr txBox="1"/>
          <p:nvPr/>
        </p:nvSpPr>
        <p:spPr>
          <a:xfrm>
            <a:off x="4133322" y="1018887"/>
            <a:ext cx="979755" cy="523220"/>
          </a:xfrm>
          <a:prstGeom prst="rect">
            <a:avLst/>
          </a:prstGeom>
          <a:noFill/>
        </p:spPr>
        <p:txBody>
          <a:bodyPr wrap="none" rtlCol="0">
            <a:spAutoFit/>
          </a:bodyPr>
          <a:lstStyle/>
          <a:p>
            <a:r>
              <a:rPr lang="en-US" sz="2800" dirty="0">
                <a:solidFill>
                  <a:schemeClr val="bg2"/>
                </a:solidFill>
                <a:latin typeface="Century Gothic" panose="020B0502020202020204" pitchFamily="34" charset="0"/>
              </a:rPr>
              <a:t>Time</a:t>
            </a:r>
          </a:p>
        </p:txBody>
      </p:sp>
      <p:sp>
        <p:nvSpPr>
          <p:cNvPr id="5" name="Line Callout 2 (No Border) 4">
            <a:extLst>
              <a:ext uri="{FF2B5EF4-FFF2-40B4-BE49-F238E27FC236}">
                <a16:creationId xmlns:a16="http://schemas.microsoft.com/office/drawing/2014/main" xmlns="" id="{028F0815-971D-5A4B-8870-3960CD470D35}"/>
              </a:ext>
            </a:extLst>
          </p:cNvPr>
          <p:cNvSpPr/>
          <p:nvPr/>
        </p:nvSpPr>
        <p:spPr>
          <a:xfrm>
            <a:off x="5960351" y="1462134"/>
            <a:ext cx="914400" cy="612648"/>
          </a:xfrm>
          <a:prstGeom prst="callout2">
            <a:avLst>
              <a:gd name="adj1" fmla="val 20824"/>
              <a:gd name="adj2" fmla="val 281304"/>
              <a:gd name="adj3" fmla="val 18751"/>
              <a:gd name="adj4" fmla="val 6410"/>
              <a:gd name="adj5" fmla="val 127808"/>
              <a:gd name="adj6" fmla="val -68462"/>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6" name="TextBox 5">
            <a:extLst>
              <a:ext uri="{FF2B5EF4-FFF2-40B4-BE49-F238E27FC236}">
                <a16:creationId xmlns:a16="http://schemas.microsoft.com/office/drawing/2014/main" xmlns="" id="{719F1643-6F0D-0647-9BA6-4A21419E902D}"/>
              </a:ext>
            </a:extLst>
          </p:cNvPr>
          <p:cNvSpPr txBox="1"/>
          <p:nvPr/>
        </p:nvSpPr>
        <p:spPr>
          <a:xfrm>
            <a:off x="6238988" y="949869"/>
            <a:ext cx="2371612" cy="584775"/>
          </a:xfrm>
          <a:prstGeom prst="rect">
            <a:avLst/>
          </a:prstGeom>
          <a:noFill/>
        </p:spPr>
        <p:txBody>
          <a:bodyPr wrap="square" rtlCol="0">
            <a:spAutoFit/>
          </a:bodyPr>
          <a:lstStyle/>
          <a:p>
            <a:r>
              <a:rPr lang="en-US" sz="1600" dirty="0">
                <a:solidFill>
                  <a:schemeClr val="bg2"/>
                </a:solidFill>
                <a:latin typeface="Century Gothic" panose="020B0502020202020204" pitchFamily="34" charset="0"/>
              </a:rPr>
              <a:t>Joint extraction of events &amp; relations</a:t>
            </a:r>
          </a:p>
        </p:txBody>
      </p:sp>
      <p:sp>
        <p:nvSpPr>
          <p:cNvPr id="20" name="Line Callout 2 (No Border) 19">
            <a:extLst>
              <a:ext uri="{FF2B5EF4-FFF2-40B4-BE49-F238E27FC236}">
                <a16:creationId xmlns:a16="http://schemas.microsoft.com/office/drawing/2014/main" xmlns="" id="{ED2DC101-90AC-4F4E-B8C3-720B061867DF}"/>
              </a:ext>
            </a:extLst>
          </p:cNvPr>
          <p:cNvSpPr/>
          <p:nvPr/>
        </p:nvSpPr>
        <p:spPr>
          <a:xfrm>
            <a:off x="2300942" y="5066589"/>
            <a:ext cx="914400" cy="612648"/>
          </a:xfrm>
          <a:prstGeom prst="callout2">
            <a:avLst>
              <a:gd name="adj1" fmla="val -31000"/>
              <a:gd name="adj2" fmla="val 117307"/>
              <a:gd name="adj3" fmla="val -92233"/>
              <a:gd name="adj4" fmla="val 29487"/>
              <a:gd name="adj5" fmla="val -90013"/>
              <a:gd name="adj6" fmla="val -248057"/>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1" name="TextBox 20">
            <a:extLst>
              <a:ext uri="{FF2B5EF4-FFF2-40B4-BE49-F238E27FC236}">
                <a16:creationId xmlns:a16="http://schemas.microsoft.com/office/drawing/2014/main" xmlns="" id="{2E54AA40-4793-3540-8D7B-CC99D24D85D3}"/>
              </a:ext>
            </a:extLst>
          </p:cNvPr>
          <p:cNvSpPr txBox="1"/>
          <p:nvPr/>
        </p:nvSpPr>
        <p:spPr>
          <a:xfrm>
            <a:off x="-45317" y="4137173"/>
            <a:ext cx="2691763"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Temporal common sense</a:t>
            </a:r>
          </a:p>
        </p:txBody>
      </p:sp>
      <p:sp>
        <p:nvSpPr>
          <p:cNvPr id="22" name="Line Callout 2 (No Border) 21">
            <a:extLst>
              <a:ext uri="{FF2B5EF4-FFF2-40B4-BE49-F238E27FC236}">
                <a16:creationId xmlns:a16="http://schemas.microsoft.com/office/drawing/2014/main" xmlns="" id="{AF58F829-D91D-004C-AB22-C62AB9414BCF}"/>
              </a:ext>
            </a:extLst>
          </p:cNvPr>
          <p:cNvSpPr/>
          <p:nvPr/>
        </p:nvSpPr>
        <p:spPr>
          <a:xfrm flipH="1" flipV="1">
            <a:off x="5573737" y="4268598"/>
            <a:ext cx="914400" cy="612648"/>
          </a:xfrm>
          <a:prstGeom prst="callout2">
            <a:avLst>
              <a:gd name="adj1" fmla="val -31000"/>
              <a:gd name="adj2" fmla="val 117307"/>
              <a:gd name="adj3" fmla="val -92233"/>
              <a:gd name="adj4" fmla="val 29487"/>
              <a:gd name="adj5" fmla="val -94158"/>
              <a:gd name="adj6" fmla="val -273804"/>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3" name="TextBox 22">
            <a:extLst>
              <a:ext uri="{FF2B5EF4-FFF2-40B4-BE49-F238E27FC236}">
                <a16:creationId xmlns:a16="http://schemas.microsoft.com/office/drawing/2014/main" xmlns="" id="{FF7CE9D0-07C0-9A45-9142-81C3EA56203E}"/>
              </a:ext>
            </a:extLst>
          </p:cNvPr>
          <p:cNvSpPr txBox="1"/>
          <p:nvPr/>
        </p:nvSpPr>
        <p:spPr>
          <a:xfrm>
            <a:off x="6324600" y="5090477"/>
            <a:ext cx="2720617"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Multi-axis temporal parser</a:t>
            </a:r>
          </a:p>
        </p:txBody>
      </p:sp>
      <p:sp>
        <p:nvSpPr>
          <p:cNvPr id="25" name="TextBox 24">
            <a:extLst>
              <a:ext uri="{FF2B5EF4-FFF2-40B4-BE49-F238E27FC236}">
                <a16:creationId xmlns:a16="http://schemas.microsoft.com/office/drawing/2014/main" xmlns="" id="{39CFD2D1-3AA4-5E48-82B8-DF89164313B9}"/>
              </a:ext>
            </a:extLst>
          </p:cNvPr>
          <p:cNvSpPr txBox="1"/>
          <p:nvPr/>
        </p:nvSpPr>
        <p:spPr>
          <a:xfrm>
            <a:off x="6233891" y="1605674"/>
            <a:ext cx="2788169" cy="584775"/>
          </a:xfrm>
          <a:prstGeom prst="rect">
            <a:avLst/>
          </a:prstGeom>
          <a:noFill/>
        </p:spPr>
        <p:txBody>
          <a:bodyPr wrap="square" rtlCol="0">
            <a:spAutoFit/>
          </a:bodyPr>
          <a:lstStyle/>
          <a:p>
            <a:r>
              <a:rPr lang="en-US" sz="1600" i="1" dirty="0">
                <a:solidFill>
                  <a:schemeClr val="bg2"/>
                </a:solidFill>
                <a:latin typeface="Century Gothic" panose="020B0502020202020204" pitchFamily="34" charset="0"/>
              </a:rPr>
              <a:t>Multi-task &amp; structured learning</a:t>
            </a:r>
          </a:p>
        </p:txBody>
      </p:sp>
      <p:sp>
        <p:nvSpPr>
          <p:cNvPr id="26" name="TextBox 25">
            <a:extLst>
              <a:ext uri="{FF2B5EF4-FFF2-40B4-BE49-F238E27FC236}">
                <a16:creationId xmlns:a16="http://schemas.microsoft.com/office/drawing/2014/main" xmlns="" id="{9263E68C-C9A8-E240-AC60-010237BD7A45}"/>
              </a:ext>
            </a:extLst>
          </p:cNvPr>
          <p:cNvSpPr txBox="1"/>
          <p:nvPr/>
        </p:nvSpPr>
        <p:spPr>
          <a:xfrm>
            <a:off x="6306539" y="5502522"/>
            <a:ext cx="2720618" cy="584775"/>
          </a:xfrm>
          <a:prstGeom prst="rect">
            <a:avLst/>
          </a:prstGeom>
          <a:noFill/>
        </p:spPr>
        <p:txBody>
          <a:bodyPr wrap="square" rtlCol="0">
            <a:spAutoFit/>
          </a:bodyPr>
          <a:lstStyle/>
          <a:p>
            <a:r>
              <a:rPr lang="en-US" sz="1600" i="1" dirty="0">
                <a:solidFill>
                  <a:schemeClr val="bg2"/>
                </a:solidFill>
                <a:latin typeface="Century Gothic" panose="020B0502020202020204" pitchFamily="34" charset="0"/>
              </a:rPr>
              <a:t>Important for information trustworthiness</a:t>
            </a:r>
          </a:p>
        </p:txBody>
      </p:sp>
      <p:sp>
        <p:nvSpPr>
          <p:cNvPr id="28" name="TextBox 27">
            <a:extLst>
              <a:ext uri="{FF2B5EF4-FFF2-40B4-BE49-F238E27FC236}">
                <a16:creationId xmlns:a16="http://schemas.microsoft.com/office/drawing/2014/main" xmlns="" id="{52E635A2-083F-6A43-A185-58E8D69AC990}"/>
              </a:ext>
            </a:extLst>
          </p:cNvPr>
          <p:cNvSpPr txBox="1"/>
          <p:nvPr/>
        </p:nvSpPr>
        <p:spPr>
          <a:xfrm>
            <a:off x="-45317" y="4606405"/>
            <a:ext cx="2489784"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Duration, frequency, …</a:t>
            </a:r>
          </a:p>
        </p:txBody>
      </p:sp>
      <p:sp>
        <p:nvSpPr>
          <p:cNvPr id="3" name="Title 2"/>
          <p:cNvSpPr>
            <a:spLocks noGrp="1"/>
          </p:cNvSpPr>
          <p:nvPr>
            <p:ph type="title"/>
          </p:nvPr>
        </p:nvSpPr>
        <p:spPr/>
        <p:txBody>
          <a:bodyPr/>
          <a:lstStyle/>
          <a:p>
            <a:r>
              <a:rPr lang="en-US" dirty="0"/>
              <a:t>What’s next</a:t>
            </a:r>
          </a:p>
        </p:txBody>
      </p:sp>
    </p:spTree>
    <p:extLst>
      <p:ext uri="{BB962C8B-B14F-4D97-AF65-F5344CB8AC3E}">
        <p14:creationId xmlns:p14="http://schemas.microsoft.com/office/powerpoint/2010/main" val="2089394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1000"/>
                                        <p:tgtEl>
                                          <p:spTgt spid="25"/>
                                        </p:tgtEl>
                                      </p:cBhvr>
                                    </p:animEffect>
                                    <p:anim calcmode="lin" valueType="num">
                                      <p:cBhvr>
                                        <p:cTn id="17" dur="1000" fill="hold"/>
                                        <p:tgtEl>
                                          <p:spTgt spid="25"/>
                                        </p:tgtEl>
                                        <p:attrNameLst>
                                          <p:attrName>ppt_x</p:attrName>
                                        </p:attrNameLst>
                                      </p:cBhvr>
                                      <p:tavLst>
                                        <p:tav tm="0">
                                          <p:val>
                                            <p:strVal val="#ppt_x"/>
                                          </p:val>
                                        </p:tav>
                                        <p:tav tm="100000">
                                          <p:val>
                                            <p:strVal val="#ppt_x"/>
                                          </p:val>
                                        </p:tav>
                                      </p:tavLst>
                                    </p:anim>
                                    <p:anim calcmode="lin" valueType="num">
                                      <p:cBhvr>
                                        <p:cTn id="1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left)">
                                      <p:cBhvr>
                                        <p:cTn id="23" dur="500"/>
                                        <p:tgtEl>
                                          <p:spTgt spid="22"/>
                                        </p:tgtEl>
                                      </p:cBhvr>
                                    </p:animEffect>
                                  </p:childTnLst>
                                </p:cTn>
                              </p:par>
                            </p:childTnLst>
                          </p:cTn>
                        </p:par>
                        <p:par>
                          <p:cTn id="24" fill="hold">
                            <p:stCondLst>
                              <p:cond delay="500"/>
                            </p:stCondLst>
                            <p:childTnLst>
                              <p:par>
                                <p:cTn id="25" presetID="42" presetClass="entr" presetSubtype="0"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1000"/>
                                        <p:tgtEl>
                                          <p:spTgt spid="23"/>
                                        </p:tgtEl>
                                      </p:cBhvr>
                                    </p:animEffect>
                                    <p:anim calcmode="lin" valueType="num">
                                      <p:cBhvr>
                                        <p:cTn id="28" dur="1000" fill="hold"/>
                                        <p:tgtEl>
                                          <p:spTgt spid="23"/>
                                        </p:tgtEl>
                                        <p:attrNameLst>
                                          <p:attrName>ppt_x</p:attrName>
                                        </p:attrNameLst>
                                      </p:cBhvr>
                                      <p:tavLst>
                                        <p:tav tm="0">
                                          <p:val>
                                            <p:strVal val="#ppt_x"/>
                                          </p:val>
                                        </p:tav>
                                        <p:tav tm="100000">
                                          <p:val>
                                            <p:strVal val="#ppt_x"/>
                                          </p:val>
                                        </p:tav>
                                      </p:tavLst>
                                    </p:anim>
                                    <p:anim calcmode="lin" valueType="num">
                                      <p:cBhvr>
                                        <p:cTn id="29" dur="1000" fill="hold"/>
                                        <p:tgtEl>
                                          <p:spTgt spid="2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right)">
                                      <p:cBhvr>
                                        <p:cTn id="39" dur="500"/>
                                        <p:tgtEl>
                                          <p:spTgt spid="20"/>
                                        </p:tgtEl>
                                      </p:cBhvr>
                                    </p:animEffect>
                                  </p:childTnLst>
                                </p:cTn>
                              </p:par>
                            </p:childTnLst>
                          </p:cTn>
                        </p:par>
                        <p:par>
                          <p:cTn id="40" fill="hold">
                            <p:stCondLst>
                              <p:cond delay="500"/>
                            </p:stCondLst>
                            <p:childTnLst>
                              <p:par>
                                <p:cTn id="41" presetID="42" presetClass="entr" presetSubtype="0"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1000"/>
                                        <p:tgtEl>
                                          <p:spTgt spid="21"/>
                                        </p:tgtEl>
                                      </p:cBhvr>
                                    </p:animEffect>
                                    <p:anim calcmode="lin" valueType="num">
                                      <p:cBhvr>
                                        <p:cTn id="44" dur="1000" fill="hold"/>
                                        <p:tgtEl>
                                          <p:spTgt spid="21"/>
                                        </p:tgtEl>
                                        <p:attrNameLst>
                                          <p:attrName>ppt_x</p:attrName>
                                        </p:attrNameLst>
                                      </p:cBhvr>
                                      <p:tavLst>
                                        <p:tav tm="0">
                                          <p:val>
                                            <p:strVal val="#ppt_x"/>
                                          </p:val>
                                        </p:tav>
                                        <p:tav tm="100000">
                                          <p:val>
                                            <p:strVal val="#ppt_x"/>
                                          </p:val>
                                        </p:tav>
                                      </p:tavLst>
                                    </p:anim>
                                    <p:anim calcmode="lin" valueType="num">
                                      <p:cBhvr>
                                        <p:cTn id="45" dur="1000" fill="hold"/>
                                        <p:tgtEl>
                                          <p:spTgt spid="2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1000"/>
                                        <p:tgtEl>
                                          <p:spTgt spid="28"/>
                                        </p:tgtEl>
                                      </p:cBhvr>
                                    </p:animEffect>
                                    <p:anim calcmode="lin" valueType="num">
                                      <p:cBhvr>
                                        <p:cTn id="49" dur="1000" fill="hold"/>
                                        <p:tgtEl>
                                          <p:spTgt spid="28"/>
                                        </p:tgtEl>
                                        <p:attrNameLst>
                                          <p:attrName>ppt_x</p:attrName>
                                        </p:attrNameLst>
                                      </p:cBhvr>
                                      <p:tavLst>
                                        <p:tav tm="0">
                                          <p:val>
                                            <p:strVal val="#ppt_x"/>
                                          </p:val>
                                        </p:tav>
                                        <p:tav tm="100000">
                                          <p:val>
                                            <p:strVal val="#ppt_x"/>
                                          </p:val>
                                        </p:tav>
                                      </p:tavLst>
                                    </p:anim>
                                    <p:anim calcmode="lin" valueType="num">
                                      <p:cBhvr>
                                        <p:cTn id="5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20" grpId="0" animBg="1"/>
      <p:bldP spid="21" grpId="0"/>
      <p:bldP spid="22" grpId="0" animBg="1"/>
      <p:bldP spid="23" grpId="0"/>
      <p:bldP spid="25" grpId="0"/>
      <p:bldP spid="26" grpId="0"/>
      <p:bldP spid="28"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000" dirty="0" err="1"/>
              <a:t>TemProb</a:t>
            </a:r>
            <a:r>
              <a:rPr lang="en-US" sz="2000" dirty="0"/>
              <a:t> [NAACL’18] is only about temporal </a:t>
            </a:r>
            <a:r>
              <a:rPr lang="en-US" sz="2000" b="1" dirty="0"/>
              <a:t>ordering</a:t>
            </a:r>
          </a:p>
          <a:p>
            <a:pPr marL="0" indent="0">
              <a:buNone/>
            </a:pPr>
            <a:endParaRPr lang="en-US" sz="2000" dirty="0"/>
          </a:p>
          <a:p>
            <a:pPr marL="0" indent="0">
              <a:buNone/>
            </a:pPr>
            <a:r>
              <a:rPr lang="en-US" sz="2000" dirty="0"/>
              <a:t>In addition, we proposed other types of temporal common sense:</a:t>
            </a:r>
          </a:p>
          <a:p>
            <a:pPr lvl="1"/>
            <a:r>
              <a:rPr lang="en-US" sz="1800" b="1" dirty="0"/>
              <a:t>Duration: </a:t>
            </a:r>
            <a:r>
              <a:rPr lang="en-US" sz="1600" dirty="0"/>
              <a:t>h</a:t>
            </a:r>
            <a:r>
              <a:rPr lang="en-US" sz="1600" dirty="0">
                <a:latin typeface="Century Gothic" panose="020B0502020202020204" pitchFamily="34" charset="0"/>
              </a:rPr>
              <a:t>ow long something </a:t>
            </a:r>
            <a:r>
              <a:rPr lang="en-US" sz="1600" dirty="0"/>
              <a:t>takes</a:t>
            </a:r>
          </a:p>
          <a:p>
            <a:pPr lvl="1"/>
            <a:r>
              <a:rPr lang="en-US" sz="1800" b="1" dirty="0"/>
              <a:t>Frequency: </a:t>
            </a:r>
            <a:r>
              <a:rPr lang="en-US" sz="1600" dirty="0"/>
              <a:t>how often something happens</a:t>
            </a:r>
            <a:endParaRPr lang="en-US" sz="1600" dirty="0">
              <a:latin typeface="Century Gothic" panose="020B0502020202020204" pitchFamily="34" charset="0"/>
            </a:endParaRPr>
          </a:p>
          <a:p>
            <a:pPr lvl="1"/>
            <a:r>
              <a:rPr lang="en-US" sz="1800" b="1" dirty="0"/>
              <a:t>Stationary vs transient: “</a:t>
            </a:r>
            <a:r>
              <a:rPr lang="en-US" sz="1600" dirty="0"/>
              <a:t>b</a:t>
            </a:r>
            <a:r>
              <a:rPr lang="en-US" sz="1600" dirty="0">
                <a:latin typeface="Century Gothic" panose="020B0502020202020204" pitchFamily="34" charset="0"/>
              </a:rPr>
              <a:t>eing allergic” vs “being a student”</a:t>
            </a:r>
          </a:p>
          <a:p>
            <a:pPr lvl="1"/>
            <a:r>
              <a:rPr lang="en-US" sz="1800" b="1" dirty="0"/>
              <a:t>Absolute time point: “</a:t>
            </a:r>
            <a:r>
              <a:rPr lang="en-US" sz="1600" dirty="0">
                <a:latin typeface="Century Gothic" panose="020B0502020202020204" pitchFamily="34" charset="0"/>
              </a:rPr>
              <a:t>go to work” vs “go to bed”</a:t>
            </a:r>
            <a:endParaRPr lang="en-US" sz="2000" dirty="0"/>
          </a:p>
          <a:p>
            <a:pPr marL="0" indent="0">
              <a:buNone/>
            </a:pPr>
            <a:endParaRPr lang="en-US" sz="2000" dirty="0"/>
          </a:p>
          <a:p>
            <a:pPr marL="0" indent="0">
              <a:buNone/>
            </a:pPr>
            <a:r>
              <a:rPr lang="en-US" sz="2000" dirty="0"/>
              <a:t>We are the </a:t>
            </a:r>
            <a:r>
              <a:rPr lang="en-US" sz="2000" b="1" dirty="0"/>
              <a:t>first</a:t>
            </a:r>
            <a:r>
              <a:rPr lang="en-US" sz="2000" dirty="0"/>
              <a:t> to study this, have collected </a:t>
            </a:r>
            <a:r>
              <a:rPr lang="en-US" sz="2000" b="1" dirty="0"/>
              <a:t>10K Q&amp;A pairs</a:t>
            </a:r>
            <a:r>
              <a:rPr lang="en-US" sz="2000" dirty="0"/>
              <a:t>, and have achieved ~70% on it in a baseline system</a:t>
            </a:r>
          </a:p>
          <a:p>
            <a:pPr marL="0" indent="0">
              <a:buNone/>
            </a:pPr>
            <a:endParaRPr lang="en-US" sz="2000" dirty="0"/>
          </a:p>
          <a:p>
            <a:pPr marL="0" indent="0">
              <a:buNone/>
            </a:pPr>
            <a:r>
              <a:rPr lang="en-US" sz="2000" dirty="0"/>
              <a:t>“My movie starts in 30 mins. Can I have dinner before it?”</a:t>
            </a:r>
          </a:p>
          <a:p>
            <a:pPr marL="0" indent="0">
              <a:buNone/>
            </a:pPr>
            <a:endParaRPr lang="en-US" sz="2000" dirty="0"/>
          </a:p>
        </p:txBody>
      </p:sp>
      <p:sp>
        <p:nvSpPr>
          <p:cNvPr id="4" name="TextBox 3"/>
          <p:cNvSpPr txBox="1"/>
          <p:nvPr/>
        </p:nvSpPr>
        <p:spPr>
          <a:xfrm>
            <a:off x="4962153" y="411277"/>
            <a:ext cx="1406154" cy="307777"/>
          </a:xfrm>
          <a:prstGeom prst="rect">
            <a:avLst/>
          </a:prstGeom>
          <a:noFill/>
        </p:spPr>
        <p:txBody>
          <a:bodyPr wrap="none" rtlCol="0">
            <a:spAutoFit/>
          </a:bodyPr>
          <a:lstStyle/>
          <a:p>
            <a:r>
              <a:rPr lang="en-US" sz="1400" i="1" dirty="0">
                <a:solidFill>
                  <a:schemeClr val="bg2"/>
                </a:solidFill>
                <a:latin typeface="Century Gothic" panose="020B0502020202020204" pitchFamily="34" charset="0"/>
              </a:rPr>
              <a:t>[in submission]</a:t>
            </a:r>
          </a:p>
        </p:txBody>
      </p:sp>
      <p:sp>
        <p:nvSpPr>
          <p:cNvPr id="7" name="TextBox 6">
            <a:extLst>
              <a:ext uri="{FF2B5EF4-FFF2-40B4-BE49-F238E27FC236}">
                <a16:creationId xmlns:a16="http://schemas.microsoft.com/office/drawing/2014/main" xmlns="" id="{129EBA1A-99BB-8446-A971-B9D3E144A2D5}"/>
              </a:ext>
            </a:extLst>
          </p:cNvPr>
          <p:cNvSpPr txBox="1"/>
          <p:nvPr/>
        </p:nvSpPr>
        <p:spPr>
          <a:xfrm>
            <a:off x="386862" y="262336"/>
            <a:ext cx="4575291" cy="523220"/>
          </a:xfrm>
          <a:prstGeom prst="rect">
            <a:avLst/>
          </a:prstGeom>
          <a:noFill/>
        </p:spPr>
        <p:txBody>
          <a:bodyPr wrap="none" rtlCol="0">
            <a:spAutoFit/>
          </a:bodyPr>
          <a:lstStyle/>
          <a:p>
            <a:r>
              <a:rPr lang="en-US" sz="2800" dirty="0">
                <a:solidFill>
                  <a:schemeClr val="bg2"/>
                </a:solidFill>
                <a:latin typeface="Century Gothic" panose="020B0502020202020204" pitchFamily="34" charset="0"/>
              </a:rPr>
              <a:t>Temporal common sense</a:t>
            </a:r>
          </a:p>
        </p:txBody>
      </p:sp>
      <p:sp>
        <p:nvSpPr>
          <p:cNvPr id="6" name="TextBox 5">
            <a:extLst>
              <a:ext uri="{FF2B5EF4-FFF2-40B4-BE49-F238E27FC236}">
                <a16:creationId xmlns:a16="http://schemas.microsoft.com/office/drawing/2014/main" xmlns="" id="{50CE7CA8-D560-2E44-9464-97CF00EF769A}"/>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What’s next: preliminary results</a:t>
            </a:r>
          </a:p>
        </p:txBody>
      </p:sp>
    </p:spTree>
    <p:extLst>
      <p:ext uri="{BB962C8B-B14F-4D97-AF65-F5344CB8AC3E}">
        <p14:creationId xmlns:p14="http://schemas.microsoft.com/office/powerpoint/2010/main" val="1178292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dissolve">
                                      <p:cBhvr>
                                        <p:cTn id="20" dur="500"/>
                                        <p:tgtEl>
                                          <p:spTgt spid="3">
                                            <p:txEl>
                                              <p:pRg st="4" end="4"/>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dissolve">
                                      <p:cBhvr>
                                        <p:cTn id="23" dur="500"/>
                                        <p:tgtEl>
                                          <p:spTgt spid="3">
                                            <p:txEl>
                                              <p:pRg st="5" end="5"/>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dissolv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dissolve">
                                      <p:cBhvr>
                                        <p:cTn id="31" dur="500"/>
                                        <p:tgtEl>
                                          <p:spTgt spid="3">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dissolve">
                                      <p:cBhvr>
                                        <p:cTn id="3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Oval 68">
            <a:extLst>
              <a:ext uri="{FF2B5EF4-FFF2-40B4-BE49-F238E27FC236}">
                <a16:creationId xmlns:a16="http://schemas.microsoft.com/office/drawing/2014/main" xmlns="" id="{53589587-3451-9F45-A178-B972D233EAAC}"/>
              </a:ext>
            </a:extLst>
          </p:cNvPr>
          <p:cNvSpPr/>
          <p:nvPr/>
        </p:nvSpPr>
        <p:spPr>
          <a:xfrm>
            <a:off x="2759379" y="1565892"/>
            <a:ext cx="3618687" cy="3618687"/>
          </a:xfrm>
          <a:prstGeom prst="ellipse">
            <a:avLst/>
          </a:prstGeom>
          <a:solidFill>
            <a:srgbClr val="54516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TextBox 75">
            <a:extLst>
              <a:ext uri="{FF2B5EF4-FFF2-40B4-BE49-F238E27FC236}">
                <a16:creationId xmlns:a16="http://schemas.microsoft.com/office/drawing/2014/main" xmlns="" id="{7F0DE926-1D0E-B74D-8463-C75A808E4BDB}"/>
              </a:ext>
            </a:extLst>
          </p:cNvPr>
          <p:cNvSpPr txBox="1"/>
          <p:nvPr/>
        </p:nvSpPr>
        <p:spPr>
          <a:xfrm>
            <a:off x="3879876" y="1664969"/>
            <a:ext cx="1427769" cy="523220"/>
          </a:xfrm>
          <a:prstGeom prst="rect">
            <a:avLst/>
          </a:prstGeom>
          <a:noFill/>
        </p:spPr>
        <p:txBody>
          <a:bodyPr wrap="square" rtlCol="0">
            <a:spAutoFit/>
          </a:bodyPr>
          <a:lstStyle/>
          <a:p>
            <a:pPr algn="ctr"/>
            <a:r>
              <a:rPr lang="en-US" sz="2800" dirty="0">
                <a:latin typeface="Century Gothic" panose="020B0502020202020204" pitchFamily="34" charset="0"/>
              </a:rPr>
              <a:t>Event</a:t>
            </a:r>
          </a:p>
        </p:txBody>
      </p:sp>
      <p:sp>
        <p:nvSpPr>
          <p:cNvPr id="77" name="Oval 76">
            <a:extLst>
              <a:ext uri="{FF2B5EF4-FFF2-40B4-BE49-F238E27FC236}">
                <a16:creationId xmlns:a16="http://schemas.microsoft.com/office/drawing/2014/main" xmlns="" id="{FB03D6D5-3677-7D42-9D5D-BD97DD3C33AF}"/>
              </a:ext>
            </a:extLst>
          </p:cNvPr>
          <p:cNvSpPr/>
          <p:nvPr/>
        </p:nvSpPr>
        <p:spPr>
          <a:xfrm>
            <a:off x="3386320" y="2721595"/>
            <a:ext cx="2347042" cy="2347042"/>
          </a:xfrm>
          <a:prstGeom prst="ellipse">
            <a:avLst/>
          </a:prstGeom>
          <a:solidFill>
            <a:srgbClr val="F7E3D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8" name="Freeform 77">
            <a:extLst>
              <a:ext uri="{FF2B5EF4-FFF2-40B4-BE49-F238E27FC236}">
                <a16:creationId xmlns:a16="http://schemas.microsoft.com/office/drawing/2014/main" xmlns="" id="{D163EFD5-164A-3E44-B580-F3C4979FEAB4}"/>
              </a:ext>
            </a:extLst>
          </p:cNvPr>
          <p:cNvSpPr/>
          <p:nvPr/>
        </p:nvSpPr>
        <p:spPr>
          <a:xfrm>
            <a:off x="4012829" y="3774444"/>
            <a:ext cx="556176" cy="525165"/>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79" name="Freeform 78">
            <a:extLst>
              <a:ext uri="{FF2B5EF4-FFF2-40B4-BE49-F238E27FC236}">
                <a16:creationId xmlns:a16="http://schemas.microsoft.com/office/drawing/2014/main" xmlns="" id="{1F3035BC-E1C6-A94E-BF84-8907CB724617}"/>
              </a:ext>
            </a:extLst>
          </p:cNvPr>
          <p:cNvSpPr/>
          <p:nvPr/>
        </p:nvSpPr>
        <p:spPr>
          <a:xfrm>
            <a:off x="4569005" y="3774443"/>
            <a:ext cx="551639" cy="523505"/>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80" name="Freeform 79">
            <a:extLst>
              <a:ext uri="{FF2B5EF4-FFF2-40B4-BE49-F238E27FC236}">
                <a16:creationId xmlns:a16="http://schemas.microsoft.com/office/drawing/2014/main" xmlns="" id="{C4CD434E-7F4E-974F-AD8C-9BDB730ED40D}"/>
              </a:ext>
            </a:extLst>
          </p:cNvPr>
          <p:cNvSpPr/>
          <p:nvPr/>
        </p:nvSpPr>
        <p:spPr>
          <a:xfrm>
            <a:off x="4385384" y="4297947"/>
            <a:ext cx="367241" cy="443777"/>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81" name="Freeform 80">
            <a:extLst>
              <a:ext uri="{FF2B5EF4-FFF2-40B4-BE49-F238E27FC236}">
                <a16:creationId xmlns:a16="http://schemas.microsoft.com/office/drawing/2014/main" xmlns="" id="{F950239B-0129-1943-9755-99B2E173002B}"/>
              </a:ext>
            </a:extLst>
          </p:cNvPr>
          <p:cNvSpPr/>
          <p:nvPr/>
        </p:nvSpPr>
        <p:spPr>
          <a:xfrm>
            <a:off x="4011214" y="3218963"/>
            <a:ext cx="1110962" cy="69916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82" name="Freeform 81">
            <a:extLst>
              <a:ext uri="{FF2B5EF4-FFF2-40B4-BE49-F238E27FC236}">
                <a16:creationId xmlns:a16="http://schemas.microsoft.com/office/drawing/2014/main" xmlns="" id="{7442F4D3-F41A-EE4E-90A7-7005AAE8C8D7}"/>
              </a:ext>
            </a:extLst>
          </p:cNvPr>
          <p:cNvSpPr/>
          <p:nvPr/>
        </p:nvSpPr>
        <p:spPr>
          <a:xfrm>
            <a:off x="4569005" y="3804759"/>
            <a:ext cx="927341" cy="1080645"/>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83" name="Freeform 82">
            <a:extLst>
              <a:ext uri="{FF2B5EF4-FFF2-40B4-BE49-F238E27FC236}">
                <a16:creationId xmlns:a16="http://schemas.microsoft.com/office/drawing/2014/main" xmlns="" id="{24AA8090-48EA-AB48-888D-C2609871EAF2}"/>
              </a:ext>
            </a:extLst>
          </p:cNvPr>
          <p:cNvSpPr/>
          <p:nvPr/>
        </p:nvSpPr>
        <p:spPr>
          <a:xfrm>
            <a:off x="3641664" y="3806418"/>
            <a:ext cx="927341" cy="1078985"/>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89" name="Freeform 88">
            <a:extLst>
              <a:ext uri="{FF2B5EF4-FFF2-40B4-BE49-F238E27FC236}">
                <a16:creationId xmlns:a16="http://schemas.microsoft.com/office/drawing/2014/main" xmlns="" id="{5B1F4589-6EE3-BF4A-888E-FF592DD1EA6F}"/>
              </a:ext>
            </a:extLst>
          </p:cNvPr>
          <p:cNvSpPr/>
          <p:nvPr/>
        </p:nvSpPr>
        <p:spPr>
          <a:xfrm>
            <a:off x="4386131" y="3933280"/>
            <a:ext cx="364096" cy="41180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84" name="Freeform 83">
            <a:extLst>
              <a:ext uri="{FF2B5EF4-FFF2-40B4-BE49-F238E27FC236}">
                <a16:creationId xmlns:a16="http://schemas.microsoft.com/office/drawing/2014/main" xmlns="" id="{50FBF310-7026-FD4D-925B-CF48894F0921}"/>
              </a:ext>
            </a:extLst>
          </p:cNvPr>
          <p:cNvSpPr/>
          <p:nvPr/>
        </p:nvSpPr>
        <p:spPr>
          <a:xfrm>
            <a:off x="4386916" y="3918123"/>
            <a:ext cx="364096" cy="41180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pic>
        <p:nvPicPr>
          <p:cNvPr id="85" name="Picture 84" descr="A close up of a logo&#10;&#10;Description automatically generated">
            <a:extLst>
              <a:ext uri="{FF2B5EF4-FFF2-40B4-BE49-F238E27FC236}">
                <a16:creationId xmlns:a16="http://schemas.microsoft.com/office/drawing/2014/main" xmlns="" id="{5EB8202C-38F6-8342-840F-4D7A00E4E88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448381" y="3442018"/>
            <a:ext cx="274625" cy="210182"/>
          </a:xfrm>
          <a:prstGeom prst="rect">
            <a:avLst/>
          </a:prstGeom>
        </p:spPr>
      </p:pic>
      <p:pic>
        <p:nvPicPr>
          <p:cNvPr id="86" name="Picture 85" descr="A close up of a logo&#10;&#10;Description automatically generated">
            <a:extLst>
              <a:ext uri="{FF2B5EF4-FFF2-40B4-BE49-F238E27FC236}">
                <a16:creationId xmlns:a16="http://schemas.microsoft.com/office/drawing/2014/main" xmlns="" id="{608E31AD-8141-4C4A-B2F9-AA2F47785388}"/>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993143" y="4450899"/>
            <a:ext cx="373014" cy="265255"/>
          </a:xfrm>
          <a:prstGeom prst="rect">
            <a:avLst/>
          </a:prstGeom>
        </p:spPr>
      </p:pic>
      <p:pic>
        <p:nvPicPr>
          <p:cNvPr id="87" name="Picture 86" descr="A close up of a logo&#10;&#10;Description automatically generated">
            <a:extLst>
              <a:ext uri="{FF2B5EF4-FFF2-40B4-BE49-F238E27FC236}">
                <a16:creationId xmlns:a16="http://schemas.microsoft.com/office/drawing/2014/main" xmlns="" id="{86C14464-3D50-1B47-A6F2-F487F9439616}"/>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4853200" y="4523655"/>
            <a:ext cx="230999" cy="192499"/>
          </a:xfrm>
          <a:prstGeom prst="rect">
            <a:avLst/>
          </a:prstGeom>
        </p:spPr>
      </p:pic>
      <p:sp>
        <p:nvSpPr>
          <p:cNvPr id="88" name="TextBox 87">
            <a:extLst>
              <a:ext uri="{FF2B5EF4-FFF2-40B4-BE49-F238E27FC236}">
                <a16:creationId xmlns:a16="http://schemas.microsoft.com/office/drawing/2014/main" xmlns="" id="{4E47E76C-9ACD-CA44-A0A6-F97083BA1833}"/>
              </a:ext>
            </a:extLst>
          </p:cNvPr>
          <p:cNvSpPr txBox="1"/>
          <p:nvPr/>
        </p:nvSpPr>
        <p:spPr>
          <a:xfrm>
            <a:off x="4273778" y="2801002"/>
            <a:ext cx="639920" cy="338554"/>
          </a:xfrm>
          <a:prstGeom prst="rect">
            <a:avLst/>
          </a:prstGeom>
          <a:noFill/>
        </p:spPr>
        <p:txBody>
          <a:bodyPr wrap="none" rtlCol="0">
            <a:spAutoFit/>
          </a:bodyPr>
          <a:lstStyle/>
          <a:p>
            <a:pPr algn="ctr"/>
            <a:r>
              <a:rPr lang="en-US" sz="1600" dirty="0">
                <a:solidFill>
                  <a:schemeClr val="bg2"/>
                </a:solidFill>
                <a:latin typeface="Century Gothic" panose="020B0502020202020204" pitchFamily="34" charset="0"/>
              </a:rPr>
              <a:t>Time</a:t>
            </a:r>
          </a:p>
        </p:txBody>
      </p:sp>
      <p:sp>
        <p:nvSpPr>
          <p:cNvPr id="6" name="TextBox 5">
            <a:extLst>
              <a:ext uri="{FF2B5EF4-FFF2-40B4-BE49-F238E27FC236}">
                <a16:creationId xmlns:a16="http://schemas.microsoft.com/office/drawing/2014/main" xmlns="" id="{A05F2659-36A8-CF48-94C6-9DD378790B8C}"/>
              </a:ext>
            </a:extLst>
          </p:cNvPr>
          <p:cNvSpPr txBox="1"/>
          <p:nvPr/>
        </p:nvSpPr>
        <p:spPr>
          <a:xfrm>
            <a:off x="338523" y="1583512"/>
            <a:ext cx="2420856"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Summarization [ISIT’19]</a:t>
            </a:r>
          </a:p>
        </p:txBody>
      </p:sp>
      <p:sp>
        <p:nvSpPr>
          <p:cNvPr id="38" name="TextBox 37">
            <a:extLst>
              <a:ext uri="{FF2B5EF4-FFF2-40B4-BE49-F238E27FC236}">
                <a16:creationId xmlns:a16="http://schemas.microsoft.com/office/drawing/2014/main" xmlns="" id="{AE103771-0757-D64A-9112-681C1C885C5A}"/>
              </a:ext>
            </a:extLst>
          </p:cNvPr>
          <p:cNvSpPr txBox="1"/>
          <p:nvPr/>
        </p:nvSpPr>
        <p:spPr>
          <a:xfrm>
            <a:off x="6277789" y="915822"/>
            <a:ext cx="2713811" cy="584775"/>
          </a:xfrm>
          <a:prstGeom prst="rect">
            <a:avLst/>
          </a:prstGeom>
          <a:noFill/>
        </p:spPr>
        <p:txBody>
          <a:bodyPr wrap="square" rtlCol="0">
            <a:spAutoFit/>
          </a:bodyPr>
          <a:lstStyle/>
          <a:p>
            <a:r>
              <a:rPr lang="en-US" sz="1600" dirty="0">
                <a:solidFill>
                  <a:schemeClr val="bg2"/>
                </a:solidFill>
                <a:latin typeface="Century Gothic" panose="020B0502020202020204" pitchFamily="34" charset="0"/>
              </a:rPr>
              <a:t>Predict how things unfold [in submission]</a:t>
            </a:r>
          </a:p>
        </p:txBody>
      </p:sp>
      <p:sp>
        <p:nvSpPr>
          <p:cNvPr id="39" name="Line Callout 2 (No Border) 38">
            <a:extLst>
              <a:ext uri="{FF2B5EF4-FFF2-40B4-BE49-F238E27FC236}">
                <a16:creationId xmlns:a16="http://schemas.microsoft.com/office/drawing/2014/main" xmlns="" id="{B5F30D68-FAA9-904A-A9F2-7491895BA339}"/>
              </a:ext>
            </a:extLst>
          </p:cNvPr>
          <p:cNvSpPr/>
          <p:nvPr/>
        </p:nvSpPr>
        <p:spPr>
          <a:xfrm>
            <a:off x="6273358" y="1437970"/>
            <a:ext cx="914400" cy="612648"/>
          </a:xfrm>
          <a:prstGeom prst="callout2">
            <a:avLst>
              <a:gd name="adj1" fmla="val 14823"/>
              <a:gd name="adj2" fmla="val 276991"/>
              <a:gd name="adj3" fmla="val 18751"/>
              <a:gd name="adj4" fmla="val 6410"/>
              <a:gd name="adj5" fmla="val 101019"/>
              <a:gd name="adj6" fmla="val -53077"/>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40" name="Line Callout 2 (No Border) 39">
            <a:extLst>
              <a:ext uri="{FF2B5EF4-FFF2-40B4-BE49-F238E27FC236}">
                <a16:creationId xmlns:a16="http://schemas.microsoft.com/office/drawing/2014/main" xmlns="" id="{6BC163CA-DDF8-194E-8F92-D8796C0DC0F2}"/>
              </a:ext>
            </a:extLst>
          </p:cNvPr>
          <p:cNvSpPr/>
          <p:nvPr/>
        </p:nvSpPr>
        <p:spPr>
          <a:xfrm>
            <a:off x="2399090" y="2546965"/>
            <a:ext cx="914400" cy="612648"/>
          </a:xfrm>
          <a:prstGeom prst="callout2">
            <a:avLst>
              <a:gd name="adj1" fmla="val -53962"/>
              <a:gd name="adj2" fmla="val 85256"/>
              <a:gd name="adj3" fmla="val -96060"/>
              <a:gd name="adj4" fmla="val 56410"/>
              <a:gd name="adj5" fmla="val -94159"/>
              <a:gd name="adj6" fmla="val -214617"/>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41" name="Line Callout 2 (No Border) 40">
            <a:extLst>
              <a:ext uri="{FF2B5EF4-FFF2-40B4-BE49-F238E27FC236}">
                <a16:creationId xmlns:a16="http://schemas.microsoft.com/office/drawing/2014/main" xmlns="" id="{5EA7D270-613B-304B-9987-BCA0A628556F}"/>
              </a:ext>
            </a:extLst>
          </p:cNvPr>
          <p:cNvSpPr/>
          <p:nvPr/>
        </p:nvSpPr>
        <p:spPr>
          <a:xfrm flipH="1" flipV="1">
            <a:off x="4652677" y="4395933"/>
            <a:ext cx="914400" cy="612648"/>
          </a:xfrm>
          <a:prstGeom prst="callout2">
            <a:avLst>
              <a:gd name="adj1" fmla="val -31000"/>
              <a:gd name="adj2" fmla="val 117307"/>
              <a:gd name="adj3" fmla="val -92233"/>
              <a:gd name="adj4" fmla="val 29487"/>
              <a:gd name="adj5" fmla="val -92194"/>
              <a:gd name="adj6" fmla="val -335939"/>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endParaRPr>
          </a:p>
        </p:txBody>
      </p:sp>
      <p:sp>
        <p:nvSpPr>
          <p:cNvPr id="42" name="TextBox 41">
            <a:extLst>
              <a:ext uri="{FF2B5EF4-FFF2-40B4-BE49-F238E27FC236}">
                <a16:creationId xmlns:a16="http://schemas.microsoft.com/office/drawing/2014/main" xmlns="" id="{0899A37F-FC63-3549-8C4C-BE173AD5D06C}"/>
              </a:ext>
            </a:extLst>
          </p:cNvPr>
          <p:cNvSpPr txBox="1"/>
          <p:nvPr/>
        </p:nvSpPr>
        <p:spPr>
          <a:xfrm>
            <a:off x="5471842" y="5534530"/>
            <a:ext cx="3325372" cy="584775"/>
          </a:xfrm>
          <a:prstGeom prst="rect">
            <a:avLst/>
          </a:prstGeom>
          <a:noFill/>
        </p:spPr>
        <p:txBody>
          <a:bodyPr wrap="square" rtlCol="0">
            <a:spAutoFit/>
          </a:bodyPr>
          <a:lstStyle/>
          <a:p>
            <a:r>
              <a:rPr lang="en-US" sz="1600" dirty="0">
                <a:solidFill>
                  <a:schemeClr val="bg2"/>
                </a:solidFill>
                <a:latin typeface="Century Gothic" panose="020B0502020202020204" pitchFamily="34" charset="0"/>
              </a:rPr>
              <a:t>Event hierarchies, coreference, causality, etc.</a:t>
            </a:r>
          </a:p>
        </p:txBody>
      </p:sp>
      <p:sp>
        <p:nvSpPr>
          <p:cNvPr id="43" name="TextBox 42">
            <a:extLst>
              <a:ext uri="{FF2B5EF4-FFF2-40B4-BE49-F238E27FC236}">
                <a16:creationId xmlns:a16="http://schemas.microsoft.com/office/drawing/2014/main" xmlns="" id="{BB81DF61-5EB4-3245-AB02-E4260AD61A34}"/>
              </a:ext>
            </a:extLst>
          </p:cNvPr>
          <p:cNvSpPr txBox="1"/>
          <p:nvPr/>
        </p:nvSpPr>
        <p:spPr>
          <a:xfrm>
            <a:off x="6265089" y="1621307"/>
            <a:ext cx="2955111" cy="584775"/>
          </a:xfrm>
          <a:prstGeom prst="rect">
            <a:avLst/>
          </a:prstGeom>
          <a:noFill/>
        </p:spPr>
        <p:txBody>
          <a:bodyPr wrap="square" rtlCol="0">
            <a:spAutoFit/>
          </a:bodyPr>
          <a:lstStyle/>
          <a:p>
            <a:r>
              <a:rPr lang="en-US" sz="1600" i="1" dirty="0">
                <a:solidFill>
                  <a:schemeClr val="bg2"/>
                </a:solidFill>
                <a:latin typeface="Century Gothic" panose="020B0502020202020204" pitchFamily="34" charset="0"/>
              </a:rPr>
              <a:t>Extension: Medical records, social events, etc.</a:t>
            </a:r>
          </a:p>
        </p:txBody>
      </p:sp>
      <p:sp>
        <p:nvSpPr>
          <p:cNvPr id="71" name="TextBox 70">
            <a:extLst>
              <a:ext uri="{FF2B5EF4-FFF2-40B4-BE49-F238E27FC236}">
                <a16:creationId xmlns:a16="http://schemas.microsoft.com/office/drawing/2014/main" xmlns="" id="{42EC300F-B643-9746-9AC4-DEBCCFA091BE}"/>
              </a:ext>
            </a:extLst>
          </p:cNvPr>
          <p:cNvSpPr txBox="1"/>
          <p:nvPr/>
        </p:nvSpPr>
        <p:spPr>
          <a:xfrm>
            <a:off x="1568714" y="4123457"/>
            <a:ext cx="1830950" cy="253916"/>
          </a:xfrm>
          <a:prstGeom prst="rect">
            <a:avLst/>
          </a:prstGeom>
          <a:noFill/>
        </p:spPr>
        <p:txBody>
          <a:bodyPr wrap="none" rtlCol="0">
            <a:spAutoFit/>
          </a:bodyPr>
          <a:lstStyle/>
          <a:p>
            <a:r>
              <a:rPr lang="en-US" sz="1050" dirty="0">
                <a:solidFill>
                  <a:schemeClr val="bg2">
                    <a:alpha val="50000"/>
                  </a:schemeClr>
                </a:solidFill>
                <a:latin typeface="Century Gothic" panose="020B0502020202020204" pitchFamily="34" charset="0"/>
              </a:rPr>
              <a:t>Temporal common sense</a:t>
            </a:r>
          </a:p>
        </p:txBody>
      </p:sp>
      <p:sp>
        <p:nvSpPr>
          <p:cNvPr id="73" name="TextBox 72">
            <a:extLst>
              <a:ext uri="{FF2B5EF4-FFF2-40B4-BE49-F238E27FC236}">
                <a16:creationId xmlns:a16="http://schemas.microsoft.com/office/drawing/2014/main" xmlns="" id="{B0DA4DBF-7B94-254F-B617-777DE0C4B706}"/>
              </a:ext>
            </a:extLst>
          </p:cNvPr>
          <p:cNvSpPr txBox="1"/>
          <p:nvPr/>
        </p:nvSpPr>
        <p:spPr>
          <a:xfrm>
            <a:off x="5715393" y="4694011"/>
            <a:ext cx="1845377" cy="253916"/>
          </a:xfrm>
          <a:prstGeom prst="rect">
            <a:avLst/>
          </a:prstGeom>
          <a:noFill/>
        </p:spPr>
        <p:txBody>
          <a:bodyPr wrap="none" rtlCol="0">
            <a:spAutoFit/>
          </a:bodyPr>
          <a:lstStyle/>
          <a:p>
            <a:r>
              <a:rPr lang="en-US" sz="1050" dirty="0">
                <a:solidFill>
                  <a:schemeClr val="bg2">
                    <a:alpha val="50000"/>
                  </a:schemeClr>
                </a:solidFill>
                <a:latin typeface="Century Gothic" panose="020B0502020202020204" pitchFamily="34" charset="0"/>
              </a:rPr>
              <a:t>Multi-axis temporal parser</a:t>
            </a:r>
          </a:p>
        </p:txBody>
      </p:sp>
      <p:sp>
        <p:nvSpPr>
          <p:cNvPr id="75" name="TextBox 74">
            <a:extLst>
              <a:ext uri="{FF2B5EF4-FFF2-40B4-BE49-F238E27FC236}">
                <a16:creationId xmlns:a16="http://schemas.microsoft.com/office/drawing/2014/main" xmlns="" id="{8D39537A-8BEB-D946-9427-68E518F6509B}"/>
              </a:ext>
            </a:extLst>
          </p:cNvPr>
          <p:cNvSpPr txBox="1"/>
          <p:nvPr/>
        </p:nvSpPr>
        <p:spPr>
          <a:xfrm>
            <a:off x="5377250" y="2598418"/>
            <a:ext cx="1361105" cy="415498"/>
          </a:xfrm>
          <a:prstGeom prst="rect">
            <a:avLst/>
          </a:prstGeom>
          <a:noFill/>
        </p:spPr>
        <p:txBody>
          <a:bodyPr wrap="square" rtlCol="0">
            <a:spAutoFit/>
          </a:bodyPr>
          <a:lstStyle/>
          <a:p>
            <a:r>
              <a:rPr lang="en-US" sz="1050" dirty="0">
                <a:solidFill>
                  <a:schemeClr val="bg2">
                    <a:alpha val="50000"/>
                  </a:schemeClr>
                </a:solidFill>
                <a:latin typeface="Century Gothic" panose="020B0502020202020204" pitchFamily="34" charset="0"/>
              </a:rPr>
              <a:t>Joint extraction of events &amp; relations</a:t>
            </a:r>
          </a:p>
        </p:txBody>
      </p:sp>
      <p:sp>
        <p:nvSpPr>
          <p:cNvPr id="28" name="TextBox 27">
            <a:extLst>
              <a:ext uri="{FF2B5EF4-FFF2-40B4-BE49-F238E27FC236}">
                <a16:creationId xmlns:a16="http://schemas.microsoft.com/office/drawing/2014/main" xmlns="" id="{71C961FC-AA83-024A-9026-69970B9C3B2E}"/>
              </a:ext>
            </a:extLst>
          </p:cNvPr>
          <p:cNvSpPr txBox="1"/>
          <p:nvPr/>
        </p:nvSpPr>
        <p:spPr>
          <a:xfrm>
            <a:off x="322219" y="2004724"/>
            <a:ext cx="2600213" cy="584775"/>
          </a:xfrm>
          <a:prstGeom prst="rect">
            <a:avLst/>
          </a:prstGeom>
          <a:noFill/>
        </p:spPr>
        <p:txBody>
          <a:bodyPr wrap="square" rtlCol="0">
            <a:spAutoFit/>
          </a:bodyPr>
          <a:lstStyle/>
          <a:p>
            <a:r>
              <a:rPr lang="en-US" sz="1600" i="1" dirty="0">
                <a:solidFill>
                  <a:schemeClr val="bg2"/>
                </a:solidFill>
                <a:latin typeface="Century Gothic" panose="020B0502020202020204" pitchFamily="34" charset="0"/>
              </a:rPr>
              <a:t>Information theory for </a:t>
            </a:r>
            <a:r>
              <a:rPr lang="en-US" sz="1600" i="1">
                <a:solidFill>
                  <a:schemeClr val="bg2"/>
                </a:solidFill>
                <a:latin typeface="Century Gothic" panose="020B0502020202020204" pitchFamily="34" charset="0"/>
              </a:rPr>
              <a:t>text summarization</a:t>
            </a:r>
            <a:endParaRPr lang="en-US" sz="1600" i="1" dirty="0">
              <a:solidFill>
                <a:schemeClr val="bg2"/>
              </a:solidFill>
              <a:latin typeface="Century Gothic" panose="020B0502020202020204" pitchFamily="34" charset="0"/>
            </a:endParaRPr>
          </a:p>
        </p:txBody>
      </p:sp>
      <p:sp>
        <p:nvSpPr>
          <p:cNvPr id="2" name="Title 1"/>
          <p:cNvSpPr>
            <a:spLocks noGrp="1"/>
          </p:cNvSpPr>
          <p:nvPr>
            <p:ph type="title"/>
          </p:nvPr>
        </p:nvSpPr>
        <p:spPr/>
        <p:txBody>
          <a:bodyPr/>
          <a:lstStyle/>
          <a:p>
            <a:r>
              <a:rPr lang="en-US" dirty="0"/>
              <a:t>What’s next</a:t>
            </a:r>
          </a:p>
        </p:txBody>
      </p:sp>
    </p:spTree>
    <p:extLst>
      <p:ext uri="{BB962C8B-B14F-4D97-AF65-F5344CB8AC3E}">
        <p14:creationId xmlns:p14="http://schemas.microsoft.com/office/powerpoint/2010/main" val="191872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right)">
                                      <p:cBhvr>
                                        <p:cTn id="7" dur="500"/>
                                        <p:tgtEl>
                                          <p:spTgt spid="40"/>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1000"/>
                                        <p:tgtEl>
                                          <p:spTgt spid="28"/>
                                        </p:tgtEl>
                                      </p:cBhvr>
                                    </p:animEffect>
                                    <p:anim calcmode="lin" valueType="num">
                                      <p:cBhvr>
                                        <p:cTn id="17" dur="1000" fill="hold"/>
                                        <p:tgtEl>
                                          <p:spTgt spid="28"/>
                                        </p:tgtEl>
                                        <p:attrNameLst>
                                          <p:attrName>ppt_x</p:attrName>
                                        </p:attrNameLst>
                                      </p:cBhvr>
                                      <p:tavLst>
                                        <p:tav tm="0">
                                          <p:val>
                                            <p:strVal val="#ppt_x"/>
                                          </p:val>
                                        </p:tav>
                                        <p:tav tm="100000">
                                          <p:val>
                                            <p:strVal val="#ppt_x"/>
                                          </p:val>
                                        </p:tav>
                                      </p:tavLst>
                                    </p:anim>
                                    <p:anim calcmode="lin" valueType="num">
                                      <p:cBhvr>
                                        <p:cTn id="1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wipe(left)">
                                      <p:cBhvr>
                                        <p:cTn id="23" dur="500"/>
                                        <p:tgtEl>
                                          <p:spTgt spid="39"/>
                                        </p:tgtEl>
                                      </p:cBhvr>
                                    </p:animEffect>
                                  </p:childTnLst>
                                </p:cTn>
                              </p:par>
                            </p:childTnLst>
                          </p:cTn>
                        </p:par>
                        <p:par>
                          <p:cTn id="24" fill="hold">
                            <p:stCondLst>
                              <p:cond delay="500"/>
                            </p:stCondLst>
                            <p:childTnLst>
                              <p:par>
                                <p:cTn id="25" presetID="42" presetClass="entr" presetSubtype="0" fill="hold" grpId="0"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1000"/>
                                        <p:tgtEl>
                                          <p:spTgt spid="38"/>
                                        </p:tgtEl>
                                      </p:cBhvr>
                                    </p:animEffect>
                                    <p:anim calcmode="lin" valueType="num">
                                      <p:cBhvr>
                                        <p:cTn id="28" dur="1000" fill="hold"/>
                                        <p:tgtEl>
                                          <p:spTgt spid="38"/>
                                        </p:tgtEl>
                                        <p:attrNameLst>
                                          <p:attrName>ppt_x</p:attrName>
                                        </p:attrNameLst>
                                      </p:cBhvr>
                                      <p:tavLst>
                                        <p:tav tm="0">
                                          <p:val>
                                            <p:strVal val="#ppt_x"/>
                                          </p:val>
                                        </p:tav>
                                        <p:tav tm="100000">
                                          <p:val>
                                            <p:strVal val="#ppt_x"/>
                                          </p:val>
                                        </p:tav>
                                      </p:tavLst>
                                    </p:anim>
                                    <p:anim calcmode="lin" valueType="num">
                                      <p:cBhvr>
                                        <p:cTn id="29" dur="1000" fill="hold"/>
                                        <p:tgtEl>
                                          <p:spTgt spid="3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1000"/>
                                        <p:tgtEl>
                                          <p:spTgt spid="43"/>
                                        </p:tgtEl>
                                      </p:cBhvr>
                                    </p:animEffect>
                                    <p:anim calcmode="lin" valueType="num">
                                      <p:cBhvr>
                                        <p:cTn id="33" dur="1000" fill="hold"/>
                                        <p:tgtEl>
                                          <p:spTgt spid="43"/>
                                        </p:tgtEl>
                                        <p:attrNameLst>
                                          <p:attrName>ppt_x</p:attrName>
                                        </p:attrNameLst>
                                      </p:cBhvr>
                                      <p:tavLst>
                                        <p:tav tm="0">
                                          <p:val>
                                            <p:strVal val="#ppt_x"/>
                                          </p:val>
                                        </p:tav>
                                        <p:tav tm="100000">
                                          <p:val>
                                            <p:strVal val="#ppt_x"/>
                                          </p:val>
                                        </p:tav>
                                      </p:tavLst>
                                    </p:anim>
                                    <p:anim calcmode="lin" valueType="num">
                                      <p:cBhvr>
                                        <p:cTn id="3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left)">
                                      <p:cBhvr>
                                        <p:cTn id="39" dur="500"/>
                                        <p:tgtEl>
                                          <p:spTgt spid="41"/>
                                        </p:tgtEl>
                                      </p:cBhvr>
                                    </p:animEffect>
                                  </p:childTnLst>
                                </p:cTn>
                              </p:par>
                            </p:childTnLst>
                          </p:cTn>
                        </p:par>
                        <p:par>
                          <p:cTn id="40" fill="hold">
                            <p:stCondLst>
                              <p:cond delay="500"/>
                            </p:stCondLst>
                            <p:childTnLst>
                              <p:par>
                                <p:cTn id="41" presetID="42" presetClass="entr" presetSubtype="0" fill="hold" grpId="0" nodeType="after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1000"/>
                                        <p:tgtEl>
                                          <p:spTgt spid="42"/>
                                        </p:tgtEl>
                                      </p:cBhvr>
                                    </p:animEffect>
                                    <p:anim calcmode="lin" valueType="num">
                                      <p:cBhvr>
                                        <p:cTn id="44" dur="1000" fill="hold"/>
                                        <p:tgtEl>
                                          <p:spTgt spid="42"/>
                                        </p:tgtEl>
                                        <p:attrNameLst>
                                          <p:attrName>ppt_x</p:attrName>
                                        </p:attrNameLst>
                                      </p:cBhvr>
                                      <p:tavLst>
                                        <p:tav tm="0">
                                          <p:val>
                                            <p:strVal val="#ppt_x"/>
                                          </p:val>
                                        </p:tav>
                                        <p:tav tm="100000">
                                          <p:val>
                                            <p:strVal val="#ppt_x"/>
                                          </p:val>
                                        </p:tav>
                                      </p:tavLst>
                                    </p:anim>
                                    <p:anim calcmode="lin" valueType="num">
                                      <p:cBhvr>
                                        <p:cTn id="45"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8" grpId="0"/>
      <p:bldP spid="39" grpId="0" animBg="1"/>
      <p:bldP spid="40" grpId="0" animBg="1"/>
      <p:bldP spid="41" grpId="0" animBg="1"/>
      <p:bldP spid="42" grpId="0"/>
      <p:bldP spid="43" grpId="0"/>
      <p:bldP spid="28"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reeform 62">
            <a:extLst>
              <a:ext uri="{FF2B5EF4-FFF2-40B4-BE49-F238E27FC236}">
                <a16:creationId xmlns:a16="http://schemas.microsoft.com/office/drawing/2014/main" xmlns="" id="{97A5C87A-9515-4048-B8BC-01024AC1BAFE}"/>
              </a:ext>
            </a:extLst>
          </p:cNvPr>
          <p:cNvSpPr/>
          <p:nvPr/>
        </p:nvSpPr>
        <p:spPr>
          <a:xfrm>
            <a:off x="4390193" y="3140226"/>
            <a:ext cx="364096" cy="41180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chemeClr val="tx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latin typeface="Century Gothic" charset="0"/>
              <a:ea typeface="Century Gothic" charset="0"/>
              <a:cs typeface="Century Gothic" charset="0"/>
            </a:endParaRPr>
          </a:p>
        </p:txBody>
      </p:sp>
      <p:sp>
        <p:nvSpPr>
          <p:cNvPr id="68" name="Freeform 67">
            <a:extLst>
              <a:ext uri="{FF2B5EF4-FFF2-40B4-BE49-F238E27FC236}">
                <a16:creationId xmlns:a16="http://schemas.microsoft.com/office/drawing/2014/main" xmlns="" id="{C7D886E8-0C0A-8E4D-862B-E964BD372C53}"/>
              </a:ext>
            </a:extLst>
          </p:cNvPr>
          <p:cNvSpPr/>
          <p:nvPr/>
        </p:nvSpPr>
        <p:spPr>
          <a:xfrm>
            <a:off x="4390193" y="3114230"/>
            <a:ext cx="364096" cy="41180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545164"/>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6" name="TextBox 5"/>
          <p:cNvSpPr txBox="1"/>
          <p:nvPr/>
        </p:nvSpPr>
        <p:spPr>
          <a:xfrm>
            <a:off x="63115" y="4322899"/>
            <a:ext cx="9067800" cy="1785104"/>
          </a:xfrm>
          <a:prstGeom prst="rect">
            <a:avLst/>
          </a:prstGeom>
          <a:noFill/>
        </p:spPr>
        <p:txBody>
          <a:bodyPr wrap="square" rtlCol="0">
            <a:spAutoFit/>
          </a:bodyPr>
          <a:lstStyle/>
          <a:p>
            <a:pPr>
              <a:spcBef>
                <a:spcPts val="600"/>
              </a:spcBef>
              <a:spcAft>
                <a:spcPts val="600"/>
              </a:spcAft>
              <a:buSzPct val="65000"/>
            </a:pPr>
            <a:r>
              <a:rPr lang="en-US" b="1" dirty="0">
                <a:solidFill>
                  <a:schemeClr val="bg2"/>
                </a:solidFill>
                <a:latin typeface="Century Gothic" charset="0"/>
                <a:ea typeface="Century Gothic" charset="0"/>
                <a:cs typeface="Century Gothic" charset="0"/>
              </a:rPr>
              <a:t>Short-term: </a:t>
            </a:r>
            <a:r>
              <a:rPr lang="en-US" dirty="0">
                <a:solidFill>
                  <a:schemeClr val="bg2"/>
                </a:solidFill>
                <a:latin typeface="Century Gothic" charset="0"/>
                <a:ea typeface="Century Gothic" charset="0"/>
                <a:cs typeface="Century Gothic" charset="0"/>
              </a:rPr>
              <a:t>build a more robust temporal parser</a:t>
            </a:r>
          </a:p>
          <a:p>
            <a:pPr>
              <a:spcBef>
                <a:spcPts val="600"/>
              </a:spcBef>
              <a:spcAft>
                <a:spcPts val="600"/>
              </a:spcAft>
              <a:buSzPct val="65000"/>
            </a:pPr>
            <a:r>
              <a:rPr lang="en-US" b="1" dirty="0">
                <a:solidFill>
                  <a:schemeClr val="bg2"/>
                </a:solidFill>
                <a:latin typeface="Century Gothic" charset="0"/>
                <a:ea typeface="Century Gothic" charset="0"/>
                <a:cs typeface="Century Gothic" charset="0"/>
              </a:rPr>
              <a:t>Mid-term: </a:t>
            </a:r>
            <a:r>
              <a:rPr lang="en-US" dirty="0">
                <a:solidFill>
                  <a:schemeClr val="bg2"/>
                </a:solidFill>
                <a:latin typeface="Century Gothic" charset="0"/>
                <a:ea typeface="Century Gothic" charset="0"/>
                <a:cs typeface="Century Gothic" charset="0"/>
              </a:rPr>
              <a:t>study event understanding problems, e.g., text summarization, timeline construction, event hierarchies, and common sense.</a:t>
            </a:r>
          </a:p>
          <a:p>
            <a:pPr>
              <a:spcBef>
                <a:spcPts val="600"/>
              </a:spcBef>
              <a:spcAft>
                <a:spcPts val="600"/>
              </a:spcAft>
              <a:buSzPct val="65000"/>
            </a:pPr>
            <a:r>
              <a:rPr lang="en-US" b="1" dirty="0">
                <a:solidFill>
                  <a:schemeClr val="bg2"/>
                </a:solidFill>
                <a:latin typeface="Century Gothic" charset="0"/>
                <a:ea typeface="Century Gothic" charset="0"/>
                <a:cs typeface="Century Gothic" charset="0"/>
              </a:rPr>
              <a:t>Long-term: </a:t>
            </a:r>
            <a:r>
              <a:rPr lang="en-US" dirty="0">
                <a:solidFill>
                  <a:schemeClr val="bg2"/>
                </a:solidFill>
                <a:latin typeface="Century Gothic" charset="0"/>
                <a:ea typeface="Century Gothic" charset="0"/>
                <a:cs typeface="Century Gothic" charset="0"/>
              </a:rPr>
              <a:t>understand the social, political, medical, and financial events expressed in text; provide a semantic engine for reasoning about situations.</a:t>
            </a:r>
          </a:p>
        </p:txBody>
      </p:sp>
      <p:sp>
        <p:nvSpPr>
          <p:cNvPr id="54" name="Oval 53">
            <a:extLst>
              <a:ext uri="{FF2B5EF4-FFF2-40B4-BE49-F238E27FC236}">
                <a16:creationId xmlns:a16="http://schemas.microsoft.com/office/drawing/2014/main" xmlns="" id="{AE817D6F-B18E-904B-937F-CA7DF988DCDE}"/>
              </a:ext>
            </a:extLst>
          </p:cNvPr>
          <p:cNvSpPr/>
          <p:nvPr/>
        </p:nvSpPr>
        <p:spPr>
          <a:xfrm>
            <a:off x="2762656" y="762000"/>
            <a:ext cx="3618687" cy="3618687"/>
          </a:xfrm>
          <a:prstGeom prst="ellipse">
            <a:avLst/>
          </a:prstGeom>
          <a:solidFill>
            <a:srgbClr val="54516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TextBox 54">
            <a:extLst>
              <a:ext uri="{FF2B5EF4-FFF2-40B4-BE49-F238E27FC236}">
                <a16:creationId xmlns:a16="http://schemas.microsoft.com/office/drawing/2014/main" xmlns="" id="{064CF453-0F0E-6545-9DDB-A9CE02688470}"/>
              </a:ext>
            </a:extLst>
          </p:cNvPr>
          <p:cNvSpPr txBox="1"/>
          <p:nvPr/>
        </p:nvSpPr>
        <p:spPr>
          <a:xfrm>
            <a:off x="3883153" y="861077"/>
            <a:ext cx="1427769" cy="523220"/>
          </a:xfrm>
          <a:prstGeom prst="rect">
            <a:avLst/>
          </a:prstGeom>
          <a:noFill/>
        </p:spPr>
        <p:txBody>
          <a:bodyPr wrap="square" rtlCol="0">
            <a:spAutoFit/>
          </a:bodyPr>
          <a:lstStyle/>
          <a:p>
            <a:pPr algn="ctr"/>
            <a:r>
              <a:rPr lang="en-US" sz="2800" dirty="0">
                <a:latin typeface="Century Gothic" panose="020B0502020202020204" pitchFamily="34" charset="0"/>
              </a:rPr>
              <a:t>Event</a:t>
            </a:r>
          </a:p>
        </p:txBody>
      </p:sp>
      <p:sp>
        <p:nvSpPr>
          <p:cNvPr id="56" name="Oval 55">
            <a:extLst>
              <a:ext uri="{FF2B5EF4-FFF2-40B4-BE49-F238E27FC236}">
                <a16:creationId xmlns:a16="http://schemas.microsoft.com/office/drawing/2014/main" xmlns="" id="{D32F69B7-EDDF-5544-8272-787275C6D16C}"/>
              </a:ext>
            </a:extLst>
          </p:cNvPr>
          <p:cNvSpPr/>
          <p:nvPr/>
        </p:nvSpPr>
        <p:spPr>
          <a:xfrm>
            <a:off x="3389597" y="1917703"/>
            <a:ext cx="2347042" cy="2347042"/>
          </a:xfrm>
          <a:prstGeom prst="ellipse">
            <a:avLst/>
          </a:prstGeom>
          <a:solidFill>
            <a:srgbClr val="F7E3D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7" name="Freeform 56">
            <a:extLst>
              <a:ext uri="{FF2B5EF4-FFF2-40B4-BE49-F238E27FC236}">
                <a16:creationId xmlns:a16="http://schemas.microsoft.com/office/drawing/2014/main" xmlns="" id="{8F00037C-1A48-A843-937F-EFD3F91FAB34}"/>
              </a:ext>
            </a:extLst>
          </p:cNvPr>
          <p:cNvSpPr/>
          <p:nvPr/>
        </p:nvSpPr>
        <p:spPr>
          <a:xfrm>
            <a:off x="4016106" y="2970552"/>
            <a:ext cx="556176" cy="525165"/>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58" name="Freeform 57">
            <a:extLst>
              <a:ext uri="{FF2B5EF4-FFF2-40B4-BE49-F238E27FC236}">
                <a16:creationId xmlns:a16="http://schemas.microsoft.com/office/drawing/2014/main" xmlns="" id="{08422CE6-645A-3745-942C-A1098A3080DA}"/>
              </a:ext>
            </a:extLst>
          </p:cNvPr>
          <p:cNvSpPr/>
          <p:nvPr/>
        </p:nvSpPr>
        <p:spPr>
          <a:xfrm>
            <a:off x="4572282" y="2970551"/>
            <a:ext cx="551639" cy="523505"/>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59" name="Freeform 58">
            <a:extLst>
              <a:ext uri="{FF2B5EF4-FFF2-40B4-BE49-F238E27FC236}">
                <a16:creationId xmlns:a16="http://schemas.microsoft.com/office/drawing/2014/main" xmlns="" id="{D18B1028-73BC-CF4C-BC0A-F05A1894CBD7}"/>
              </a:ext>
            </a:extLst>
          </p:cNvPr>
          <p:cNvSpPr/>
          <p:nvPr/>
        </p:nvSpPr>
        <p:spPr>
          <a:xfrm>
            <a:off x="4388661" y="3494055"/>
            <a:ext cx="367241" cy="443777"/>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60" name="Freeform 59">
            <a:extLst>
              <a:ext uri="{FF2B5EF4-FFF2-40B4-BE49-F238E27FC236}">
                <a16:creationId xmlns:a16="http://schemas.microsoft.com/office/drawing/2014/main" xmlns="" id="{75B59043-BD85-9C4E-B35C-F737FDCBB329}"/>
              </a:ext>
            </a:extLst>
          </p:cNvPr>
          <p:cNvSpPr/>
          <p:nvPr/>
        </p:nvSpPr>
        <p:spPr>
          <a:xfrm>
            <a:off x="4014491" y="2415071"/>
            <a:ext cx="1110962" cy="69916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61" name="Freeform 60">
            <a:extLst>
              <a:ext uri="{FF2B5EF4-FFF2-40B4-BE49-F238E27FC236}">
                <a16:creationId xmlns:a16="http://schemas.microsoft.com/office/drawing/2014/main" xmlns="" id="{27DE9DBD-9F64-7F41-8F9C-BEAE79CCD3F9}"/>
              </a:ext>
            </a:extLst>
          </p:cNvPr>
          <p:cNvSpPr/>
          <p:nvPr/>
        </p:nvSpPr>
        <p:spPr>
          <a:xfrm>
            <a:off x="4572282" y="3000867"/>
            <a:ext cx="927341" cy="1080645"/>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62" name="Freeform 61">
            <a:extLst>
              <a:ext uri="{FF2B5EF4-FFF2-40B4-BE49-F238E27FC236}">
                <a16:creationId xmlns:a16="http://schemas.microsoft.com/office/drawing/2014/main" xmlns="" id="{BD7C72B8-A2C3-B04D-91FB-0C280D5F6EE5}"/>
              </a:ext>
            </a:extLst>
          </p:cNvPr>
          <p:cNvSpPr/>
          <p:nvPr/>
        </p:nvSpPr>
        <p:spPr>
          <a:xfrm>
            <a:off x="3644941" y="3002526"/>
            <a:ext cx="927341" cy="1078985"/>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pic>
        <p:nvPicPr>
          <p:cNvPr id="64" name="Picture 63" descr="A close up of a logo&#10;&#10;Description automatically generated">
            <a:extLst>
              <a:ext uri="{FF2B5EF4-FFF2-40B4-BE49-F238E27FC236}">
                <a16:creationId xmlns:a16="http://schemas.microsoft.com/office/drawing/2014/main" xmlns="" id="{0E08509E-E346-DF45-A8E6-86A02D3DAF7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451658" y="2638126"/>
            <a:ext cx="274625" cy="210182"/>
          </a:xfrm>
          <a:prstGeom prst="rect">
            <a:avLst/>
          </a:prstGeom>
        </p:spPr>
      </p:pic>
      <p:pic>
        <p:nvPicPr>
          <p:cNvPr id="65" name="Picture 64" descr="A close up of a logo&#10;&#10;Description automatically generated">
            <a:extLst>
              <a:ext uri="{FF2B5EF4-FFF2-40B4-BE49-F238E27FC236}">
                <a16:creationId xmlns:a16="http://schemas.microsoft.com/office/drawing/2014/main" xmlns="" id="{C1C3305B-C4B3-144A-8E25-28DCC9EADF1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996420" y="3647007"/>
            <a:ext cx="373014" cy="265255"/>
          </a:xfrm>
          <a:prstGeom prst="rect">
            <a:avLst/>
          </a:prstGeom>
        </p:spPr>
      </p:pic>
      <p:pic>
        <p:nvPicPr>
          <p:cNvPr id="66" name="Picture 65" descr="A close up of a logo&#10;&#10;Description automatically generated">
            <a:extLst>
              <a:ext uri="{FF2B5EF4-FFF2-40B4-BE49-F238E27FC236}">
                <a16:creationId xmlns:a16="http://schemas.microsoft.com/office/drawing/2014/main" xmlns="" id="{CC5BAB40-2580-D24D-974B-07DCEE24052A}"/>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4856477" y="3719763"/>
            <a:ext cx="230999" cy="192499"/>
          </a:xfrm>
          <a:prstGeom prst="rect">
            <a:avLst/>
          </a:prstGeom>
        </p:spPr>
      </p:pic>
      <p:sp>
        <p:nvSpPr>
          <p:cNvPr id="67" name="TextBox 66">
            <a:extLst>
              <a:ext uri="{FF2B5EF4-FFF2-40B4-BE49-F238E27FC236}">
                <a16:creationId xmlns:a16="http://schemas.microsoft.com/office/drawing/2014/main" xmlns="" id="{297E41E0-78F2-2648-93DC-A66EFF5D75E1}"/>
              </a:ext>
            </a:extLst>
          </p:cNvPr>
          <p:cNvSpPr txBox="1"/>
          <p:nvPr/>
        </p:nvSpPr>
        <p:spPr>
          <a:xfrm>
            <a:off x="4277055" y="1997110"/>
            <a:ext cx="639920" cy="338554"/>
          </a:xfrm>
          <a:prstGeom prst="rect">
            <a:avLst/>
          </a:prstGeom>
          <a:noFill/>
        </p:spPr>
        <p:txBody>
          <a:bodyPr wrap="none" rtlCol="0">
            <a:spAutoFit/>
          </a:bodyPr>
          <a:lstStyle/>
          <a:p>
            <a:pPr algn="ctr"/>
            <a:r>
              <a:rPr lang="en-US" sz="1600" dirty="0">
                <a:solidFill>
                  <a:schemeClr val="bg2"/>
                </a:solidFill>
                <a:latin typeface="Century Gothic" panose="020B0502020202020204" pitchFamily="34" charset="0"/>
              </a:rPr>
              <a:t>Time</a:t>
            </a:r>
          </a:p>
        </p:txBody>
      </p:sp>
      <p:sp>
        <p:nvSpPr>
          <p:cNvPr id="5" name="Title 4">
            <a:extLst>
              <a:ext uri="{FF2B5EF4-FFF2-40B4-BE49-F238E27FC236}">
                <a16:creationId xmlns:a16="http://schemas.microsoft.com/office/drawing/2014/main" xmlns="" id="{AB21B8F4-DB18-7A44-BCB9-677A836BF34F}"/>
              </a:ext>
            </a:extLst>
          </p:cNvPr>
          <p:cNvSpPr>
            <a:spLocks noGrp="1"/>
          </p:cNvSpPr>
          <p:nvPr>
            <p:ph type="title"/>
          </p:nvPr>
        </p:nvSpPr>
        <p:spPr/>
        <p:txBody>
          <a:bodyPr/>
          <a:lstStyle/>
          <a:p>
            <a:r>
              <a:rPr lang="en-US" dirty="0"/>
              <a:t>What’s next</a:t>
            </a:r>
          </a:p>
        </p:txBody>
      </p:sp>
      <p:sp>
        <p:nvSpPr>
          <p:cNvPr id="19" name="Freeform 18">
            <a:extLst>
              <a:ext uri="{FF2B5EF4-FFF2-40B4-BE49-F238E27FC236}">
                <a16:creationId xmlns:a16="http://schemas.microsoft.com/office/drawing/2014/main" xmlns="" id="{E428B7AF-4754-DE47-8139-715F4414570B}"/>
              </a:ext>
            </a:extLst>
          </p:cNvPr>
          <p:cNvSpPr/>
          <p:nvPr/>
        </p:nvSpPr>
        <p:spPr>
          <a:xfrm>
            <a:off x="4390193" y="3127073"/>
            <a:ext cx="364096" cy="41180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2" name="TextBox 1"/>
          <p:cNvSpPr txBox="1"/>
          <p:nvPr/>
        </p:nvSpPr>
        <p:spPr>
          <a:xfrm>
            <a:off x="203749" y="1789252"/>
            <a:ext cx="3415372" cy="578882"/>
          </a:xfrm>
          <a:prstGeom prst="roundRect">
            <a:avLst/>
          </a:prstGeom>
          <a:solidFill>
            <a:srgbClr val="665E8A"/>
          </a:solidFill>
        </p:spPr>
        <p:txBody>
          <a:bodyPr wrap="none" rtlCol="0">
            <a:spAutoFit/>
          </a:bodyPr>
          <a:lstStyle/>
          <a:p>
            <a:pPr algn="ctr"/>
            <a:r>
              <a:rPr lang="en-US" sz="2800" dirty="0">
                <a:latin typeface="Century Gothic" charset="0"/>
                <a:ea typeface="Century Gothic" charset="0"/>
                <a:cs typeface="Century Gothic" charset="0"/>
              </a:rPr>
              <a:t>Information theory</a:t>
            </a:r>
          </a:p>
        </p:txBody>
      </p:sp>
      <p:sp>
        <p:nvSpPr>
          <p:cNvPr id="21" name="TextBox 20"/>
          <p:cNvSpPr txBox="1"/>
          <p:nvPr/>
        </p:nvSpPr>
        <p:spPr>
          <a:xfrm>
            <a:off x="5754967" y="3754348"/>
            <a:ext cx="2044409" cy="578882"/>
          </a:xfrm>
          <a:prstGeom prst="roundRect">
            <a:avLst/>
          </a:prstGeom>
          <a:solidFill>
            <a:srgbClr val="665E8A"/>
          </a:solidFill>
        </p:spPr>
        <p:txBody>
          <a:bodyPr wrap="square" rtlCol="0">
            <a:spAutoFit/>
          </a:bodyPr>
          <a:lstStyle/>
          <a:p>
            <a:pPr algn="ctr"/>
            <a:r>
              <a:rPr lang="en-US" sz="2800" dirty="0">
                <a:latin typeface="Century Gothic" charset="0"/>
                <a:ea typeface="Century Gothic" charset="0"/>
                <a:cs typeface="Century Gothic" charset="0"/>
              </a:rPr>
              <a:t>Statistics</a:t>
            </a:r>
          </a:p>
        </p:txBody>
      </p:sp>
      <p:sp>
        <p:nvSpPr>
          <p:cNvPr id="22" name="TextBox 21"/>
          <p:cNvSpPr txBox="1"/>
          <p:nvPr/>
        </p:nvSpPr>
        <p:spPr>
          <a:xfrm>
            <a:off x="6082980" y="2535348"/>
            <a:ext cx="2711164" cy="578882"/>
          </a:xfrm>
          <a:prstGeom prst="roundRect">
            <a:avLst/>
          </a:prstGeom>
          <a:solidFill>
            <a:srgbClr val="665E8A"/>
          </a:solidFill>
        </p:spPr>
        <p:txBody>
          <a:bodyPr wrap="square" rtlCol="0">
            <a:spAutoFit/>
          </a:bodyPr>
          <a:lstStyle/>
          <a:p>
            <a:pPr algn="ctr"/>
            <a:r>
              <a:rPr lang="en-US" sz="2800">
                <a:latin typeface="Century Gothic" charset="0"/>
                <a:ea typeface="Century Gothic" charset="0"/>
                <a:cs typeface="Century Gothic" charset="0"/>
              </a:rPr>
              <a:t>Optimization</a:t>
            </a:r>
            <a:endParaRPr lang="en-US" sz="2800" dirty="0">
              <a:latin typeface="Century Gothic" charset="0"/>
              <a:ea typeface="Century Gothic" charset="0"/>
              <a:cs typeface="Century Gothic" charset="0"/>
            </a:endParaRPr>
          </a:p>
        </p:txBody>
      </p:sp>
      <p:sp>
        <p:nvSpPr>
          <p:cNvPr id="23" name="TextBox 22"/>
          <p:cNvSpPr txBox="1"/>
          <p:nvPr/>
        </p:nvSpPr>
        <p:spPr>
          <a:xfrm>
            <a:off x="404903" y="3397446"/>
            <a:ext cx="3029679" cy="578882"/>
          </a:xfrm>
          <a:prstGeom prst="roundRect">
            <a:avLst/>
          </a:prstGeom>
          <a:solidFill>
            <a:srgbClr val="665E8A"/>
          </a:solidFill>
        </p:spPr>
        <p:txBody>
          <a:bodyPr wrap="square" rtlCol="0">
            <a:spAutoFit/>
          </a:bodyPr>
          <a:lstStyle/>
          <a:p>
            <a:pPr algn="ctr"/>
            <a:r>
              <a:rPr lang="en-US" sz="2800">
                <a:latin typeface="Century Gothic" charset="0"/>
                <a:ea typeface="Century Gothic" charset="0"/>
                <a:cs typeface="Century Gothic" charset="0"/>
              </a:rPr>
              <a:t>Deep learning</a:t>
            </a:r>
            <a:endParaRPr lang="en-US" sz="2800" dirty="0">
              <a:latin typeface="Century Gothic" charset="0"/>
              <a:ea typeface="Century Gothic" charset="0"/>
              <a:cs typeface="Century Gothic" charset="0"/>
            </a:endParaRPr>
          </a:p>
        </p:txBody>
      </p:sp>
      <p:sp>
        <p:nvSpPr>
          <p:cNvPr id="24" name="TextBox 23"/>
          <p:cNvSpPr txBox="1"/>
          <p:nvPr/>
        </p:nvSpPr>
        <p:spPr>
          <a:xfrm>
            <a:off x="5772055" y="1026936"/>
            <a:ext cx="2676619" cy="578882"/>
          </a:xfrm>
          <a:prstGeom prst="roundRect">
            <a:avLst/>
          </a:prstGeom>
          <a:solidFill>
            <a:srgbClr val="95A28E"/>
          </a:solidFill>
        </p:spPr>
        <p:txBody>
          <a:bodyPr wrap="square" rtlCol="0">
            <a:spAutoFit/>
          </a:bodyPr>
          <a:lstStyle/>
          <a:p>
            <a:pPr algn="ctr"/>
            <a:r>
              <a:rPr lang="en-US" sz="2800" dirty="0">
                <a:latin typeface="Century Gothic" charset="0"/>
                <a:ea typeface="Century Gothic" charset="0"/>
                <a:cs typeface="Century Gothic" charset="0"/>
              </a:rPr>
              <a:t>Biomedicine</a:t>
            </a:r>
          </a:p>
        </p:txBody>
      </p:sp>
      <p:sp>
        <p:nvSpPr>
          <p:cNvPr id="25" name="TextBox 24"/>
          <p:cNvSpPr txBox="1"/>
          <p:nvPr/>
        </p:nvSpPr>
        <p:spPr>
          <a:xfrm>
            <a:off x="712978" y="855207"/>
            <a:ext cx="2676619" cy="578882"/>
          </a:xfrm>
          <a:prstGeom prst="roundRect">
            <a:avLst/>
          </a:prstGeom>
          <a:solidFill>
            <a:srgbClr val="95A28E"/>
          </a:solidFill>
        </p:spPr>
        <p:txBody>
          <a:bodyPr wrap="square" rtlCol="0">
            <a:spAutoFit/>
          </a:bodyPr>
          <a:lstStyle/>
          <a:p>
            <a:pPr algn="ctr"/>
            <a:r>
              <a:rPr lang="en-US" sz="2800" dirty="0">
                <a:latin typeface="Century Gothic" charset="0"/>
                <a:ea typeface="Century Gothic" charset="0"/>
                <a:cs typeface="Century Gothic" charset="0"/>
              </a:rPr>
              <a:t>Robotics</a:t>
            </a:r>
          </a:p>
        </p:txBody>
      </p:sp>
      <p:sp>
        <p:nvSpPr>
          <p:cNvPr id="26" name="TextBox 25"/>
          <p:cNvSpPr txBox="1"/>
          <p:nvPr/>
        </p:nvSpPr>
        <p:spPr>
          <a:xfrm>
            <a:off x="2511852" y="6122572"/>
            <a:ext cx="4101243" cy="578882"/>
          </a:xfrm>
          <a:prstGeom prst="roundRect">
            <a:avLst/>
          </a:prstGeom>
          <a:solidFill>
            <a:srgbClr val="F2CEC2"/>
          </a:solidFill>
        </p:spPr>
        <p:txBody>
          <a:bodyPr wrap="square" rtlCol="0">
            <a:spAutoFit/>
          </a:bodyPr>
          <a:lstStyle/>
          <a:p>
            <a:pPr algn="ctr"/>
            <a:r>
              <a:rPr lang="en-US" sz="2800" dirty="0">
                <a:solidFill>
                  <a:schemeClr val="bg2"/>
                </a:solidFill>
                <a:latin typeface="Century Gothic" charset="0"/>
                <a:ea typeface="Century Gothic" charset="0"/>
                <a:cs typeface="Century Gothic" charset="0"/>
              </a:rPr>
              <a:t>Incidental supervision</a:t>
            </a:r>
          </a:p>
        </p:txBody>
      </p:sp>
    </p:spTree>
    <p:extLst>
      <p:ext uri="{BB962C8B-B14F-4D97-AF65-F5344CB8AC3E}">
        <p14:creationId xmlns:p14="http://schemas.microsoft.com/office/powerpoint/2010/main" val="1371541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dissolv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randombar(horizontal)">
                                      <p:cBhvr>
                                        <p:cTn id="22" dur="500"/>
                                        <p:tgtEl>
                                          <p:spTgt spid="25"/>
                                        </p:tgtEl>
                                      </p:cBhvr>
                                    </p:animEffect>
                                  </p:childTnLst>
                                </p:cTn>
                              </p:par>
                            </p:childTnLst>
                          </p:cTn>
                        </p:par>
                        <p:par>
                          <p:cTn id="23" fill="hold">
                            <p:stCondLst>
                              <p:cond delay="500"/>
                            </p:stCondLst>
                            <p:childTnLst>
                              <p:par>
                                <p:cTn id="24" presetID="14" presetClass="entr" presetSubtype="10" fill="hold" grpId="0"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randombar(horizontal)">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randombar(horizontal)">
                                      <p:cBhvr>
                                        <p:cTn id="31" dur="500"/>
                                        <p:tgtEl>
                                          <p:spTgt spid="2"/>
                                        </p:tgtEl>
                                      </p:cBhvr>
                                    </p:animEffect>
                                  </p:childTnLst>
                                </p:cTn>
                              </p:par>
                            </p:childTnLst>
                          </p:cTn>
                        </p:par>
                        <p:par>
                          <p:cTn id="32" fill="hold">
                            <p:stCondLst>
                              <p:cond delay="500"/>
                            </p:stCondLst>
                            <p:childTnLst>
                              <p:par>
                                <p:cTn id="33" presetID="14" presetClass="entr" presetSubtype="10"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randombar(horizontal)">
                                      <p:cBhvr>
                                        <p:cTn id="35" dur="500"/>
                                        <p:tgtEl>
                                          <p:spTgt spid="23"/>
                                        </p:tgtEl>
                                      </p:cBhvr>
                                    </p:animEffect>
                                  </p:childTnLst>
                                </p:cTn>
                              </p:par>
                            </p:childTnLst>
                          </p:cTn>
                        </p:par>
                        <p:par>
                          <p:cTn id="36" fill="hold">
                            <p:stCondLst>
                              <p:cond delay="1000"/>
                            </p:stCondLst>
                            <p:childTnLst>
                              <p:par>
                                <p:cTn id="37" presetID="14" presetClass="entr" presetSubtype="10"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randombar(horizontal)">
                                      <p:cBhvr>
                                        <p:cTn id="39" dur="500"/>
                                        <p:tgtEl>
                                          <p:spTgt spid="21"/>
                                        </p:tgtEl>
                                      </p:cBhvr>
                                    </p:animEffect>
                                  </p:childTnLst>
                                </p:cTn>
                              </p:par>
                            </p:childTnLst>
                          </p:cTn>
                        </p:par>
                        <p:par>
                          <p:cTn id="40" fill="hold">
                            <p:stCondLst>
                              <p:cond delay="1500"/>
                            </p:stCondLst>
                            <p:childTnLst>
                              <p:par>
                                <p:cTn id="41" presetID="14" presetClass="entr" presetSubtype="10" fill="hold" grpId="0"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randombar(horizontal)">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randombar(horizontal)">
                                      <p:cBhvr>
                                        <p:cTn id="4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2" grpId="0" animBg="1"/>
      <p:bldP spid="21" grpId="0" animBg="1"/>
      <p:bldP spid="22" grpId="0" animBg="1"/>
      <p:bldP spid="23" grpId="0" animBg="1"/>
      <p:bldP spid="24" grpId="0" animBg="1"/>
      <p:bldP spid="25" grpId="0" animBg="1"/>
      <p:bldP spid="26"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2DE857D-0378-954F-A480-D433D0E12027}"/>
              </a:ext>
            </a:extLst>
          </p:cNvPr>
          <p:cNvSpPr>
            <a:spLocks noGrp="1"/>
          </p:cNvSpPr>
          <p:nvPr>
            <p:ph type="title"/>
          </p:nvPr>
        </p:nvSpPr>
        <p:spPr/>
        <p:txBody>
          <a:bodyPr/>
          <a:lstStyle/>
          <a:p>
            <a:r>
              <a:rPr lang="en-US" dirty="0"/>
              <a:t>Summary</a:t>
            </a:r>
          </a:p>
        </p:txBody>
      </p:sp>
      <p:sp>
        <p:nvSpPr>
          <p:cNvPr id="4" name="Content Placeholder 3">
            <a:extLst>
              <a:ext uri="{FF2B5EF4-FFF2-40B4-BE49-F238E27FC236}">
                <a16:creationId xmlns:a16="http://schemas.microsoft.com/office/drawing/2014/main" xmlns="" id="{25591E63-FC2D-6C43-A7FA-4E7A67A14BAA}"/>
              </a:ext>
            </a:extLst>
          </p:cNvPr>
          <p:cNvSpPr>
            <a:spLocks noGrp="1"/>
          </p:cNvSpPr>
          <p:nvPr>
            <p:ph idx="1"/>
          </p:nvPr>
        </p:nvSpPr>
        <p:spPr>
          <a:xfrm>
            <a:off x="381000" y="914400"/>
            <a:ext cx="8534400" cy="5486400"/>
          </a:xfrm>
        </p:spPr>
        <p:txBody>
          <a:bodyPr/>
          <a:lstStyle/>
          <a:p>
            <a:r>
              <a:rPr lang="en-US" dirty="0"/>
              <a:t>Big text, big opportunities</a:t>
            </a:r>
          </a:p>
          <a:p>
            <a:r>
              <a:rPr lang="en-US" dirty="0"/>
              <a:t>We are standing at the </a:t>
            </a:r>
            <a:r>
              <a:rPr lang="en-US" b="1" dirty="0"/>
              <a:t>situation-level</a:t>
            </a:r>
            <a:r>
              <a:rPr lang="en-US" dirty="0"/>
              <a:t> of NLP</a:t>
            </a:r>
          </a:p>
          <a:p>
            <a:r>
              <a:rPr lang="en-US" b="1" dirty="0"/>
              <a:t>Temporal relation </a:t>
            </a:r>
            <a:r>
              <a:rPr lang="en-US" dirty="0"/>
              <a:t>is a crucial component</a:t>
            </a:r>
          </a:p>
          <a:p>
            <a:pPr lvl="1"/>
            <a:r>
              <a:rPr lang="en-US" dirty="0">
                <a:solidFill>
                  <a:srgbClr val="92D050"/>
                </a:solidFill>
              </a:rPr>
              <a:t>Structured learning [EMNLP’17]</a:t>
            </a:r>
          </a:p>
          <a:p>
            <a:pPr lvl="1"/>
            <a:r>
              <a:rPr lang="en-US" dirty="0">
                <a:solidFill>
                  <a:srgbClr val="6881B4"/>
                </a:solidFill>
              </a:rPr>
              <a:t>Common sense knowledge acquisition [NAACL’18]</a:t>
            </a:r>
          </a:p>
          <a:p>
            <a:pPr lvl="1"/>
            <a:r>
              <a:rPr lang="en-US" dirty="0">
                <a:solidFill>
                  <a:srgbClr val="C17A90"/>
                </a:solidFill>
              </a:rPr>
              <a:t>New definition of the task [ACL’18]</a:t>
            </a:r>
          </a:p>
          <a:p>
            <a:pPr lvl="1"/>
            <a:r>
              <a:rPr lang="en-US" dirty="0"/>
              <a:t>Combined them by neural nets [in submission]</a:t>
            </a:r>
          </a:p>
          <a:p>
            <a:r>
              <a:rPr lang="en-US" dirty="0"/>
              <a:t>Besides future work on </a:t>
            </a:r>
            <a:r>
              <a:rPr lang="en-US" b="1" dirty="0"/>
              <a:t>time and event</a:t>
            </a:r>
            <a:r>
              <a:rPr lang="en-US" dirty="0"/>
              <a:t>, </a:t>
            </a:r>
            <a:r>
              <a:rPr lang="en-US" b="1" dirty="0"/>
              <a:t>incidental supervision</a:t>
            </a:r>
            <a:r>
              <a:rPr lang="en-US" dirty="0"/>
              <a:t> is also necessary for situation understanding.</a:t>
            </a:r>
          </a:p>
          <a:p>
            <a:pPr lvl="1"/>
            <a:r>
              <a:rPr lang="en-US" dirty="0"/>
              <a:t>Supervision from partial structures [NAACL’19]</a:t>
            </a:r>
          </a:p>
        </p:txBody>
      </p:sp>
      <p:sp>
        <p:nvSpPr>
          <p:cNvPr id="5" name="Up Ribbon 4">
            <a:extLst>
              <a:ext uri="{FF2B5EF4-FFF2-40B4-BE49-F238E27FC236}">
                <a16:creationId xmlns:a16="http://schemas.microsoft.com/office/drawing/2014/main" xmlns="" id="{B89D93EF-6E0B-B34F-A967-874CBBB08022}"/>
              </a:ext>
            </a:extLst>
          </p:cNvPr>
          <p:cNvSpPr/>
          <p:nvPr/>
        </p:nvSpPr>
        <p:spPr>
          <a:xfrm rot="19800000">
            <a:off x="2693008" y="4864648"/>
            <a:ext cx="3910384" cy="762000"/>
          </a:xfrm>
          <a:prstGeom prst="ribbon2">
            <a:avLst/>
          </a:prstGeom>
          <a:solidFill>
            <a:srgbClr val="C2799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entury Gothic" panose="020B0502020202020204" pitchFamily="34" charset="0"/>
              </a:rPr>
              <a:t>3</a:t>
            </a:r>
            <a:r>
              <a:rPr lang="en-US" sz="2000" b="1" baseline="30000" dirty="0">
                <a:latin typeface="Century Gothic" panose="020B0502020202020204" pitchFamily="34" charset="0"/>
              </a:rPr>
              <a:t>rd</a:t>
            </a:r>
            <a:r>
              <a:rPr lang="en-US" sz="2000" b="1" dirty="0">
                <a:latin typeface="Century Gothic" panose="020B0502020202020204" pitchFamily="34" charset="0"/>
              </a:rPr>
              <a:t> wave of AI</a:t>
            </a:r>
          </a:p>
        </p:txBody>
      </p:sp>
    </p:spTree>
    <p:extLst>
      <p:ext uri="{BB962C8B-B14F-4D97-AF65-F5344CB8AC3E}">
        <p14:creationId xmlns:p14="http://schemas.microsoft.com/office/powerpoint/2010/main" val="1390596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dissolve">
                                      <p:cBhvr>
                                        <p:cTn id="17" dur="500"/>
                                        <p:tgtEl>
                                          <p:spTgt spid="4">
                                            <p:txEl>
                                              <p:pRg st="2" end="2"/>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dissolve">
                                      <p:cBhvr>
                                        <p:cTn id="20" dur="500"/>
                                        <p:tgtEl>
                                          <p:spTgt spid="4">
                                            <p:txEl>
                                              <p:pRg st="3" end="3"/>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dissolve">
                                      <p:cBhvr>
                                        <p:cTn id="23" dur="500"/>
                                        <p:tgtEl>
                                          <p:spTgt spid="4">
                                            <p:txEl>
                                              <p:pRg st="4" end="4"/>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dissolve">
                                      <p:cBhvr>
                                        <p:cTn id="26" dur="500"/>
                                        <p:tgtEl>
                                          <p:spTgt spid="4">
                                            <p:txEl>
                                              <p:pRg st="5" end="5"/>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dissolve">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dissolve">
                                      <p:cBhvr>
                                        <p:cTn id="34" dur="500"/>
                                        <p:tgtEl>
                                          <p:spTgt spid="4">
                                            <p:txEl>
                                              <p:pRg st="7" end="7"/>
                                            </p:txEl>
                                          </p:spTgt>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dissolve">
                                      <p:cBhvr>
                                        <p:cTn id="37" dur="500"/>
                                        <p:tgtEl>
                                          <p:spTgt spid="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2"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Scale>
                                      <p:cBhvr>
                                        <p:cTn id="42"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3" dur="1000" decel="50000" fill="hold">
                                          <p:stCondLst>
                                            <p:cond delay="0"/>
                                          </p:stCondLst>
                                        </p:cTn>
                                        <p:tgtEl>
                                          <p:spTgt spid="5"/>
                                        </p:tgtEl>
                                        <p:attrNameLst>
                                          <p:attrName>ppt_x</p:attrName>
                                          <p:attrName>ppt_y</p:attrName>
                                        </p:attrNameLst>
                                      </p:cBhvr>
                                    </p:animMotion>
                                    <p:animEffect transition="in" filter="fade">
                                      <p:cBhvr>
                                        <p:cTn id="44"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394C0C-5C2F-E64F-ABB4-4172386D1E3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xmlns="" id="{73532772-3C83-8840-AA18-9FA943062872}"/>
              </a:ext>
            </a:extLst>
          </p:cNvPr>
          <p:cNvSpPr>
            <a:spLocks noGrp="1"/>
          </p:cNvSpPr>
          <p:nvPr>
            <p:ph idx="1"/>
          </p:nvPr>
        </p:nvSpPr>
        <p:spPr/>
        <p:txBody>
          <a:bodyPr/>
          <a:lstStyle/>
          <a:p>
            <a:pPr marL="0" indent="0">
              <a:spcBef>
                <a:spcPts val="0"/>
              </a:spcBef>
              <a:spcAft>
                <a:spcPts val="600"/>
              </a:spcAft>
              <a:buNone/>
            </a:pPr>
            <a:r>
              <a:rPr lang="en-US" sz="1400" b="1" i="1" dirty="0"/>
              <a:t>Harari</a:t>
            </a:r>
            <a:r>
              <a:rPr lang="en-US" sz="1400" i="1" dirty="0"/>
              <a:t>, 2016. Sapiens: A Brief History of Humankind</a:t>
            </a:r>
          </a:p>
          <a:p>
            <a:pPr marL="0" indent="0">
              <a:spcBef>
                <a:spcPts val="0"/>
              </a:spcBef>
              <a:spcAft>
                <a:spcPts val="600"/>
              </a:spcAft>
              <a:buNone/>
            </a:pPr>
            <a:r>
              <a:rPr lang="en-US" sz="1400" b="1" i="1" dirty="0"/>
              <a:t>Mani</a:t>
            </a:r>
            <a:r>
              <a:rPr lang="en-US" sz="1400" i="1" dirty="0"/>
              <a:t> et al., 2006. Machine learning of temporal relations</a:t>
            </a:r>
          </a:p>
          <a:p>
            <a:pPr marL="0" indent="0">
              <a:spcBef>
                <a:spcPts val="0"/>
              </a:spcBef>
              <a:spcAft>
                <a:spcPts val="600"/>
              </a:spcAft>
              <a:buNone/>
            </a:pPr>
            <a:r>
              <a:rPr lang="en-US" sz="1400" b="1" i="1" dirty="0"/>
              <a:t>Chambers</a:t>
            </a:r>
            <a:r>
              <a:rPr lang="en-US" sz="1400" i="1" dirty="0"/>
              <a:t> et al., 2007. Classifying temporal relations between events</a:t>
            </a:r>
          </a:p>
          <a:p>
            <a:pPr marL="0" indent="0">
              <a:spcBef>
                <a:spcPts val="0"/>
              </a:spcBef>
              <a:spcAft>
                <a:spcPts val="600"/>
              </a:spcAft>
              <a:buNone/>
            </a:pPr>
            <a:r>
              <a:rPr lang="en-US" sz="1400" b="1" i="1" dirty="0" err="1"/>
              <a:t>Bethard</a:t>
            </a:r>
            <a:r>
              <a:rPr lang="en-US" sz="1400" i="1" dirty="0"/>
              <a:t> et al., 2007. Timelines from text: Identification of syntactic temporal relations</a:t>
            </a:r>
          </a:p>
          <a:p>
            <a:pPr marL="0" indent="0">
              <a:spcBef>
                <a:spcPts val="0"/>
              </a:spcBef>
              <a:spcAft>
                <a:spcPts val="600"/>
              </a:spcAft>
              <a:buNone/>
            </a:pPr>
            <a:r>
              <a:rPr lang="en-US" sz="1400" b="1" i="1" dirty="0"/>
              <a:t>Roth &amp; </a:t>
            </a:r>
            <a:r>
              <a:rPr lang="en-US" sz="1400" b="1" i="1" dirty="0" err="1"/>
              <a:t>Yih</a:t>
            </a:r>
            <a:r>
              <a:rPr lang="en-US" sz="1400" i="1" dirty="0"/>
              <a:t>, 2004. A linear programming formulation for global inference in natural language tasks</a:t>
            </a:r>
          </a:p>
          <a:p>
            <a:pPr marL="0" indent="0">
              <a:spcBef>
                <a:spcPts val="0"/>
              </a:spcBef>
              <a:spcAft>
                <a:spcPts val="600"/>
              </a:spcAft>
              <a:buNone/>
            </a:pPr>
            <a:r>
              <a:rPr lang="en-US" sz="1400" b="1" i="1" dirty="0"/>
              <a:t>Bramsen</a:t>
            </a:r>
            <a:r>
              <a:rPr lang="en-US" sz="1400" i="1" dirty="0"/>
              <a:t> et al., 2006. Inducing temporal graphs</a:t>
            </a:r>
          </a:p>
          <a:p>
            <a:pPr marL="0" indent="0">
              <a:spcBef>
                <a:spcPts val="0"/>
              </a:spcBef>
              <a:spcAft>
                <a:spcPts val="600"/>
              </a:spcAft>
              <a:buNone/>
            </a:pPr>
            <a:r>
              <a:rPr lang="en-US" sz="1400" b="1" i="1" dirty="0"/>
              <a:t>Chambers &amp; </a:t>
            </a:r>
            <a:r>
              <a:rPr lang="en-US" sz="1400" b="1" i="1" dirty="0" err="1"/>
              <a:t>Jurafsky</a:t>
            </a:r>
            <a:r>
              <a:rPr lang="en-US" sz="1400" i="1" dirty="0"/>
              <a:t>, 2008. Jointly combining implicit constraints improves temporal ordering</a:t>
            </a:r>
          </a:p>
          <a:p>
            <a:pPr marL="0" indent="0">
              <a:spcBef>
                <a:spcPts val="0"/>
              </a:spcBef>
              <a:spcAft>
                <a:spcPts val="600"/>
              </a:spcAft>
              <a:buNone/>
            </a:pPr>
            <a:r>
              <a:rPr lang="en-US" sz="1400" b="1" i="1" dirty="0"/>
              <a:t>Denis &amp; Muller</a:t>
            </a:r>
            <a:r>
              <a:rPr lang="en-US" sz="1400" i="1" dirty="0"/>
              <a:t>, 2011. Predicting globally-coherent temporal structures from texts via endpoint inference and graph decomposition</a:t>
            </a:r>
          </a:p>
          <a:p>
            <a:pPr marL="0" indent="0">
              <a:spcBef>
                <a:spcPts val="0"/>
              </a:spcBef>
              <a:spcAft>
                <a:spcPts val="600"/>
              </a:spcAft>
              <a:buNone/>
            </a:pPr>
            <a:r>
              <a:rPr lang="en-US" sz="1400" b="1" i="1" dirty="0"/>
              <a:t>Chambers</a:t>
            </a:r>
            <a:r>
              <a:rPr lang="en-US" sz="1400" i="1" dirty="0"/>
              <a:t> et al., 2014. Dense event ordering with a multi-pass architecture</a:t>
            </a:r>
          </a:p>
          <a:p>
            <a:pPr marL="0" indent="0">
              <a:spcBef>
                <a:spcPts val="0"/>
              </a:spcBef>
              <a:spcAft>
                <a:spcPts val="600"/>
              </a:spcAft>
              <a:buNone/>
            </a:pPr>
            <a:r>
              <a:rPr lang="en-US" sz="1400" b="1" i="1" dirty="0"/>
              <a:t>Mirza &amp; Tonelli</a:t>
            </a:r>
            <a:r>
              <a:rPr lang="en-US" sz="1400" i="1" dirty="0"/>
              <a:t>, 2016. CATENA: </a:t>
            </a:r>
            <a:r>
              <a:rPr lang="en-US" sz="1400" i="1" dirty="0" err="1"/>
              <a:t>CAusal</a:t>
            </a:r>
            <a:r>
              <a:rPr lang="en-US" sz="1400" i="1" dirty="0"/>
              <a:t> and </a:t>
            </a:r>
            <a:r>
              <a:rPr lang="en-US" sz="1400" i="1" dirty="0" err="1"/>
              <a:t>TEmporal</a:t>
            </a:r>
            <a:r>
              <a:rPr lang="en-US" sz="1400" i="1" dirty="0"/>
              <a:t> relation extraction from </a:t>
            </a:r>
            <a:r>
              <a:rPr lang="en-US" sz="1400" i="1" dirty="0" err="1"/>
              <a:t>NAtural</a:t>
            </a:r>
            <a:r>
              <a:rPr lang="en-US" sz="1400" i="1" dirty="0"/>
              <a:t> language texts</a:t>
            </a:r>
          </a:p>
          <a:p>
            <a:pPr marL="0" indent="0">
              <a:spcBef>
                <a:spcPts val="0"/>
              </a:spcBef>
              <a:spcAft>
                <a:spcPts val="600"/>
              </a:spcAft>
              <a:buNone/>
            </a:pPr>
            <a:r>
              <a:rPr lang="en-US" sz="1400" b="1" i="1" dirty="0"/>
              <a:t>Do</a:t>
            </a:r>
            <a:r>
              <a:rPr lang="en-US" sz="1400" i="1" dirty="0"/>
              <a:t> et al., 2012. Joint inference for event timeline construction</a:t>
            </a:r>
          </a:p>
          <a:p>
            <a:pPr marL="0" indent="0">
              <a:spcBef>
                <a:spcPts val="0"/>
              </a:spcBef>
              <a:spcAft>
                <a:spcPts val="600"/>
              </a:spcAft>
              <a:buNone/>
            </a:pPr>
            <a:r>
              <a:rPr lang="en-US" sz="1400" b="1" i="1" dirty="0" err="1"/>
              <a:t>Laokulrat</a:t>
            </a:r>
            <a:r>
              <a:rPr lang="en-US" sz="1400" i="1" dirty="0"/>
              <a:t> et al., 2013. </a:t>
            </a:r>
            <a:r>
              <a:rPr lang="en-US" sz="1400" i="1" dirty="0" err="1"/>
              <a:t>UTTime</a:t>
            </a:r>
            <a:r>
              <a:rPr lang="en-US" sz="1400" i="1" dirty="0"/>
              <a:t>: Temporal relation classiﬁcation using deep syntactic features</a:t>
            </a:r>
          </a:p>
          <a:p>
            <a:pPr marL="0" indent="0">
              <a:spcBef>
                <a:spcPts val="0"/>
              </a:spcBef>
              <a:spcAft>
                <a:spcPts val="600"/>
              </a:spcAft>
              <a:buNone/>
            </a:pPr>
            <a:r>
              <a:rPr lang="en-US" sz="1400" b="1" i="1" dirty="0"/>
              <a:t>Collins</a:t>
            </a:r>
            <a:r>
              <a:rPr lang="en-US" sz="1400" i="1" dirty="0"/>
              <a:t>, 2002. Discriminative training methods for hidden Markov models: Theory and experiments with perceptron algorithms</a:t>
            </a:r>
          </a:p>
          <a:p>
            <a:pPr marL="0" indent="0">
              <a:spcBef>
                <a:spcPts val="0"/>
              </a:spcBef>
              <a:spcAft>
                <a:spcPts val="600"/>
              </a:spcAft>
              <a:buNone/>
            </a:pPr>
            <a:r>
              <a:rPr lang="en-US" sz="1400" b="1" i="1" dirty="0" err="1"/>
              <a:t>Pustejovsky</a:t>
            </a:r>
            <a:r>
              <a:rPr lang="en-US" sz="1400" i="1" dirty="0"/>
              <a:t> et al., 2003. The TIMEBANK corpus</a:t>
            </a:r>
          </a:p>
          <a:p>
            <a:pPr marL="0" indent="0">
              <a:spcBef>
                <a:spcPts val="0"/>
              </a:spcBef>
              <a:spcAft>
                <a:spcPts val="600"/>
              </a:spcAft>
              <a:buNone/>
            </a:pPr>
            <a:r>
              <a:rPr lang="en-US" sz="1400" b="1" i="1" dirty="0"/>
              <a:t>Cassidy</a:t>
            </a:r>
            <a:r>
              <a:rPr lang="en-US" sz="1400" i="1" dirty="0"/>
              <a:t> et al., 2014. An annotation framework for dense event ordering</a:t>
            </a:r>
          </a:p>
          <a:p>
            <a:pPr marL="0" indent="0">
              <a:spcBef>
                <a:spcPts val="0"/>
              </a:spcBef>
              <a:spcAft>
                <a:spcPts val="600"/>
              </a:spcAft>
              <a:buNone/>
            </a:pPr>
            <a:endParaRPr lang="en-US" sz="1400" i="1" dirty="0"/>
          </a:p>
          <a:p>
            <a:pPr marL="0" indent="0">
              <a:spcBef>
                <a:spcPts val="0"/>
              </a:spcBef>
              <a:spcAft>
                <a:spcPts val="600"/>
              </a:spcAft>
              <a:buNone/>
            </a:pPr>
            <a:endParaRPr lang="en-US" sz="1400" i="1" dirty="0"/>
          </a:p>
        </p:txBody>
      </p:sp>
    </p:spTree>
    <p:extLst>
      <p:ext uri="{BB962C8B-B14F-4D97-AF65-F5344CB8AC3E}">
        <p14:creationId xmlns:p14="http://schemas.microsoft.com/office/powerpoint/2010/main" val="43288718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E28D9B-E4DE-7042-A92C-C91E8AAD3B9C}"/>
              </a:ext>
            </a:extLst>
          </p:cNvPr>
          <p:cNvSpPr>
            <a:spLocks noGrp="1"/>
          </p:cNvSpPr>
          <p:nvPr>
            <p:ph type="title"/>
          </p:nvPr>
        </p:nvSpPr>
        <p:spPr/>
        <p:txBody>
          <a:bodyPr/>
          <a:lstStyle/>
          <a:p>
            <a:r>
              <a:rPr lang="en-US" dirty="0"/>
              <a:t>Many thanks to my collaborators.</a:t>
            </a:r>
          </a:p>
        </p:txBody>
      </p:sp>
      <p:pic>
        <p:nvPicPr>
          <p:cNvPr id="7" name="Picture 6">
            <a:extLst>
              <a:ext uri="{FF2B5EF4-FFF2-40B4-BE49-F238E27FC236}">
                <a16:creationId xmlns:a16="http://schemas.microsoft.com/office/drawing/2014/main" xmlns="" id="{7C74C362-65CA-C94F-BFA7-B0D530D6505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303558" y="1029044"/>
            <a:ext cx="1188720" cy="1188720"/>
          </a:xfrm>
          <a:prstGeom prst="roundRect">
            <a:avLst/>
          </a:prstGeom>
        </p:spPr>
      </p:pic>
      <p:pic>
        <p:nvPicPr>
          <p:cNvPr id="16" name="Picture 15">
            <a:extLst>
              <a:ext uri="{FF2B5EF4-FFF2-40B4-BE49-F238E27FC236}">
                <a16:creationId xmlns:a16="http://schemas.microsoft.com/office/drawing/2014/main" xmlns="" id="{3DEBB889-9B30-B149-8A2B-C0C8B02207C3}"/>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6314166" y="2953721"/>
            <a:ext cx="1188720" cy="1188720"/>
          </a:xfrm>
          <a:prstGeom prst="roundRect">
            <a:avLst/>
          </a:prstGeom>
        </p:spPr>
      </p:pic>
      <p:sp>
        <p:nvSpPr>
          <p:cNvPr id="23" name="TextBox 22">
            <a:extLst>
              <a:ext uri="{FF2B5EF4-FFF2-40B4-BE49-F238E27FC236}">
                <a16:creationId xmlns:a16="http://schemas.microsoft.com/office/drawing/2014/main" xmlns="" id="{7ACB474D-B2B5-414A-9093-4C8097E93941}"/>
              </a:ext>
            </a:extLst>
          </p:cNvPr>
          <p:cNvSpPr txBox="1"/>
          <p:nvPr/>
        </p:nvSpPr>
        <p:spPr>
          <a:xfrm>
            <a:off x="1445711" y="2233392"/>
            <a:ext cx="904415" cy="369332"/>
          </a:xfrm>
          <a:prstGeom prst="rect">
            <a:avLst/>
          </a:prstGeom>
          <a:noFill/>
        </p:spPr>
        <p:txBody>
          <a:bodyPr wrap="none" rtlCol="0">
            <a:spAutoFit/>
          </a:bodyPr>
          <a:lstStyle/>
          <a:p>
            <a:r>
              <a:rPr lang="en-US" dirty="0" err="1">
                <a:solidFill>
                  <a:schemeClr val="bg2"/>
                </a:solidFill>
                <a:latin typeface="Century Gothic" panose="020B0502020202020204" pitchFamily="34" charset="0"/>
              </a:rPr>
              <a:t>UPenn</a:t>
            </a:r>
            <a:endParaRPr lang="en-US" dirty="0">
              <a:solidFill>
                <a:schemeClr val="bg2"/>
              </a:solidFill>
              <a:latin typeface="Century Gothic" panose="020B0502020202020204" pitchFamily="34" charset="0"/>
            </a:endParaRPr>
          </a:p>
        </p:txBody>
      </p:sp>
      <p:sp>
        <p:nvSpPr>
          <p:cNvPr id="28" name="TextBox 27">
            <a:extLst>
              <a:ext uri="{FF2B5EF4-FFF2-40B4-BE49-F238E27FC236}">
                <a16:creationId xmlns:a16="http://schemas.microsoft.com/office/drawing/2014/main" xmlns="" id="{B0EAA1AE-D722-4740-B5E5-D6C31E3FE8AF}"/>
              </a:ext>
            </a:extLst>
          </p:cNvPr>
          <p:cNvSpPr txBox="1"/>
          <p:nvPr/>
        </p:nvSpPr>
        <p:spPr>
          <a:xfrm>
            <a:off x="6003161" y="4155141"/>
            <a:ext cx="1806905"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Particle Media</a:t>
            </a:r>
          </a:p>
        </p:txBody>
      </p:sp>
      <p:pic>
        <p:nvPicPr>
          <p:cNvPr id="5" name="Picture 4">
            <a:extLst>
              <a:ext uri="{FF2B5EF4-FFF2-40B4-BE49-F238E27FC236}">
                <a16:creationId xmlns:a16="http://schemas.microsoft.com/office/drawing/2014/main" xmlns="" id="{2AEF0C66-23C2-E84B-85D0-F6117896B46F}"/>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301571" y="4800600"/>
            <a:ext cx="1188720" cy="1188720"/>
          </a:xfrm>
          <a:prstGeom prst="roundRect">
            <a:avLst/>
          </a:prstGeom>
        </p:spPr>
      </p:pic>
      <p:pic>
        <p:nvPicPr>
          <p:cNvPr id="15" name="Picture 14">
            <a:extLst>
              <a:ext uri="{FF2B5EF4-FFF2-40B4-BE49-F238E27FC236}">
                <a16:creationId xmlns:a16="http://schemas.microsoft.com/office/drawing/2014/main" xmlns="" id="{7AAF5DBA-83C8-E64C-9E79-6183D532BB9C}"/>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2556210" y="1029044"/>
            <a:ext cx="1188720" cy="1188720"/>
          </a:xfrm>
          <a:prstGeom prst="roundRect">
            <a:avLst/>
          </a:prstGeom>
        </p:spPr>
      </p:pic>
      <p:sp>
        <p:nvSpPr>
          <p:cNvPr id="24" name="TextBox 23">
            <a:extLst>
              <a:ext uri="{FF2B5EF4-FFF2-40B4-BE49-F238E27FC236}">
                <a16:creationId xmlns:a16="http://schemas.microsoft.com/office/drawing/2014/main" xmlns="" id="{7F39209C-BE70-814D-B814-3286F82F62C7}"/>
              </a:ext>
            </a:extLst>
          </p:cNvPr>
          <p:cNvSpPr txBox="1"/>
          <p:nvPr/>
        </p:nvSpPr>
        <p:spPr>
          <a:xfrm>
            <a:off x="2412934" y="2233392"/>
            <a:ext cx="1436612"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CU Boulder</a:t>
            </a:r>
          </a:p>
        </p:txBody>
      </p:sp>
      <p:sp>
        <p:nvSpPr>
          <p:cNvPr id="30" name="TextBox 29">
            <a:extLst>
              <a:ext uri="{FF2B5EF4-FFF2-40B4-BE49-F238E27FC236}">
                <a16:creationId xmlns:a16="http://schemas.microsoft.com/office/drawing/2014/main" xmlns="" id="{E6F411B9-696F-994F-A671-CDD9AA1482E1}"/>
              </a:ext>
            </a:extLst>
          </p:cNvPr>
          <p:cNvSpPr txBox="1"/>
          <p:nvPr/>
        </p:nvSpPr>
        <p:spPr>
          <a:xfrm>
            <a:off x="1499136" y="5995176"/>
            <a:ext cx="904415" cy="369332"/>
          </a:xfrm>
          <a:prstGeom prst="rect">
            <a:avLst/>
          </a:prstGeom>
          <a:noFill/>
        </p:spPr>
        <p:txBody>
          <a:bodyPr wrap="none" rtlCol="0">
            <a:spAutoFit/>
          </a:bodyPr>
          <a:lstStyle/>
          <a:p>
            <a:r>
              <a:rPr lang="en-US" dirty="0" err="1">
                <a:solidFill>
                  <a:schemeClr val="bg2"/>
                </a:solidFill>
                <a:latin typeface="Century Gothic" panose="020B0502020202020204" pitchFamily="34" charset="0"/>
              </a:rPr>
              <a:t>UPenn</a:t>
            </a:r>
            <a:endParaRPr lang="en-US" dirty="0">
              <a:solidFill>
                <a:schemeClr val="bg2"/>
              </a:solidFill>
              <a:latin typeface="Century Gothic" panose="020B0502020202020204" pitchFamily="34" charset="0"/>
            </a:endParaRPr>
          </a:p>
        </p:txBody>
      </p:sp>
      <p:pic>
        <p:nvPicPr>
          <p:cNvPr id="6" name="Picture 5">
            <a:extLst>
              <a:ext uri="{FF2B5EF4-FFF2-40B4-BE49-F238E27FC236}">
                <a16:creationId xmlns:a16="http://schemas.microsoft.com/office/drawing/2014/main" xmlns="" id="{0A6454AB-FA2E-AF4A-AA95-0017379D1308}"/>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2556210" y="2966421"/>
            <a:ext cx="1188720" cy="1188720"/>
          </a:xfrm>
          <a:prstGeom prst="roundRect">
            <a:avLst/>
          </a:prstGeom>
        </p:spPr>
      </p:pic>
      <p:pic>
        <p:nvPicPr>
          <p:cNvPr id="13" name="Picture 12">
            <a:extLst>
              <a:ext uri="{FF2B5EF4-FFF2-40B4-BE49-F238E27FC236}">
                <a16:creationId xmlns:a16="http://schemas.microsoft.com/office/drawing/2014/main" xmlns="" id="{4C0590B0-3E28-754C-9F6C-12414C194FA7}"/>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3807591" y="4800600"/>
            <a:ext cx="1188720" cy="1188720"/>
          </a:xfrm>
          <a:prstGeom prst="roundRect">
            <a:avLst/>
          </a:prstGeom>
        </p:spPr>
      </p:pic>
      <p:sp>
        <p:nvSpPr>
          <p:cNvPr id="25" name="TextBox 24">
            <a:extLst>
              <a:ext uri="{FF2B5EF4-FFF2-40B4-BE49-F238E27FC236}">
                <a16:creationId xmlns:a16="http://schemas.microsoft.com/office/drawing/2014/main" xmlns="" id="{A1AD5432-6F15-304A-9D26-EB7D1E507B46}"/>
              </a:ext>
            </a:extLst>
          </p:cNvPr>
          <p:cNvSpPr txBox="1"/>
          <p:nvPr/>
        </p:nvSpPr>
        <p:spPr>
          <a:xfrm>
            <a:off x="2803432" y="4170769"/>
            <a:ext cx="638316"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USC</a:t>
            </a:r>
          </a:p>
        </p:txBody>
      </p:sp>
      <p:sp>
        <p:nvSpPr>
          <p:cNvPr id="32" name="TextBox 31">
            <a:extLst>
              <a:ext uri="{FF2B5EF4-FFF2-40B4-BE49-F238E27FC236}">
                <a16:creationId xmlns:a16="http://schemas.microsoft.com/office/drawing/2014/main" xmlns="" id="{CF88C7C2-C438-4546-8938-1E2ADD8552A9}"/>
              </a:ext>
            </a:extLst>
          </p:cNvPr>
          <p:cNvSpPr txBox="1"/>
          <p:nvPr/>
        </p:nvSpPr>
        <p:spPr>
          <a:xfrm>
            <a:off x="4004440" y="5995176"/>
            <a:ext cx="904415" cy="369332"/>
          </a:xfrm>
          <a:prstGeom prst="rect">
            <a:avLst/>
          </a:prstGeom>
          <a:noFill/>
        </p:spPr>
        <p:txBody>
          <a:bodyPr wrap="none" rtlCol="0">
            <a:spAutoFit/>
          </a:bodyPr>
          <a:lstStyle/>
          <a:p>
            <a:r>
              <a:rPr lang="en-US" dirty="0" err="1">
                <a:solidFill>
                  <a:schemeClr val="bg2"/>
                </a:solidFill>
                <a:latin typeface="Century Gothic" panose="020B0502020202020204" pitchFamily="34" charset="0"/>
              </a:rPr>
              <a:t>UPenn</a:t>
            </a:r>
            <a:endParaRPr lang="en-US" dirty="0">
              <a:solidFill>
                <a:schemeClr val="bg2"/>
              </a:solidFill>
              <a:latin typeface="Century Gothic" panose="020B0502020202020204" pitchFamily="34" charset="0"/>
            </a:endParaRPr>
          </a:p>
        </p:txBody>
      </p:sp>
      <p:pic>
        <p:nvPicPr>
          <p:cNvPr id="3" name="Picture 2" descr="http://cogcomp.org/images/people/BenZhou.jpg">
            <a:extLst>
              <a:ext uri="{FF2B5EF4-FFF2-40B4-BE49-F238E27FC236}">
                <a16:creationId xmlns:a16="http://schemas.microsoft.com/office/drawing/2014/main" xmlns="" id="{D35A42E2-AF3A-B24B-8DBB-C32DF164E861}"/>
              </a:ext>
            </a:extLst>
          </p:cNvPr>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a:stretch/>
        </p:blipFill>
        <p:spPr bwMode="auto">
          <a:xfrm>
            <a:off x="5059784" y="4800600"/>
            <a:ext cx="1188720" cy="1188720"/>
          </a:xfrm>
          <a:prstGeom prst="round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xmlns="" id="{17EB5CC1-3829-F449-ABF4-2532FDBF74D6}"/>
              </a:ext>
            </a:extLst>
          </p:cNvPr>
          <p:cNvSpPr txBox="1"/>
          <p:nvPr/>
        </p:nvSpPr>
        <p:spPr>
          <a:xfrm>
            <a:off x="5346059" y="5995176"/>
            <a:ext cx="7264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UIUC</a:t>
            </a:r>
          </a:p>
        </p:txBody>
      </p:sp>
      <p:pic>
        <p:nvPicPr>
          <p:cNvPr id="12" name="Picture 11">
            <a:extLst>
              <a:ext uri="{FF2B5EF4-FFF2-40B4-BE49-F238E27FC236}">
                <a16:creationId xmlns:a16="http://schemas.microsoft.com/office/drawing/2014/main" xmlns="" id="{8FEA92E4-C265-CA46-923B-06CA26A9B4F7}"/>
              </a:ext>
            </a:extLst>
          </p:cNvPr>
          <p:cNvPicPr>
            <a:picLocks noChangeAspect="1"/>
          </p:cNvPicPr>
          <p:nvPr/>
        </p:nvPicPr>
        <p:blipFill rotWithShape="1">
          <a:blip r:embed="rId10" cstate="email">
            <a:extLst>
              <a:ext uri="{28A0092B-C50C-407E-A947-70E740481C1C}">
                <a14:useLocalDpi xmlns:a14="http://schemas.microsoft.com/office/drawing/2010/main"/>
              </a:ext>
            </a:extLst>
          </a:blip>
          <a:srcRect/>
          <a:stretch/>
        </p:blipFill>
        <p:spPr>
          <a:xfrm>
            <a:off x="6324600" y="4800600"/>
            <a:ext cx="1188720" cy="1188720"/>
          </a:xfrm>
          <a:prstGeom prst="roundRect">
            <a:avLst/>
          </a:prstGeom>
        </p:spPr>
      </p:pic>
      <p:sp>
        <p:nvSpPr>
          <p:cNvPr id="34" name="TextBox 33">
            <a:extLst>
              <a:ext uri="{FF2B5EF4-FFF2-40B4-BE49-F238E27FC236}">
                <a16:creationId xmlns:a16="http://schemas.microsoft.com/office/drawing/2014/main" xmlns="" id="{0CDEF45B-EC1C-E446-9275-C37722B7EF2A}"/>
              </a:ext>
            </a:extLst>
          </p:cNvPr>
          <p:cNvSpPr txBox="1"/>
          <p:nvPr/>
        </p:nvSpPr>
        <p:spPr>
          <a:xfrm>
            <a:off x="6321863" y="5995176"/>
            <a:ext cx="12602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Wisconsin</a:t>
            </a:r>
          </a:p>
        </p:txBody>
      </p:sp>
      <p:sp>
        <p:nvSpPr>
          <p:cNvPr id="29" name="TextBox 28">
            <a:extLst>
              <a:ext uri="{FF2B5EF4-FFF2-40B4-BE49-F238E27FC236}">
                <a16:creationId xmlns:a16="http://schemas.microsoft.com/office/drawing/2014/main" xmlns="" id="{FACC5364-7996-334E-B148-FBE07CCC39ED}"/>
              </a:ext>
            </a:extLst>
          </p:cNvPr>
          <p:cNvSpPr txBox="1"/>
          <p:nvPr/>
        </p:nvSpPr>
        <p:spPr>
          <a:xfrm>
            <a:off x="2751788" y="5995176"/>
            <a:ext cx="904415" cy="369332"/>
          </a:xfrm>
          <a:prstGeom prst="rect">
            <a:avLst/>
          </a:prstGeom>
          <a:noFill/>
        </p:spPr>
        <p:txBody>
          <a:bodyPr wrap="none" rtlCol="0">
            <a:spAutoFit/>
          </a:bodyPr>
          <a:lstStyle/>
          <a:p>
            <a:r>
              <a:rPr lang="en-US" dirty="0" err="1">
                <a:solidFill>
                  <a:schemeClr val="bg2"/>
                </a:solidFill>
                <a:latin typeface="Century Gothic" panose="020B0502020202020204" pitchFamily="34" charset="0"/>
              </a:rPr>
              <a:t>UPenn</a:t>
            </a:r>
            <a:endParaRPr lang="en-US" dirty="0">
              <a:solidFill>
                <a:schemeClr val="bg2"/>
              </a:solidFill>
              <a:latin typeface="Century Gothic" panose="020B0502020202020204" pitchFamily="34" charset="0"/>
            </a:endParaRPr>
          </a:p>
        </p:txBody>
      </p:sp>
      <p:pic>
        <p:nvPicPr>
          <p:cNvPr id="8" name="Picture 7">
            <a:extLst>
              <a:ext uri="{FF2B5EF4-FFF2-40B4-BE49-F238E27FC236}">
                <a16:creationId xmlns:a16="http://schemas.microsoft.com/office/drawing/2014/main" xmlns="" id="{6EE3BBC2-68E0-E943-B819-B3CD75A3E90B}"/>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2566236" y="4800600"/>
            <a:ext cx="1188720" cy="1188720"/>
          </a:xfrm>
          <a:prstGeom prst="roundRect">
            <a:avLst/>
          </a:prstGeom>
        </p:spPr>
      </p:pic>
      <p:pic>
        <p:nvPicPr>
          <p:cNvPr id="35" name="Picture 34">
            <a:extLst>
              <a:ext uri="{FF2B5EF4-FFF2-40B4-BE49-F238E27FC236}">
                <a16:creationId xmlns:a16="http://schemas.microsoft.com/office/drawing/2014/main" xmlns="" id="{1A1828B9-CDDF-194E-BBCA-D7F59710D4A6}"/>
              </a:ext>
            </a:extLst>
          </p:cNvPr>
          <p:cNvPicPr>
            <a:picLocks noChangeAspect="1"/>
          </p:cNvPicPr>
          <p:nvPr/>
        </p:nvPicPr>
        <p:blipFill rotWithShape="1">
          <a:blip r:embed="rId12" cstate="email">
            <a:extLst>
              <a:ext uri="{28A0092B-C50C-407E-A947-70E740481C1C}">
                <a14:useLocalDpi xmlns:a14="http://schemas.microsoft.com/office/drawing/2010/main"/>
              </a:ext>
            </a:extLst>
          </a:blip>
          <a:srcRect/>
          <a:stretch/>
        </p:blipFill>
        <p:spPr>
          <a:xfrm>
            <a:off x="3808862" y="1029044"/>
            <a:ext cx="1188720" cy="1188720"/>
          </a:xfrm>
          <a:prstGeom prst="roundRect">
            <a:avLst/>
          </a:prstGeom>
        </p:spPr>
      </p:pic>
      <p:sp>
        <p:nvSpPr>
          <p:cNvPr id="36" name="TextBox 35">
            <a:extLst>
              <a:ext uri="{FF2B5EF4-FFF2-40B4-BE49-F238E27FC236}">
                <a16:creationId xmlns:a16="http://schemas.microsoft.com/office/drawing/2014/main" xmlns="" id="{AA2E0690-2937-EF4E-93A2-BF404F0161BB}"/>
              </a:ext>
            </a:extLst>
          </p:cNvPr>
          <p:cNvSpPr txBox="1"/>
          <p:nvPr/>
        </p:nvSpPr>
        <p:spPr>
          <a:xfrm>
            <a:off x="4039982" y="2221468"/>
            <a:ext cx="7264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UIUC</a:t>
            </a:r>
          </a:p>
        </p:txBody>
      </p:sp>
      <p:pic>
        <p:nvPicPr>
          <p:cNvPr id="4" name="Picture 3">
            <a:extLst>
              <a:ext uri="{FF2B5EF4-FFF2-40B4-BE49-F238E27FC236}">
                <a16:creationId xmlns:a16="http://schemas.microsoft.com/office/drawing/2014/main" xmlns="" id="{8527E277-A989-C348-8C68-6309124FE667}"/>
              </a:ext>
            </a:extLst>
          </p:cNvPr>
          <p:cNvPicPr>
            <a:picLocks noChangeAspect="1"/>
          </p:cNvPicPr>
          <p:nvPr/>
        </p:nvPicPr>
        <p:blipFill rotWithShape="1">
          <a:blip r:embed="rId13" cstate="email">
            <a:extLst>
              <a:ext uri="{28A0092B-C50C-407E-A947-70E740481C1C}">
                <a14:useLocalDpi xmlns:a14="http://schemas.microsoft.com/office/drawing/2010/main"/>
              </a:ext>
            </a:extLst>
          </a:blip>
          <a:srcRect r="-304"/>
          <a:stretch/>
        </p:blipFill>
        <p:spPr>
          <a:xfrm>
            <a:off x="5067301" y="1029044"/>
            <a:ext cx="1188720" cy="1188720"/>
          </a:xfrm>
          <a:prstGeom prst="roundRect">
            <a:avLst/>
          </a:prstGeom>
        </p:spPr>
      </p:pic>
      <p:sp>
        <p:nvSpPr>
          <p:cNvPr id="31" name="TextBox 30">
            <a:extLst>
              <a:ext uri="{FF2B5EF4-FFF2-40B4-BE49-F238E27FC236}">
                <a16:creationId xmlns:a16="http://schemas.microsoft.com/office/drawing/2014/main" xmlns="" id="{CF1099B3-C3E3-3F40-8803-4A08CDE2C01A}"/>
              </a:ext>
            </a:extLst>
          </p:cNvPr>
          <p:cNvSpPr txBox="1"/>
          <p:nvPr/>
        </p:nvSpPr>
        <p:spPr>
          <a:xfrm>
            <a:off x="5290048" y="2221468"/>
            <a:ext cx="7264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UIUC</a:t>
            </a:r>
          </a:p>
        </p:txBody>
      </p:sp>
      <p:pic>
        <p:nvPicPr>
          <p:cNvPr id="11" name="Picture 10">
            <a:extLst>
              <a:ext uri="{FF2B5EF4-FFF2-40B4-BE49-F238E27FC236}">
                <a16:creationId xmlns:a16="http://schemas.microsoft.com/office/drawing/2014/main" xmlns="" id="{03BB4A71-312D-5345-B470-841F70854FF0}"/>
              </a:ext>
            </a:extLst>
          </p:cNvPr>
          <p:cNvPicPr>
            <a:picLocks noChangeAspect="1"/>
          </p:cNvPicPr>
          <p:nvPr/>
        </p:nvPicPr>
        <p:blipFill rotWithShape="1">
          <a:blip r:embed="rId14" cstate="email">
            <a:extLst>
              <a:ext uri="{28A0092B-C50C-407E-A947-70E740481C1C}">
                <a14:useLocalDpi xmlns:a14="http://schemas.microsoft.com/office/drawing/2010/main"/>
              </a:ext>
            </a:extLst>
          </a:blip>
          <a:srcRect l="-421"/>
          <a:stretch/>
        </p:blipFill>
        <p:spPr>
          <a:xfrm>
            <a:off x="6314166" y="1029044"/>
            <a:ext cx="1188720" cy="1188720"/>
          </a:xfrm>
          <a:prstGeom prst="roundRect">
            <a:avLst/>
          </a:prstGeom>
        </p:spPr>
      </p:pic>
      <p:sp>
        <p:nvSpPr>
          <p:cNvPr id="37" name="TextBox 36">
            <a:extLst>
              <a:ext uri="{FF2B5EF4-FFF2-40B4-BE49-F238E27FC236}">
                <a16:creationId xmlns:a16="http://schemas.microsoft.com/office/drawing/2014/main" xmlns="" id="{45B57541-D4D0-A14B-A4F5-1B7A9083570B}"/>
              </a:ext>
            </a:extLst>
          </p:cNvPr>
          <p:cNvSpPr txBox="1"/>
          <p:nvPr/>
        </p:nvSpPr>
        <p:spPr>
          <a:xfrm>
            <a:off x="6574838" y="2221468"/>
            <a:ext cx="7264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UIUC</a:t>
            </a:r>
          </a:p>
        </p:txBody>
      </p:sp>
      <p:pic>
        <p:nvPicPr>
          <p:cNvPr id="38" name="Picture 37">
            <a:extLst>
              <a:ext uri="{FF2B5EF4-FFF2-40B4-BE49-F238E27FC236}">
                <a16:creationId xmlns:a16="http://schemas.microsoft.com/office/drawing/2014/main" xmlns="" id="{3FBC99C0-7878-7A49-8CB4-450511BE1AD0}"/>
              </a:ext>
            </a:extLst>
          </p:cNvPr>
          <p:cNvPicPr>
            <a:picLocks noChangeAspect="1"/>
          </p:cNvPicPr>
          <p:nvPr/>
        </p:nvPicPr>
        <p:blipFill rotWithShape="1">
          <a:blip r:embed="rId15" cstate="email">
            <a:extLst>
              <a:ext uri="{28A0092B-C50C-407E-A947-70E740481C1C}">
                <a14:useLocalDpi xmlns:a14="http://schemas.microsoft.com/office/drawing/2010/main"/>
              </a:ext>
            </a:extLst>
          </a:blip>
          <a:srcRect l="1782" t="7330" r="1782"/>
          <a:stretch/>
        </p:blipFill>
        <p:spPr>
          <a:xfrm>
            <a:off x="3807591" y="2966421"/>
            <a:ext cx="1188720" cy="1188720"/>
          </a:xfrm>
          <a:prstGeom prst="roundRect">
            <a:avLst/>
          </a:prstGeom>
        </p:spPr>
      </p:pic>
      <p:sp>
        <p:nvSpPr>
          <p:cNvPr id="39" name="TextBox 38">
            <a:extLst>
              <a:ext uri="{FF2B5EF4-FFF2-40B4-BE49-F238E27FC236}">
                <a16:creationId xmlns:a16="http://schemas.microsoft.com/office/drawing/2014/main" xmlns="" id="{C2177847-52AB-B24F-A02C-71A80D7C2E89}"/>
              </a:ext>
            </a:extLst>
          </p:cNvPr>
          <p:cNvSpPr txBox="1"/>
          <p:nvPr/>
        </p:nvSpPr>
        <p:spPr>
          <a:xfrm>
            <a:off x="4074441" y="4170769"/>
            <a:ext cx="622286"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BBN</a:t>
            </a:r>
          </a:p>
        </p:txBody>
      </p:sp>
      <p:pic>
        <p:nvPicPr>
          <p:cNvPr id="40" name="Picture 39">
            <a:extLst>
              <a:ext uri="{FF2B5EF4-FFF2-40B4-BE49-F238E27FC236}">
                <a16:creationId xmlns:a16="http://schemas.microsoft.com/office/drawing/2014/main" xmlns="" id="{FE85285B-265C-9C4C-A0A9-03079DF5166C}"/>
              </a:ext>
            </a:extLst>
          </p:cNvPr>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5067301" y="2953721"/>
            <a:ext cx="1188720" cy="1188720"/>
          </a:xfrm>
          <a:prstGeom prst="roundRect">
            <a:avLst/>
          </a:prstGeom>
        </p:spPr>
      </p:pic>
      <p:sp>
        <p:nvSpPr>
          <p:cNvPr id="41" name="TextBox 40">
            <a:extLst>
              <a:ext uri="{FF2B5EF4-FFF2-40B4-BE49-F238E27FC236}">
                <a16:creationId xmlns:a16="http://schemas.microsoft.com/office/drawing/2014/main" xmlns="" id="{7FDE6F66-B661-A748-B348-3B8D5149A9E9}"/>
              </a:ext>
            </a:extLst>
          </p:cNvPr>
          <p:cNvSpPr txBox="1"/>
          <p:nvPr/>
        </p:nvSpPr>
        <p:spPr>
          <a:xfrm>
            <a:off x="5314323" y="4158069"/>
            <a:ext cx="60305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ARL</a:t>
            </a:r>
          </a:p>
        </p:txBody>
      </p:sp>
      <p:pic>
        <p:nvPicPr>
          <p:cNvPr id="14" name="Picture 13">
            <a:extLst>
              <a:ext uri="{FF2B5EF4-FFF2-40B4-BE49-F238E27FC236}">
                <a16:creationId xmlns:a16="http://schemas.microsoft.com/office/drawing/2014/main" xmlns="" id="{C13C4D59-BD1E-7A47-9166-A235063BE692}"/>
              </a:ext>
            </a:extLst>
          </p:cNvPr>
          <p:cNvPicPr>
            <a:picLocks noChangeAspect="1"/>
          </p:cNvPicPr>
          <p:nvPr/>
        </p:nvPicPr>
        <p:blipFill rotWithShape="1">
          <a:blip r:embed="rId17" cstate="email">
            <a:extLst>
              <a:ext uri="{28A0092B-C50C-407E-A947-70E740481C1C}">
                <a14:useLocalDpi xmlns:a14="http://schemas.microsoft.com/office/drawing/2010/main"/>
              </a:ext>
            </a:extLst>
          </a:blip>
          <a:srcRect r="-537"/>
          <a:stretch/>
        </p:blipFill>
        <p:spPr>
          <a:xfrm>
            <a:off x="1303558" y="2966421"/>
            <a:ext cx="1188720" cy="1188720"/>
          </a:xfrm>
          <a:prstGeom prst="roundRect">
            <a:avLst/>
          </a:prstGeom>
        </p:spPr>
      </p:pic>
      <p:sp>
        <p:nvSpPr>
          <p:cNvPr id="43" name="TextBox 42">
            <a:extLst>
              <a:ext uri="{FF2B5EF4-FFF2-40B4-BE49-F238E27FC236}">
                <a16:creationId xmlns:a16="http://schemas.microsoft.com/office/drawing/2014/main" xmlns="" id="{54EE98B4-4CCC-9F49-941B-5644B275C536}"/>
              </a:ext>
            </a:extLst>
          </p:cNvPr>
          <p:cNvSpPr txBox="1"/>
          <p:nvPr/>
        </p:nvSpPr>
        <p:spPr>
          <a:xfrm>
            <a:off x="1534677" y="4170769"/>
            <a:ext cx="7264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UIUC</a:t>
            </a:r>
          </a:p>
        </p:txBody>
      </p:sp>
    </p:spTree>
    <p:extLst>
      <p:ext uri="{BB962C8B-B14F-4D97-AF65-F5344CB8AC3E}">
        <p14:creationId xmlns:p14="http://schemas.microsoft.com/office/powerpoint/2010/main" val="3740286984"/>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965200"/>
            <a:ext cx="9144000" cy="4913477"/>
          </a:xfrm>
          <a:prstGeom prst="rect">
            <a:avLst/>
          </a:prstGeom>
        </p:spPr>
      </p:pic>
      <p:sp>
        <p:nvSpPr>
          <p:cNvPr id="2" name="Rectangle 1"/>
          <p:cNvSpPr/>
          <p:nvPr/>
        </p:nvSpPr>
        <p:spPr>
          <a:xfrm>
            <a:off x="8305800" y="6172200"/>
            <a:ext cx="838200" cy="685800"/>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0728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Roth-Penn-1">
  <a:themeElements>
    <a:clrScheme name="Custom 5">
      <a:dk1>
        <a:srgbClr val="000000"/>
      </a:dk1>
      <a:lt1>
        <a:srgbClr val="FFFFFF"/>
      </a:lt1>
      <a:dk2>
        <a:srgbClr val="FAE1AF"/>
      </a:dk2>
      <a:lt2>
        <a:srgbClr val="FAC8AF"/>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tx1">
              <a:lumMod val="50000"/>
            </a:schemeClr>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icra0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cra0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cra0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cra0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cra0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cra0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cra0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5">
    <a:dk1>
      <a:srgbClr val="000000"/>
    </a:dk1>
    <a:lt1>
      <a:srgbClr val="FFFFFF"/>
    </a:lt1>
    <a:dk2>
      <a:srgbClr val="FAE1AF"/>
    </a:dk2>
    <a:lt2>
      <a:srgbClr val="FAC8AF"/>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Custom 5">
    <a:dk1>
      <a:srgbClr val="000000"/>
    </a:dk1>
    <a:lt1>
      <a:srgbClr val="FFFFFF"/>
    </a:lt1>
    <a:dk2>
      <a:srgbClr val="FAE1AF"/>
    </a:dk2>
    <a:lt2>
      <a:srgbClr val="FAC8AF"/>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Custom 5">
    <a:dk1>
      <a:srgbClr val="000000"/>
    </a:dk1>
    <a:lt1>
      <a:srgbClr val="FFFFFF"/>
    </a:lt1>
    <a:dk2>
      <a:srgbClr val="FAE1AF"/>
    </a:dk2>
    <a:lt2>
      <a:srgbClr val="FAC8AF"/>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Custom 5">
    <a:dk1>
      <a:srgbClr val="000000"/>
    </a:dk1>
    <a:lt1>
      <a:srgbClr val="FFFFFF"/>
    </a:lt1>
    <a:dk2>
      <a:srgbClr val="FAE1AF"/>
    </a:dk2>
    <a:lt2>
      <a:srgbClr val="FAC8AF"/>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6219</TotalTime>
  <Words>11671</Words>
  <Application>Microsoft Macintosh PowerPoint</Application>
  <PresentationFormat>On-screen Show (4:3)</PresentationFormat>
  <Paragraphs>1624</Paragraphs>
  <Slides>104</Slides>
  <Notes>97</Notes>
  <HiddenSlides>3</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104</vt:i4>
      </vt:variant>
    </vt:vector>
  </HeadingPairs>
  <TitlesOfParts>
    <vt:vector size="118" baseType="lpstr">
      <vt:lpstr>Arial Rounded MT Bold</vt:lpstr>
      <vt:lpstr>Arial Unicode MS</vt:lpstr>
      <vt:lpstr>Calibri</vt:lpstr>
      <vt:lpstr>Cambria Math</vt:lpstr>
      <vt:lpstr>Century Gothic</vt:lpstr>
      <vt:lpstr>Courier</vt:lpstr>
      <vt:lpstr>Mangal</vt:lpstr>
      <vt:lpstr>Times</vt:lpstr>
      <vt:lpstr>Times New Roman</vt:lpstr>
      <vt:lpstr>Wingdings</vt:lpstr>
      <vt:lpstr>宋体</vt:lpstr>
      <vt:lpstr>等线</vt:lpstr>
      <vt:lpstr>Arial</vt:lpstr>
      <vt:lpstr>Roth-Penn-1</vt:lpstr>
      <vt:lpstr>Understanding Events In Natural Language: -- Learning, Common Sense, Data Annotation, and What’s Next</vt:lpstr>
      <vt:lpstr>PowerPoint Presentation</vt:lpstr>
      <vt:lpstr>PowerPoint Presentation</vt:lpstr>
      <vt:lpstr>PowerPoint Presentation</vt:lpstr>
      <vt:lpstr>PowerPoint Presentation</vt:lpstr>
      <vt:lpstr>PowerPoint Presentation</vt:lpstr>
      <vt:lpstr>Natural language is natural for humans</vt:lpstr>
      <vt:lpstr>Natural language is not natural for computers</vt:lpstr>
      <vt:lpstr>Natural language is not natural for computers</vt:lpstr>
      <vt:lpstr>Natural language is not natural for computers</vt:lpstr>
      <vt:lpstr>PowerPoint Presentation</vt:lpstr>
      <vt:lpstr>PowerPoint Presentation</vt:lpstr>
      <vt:lpstr>PowerPoint Presentation</vt:lpstr>
      <vt:lpstr>PowerPoint Presentation</vt:lpstr>
      <vt:lpstr>PowerPoint Presentation</vt:lpstr>
      <vt:lpstr>Where are we in NLP?</vt:lpstr>
      <vt:lpstr>Let’s take a look at two events</vt:lpstr>
      <vt:lpstr>Reversing them</vt:lpstr>
      <vt:lpstr>Reversing them</vt:lpstr>
      <vt:lpstr>Temporal relation (TempRel)</vt:lpstr>
      <vt:lpstr>Multiple events form a situation</vt:lpstr>
      <vt:lpstr>PowerPoint Presentation</vt:lpstr>
      <vt:lpstr>PowerPoint Presentation</vt:lpstr>
      <vt:lpstr>PowerPoint Presentation</vt:lpstr>
      <vt:lpstr>Temporal graphs are structured</vt:lpstr>
      <vt:lpstr>Assume a model is already trained</vt:lpstr>
      <vt:lpstr>Global inference (a toy example)</vt:lpstr>
      <vt:lpstr>Global inference (a toy example)</vt:lpstr>
      <vt:lpstr>Global inference (a toy example)</vt:lpstr>
      <vt:lpstr>Global inference (a toy example)</vt:lpstr>
      <vt:lpstr>Global inference (a toy example)</vt:lpstr>
      <vt:lpstr>PowerPoint Presentation</vt:lpstr>
      <vt:lpstr>Benefit of global inference via ILP</vt:lpstr>
      <vt:lpstr>How was the model trained?</vt:lpstr>
      <vt:lpstr>Local learning in previous methods</vt:lpstr>
      <vt:lpstr>Local learning is not sufficient</vt:lpstr>
      <vt:lpstr>Structured (global) Learning</vt:lpstr>
      <vt:lpstr>Results</vt:lpstr>
      <vt:lpstr>Results</vt:lpstr>
      <vt:lpstr>Results</vt:lpstr>
      <vt:lpstr>PowerPoint Presentation</vt:lpstr>
      <vt:lpstr>Relation extraction: general vs temporal</vt:lpstr>
      <vt:lpstr>PowerPoint Presentation</vt:lpstr>
      <vt:lpstr>More than 10 people have (event1: died), police said. A car (event2: exploded) on Friday in a group of men in north Pakistan. </vt:lpstr>
      <vt:lpstr>More than 10 people have (event1: died), police said. A car (event2: exploded) on Friday in a group of men in north Pakistan. </vt:lpstr>
      <vt:lpstr>When events are …</vt:lpstr>
      <vt:lpstr>When events are …</vt:lpstr>
      <vt:lpstr>TemProb [NAACL’18]: Temporal Relation Probabilistic Knowledge Base</vt:lpstr>
      <vt:lpstr>Event distributions from TemProb</vt:lpstr>
      <vt:lpstr>Event distributions from TemProb</vt:lpstr>
      <vt:lpstr>Event distributions from TemProb</vt:lpstr>
      <vt:lpstr>Event distributions from TemProb</vt:lpstr>
      <vt:lpstr>Apply TemProb in learning</vt:lpstr>
      <vt:lpstr>Apply TemProb in our task</vt:lpstr>
      <vt:lpstr>Further improvement by TemProb</vt:lpstr>
      <vt:lpstr>PowerPoint Presentation</vt:lpstr>
      <vt:lpstr>PowerPoint Presentation</vt:lpstr>
      <vt:lpstr>“Bottleneck”</vt:lpstr>
      <vt:lpstr>Existing annotation schemes</vt:lpstr>
      <vt:lpstr>Existing annotation schemes</vt:lpstr>
      <vt:lpstr>Existing annotation schemes</vt:lpstr>
      <vt:lpstr>Proposed solution: multi-axis</vt:lpstr>
      <vt:lpstr>Proposed solution: multi-axis</vt:lpstr>
      <vt:lpstr>What we achieved</vt:lpstr>
      <vt:lpstr>Proposed scheme: multi-axis</vt:lpstr>
      <vt:lpstr>With a better IAA (&gt;80%)</vt:lpstr>
      <vt:lpstr>Discussion</vt:lpstr>
      <vt:lpstr>PowerPoint Presentation</vt:lpstr>
      <vt:lpstr>PowerPoint Presentation</vt:lpstr>
      <vt:lpstr>PowerPoint Presentation</vt:lpstr>
      <vt:lpstr>: a neural 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Recap</vt:lpstr>
      <vt:lpstr>Recap</vt:lpstr>
      <vt:lpstr>Recap</vt:lpstr>
      <vt:lpstr>Recap</vt:lpstr>
      <vt:lpstr>PowerPoint Presentation</vt:lpstr>
      <vt:lpstr>PowerPoint Presentation</vt:lpstr>
      <vt:lpstr>Silver lining of “partial”</vt:lpstr>
      <vt:lpstr>Partial or complete, that’s the question [NAACL’19]</vt:lpstr>
      <vt:lpstr>Partial or complete, that’s the question [NAACL’19]</vt:lpstr>
      <vt:lpstr>The quality of partially annotated structures</vt:lpstr>
      <vt:lpstr>The quality of partially annotated structures</vt:lpstr>
      <vt:lpstr>Diminishing return of new labels</vt:lpstr>
      <vt:lpstr>PowerPoint Presentation</vt:lpstr>
      <vt:lpstr>What is I_k actually?</vt:lpstr>
      <vt:lpstr>Unique view of structured annotation</vt:lpstr>
      <vt:lpstr>Achilles heel of standard paradigms</vt:lpstr>
      <vt:lpstr>What’s next</vt:lpstr>
      <vt:lpstr>What’s next</vt:lpstr>
      <vt:lpstr>PowerPoint Presentation</vt:lpstr>
      <vt:lpstr>What’s next</vt:lpstr>
      <vt:lpstr>What’s next</vt:lpstr>
      <vt:lpstr>Summary</vt:lpstr>
      <vt:lpstr>References</vt:lpstr>
      <vt:lpstr>Many thanks to my collaborators.</vt:lpstr>
      <vt:lpstr>PowerPoint Presentation</vt:lpstr>
    </vt:vector>
  </TitlesOfParts>
  <Company/>
  <LinksUpToDate>false</LinksUpToDate>
  <SharedDoc>false</SharedDoc>
  <HyperlinksChanged>false</HyperlinksChanged>
  <AppVersion>15.0040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Events In Natural Language: -- Learning, Commonsense, Annotation, and What’s Next</dc:title>
  <dc:creator>Microsoft Office User</dc:creator>
  <cp:lastModifiedBy>Ning, Qiang</cp:lastModifiedBy>
  <cp:revision>412</cp:revision>
  <dcterms:created xsi:type="dcterms:W3CDTF">2019-04-16T21:31:18Z</dcterms:created>
  <dcterms:modified xsi:type="dcterms:W3CDTF">2019-05-09T04:55:44Z</dcterms:modified>
</cp:coreProperties>
</file>